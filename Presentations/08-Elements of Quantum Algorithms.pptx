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tiff" ContentType="image/tiff"/>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diagrams/data4.xml" ContentType="application/vnd.openxmlformats-officedocument.drawingml.diagramData+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72"/>
  </p:notesMasterIdLst>
  <p:sldIdLst>
    <p:sldId id="730" r:id="rId2"/>
    <p:sldId id="681" r:id="rId3"/>
    <p:sldId id="713" r:id="rId4"/>
    <p:sldId id="524" r:id="rId5"/>
    <p:sldId id="761" r:id="rId6"/>
    <p:sldId id="715" r:id="rId7"/>
    <p:sldId id="716" r:id="rId8"/>
    <p:sldId id="762" r:id="rId9"/>
    <p:sldId id="714" r:id="rId10"/>
    <p:sldId id="692" r:id="rId11"/>
    <p:sldId id="792" r:id="rId12"/>
    <p:sldId id="694" r:id="rId13"/>
    <p:sldId id="695" r:id="rId14"/>
    <p:sldId id="696" r:id="rId15"/>
    <p:sldId id="723" r:id="rId16"/>
    <p:sldId id="724" r:id="rId17"/>
    <p:sldId id="793" r:id="rId18"/>
    <p:sldId id="727" r:id="rId19"/>
    <p:sldId id="728" r:id="rId20"/>
    <p:sldId id="704" r:id="rId21"/>
    <p:sldId id="705" r:id="rId22"/>
    <p:sldId id="763" r:id="rId23"/>
    <p:sldId id="682" r:id="rId24"/>
    <p:sldId id="684" r:id="rId25"/>
    <p:sldId id="558" r:id="rId26"/>
    <p:sldId id="686" r:id="rId27"/>
    <p:sldId id="685" r:id="rId28"/>
    <p:sldId id="690" r:id="rId29"/>
    <p:sldId id="596" r:id="rId30"/>
    <p:sldId id="709" r:id="rId31"/>
    <p:sldId id="744" r:id="rId32"/>
    <p:sldId id="791" r:id="rId33"/>
    <p:sldId id="566" r:id="rId34"/>
    <p:sldId id="619" r:id="rId35"/>
    <p:sldId id="562" r:id="rId36"/>
    <p:sldId id="781" r:id="rId37"/>
    <p:sldId id="701" r:id="rId38"/>
    <p:sldId id="782" r:id="rId39"/>
    <p:sldId id="783" r:id="rId40"/>
    <p:sldId id="610" r:id="rId41"/>
    <p:sldId id="697" r:id="rId42"/>
    <p:sldId id="611" r:id="rId43"/>
    <p:sldId id="567" r:id="rId44"/>
    <p:sldId id="788" r:id="rId45"/>
    <p:sldId id="789" r:id="rId46"/>
    <p:sldId id="702" r:id="rId47"/>
    <p:sldId id="703" r:id="rId48"/>
    <p:sldId id="766" r:id="rId49"/>
    <p:sldId id="700" r:id="rId50"/>
    <p:sldId id="790" r:id="rId51"/>
    <p:sldId id="699" r:id="rId52"/>
    <p:sldId id="698" r:id="rId53"/>
    <p:sldId id="614" r:id="rId54"/>
    <p:sldId id="615" r:id="rId55"/>
    <p:sldId id="561" r:id="rId56"/>
    <p:sldId id="768" r:id="rId57"/>
    <p:sldId id="572" r:id="rId58"/>
    <p:sldId id="576" r:id="rId59"/>
    <p:sldId id="578" r:id="rId60"/>
    <p:sldId id="555" r:id="rId61"/>
    <p:sldId id="770" r:id="rId62"/>
    <p:sldId id="771" r:id="rId63"/>
    <p:sldId id="582" r:id="rId64"/>
    <p:sldId id="581" r:id="rId65"/>
    <p:sldId id="585" r:id="rId66"/>
    <p:sldId id="580" r:id="rId67"/>
    <p:sldId id="772" r:id="rId68"/>
    <p:sldId id="620" r:id="rId69"/>
    <p:sldId id="621" r:id="rId70"/>
    <p:sldId id="737"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9D99"/>
    <a:srgbClr val="33B1FE"/>
    <a:srgbClr val="33B0FE"/>
    <a:srgbClr val="AA22FF"/>
    <a:srgbClr val="FF750F"/>
    <a:srgbClr val="30E845"/>
    <a:srgbClr val="CA251F"/>
    <a:srgbClr val="008001"/>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09"/>
    <p:restoredTop sz="49857"/>
  </p:normalViewPr>
  <p:slideViewPr>
    <p:cSldViewPr snapToGrid="0" snapToObjects="1">
      <p:cViewPr varScale="1">
        <p:scale>
          <a:sx n="57" d="100"/>
          <a:sy n="57" d="100"/>
        </p:scale>
        <p:origin x="2536" y="160"/>
      </p:cViewPr>
      <p:guideLst/>
    </p:cSldViewPr>
  </p:slideViewPr>
  <p:outlineViewPr>
    <p:cViewPr>
      <p:scale>
        <a:sx n="33" d="100"/>
        <a:sy n="33" d="100"/>
      </p:scale>
      <p:origin x="0" y="0"/>
    </p:cViewPr>
  </p:outlineViewPr>
  <p:notesTextViewPr>
    <p:cViewPr>
      <p:scale>
        <a:sx n="185" d="100"/>
        <a:sy n="185" d="100"/>
      </p:scale>
      <p:origin x="0" y="-760"/>
    </p:cViewPr>
  </p:notesTextViewPr>
  <p:sorterViewPr>
    <p:cViewPr>
      <p:scale>
        <a:sx n="66" d="100"/>
        <a:sy n="66" d="100"/>
      </p:scale>
      <p:origin x="0" y="0"/>
    </p:cViewPr>
  </p:sorterViewPr>
  <p:notesViewPr>
    <p:cSldViewPr snapToGrid="0" snapToObjects="1">
      <p:cViewPr varScale="1">
        <p:scale>
          <a:sx n="95" d="100"/>
          <a:sy n="95" d="100"/>
        </p:scale>
        <p:origin x="2272" y="20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diagrams/_rels/data4.xml.rels><?xml version="1.0" encoding="UTF-8" standalone="yes"?>
<Relationships xmlns="http://schemas.openxmlformats.org/package/2006/relationships"><Relationship Id="rId3" Type="http://schemas.openxmlformats.org/officeDocument/2006/relationships/image" Target="../media/image3210.png"/><Relationship Id="rId2" Type="http://schemas.openxmlformats.org/officeDocument/2006/relationships/image" Target="../media/image311.png"/><Relationship Id="rId1" Type="http://schemas.openxmlformats.org/officeDocument/2006/relationships/image" Target="../media/image2900.png"/><Relationship Id="rId5" Type="http://schemas.openxmlformats.org/officeDocument/2006/relationships/image" Target="../media/image3420.png"/><Relationship Id="rId4" Type="http://schemas.openxmlformats.org/officeDocument/2006/relationships/image" Target="../media/image332.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3AC05A-A5D2-8A42-9867-DCCDB7AC3E38}" type="doc">
      <dgm:prSet loTypeId="urn:microsoft.com/office/officeart/2005/8/layout/chevron2" loCatId="" qsTypeId="urn:microsoft.com/office/officeart/2005/8/quickstyle/simple1" qsCatId="simple" csTypeId="urn:microsoft.com/office/officeart/2005/8/colors/colorful1" csCatId="colorful" phldr="1"/>
      <dgm:spPr/>
      <dgm:t>
        <a:bodyPr/>
        <a:lstStyle/>
        <a:p>
          <a:endParaRPr lang="en-US"/>
        </a:p>
      </dgm:t>
    </dgm:pt>
    <dgm:pt modelId="{D4E97091-68AF-4547-BC42-C8482CC84E08}">
      <dgm:prSet phldrT="[Text]"/>
      <dgm:spPr/>
      <dgm:t>
        <a:bodyPr/>
        <a:lstStyle/>
        <a:p>
          <a:r>
            <a:rPr lang="en-US" dirty="0"/>
            <a:t>1</a:t>
          </a:r>
        </a:p>
      </dgm:t>
    </dgm:pt>
    <dgm:pt modelId="{8E2CCE9E-EDA7-C944-B837-2347E4B0BFA2}" type="parTrans" cxnId="{501CD6E9-4E8B-A241-B665-DFEDADD8D4B5}">
      <dgm:prSet/>
      <dgm:spPr/>
      <dgm:t>
        <a:bodyPr/>
        <a:lstStyle/>
        <a:p>
          <a:endParaRPr lang="en-US"/>
        </a:p>
      </dgm:t>
    </dgm:pt>
    <dgm:pt modelId="{95571C59-46D9-EE41-A3C9-9B448F2BC367}" type="sibTrans" cxnId="{501CD6E9-4E8B-A241-B665-DFEDADD8D4B5}">
      <dgm:prSet/>
      <dgm:spPr/>
      <dgm:t>
        <a:bodyPr/>
        <a:lstStyle/>
        <a:p>
          <a:endParaRPr lang="en-US"/>
        </a:p>
      </dgm:t>
    </dgm:pt>
    <mc:AlternateContent xmlns:mc="http://schemas.openxmlformats.org/markup-compatibility/2006" xmlns:a14="http://schemas.microsoft.com/office/drawing/2010/main">
      <mc:Choice Requires="a14">
        <dgm:pt modelId="{0EF902A6-89A1-CA4F-83B6-8D0580434ABD}">
          <dgm:prSet phldrT="[Text]"/>
          <dgm:spPr/>
          <dgm:t>
            <a:bodyPr/>
            <a:lstStyle/>
            <a:p>
              <a:r>
                <a:rPr lang="en-US" dirty="0"/>
                <a:t>Data: </a:t>
              </a:r>
              <a14:m>
                <m:oMath xmlns:m="http://schemas.openxmlformats.org/officeDocument/2006/math">
                  <m:r>
                    <a:rPr lang="en-US" i="1" smtClean="0">
                      <a:latin typeface="Cambria Math" panose="02040503050406030204" pitchFamily="18" charset="0"/>
                    </a:rPr>
                    <m:t>𝑥</m:t>
                  </m:r>
                  <m:r>
                    <a:rPr lang="en-US" i="1" smtClean="0">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e>
                  </m:d>
                  <m:r>
                    <a:rPr lang="sr-Latn-RS" b="0" i="0" smtClean="0">
                      <a:latin typeface="Cambria Math" panose="02040503050406030204" pitchFamily="18" charset="0"/>
                    </a:rPr>
                    <m:t>,   </m:t>
                  </m:r>
                  <m:sSub>
                    <m:sSubPr>
                      <m:ctrlPr>
                        <a:rPr lang="en-US" i="1" smtClean="0">
                          <a:latin typeface="Cambria Math" panose="02040503050406030204" pitchFamily="18" charset="0"/>
                        </a:rPr>
                      </m:ctrlPr>
                    </m:sSubPr>
                    <m:e>
                      <m:r>
                        <a:rPr lang="en-US" i="1">
                          <a:latin typeface="Cambria Math" panose="02040503050406030204" pitchFamily="18" charset="0"/>
                        </a:rPr>
                        <m:t>𝑥</m:t>
                      </m:r>
                    </m:e>
                    <m:sub>
                      <m:r>
                        <a:rPr lang="sr-Latn-RS" b="0" i="1" smtClean="0">
                          <a:latin typeface="Cambria Math" panose="02040503050406030204" pitchFamily="18" charset="0"/>
                        </a:rPr>
                        <m:t>𝑚𝑖𝑛</m:t>
                      </m:r>
                    </m:sub>
                  </m:sSub>
                  <m:r>
                    <a:rPr lang="sr-Latn-R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sr-Latn-RS" b="0" i="1" smtClean="0">
                          <a:latin typeface="Cambria Math" panose="02040503050406030204" pitchFamily="18" charset="0"/>
                        </a:rPr>
                        <m:t>𝑚𝑎𝑥</m:t>
                      </m:r>
                    </m:sub>
                  </m:sSub>
                </m:oMath>
              </a14:m>
              <a:r>
                <a:rPr lang="en-US" dirty="0"/>
                <a:t>  </a:t>
              </a:r>
            </a:p>
          </dgm:t>
        </dgm:pt>
      </mc:Choice>
      <mc:Fallback xmlns="">
        <dgm:pt modelId="{0EF902A6-89A1-CA4F-83B6-8D0580434ABD}">
          <dgm:prSet phldrT="[Text]"/>
          <dgm:spPr/>
          <dgm:t>
            <a:bodyPr/>
            <a:lstStyle/>
            <a:p>
              <a:r>
                <a:rPr lang="en-US" dirty="0"/>
                <a:t>Data: </a:t>
              </a:r>
              <a:r>
                <a:rPr lang="en-US" i="0">
                  <a:latin typeface="Cambria Math" panose="02040503050406030204" pitchFamily="18" charset="0"/>
                </a:rPr>
                <a:t>𝑥=(𝑥_</a:t>
              </a:r>
              <a:r>
                <a:rPr lang="en-US" b="0" i="0">
                  <a:latin typeface="Cambria Math" panose="02040503050406030204" pitchFamily="18" charset="0"/>
                </a:rPr>
                <a:t>1</a:t>
              </a:r>
              <a:r>
                <a:rPr lang="en-US" i="0">
                  <a:latin typeface="Cambria Math" panose="02040503050406030204" pitchFamily="18" charset="0"/>
                </a:rPr>
                <a:t>,𝑥_</a:t>
              </a:r>
              <a:r>
                <a:rPr lang="en-US" b="0" i="0">
                  <a:latin typeface="Cambria Math" panose="02040503050406030204" pitchFamily="18" charset="0"/>
                </a:rPr>
                <a:t>2,</a:t>
              </a:r>
              <a:r>
                <a:rPr lang="en-US" b="0" i="0">
                  <a:latin typeface="Cambria Math" panose="02040503050406030204" pitchFamily="18" charset="0"/>
                  <a:ea typeface="Cambria Math" panose="02040503050406030204" pitchFamily="18" charset="0"/>
                </a:rPr>
                <a:t>⋯</a:t>
              </a:r>
              <a:r>
                <a:rPr lang="en-US" i="0">
                  <a:latin typeface="Cambria Math" panose="02040503050406030204" pitchFamily="18" charset="0"/>
                </a:rPr>
                <a:t>𝑥_</a:t>
              </a:r>
              <a:r>
                <a:rPr lang="en-US" b="0" i="0">
                  <a:latin typeface="Cambria Math" panose="02040503050406030204" pitchFamily="18" charset="0"/>
                </a:rPr>
                <a:t>𝑛 )</a:t>
              </a:r>
              <a:r>
                <a:rPr lang="sr-Latn-RS" b="0" i="0">
                  <a:latin typeface="Cambria Math" panose="02040503050406030204" pitchFamily="18" charset="0"/>
                </a:rPr>
                <a:t>,   </a:t>
              </a:r>
              <a:r>
                <a:rPr lang="en-US" i="0">
                  <a:latin typeface="Cambria Math" panose="02040503050406030204" pitchFamily="18" charset="0"/>
                </a:rPr>
                <a:t>𝑥_</a:t>
              </a:r>
              <a:r>
                <a:rPr lang="sr-Latn-RS" b="0" i="0">
                  <a:latin typeface="Cambria Math" panose="02040503050406030204" pitchFamily="18" charset="0"/>
                </a:rPr>
                <a:t>𝑚𝑖𝑛, </a:t>
              </a:r>
              <a:r>
                <a:rPr lang="en-US" i="0">
                  <a:latin typeface="Cambria Math" panose="02040503050406030204" pitchFamily="18" charset="0"/>
                </a:rPr>
                <a:t>𝑥_</a:t>
              </a:r>
              <a:r>
                <a:rPr lang="sr-Latn-RS" b="0" i="0">
                  <a:latin typeface="Cambria Math" panose="02040503050406030204" pitchFamily="18" charset="0"/>
                </a:rPr>
                <a:t>𝑚𝑎𝑥</a:t>
              </a:r>
              <a:r>
                <a:rPr lang="en-US" dirty="0"/>
                <a:t>  </a:t>
              </a:r>
            </a:p>
          </dgm:t>
        </dgm:pt>
      </mc:Fallback>
    </mc:AlternateContent>
    <dgm:pt modelId="{7722B720-3EB9-6047-97D9-E7B8B535D340}" type="parTrans" cxnId="{3D3B9588-3D33-2349-BD02-49ACA9ECEDC5}">
      <dgm:prSet/>
      <dgm:spPr/>
      <dgm:t>
        <a:bodyPr/>
        <a:lstStyle/>
        <a:p>
          <a:endParaRPr lang="en-US"/>
        </a:p>
      </dgm:t>
    </dgm:pt>
    <dgm:pt modelId="{E9735411-C10B-D845-BB89-1A770DCC0E70}" type="sibTrans" cxnId="{3D3B9588-3D33-2349-BD02-49ACA9ECEDC5}">
      <dgm:prSet/>
      <dgm:spPr/>
      <dgm:t>
        <a:bodyPr/>
        <a:lstStyle/>
        <a:p>
          <a:endParaRPr lang="en-US"/>
        </a:p>
      </dgm:t>
    </dgm:pt>
    <dgm:pt modelId="{73E53AC1-5CA6-D04B-B52D-B0E630F50BBB}">
      <dgm:prSet phldrT="[Text]"/>
      <dgm:spPr/>
      <dgm:t>
        <a:bodyPr/>
        <a:lstStyle/>
        <a:p>
          <a:r>
            <a:rPr lang="en-US" dirty="0"/>
            <a:t>2</a:t>
          </a:r>
        </a:p>
      </dgm:t>
    </dgm:pt>
    <dgm:pt modelId="{3FC2BFAC-0AC2-3142-8BF9-B3DFDC7B3EBE}" type="parTrans" cxnId="{151D3A64-4834-FF4F-8164-730196146304}">
      <dgm:prSet/>
      <dgm:spPr/>
      <dgm:t>
        <a:bodyPr/>
        <a:lstStyle/>
        <a:p>
          <a:endParaRPr lang="en-US"/>
        </a:p>
      </dgm:t>
    </dgm:pt>
    <dgm:pt modelId="{5EE46B4A-C34B-AE4D-81B6-15059B7CFAD7}" type="sibTrans" cxnId="{151D3A64-4834-FF4F-8164-730196146304}">
      <dgm:prSet/>
      <dgm:spPr/>
      <dgm:t>
        <a:bodyPr/>
        <a:lstStyle/>
        <a:p>
          <a:endParaRPr lang="en-US"/>
        </a:p>
      </dgm:t>
    </dgm:pt>
    <mc:AlternateContent xmlns:mc="http://schemas.openxmlformats.org/markup-compatibility/2006" xmlns:a14="http://schemas.microsoft.com/office/drawing/2010/main">
      <mc:Choice Requires="a14">
        <dgm:pt modelId="{463B8C17-03F4-804C-BE79-8D213F93C032}">
          <dgm:prSet phldrT="[Text]"/>
          <dgm:spPr/>
          <dgm:t>
            <a:bodyPr/>
            <a:lstStyle/>
            <a:p>
              <a:r>
                <a:rPr lang="en-US" dirty="0"/>
                <a:t>Normalization </a:t>
              </a:r>
              <a14:m>
                <m:oMath xmlns:m="http://schemas.openxmlformats.org/officeDocument/2006/math">
                  <m:d>
                    <m:dPr>
                      <m:begChr m:val="["/>
                      <m:endChr m:val="]"/>
                      <m:ctrlPr>
                        <a:rPr lang="en-US" b="0" i="1" smtClean="0">
                          <a:latin typeface="Cambria Math" panose="02040503050406030204" pitchFamily="18" charset="0"/>
                        </a:rPr>
                      </m:ctrlPr>
                    </m:dPr>
                    <m:e>
                      <m:r>
                        <a:rPr lang="en-US" b="0" i="0" smtClean="0">
                          <a:latin typeface="Cambria Math" panose="02040503050406030204" pitchFamily="18" charset="0"/>
                        </a:rPr>
                        <m:t>0,1</m:t>
                      </m:r>
                    </m:e>
                  </m:d>
                  <m:r>
                    <a:rPr lang="en-US" b="0" i="0" smtClean="0">
                      <a:latin typeface="Cambria Math" panose="02040503050406030204" pitchFamily="18" charset="0"/>
                    </a:rPr>
                    <m:t>:</m:t>
                  </m:r>
                </m:oMath>
              </a14:m>
              <a:r>
                <a:rPr lang="en-US" dirty="0"/>
                <a:t>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𝑖</m:t>
                      </m:r>
                      <m:r>
                        <a:rPr lang="en-US" b="0" i="1" smtClean="0">
                          <a:latin typeface="Cambria Math" panose="02040503050406030204" pitchFamily="18" charset="0"/>
                        </a:rPr>
                        <m:t>_</m:t>
                      </m:r>
                      <m:r>
                        <a:rPr lang="en-US" b="0" i="1" smtClean="0">
                          <a:latin typeface="Cambria Math" panose="02040503050406030204" pitchFamily="18" charset="0"/>
                        </a:rPr>
                        <m:t>𝑛𝑜𝑟𝑚</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i="1">
                              <a:latin typeface="Cambria Math" panose="02040503050406030204" pitchFamily="18" charset="0"/>
                            </a:rPr>
                            <m:t>𝑥</m:t>
                          </m:r>
                        </m:e>
                        <m:sub>
                          <m:r>
                            <a:rPr lang="sr-Latn-RS" b="0" i="1" smtClean="0">
                              <a:latin typeface="Cambria Math" panose="02040503050406030204" pitchFamily="18" charset="0"/>
                            </a:rPr>
                            <m:t>𝑚𝑖𝑛</m:t>
                          </m:r>
                        </m:sub>
                      </m:sSub>
                    </m:num>
                    <m:den>
                      <m:sSub>
                        <m:sSubPr>
                          <m:ctrlPr>
                            <a:rPr lang="en-US" i="1" smtClean="0">
                              <a:latin typeface="Cambria Math" panose="02040503050406030204" pitchFamily="18" charset="0"/>
                            </a:rPr>
                          </m:ctrlPr>
                        </m:sSubPr>
                        <m:e>
                          <m:r>
                            <a:rPr lang="en-US" i="1">
                              <a:latin typeface="Cambria Math" panose="02040503050406030204" pitchFamily="18" charset="0"/>
                            </a:rPr>
                            <m:t>𝑥</m:t>
                          </m:r>
                        </m:e>
                        <m:sub>
                          <m:r>
                            <a:rPr lang="sr-Latn-RS" b="0" i="1" smtClean="0">
                              <a:latin typeface="Cambria Math" panose="02040503050406030204" pitchFamily="18" charset="0"/>
                            </a:rPr>
                            <m:t>𝑚</m:t>
                          </m:r>
                          <m:r>
                            <a:rPr lang="en-US" b="0" i="1" smtClean="0">
                              <a:latin typeface="Cambria Math" panose="02040503050406030204" pitchFamily="18" charset="0"/>
                            </a:rPr>
                            <m:t>𝑎𝑥</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i="1">
                              <a:latin typeface="Cambria Math" panose="02040503050406030204" pitchFamily="18" charset="0"/>
                            </a:rPr>
                            <m:t>𝑥</m:t>
                          </m:r>
                        </m:e>
                        <m:sub>
                          <m:r>
                            <a:rPr lang="sr-Latn-RS" b="0" i="1" smtClean="0">
                              <a:latin typeface="Cambria Math" panose="02040503050406030204" pitchFamily="18" charset="0"/>
                            </a:rPr>
                            <m:t>𝑚𝑖𝑛</m:t>
                          </m:r>
                        </m:sub>
                      </m:sSub>
                    </m:den>
                  </m:f>
                </m:oMath>
              </a14:m>
              <a:endParaRPr lang="en-US" dirty="0"/>
            </a:p>
          </dgm:t>
        </dgm:pt>
      </mc:Choice>
      <mc:Fallback xmlns="">
        <dgm:pt modelId="{463B8C17-03F4-804C-BE79-8D213F93C032}">
          <dgm:prSet phldrT="[Text]"/>
          <dgm:spPr/>
          <dgm:t>
            <a:bodyPr/>
            <a:lstStyle/>
            <a:p>
              <a:r>
                <a:rPr lang="en-US" dirty="0"/>
                <a:t>Normalization </a:t>
              </a:r>
              <a:r>
                <a:rPr lang="en-US" b="0" i="0">
                  <a:latin typeface="Cambria Math" panose="02040503050406030204" pitchFamily="18" charset="0"/>
                </a:rPr>
                <a:t>[0,1]:</a:t>
              </a:r>
              <a:r>
                <a:rPr lang="en-US" dirty="0"/>
                <a:t> </a:t>
              </a:r>
              <a:r>
                <a:rPr lang="en-US" i="0">
                  <a:latin typeface="Cambria Math" panose="02040503050406030204" pitchFamily="18" charset="0"/>
                </a:rPr>
                <a:t>𝑥_(</a:t>
              </a:r>
              <a:r>
                <a:rPr lang="en-US" b="0" i="0">
                  <a:latin typeface="Cambria Math" panose="02040503050406030204" pitchFamily="18" charset="0"/>
                </a:rPr>
                <a:t>𝑖_𝑛𝑜𝑟𝑚)=(</a:t>
              </a:r>
              <a:r>
                <a:rPr lang="en-US" i="0">
                  <a:latin typeface="Cambria Math" panose="02040503050406030204" pitchFamily="18" charset="0"/>
                </a:rPr>
                <a:t>𝑥_</a:t>
              </a:r>
              <a:r>
                <a:rPr lang="en-US" b="0" i="0">
                  <a:latin typeface="Cambria Math" panose="02040503050406030204" pitchFamily="18" charset="0"/>
                </a:rPr>
                <a:t>𝑖−</a:t>
              </a:r>
              <a:r>
                <a:rPr lang="en-US" i="0">
                  <a:latin typeface="Cambria Math" panose="02040503050406030204" pitchFamily="18" charset="0"/>
                </a:rPr>
                <a:t>𝑥_</a:t>
              </a:r>
              <a:r>
                <a:rPr lang="sr-Latn-RS" b="0" i="0">
                  <a:latin typeface="Cambria Math" panose="02040503050406030204" pitchFamily="18" charset="0"/>
                </a:rPr>
                <a:t>𝑚𝑖𝑛</a:t>
              </a:r>
              <a:r>
                <a:rPr lang="en-US" b="0" i="0">
                  <a:latin typeface="Cambria Math" panose="02040503050406030204" pitchFamily="18" charset="0"/>
                </a:rPr>
                <a:t>)/(</a:t>
              </a:r>
              <a:r>
                <a:rPr lang="en-US" i="0">
                  <a:latin typeface="Cambria Math" panose="02040503050406030204" pitchFamily="18" charset="0"/>
                </a:rPr>
                <a:t>𝑥_</a:t>
              </a:r>
              <a:r>
                <a:rPr lang="sr-Latn-RS" b="0" i="0">
                  <a:latin typeface="Cambria Math" panose="02040503050406030204" pitchFamily="18" charset="0"/>
                </a:rPr>
                <a:t>𝑚</a:t>
              </a:r>
              <a:r>
                <a:rPr lang="en-US" b="0" i="0">
                  <a:latin typeface="Cambria Math" panose="02040503050406030204" pitchFamily="18" charset="0"/>
                </a:rPr>
                <a:t>𝑎𝑥−</a:t>
              </a:r>
              <a:r>
                <a:rPr lang="en-US" i="0">
                  <a:latin typeface="Cambria Math" panose="02040503050406030204" pitchFamily="18" charset="0"/>
                </a:rPr>
                <a:t>𝑥_</a:t>
              </a:r>
              <a:r>
                <a:rPr lang="sr-Latn-RS" b="0" i="0">
                  <a:latin typeface="Cambria Math" panose="02040503050406030204" pitchFamily="18" charset="0"/>
                </a:rPr>
                <a:t>𝑚𝑖𝑛 </a:t>
              </a:r>
              <a:r>
                <a:rPr lang="en-US" b="0" i="0">
                  <a:latin typeface="Cambria Math" panose="02040503050406030204" pitchFamily="18" charset="0"/>
                </a:rPr>
                <a:t>)</a:t>
              </a:r>
              <a:endParaRPr lang="en-US" dirty="0"/>
            </a:p>
          </dgm:t>
        </dgm:pt>
      </mc:Fallback>
    </mc:AlternateContent>
    <dgm:pt modelId="{91D697F8-FD05-6841-A767-7DA53F15BD22}" type="parTrans" cxnId="{6FCC94FD-C404-0348-893C-33549FAACD3C}">
      <dgm:prSet/>
      <dgm:spPr/>
      <dgm:t>
        <a:bodyPr/>
        <a:lstStyle/>
        <a:p>
          <a:endParaRPr lang="en-US"/>
        </a:p>
      </dgm:t>
    </dgm:pt>
    <dgm:pt modelId="{1690D14D-F525-5541-8AAA-778928CFE9BC}" type="sibTrans" cxnId="{6FCC94FD-C404-0348-893C-33549FAACD3C}">
      <dgm:prSet/>
      <dgm:spPr/>
      <dgm:t>
        <a:bodyPr/>
        <a:lstStyle/>
        <a:p>
          <a:endParaRPr lang="en-US"/>
        </a:p>
      </dgm:t>
    </dgm:pt>
    <dgm:pt modelId="{6DFCCBBC-15A2-B542-AF94-75B579DF8E66}">
      <dgm:prSet phldrT="[Text]"/>
      <dgm:spPr/>
      <dgm:t>
        <a:bodyPr/>
        <a:lstStyle/>
        <a:p>
          <a:r>
            <a:rPr lang="en-US" dirty="0"/>
            <a:t>3</a:t>
          </a:r>
        </a:p>
      </dgm:t>
    </dgm:pt>
    <dgm:pt modelId="{893C1194-023D-C04B-9F74-8F0ED47C3E59}" type="parTrans" cxnId="{82C5D8CD-0DD2-4D47-9F04-1295F4A781AF}">
      <dgm:prSet/>
      <dgm:spPr/>
      <dgm:t>
        <a:bodyPr/>
        <a:lstStyle/>
        <a:p>
          <a:endParaRPr lang="en-US"/>
        </a:p>
      </dgm:t>
    </dgm:pt>
    <dgm:pt modelId="{93BD1384-804B-904C-94DB-5F133A8DE459}" type="sibTrans" cxnId="{82C5D8CD-0DD2-4D47-9F04-1295F4A781AF}">
      <dgm:prSet/>
      <dgm:spPr/>
      <dgm:t>
        <a:bodyPr/>
        <a:lstStyle/>
        <a:p>
          <a:endParaRPr lang="en-US"/>
        </a:p>
      </dgm:t>
    </dgm:pt>
    <mc:AlternateContent xmlns:mc="http://schemas.openxmlformats.org/markup-compatibility/2006" xmlns:a14="http://schemas.microsoft.com/office/drawing/2010/main">
      <mc:Choice Requires="a14">
        <dgm:pt modelId="{FC5A425A-18A3-9A49-81A4-CE00405555BC}">
          <dgm:prSet phldrT="[Text]"/>
          <dgm:spPr/>
          <dgm:t>
            <a:bodyPr/>
            <a:lstStyle/>
            <a:p>
              <a:r>
                <a:rPr lang="en-US" dirty="0"/>
                <a:t>Calculate angles </a:t>
              </a:r>
              <a14:m>
                <m:oMath xmlns:m="http://schemas.openxmlformats.org/officeDocument/2006/math">
                  <m:d>
                    <m:dPr>
                      <m:begChr m:val="["/>
                      <m:endChr m:val="]"/>
                      <m:ctrlPr>
                        <a:rPr lang="en-US" b="0" i="1" smtClean="0">
                          <a:latin typeface="Cambria Math" panose="02040503050406030204" pitchFamily="18" charset="0"/>
                        </a:rPr>
                      </m:ctrlPr>
                    </m:dPr>
                    <m:e>
                      <m:r>
                        <a:rPr lang="en-US" b="0" i="0" smtClean="0">
                          <a:latin typeface="Cambria Math" panose="02040503050406030204" pitchFamily="18" charset="0"/>
                        </a:rPr>
                        <m:t>0,</m:t>
                      </m:r>
                      <m:r>
                        <a:rPr lang="sr-Latn-RS" b="0" i="1" smtClean="0">
                          <a:latin typeface="Cambria Math" panose="02040503050406030204" pitchFamily="18" charset="0"/>
                        </a:rPr>
                        <m:t>2</m:t>
                      </m:r>
                      <m:r>
                        <a:rPr lang="sr-Latn-RS" b="0" i="1" smtClean="0">
                          <a:latin typeface="Cambria Math" panose="02040503050406030204" pitchFamily="18" charset="0"/>
                          <a:ea typeface="Cambria Math" panose="02040503050406030204" pitchFamily="18" charset="0"/>
                        </a:rPr>
                        <m:t>𝜋</m:t>
                      </m:r>
                    </m:e>
                  </m:d>
                </m:oMath>
              </a14:m>
              <a:r>
                <a:rPr lang="en-US" dirty="0"/>
                <a:t>:  </a:t>
              </a:r>
              <a14:m>
                <m:oMath xmlns:m="http://schemas.openxmlformats.org/officeDocument/2006/math">
                  <m:sSub>
                    <m:sSubPr>
                      <m:ctrlPr>
                        <a:rPr lang="el-GR" b="0" i="1" smtClean="0">
                          <a:latin typeface="Cambria Math" panose="02040503050406030204" pitchFamily="18" charset="0"/>
                          <a:ea typeface="Cambria Math" panose="02040503050406030204" pitchFamily="18" charset="0"/>
                        </a:rPr>
                      </m:ctrlPr>
                    </m:sSubPr>
                    <m:e>
                      <m:r>
                        <m:rPr>
                          <m:sty m:val="p"/>
                        </m:rPr>
                        <a:rPr lang="el-GR" b="0" i="1" smtClean="0">
                          <a:latin typeface="Cambria Math" panose="02040503050406030204" pitchFamily="18" charset="0"/>
                          <a:ea typeface="Cambria Math" panose="02040503050406030204" pitchFamily="18" charset="0"/>
                        </a:rPr>
                        <m:t>θ</m:t>
                      </m:r>
                    </m:e>
                    <m:sub>
                      <m:r>
                        <a:rPr lang="sr-Latn-RS" b="0" i="1" smtClean="0">
                          <a:latin typeface="Cambria Math" panose="02040503050406030204" pitchFamily="18" charset="0"/>
                          <a:ea typeface="Cambria Math" panose="02040503050406030204" pitchFamily="18" charset="0"/>
                        </a:rPr>
                        <m:t>𝑖</m:t>
                      </m:r>
                    </m:sub>
                  </m:sSub>
                  <m:r>
                    <a:rPr lang="sr-Latn-R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2</m:t>
                      </m:r>
                      <m:r>
                        <a:rPr lang="sr-Latn-RS" b="0" i="1" smtClean="0">
                          <a:latin typeface="Cambria Math" panose="02040503050406030204" pitchFamily="18" charset="0"/>
                          <a:ea typeface="Cambria Math" panose="02040503050406030204" pitchFamily="18" charset="0"/>
                        </a:rPr>
                        <m:t>𝜋</m:t>
                      </m:r>
                      <m:r>
                        <a:rPr lang="en-US" i="1">
                          <a:latin typeface="Cambria Math" panose="02040503050406030204" pitchFamily="18" charset="0"/>
                        </a:rPr>
                        <m:t>𝑥</m:t>
                      </m:r>
                    </m:e>
                    <m:sub>
                      <m:r>
                        <a:rPr lang="en-US" b="0" i="1" smtClean="0">
                          <a:latin typeface="Cambria Math" panose="02040503050406030204" pitchFamily="18" charset="0"/>
                        </a:rPr>
                        <m:t>𝑖</m:t>
                      </m:r>
                      <m:r>
                        <a:rPr lang="en-US" b="0" i="1" smtClean="0">
                          <a:latin typeface="Cambria Math" panose="02040503050406030204" pitchFamily="18" charset="0"/>
                        </a:rPr>
                        <m:t>_</m:t>
                      </m:r>
                      <m:r>
                        <a:rPr lang="en-US" b="0" i="1" smtClean="0">
                          <a:latin typeface="Cambria Math" panose="02040503050406030204" pitchFamily="18" charset="0"/>
                        </a:rPr>
                        <m:t>𝑛𝑜𝑟𝑚</m:t>
                      </m:r>
                    </m:sub>
                  </m:sSub>
                </m:oMath>
              </a14:m>
              <a:endParaRPr lang="en-US" dirty="0"/>
            </a:p>
          </dgm:t>
        </dgm:pt>
      </mc:Choice>
      <mc:Fallback xmlns="">
        <dgm:pt modelId="{FC5A425A-18A3-9A49-81A4-CE00405555BC}">
          <dgm:prSet phldrT="[Text]"/>
          <dgm:spPr/>
          <dgm:t>
            <a:bodyPr/>
            <a:lstStyle/>
            <a:p>
              <a:r>
                <a:rPr lang="en-US" dirty="0"/>
                <a:t>Calculate angles </a:t>
              </a:r>
              <a:r>
                <a:rPr lang="en-US" b="0" i="0">
                  <a:latin typeface="Cambria Math" panose="02040503050406030204" pitchFamily="18" charset="0"/>
                </a:rPr>
                <a:t>[0,</a:t>
              </a:r>
              <a:r>
                <a:rPr lang="sr-Latn-RS" b="0" i="0">
                  <a:latin typeface="Cambria Math" panose="02040503050406030204" pitchFamily="18" charset="0"/>
                </a:rPr>
                <a:t>2</a:t>
              </a:r>
              <a:r>
                <a:rPr lang="sr-Latn-RS" b="0" i="0">
                  <a:latin typeface="Cambria Math" panose="02040503050406030204" pitchFamily="18" charset="0"/>
                  <a:ea typeface="Cambria Math" panose="02040503050406030204" pitchFamily="18" charset="0"/>
                </a:rPr>
                <a:t>𝜋]</a:t>
              </a:r>
              <a:r>
                <a:rPr lang="en-US" dirty="0"/>
                <a:t>:  </a:t>
              </a:r>
              <a:r>
                <a:rPr lang="el-GR" b="0" i="0">
                  <a:latin typeface="Cambria Math" panose="02040503050406030204" pitchFamily="18" charset="0"/>
                  <a:ea typeface="Cambria Math" panose="02040503050406030204" pitchFamily="18" charset="0"/>
                </a:rPr>
                <a:t>θ_</a:t>
              </a:r>
              <a:r>
                <a:rPr lang="sr-Latn-RS" b="0" i="0">
                  <a:latin typeface="Cambria Math" panose="02040503050406030204" pitchFamily="18" charset="0"/>
                  <a:ea typeface="Cambria Math" panose="02040503050406030204" pitchFamily="18" charset="0"/>
                </a:rPr>
                <a:t>𝑖=</a:t>
              </a:r>
              <a:r>
                <a:rPr lang="en-US" i="0">
                  <a:latin typeface="Cambria Math" panose="02040503050406030204" pitchFamily="18" charset="0"/>
                </a:rPr>
                <a:t>〖</a:t>
              </a:r>
              <a:r>
                <a:rPr lang="en-US" b="0" i="0">
                  <a:latin typeface="Cambria Math" panose="02040503050406030204" pitchFamily="18" charset="0"/>
                </a:rPr>
                <a:t>2</a:t>
              </a:r>
              <a:r>
                <a:rPr lang="sr-Latn-RS" b="0" i="0">
                  <a:latin typeface="Cambria Math" panose="02040503050406030204" pitchFamily="18" charset="0"/>
                  <a:ea typeface="Cambria Math" panose="02040503050406030204" pitchFamily="18" charset="0"/>
                </a:rPr>
                <a:t>𝜋</a:t>
              </a:r>
              <a:r>
                <a:rPr lang="en-US" i="0">
                  <a:latin typeface="Cambria Math" panose="02040503050406030204" pitchFamily="18" charset="0"/>
                </a:rPr>
                <a:t>𝑥〗_(</a:t>
              </a:r>
              <a:r>
                <a:rPr lang="en-US" b="0" i="0">
                  <a:latin typeface="Cambria Math" panose="02040503050406030204" pitchFamily="18" charset="0"/>
                </a:rPr>
                <a:t>𝑖_𝑛𝑜𝑟𝑚)</a:t>
              </a:r>
              <a:endParaRPr lang="en-US" dirty="0"/>
            </a:p>
          </dgm:t>
        </dgm:pt>
      </mc:Fallback>
    </mc:AlternateContent>
    <dgm:pt modelId="{DC8B9B70-ECAC-7241-8F66-673C52702ED5}" type="parTrans" cxnId="{DFDF2725-1DBB-F041-9A83-A31E5AD14B67}">
      <dgm:prSet/>
      <dgm:spPr/>
      <dgm:t>
        <a:bodyPr/>
        <a:lstStyle/>
        <a:p>
          <a:endParaRPr lang="en-US"/>
        </a:p>
      </dgm:t>
    </dgm:pt>
    <dgm:pt modelId="{8DCC4418-F70E-FF4E-ABA6-11423FCC3926}" type="sibTrans" cxnId="{DFDF2725-1DBB-F041-9A83-A31E5AD14B67}">
      <dgm:prSet/>
      <dgm:spPr/>
      <dgm:t>
        <a:bodyPr/>
        <a:lstStyle/>
        <a:p>
          <a:endParaRPr lang="en-US"/>
        </a:p>
      </dgm:t>
    </dgm:pt>
    <dgm:pt modelId="{3BDC42F8-0197-5D45-8574-46E58A02CFD2}">
      <dgm:prSet phldrT="[Text]"/>
      <dgm:spPr/>
      <dgm:t>
        <a:bodyPr/>
        <a:lstStyle/>
        <a:p>
          <a:r>
            <a:rPr lang="en-US" dirty="0"/>
            <a:t>4</a:t>
          </a:r>
        </a:p>
      </dgm:t>
    </dgm:pt>
    <dgm:pt modelId="{92F6ECF6-1EE4-B34F-8C86-77597AD31925}" type="parTrans" cxnId="{2112879B-1816-5C4E-8E57-2FA23E0659A8}">
      <dgm:prSet/>
      <dgm:spPr/>
      <dgm:t>
        <a:bodyPr/>
        <a:lstStyle/>
        <a:p>
          <a:endParaRPr lang="en-US"/>
        </a:p>
      </dgm:t>
    </dgm:pt>
    <dgm:pt modelId="{33ED4C35-D5B9-1349-BD7A-18B67C1DC3AE}" type="sibTrans" cxnId="{2112879B-1816-5C4E-8E57-2FA23E0659A8}">
      <dgm:prSet/>
      <dgm:spPr/>
      <dgm:t>
        <a:bodyPr/>
        <a:lstStyle/>
        <a:p>
          <a:endParaRPr lang="en-US"/>
        </a:p>
      </dgm:t>
    </dgm:pt>
    <mc:AlternateContent xmlns:mc="http://schemas.openxmlformats.org/markup-compatibility/2006" xmlns:a14="http://schemas.microsoft.com/office/drawing/2010/main">
      <mc:Choice Requires="a14">
        <dgm:pt modelId="{C3829988-D7FB-3247-88D4-8F2765E15B74}">
          <dgm:prSet phldrT="[Text]"/>
          <dgm:spPr/>
          <dgm:t>
            <a:bodyPr/>
            <a:lstStyle/>
            <a:p>
              <a:r>
                <a:rPr lang="en-US" dirty="0"/>
                <a:t>Calculate angles </a:t>
              </a:r>
              <a14:m>
                <m:oMath xmlns:m="http://schemas.openxmlformats.org/officeDocument/2006/math">
                  <m:d>
                    <m:dPr>
                      <m:begChr m:val="["/>
                      <m:endChr m:val="]"/>
                      <m:ctrlPr>
                        <a:rPr lang="en-US" b="0" i="1" smtClean="0">
                          <a:latin typeface="Cambria Math" panose="02040503050406030204" pitchFamily="18" charset="0"/>
                        </a:rPr>
                      </m:ctrlPr>
                    </m:dPr>
                    <m:e>
                      <m:r>
                        <a:rPr lang="en-US" b="0" i="0" smtClean="0">
                          <a:latin typeface="Cambria Math" panose="02040503050406030204" pitchFamily="18" charset="0"/>
                        </a:rPr>
                        <m:t>−</m:t>
                      </m:r>
                      <m:r>
                        <a:rPr lang="sr-Latn-RS" b="0" i="1" smtClean="0">
                          <a:latin typeface="Cambria Math" panose="02040503050406030204" pitchFamily="18" charset="0"/>
                          <a:ea typeface="Cambria Math" panose="02040503050406030204" pitchFamily="18" charset="0"/>
                        </a:rPr>
                        <m:t>𝜋</m:t>
                      </m:r>
                      <m:r>
                        <a:rPr lang="en-US" b="0" i="0" smtClean="0">
                          <a:latin typeface="Cambria Math" panose="02040503050406030204" pitchFamily="18" charset="0"/>
                        </a:rPr>
                        <m:t>,</m:t>
                      </m:r>
                      <m:r>
                        <a:rPr lang="sr-Latn-RS" b="0" i="1" smtClean="0">
                          <a:latin typeface="Cambria Math" panose="02040503050406030204" pitchFamily="18" charset="0"/>
                          <a:ea typeface="Cambria Math" panose="02040503050406030204" pitchFamily="18" charset="0"/>
                        </a:rPr>
                        <m:t>𝜋</m:t>
                      </m:r>
                    </m:e>
                  </m:d>
                </m:oMath>
              </a14:m>
              <a:r>
                <a:rPr lang="en-US" dirty="0"/>
                <a:t>:  </a:t>
              </a:r>
              <a14:m>
                <m:oMath xmlns:m="http://schemas.openxmlformats.org/officeDocument/2006/math">
                  <m:sSub>
                    <m:sSubPr>
                      <m:ctrlPr>
                        <a:rPr lang="el-GR" b="0" i="1" smtClean="0">
                          <a:latin typeface="Cambria Math" panose="02040503050406030204" pitchFamily="18" charset="0"/>
                          <a:ea typeface="Cambria Math" panose="02040503050406030204" pitchFamily="18" charset="0"/>
                        </a:rPr>
                      </m:ctrlPr>
                    </m:sSubPr>
                    <m:e>
                      <m:r>
                        <m:rPr>
                          <m:sty m:val="p"/>
                        </m:rPr>
                        <a:rPr lang="el-GR" b="0" i="1" smtClean="0">
                          <a:latin typeface="Cambria Math" panose="02040503050406030204" pitchFamily="18" charset="0"/>
                          <a:ea typeface="Cambria Math" panose="02040503050406030204" pitchFamily="18" charset="0"/>
                        </a:rPr>
                        <m:t>θ</m:t>
                      </m:r>
                    </m:e>
                    <m:sub>
                      <m:r>
                        <a:rPr lang="sr-Latn-RS" b="0" i="1" smtClean="0">
                          <a:latin typeface="Cambria Math" panose="02040503050406030204" pitchFamily="18" charset="0"/>
                          <a:ea typeface="Cambria Math" panose="02040503050406030204" pitchFamily="18" charset="0"/>
                        </a:rPr>
                        <m:t>𝑖</m:t>
                      </m:r>
                    </m:sub>
                  </m:sSub>
                  <m:r>
                    <a:rPr lang="sr-Latn-R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2</m:t>
                      </m:r>
                      <m:r>
                        <a:rPr lang="sr-Latn-RS" b="0" i="1" smtClean="0">
                          <a:latin typeface="Cambria Math" panose="02040503050406030204" pitchFamily="18" charset="0"/>
                          <a:ea typeface="Cambria Math" panose="02040503050406030204" pitchFamily="18" charset="0"/>
                        </a:rPr>
                        <m:t>𝜋</m:t>
                      </m:r>
                      <m:r>
                        <a:rPr lang="en-US" i="1">
                          <a:latin typeface="Cambria Math" panose="02040503050406030204" pitchFamily="18" charset="0"/>
                        </a:rPr>
                        <m:t>𝑥</m:t>
                      </m:r>
                    </m:e>
                    <m:sub>
                      <m:r>
                        <a:rPr lang="en-US" b="0" i="1" smtClean="0">
                          <a:latin typeface="Cambria Math" panose="02040503050406030204" pitchFamily="18" charset="0"/>
                        </a:rPr>
                        <m:t>𝑖</m:t>
                      </m:r>
                      <m:r>
                        <a:rPr lang="en-US" b="0" i="1" smtClean="0">
                          <a:latin typeface="Cambria Math" panose="02040503050406030204" pitchFamily="18" charset="0"/>
                        </a:rPr>
                        <m:t>_</m:t>
                      </m:r>
                      <m:r>
                        <a:rPr lang="en-US" b="0" i="1" smtClean="0">
                          <a:latin typeface="Cambria Math" panose="02040503050406030204" pitchFamily="18" charset="0"/>
                        </a:rPr>
                        <m:t>𝑛𝑜𝑟𝑚</m:t>
                      </m:r>
                    </m:sub>
                  </m:sSub>
                  <m:r>
                    <a:rPr lang="en-US" b="0" i="1" smtClean="0">
                      <a:latin typeface="Cambria Math" panose="02040503050406030204" pitchFamily="18" charset="0"/>
                    </a:rPr>
                    <m:t>−</m:t>
                  </m:r>
                  <m:r>
                    <a:rPr lang="sr-Latn-RS" b="0" i="1" smtClean="0">
                      <a:latin typeface="Cambria Math" panose="02040503050406030204" pitchFamily="18" charset="0"/>
                      <a:ea typeface="Cambria Math" panose="02040503050406030204" pitchFamily="18" charset="0"/>
                    </a:rPr>
                    <m:t>𝜋</m:t>
                  </m:r>
                </m:oMath>
              </a14:m>
              <a:endParaRPr lang="en-US" dirty="0"/>
            </a:p>
          </dgm:t>
        </dgm:pt>
      </mc:Choice>
      <mc:Fallback xmlns="">
        <dgm:pt modelId="{C3829988-D7FB-3247-88D4-8F2765E15B74}">
          <dgm:prSet phldrT="[Text]"/>
          <dgm:spPr/>
          <dgm:t>
            <a:bodyPr/>
            <a:lstStyle/>
            <a:p>
              <a:r>
                <a:rPr lang="en-US" dirty="0"/>
                <a:t>Calculate angles </a:t>
              </a:r>
              <a:r>
                <a:rPr lang="en-US" b="0" i="0">
                  <a:latin typeface="Cambria Math" panose="02040503050406030204" pitchFamily="18" charset="0"/>
                </a:rPr>
                <a:t>[−</a:t>
              </a:r>
              <a:r>
                <a:rPr lang="sr-Latn-RS" b="0" i="0">
                  <a:latin typeface="Cambria Math" panose="02040503050406030204" pitchFamily="18" charset="0"/>
                  <a:ea typeface="Cambria Math" panose="02040503050406030204" pitchFamily="18" charset="0"/>
                </a:rPr>
                <a:t>𝜋</a:t>
              </a:r>
              <a:r>
                <a:rPr lang="en-US" b="0" i="0">
                  <a:latin typeface="Cambria Math" panose="02040503050406030204" pitchFamily="18" charset="0"/>
                </a:rPr>
                <a:t>,</a:t>
              </a:r>
              <a:r>
                <a:rPr lang="sr-Latn-RS" b="0" i="0">
                  <a:latin typeface="Cambria Math" panose="02040503050406030204" pitchFamily="18" charset="0"/>
                  <a:ea typeface="Cambria Math" panose="02040503050406030204" pitchFamily="18" charset="0"/>
                </a:rPr>
                <a:t>𝜋]</a:t>
              </a:r>
              <a:r>
                <a:rPr lang="en-US" dirty="0"/>
                <a:t>:  </a:t>
              </a:r>
              <a:r>
                <a:rPr lang="el-GR" b="0" i="0">
                  <a:latin typeface="Cambria Math" panose="02040503050406030204" pitchFamily="18" charset="0"/>
                  <a:ea typeface="Cambria Math" panose="02040503050406030204" pitchFamily="18" charset="0"/>
                </a:rPr>
                <a:t>θ_</a:t>
              </a:r>
              <a:r>
                <a:rPr lang="sr-Latn-RS" b="0" i="0">
                  <a:latin typeface="Cambria Math" panose="02040503050406030204" pitchFamily="18" charset="0"/>
                  <a:ea typeface="Cambria Math" panose="02040503050406030204" pitchFamily="18" charset="0"/>
                </a:rPr>
                <a:t>𝑖=</a:t>
              </a:r>
              <a:r>
                <a:rPr lang="en-US" i="0">
                  <a:latin typeface="Cambria Math" panose="02040503050406030204" pitchFamily="18" charset="0"/>
                </a:rPr>
                <a:t>〖</a:t>
              </a:r>
              <a:r>
                <a:rPr lang="en-US" b="0" i="0">
                  <a:latin typeface="Cambria Math" panose="02040503050406030204" pitchFamily="18" charset="0"/>
                </a:rPr>
                <a:t>2</a:t>
              </a:r>
              <a:r>
                <a:rPr lang="sr-Latn-RS" b="0" i="0">
                  <a:latin typeface="Cambria Math" panose="02040503050406030204" pitchFamily="18" charset="0"/>
                  <a:ea typeface="Cambria Math" panose="02040503050406030204" pitchFamily="18" charset="0"/>
                </a:rPr>
                <a:t>𝜋</a:t>
              </a:r>
              <a:r>
                <a:rPr lang="en-US" i="0">
                  <a:latin typeface="Cambria Math" panose="02040503050406030204" pitchFamily="18" charset="0"/>
                </a:rPr>
                <a:t>𝑥〗_(</a:t>
              </a:r>
              <a:r>
                <a:rPr lang="en-US" b="0" i="0">
                  <a:latin typeface="Cambria Math" panose="02040503050406030204" pitchFamily="18" charset="0"/>
                </a:rPr>
                <a:t>𝑖_𝑛𝑜𝑟𝑚)−</a:t>
              </a:r>
              <a:r>
                <a:rPr lang="sr-Latn-RS" b="0" i="0">
                  <a:latin typeface="Cambria Math" panose="02040503050406030204" pitchFamily="18" charset="0"/>
                  <a:ea typeface="Cambria Math" panose="02040503050406030204" pitchFamily="18" charset="0"/>
                </a:rPr>
                <a:t>𝜋</a:t>
              </a:r>
              <a:endParaRPr lang="en-US" dirty="0"/>
            </a:p>
          </dgm:t>
        </dgm:pt>
      </mc:Fallback>
    </mc:AlternateContent>
    <dgm:pt modelId="{62FBC81E-D8DD-E049-BE68-1B0395E275F5}" type="parTrans" cxnId="{DDA18504-11AA-DE46-A916-BD40DE7A2503}">
      <dgm:prSet/>
      <dgm:spPr/>
      <dgm:t>
        <a:bodyPr/>
        <a:lstStyle/>
        <a:p>
          <a:endParaRPr lang="en-US"/>
        </a:p>
      </dgm:t>
    </dgm:pt>
    <dgm:pt modelId="{06642161-CEAA-1C46-BB3A-838714D796AE}" type="sibTrans" cxnId="{DDA18504-11AA-DE46-A916-BD40DE7A2503}">
      <dgm:prSet/>
      <dgm:spPr/>
      <dgm:t>
        <a:bodyPr/>
        <a:lstStyle/>
        <a:p>
          <a:endParaRPr lang="en-US"/>
        </a:p>
      </dgm:t>
    </dgm:pt>
    <dgm:pt modelId="{DBA4702F-E61E-014B-80E1-266DCCF0BE9B}">
      <dgm:prSet phldrT="[Text]"/>
      <dgm:spPr/>
      <dgm:t>
        <a:bodyPr/>
        <a:lstStyle/>
        <a:p>
          <a:r>
            <a:rPr lang="en-US" dirty="0"/>
            <a:t>5</a:t>
          </a:r>
        </a:p>
      </dgm:t>
    </dgm:pt>
    <dgm:pt modelId="{F9CA5E7A-66F9-5344-8A1B-1F602279AB88}" type="parTrans" cxnId="{C2FEFA41-751E-3140-9535-5AB1635783AA}">
      <dgm:prSet/>
      <dgm:spPr/>
      <dgm:t>
        <a:bodyPr/>
        <a:lstStyle/>
        <a:p>
          <a:endParaRPr lang="en-US"/>
        </a:p>
      </dgm:t>
    </dgm:pt>
    <dgm:pt modelId="{65E7DC4B-52AB-AC42-82A2-C28F2FBD6400}" type="sibTrans" cxnId="{C2FEFA41-751E-3140-9535-5AB1635783AA}">
      <dgm:prSet/>
      <dgm:spPr/>
      <dgm:t>
        <a:bodyPr/>
        <a:lstStyle/>
        <a:p>
          <a:endParaRPr lang="en-US"/>
        </a:p>
      </dgm:t>
    </dgm:pt>
    <mc:AlternateContent xmlns:mc="http://schemas.openxmlformats.org/markup-compatibility/2006" xmlns:a14="http://schemas.microsoft.com/office/drawing/2010/main">
      <mc:Choice Requires="a14">
        <dgm:pt modelId="{38C7AF38-3B8C-AF44-86D8-CBFB9F99EA42}">
          <dgm:prSet phldrT="[Text]"/>
          <dgm:spPr/>
          <dgm:t>
            <a:bodyPr/>
            <a:lstStyle/>
            <a:p>
              <a:r>
                <a:rPr lang="en-US" dirty="0"/>
                <a:t>Encode into a circuit: </a:t>
              </a:r>
              <a14:m>
                <m:oMath xmlns:m="http://schemas.openxmlformats.org/officeDocument/2006/math">
                  <m:sSub>
                    <m:sSubPr>
                      <m:ctrlPr>
                        <a:rPr lang="el-GR"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𝑅𝑦</m:t>
                      </m:r>
                      <m:r>
                        <a:rPr lang="en-US" b="0" i="1" smtClean="0">
                          <a:latin typeface="Cambria Math" panose="02040503050406030204" pitchFamily="18" charset="0"/>
                          <a:ea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θ</m:t>
                      </m:r>
                    </m:e>
                    <m:sub>
                      <m:r>
                        <a:rPr lang="sr-Latn-R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oMath>
              </a14:m>
              <a:endParaRPr lang="en-US" dirty="0"/>
            </a:p>
          </dgm:t>
        </dgm:pt>
      </mc:Choice>
      <mc:Fallback xmlns="">
        <dgm:pt modelId="{38C7AF38-3B8C-AF44-86D8-CBFB9F99EA42}">
          <dgm:prSet phldrT="[Text]"/>
          <dgm:spPr/>
          <dgm:t>
            <a:bodyPr/>
            <a:lstStyle/>
            <a:p>
              <a:r>
                <a:rPr lang="en-US" dirty="0"/>
                <a:t>Encode into a circuit: </a:t>
              </a:r>
              <a:r>
                <a:rPr lang="el-GR" b="0" i="0">
                  <a:latin typeface="Cambria Math" panose="02040503050406030204" pitchFamily="18" charset="0"/>
                  <a:ea typeface="Cambria Math" panose="02040503050406030204" pitchFamily="18" charset="0"/>
                </a:rPr>
                <a:t>〖</a:t>
              </a:r>
              <a:r>
                <a:rPr lang="en-US" b="0" i="0">
                  <a:latin typeface="Cambria Math" panose="02040503050406030204" pitchFamily="18" charset="0"/>
                  <a:ea typeface="Cambria Math" panose="02040503050406030204" pitchFamily="18" charset="0"/>
                </a:rPr>
                <a:t>𝑅𝑦(</a:t>
              </a:r>
              <a:r>
                <a:rPr lang="el-GR" b="0" i="0">
                  <a:latin typeface="Cambria Math" panose="02040503050406030204" pitchFamily="18" charset="0"/>
                  <a:ea typeface="Cambria Math" panose="02040503050406030204" pitchFamily="18" charset="0"/>
                </a:rPr>
                <a:t>θ〗_</a:t>
              </a:r>
              <a:r>
                <a:rPr lang="sr-Latn-RS" b="0" i="0">
                  <a:latin typeface="Cambria Math" panose="02040503050406030204" pitchFamily="18" charset="0"/>
                  <a:ea typeface="Cambria Math" panose="02040503050406030204" pitchFamily="18" charset="0"/>
                </a:rPr>
                <a:t>𝑖</a:t>
              </a:r>
              <a:r>
                <a:rPr lang="en-US" b="0" i="0">
                  <a:latin typeface="Cambria Math" panose="02040503050406030204" pitchFamily="18" charset="0"/>
                  <a:ea typeface="Cambria Math" panose="02040503050406030204" pitchFamily="18" charset="0"/>
                </a:rPr>
                <a:t>)</a:t>
              </a:r>
              <a:endParaRPr lang="en-US" dirty="0"/>
            </a:p>
          </dgm:t>
        </dgm:pt>
      </mc:Fallback>
    </mc:AlternateContent>
    <dgm:pt modelId="{4C906837-E51F-604E-A4DD-F397A68342DC}" type="parTrans" cxnId="{8AFC83EF-7D97-F640-8961-C56D3267C4C4}">
      <dgm:prSet/>
      <dgm:spPr/>
      <dgm:t>
        <a:bodyPr/>
        <a:lstStyle/>
        <a:p>
          <a:endParaRPr lang="en-US"/>
        </a:p>
      </dgm:t>
    </dgm:pt>
    <dgm:pt modelId="{98A59118-7F2F-4C41-BEF1-F575B67CF473}" type="sibTrans" cxnId="{8AFC83EF-7D97-F640-8961-C56D3267C4C4}">
      <dgm:prSet/>
      <dgm:spPr/>
      <dgm:t>
        <a:bodyPr/>
        <a:lstStyle/>
        <a:p>
          <a:endParaRPr lang="en-US"/>
        </a:p>
      </dgm:t>
    </dgm:pt>
    <dgm:pt modelId="{7734E06A-127F-C243-AE8A-A867533B55FB}" type="pres">
      <dgm:prSet presAssocID="{973AC05A-A5D2-8A42-9867-DCCDB7AC3E38}" presName="linearFlow" presStyleCnt="0">
        <dgm:presLayoutVars>
          <dgm:dir/>
          <dgm:animLvl val="lvl"/>
          <dgm:resizeHandles val="exact"/>
        </dgm:presLayoutVars>
      </dgm:prSet>
      <dgm:spPr/>
    </dgm:pt>
    <dgm:pt modelId="{B543CCFD-481F-E043-BD13-E85AB91B605F}" type="pres">
      <dgm:prSet presAssocID="{D4E97091-68AF-4547-BC42-C8482CC84E08}" presName="composite" presStyleCnt="0"/>
      <dgm:spPr/>
    </dgm:pt>
    <dgm:pt modelId="{9E2AB98A-A571-7F44-96A3-494CC0ADEB39}" type="pres">
      <dgm:prSet presAssocID="{D4E97091-68AF-4547-BC42-C8482CC84E08}" presName="parentText" presStyleLbl="alignNode1" presStyleIdx="0" presStyleCnt="5">
        <dgm:presLayoutVars>
          <dgm:chMax val="1"/>
          <dgm:bulletEnabled val="1"/>
        </dgm:presLayoutVars>
      </dgm:prSet>
      <dgm:spPr/>
    </dgm:pt>
    <dgm:pt modelId="{355EB31A-6A7B-2144-9B4D-C51FAEC822B0}" type="pres">
      <dgm:prSet presAssocID="{D4E97091-68AF-4547-BC42-C8482CC84E08}" presName="descendantText" presStyleLbl="alignAcc1" presStyleIdx="0" presStyleCnt="5" custLinFactNeighborX="2085" custLinFactNeighborY="-50244">
        <dgm:presLayoutVars>
          <dgm:bulletEnabled val="1"/>
        </dgm:presLayoutVars>
      </dgm:prSet>
      <dgm:spPr/>
    </dgm:pt>
    <dgm:pt modelId="{25177147-1209-F947-8DDA-A3D40714E2F0}" type="pres">
      <dgm:prSet presAssocID="{95571C59-46D9-EE41-A3C9-9B448F2BC367}" presName="sp" presStyleCnt="0"/>
      <dgm:spPr/>
    </dgm:pt>
    <dgm:pt modelId="{E4178012-F2D1-9345-AA78-2B98AB31D3E1}" type="pres">
      <dgm:prSet presAssocID="{73E53AC1-5CA6-D04B-B52D-B0E630F50BBB}" presName="composite" presStyleCnt="0"/>
      <dgm:spPr/>
    </dgm:pt>
    <dgm:pt modelId="{F8FB3873-C125-3645-AFFF-9AFDB0BCA6CE}" type="pres">
      <dgm:prSet presAssocID="{73E53AC1-5CA6-D04B-B52D-B0E630F50BBB}" presName="parentText" presStyleLbl="alignNode1" presStyleIdx="1" presStyleCnt="5">
        <dgm:presLayoutVars>
          <dgm:chMax val="1"/>
          <dgm:bulletEnabled val="1"/>
        </dgm:presLayoutVars>
      </dgm:prSet>
      <dgm:spPr/>
    </dgm:pt>
    <dgm:pt modelId="{C67FA631-3D59-4140-B1C0-F127975FEC6F}" type="pres">
      <dgm:prSet presAssocID="{73E53AC1-5CA6-D04B-B52D-B0E630F50BBB}" presName="descendantText" presStyleLbl="alignAcc1" presStyleIdx="1" presStyleCnt="5">
        <dgm:presLayoutVars>
          <dgm:bulletEnabled val="1"/>
        </dgm:presLayoutVars>
      </dgm:prSet>
      <dgm:spPr/>
    </dgm:pt>
    <dgm:pt modelId="{BC87F61C-213D-0342-A854-9CB7D5A19962}" type="pres">
      <dgm:prSet presAssocID="{5EE46B4A-C34B-AE4D-81B6-15059B7CFAD7}" presName="sp" presStyleCnt="0"/>
      <dgm:spPr/>
    </dgm:pt>
    <dgm:pt modelId="{C5A115DF-8D8E-8748-893A-F0DD2F21D59B}" type="pres">
      <dgm:prSet presAssocID="{6DFCCBBC-15A2-B542-AF94-75B579DF8E66}" presName="composite" presStyleCnt="0"/>
      <dgm:spPr/>
    </dgm:pt>
    <dgm:pt modelId="{BD7C2000-60DE-4846-8DF2-C75B8078B2C7}" type="pres">
      <dgm:prSet presAssocID="{6DFCCBBC-15A2-B542-AF94-75B579DF8E66}" presName="parentText" presStyleLbl="alignNode1" presStyleIdx="2" presStyleCnt="5">
        <dgm:presLayoutVars>
          <dgm:chMax val="1"/>
          <dgm:bulletEnabled val="1"/>
        </dgm:presLayoutVars>
      </dgm:prSet>
      <dgm:spPr/>
    </dgm:pt>
    <dgm:pt modelId="{899BA960-5353-6B47-AB0E-7139AA9FFC3C}" type="pres">
      <dgm:prSet presAssocID="{6DFCCBBC-15A2-B542-AF94-75B579DF8E66}" presName="descendantText" presStyleLbl="alignAcc1" presStyleIdx="2" presStyleCnt="5">
        <dgm:presLayoutVars>
          <dgm:bulletEnabled val="1"/>
        </dgm:presLayoutVars>
      </dgm:prSet>
      <dgm:spPr/>
    </dgm:pt>
    <dgm:pt modelId="{62FD46F5-3D7D-4441-9D02-120ECAB81E91}" type="pres">
      <dgm:prSet presAssocID="{93BD1384-804B-904C-94DB-5F133A8DE459}" presName="sp" presStyleCnt="0"/>
      <dgm:spPr/>
    </dgm:pt>
    <dgm:pt modelId="{5687EA2D-CCD2-1C47-9692-AD19BC97FC1F}" type="pres">
      <dgm:prSet presAssocID="{3BDC42F8-0197-5D45-8574-46E58A02CFD2}" presName="composite" presStyleCnt="0"/>
      <dgm:spPr/>
    </dgm:pt>
    <dgm:pt modelId="{BEDD1534-FA0B-CF43-ADFA-5C9EFA63688E}" type="pres">
      <dgm:prSet presAssocID="{3BDC42F8-0197-5D45-8574-46E58A02CFD2}" presName="parentText" presStyleLbl="alignNode1" presStyleIdx="3" presStyleCnt="5">
        <dgm:presLayoutVars>
          <dgm:chMax val="1"/>
          <dgm:bulletEnabled val="1"/>
        </dgm:presLayoutVars>
      </dgm:prSet>
      <dgm:spPr/>
    </dgm:pt>
    <dgm:pt modelId="{D968B479-7BA5-A149-955B-B8D029260D60}" type="pres">
      <dgm:prSet presAssocID="{3BDC42F8-0197-5D45-8574-46E58A02CFD2}" presName="descendantText" presStyleLbl="alignAcc1" presStyleIdx="3" presStyleCnt="5" custLinFactNeighborX="-187">
        <dgm:presLayoutVars>
          <dgm:bulletEnabled val="1"/>
        </dgm:presLayoutVars>
      </dgm:prSet>
      <dgm:spPr/>
    </dgm:pt>
    <dgm:pt modelId="{B6252D0F-DEA5-3B41-A2EF-006046911D19}" type="pres">
      <dgm:prSet presAssocID="{33ED4C35-D5B9-1349-BD7A-18B67C1DC3AE}" presName="sp" presStyleCnt="0"/>
      <dgm:spPr/>
    </dgm:pt>
    <dgm:pt modelId="{D5410091-F34E-3940-892B-701E7FDE9579}" type="pres">
      <dgm:prSet presAssocID="{DBA4702F-E61E-014B-80E1-266DCCF0BE9B}" presName="composite" presStyleCnt="0"/>
      <dgm:spPr/>
    </dgm:pt>
    <dgm:pt modelId="{E99C6F8A-9034-8341-B5A1-60F9C3FB8BE2}" type="pres">
      <dgm:prSet presAssocID="{DBA4702F-E61E-014B-80E1-266DCCF0BE9B}" presName="parentText" presStyleLbl="alignNode1" presStyleIdx="4" presStyleCnt="5">
        <dgm:presLayoutVars>
          <dgm:chMax val="1"/>
          <dgm:bulletEnabled val="1"/>
        </dgm:presLayoutVars>
      </dgm:prSet>
      <dgm:spPr/>
    </dgm:pt>
    <dgm:pt modelId="{BF27D454-230E-1446-A157-6EBA6DABDC75}" type="pres">
      <dgm:prSet presAssocID="{DBA4702F-E61E-014B-80E1-266DCCF0BE9B}" presName="descendantText" presStyleLbl="alignAcc1" presStyleIdx="4" presStyleCnt="5">
        <dgm:presLayoutVars>
          <dgm:bulletEnabled val="1"/>
        </dgm:presLayoutVars>
      </dgm:prSet>
      <dgm:spPr/>
    </dgm:pt>
  </dgm:ptLst>
  <dgm:cxnLst>
    <dgm:cxn modelId="{DDA18504-11AA-DE46-A916-BD40DE7A2503}" srcId="{3BDC42F8-0197-5D45-8574-46E58A02CFD2}" destId="{C3829988-D7FB-3247-88D4-8F2765E15B74}" srcOrd="0" destOrd="0" parTransId="{62FBC81E-D8DD-E049-BE68-1B0395E275F5}" sibTransId="{06642161-CEAA-1C46-BB3A-838714D796AE}"/>
    <dgm:cxn modelId="{99BD281D-4025-6746-BD61-3D087E6F3F9E}" type="presOf" srcId="{C3829988-D7FB-3247-88D4-8F2765E15B74}" destId="{D968B479-7BA5-A149-955B-B8D029260D60}" srcOrd="0" destOrd="0" presId="urn:microsoft.com/office/officeart/2005/8/layout/chevron2"/>
    <dgm:cxn modelId="{DFDF2725-1DBB-F041-9A83-A31E5AD14B67}" srcId="{6DFCCBBC-15A2-B542-AF94-75B579DF8E66}" destId="{FC5A425A-18A3-9A49-81A4-CE00405555BC}" srcOrd="0" destOrd="0" parTransId="{DC8B9B70-ECAC-7241-8F66-673C52702ED5}" sibTransId="{8DCC4418-F70E-FF4E-ABA6-11423FCC3926}"/>
    <dgm:cxn modelId="{C2FEFA41-751E-3140-9535-5AB1635783AA}" srcId="{973AC05A-A5D2-8A42-9867-DCCDB7AC3E38}" destId="{DBA4702F-E61E-014B-80E1-266DCCF0BE9B}" srcOrd="4" destOrd="0" parTransId="{F9CA5E7A-66F9-5344-8A1B-1F602279AB88}" sibTransId="{65E7DC4B-52AB-AC42-82A2-C28F2FBD6400}"/>
    <dgm:cxn modelId="{74A9075B-A2DB-E84B-89D1-884416A5020C}" type="presOf" srcId="{D4E97091-68AF-4547-BC42-C8482CC84E08}" destId="{9E2AB98A-A571-7F44-96A3-494CC0ADEB39}" srcOrd="0" destOrd="0" presId="urn:microsoft.com/office/officeart/2005/8/layout/chevron2"/>
    <dgm:cxn modelId="{C4E05B63-A574-E345-A325-84C71E862AB2}" type="presOf" srcId="{0EF902A6-89A1-CA4F-83B6-8D0580434ABD}" destId="{355EB31A-6A7B-2144-9B4D-C51FAEC822B0}" srcOrd="0" destOrd="0" presId="urn:microsoft.com/office/officeart/2005/8/layout/chevron2"/>
    <dgm:cxn modelId="{151D3A64-4834-FF4F-8164-730196146304}" srcId="{973AC05A-A5D2-8A42-9867-DCCDB7AC3E38}" destId="{73E53AC1-5CA6-D04B-B52D-B0E630F50BBB}" srcOrd="1" destOrd="0" parTransId="{3FC2BFAC-0AC2-3142-8BF9-B3DFDC7B3EBE}" sibTransId="{5EE46B4A-C34B-AE4D-81B6-15059B7CFAD7}"/>
    <dgm:cxn modelId="{9DB77B81-5E71-504A-B8E5-08BEFADFDAB6}" type="presOf" srcId="{73E53AC1-5CA6-D04B-B52D-B0E630F50BBB}" destId="{F8FB3873-C125-3645-AFFF-9AFDB0BCA6CE}" srcOrd="0" destOrd="0" presId="urn:microsoft.com/office/officeart/2005/8/layout/chevron2"/>
    <dgm:cxn modelId="{B6269985-FF14-D347-8DE3-3EA5A81FA0C2}" type="presOf" srcId="{3BDC42F8-0197-5D45-8574-46E58A02CFD2}" destId="{BEDD1534-FA0B-CF43-ADFA-5C9EFA63688E}" srcOrd="0" destOrd="0" presId="urn:microsoft.com/office/officeart/2005/8/layout/chevron2"/>
    <dgm:cxn modelId="{3D3B9588-3D33-2349-BD02-49ACA9ECEDC5}" srcId="{D4E97091-68AF-4547-BC42-C8482CC84E08}" destId="{0EF902A6-89A1-CA4F-83B6-8D0580434ABD}" srcOrd="0" destOrd="0" parTransId="{7722B720-3EB9-6047-97D9-E7B8B535D340}" sibTransId="{E9735411-C10B-D845-BB89-1A770DCC0E70}"/>
    <dgm:cxn modelId="{A055FE8B-11DB-A247-89CF-2C3191592AF4}" type="presOf" srcId="{973AC05A-A5D2-8A42-9867-DCCDB7AC3E38}" destId="{7734E06A-127F-C243-AE8A-A867533B55FB}" srcOrd="0" destOrd="0" presId="urn:microsoft.com/office/officeart/2005/8/layout/chevron2"/>
    <dgm:cxn modelId="{ED96898E-194C-F247-AC50-4FFF3CBD83FE}" type="presOf" srcId="{DBA4702F-E61E-014B-80E1-266DCCF0BE9B}" destId="{E99C6F8A-9034-8341-B5A1-60F9C3FB8BE2}" srcOrd="0" destOrd="0" presId="urn:microsoft.com/office/officeart/2005/8/layout/chevron2"/>
    <dgm:cxn modelId="{FDAB3599-71AD-0643-99B8-35A73DFFC573}" type="presOf" srcId="{38C7AF38-3B8C-AF44-86D8-CBFB9F99EA42}" destId="{BF27D454-230E-1446-A157-6EBA6DABDC75}" srcOrd="0" destOrd="0" presId="urn:microsoft.com/office/officeart/2005/8/layout/chevron2"/>
    <dgm:cxn modelId="{2112879B-1816-5C4E-8E57-2FA23E0659A8}" srcId="{973AC05A-A5D2-8A42-9867-DCCDB7AC3E38}" destId="{3BDC42F8-0197-5D45-8574-46E58A02CFD2}" srcOrd="3" destOrd="0" parTransId="{92F6ECF6-1EE4-B34F-8C86-77597AD31925}" sibTransId="{33ED4C35-D5B9-1349-BD7A-18B67C1DC3AE}"/>
    <dgm:cxn modelId="{3E8731B9-E49C-9549-86CD-52BC13CCF0B4}" type="presOf" srcId="{6DFCCBBC-15A2-B542-AF94-75B579DF8E66}" destId="{BD7C2000-60DE-4846-8DF2-C75B8078B2C7}" srcOrd="0" destOrd="0" presId="urn:microsoft.com/office/officeart/2005/8/layout/chevron2"/>
    <dgm:cxn modelId="{82C5D8CD-0DD2-4D47-9F04-1295F4A781AF}" srcId="{973AC05A-A5D2-8A42-9867-DCCDB7AC3E38}" destId="{6DFCCBBC-15A2-B542-AF94-75B579DF8E66}" srcOrd="2" destOrd="0" parTransId="{893C1194-023D-C04B-9F74-8F0ED47C3E59}" sibTransId="{93BD1384-804B-904C-94DB-5F133A8DE459}"/>
    <dgm:cxn modelId="{17852FE0-3B75-064D-BBB0-F37219545E55}" type="presOf" srcId="{FC5A425A-18A3-9A49-81A4-CE00405555BC}" destId="{899BA960-5353-6B47-AB0E-7139AA9FFC3C}" srcOrd="0" destOrd="0" presId="urn:microsoft.com/office/officeart/2005/8/layout/chevron2"/>
    <dgm:cxn modelId="{501CD6E9-4E8B-A241-B665-DFEDADD8D4B5}" srcId="{973AC05A-A5D2-8A42-9867-DCCDB7AC3E38}" destId="{D4E97091-68AF-4547-BC42-C8482CC84E08}" srcOrd="0" destOrd="0" parTransId="{8E2CCE9E-EDA7-C944-B837-2347E4B0BFA2}" sibTransId="{95571C59-46D9-EE41-A3C9-9B448F2BC367}"/>
    <dgm:cxn modelId="{8AFC83EF-7D97-F640-8961-C56D3267C4C4}" srcId="{DBA4702F-E61E-014B-80E1-266DCCF0BE9B}" destId="{38C7AF38-3B8C-AF44-86D8-CBFB9F99EA42}" srcOrd="0" destOrd="0" parTransId="{4C906837-E51F-604E-A4DD-F397A68342DC}" sibTransId="{98A59118-7F2F-4C41-BEF1-F575B67CF473}"/>
    <dgm:cxn modelId="{6FCC94FD-C404-0348-893C-33549FAACD3C}" srcId="{73E53AC1-5CA6-D04B-B52D-B0E630F50BBB}" destId="{463B8C17-03F4-804C-BE79-8D213F93C032}" srcOrd="0" destOrd="0" parTransId="{91D697F8-FD05-6841-A767-7DA53F15BD22}" sibTransId="{1690D14D-F525-5541-8AAA-778928CFE9BC}"/>
    <dgm:cxn modelId="{D01BB9FF-A555-EB4D-902F-1E51F818B1A0}" type="presOf" srcId="{463B8C17-03F4-804C-BE79-8D213F93C032}" destId="{C67FA631-3D59-4140-B1C0-F127975FEC6F}" srcOrd="0" destOrd="0" presId="urn:microsoft.com/office/officeart/2005/8/layout/chevron2"/>
    <dgm:cxn modelId="{E150BB82-105E-FE46-8167-5CD205EB2C00}" type="presParOf" srcId="{7734E06A-127F-C243-AE8A-A867533B55FB}" destId="{B543CCFD-481F-E043-BD13-E85AB91B605F}" srcOrd="0" destOrd="0" presId="urn:microsoft.com/office/officeart/2005/8/layout/chevron2"/>
    <dgm:cxn modelId="{FF3D5E13-0C06-8742-A772-711EB8CEEFF9}" type="presParOf" srcId="{B543CCFD-481F-E043-BD13-E85AB91B605F}" destId="{9E2AB98A-A571-7F44-96A3-494CC0ADEB39}" srcOrd="0" destOrd="0" presId="urn:microsoft.com/office/officeart/2005/8/layout/chevron2"/>
    <dgm:cxn modelId="{E7D59A00-9A36-4C42-B42E-331388F9FE18}" type="presParOf" srcId="{B543CCFD-481F-E043-BD13-E85AB91B605F}" destId="{355EB31A-6A7B-2144-9B4D-C51FAEC822B0}" srcOrd="1" destOrd="0" presId="urn:microsoft.com/office/officeart/2005/8/layout/chevron2"/>
    <dgm:cxn modelId="{C9ACE2DB-40F6-7A46-8795-6DBFF5C915C2}" type="presParOf" srcId="{7734E06A-127F-C243-AE8A-A867533B55FB}" destId="{25177147-1209-F947-8DDA-A3D40714E2F0}" srcOrd="1" destOrd="0" presId="urn:microsoft.com/office/officeart/2005/8/layout/chevron2"/>
    <dgm:cxn modelId="{1C98CFFC-0494-1A4D-A67A-851BB3626E12}" type="presParOf" srcId="{7734E06A-127F-C243-AE8A-A867533B55FB}" destId="{E4178012-F2D1-9345-AA78-2B98AB31D3E1}" srcOrd="2" destOrd="0" presId="urn:microsoft.com/office/officeart/2005/8/layout/chevron2"/>
    <dgm:cxn modelId="{0BB03445-9621-2645-AF74-5B0D14C9D4B4}" type="presParOf" srcId="{E4178012-F2D1-9345-AA78-2B98AB31D3E1}" destId="{F8FB3873-C125-3645-AFFF-9AFDB0BCA6CE}" srcOrd="0" destOrd="0" presId="urn:microsoft.com/office/officeart/2005/8/layout/chevron2"/>
    <dgm:cxn modelId="{87AC1C6B-30F1-DC4A-BC1F-E946B72A87BB}" type="presParOf" srcId="{E4178012-F2D1-9345-AA78-2B98AB31D3E1}" destId="{C67FA631-3D59-4140-B1C0-F127975FEC6F}" srcOrd="1" destOrd="0" presId="urn:microsoft.com/office/officeart/2005/8/layout/chevron2"/>
    <dgm:cxn modelId="{54BD4BAF-7065-FE43-B0B4-FB40C31351B3}" type="presParOf" srcId="{7734E06A-127F-C243-AE8A-A867533B55FB}" destId="{BC87F61C-213D-0342-A854-9CB7D5A19962}" srcOrd="3" destOrd="0" presId="urn:microsoft.com/office/officeart/2005/8/layout/chevron2"/>
    <dgm:cxn modelId="{99357EC2-C0DB-684B-8F9A-1E936DBBE94E}" type="presParOf" srcId="{7734E06A-127F-C243-AE8A-A867533B55FB}" destId="{C5A115DF-8D8E-8748-893A-F0DD2F21D59B}" srcOrd="4" destOrd="0" presId="urn:microsoft.com/office/officeart/2005/8/layout/chevron2"/>
    <dgm:cxn modelId="{40F3BABF-D2A9-E54B-88D9-755D42B6BC7A}" type="presParOf" srcId="{C5A115DF-8D8E-8748-893A-F0DD2F21D59B}" destId="{BD7C2000-60DE-4846-8DF2-C75B8078B2C7}" srcOrd="0" destOrd="0" presId="urn:microsoft.com/office/officeart/2005/8/layout/chevron2"/>
    <dgm:cxn modelId="{230C9427-F71C-F840-9787-CE0730FF4BA3}" type="presParOf" srcId="{C5A115DF-8D8E-8748-893A-F0DD2F21D59B}" destId="{899BA960-5353-6B47-AB0E-7139AA9FFC3C}" srcOrd="1" destOrd="0" presId="urn:microsoft.com/office/officeart/2005/8/layout/chevron2"/>
    <dgm:cxn modelId="{5B3A5755-F9AA-0643-A328-0867EE93CB77}" type="presParOf" srcId="{7734E06A-127F-C243-AE8A-A867533B55FB}" destId="{62FD46F5-3D7D-4441-9D02-120ECAB81E91}" srcOrd="5" destOrd="0" presId="urn:microsoft.com/office/officeart/2005/8/layout/chevron2"/>
    <dgm:cxn modelId="{2970FAF2-AC77-594C-8D3A-353BDCA3EDC8}" type="presParOf" srcId="{7734E06A-127F-C243-AE8A-A867533B55FB}" destId="{5687EA2D-CCD2-1C47-9692-AD19BC97FC1F}" srcOrd="6" destOrd="0" presId="urn:microsoft.com/office/officeart/2005/8/layout/chevron2"/>
    <dgm:cxn modelId="{9F0A26A6-7CA4-744B-8E62-1E389F0900A1}" type="presParOf" srcId="{5687EA2D-CCD2-1C47-9692-AD19BC97FC1F}" destId="{BEDD1534-FA0B-CF43-ADFA-5C9EFA63688E}" srcOrd="0" destOrd="0" presId="urn:microsoft.com/office/officeart/2005/8/layout/chevron2"/>
    <dgm:cxn modelId="{9312F4AA-7868-E74E-9D84-412B2A6A39E0}" type="presParOf" srcId="{5687EA2D-CCD2-1C47-9692-AD19BC97FC1F}" destId="{D968B479-7BA5-A149-955B-B8D029260D60}" srcOrd="1" destOrd="0" presId="urn:microsoft.com/office/officeart/2005/8/layout/chevron2"/>
    <dgm:cxn modelId="{0D75B71C-F160-A045-B8ED-48091A7686F8}" type="presParOf" srcId="{7734E06A-127F-C243-AE8A-A867533B55FB}" destId="{B6252D0F-DEA5-3B41-A2EF-006046911D19}" srcOrd="7" destOrd="0" presId="urn:microsoft.com/office/officeart/2005/8/layout/chevron2"/>
    <dgm:cxn modelId="{7C4BEB9B-5DCF-1749-8039-836279DF9F5D}" type="presParOf" srcId="{7734E06A-127F-C243-AE8A-A867533B55FB}" destId="{D5410091-F34E-3940-892B-701E7FDE9579}" srcOrd="8" destOrd="0" presId="urn:microsoft.com/office/officeart/2005/8/layout/chevron2"/>
    <dgm:cxn modelId="{3A494919-1F96-EC4B-9D45-E17A3303D51B}" type="presParOf" srcId="{D5410091-F34E-3940-892B-701E7FDE9579}" destId="{E99C6F8A-9034-8341-B5A1-60F9C3FB8BE2}" srcOrd="0" destOrd="0" presId="urn:microsoft.com/office/officeart/2005/8/layout/chevron2"/>
    <dgm:cxn modelId="{34E9F63D-B3BE-E942-A4DF-77A979930BF8}" type="presParOf" srcId="{D5410091-F34E-3940-892B-701E7FDE9579}" destId="{BF27D454-230E-1446-A157-6EBA6DABDC75}"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73AC05A-A5D2-8A42-9867-DCCDB7AC3E38}" type="doc">
      <dgm:prSet loTypeId="urn:microsoft.com/office/officeart/2005/8/layout/chevron2" loCatId="" qsTypeId="urn:microsoft.com/office/officeart/2005/8/quickstyle/simple1" qsCatId="simple" csTypeId="urn:microsoft.com/office/officeart/2005/8/colors/colorful1" csCatId="colorful" phldr="1"/>
      <dgm:spPr/>
      <dgm:t>
        <a:bodyPr/>
        <a:lstStyle/>
        <a:p>
          <a:endParaRPr lang="en-US"/>
        </a:p>
      </dgm:t>
    </dgm:pt>
    <dgm:pt modelId="{D4E97091-68AF-4547-BC42-C8482CC84E08}">
      <dgm:prSet phldrT="[Text]"/>
      <dgm:spPr/>
      <dgm:t>
        <a:bodyPr/>
        <a:lstStyle/>
        <a:p>
          <a:r>
            <a:rPr lang="en-US" dirty="0"/>
            <a:t>1</a:t>
          </a:r>
        </a:p>
      </dgm:t>
    </dgm:pt>
    <dgm:pt modelId="{8E2CCE9E-EDA7-C944-B837-2347E4B0BFA2}" type="parTrans" cxnId="{501CD6E9-4E8B-A241-B665-DFEDADD8D4B5}">
      <dgm:prSet/>
      <dgm:spPr/>
      <dgm:t>
        <a:bodyPr/>
        <a:lstStyle/>
        <a:p>
          <a:endParaRPr lang="en-US"/>
        </a:p>
      </dgm:t>
    </dgm:pt>
    <dgm:pt modelId="{95571C59-46D9-EE41-A3C9-9B448F2BC367}" type="sibTrans" cxnId="{501CD6E9-4E8B-A241-B665-DFEDADD8D4B5}">
      <dgm:prSet/>
      <dgm:spPr/>
      <dgm:t>
        <a:bodyPr/>
        <a:lstStyle/>
        <a:p>
          <a:endParaRPr lang="en-US"/>
        </a:p>
      </dgm:t>
    </dgm:pt>
    <dgm:pt modelId="{0EF902A6-89A1-CA4F-83B6-8D0580434ABD}">
      <dgm:prSet phldrT="[Text]"/>
      <dgm:spPr>
        <a:blipFill>
          <a:blip xmlns:r="http://schemas.openxmlformats.org/officeDocument/2006/relationships" r:embed="rId1"/>
          <a:stretch>
            <a:fillRect l="-173" b="-1639"/>
          </a:stretch>
        </a:blipFill>
      </dgm:spPr>
      <dgm:t>
        <a:bodyPr/>
        <a:lstStyle/>
        <a:p>
          <a:r>
            <a:rPr lang="en-US">
              <a:noFill/>
            </a:rPr>
            <a:t> </a:t>
          </a:r>
        </a:p>
      </dgm:t>
    </dgm:pt>
    <dgm:pt modelId="{7722B720-3EB9-6047-97D9-E7B8B535D340}" type="parTrans" cxnId="{3D3B9588-3D33-2349-BD02-49ACA9ECEDC5}">
      <dgm:prSet/>
      <dgm:spPr/>
      <dgm:t>
        <a:bodyPr/>
        <a:lstStyle/>
        <a:p>
          <a:endParaRPr lang="en-US"/>
        </a:p>
      </dgm:t>
    </dgm:pt>
    <dgm:pt modelId="{E9735411-C10B-D845-BB89-1A770DCC0E70}" type="sibTrans" cxnId="{3D3B9588-3D33-2349-BD02-49ACA9ECEDC5}">
      <dgm:prSet/>
      <dgm:spPr/>
      <dgm:t>
        <a:bodyPr/>
        <a:lstStyle/>
        <a:p>
          <a:endParaRPr lang="en-US"/>
        </a:p>
      </dgm:t>
    </dgm:pt>
    <dgm:pt modelId="{73E53AC1-5CA6-D04B-B52D-B0E630F50BBB}">
      <dgm:prSet phldrT="[Text]"/>
      <dgm:spPr/>
      <dgm:t>
        <a:bodyPr/>
        <a:lstStyle/>
        <a:p>
          <a:r>
            <a:rPr lang="en-US" dirty="0"/>
            <a:t>2</a:t>
          </a:r>
        </a:p>
      </dgm:t>
    </dgm:pt>
    <dgm:pt modelId="{3FC2BFAC-0AC2-3142-8BF9-B3DFDC7B3EBE}" type="parTrans" cxnId="{151D3A64-4834-FF4F-8164-730196146304}">
      <dgm:prSet/>
      <dgm:spPr/>
      <dgm:t>
        <a:bodyPr/>
        <a:lstStyle/>
        <a:p>
          <a:endParaRPr lang="en-US"/>
        </a:p>
      </dgm:t>
    </dgm:pt>
    <dgm:pt modelId="{5EE46B4A-C34B-AE4D-81B6-15059B7CFAD7}" type="sibTrans" cxnId="{151D3A64-4834-FF4F-8164-730196146304}">
      <dgm:prSet/>
      <dgm:spPr/>
      <dgm:t>
        <a:bodyPr/>
        <a:lstStyle/>
        <a:p>
          <a:endParaRPr lang="en-US"/>
        </a:p>
      </dgm:t>
    </dgm:pt>
    <dgm:pt modelId="{463B8C17-03F4-804C-BE79-8D213F93C032}">
      <dgm:prSet phldrT="[Text]"/>
      <dgm:spPr>
        <a:blipFill>
          <a:blip xmlns:r="http://schemas.openxmlformats.org/officeDocument/2006/relationships" r:embed="rId2"/>
          <a:stretch>
            <a:fillRect l="-173" t="-3279"/>
          </a:stretch>
        </a:blipFill>
      </dgm:spPr>
      <dgm:t>
        <a:bodyPr/>
        <a:lstStyle/>
        <a:p>
          <a:r>
            <a:rPr lang="en-US">
              <a:noFill/>
            </a:rPr>
            <a:t> </a:t>
          </a:r>
        </a:p>
      </dgm:t>
    </dgm:pt>
    <dgm:pt modelId="{91D697F8-FD05-6841-A767-7DA53F15BD22}" type="parTrans" cxnId="{6FCC94FD-C404-0348-893C-33549FAACD3C}">
      <dgm:prSet/>
      <dgm:spPr/>
      <dgm:t>
        <a:bodyPr/>
        <a:lstStyle/>
        <a:p>
          <a:endParaRPr lang="en-US"/>
        </a:p>
      </dgm:t>
    </dgm:pt>
    <dgm:pt modelId="{1690D14D-F525-5541-8AAA-778928CFE9BC}" type="sibTrans" cxnId="{6FCC94FD-C404-0348-893C-33549FAACD3C}">
      <dgm:prSet/>
      <dgm:spPr/>
      <dgm:t>
        <a:bodyPr/>
        <a:lstStyle/>
        <a:p>
          <a:endParaRPr lang="en-US"/>
        </a:p>
      </dgm:t>
    </dgm:pt>
    <dgm:pt modelId="{6DFCCBBC-15A2-B542-AF94-75B579DF8E66}">
      <dgm:prSet phldrT="[Text]"/>
      <dgm:spPr/>
      <dgm:t>
        <a:bodyPr/>
        <a:lstStyle/>
        <a:p>
          <a:r>
            <a:rPr lang="en-US" dirty="0"/>
            <a:t>3</a:t>
          </a:r>
        </a:p>
      </dgm:t>
    </dgm:pt>
    <dgm:pt modelId="{893C1194-023D-C04B-9F74-8F0ED47C3E59}" type="parTrans" cxnId="{82C5D8CD-0DD2-4D47-9F04-1295F4A781AF}">
      <dgm:prSet/>
      <dgm:spPr/>
      <dgm:t>
        <a:bodyPr/>
        <a:lstStyle/>
        <a:p>
          <a:endParaRPr lang="en-US"/>
        </a:p>
      </dgm:t>
    </dgm:pt>
    <dgm:pt modelId="{93BD1384-804B-904C-94DB-5F133A8DE459}" type="sibTrans" cxnId="{82C5D8CD-0DD2-4D47-9F04-1295F4A781AF}">
      <dgm:prSet/>
      <dgm:spPr/>
      <dgm:t>
        <a:bodyPr/>
        <a:lstStyle/>
        <a:p>
          <a:endParaRPr lang="en-US"/>
        </a:p>
      </dgm:t>
    </dgm:pt>
    <dgm:pt modelId="{FC5A425A-18A3-9A49-81A4-CE00405555BC}">
      <dgm:prSet phldrT="[Text]"/>
      <dgm:spPr>
        <a:blipFill>
          <a:blip xmlns:r="http://schemas.openxmlformats.org/officeDocument/2006/relationships" r:embed="rId3"/>
          <a:stretch>
            <a:fillRect l="-173" b="-1613"/>
          </a:stretch>
        </a:blipFill>
      </dgm:spPr>
      <dgm:t>
        <a:bodyPr/>
        <a:lstStyle/>
        <a:p>
          <a:r>
            <a:rPr lang="en-US">
              <a:noFill/>
            </a:rPr>
            <a:t> </a:t>
          </a:r>
        </a:p>
      </dgm:t>
    </dgm:pt>
    <dgm:pt modelId="{DC8B9B70-ECAC-7241-8F66-673C52702ED5}" type="parTrans" cxnId="{DFDF2725-1DBB-F041-9A83-A31E5AD14B67}">
      <dgm:prSet/>
      <dgm:spPr/>
      <dgm:t>
        <a:bodyPr/>
        <a:lstStyle/>
        <a:p>
          <a:endParaRPr lang="en-US"/>
        </a:p>
      </dgm:t>
    </dgm:pt>
    <dgm:pt modelId="{8DCC4418-F70E-FF4E-ABA6-11423FCC3926}" type="sibTrans" cxnId="{DFDF2725-1DBB-F041-9A83-A31E5AD14B67}">
      <dgm:prSet/>
      <dgm:spPr/>
      <dgm:t>
        <a:bodyPr/>
        <a:lstStyle/>
        <a:p>
          <a:endParaRPr lang="en-US"/>
        </a:p>
      </dgm:t>
    </dgm:pt>
    <dgm:pt modelId="{3BDC42F8-0197-5D45-8574-46E58A02CFD2}">
      <dgm:prSet phldrT="[Text]"/>
      <dgm:spPr/>
      <dgm:t>
        <a:bodyPr/>
        <a:lstStyle/>
        <a:p>
          <a:r>
            <a:rPr lang="en-US" dirty="0"/>
            <a:t>4</a:t>
          </a:r>
        </a:p>
      </dgm:t>
    </dgm:pt>
    <dgm:pt modelId="{92F6ECF6-1EE4-B34F-8C86-77597AD31925}" type="parTrans" cxnId="{2112879B-1816-5C4E-8E57-2FA23E0659A8}">
      <dgm:prSet/>
      <dgm:spPr/>
      <dgm:t>
        <a:bodyPr/>
        <a:lstStyle/>
        <a:p>
          <a:endParaRPr lang="en-US"/>
        </a:p>
      </dgm:t>
    </dgm:pt>
    <dgm:pt modelId="{33ED4C35-D5B9-1349-BD7A-18B67C1DC3AE}" type="sibTrans" cxnId="{2112879B-1816-5C4E-8E57-2FA23E0659A8}">
      <dgm:prSet/>
      <dgm:spPr/>
      <dgm:t>
        <a:bodyPr/>
        <a:lstStyle/>
        <a:p>
          <a:endParaRPr lang="en-US"/>
        </a:p>
      </dgm:t>
    </dgm:pt>
    <dgm:pt modelId="{C3829988-D7FB-3247-88D4-8F2765E15B74}">
      <dgm:prSet phldrT="[Text]"/>
      <dgm:spPr>
        <a:blipFill>
          <a:blip xmlns:r="http://schemas.openxmlformats.org/officeDocument/2006/relationships" r:embed="rId4"/>
          <a:stretch>
            <a:fillRect l="-173" b="-1587"/>
          </a:stretch>
        </a:blipFill>
      </dgm:spPr>
      <dgm:t>
        <a:bodyPr/>
        <a:lstStyle/>
        <a:p>
          <a:r>
            <a:rPr lang="en-US">
              <a:noFill/>
            </a:rPr>
            <a:t> </a:t>
          </a:r>
        </a:p>
      </dgm:t>
    </dgm:pt>
    <dgm:pt modelId="{62FBC81E-D8DD-E049-BE68-1B0395E275F5}" type="parTrans" cxnId="{DDA18504-11AA-DE46-A916-BD40DE7A2503}">
      <dgm:prSet/>
      <dgm:spPr/>
      <dgm:t>
        <a:bodyPr/>
        <a:lstStyle/>
        <a:p>
          <a:endParaRPr lang="en-US"/>
        </a:p>
      </dgm:t>
    </dgm:pt>
    <dgm:pt modelId="{06642161-CEAA-1C46-BB3A-838714D796AE}" type="sibTrans" cxnId="{DDA18504-11AA-DE46-A916-BD40DE7A2503}">
      <dgm:prSet/>
      <dgm:spPr/>
      <dgm:t>
        <a:bodyPr/>
        <a:lstStyle/>
        <a:p>
          <a:endParaRPr lang="en-US"/>
        </a:p>
      </dgm:t>
    </dgm:pt>
    <dgm:pt modelId="{DBA4702F-E61E-014B-80E1-266DCCF0BE9B}">
      <dgm:prSet phldrT="[Text]"/>
      <dgm:spPr/>
      <dgm:t>
        <a:bodyPr/>
        <a:lstStyle/>
        <a:p>
          <a:r>
            <a:rPr lang="en-US" dirty="0"/>
            <a:t>5</a:t>
          </a:r>
        </a:p>
      </dgm:t>
    </dgm:pt>
    <dgm:pt modelId="{F9CA5E7A-66F9-5344-8A1B-1F602279AB88}" type="parTrans" cxnId="{C2FEFA41-751E-3140-9535-5AB1635783AA}">
      <dgm:prSet/>
      <dgm:spPr/>
      <dgm:t>
        <a:bodyPr/>
        <a:lstStyle/>
        <a:p>
          <a:endParaRPr lang="en-US"/>
        </a:p>
      </dgm:t>
    </dgm:pt>
    <dgm:pt modelId="{65E7DC4B-52AB-AC42-82A2-C28F2FBD6400}" type="sibTrans" cxnId="{C2FEFA41-751E-3140-9535-5AB1635783AA}">
      <dgm:prSet/>
      <dgm:spPr/>
      <dgm:t>
        <a:bodyPr/>
        <a:lstStyle/>
        <a:p>
          <a:endParaRPr lang="en-US"/>
        </a:p>
      </dgm:t>
    </dgm:pt>
    <dgm:pt modelId="{38C7AF38-3B8C-AF44-86D8-CBFB9F99EA42}">
      <dgm:prSet phldrT="[Text]"/>
      <dgm:spPr>
        <a:blipFill>
          <a:blip xmlns:r="http://schemas.openxmlformats.org/officeDocument/2006/relationships" r:embed="rId5"/>
          <a:stretch>
            <a:fillRect l="-173" b="-1613"/>
          </a:stretch>
        </a:blipFill>
      </dgm:spPr>
      <dgm:t>
        <a:bodyPr/>
        <a:lstStyle/>
        <a:p>
          <a:r>
            <a:rPr lang="en-US">
              <a:noFill/>
            </a:rPr>
            <a:t> </a:t>
          </a:r>
        </a:p>
      </dgm:t>
    </dgm:pt>
    <dgm:pt modelId="{4C906837-E51F-604E-A4DD-F397A68342DC}" type="parTrans" cxnId="{8AFC83EF-7D97-F640-8961-C56D3267C4C4}">
      <dgm:prSet/>
      <dgm:spPr/>
      <dgm:t>
        <a:bodyPr/>
        <a:lstStyle/>
        <a:p>
          <a:endParaRPr lang="en-US"/>
        </a:p>
      </dgm:t>
    </dgm:pt>
    <dgm:pt modelId="{98A59118-7F2F-4C41-BEF1-F575B67CF473}" type="sibTrans" cxnId="{8AFC83EF-7D97-F640-8961-C56D3267C4C4}">
      <dgm:prSet/>
      <dgm:spPr/>
      <dgm:t>
        <a:bodyPr/>
        <a:lstStyle/>
        <a:p>
          <a:endParaRPr lang="en-US"/>
        </a:p>
      </dgm:t>
    </dgm:pt>
    <dgm:pt modelId="{7734E06A-127F-C243-AE8A-A867533B55FB}" type="pres">
      <dgm:prSet presAssocID="{973AC05A-A5D2-8A42-9867-DCCDB7AC3E38}" presName="linearFlow" presStyleCnt="0">
        <dgm:presLayoutVars>
          <dgm:dir/>
          <dgm:animLvl val="lvl"/>
          <dgm:resizeHandles val="exact"/>
        </dgm:presLayoutVars>
      </dgm:prSet>
      <dgm:spPr/>
    </dgm:pt>
    <dgm:pt modelId="{B543CCFD-481F-E043-BD13-E85AB91B605F}" type="pres">
      <dgm:prSet presAssocID="{D4E97091-68AF-4547-BC42-C8482CC84E08}" presName="composite" presStyleCnt="0"/>
      <dgm:spPr/>
    </dgm:pt>
    <dgm:pt modelId="{9E2AB98A-A571-7F44-96A3-494CC0ADEB39}" type="pres">
      <dgm:prSet presAssocID="{D4E97091-68AF-4547-BC42-C8482CC84E08}" presName="parentText" presStyleLbl="alignNode1" presStyleIdx="0" presStyleCnt="5">
        <dgm:presLayoutVars>
          <dgm:chMax val="1"/>
          <dgm:bulletEnabled val="1"/>
        </dgm:presLayoutVars>
      </dgm:prSet>
      <dgm:spPr/>
    </dgm:pt>
    <dgm:pt modelId="{355EB31A-6A7B-2144-9B4D-C51FAEC822B0}" type="pres">
      <dgm:prSet presAssocID="{D4E97091-68AF-4547-BC42-C8482CC84E08}" presName="descendantText" presStyleLbl="alignAcc1" presStyleIdx="0" presStyleCnt="5" custLinFactNeighborX="2085" custLinFactNeighborY="-50244">
        <dgm:presLayoutVars>
          <dgm:bulletEnabled val="1"/>
        </dgm:presLayoutVars>
      </dgm:prSet>
      <dgm:spPr/>
    </dgm:pt>
    <dgm:pt modelId="{25177147-1209-F947-8DDA-A3D40714E2F0}" type="pres">
      <dgm:prSet presAssocID="{95571C59-46D9-EE41-A3C9-9B448F2BC367}" presName="sp" presStyleCnt="0"/>
      <dgm:spPr/>
    </dgm:pt>
    <dgm:pt modelId="{E4178012-F2D1-9345-AA78-2B98AB31D3E1}" type="pres">
      <dgm:prSet presAssocID="{73E53AC1-5CA6-D04B-B52D-B0E630F50BBB}" presName="composite" presStyleCnt="0"/>
      <dgm:spPr/>
    </dgm:pt>
    <dgm:pt modelId="{F8FB3873-C125-3645-AFFF-9AFDB0BCA6CE}" type="pres">
      <dgm:prSet presAssocID="{73E53AC1-5CA6-D04B-B52D-B0E630F50BBB}" presName="parentText" presStyleLbl="alignNode1" presStyleIdx="1" presStyleCnt="5">
        <dgm:presLayoutVars>
          <dgm:chMax val="1"/>
          <dgm:bulletEnabled val="1"/>
        </dgm:presLayoutVars>
      </dgm:prSet>
      <dgm:spPr/>
    </dgm:pt>
    <dgm:pt modelId="{C67FA631-3D59-4140-B1C0-F127975FEC6F}" type="pres">
      <dgm:prSet presAssocID="{73E53AC1-5CA6-D04B-B52D-B0E630F50BBB}" presName="descendantText" presStyleLbl="alignAcc1" presStyleIdx="1" presStyleCnt="5">
        <dgm:presLayoutVars>
          <dgm:bulletEnabled val="1"/>
        </dgm:presLayoutVars>
      </dgm:prSet>
      <dgm:spPr/>
    </dgm:pt>
    <dgm:pt modelId="{BC87F61C-213D-0342-A854-9CB7D5A19962}" type="pres">
      <dgm:prSet presAssocID="{5EE46B4A-C34B-AE4D-81B6-15059B7CFAD7}" presName="sp" presStyleCnt="0"/>
      <dgm:spPr/>
    </dgm:pt>
    <dgm:pt modelId="{C5A115DF-8D8E-8748-893A-F0DD2F21D59B}" type="pres">
      <dgm:prSet presAssocID="{6DFCCBBC-15A2-B542-AF94-75B579DF8E66}" presName="composite" presStyleCnt="0"/>
      <dgm:spPr/>
    </dgm:pt>
    <dgm:pt modelId="{BD7C2000-60DE-4846-8DF2-C75B8078B2C7}" type="pres">
      <dgm:prSet presAssocID="{6DFCCBBC-15A2-B542-AF94-75B579DF8E66}" presName="parentText" presStyleLbl="alignNode1" presStyleIdx="2" presStyleCnt="5">
        <dgm:presLayoutVars>
          <dgm:chMax val="1"/>
          <dgm:bulletEnabled val="1"/>
        </dgm:presLayoutVars>
      </dgm:prSet>
      <dgm:spPr/>
    </dgm:pt>
    <dgm:pt modelId="{899BA960-5353-6B47-AB0E-7139AA9FFC3C}" type="pres">
      <dgm:prSet presAssocID="{6DFCCBBC-15A2-B542-AF94-75B579DF8E66}" presName="descendantText" presStyleLbl="alignAcc1" presStyleIdx="2" presStyleCnt="5">
        <dgm:presLayoutVars>
          <dgm:bulletEnabled val="1"/>
        </dgm:presLayoutVars>
      </dgm:prSet>
      <dgm:spPr/>
    </dgm:pt>
    <dgm:pt modelId="{62FD46F5-3D7D-4441-9D02-120ECAB81E91}" type="pres">
      <dgm:prSet presAssocID="{93BD1384-804B-904C-94DB-5F133A8DE459}" presName="sp" presStyleCnt="0"/>
      <dgm:spPr/>
    </dgm:pt>
    <dgm:pt modelId="{5687EA2D-CCD2-1C47-9692-AD19BC97FC1F}" type="pres">
      <dgm:prSet presAssocID="{3BDC42F8-0197-5D45-8574-46E58A02CFD2}" presName="composite" presStyleCnt="0"/>
      <dgm:spPr/>
    </dgm:pt>
    <dgm:pt modelId="{BEDD1534-FA0B-CF43-ADFA-5C9EFA63688E}" type="pres">
      <dgm:prSet presAssocID="{3BDC42F8-0197-5D45-8574-46E58A02CFD2}" presName="parentText" presStyleLbl="alignNode1" presStyleIdx="3" presStyleCnt="5">
        <dgm:presLayoutVars>
          <dgm:chMax val="1"/>
          <dgm:bulletEnabled val="1"/>
        </dgm:presLayoutVars>
      </dgm:prSet>
      <dgm:spPr/>
    </dgm:pt>
    <dgm:pt modelId="{D968B479-7BA5-A149-955B-B8D029260D60}" type="pres">
      <dgm:prSet presAssocID="{3BDC42F8-0197-5D45-8574-46E58A02CFD2}" presName="descendantText" presStyleLbl="alignAcc1" presStyleIdx="3" presStyleCnt="5" custLinFactNeighborX="-187">
        <dgm:presLayoutVars>
          <dgm:bulletEnabled val="1"/>
        </dgm:presLayoutVars>
      </dgm:prSet>
      <dgm:spPr/>
    </dgm:pt>
    <dgm:pt modelId="{B6252D0F-DEA5-3B41-A2EF-006046911D19}" type="pres">
      <dgm:prSet presAssocID="{33ED4C35-D5B9-1349-BD7A-18B67C1DC3AE}" presName="sp" presStyleCnt="0"/>
      <dgm:spPr/>
    </dgm:pt>
    <dgm:pt modelId="{D5410091-F34E-3940-892B-701E7FDE9579}" type="pres">
      <dgm:prSet presAssocID="{DBA4702F-E61E-014B-80E1-266DCCF0BE9B}" presName="composite" presStyleCnt="0"/>
      <dgm:spPr/>
    </dgm:pt>
    <dgm:pt modelId="{E99C6F8A-9034-8341-B5A1-60F9C3FB8BE2}" type="pres">
      <dgm:prSet presAssocID="{DBA4702F-E61E-014B-80E1-266DCCF0BE9B}" presName="parentText" presStyleLbl="alignNode1" presStyleIdx="4" presStyleCnt="5">
        <dgm:presLayoutVars>
          <dgm:chMax val="1"/>
          <dgm:bulletEnabled val="1"/>
        </dgm:presLayoutVars>
      </dgm:prSet>
      <dgm:spPr/>
    </dgm:pt>
    <dgm:pt modelId="{BF27D454-230E-1446-A157-6EBA6DABDC75}" type="pres">
      <dgm:prSet presAssocID="{DBA4702F-E61E-014B-80E1-266DCCF0BE9B}" presName="descendantText" presStyleLbl="alignAcc1" presStyleIdx="4" presStyleCnt="5">
        <dgm:presLayoutVars>
          <dgm:bulletEnabled val="1"/>
        </dgm:presLayoutVars>
      </dgm:prSet>
      <dgm:spPr/>
    </dgm:pt>
  </dgm:ptLst>
  <dgm:cxnLst>
    <dgm:cxn modelId="{DDA18504-11AA-DE46-A916-BD40DE7A2503}" srcId="{3BDC42F8-0197-5D45-8574-46E58A02CFD2}" destId="{C3829988-D7FB-3247-88D4-8F2765E15B74}" srcOrd="0" destOrd="0" parTransId="{62FBC81E-D8DD-E049-BE68-1B0395E275F5}" sibTransId="{06642161-CEAA-1C46-BB3A-838714D796AE}"/>
    <dgm:cxn modelId="{99BD281D-4025-6746-BD61-3D087E6F3F9E}" type="presOf" srcId="{C3829988-D7FB-3247-88D4-8F2765E15B74}" destId="{D968B479-7BA5-A149-955B-B8D029260D60}" srcOrd="0" destOrd="0" presId="urn:microsoft.com/office/officeart/2005/8/layout/chevron2"/>
    <dgm:cxn modelId="{DFDF2725-1DBB-F041-9A83-A31E5AD14B67}" srcId="{6DFCCBBC-15A2-B542-AF94-75B579DF8E66}" destId="{FC5A425A-18A3-9A49-81A4-CE00405555BC}" srcOrd="0" destOrd="0" parTransId="{DC8B9B70-ECAC-7241-8F66-673C52702ED5}" sibTransId="{8DCC4418-F70E-FF4E-ABA6-11423FCC3926}"/>
    <dgm:cxn modelId="{C2FEFA41-751E-3140-9535-5AB1635783AA}" srcId="{973AC05A-A5D2-8A42-9867-DCCDB7AC3E38}" destId="{DBA4702F-E61E-014B-80E1-266DCCF0BE9B}" srcOrd="4" destOrd="0" parTransId="{F9CA5E7A-66F9-5344-8A1B-1F602279AB88}" sibTransId="{65E7DC4B-52AB-AC42-82A2-C28F2FBD6400}"/>
    <dgm:cxn modelId="{74A9075B-A2DB-E84B-89D1-884416A5020C}" type="presOf" srcId="{D4E97091-68AF-4547-BC42-C8482CC84E08}" destId="{9E2AB98A-A571-7F44-96A3-494CC0ADEB39}" srcOrd="0" destOrd="0" presId="urn:microsoft.com/office/officeart/2005/8/layout/chevron2"/>
    <dgm:cxn modelId="{C4E05B63-A574-E345-A325-84C71E862AB2}" type="presOf" srcId="{0EF902A6-89A1-CA4F-83B6-8D0580434ABD}" destId="{355EB31A-6A7B-2144-9B4D-C51FAEC822B0}" srcOrd="0" destOrd="0" presId="urn:microsoft.com/office/officeart/2005/8/layout/chevron2"/>
    <dgm:cxn modelId="{151D3A64-4834-FF4F-8164-730196146304}" srcId="{973AC05A-A5D2-8A42-9867-DCCDB7AC3E38}" destId="{73E53AC1-5CA6-D04B-B52D-B0E630F50BBB}" srcOrd="1" destOrd="0" parTransId="{3FC2BFAC-0AC2-3142-8BF9-B3DFDC7B3EBE}" sibTransId="{5EE46B4A-C34B-AE4D-81B6-15059B7CFAD7}"/>
    <dgm:cxn modelId="{9DB77B81-5E71-504A-B8E5-08BEFADFDAB6}" type="presOf" srcId="{73E53AC1-5CA6-D04B-B52D-B0E630F50BBB}" destId="{F8FB3873-C125-3645-AFFF-9AFDB0BCA6CE}" srcOrd="0" destOrd="0" presId="urn:microsoft.com/office/officeart/2005/8/layout/chevron2"/>
    <dgm:cxn modelId="{B6269985-FF14-D347-8DE3-3EA5A81FA0C2}" type="presOf" srcId="{3BDC42F8-0197-5D45-8574-46E58A02CFD2}" destId="{BEDD1534-FA0B-CF43-ADFA-5C9EFA63688E}" srcOrd="0" destOrd="0" presId="urn:microsoft.com/office/officeart/2005/8/layout/chevron2"/>
    <dgm:cxn modelId="{3D3B9588-3D33-2349-BD02-49ACA9ECEDC5}" srcId="{D4E97091-68AF-4547-BC42-C8482CC84E08}" destId="{0EF902A6-89A1-CA4F-83B6-8D0580434ABD}" srcOrd="0" destOrd="0" parTransId="{7722B720-3EB9-6047-97D9-E7B8B535D340}" sibTransId="{E9735411-C10B-D845-BB89-1A770DCC0E70}"/>
    <dgm:cxn modelId="{A055FE8B-11DB-A247-89CF-2C3191592AF4}" type="presOf" srcId="{973AC05A-A5D2-8A42-9867-DCCDB7AC3E38}" destId="{7734E06A-127F-C243-AE8A-A867533B55FB}" srcOrd="0" destOrd="0" presId="urn:microsoft.com/office/officeart/2005/8/layout/chevron2"/>
    <dgm:cxn modelId="{ED96898E-194C-F247-AC50-4FFF3CBD83FE}" type="presOf" srcId="{DBA4702F-E61E-014B-80E1-266DCCF0BE9B}" destId="{E99C6F8A-9034-8341-B5A1-60F9C3FB8BE2}" srcOrd="0" destOrd="0" presId="urn:microsoft.com/office/officeart/2005/8/layout/chevron2"/>
    <dgm:cxn modelId="{FDAB3599-71AD-0643-99B8-35A73DFFC573}" type="presOf" srcId="{38C7AF38-3B8C-AF44-86D8-CBFB9F99EA42}" destId="{BF27D454-230E-1446-A157-6EBA6DABDC75}" srcOrd="0" destOrd="0" presId="urn:microsoft.com/office/officeart/2005/8/layout/chevron2"/>
    <dgm:cxn modelId="{2112879B-1816-5C4E-8E57-2FA23E0659A8}" srcId="{973AC05A-A5D2-8A42-9867-DCCDB7AC3E38}" destId="{3BDC42F8-0197-5D45-8574-46E58A02CFD2}" srcOrd="3" destOrd="0" parTransId="{92F6ECF6-1EE4-B34F-8C86-77597AD31925}" sibTransId="{33ED4C35-D5B9-1349-BD7A-18B67C1DC3AE}"/>
    <dgm:cxn modelId="{3E8731B9-E49C-9549-86CD-52BC13CCF0B4}" type="presOf" srcId="{6DFCCBBC-15A2-B542-AF94-75B579DF8E66}" destId="{BD7C2000-60DE-4846-8DF2-C75B8078B2C7}" srcOrd="0" destOrd="0" presId="urn:microsoft.com/office/officeart/2005/8/layout/chevron2"/>
    <dgm:cxn modelId="{82C5D8CD-0DD2-4D47-9F04-1295F4A781AF}" srcId="{973AC05A-A5D2-8A42-9867-DCCDB7AC3E38}" destId="{6DFCCBBC-15A2-B542-AF94-75B579DF8E66}" srcOrd="2" destOrd="0" parTransId="{893C1194-023D-C04B-9F74-8F0ED47C3E59}" sibTransId="{93BD1384-804B-904C-94DB-5F133A8DE459}"/>
    <dgm:cxn modelId="{17852FE0-3B75-064D-BBB0-F37219545E55}" type="presOf" srcId="{FC5A425A-18A3-9A49-81A4-CE00405555BC}" destId="{899BA960-5353-6B47-AB0E-7139AA9FFC3C}" srcOrd="0" destOrd="0" presId="urn:microsoft.com/office/officeart/2005/8/layout/chevron2"/>
    <dgm:cxn modelId="{501CD6E9-4E8B-A241-B665-DFEDADD8D4B5}" srcId="{973AC05A-A5D2-8A42-9867-DCCDB7AC3E38}" destId="{D4E97091-68AF-4547-BC42-C8482CC84E08}" srcOrd="0" destOrd="0" parTransId="{8E2CCE9E-EDA7-C944-B837-2347E4B0BFA2}" sibTransId="{95571C59-46D9-EE41-A3C9-9B448F2BC367}"/>
    <dgm:cxn modelId="{8AFC83EF-7D97-F640-8961-C56D3267C4C4}" srcId="{DBA4702F-E61E-014B-80E1-266DCCF0BE9B}" destId="{38C7AF38-3B8C-AF44-86D8-CBFB9F99EA42}" srcOrd="0" destOrd="0" parTransId="{4C906837-E51F-604E-A4DD-F397A68342DC}" sibTransId="{98A59118-7F2F-4C41-BEF1-F575B67CF473}"/>
    <dgm:cxn modelId="{6FCC94FD-C404-0348-893C-33549FAACD3C}" srcId="{73E53AC1-5CA6-D04B-B52D-B0E630F50BBB}" destId="{463B8C17-03F4-804C-BE79-8D213F93C032}" srcOrd="0" destOrd="0" parTransId="{91D697F8-FD05-6841-A767-7DA53F15BD22}" sibTransId="{1690D14D-F525-5541-8AAA-778928CFE9BC}"/>
    <dgm:cxn modelId="{D01BB9FF-A555-EB4D-902F-1E51F818B1A0}" type="presOf" srcId="{463B8C17-03F4-804C-BE79-8D213F93C032}" destId="{C67FA631-3D59-4140-B1C0-F127975FEC6F}" srcOrd="0" destOrd="0" presId="urn:microsoft.com/office/officeart/2005/8/layout/chevron2"/>
    <dgm:cxn modelId="{E150BB82-105E-FE46-8167-5CD205EB2C00}" type="presParOf" srcId="{7734E06A-127F-C243-AE8A-A867533B55FB}" destId="{B543CCFD-481F-E043-BD13-E85AB91B605F}" srcOrd="0" destOrd="0" presId="urn:microsoft.com/office/officeart/2005/8/layout/chevron2"/>
    <dgm:cxn modelId="{FF3D5E13-0C06-8742-A772-711EB8CEEFF9}" type="presParOf" srcId="{B543CCFD-481F-E043-BD13-E85AB91B605F}" destId="{9E2AB98A-A571-7F44-96A3-494CC0ADEB39}" srcOrd="0" destOrd="0" presId="urn:microsoft.com/office/officeart/2005/8/layout/chevron2"/>
    <dgm:cxn modelId="{E7D59A00-9A36-4C42-B42E-331388F9FE18}" type="presParOf" srcId="{B543CCFD-481F-E043-BD13-E85AB91B605F}" destId="{355EB31A-6A7B-2144-9B4D-C51FAEC822B0}" srcOrd="1" destOrd="0" presId="urn:microsoft.com/office/officeart/2005/8/layout/chevron2"/>
    <dgm:cxn modelId="{C9ACE2DB-40F6-7A46-8795-6DBFF5C915C2}" type="presParOf" srcId="{7734E06A-127F-C243-AE8A-A867533B55FB}" destId="{25177147-1209-F947-8DDA-A3D40714E2F0}" srcOrd="1" destOrd="0" presId="urn:microsoft.com/office/officeart/2005/8/layout/chevron2"/>
    <dgm:cxn modelId="{1C98CFFC-0494-1A4D-A67A-851BB3626E12}" type="presParOf" srcId="{7734E06A-127F-C243-AE8A-A867533B55FB}" destId="{E4178012-F2D1-9345-AA78-2B98AB31D3E1}" srcOrd="2" destOrd="0" presId="urn:microsoft.com/office/officeart/2005/8/layout/chevron2"/>
    <dgm:cxn modelId="{0BB03445-9621-2645-AF74-5B0D14C9D4B4}" type="presParOf" srcId="{E4178012-F2D1-9345-AA78-2B98AB31D3E1}" destId="{F8FB3873-C125-3645-AFFF-9AFDB0BCA6CE}" srcOrd="0" destOrd="0" presId="urn:microsoft.com/office/officeart/2005/8/layout/chevron2"/>
    <dgm:cxn modelId="{87AC1C6B-30F1-DC4A-BC1F-E946B72A87BB}" type="presParOf" srcId="{E4178012-F2D1-9345-AA78-2B98AB31D3E1}" destId="{C67FA631-3D59-4140-B1C0-F127975FEC6F}" srcOrd="1" destOrd="0" presId="urn:microsoft.com/office/officeart/2005/8/layout/chevron2"/>
    <dgm:cxn modelId="{54BD4BAF-7065-FE43-B0B4-FB40C31351B3}" type="presParOf" srcId="{7734E06A-127F-C243-AE8A-A867533B55FB}" destId="{BC87F61C-213D-0342-A854-9CB7D5A19962}" srcOrd="3" destOrd="0" presId="urn:microsoft.com/office/officeart/2005/8/layout/chevron2"/>
    <dgm:cxn modelId="{99357EC2-C0DB-684B-8F9A-1E936DBBE94E}" type="presParOf" srcId="{7734E06A-127F-C243-AE8A-A867533B55FB}" destId="{C5A115DF-8D8E-8748-893A-F0DD2F21D59B}" srcOrd="4" destOrd="0" presId="urn:microsoft.com/office/officeart/2005/8/layout/chevron2"/>
    <dgm:cxn modelId="{40F3BABF-D2A9-E54B-88D9-755D42B6BC7A}" type="presParOf" srcId="{C5A115DF-8D8E-8748-893A-F0DD2F21D59B}" destId="{BD7C2000-60DE-4846-8DF2-C75B8078B2C7}" srcOrd="0" destOrd="0" presId="urn:microsoft.com/office/officeart/2005/8/layout/chevron2"/>
    <dgm:cxn modelId="{230C9427-F71C-F840-9787-CE0730FF4BA3}" type="presParOf" srcId="{C5A115DF-8D8E-8748-893A-F0DD2F21D59B}" destId="{899BA960-5353-6B47-AB0E-7139AA9FFC3C}" srcOrd="1" destOrd="0" presId="urn:microsoft.com/office/officeart/2005/8/layout/chevron2"/>
    <dgm:cxn modelId="{5B3A5755-F9AA-0643-A328-0867EE93CB77}" type="presParOf" srcId="{7734E06A-127F-C243-AE8A-A867533B55FB}" destId="{62FD46F5-3D7D-4441-9D02-120ECAB81E91}" srcOrd="5" destOrd="0" presId="urn:microsoft.com/office/officeart/2005/8/layout/chevron2"/>
    <dgm:cxn modelId="{2970FAF2-AC77-594C-8D3A-353BDCA3EDC8}" type="presParOf" srcId="{7734E06A-127F-C243-AE8A-A867533B55FB}" destId="{5687EA2D-CCD2-1C47-9692-AD19BC97FC1F}" srcOrd="6" destOrd="0" presId="urn:microsoft.com/office/officeart/2005/8/layout/chevron2"/>
    <dgm:cxn modelId="{9F0A26A6-7CA4-744B-8E62-1E389F0900A1}" type="presParOf" srcId="{5687EA2D-CCD2-1C47-9692-AD19BC97FC1F}" destId="{BEDD1534-FA0B-CF43-ADFA-5C9EFA63688E}" srcOrd="0" destOrd="0" presId="urn:microsoft.com/office/officeart/2005/8/layout/chevron2"/>
    <dgm:cxn modelId="{9312F4AA-7868-E74E-9D84-412B2A6A39E0}" type="presParOf" srcId="{5687EA2D-CCD2-1C47-9692-AD19BC97FC1F}" destId="{D968B479-7BA5-A149-955B-B8D029260D60}" srcOrd="1" destOrd="0" presId="urn:microsoft.com/office/officeart/2005/8/layout/chevron2"/>
    <dgm:cxn modelId="{0D75B71C-F160-A045-B8ED-48091A7686F8}" type="presParOf" srcId="{7734E06A-127F-C243-AE8A-A867533B55FB}" destId="{B6252D0F-DEA5-3B41-A2EF-006046911D19}" srcOrd="7" destOrd="0" presId="urn:microsoft.com/office/officeart/2005/8/layout/chevron2"/>
    <dgm:cxn modelId="{7C4BEB9B-5DCF-1749-8039-836279DF9F5D}" type="presParOf" srcId="{7734E06A-127F-C243-AE8A-A867533B55FB}" destId="{D5410091-F34E-3940-892B-701E7FDE9579}" srcOrd="8" destOrd="0" presId="urn:microsoft.com/office/officeart/2005/8/layout/chevron2"/>
    <dgm:cxn modelId="{3A494919-1F96-EC4B-9D45-E17A3303D51B}" type="presParOf" srcId="{D5410091-F34E-3940-892B-701E7FDE9579}" destId="{E99C6F8A-9034-8341-B5A1-60F9C3FB8BE2}" srcOrd="0" destOrd="0" presId="urn:microsoft.com/office/officeart/2005/8/layout/chevron2"/>
    <dgm:cxn modelId="{34E9F63D-B3BE-E942-A4DF-77A979930BF8}" type="presParOf" srcId="{D5410091-F34E-3940-892B-701E7FDE9579}" destId="{BF27D454-230E-1446-A157-6EBA6DABDC75}"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2AB98A-A571-7F44-96A3-494CC0ADEB39}">
      <dsp:nvSpPr>
        <dsp:cNvPr id="0" name=""/>
        <dsp:cNvSpPr/>
      </dsp:nvSpPr>
      <dsp:spPr>
        <a:xfrm rot="5400000">
          <a:off x="-176410" y="178091"/>
          <a:ext cx="1176072" cy="823251"/>
        </a:xfrm>
        <a:prstGeom prst="chevron">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1</a:t>
          </a:r>
        </a:p>
      </dsp:txBody>
      <dsp:txXfrm rot="-5400000">
        <a:off x="1" y="413307"/>
        <a:ext cx="823251" cy="352821"/>
      </dsp:txXfrm>
    </dsp:sp>
    <dsp:sp modelId="{355EB31A-6A7B-2144-9B4D-C51FAEC822B0}">
      <dsp:nvSpPr>
        <dsp:cNvPr id="0" name=""/>
        <dsp:cNvSpPr/>
      </dsp:nvSpPr>
      <dsp:spPr>
        <a:xfrm rot="5400000">
          <a:off x="4093401" y="-3270150"/>
          <a:ext cx="764447" cy="7304748"/>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en-US" sz="2800" kern="1200" dirty="0"/>
            <a:t>Data: </a:t>
          </a:r>
          <a14:m xmlns:a14="http://schemas.microsoft.com/office/drawing/2010/main">
            <m:oMath xmlns:m="http://schemas.openxmlformats.org/officeDocument/2006/math">
              <m:r>
                <a:rPr lang="en-US" sz="2800" i="1" kern="1200" smtClean="0">
                  <a:latin typeface="Cambria Math" panose="02040503050406030204" pitchFamily="18" charset="0"/>
                </a:rPr>
                <m:t>𝑥</m:t>
              </m:r>
              <m:r>
                <a:rPr lang="en-US" sz="2800" i="1" kern="1200" smtClean="0">
                  <a:latin typeface="Cambria Math" panose="02040503050406030204" pitchFamily="18" charset="0"/>
                </a:rPr>
                <m:t>=</m:t>
              </m:r>
              <m:d>
                <m:dPr>
                  <m:ctrlPr>
                    <a:rPr lang="en-US" sz="2800" i="1" kern="1200">
                      <a:latin typeface="Cambria Math" panose="02040503050406030204" pitchFamily="18" charset="0"/>
                    </a:rPr>
                  </m:ctrlPr>
                </m:dPr>
                <m:e>
                  <m:sSub>
                    <m:sSubPr>
                      <m:ctrlPr>
                        <a:rPr lang="en-US" sz="2800" i="1" kern="1200">
                          <a:latin typeface="Cambria Math" panose="02040503050406030204" pitchFamily="18" charset="0"/>
                        </a:rPr>
                      </m:ctrlPr>
                    </m:sSubPr>
                    <m:e>
                      <m:r>
                        <a:rPr lang="en-US" sz="2800" i="1" kern="1200">
                          <a:latin typeface="Cambria Math" panose="02040503050406030204" pitchFamily="18" charset="0"/>
                        </a:rPr>
                        <m:t>𝑥</m:t>
                      </m:r>
                    </m:e>
                    <m:sub>
                      <m:r>
                        <a:rPr lang="en-US" sz="2800" b="0" i="1" kern="1200" smtClean="0">
                          <a:latin typeface="Cambria Math" panose="02040503050406030204" pitchFamily="18" charset="0"/>
                        </a:rPr>
                        <m:t>1</m:t>
                      </m:r>
                    </m:sub>
                  </m:sSub>
                  <m:r>
                    <a:rPr lang="en-US" sz="2800" i="1" kern="1200">
                      <a:latin typeface="Cambria Math" panose="02040503050406030204" pitchFamily="18" charset="0"/>
                    </a:rPr>
                    <m:t>,</m:t>
                  </m:r>
                  <m:sSub>
                    <m:sSubPr>
                      <m:ctrlPr>
                        <a:rPr lang="en-US" sz="2800" i="1" kern="1200">
                          <a:latin typeface="Cambria Math" panose="02040503050406030204" pitchFamily="18" charset="0"/>
                        </a:rPr>
                      </m:ctrlPr>
                    </m:sSubPr>
                    <m:e>
                      <m:r>
                        <a:rPr lang="en-US" sz="2800" i="1" kern="1200">
                          <a:latin typeface="Cambria Math" panose="02040503050406030204" pitchFamily="18" charset="0"/>
                        </a:rPr>
                        <m:t>𝑥</m:t>
                      </m:r>
                    </m:e>
                    <m:sub>
                      <m:r>
                        <a:rPr lang="en-US" sz="2800" b="0" i="1" kern="1200" smtClean="0">
                          <a:latin typeface="Cambria Math" panose="02040503050406030204" pitchFamily="18" charset="0"/>
                        </a:rPr>
                        <m:t>2</m:t>
                      </m:r>
                    </m:sub>
                  </m:sSub>
                  <m:r>
                    <a:rPr lang="en-US" sz="2800" b="0" i="1" kern="1200" smtClean="0">
                      <a:latin typeface="Cambria Math" panose="02040503050406030204" pitchFamily="18" charset="0"/>
                    </a:rPr>
                    <m:t>,</m:t>
                  </m:r>
                  <m:r>
                    <a:rPr lang="en-US" sz="2800" b="0" i="1" kern="1200" smtClean="0">
                      <a:latin typeface="Cambria Math" panose="02040503050406030204" pitchFamily="18" charset="0"/>
                      <a:ea typeface="Cambria Math" panose="02040503050406030204" pitchFamily="18" charset="0"/>
                    </a:rPr>
                    <m:t>⋯</m:t>
                  </m:r>
                  <m:sSub>
                    <m:sSubPr>
                      <m:ctrlPr>
                        <a:rPr lang="en-US" sz="2800" i="1" kern="1200">
                          <a:latin typeface="Cambria Math" panose="02040503050406030204" pitchFamily="18" charset="0"/>
                        </a:rPr>
                      </m:ctrlPr>
                    </m:sSubPr>
                    <m:e>
                      <m:r>
                        <a:rPr lang="en-US" sz="2800" i="1" kern="1200">
                          <a:latin typeface="Cambria Math" panose="02040503050406030204" pitchFamily="18" charset="0"/>
                        </a:rPr>
                        <m:t>𝑥</m:t>
                      </m:r>
                    </m:e>
                    <m:sub>
                      <m:r>
                        <a:rPr lang="en-US" sz="2800" b="0" i="1" kern="1200" smtClean="0">
                          <a:latin typeface="Cambria Math" panose="02040503050406030204" pitchFamily="18" charset="0"/>
                        </a:rPr>
                        <m:t>𝑛</m:t>
                      </m:r>
                    </m:sub>
                  </m:sSub>
                </m:e>
              </m:d>
              <m:r>
                <a:rPr lang="sr-Latn-RS" sz="2800" b="0" i="0" kern="1200" smtClean="0">
                  <a:latin typeface="Cambria Math" panose="02040503050406030204" pitchFamily="18" charset="0"/>
                </a:rPr>
                <m:t>,   </m:t>
              </m:r>
              <m:sSub>
                <m:sSubPr>
                  <m:ctrlPr>
                    <a:rPr lang="en-US" sz="2800" i="1" kern="1200" smtClean="0">
                      <a:latin typeface="Cambria Math" panose="02040503050406030204" pitchFamily="18" charset="0"/>
                    </a:rPr>
                  </m:ctrlPr>
                </m:sSubPr>
                <m:e>
                  <m:r>
                    <a:rPr lang="en-US" sz="2800" i="1" kern="1200">
                      <a:latin typeface="Cambria Math" panose="02040503050406030204" pitchFamily="18" charset="0"/>
                    </a:rPr>
                    <m:t>𝑥</m:t>
                  </m:r>
                </m:e>
                <m:sub>
                  <m:r>
                    <a:rPr lang="sr-Latn-RS" sz="2800" b="0" i="1" kern="1200" smtClean="0">
                      <a:latin typeface="Cambria Math" panose="02040503050406030204" pitchFamily="18" charset="0"/>
                    </a:rPr>
                    <m:t>𝑚𝑖𝑛</m:t>
                  </m:r>
                </m:sub>
              </m:sSub>
              <m:r>
                <a:rPr lang="sr-Latn-RS" sz="2800" b="0" i="1" kern="1200" smtClean="0">
                  <a:latin typeface="Cambria Math" panose="02040503050406030204" pitchFamily="18" charset="0"/>
                </a:rPr>
                <m:t>, </m:t>
              </m:r>
              <m:sSub>
                <m:sSubPr>
                  <m:ctrlPr>
                    <a:rPr lang="en-US" sz="2800" i="1" kern="1200">
                      <a:latin typeface="Cambria Math" panose="02040503050406030204" pitchFamily="18" charset="0"/>
                    </a:rPr>
                  </m:ctrlPr>
                </m:sSubPr>
                <m:e>
                  <m:r>
                    <a:rPr lang="en-US" sz="2800" i="1" kern="1200">
                      <a:latin typeface="Cambria Math" panose="02040503050406030204" pitchFamily="18" charset="0"/>
                    </a:rPr>
                    <m:t>𝑥</m:t>
                  </m:r>
                </m:e>
                <m:sub>
                  <m:r>
                    <a:rPr lang="sr-Latn-RS" sz="2800" b="0" i="1" kern="1200" smtClean="0">
                      <a:latin typeface="Cambria Math" panose="02040503050406030204" pitchFamily="18" charset="0"/>
                    </a:rPr>
                    <m:t>𝑚𝑎𝑥</m:t>
                  </m:r>
                </m:sub>
              </m:sSub>
            </m:oMath>
          </a14:m>
          <a:r>
            <a:rPr lang="en-US" sz="2800" kern="1200" dirty="0"/>
            <a:t>  </a:t>
          </a:r>
        </a:p>
      </dsp:txBody>
      <dsp:txXfrm rot="-5400000">
        <a:off x="823251" y="37317"/>
        <a:ext cx="7267431" cy="689813"/>
      </dsp:txXfrm>
    </dsp:sp>
    <dsp:sp modelId="{F8FB3873-C125-3645-AFFF-9AFDB0BCA6CE}">
      <dsp:nvSpPr>
        <dsp:cNvPr id="0" name=""/>
        <dsp:cNvSpPr/>
      </dsp:nvSpPr>
      <dsp:spPr>
        <a:xfrm rot="5400000">
          <a:off x="-176410" y="1237899"/>
          <a:ext cx="1176072" cy="823251"/>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2</a:t>
          </a:r>
        </a:p>
      </dsp:txBody>
      <dsp:txXfrm rot="-5400000">
        <a:off x="1" y="1473115"/>
        <a:ext cx="823251" cy="352821"/>
      </dsp:txXfrm>
    </dsp:sp>
    <dsp:sp modelId="{C67FA631-3D59-4140-B1C0-F127975FEC6F}">
      <dsp:nvSpPr>
        <dsp:cNvPr id="0" name=""/>
        <dsp:cNvSpPr/>
      </dsp:nvSpPr>
      <dsp:spPr>
        <a:xfrm rot="5400000">
          <a:off x="4093401" y="-2208662"/>
          <a:ext cx="764447" cy="7304748"/>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en-US" sz="2800" kern="1200" dirty="0"/>
            <a:t>Normalization </a:t>
          </a:r>
          <a14:m xmlns:a14="http://schemas.microsoft.com/office/drawing/2010/main">
            <m:oMath xmlns:m="http://schemas.openxmlformats.org/officeDocument/2006/math">
              <m:d>
                <m:dPr>
                  <m:begChr m:val="["/>
                  <m:endChr m:val="]"/>
                  <m:ctrlPr>
                    <a:rPr lang="en-US" sz="2800" b="0" i="1" kern="1200" smtClean="0">
                      <a:latin typeface="Cambria Math" panose="02040503050406030204" pitchFamily="18" charset="0"/>
                    </a:rPr>
                  </m:ctrlPr>
                </m:dPr>
                <m:e>
                  <m:r>
                    <a:rPr lang="en-US" sz="2800" b="0" i="0" kern="1200" smtClean="0">
                      <a:latin typeface="Cambria Math" panose="02040503050406030204" pitchFamily="18" charset="0"/>
                    </a:rPr>
                    <m:t>0,1</m:t>
                  </m:r>
                </m:e>
              </m:d>
              <m:r>
                <a:rPr lang="en-US" sz="2800" b="0" i="0" kern="1200" smtClean="0">
                  <a:latin typeface="Cambria Math" panose="02040503050406030204" pitchFamily="18" charset="0"/>
                </a:rPr>
                <m:t>:</m:t>
              </m:r>
            </m:oMath>
          </a14:m>
          <a:r>
            <a:rPr lang="en-US" sz="2800" kern="1200" dirty="0"/>
            <a:t> </a:t>
          </a:r>
          <a14:m xmlns:a14="http://schemas.microsoft.com/office/drawing/2010/main">
            <m:oMath xmlns:m="http://schemas.openxmlformats.org/officeDocument/2006/math">
              <m:sSub>
                <m:sSubPr>
                  <m:ctrlPr>
                    <a:rPr lang="en-US" sz="2800" i="1" kern="1200" smtClean="0">
                      <a:latin typeface="Cambria Math" panose="02040503050406030204" pitchFamily="18" charset="0"/>
                    </a:rPr>
                  </m:ctrlPr>
                </m:sSubPr>
                <m:e>
                  <m:r>
                    <a:rPr lang="en-US" sz="2800" i="1" kern="1200">
                      <a:latin typeface="Cambria Math" panose="02040503050406030204" pitchFamily="18" charset="0"/>
                    </a:rPr>
                    <m:t>𝑥</m:t>
                  </m:r>
                </m:e>
                <m:sub>
                  <m:r>
                    <a:rPr lang="en-US" sz="2800" b="0" i="1" kern="1200" smtClean="0">
                      <a:latin typeface="Cambria Math" panose="02040503050406030204" pitchFamily="18" charset="0"/>
                    </a:rPr>
                    <m:t>𝑖</m:t>
                  </m:r>
                  <m:r>
                    <a:rPr lang="en-US" sz="2800" b="0" i="1" kern="1200" smtClean="0">
                      <a:latin typeface="Cambria Math" panose="02040503050406030204" pitchFamily="18" charset="0"/>
                    </a:rPr>
                    <m:t>_</m:t>
                  </m:r>
                  <m:r>
                    <a:rPr lang="en-US" sz="2800" b="0" i="1" kern="1200" smtClean="0">
                      <a:latin typeface="Cambria Math" panose="02040503050406030204" pitchFamily="18" charset="0"/>
                    </a:rPr>
                    <m:t>𝑛𝑜𝑟𝑚</m:t>
                  </m:r>
                </m:sub>
              </m:sSub>
              <m:r>
                <a:rPr lang="en-US" sz="2800" b="0" i="1" kern="1200" smtClean="0">
                  <a:latin typeface="Cambria Math" panose="02040503050406030204" pitchFamily="18" charset="0"/>
                </a:rPr>
                <m:t>=</m:t>
              </m:r>
              <m:f>
                <m:fPr>
                  <m:ctrlPr>
                    <a:rPr lang="en-US" sz="2800" b="0" i="1" kern="1200" smtClean="0">
                      <a:latin typeface="Cambria Math" panose="02040503050406030204" pitchFamily="18" charset="0"/>
                    </a:rPr>
                  </m:ctrlPr>
                </m:fPr>
                <m:num>
                  <m:sSub>
                    <m:sSubPr>
                      <m:ctrlPr>
                        <a:rPr lang="en-US" sz="2800" i="1" kern="1200" smtClean="0">
                          <a:latin typeface="Cambria Math" panose="02040503050406030204" pitchFamily="18" charset="0"/>
                        </a:rPr>
                      </m:ctrlPr>
                    </m:sSubPr>
                    <m:e>
                      <m:r>
                        <a:rPr lang="en-US" sz="2800" i="1" kern="1200">
                          <a:latin typeface="Cambria Math" panose="02040503050406030204" pitchFamily="18" charset="0"/>
                        </a:rPr>
                        <m:t>𝑥</m:t>
                      </m:r>
                    </m:e>
                    <m:sub>
                      <m:r>
                        <a:rPr lang="en-US" sz="2800" b="0" i="1" kern="1200" smtClean="0">
                          <a:latin typeface="Cambria Math" panose="02040503050406030204" pitchFamily="18" charset="0"/>
                        </a:rPr>
                        <m:t>𝑖</m:t>
                      </m:r>
                    </m:sub>
                  </m:sSub>
                  <m:r>
                    <a:rPr lang="en-US" sz="2800" b="0" i="1" kern="1200" smtClean="0">
                      <a:latin typeface="Cambria Math" panose="02040503050406030204" pitchFamily="18" charset="0"/>
                    </a:rPr>
                    <m:t>−</m:t>
                  </m:r>
                  <m:sSub>
                    <m:sSubPr>
                      <m:ctrlPr>
                        <a:rPr lang="en-US" sz="2800" i="1" kern="1200" smtClean="0">
                          <a:latin typeface="Cambria Math" panose="02040503050406030204" pitchFamily="18" charset="0"/>
                        </a:rPr>
                      </m:ctrlPr>
                    </m:sSubPr>
                    <m:e>
                      <m:r>
                        <a:rPr lang="en-US" sz="2800" i="1" kern="1200">
                          <a:latin typeface="Cambria Math" panose="02040503050406030204" pitchFamily="18" charset="0"/>
                        </a:rPr>
                        <m:t>𝑥</m:t>
                      </m:r>
                    </m:e>
                    <m:sub>
                      <m:r>
                        <a:rPr lang="sr-Latn-RS" sz="2800" b="0" i="1" kern="1200" smtClean="0">
                          <a:latin typeface="Cambria Math" panose="02040503050406030204" pitchFamily="18" charset="0"/>
                        </a:rPr>
                        <m:t>𝑚𝑖𝑛</m:t>
                      </m:r>
                    </m:sub>
                  </m:sSub>
                </m:num>
                <m:den>
                  <m:sSub>
                    <m:sSubPr>
                      <m:ctrlPr>
                        <a:rPr lang="en-US" sz="2800" i="1" kern="1200" smtClean="0">
                          <a:latin typeface="Cambria Math" panose="02040503050406030204" pitchFamily="18" charset="0"/>
                        </a:rPr>
                      </m:ctrlPr>
                    </m:sSubPr>
                    <m:e>
                      <m:r>
                        <a:rPr lang="en-US" sz="2800" i="1" kern="1200">
                          <a:latin typeface="Cambria Math" panose="02040503050406030204" pitchFamily="18" charset="0"/>
                        </a:rPr>
                        <m:t>𝑥</m:t>
                      </m:r>
                    </m:e>
                    <m:sub>
                      <m:r>
                        <a:rPr lang="sr-Latn-RS" sz="2800" b="0" i="1" kern="1200" smtClean="0">
                          <a:latin typeface="Cambria Math" panose="02040503050406030204" pitchFamily="18" charset="0"/>
                        </a:rPr>
                        <m:t>𝑚</m:t>
                      </m:r>
                      <m:r>
                        <a:rPr lang="en-US" sz="2800" b="0" i="1" kern="1200" smtClean="0">
                          <a:latin typeface="Cambria Math" panose="02040503050406030204" pitchFamily="18" charset="0"/>
                        </a:rPr>
                        <m:t>𝑎𝑥</m:t>
                      </m:r>
                    </m:sub>
                  </m:sSub>
                  <m:r>
                    <a:rPr lang="en-US" sz="2800" b="0" i="1" kern="1200" smtClean="0">
                      <a:latin typeface="Cambria Math" panose="02040503050406030204" pitchFamily="18" charset="0"/>
                    </a:rPr>
                    <m:t>−</m:t>
                  </m:r>
                  <m:sSub>
                    <m:sSubPr>
                      <m:ctrlPr>
                        <a:rPr lang="en-US" sz="2800" i="1" kern="1200" smtClean="0">
                          <a:latin typeface="Cambria Math" panose="02040503050406030204" pitchFamily="18" charset="0"/>
                        </a:rPr>
                      </m:ctrlPr>
                    </m:sSubPr>
                    <m:e>
                      <m:r>
                        <a:rPr lang="en-US" sz="2800" i="1" kern="1200">
                          <a:latin typeface="Cambria Math" panose="02040503050406030204" pitchFamily="18" charset="0"/>
                        </a:rPr>
                        <m:t>𝑥</m:t>
                      </m:r>
                    </m:e>
                    <m:sub>
                      <m:r>
                        <a:rPr lang="sr-Latn-RS" sz="2800" b="0" i="1" kern="1200" smtClean="0">
                          <a:latin typeface="Cambria Math" panose="02040503050406030204" pitchFamily="18" charset="0"/>
                        </a:rPr>
                        <m:t>𝑚𝑖𝑛</m:t>
                      </m:r>
                    </m:sub>
                  </m:sSub>
                </m:den>
              </m:f>
            </m:oMath>
          </a14:m>
          <a:endParaRPr lang="en-US" sz="2800" kern="1200" dirty="0"/>
        </a:p>
      </dsp:txBody>
      <dsp:txXfrm rot="-5400000">
        <a:off x="823251" y="1098805"/>
        <a:ext cx="7267431" cy="689813"/>
      </dsp:txXfrm>
    </dsp:sp>
    <dsp:sp modelId="{BD7C2000-60DE-4846-8DF2-C75B8078B2C7}">
      <dsp:nvSpPr>
        <dsp:cNvPr id="0" name=""/>
        <dsp:cNvSpPr/>
      </dsp:nvSpPr>
      <dsp:spPr>
        <a:xfrm rot="5400000">
          <a:off x="-176410" y="2297707"/>
          <a:ext cx="1176072" cy="823251"/>
        </a:xfrm>
        <a:prstGeom prst="chevron">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3</a:t>
          </a:r>
        </a:p>
      </dsp:txBody>
      <dsp:txXfrm rot="-5400000">
        <a:off x="1" y="2532923"/>
        <a:ext cx="823251" cy="352821"/>
      </dsp:txXfrm>
    </dsp:sp>
    <dsp:sp modelId="{899BA960-5353-6B47-AB0E-7139AA9FFC3C}">
      <dsp:nvSpPr>
        <dsp:cNvPr id="0" name=""/>
        <dsp:cNvSpPr/>
      </dsp:nvSpPr>
      <dsp:spPr>
        <a:xfrm rot="5400000">
          <a:off x="4093401" y="-1148853"/>
          <a:ext cx="764447" cy="7304748"/>
        </a:xfrm>
        <a:prstGeom prst="round2Same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en-US" sz="2800" kern="1200" dirty="0"/>
            <a:t>Calculate angles </a:t>
          </a:r>
          <a14:m xmlns:a14="http://schemas.microsoft.com/office/drawing/2010/main">
            <m:oMath xmlns:m="http://schemas.openxmlformats.org/officeDocument/2006/math">
              <m:d>
                <m:dPr>
                  <m:begChr m:val="["/>
                  <m:endChr m:val="]"/>
                  <m:ctrlPr>
                    <a:rPr lang="en-US" sz="2800" b="0" i="1" kern="1200" smtClean="0">
                      <a:latin typeface="Cambria Math" panose="02040503050406030204" pitchFamily="18" charset="0"/>
                    </a:rPr>
                  </m:ctrlPr>
                </m:dPr>
                <m:e>
                  <m:r>
                    <a:rPr lang="en-US" sz="2800" b="0" i="0" kern="1200" smtClean="0">
                      <a:latin typeface="Cambria Math" panose="02040503050406030204" pitchFamily="18" charset="0"/>
                    </a:rPr>
                    <m:t>0,</m:t>
                  </m:r>
                  <m:r>
                    <a:rPr lang="sr-Latn-RS" sz="2800" b="0" i="1" kern="1200" smtClean="0">
                      <a:latin typeface="Cambria Math" panose="02040503050406030204" pitchFamily="18" charset="0"/>
                    </a:rPr>
                    <m:t>2</m:t>
                  </m:r>
                  <m:r>
                    <a:rPr lang="sr-Latn-RS" sz="2800" b="0" i="1" kern="1200" smtClean="0">
                      <a:latin typeface="Cambria Math" panose="02040503050406030204" pitchFamily="18" charset="0"/>
                      <a:ea typeface="Cambria Math" panose="02040503050406030204" pitchFamily="18" charset="0"/>
                    </a:rPr>
                    <m:t>𝜋</m:t>
                  </m:r>
                </m:e>
              </m:d>
            </m:oMath>
          </a14:m>
          <a:r>
            <a:rPr lang="en-US" sz="2800" kern="1200" dirty="0"/>
            <a:t>:  </a:t>
          </a:r>
          <a14:m xmlns:a14="http://schemas.microsoft.com/office/drawing/2010/main">
            <m:oMath xmlns:m="http://schemas.openxmlformats.org/officeDocument/2006/math">
              <m:sSub>
                <m:sSubPr>
                  <m:ctrlPr>
                    <a:rPr lang="el-GR" sz="2800" b="0" i="1" kern="1200" smtClean="0">
                      <a:latin typeface="Cambria Math" panose="02040503050406030204" pitchFamily="18" charset="0"/>
                      <a:ea typeface="Cambria Math" panose="02040503050406030204" pitchFamily="18" charset="0"/>
                    </a:rPr>
                  </m:ctrlPr>
                </m:sSubPr>
                <m:e>
                  <m:r>
                    <m:rPr>
                      <m:sty m:val="p"/>
                    </m:rPr>
                    <a:rPr lang="el-GR" sz="2800" b="0" i="1" kern="1200" smtClean="0">
                      <a:latin typeface="Cambria Math" panose="02040503050406030204" pitchFamily="18" charset="0"/>
                      <a:ea typeface="Cambria Math" panose="02040503050406030204" pitchFamily="18" charset="0"/>
                    </a:rPr>
                    <m:t>θ</m:t>
                  </m:r>
                </m:e>
                <m:sub>
                  <m:r>
                    <a:rPr lang="sr-Latn-RS" sz="2800" b="0" i="1" kern="1200" smtClean="0">
                      <a:latin typeface="Cambria Math" panose="02040503050406030204" pitchFamily="18" charset="0"/>
                      <a:ea typeface="Cambria Math" panose="02040503050406030204" pitchFamily="18" charset="0"/>
                    </a:rPr>
                    <m:t>𝑖</m:t>
                  </m:r>
                </m:sub>
              </m:sSub>
              <m:r>
                <a:rPr lang="sr-Latn-RS" sz="2800" b="0" i="1" kern="1200" smtClean="0">
                  <a:latin typeface="Cambria Math" panose="02040503050406030204" pitchFamily="18" charset="0"/>
                  <a:ea typeface="Cambria Math" panose="02040503050406030204" pitchFamily="18" charset="0"/>
                </a:rPr>
                <m:t>=</m:t>
              </m:r>
              <m:sSub>
                <m:sSubPr>
                  <m:ctrlPr>
                    <a:rPr lang="en-US" sz="2800" i="1" kern="1200" smtClean="0">
                      <a:latin typeface="Cambria Math" panose="02040503050406030204" pitchFamily="18" charset="0"/>
                    </a:rPr>
                  </m:ctrlPr>
                </m:sSubPr>
                <m:e>
                  <m:r>
                    <a:rPr lang="en-US" sz="2800" b="0" i="1" kern="1200" smtClean="0">
                      <a:latin typeface="Cambria Math" panose="02040503050406030204" pitchFamily="18" charset="0"/>
                    </a:rPr>
                    <m:t>2</m:t>
                  </m:r>
                  <m:r>
                    <a:rPr lang="sr-Latn-RS" sz="2800" b="0" i="1" kern="1200" smtClean="0">
                      <a:latin typeface="Cambria Math" panose="02040503050406030204" pitchFamily="18" charset="0"/>
                      <a:ea typeface="Cambria Math" panose="02040503050406030204" pitchFamily="18" charset="0"/>
                    </a:rPr>
                    <m:t>𝜋</m:t>
                  </m:r>
                  <m:r>
                    <a:rPr lang="en-US" sz="2800" i="1" kern="1200">
                      <a:latin typeface="Cambria Math" panose="02040503050406030204" pitchFamily="18" charset="0"/>
                    </a:rPr>
                    <m:t>𝑥</m:t>
                  </m:r>
                </m:e>
                <m:sub>
                  <m:r>
                    <a:rPr lang="en-US" sz="2800" b="0" i="1" kern="1200" smtClean="0">
                      <a:latin typeface="Cambria Math" panose="02040503050406030204" pitchFamily="18" charset="0"/>
                    </a:rPr>
                    <m:t>𝑖</m:t>
                  </m:r>
                  <m:r>
                    <a:rPr lang="en-US" sz="2800" b="0" i="1" kern="1200" smtClean="0">
                      <a:latin typeface="Cambria Math" panose="02040503050406030204" pitchFamily="18" charset="0"/>
                    </a:rPr>
                    <m:t>_</m:t>
                  </m:r>
                  <m:r>
                    <a:rPr lang="en-US" sz="2800" b="0" i="1" kern="1200" smtClean="0">
                      <a:latin typeface="Cambria Math" panose="02040503050406030204" pitchFamily="18" charset="0"/>
                    </a:rPr>
                    <m:t>𝑛𝑜𝑟𝑚</m:t>
                  </m:r>
                </m:sub>
              </m:sSub>
            </m:oMath>
          </a14:m>
          <a:endParaRPr lang="en-US" sz="2800" kern="1200" dirty="0"/>
        </a:p>
      </dsp:txBody>
      <dsp:txXfrm rot="-5400000">
        <a:off x="823251" y="2158614"/>
        <a:ext cx="7267431" cy="689813"/>
      </dsp:txXfrm>
    </dsp:sp>
    <dsp:sp modelId="{BEDD1534-FA0B-CF43-ADFA-5C9EFA63688E}">
      <dsp:nvSpPr>
        <dsp:cNvPr id="0" name=""/>
        <dsp:cNvSpPr/>
      </dsp:nvSpPr>
      <dsp:spPr>
        <a:xfrm rot="5400000">
          <a:off x="-176410" y="3357516"/>
          <a:ext cx="1176072" cy="823251"/>
        </a:xfrm>
        <a:prstGeom prst="chevron">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4</a:t>
          </a:r>
        </a:p>
      </dsp:txBody>
      <dsp:txXfrm rot="-5400000">
        <a:off x="1" y="3592732"/>
        <a:ext cx="823251" cy="352821"/>
      </dsp:txXfrm>
    </dsp:sp>
    <dsp:sp modelId="{D968B479-7BA5-A149-955B-B8D029260D60}">
      <dsp:nvSpPr>
        <dsp:cNvPr id="0" name=""/>
        <dsp:cNvSpPr/>
      </dsp:nvSpPr>
      <dsp:spPr>
        <a:xfrm rot="5400000">
          <a:off x="4079741" y="-89045"/>
          <a:ext cx="764447" cy="7304748"/>
        </a:xfrm>
        <a:prstGeom prst="round2Same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en-US" sz="2800" kern="1200" dirty="0"/>
            <a:t>Calculate angles </a:t>
          </a:r>
          <a14:m xmlns:a14="http://schemas.microsoft.com/office/drawing/2010/main">
            <m:oMath xmlns:m="http://schemas.openxmlformats.org/officeDocument/2006/math">
              <m:d>
                <m:dPr>
                  <m:begChr m:val="["/>
                  <m:endChr m:val="]"/>
                  <m:ctrlPr>
                    <a:rPr lang="en-US" sz="2800" b="0" i="1" kern="1200" smtClean="0">
                      <a:latin typeface="Cambria Math" panose="02040503050406030204" pitchFamily="18" charset="0"/>
                    </a:rPr>
                  </m:ctrlPr>
                </m:dPr>
                <m:e>
                  <m:r>
                    <a:rPr lang="en-US" sz="2800" b="0" i="0" kern="1200" smtClean="0">
                      <a:latin typeface="Cambria Math" panose="02040503050406030204" pitchFamily="18" charset="0"/>
                    </a:rPr>
                    <m:t>−</m:t>
                  </m:r>
                  <m:r>
                    <a:rPr lang="sr-Latn-RS" sz="2800" b="0" i="1" kern="1200" smtClean="0">
                      <a:latin typeface="Cambria Math" panose="02040503050406030204" pitchFamily="18" charset="0"/>
                      <a:ea typeface="Cambria Math" panose="02040503050406030204" pitchFamily="18" charset="0"/>
                    </a:rPr>
                    <m:t>𝜋</m:t>
                  </m:r>
                  <m:r>
                    <a:rPr lang="en-US" sz="2800" b="0" i="0" kern="1200" smtClean="0">
                      <a:latin typeface="Cambria Math" panose="02040503050406030204" pitchFamily="18" charset="0"/>
                    </a:rPr>
                    <m:t>,</m:t>
                  </m:r>
                  <m:r>
                    <a:rPr lang="sr-Latn-RS" sz="2800" b="0" i="1" kern="1200" smtClean="0">
                      <a:latin typeface="Cambria Math" panose="02040503050406030204" pitchFamily="18" charset="0"/>
                      <a:ea typeface="Cambria Math" panose="02040503050406030204" pitchFamily="18" charset="0"/>
                    </a:rPr>
                    <m:t>𝜋</m:t>
                  </m:r>
                </m:e>
              </m:d>
            </m:oMath>
          </a14:m>
          <a:r>
            <a:rPr lang="en-US" sz="2800" kern="1200" dirty="0"/>
            <a:t>:  </a:t>
          </a:r>
          <a14:m xmlns:a14="http://schemas.microsoft.com/office/drawing/2010/main">
            <m:oMath xmlns:m="http://schemas.openxmlformats.org/officeDocument/2006/math">
              <m:sSub>
                <m:sSubPr>
                  <m:ctrlPr>
                    <a:rPr lang="el-GR" sz="2800" b="0" i="1" kern="1200" smtClean="0">
                      <a:latin typeface="Cambria Math" panose="02040503050406030204" pitchFamily="18" charset="0"/>
                      <a:ea typeface="Cambria Math" panose="02040503050406030204" pitchFamily="18" charset="0"/>
                    </a:rPr>
                  </m:ctrlPr>
                </m:sSubPr>
                <m:e>
                  <m:r>
                    <m:rPr>
                      <m:sty m:val="p"/>
                    </m:rPr>
                    <a:rPr lang="el-GR" sz="2800" b="0" i="1" kern="1200" smtClean="0">
                      <a:latin typeface="Cambria Math" panose="02040503050406030204" pitchFamily="18" charset="0"/>
                      <a:ea typeface="Cambria Math" panose="02040503050406030204" pitchFamily="18" charset="0"/>
                    </a:rPr>
                    <m:t>θ</m:t>
                  </m:r>
                </m:e>
                <m:sub>
                  <m:r>
                    <a:rPr lang="sr-Latn-RS" sz="2800" b="0" i="1" kern="1200" smtClean="0">
                      <a:latin typeface="Cambria Math" panose="02040503050406030204" pitchFamily="18" charset="0"/>
                      <a:ea typeface="Cambria Math" panose="02040503050406030204" pitchFamily="18" charset="0"/>
                    </a:rPr>
                    <m:t>𝑖</m:t>
                  </m:r>
                </m:sub>
              </m:sSub>
              <m:r>
                <a:rPr lang="sr-Latn-RS" sz="2800" b="0" i="1" kern="1200" smtClean="0">
                  <a:latin typeface="Cambria Math" panose="02040503050406030204" pitchFamily="18" charset="0"/>
                  <a:ea typeface="Cambria Math" panose="02040503050406030204" pitchFamily="18" charset="0"/>
                </a:rPr>
                <m:t>=</m:t>
              </m:r>
              <m:sSub>
                <m:sSubPr>
                  <m:ctrlPr>
                    <a:rPr lang="en-US" sz="2800" i="1" kern="1200" smtClean="0">
                      <a:latin typeface="Cambria Math" panose="02040503050406030204" pitchFamily="18" charset="0"/>
                    </a:rPr>
                  </m:ctrlPr>
                </m:sSubPr>
                <m:e>
                  <m:r>
                    <a:rPr lang="en-US" sz="2800" b="0" i="1" kern="1200" smtClean="0">
                      <a:latin typeface="Cambria Math" panose="02040503050406030204" pitchFamily="18" charset="0"/>
                    </a:rPr>
                    <m:t>2</m:t>
                  </m:r>
                  <m:r>
                    <a:rPr lang="sr-Latn-RS" sz="2800" b="0" i="1" kern="1200" smtClean="0">
                      <a:latin typeface="Cambria Math" panose="02040503050406030204" pitchFamily="18" charset="0"/>
                      <a:ea typeface="Cambria Math" panose="02040503050406030204" pitchFamily="18" charset="0"/>
                    </a:rPr>
                    <m:t>𝜋</m:t>
                  </m:r>
                  <m:r>
                    <a:rPr lang="en-US" sz="2800" i="1" kern="1200">
                      <a:latin typeface="Cambria Math" panose="02040503050406030204" pitchFamily="18" charset="0"/>
                    </a:rPr>
                    <m:t>𝑥</m:t>
                  </m:r>
                </m:e>
                <m:sub>
                  <m:r>
                    <a:rPr lang="en-US" sz="2800" b="0" i="1" kern="1200" smtClean="0">
                      <a:latin typeface="Cambria Math" panose="02040503050406030204" pitchFamily="18" charset="0"/>
                    </a:rPr>
                    <m:t>𝑖</m:t>
                  </m:r>
                  <m:r>
                    <a:rPr lang="en-US" sz="2800" b="0" i="1" kern="1200" smtClean="0">
                      <a:latin typeface="Cambria Math" panose="02040503050406030204" pitchFamily="18" charset="0"/>
                    </a:rPr>
                    <m:t>_</m:t>
                  </m:r>
                  <m:r>
                    <a:rPr lang="en-US" sz="2800" b="0" i="1" kern="1200" smtClean="0">
                      <a:latin typeface="Cambria Math" panose="02040503050406030204" pitchFamily="18" charset="0"/>
                    </a:rPr>
                    <m:t>𝑛𝑜𝑟𝑚</m:t>
                  </m:r>
                </m:sub>
              </m:sSub>
              <m:r>
                <a:rPr lang="en-US" sz="2800" b="0" i="1" kern="1200" smtClean="0">
                  <a:latin typeface="Cambria Math" panose="02040503050406030204" pitchFamily="18" charset="0"/>
                </a:rPr>
                <m:t>−</m:t>
              </m:r>
              <m:r>
                <a:rPr lang="sr-Latn-RS" sz="2800" b="0" i="1" kern="1200" smtClean="0">
                  <a:latin typeface="Cambria Math" panose="02040503050406030204" pitchFamily="18" charset="0"/>
                  <a:ea typeface="Cambria Math" panose="02040503050406030204" pitchFamily="18" charset="0"/>
                </a:rPr>
                <m:t>𝜋</m:t>
              </m:r>
            </m:oMath>
          </a14:m>
          <a:endParaRPr lang="en-US" sz="2800" kern="1200" dirty="0"/>
        </a:p>
      </dsp:txBody>
      <dsp:txXfrm rot="-5400000">
        <a:off x="809591" y="3218422"/>
        <a:ext cx="7267431" cy="689813"/>
      </dsp:txXfrm>
    </dsp:sp>
    <dsp:sp modelId="{E99C6F8A-9034-8341-B5A1-60F9C3FB8BE2}">
      <dsp:nvSpPr>
        <dsp:cNvPr id="0" name=""/>
        <dsp:cNvSpPr/>
      </dsp:nvSpPr>
      <dsp:spPr>
        <a:xfrm rot="5400000">
          <a:off x="-176410" y="4417324"/>
          <a:ext cx="1176072" cy="823251"/>
        </a:xfrm>
        <a:prstGeom prst="chevron">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5</a:t>
          </a:r>
        </a:p>
      </dsp:txBody>
      <dsp:txXfrm rot="-5400000">
        <a:off x="1" y="4652540"/>
        <a:ext cx="823251" cy="352821"/>
      </dsp:txXfrm>
    </dsp:sp>
    <dsp:sp modelId="{BF27D454-230E-1446-A157-6EBA6DABDC75}">
      <dsp:nvSpPr>
        <dsp:cNvPr id="0" name=""/>
        <dsp:cNvSpPr/>
      </dsp:nvSpPr>
      <dsp:spPr>
        <a:xfrm rot="5400000">
          <a:off x="4093401" y="970763"/>
          <a:ext cx="764447" cy="7304748"/>
        </a:xfrm>
        <a:prstGeom prst="round2Same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en-US" sz="2800" kern="1200" dirty="0"/>
            <a:t>Encode into a circuit: </a:t>
          </a:r>
          <a14:m xmlns:a14="http://schemas.microsoft.com/office/drawing/2010/main">
            <m:oMath xmlns:m="http://schemas.openxmlformats.org/officeDocument/2006/math">
              <m:sSub>
                <m:sSubPr>
                  <m:ctrlPr>
                    <a:rPr lang="el-GR" sz="2800" b="0" i="1" kern="1200" smtClean="0">
                      <a:latin typeface="Cambria Math" panose="02040503050406030204" pitchFamily="18" charset="0"/>
                      <a:ea typeface="Cambria Math" panose="02040503050406030204" pitchFamily="18" charset="0"/>
                    </a:rPr>
                  </m:ctrlPr>
                </m:sSubPr>
                <m:e>
                  <m:r>
                    <a:rPr lang="en-US" sz="2800" b="0" i="1" kern="1200" smtClean="0">
                      <a:latin typeface="Cambria Math" panose="02040503050406030204" pitchFamily="18" charset="0"/>
                      <a:ea typeface="Cambria Math" panose="02040503050406030204" pitchFamily="18" charset="0"/>
                    </a:rPr>
                    <m:t>𝑅𝑦</m:t>
                  </m:r>
                  <m:r>
                    <a:rPr lang="en-US" sz="2800" b="0" i="1" kern="1200" smtClean="0">
                      <a:latin typeface="Cambria Math" panose="02040503050406030204" pitchFamily="18" charset="0"/>
                      <a:ea typeface="Cambria Math" panose="02040503050406030204" pitchFamily="18" charset="0"/>
                    </a:rPr>
                    <m:t>(</m:t>
                  </m:r>
                  <m:r>
                    <m:rPr>
                      <m:sty m:val="p"/>
                    </m:rPr>
                    <a:rPr lang="el-GR" sz="2800" b="0" i="1" kern="1200" smtClean="0">
                      <a:latin typeface="Cambria Math" panose="02040503050406030204" pitchFamily="18" charset="0"/>
                      <a:ea typeface="Cambria Math" panose="02040503050406030204" pitchFamily="18" charset="0"/>
                    </a:rPr>
                    <m:t>θ</m:t>
                  </m:r>
                </m:e>
                <m:sub>
                  <m:r>
                    <a:rPr lang="sr-Latn-RS" sz="2800" b="0" i="1" kern="1200" smtClean="0">
                      <a:latin typeface="Cambria Math" panose="02040503050406030204" pitchFamily="18" charset="0"/>
                      <a:ea typeface="Cambria Math" panose="02040503050406030204" pitchFamily="18" charset="0"/>
                    </a:rPr>
                    <m:t>𝑖</m:t>
                  </m:r>
                </m:sub>
              </m:sSub>
              <m:r>
                <a:rPr lang="en-US" sz="2800" b="0" i="1" kern="1200" smtClean="0">
                  <a:latin typeface="Cambria Math" panose="02040503050406030204" pitchFamily="18" charset="0"/>
                  <a:ea typeface="Cambria Math" panose="02040503050406030204" pitchFamily="18" charset="0"/>
                </a:rPr>
                <m:t>)</m:t>
              </m:r>
            </m:oMath>
          </a14:m>
          <a:endParaRPr lang="en-US" sz="2800" kern="1200" dirty="0"/>
        </a:p>
      </dsp:txBody>
      <dsp:txXfrm rot="-5400000">
        <a:off x="823251" y="4278231"/>
        <a:ext cx="7267431" cy="689813"/>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9BEB82-778D-AD40-9C78-E0B63E5D4744}" type="datetimeFigureOut">
              <a:rPr lang="en-US" smtClean="0"/>
              <a:t>10/24/26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2CE5E3-B8BD-D040-AC87-D640191DD8F1}" type="slidenum">
              <a:rPr lang="en-US" smtClean="0"/>
              <a:t>‹#›</a:t>
            </a:fld>
            <a:endParaRPr lang="en-US"/>
          </a:p>
        </p:txBody>
      </p:sp>
    </p:spTree>
    <p:extLst>
      <p:ext uri="{BB962C8B-B14F-4D97-AF65-F5344CB8AC3E}">
        <p14:creationId xmlns:p14="http://schemas.microsoft.com/office/powerpoint/2010/main" val="811909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i="0" dirty="0"/>
          </a:p>
        </p:txBody>
      </p:sp>
      <p:sp>
        <p:nvSpPr>
          <p:cNvPr id="4" name="Slide Number Placeholder 3"/>
          <p:cNvSpPr>
            <a:spLocks noGrp="1"/>
          </p:cNvSpPr>
          <p:nvPr>
            <p:ph type="sldNum" sz="quarter" idx="5"/>
          </p:nvPr>
        </p:nvSpPr>
        <p:spPr/>
        <p:txBody>
          <a:bodyPr/>
          <a:lstStyle/>
          <a:p>
            <a:fld id="{1B2CE5E3-B8BD-D040-AC87-D640191DD8F1}" type="slidenum">
              <a:rPr lang="en-US" smtClean="0"/>
              <a:t>1</a:t>
            </a:fld>
            <a:endParaRPr lang="en-US"/>
          </a:p>
        </p:txBody>
      </p:sp>
    </p:spTree>
    <p:extLst>
      <p:ext uri="{BB962C8B-B14F-4D97-AF65-F5344CB8AC3E}">
        <p14:creationId xmlns:p14="http://schemas.microsoft.com/office/powerpoint/2010/main" val="1337028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Quantum algorithms rely on several key components and techniques that can give them advantages over classical methods for certain problems.</a:t>
            </a:r>
          </a:p>
          <a:p>
            <a:endParaRPr lang="en-ZA" dirty="0"/>
          </a:p>
          <a:p>
            <a:pPr marL="171450" indent="-171450">
              <a:buFont typeface="Arial" panose="020B0604020202020204" pitchFamily="34" charset="0"/>
              <a:buChar char="•"/>
            </a:pPr>
            <a:r>
              <a:rPr lang="en-ZA" b="1" dirty="0"/>
              <a:t>Encoding data into quantum states</a:t>
            </a:r>
            <a:r>
              <a:rPr lang="en-ZA" dirty="0"/>
              <a:t> means representing information using qubits. </a:t>
            </a:r>
          </a:p>
          <a:p>
            <a:pPr marL="171450" indent="-171450">
              <a:buFont typeface="Arial" panose="020B0604020202020204" pitchFamily="34" charset="0"/>
              <a:buChar char="•"/>
            </a:pPr>
            <a:r>
              <a:rPr lang="en-ZA" b="1" dirty="0"/>
              <a:t>Quantum arithmetic</a:t>
            </a:r>
            <a:r>
              <a:rPr lang="en-ZA" dirty="0"/>
              <a:t> provides a way to perform operations such as addition, multiplication, and modular arithmetic on quantum registers. </a:t>
            </a:r>
          </a:p>
          <a:p>
            <a:pPr marL="171450" indent="-171450">
              <a:buFont typeface="Arial" panose="020B0604020202020204" pitchFamily="34" charset="0"/>
              <a:buChar char="•"/>
            </a:pPr>
            <a:r>
              <a:rPr lang="en-ZA" b="1" dirty="0"/>
              <a:t>Function evaluation</a:t>
            </a:r>
            <a:r>
              <a:rPr lang="en-ZA" dirty="0"/>
              <a:t> is a basic building block of many quantum algorithms, where a quantum circuit is used to compute a function while preserving quantum superposition. </a:t>
            </a:r>
          </a:p>
          <a:p>
            <a:pPr marL="171450" indent="-171450">
              <a:buFont typeface="Arial" panose="020B0604020202020204" pitchFamily="34" charset="0"/>
              <a:buChar char="•"/>
            </a:pPr>
            <a:r>
              <a:rPr lang="en-ZA" b="1" dirty="0"/>
              <a:t>Quantum oracles</a:t>
            </a:r>
            <a:r>
              <a:rPr lang="en-ZA" dirty="0"/>
              <a:t> act as black-box functions that provide information used by algorithms for problems such as search and optimization. </a:t>
            </a:r>
          </a:p>
          <a:p>
            <a:pPr marL="171450" indent="-171450">
              <a:buFont typeface="Arial" panose="020B0604020202020204" pitchFamily="34" charset="0"/>
              <a:buChar char="•"/>
            </a:pPr>
            <a:r>
              <a:rPr lang="en-ZA" b="1" dirty="0"/>
              <a:t>Quantum superposition</a:t>
            </a:r>
            <a:r>
              <a:rPr lang="en-ZA" dirty="0"/>
              <a:t> allows a quantum state to contain multiple computational-basis states at the same time, allowing many possibilities to be processed together. </a:t>
            </a:r>
          </a:p>
          <a:p>
            <a:pPr marL="171450" indent="-171450">
              <a:buFont typeface="Arial" panose="020B0604020202020204" pitchFamily="34" charset="0"/>
              <a:buChar char="•"/>
            </a:pPr>
            <a:r>
              <a:rPr lang="en-ZA" b="1" dirty="0"/>
              <a:t>Quantum interference</a:t>
            </a:r>
            <a:r>
              <a:rPr lang="en-ZA" dirty="0"/>
              <a:t> can amplify the probability of desired results and suppress the probability of undesired ones. </a:t>
            </a:r>
          </a:p>
          <a:p>
            <a:pPr marL="171450" indent="-171450">
              <a:buFont typeface="Arial" panose="020B0604020202020204" pitchFamily="34" charset="0"/>
              <a:buChar char="•"/>
            </a:pPr>
            <a:r>
              <a:rPr lang="en-ZA" b="1" dirty="0"/>
              <a:t>Phase kickback</a:t>
            </a:r>
            <a:r>
              <a:rPr lang="en-ZA" dirty="0"/>
              <a:t> is a technique in which the action of a controlled operation introduces a phase into another part of the quantum state. </a:t>
            </a:r>
          </a:p>
          <a:p>
            <a:pPr marL="171450" indent="-171450">
              <a:buFont typeface="Arial" panose="020B0604020202020204" pitchFamily="34" charset="0"/>
              <a:buChar char="•"/>
            </a:pPr>
            <a:r>
              <a:rPr lang="en-ZA" b="1" dirty="0"/>
              <a:t>Quantum entanglement</a:t>
            </a:r>
            <a:r>
              <a:rPr lang="en-ZA" dirty="0"/>
              <a:t> creates strong correlations between qubits that have no direct classical counterpart. </a:t>
            </a:r>
          </a:p>
          <a:p>
            <a:pPr marL="171450" indent="-171450">
              <a:buFont typeface="Arial" panose="020B0604020202020204" pitchFamily="34" charset="0"/>
              <a:buChar char="•"/>
            </a:pPr>
            <a:r>
              <a:rPr lang="en-ZA" b="1" dirty="0"/>
              <a:t>Quantum measurement</a:t>
            </a:r>
            <a:r>
              <a:rPr lang="en-ZA" dirty="0"/>
              <a:t> extracts classical information from quantum states, with different measurement bases revealing different properties. </a:t>
            </a:r>
          </a:p>
          <a:p>
            <a:pPr marL="171450" indent="-171450">
              <a:buFont typeface="Arial" panose="020B0604020202020204" pitchFamily="34" charset="0"/>
              <a:buChar char="•"/>
            </a:pPr>
            <a:r>
              <a:rPr lang="en-ZA" b="1" dirty="0"/>
              <a:t>Quantum Fourier transform (QFT)</a:t>
            </a:r>
            <a:r>
              <a:rPr lang="en-ZA" dirty="0"/>
              <a:t> is a fundamental subroutine that transforms quantum amplitudes in a way analogous to the classical discrete Fourier transform. </a:t>
            </a:r>
          </a:p>
          <a:p>
            <a:pPr marL="171450" indent="-171450">
              <a:buFont typeface="Arial" panose="020B0604020202020204" pitchFamily="34" charset="0"/>
              <a:buChar char="•"/>
            </a:pPr>
            <a:r>
              <a:rPr lang="en-ZA" b="1" dirty="0"/>
              <a:t>Quantum phase estimation (QPE)</a:t>
            </a:r>
            <a:r>
              <a:rPr lang="en-ZA" dirty="0"/>
              <a:t> is a method for estimating the phase associated with an eigenvalue of a unitary operation. </a:t>
            </a:r>
          </a:p>
        </p:txBody>
      </p:sp>
      <p:sp>
        <p:nvSpPr>
          <p:cNvPr id="4" name="Slide Number Placeholder 3"/>
          <p:cNvSpPr>
            <a:spLocks noGrp="1"/>
          </p:cNvSpPr>
          <p:nvPr>
            <p:ph type="sldNum" sz="quarter" idx="5"/>
          </p:nvPr>
        </p:nvSpPr>
        <p:spPr/>
        <p:txBody>
          <a:bodyPr/>
          <a:lstStyle/>
          <a:p>
            <a:fld id="{1B2CE5E3-B8BD-D040-AC87-D640191DD8F1}" type="slidenum">
              <a:rPr lang="en-US" smtClean="0"/>
              <a:t>2</a:t>
            </a:fld>
            <a:endParaRPr lang="en-US"/>
          </a:p>
        </p:txBody>
      </p:sp>
    </p:spTree>
    <p:extLst>
      <p:ext uri="{BB962C8B-B14F-4D97-AF65-F5344CB8AC3E}">
        <p14:creationId xmlns:p14="http://schemas.microsoft.com/office/powerpoint/2010/main" val="20821359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2CE5E3-B8BD-D040-AC87-D640191DD8F1}" type="slidenum">
              <a:rPr lang="en-US" smtClean="0"/>
              <a:t>3</a:t>
            </a:fld>
            <a:endParaRPr lang="en-US"/>
          </a:p>
        </p:txBody>
      </p:sp>
    </p:spTree>
    <p:extLst>
      <p:ext uri="{BB962C8B-B14F-4D97-AF65-F5344CB8AC3E}">
        <p14:creationId xmlns:p14="http://schemas.microsoft.com/office/powerpoint/2010/main" val="7372758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1" dirty="0"/>
                  <a:t>Basis encoding</a:t>
                </a:r>
                <a:r>
                  <a:rPr lang="en-ZA" dirty="0"/>
                  <a:t> means taking classical binary data, made up of 0s and 1s, and mapping it directly onto the computational basis states of a quantum system. For example, the classical bit string 10 becomes the quantum state </a:t>
                </a:r>
                <a:r>
                  <a:rPr lang="en-ZA" b="0" dirty="0"/>
                  <a:t>∣10⟩.</a:t>
                </a:r>
              </a:p>
              <a:p>
                <a:pPr algn="just"/>
                <a:endParaRPr lang="en-ZA" b="0" dirty="0"/>
              </a:p>
              <a:p>
                <a:pPr algn="just"/>
                <a:r>
                  <a:rPr lang="en-ZA" dirty="0"/>
                  <a:t>In practice, however, data is often given as real numbers rather than binary integers. One way to encode such data is to first normalize it to a chosen range, for example between −1 and +1, and then represent each number using a </a:t>
                </a:r>
                <a:r>
                  <a:rPr lang="en-ZA" b="1" dirty="0"/>
                  <a:t>fixed-point binary format</a:t>
                </a:r>
                <a:r>
                  <a:rPr lang="en-ZA" dirty="0"/>
                  <a:t>. The first bit can be used for the sign (s=0 for positive and s=1 for negative), while the remaining bits represent the fractional part.</a:t>
                </a:r>
              </a:p>
              <a:p>
                <a:pPr algn="just"/>
                <a:endParaRPr lang="en-ZA" b="0" dirty="0"/>
              </a:p>
              <a:p>
                <a:pPr algn="just"/>
                <a:r>
                  <a:rPr lang="en-ZA" dirty="0"/>
                  <a:t>The example shows how to encode −0.7 using 3 fractional bits:</a:t>
                </a:r>
              </a:p>
              <a:p>
                <a:pPr marL="171450" indent="-171450" algn="just">
                  <a:buFont typeface="Arial" panose="020B0604020202020204" pitchFamily="34" charset="0"/>
                  <a:buChar char="•"/>
                </a:pPr>
                <a:r>
                  <a:rPr lang="en-ZA" dirty="0"/>
                  <a:t>Write a leading 1 to indicate that the number is negative. </a:t>
                </a:r>
              </a:p>
              <a:p>
                <a:pPr marL="171450" indent="-171450" algn="just">
                  <a:buFont typeface="Arial" panose="020B0604020202020204" pitchFamily="34" charset="0"/>
                  <a:buChar char="•"/>
                </a:pPr>
                <a:r>
                  <a:rPr lang="en-ZA" dirty="0"/>
                  <a:t>Take the magnitude, 0.7, multiply it by 2, record the integer part as the next bit, and keep the fractional remainder. </a:t>
                </a:r>
              </a:p>
              <a:p>
                <a:pPr marL="171450" indent="-171450" algn="just">
                  <a:buFont typeface="Arial" panose="020B0604020202020204" pitchFamily="34" charset="0"/>
                  <a:buChar char="•"/>
                </a:pPr>
                <a:r>
                  <a:rPr lang="en-ZA" dirty="0"/>
                  <a:t>Repeat the process until the required number of bits has been obtained.</a:t>
                </a:r>
              </a:p>
              <a:p>
                <a:pPr algn="just"/>
                <a:endParaRPr lang="en-ZA" b="0" dirty="0"/>
              </a:p>
              <a:p>
                <a:pPr algn="just"/>
                <a:r>
                  <a:rPr lang="en-ZA" dirty="0"/>
                  <a:t>To decode, we reverse the process: each binary digit is multiplied by the corresponding power of 1/2, and the results are added together to approximate the original number. </a:t>
                </a:r>
              </a:p>
              <a:p>
                <a:pPr algn="just"/>
                <a:endParaRPr lang="en-ZA" dirty="0"/>
              </a:p>
              <a:p>
                <a:pPr algn="just"/>
                <a:r>
                  <a:rPr lang="en-ZA" dirty="0"/>
                  <a:t>The drawback is that this method can require many qubits, especially when encoding large datasets or using high precision.</a:t>
                </a:r>
                <a:endParaRPr lang="en-ZA" b="0"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0" dirty="0" err="1"/>
                  <a:t>Najdirektnji</a:t>
                </a:r>
                <a:r>
                  <a:rPr lang="en-US" sz="2000" b="0" dirty="0"/>
                  <a:t> </a:t>
                </a:r>
                <a:r>
                  <a:rPr lang="en-US" sz="2000" b="0" dirty="0" err="1"/>
                  <a:t>način</a:t>
                </a:r>
                <a:r>
                  <a:rPr lang="en-US" sz="2000" b="0" dirty="0"/>
                  <a:t> </a:t>
                </a:r>
                <a:r>
                  <a:rPr lang="en-US" sz="2000" b="0" dirty="0" err="1"/>
                  <a:t>kodiranja</a:t>
                </a:r>
                <a:r>
                  <a:rPr lang="en-US" sz="2000" b="0" dirty="0"/>
                  <a:t> </a:t>
                </a:r>
                <a:r>
                  <a:rPr lang="en-US" sz="2000" b="0" dirty="0" err="1"/>
                  <a:t>je</a:t>
                </a:r>
                <a:r>
                  <a:rPr lang="en-US" sz="2000" b="0" dirty="0"/>
                  <a:t> </a:t>
                </a:r>
                <a:r>
                  <a:rPr lang="en-US" sz="2000" b="0" dirty="0" err="1"/>
                  <a:t>kodiranje</a:t>
                </a:r>
                <a:r>
                  <a:rPr lang="en-US" sz="2000" b="0" dirty="0"/>
                  <a:t> </a:t>
                </a:r>
                <a:r>
                  <a:rPr lang="en-US" sz="2000" b="0" dirty="0" err="1"/>
                  <a:t>podataka</a:t>
                </a:r>
                <a:r>
                  <a:rPr lang="en-US" sz="2000" b="0" dirty="0"/>
                  <a:t> u </a:t>
                </a:r>
                <a:r>
                  <a:rPr lang="en-US" sz="2000" b="0" dirty="0" err="1"/>
                  <a:t>vektore</a:t>
                </a:r>
                <a:r>
                  <a:rPr lang="en-US" sz="2000" b="0" dirty="0"/>
                  <a:t> </a:t>
                </a:r>
                <a:r>
                  <a:rPr lang="en-US" sz="2000" b="0" dirty="0" err="1"/>
                  <a:t>baze</a:t>
                </a:r>
                <a:r>
                  <a:rPr lang="en-US" sz="2000" b="0" dirty="0"/>
                  <a:t>. </a:t>
                </a:r>
                <a:r>
                  <a:rPr lang="en-US" sz="2000" b="0" dirty="0" err="1"/>
                  <a:t>Realna</a:t>
                </a:r>
                <a:r>
                  <a:rPr lang="en-US" sz="2000" b="0" dirty="0"/>
                  <a:t> </a:t>
                </a:r>
                <a:r>
                  <a:rPr lang="en-US" sz="2000" b="0" dirty="0" err="1"/>
                  <a:t>vrednost</a:t>
                </a:r>
                <a:r>
                  <a:rPr lang="en-US" sz="2000" b="0" dirty="0"/>
                  <a:t> </a:t>
                </a:r>
                <a:r>
                  <a:rPr lang="en-US" sz="2000" b="0" dirty="0" err="1"/>
                  <a:t>atributa</a:t>
                </a:r>
                <a:r>
                  <a:rPr lang="en-US" sz="2000" b="0" dirty="0"/>
                  <a:t> se </a:t>
                </a:r>
                <a:r>
                  <a:rPr lang="en-US" sz="2000" b="0" dirty="0" err="1"/>
                  <a:t>koristeći</a:t>
                </a:r>
                <a:r>
                  <a:rPr lang="en-US" sz="2000" b="0" dirty="0"/>
                  <a:t> </a:t>
                </a:r>
                <a:r>
                  <a:rPr lang="en-US" sz="2000" b="0" dirty="0" err="1"/>
                  <a:t>frakcionu</a:t>
                </a:r>
                <a:r>
                  <a:rPr lang="en-US" sz="2000" b="0" dirty="0"/>
                  <a:t> </a:t>
                </a:r>
                <a:r>
                  <a:rPr lang="en-US" sz="2000" b="0" dirty="0" err="1"/>
                  <a:t>interpretaciju</a:t>
                </a:r>
                <a:r>
                  <a:rPr lang="en-US" sz="2000" b="0" dirty="0"/>
                  <a:t> </a:t>
                </a:r>
                <a:r>
                  <a:rPr lang="en-US" sz="2000" b="0" dirty="0" err="1"/>
                  <a:t>pretvori</a:t>
                </a:r>
                <a:r>
                  <a:rPr lang="en-US" sz="2000" b="0" dirty="0"/>
                  <a:t> u </a:t>
                </a:r>
                <a:r>
                  <a:rPr lang="en-US" sz="2000" b="0" dirty="0" err="1"/>
                  <a:t>binarni</a:t>
                </a:r>
                <a:r>
                  <a:rPr lang="en-US" sz="2000" b="0" dirty="0"/>
                  <a:t> </a:t>
                </a:r>
                <a:r>
                  <a:rPr lang="en-US" sz="2000" b="0" dirty="0" err="1"/>
                  <a:t>broj</a:t>
                </a:r>
                <a:r>
                  <a:rPr lang="en-US" sz="2000" b="0" dirty="0"/>
                  <a:t> </a:t>
                </a:r>
                <a:r>
                  <a:rPr lang="en-US" sz="2000" b="0" dirty="0" err="1"/>
                  <a:t>sa</a:t>
                </a:r>
                <a:r>
                  <a:rPr lang="en-US" sz="2000" b="0" dirty="0"/>
                  <a:t> </a:t>
                </a:r>
                <a:r>
                  <a:rPr lang="en-US" sz="2000" b="0" dirty="0" err="1"/>
                  <a:t>rezolucijom</a:t>
                </a:r>
                <a:r>
                  <a:rPr lang="en-US" sz="2000" b="0" dirty="0"/>
                  <a:t> od </a:t>
                </a:r>
                <a:r>
                  <a:rPr lang="en-US" sz="2000" b="0" i="0">
                    <a:latin typeface="Cambria Math" panose="02040503050406030204" pitchFamily="18" charset="0"/>
                  </a:rPr>
                  <a:t>𝑚</a:t>
                </a:r>
                <a:r>
                  <a:rPr lang="en-US" sz="2000" b="0" dirty="0"/>
                  <a:t> </a:t>
                </a:r>
                <a:r>
                  <a:rPr lang="en-US" sz="2000" b="0" dirty="0" err="1"/>
                  <a:t>bita</a:t>
                </a:r>
                <a:r>
                  <a:rPr lang="en-US" sz="2000" b="0" dirty="0"/>
                  <a:t> plus bit </a:t>
                </a:r>
                <a:r>
                  <a:rPr lang="en-US" sz="2000" b="0" dirty="0" err="1"/>
                  <a:t>znaka</a:t>
                </a:r>
                <a:r>
                  <a:rPr lang="en-US" sz="2000" b="0" dirty="0"/>
                  <a:t>. </a:t>
                </a:r>
                <a:r>
                  <a:rPr lang="en-US" sz="2000" b="0" dirty="0" err="1"/>
                  <a:t>Ukoliko</a:t>
                </a:r>
                <a:r>
                  <a:rPr lang="en-US" sz="2000" b="0" dirty="0"/>
                  <a:t> </a:t>
                </a:r>
                <a:r>
                  <a:rPr lang="en-US" sz="2000" b="0" dirty="0" err="1"/>
                  <a:t>je</a:t>
                </a:r>
                <a:r>
                  <a:rPr lang="en-US" sz="2000" b="0" dirty="0"/>
                  <a:t> </a:t>
                </a:r>
                <a:r>
                  <a:rPr lang="en-US" sz="2000" b="0" dirty="0" err="1"/>
                  <a:t>potrebna</a:t>
                </a:r>
                <a:r>
                  <a:rPr lang="en-US" sz="2000" b="0" dirty="0"/>
                  <a:t> </a:t>
                </a:r>
                <a:r>
                  <a:rPr lang="en-US" sz="2000" b="0" dirty="0" err="1"/>
                  <a:t>velika</a:t>
                </a:r>
                <a:r>
                  <a:rPr lang="en-US" sz="2000" b="0" dirty="0"/>
                  <a:t> </a:t>
                </a:r>
                <a:r>
                  <a:rPr lang="en-US" sz="2000" b="0" dirty="0" err="1"/>
                  <a:t>tačnost</a:t>
                </a:r>
                <a:r>
                  <a:rPr lang="en-US" sz="2000" b="0" dirty="0"/>
                  <a:t>, </a:t>
                </a:r>
                <a:r>
                  <a:rPr lang="en-US" sz="2000" b="0" dirty="0" err="1"/>
                  <a:t>može</a:t>
                </a:r>
                <a:r>
                  <a:rPr lang="en-US" sz="2000" b="0" dirty="0"/>
                  <a:t> se </a:t>
                </a:r>
                <a:r>
                  <a:rPr lang="en-US" sz="2000" b="0" dirty="0" err="1"/>
                  <a:t>koristiti</a:t>
                </a:r>
                <a:r>
                  <a:rPr lang="en-US" sz="2000" b="0" dirty="0"/>
                  <a:t> </a:t>
                </a:r>
                <a:r>
                  <a:rPr lang="en-US" sz="2000" b="0" dirty="0" err="1"/>
                  <a:t>i</a:t>
                </a:r>
                <a:r>
                  <a:rPr lang="en-US" sz="2000" b="0" dirty="0"/>
                  <a:t> IEEE standard </a:t>
                </a:r>
                <a:r>
                  <a:rPr lang="en-US" sz="2000" b="0" dirty="0" err="1"/>
                  <a:t>za</a:t>
                </a:r>
                <a:r>
                  <a:rPr lang="en-US" sz="2000" b="0" dirty="0"/>
                  <a:t> </a:t>
                </a:r>
                <a:r>
                  <a:rPr lang="en-US" sz="2000" b="0" dirty="0" err="1"/>
                  <a:t>realne</a:t>
                </a:r>
                <a:r>
                  <a:rPr lang="en-US" sz="2000" b="0" dirty="0"/>
                  <a:t> </a:t>
                </a:r>
                <a:r>
                  <a:rPr lang="en-US" sz="2000" b="0" dirty="0" err="1"/>
                  <a:t>brojeve</a:t>
                </a:r>
                <a:r>
                  <a:rPr lang="en-US" sz="2000" b="0" dirty="0"/>
                  <a:t> od 32 </a:t>
                </a:r>
                <a:r>
                  <a:rPr lang="en-US" sz="2000" b="0" dirty="0" err="1"/>
                  <a:t>ili</a:t>
                </a:r>
                <a:r>
                  <a:rPr lang="en-US" sz="2000" b="0" dirty="0"/>
                  <a:t> 64 </a:t>
                </a:r>
                <a:r>
                  <a:rPr lang="en-US" sz="2000" b="0" dirty="0" err="1"/>
                  <a:t>bita</a:t>
                </a:r>
                <a:r>
                  <a:rPr lang="en-US" sz="2000" b="0" dirty="0"/>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b="0" dirty="0"/>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dirty="0"/>
                  <a:t>Primer </a:t>
                </a:r>
                <a:r>
                  <a:rPr lang="en-US" sz="2000" b="0" dirty="0" err="1"/>
                  <a:t>prikazuje</a:t>
                </a:r>
                <a:r>
                  <a:rPr lang="en-US" sz="2000" b="0" dirty="0"/>
                  <a:t> </a:t>
                </a:r>
                <a:r>
                  <a:rPr lang="en-US" sz="2000" b="0" dirty="0" err="1"/>
                  <a:t>kodiranje</a:t>
                </a:r>
                <a:r>
                  <a:rPr lang="en-US" sz="2000" b="0" dirty="0"/>
                  <a:t> </a:t>
                </a:r>
                <a:r>
                  <a:rPr lang="en-US" sz="2000" b="0" dirty="0" err="1"/>
                  <a:t>sa</a:t>
                </a:r>
                <a:r>
                  <a:rPr lang="en-US" sz="2000" b="0" dirty="0"/>
                  <a:t> 4 </a:t>
                </a:r>
                <a:r>
                  <a:rPr lang="en-US" sz="2000" b="0" dirty="0" err="1"/>
                  <a:t>bita</a:t>
                </a:r>
                <a:r>
                  <a:rPr lang="en-US" sz="2000" b="0" dirty="0"/>
                  <a:t>. </a:t>
                </a:r>
                <a:r>
                  <a:rPr lang="en-US" sz="2000" b="0" dirty="0" err="1"/>
                  <a:t>Prvi</a:t>
                </a:r>
                <a:r>
                  <a:rPr lang="en-US" sz="2000" b="0" dirty="0"/>
                  <a:t> bit 0 </a:t>
                </a:r>
                <a:r>
                  <a:rPr lang="en-US" sz="2000" b="0" dirty="0" err="1"/>
                  <a:t>stoji</a:t>
                </a:r>
                <a:r>
                  <a:rPr lang="en-US" sz="2000" b="0" dirty="0"/>
                  <a:t> </a:t>
                </a:r>
                <a:r>
                  <a:rPr lang="en-US" sz="2000" b="0" dirty="0" err="1"/>
                  <a:t>za</a:t>
                </a:r>
                <a:r>
                  <a:rPr lang="en-US" sz="2000" b="0" dirty="0"/>
                  <a:t> </a:t>
                </a:r>
                <a:r>
                  <a:rPr lang="en-US" sz="2000" b="0" dirty="0" err="1"/>
                  <a:t>znak</a:t>
                </a:r>
                <a:r>
                  <a:rPr lang="en-US" sz="2000" b="0" dirty="0"/>
                  <a:t> + a bit 1 </a:t>
                </a:r>
                <a:r>
                  <a:rPr lang="en-US" sz="2000" b="0" dirty="0" err="1"/>
                  <a:t>za</a:t>
                </a:r>
                <a:r>
                  <a:rPr lang="en-US" sz="2000" b="0" dirty="0"/>
                  <a:t> </a:t>
                </a:r>
                <a:r>
                  <a:rPr lang="en-US" sz="2000" b="0" dirty="0" err="1"/>
                  <a:t>znak</a:t>
                </a:r>
                <a:r>
                  <a:rPr lang="en-US" sz="2000" b="0" dirty="0"/>
                  <a:t> -. </a:t>
                </a:r>
                <a:r>
                  <a:rPr lang="en-US" sz="2000" b="0" dirty="0" err="1"/>
                  <a:t>Realne</a:t>
                </a:r>
                <a:r>
                  <a:rPr lang="en-US" sz="2000" b="0" dirty="0"/>
                  <a:t> </a:t>
                </a:r>
                <a:r>
                  <a:rPr lang="en-US" sz="2000" b="0" dirty="0" err="1"/>
                  <a:t>vrednosti</a:t>
                </a:r>
                <a:r>
                  <a:rPr lang="en-US" sz="2000" b="0" dirty="0"/>
                  <a:t> </a:t>
                </a:r>
                <a:r>
                  <a:rPr lang="en-US" sz="2000" b="0" dirty="0" err="1"/>
                  <a:t>podataka</a:t>
                </a:r>
                <a:r>
                  <a:rPr lang="en-US" sz="2000" b="0" dirty="0"/>
                  <a:t> se </a:t>
                </a:r>
                <a:r>
                  <a:rPr lang="en-US" sz="2000" b="0" dirty="0" err="1"/>
                  <a:t>zatim</a:t>
                </a:r>
                <a:r>
                  <a:rPr lang="en-US" sz="2000" b="0" dirty="0"/>
                  <a:t> </a:t>
                </a:r>
                <a:r>
                  <a:rPr lang="en-US" sz="2000" b="0" dirty="0" err="1"/>
                  <a:t>predstave</a:t>
                </a:r>
                <a:r>
                  <a:rPr lang="en-US" sz="2000" b="0" dirty="0"/>
                  <a:t> </a:t>
                </a:r>
                <a:r>
                  <a:rPr lang="en-US" sz="2000" b="0" dirty="0" err="1"/>
                  <a:t>najpribližnijim</a:t>
                </a:r>
                <a:r>
                  <a:rPr lang="en-US" sz="2000" b="0" dirty="0"/>
                  <a:t> </a:t>
                </a:r>
                <a:r>
                  <a:rPr lang="en-US" sz="2000" b="0" dirty="0" err="1"/>
                  <a:t>binarnim</a:t>
                </a:r>
                <a:r>
                  <a:rPr lang="en-US" sz="2000" b="0" dirty="0"/>
                  <a:t> </a:t>
                </a:r>
                <a:r>
                  <a:rPr lang="en-US" sz="2000" b="0" dirty="0" err="1"/>
                  <a:t>brojem</a:t>
                </a:r>
                <a:r>
                  <a:rPr lang="en-US" sz="2000" b="0" dirty="0"/>
                  <a:t> </a:t>
                </a:r>
                <a:r>
                  <a:rPr lang="en-US" sz="2000" b="0" dirty="0" err="1"/>
                  <a:t>sa</a:t>
                </a:r>
                <a:r>
                  <a:rPr lang="en-US" sz="2000" b="0" dirty="0"/>
                  <a:t> 4 </a:t>
                </a:r>
                <a:r>
                  <a:rPr lang="en-US" sz="2000" b="0" dirty="0" err="1"/>
                  <a:t>bita</a:t>
                </a:r>
                <a:r>
                  <a:rPr lang="en-US" sz="2000" b="0" dirty="0"/>
                  <a:t> u </a:t>
                </a:r>
                <a:r>
                  <a:rPr lang="en-US" sz="2000" b="0" dirty="0" err="1"/>
                  <a:t>frakcionoj</a:t>
                </a:r>
                <a:r>
                  <a:rPr lang="en-US" sz="2000" b="0" dirty="0"/>
                  <a:t> </a:t>
                </a:r>
                <a:r>
                  <a:rPr lang="en-US" sz="2000" b="0" dirty="0" err="1"/>
                  <a:t>interpretaciji</a:t>
                </a:r>
                <a:r>
                  <a:rPr lang="en-US" sz="2000" b="0" dirty="0"/>
                  <a:t>. U </a:t>
                </a:r>
                <a:r>
                  <a:rPr lang="en-US" sz="2000" b="0" dirty="0" err="1"/>
                  <a:t>primeru</a:t>
                </a:r>
                <a:r>
                  <a:rPr lang="en-US" sz="2000" b="0" dirty="0"/>
                  <a:t> </a:t>
                </a:r>
                <a:r>
                  <a:rPr lang="en-US" sz="2000" b="0" dirty="0" err="1"/>
                  <a:t>je</a:t>
                </a:r>
                <a:r>
                  <a:rPr lang="en-US" sz="2000" b="0" dirty="0"/>
                  <a:t> 0.1 </a:t>
                </a:r>
                <a:r>
                  <a:rPr lang="en-US" sz="2000" b="0" dirty="0" err="1"/>
                  <a:t>aproksimisano</a:t>
                </a:r>
                <a:r>
                  <a:rPr lang="en-US" sz="2000" b="0" dirty="0"/>
                  <a:t> </a:t>
                </a:r>
                <a:r>
                  <a:rPr lang="en-US" sz="2000" b="0" dirty="0" err="1"/>
                  <a:t>sa</a:t>
                </a:r>
                <a:r>
                  <a:rPr lang="en-US" sz="2000" b="0" dirty="0"/>
                  <a:t> 1/16, a 0.7 </a:t>
                </a:r>
                <a:r>
                  <a:rPr lang="en-US" sz="2000" b="0" dirty="0" err="1"/>
                  <a:t>kao</a:t>
                </a:r>
                <a:r>
                  <a:rPr lang="en-US" sz="2000" b="0" dirty="0"/>
                  <a:t> 1/16+1/8+1/2 </a:t>
                </a:r>
                <a:r>
                  <a:rPr lang="en-US" sz="2000" b="0" dirty="0" err="1"/>
                  <a:t>što</a:t>
                </a:r>
                <a:r>
                  <a:rPr lang="en-US" sz="2000" b="0" dirty="0"/>
                  <a:t> </a:t>
                </a:r>
                <a:r>
                  <a:rPr lang="en-US" sz="2000" b="0" dirty="0" err="1"/>
                  <a:t>je</a:t>
                </a:r>
                <a:r>
                  <a:rPr lang="en-US" sz="2000" b="0" dirty="0"/>
                  <a:t> </a:t>
                </a:r>
                <a:r>
                  <a:rPr lang="en-US" sz="2000" b="0" dirty="0" err="1"/>
                  <a:t>otprilike</a:t>
                </a:r>
                <a:r>
                  <a:rPr lang="en-US" sz="2000" b="0" dirty="0"/>
                  <a:t> 0.68.</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2000" b="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2000" b="0" dirty="0" err="1"/>
                  <a:t>Očigledno</a:t>
                </a:r>
                <a:r>
                  <a:rPr lang="en-US" sz="2000" b="0" dirty="0"/>
                  <a:t> </a:t>
                </a:r>
                <a:r>
                  <a:rPr lang="en-US" sz="2000" b="0" dirty="0" err="1"/>
                  <a:t>je</a:t>
                </a:r>
                <a:r>
                  <a:rPr lang="en-US" sz="2000" b="0" dirty="0"/>
                  <a:t> da </a:t>
                </a:r>
                <a:r>
                  <a:rPr lang="en-US" sz="2000" b="0" dirty="0" err="1"/>
                  <a:t>ovakvoOkodiranje</a:t>
                </a:r>
                <a:r>
                  <a:rPr lang="en-US" sz="2000" b="0" dirty="0"/>
                  <a:t> </a:t>
                </a:r>
                <a:r>
                  <a:rPr lang="en-US" sz="2000" b="0" dirty="0" err="1"/>
                  <a:t>zahteva</a:t>
                </a:r>
                <a:r>
                  <a:rPr lang="en-US" sz="2000" b="0" dirty="0"/>
                  <a:t> </a:t>
                </a:r>
                <a:r>
                  <a:rPr lang="en-US" sz="2000" b="0" dirty="0" err="1"/>
                  <a:t>veliki</a:t>
                </a:r>
                <a:r>
                  <a:rPr lang="en-US" sz="2000" b="0" dirty="0"/>
                  <a:t> </a:t>
                </a:r>
                <a:r>
                  <a:rPr lang="en-US" sz="2000" b="0" dirty="0" err="1"/>
                  <a:t>broj</a:t>
                </a:r>
                <a:r>
                  <a:rPr lang="en-US" sz="2000" b="0" dirty="0"/>
                  <a:t> </a:t>
                </a:r>
                <a:r>
                  <a:rPr lang="en-US" sz="2000" b="0" dirty="0" err="1"/>
                  <a:t>kubita</a:t>
                </a:r>
                <a:r>
                  <a:rPr lang="en-US" sz="2000" b="0" dirty="0"/>
                  <a:t> pa se ne </a:t>
                </a:r>
                <a:r>
                  <a:rPr lang="en-US" sz="2000" b="0" dirty="0" err="1"/>
                  <a:t>koristi</a:t>
                </a:r>
                <a:r>
                  <a:rPr lang="en-US" sz="2000" b="0" dirty="0"/>
                  <a:t> </a:t>
                </a:r>
                <a:r>
                  <a:rPr lang="en-US" sz="2000" b="0" dirty="0" err="1"/>
                  <a:t>često</a:t>
                </a:r>
                <a:r>
                  <a:rPr lang="en-US" sz="2000" b="0" dirty="0"/>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a:t>
            </a:fld>
            <a:endParaRPr lang="en-US"/>
          </a:p>
        </p:txBody>
      </p:sp>
    </p:spTree>
    <p:extLst>
      <p:ext uri="{BB962C8B-B14F-4D97-AF65-F5344CB8AC3E}">
        <p14:creationId xmlns:p14="http://schemas.microsoft.com/office/powerpoint/2010/main" val="24518091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dirty="0"/>
                  <a:t>If the data is given as a vector of numbers, another approach is amplitude encoding. Here, the components of the vector are encoded into the probability amplitudes of a quantum state.</a:t>
                </a:r>
              </a:p>
              <a:p>
                <a:endParaRPr lang="en-ZA" b="0" dirty="0"/>
              </a:p>
              <a:p>
                <a:pPr marL="171450" indent="-171450">
                  <a:buFont typeface="Arial" panose="020B0604020202020204" pitchFamily="34" charset="0"/>
                  <a:buChar char="•"/>
                </a:pPr>
                <a:r>
                  <a:rPr lang="en-ZA" b="0" dirty="0"/>
                  <a:t>Real-valued data are first normalized using the Euclidean norm, which is the square root of the sum of the squares of all vector components. </a:t>
                </a:r>
              </a:p>
              <a:p>
                <a:pPr marL="171450" indent="-171450">
                  <a:buFont typeface="Arial" panose="020B0604020202020204" pitchFamily="34" charset="0"/>
                  <a:buChar char="•"/>
                </a:pPr>
                <a:r>
                  <a:rPr lang="en-ZA" b="0" dirty="0"/>
                  <a:t>The normalized values are then used directly as the probability amplitudes of the quantum state. </a:t>
                </a:r>
              </a:p>
              <a:p>
                <a:pPr marL="171450" indent="-171450">
                  <a:buFont typeface="Arial" panose="020B0604020202020204" pitchFamily="34" charset="0"/>
                  <a:buChar char="•"/>
                </a:pPr>
                <a:r>
                  <a:rPr lang="en-ZA" b="0" dirty="0"/>
                  <a:t>Amplitude encoding is very efficient in terms of qubit usage, but preparing the required quantum state can be technically challenging and resource-intensive.</a:t>
                </a:r>
              </a:p>
              <a:p>
                <a:pPr algn="just"/>
                <a:endParaRPr lang="en-ZA" b="0" dirty="0"/>
              </a:p>
              <a:p>
                <a:pPr algn="just"/>
                <a:r>
                  <a:rPr lang="en-ZA" dirty="0"/>
                  <a:t>If the original vector has dimension</a:t>
                </a:r>
                <a:r>
                  <a:rPr lang="en-ZA" b="0" dirty="0"/>
                  <a:t> </a:t>
                </a:r>
                <a14:m>
                  <m:oMath xmlns:m="http://schemas.openxmlformats.org/officeDocument/2006/math">
                    <m:r>
                      <a:rPr lang="en-US" sz="1200" b="0" i="1" smtClean="0">
                        <a:latin typeface="Cambria Math" panose="02040503050406030204" pitchFamily="18" charset="0"/>
                      </a:rPr>
                      <m:t>𝑛</m:t>
                    </m:r>
                  </m:oMath>
                </a14:m>
                <a:r>
                  <a:rPr lang="en-ZA" b="0" dirty="0"/>
                  <a:t>, </a:t>
                </a:r>
                <a:r>
                  <a:rPr lang="en-ZA" dirty="0"/>
                  <a:t>the number of qubits required is </a:t>
                </a:r>
                <a14:m>
                  <m:oMath xmlns:m="http://schemas.openxmlformats.org/officeDocument/2006/math">
                    <m:r>
                      <m:rPr>
                        <m:brk m:alnAt="7"/>
                      </m:rPr>
                      <a:rPr lang="en-US" sz="1200" i="1" smtClean="0">
                        <a:latin typeface="Cambria Math" panose="02040503050406030204" pitchFamily="18" charset="0"/>
                        <a:ea typeface="Cambria Math" panose="02040503050406030204" pitchFamily="18" charset="0"/>
                      </a:rPr>
                      <m:t>𝑞</m:t>
                    </m:r>
                    <m:r>
                      <a:rPr lang="en-US" sz="1200" b="0" i="0" smtClean="0">
                        <a:latin typeface="Cambria Math" panose="02040503050406030204" pitchFamily="18" charset="0"/>
                        <a:ea typeface="Cambria Math" panose="02040503050406030204" pitchFamily="18" charset="0"/>
                      </a:rPr>
                      <m:t>=</m:t>
                    </m:r>
                    <m:d>
                      <m:dPr>
                        <m:begChr m:val="⌈"/>
                        <m:endChr m:val="⌉"/>
                        <m:ctrlPr>
                          <a:rPr lang="en-ZA" sz="1200" i="1" dirty="0">
                            <a:latin typeface="Cambria Math" panose="02040503050406030204" pitchFamily="18" charset="0"/>
                          </a:rPr>
                        </m:ctrlPr>
                      </m:dPr>
                      <m:e>
                        <m:func>
                          <m:funcPr>
                            <m:ctrlPr>
                              <a:rPr lang="en-ZA" sz="1200" i="1" dirty="0">
                                <a:latin typeface="Cambria Math" panose="02040503050406030204" pitchFamily="18" charset="0"/>
                              </a:rPr>
                            </m:ctrlPr>
                          </m:funcPr>
                          <m:fName>
                            <m:sSub>
                              <m:sSubPr>
                                <m:ctrlPr>
                                  <a:rPr lang="en-ZA" sz="1200" i="1" dirty="0">
                                    <a:latin typeface="Cambria Math" panose="02040503050406030204" pitchFamily="18" charset="0"/>
                                  </a:rPr>
                                </m:ctrlPr>
                              </m:sSubPr>
                              <m:e>
                                <m:r>
                                  <m:rPr>
                                    <m:sty m:val="p"/>
                                  </m:rPr>
                                  <a:rPr lang="en-ZA" sz="1200" dirty="0">
                                    <a:latin typeface="Cambria Math" panose="02040503050406030204" pitchFamily="18" charset="0"/>
                                  </a:rPr>
                                  <m:t>log</m:t>
                                </m:r>
                              </m:e>
                              <m:sub>
                                <m:r>
                                  <a:rPr lang="en-US" sz="1200" i="1" dirty="0">
                                    <a:latin typeface="Cambria Math" panose="02040503050406030204" pitchFamily="18" charset="0"/>
                                  </a:rPr>
                                  <m:t>2</m:t>
                                </m:r>
                              </m:sub>
                            </m:sSub>
                          </m:fName>
                          <m:e>
                            <m:r>
                              <a:rPr lang="en-US" sz="1200" i="1" dirty="0">
                                <a:latin typeface="Cambria Math" panose="02040503050406030204" pitchFamily="18" charset="0"/>
                              </a:rPr>
                              <m:t>𝑛</m:t>
                            </m:r>
                          </m:e>
                        </m:func>
                      </m:e>
                    </m:d>
                  </m:oMath>
                </a14:m>
                <a:r>
                  <a:rPr lang="en-US" sz="1200" b="0" i="0" dirty="0">
                    <a:latin typeface="Cambria Math" panose="02040503050406030204" pitchFamily="18" charset="0"/>
                    <a:ea typeface="Cambria Math" panose="02040503050406030204" pitchFamily="18" charset="0"/>
                  </a:rPr>
                  <a:t> </a:t>
                </a:r>
                <a:r>
                  <a:rPr lang="en-ZA" dirty="0"/>
                  <a:t>since </a:t>
                </a:r>
                <a14:m>
                  <m:oMath xmlns:m="http://schemas.openxmlformats.org/officeDocument/2006/math">
                    <m:r>
                      <m:rPr>
                        <m:brk m:alnAt="7"/>
                      </m:rPr>
                      <a:rPr lang="en-US" sz="1200" i="1" smtClean="0">
                        <a:latin typeface="Cambria Math" panose="02040503050406030204" pitchFamily="18" charset="0"/>
                        <a:ea typeface="Cambria Math" panose="02040503050406030204" pitchFamily="18" charset="0"/>
                      </a:rPr>
                      <m:t>𝑞</m:t>
                    </m:r>
                  </m:oMath>
                </a14:m>
                <a:r>
                  <a:rPr lang="en-ZA" dirty="0"/>
                  <a:t> qubits provide </a:t>
                </a:r>
                <a14:m>
                  <m:oMath xmlns:m="http://schemas.openxmlformats.org/officeDocument/2006/math">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2</m:t>
                        </m:r>
                      </m:e>
                      <m:sup>
                        <m:r>
                          <a:rPr lang="en-US" sz="1200" b="0" i="1" smtClean="0">
                            <a:latin typeface="Cambria Math" panose="02040503050406030204" pitchFamily="18" charset="0"/>
                            <a:ea typeface="Cambria Math" panose="02040503050406030204" pitchFamily="18" charset="0"/>
                          </a:rPr>
                          <m:t>𝑞</m:t>
                        </m:r>
                      </m:sup>
                    </m:sSup>
                  </m:oMath>
                </a14:m>
                <a:r>
                  <a:rPr lang="en-ZA" dirty="0"/>
                  <a:t> computational basis states. If n is smaller than </a:t>
                </a:r>
                <a14:m>
                  <m:oMath xmlns:m="http://schemas.openxmlformats.org/officeDocument/2006/math">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2</m:t>
                        </m:r>
                      </m:e>
                      <m:sup>
                        <m:r>
                          <a:rPr lang="en-US" sz="1200" b="0" i="1" smtClean="0">
                            <a:latin typeface="Cambria Math" panose="02040503050406030204" pitchFamily="18" charset="0"/>
                            <a:ea typeface="Cambria Math" panose="02040503050406030204" pitchFamily="18" charset="0"/>
                          </a:rPr>
                          <m:t>𝑞</m:t>
                        </m:r>
                      </m:sup>
                    </m:sSup>
                  </m:oMath>
                </a14:m>
                <a:r>
                  <a:rPr lang="en-ZA" dirty="0"/>
                  <a:t>, the remaining amplitudes are set to zero, which is known </a:t>
                </a:r>
                <a:r>
                  <a:rPr lang="en-ZA" b="0" dirty="0"/>
                  <a:t>as zero-padding.</a:t>
                </a:r>
                <a:endParaRPr lang="en-US" sz="1200" b="0" i="0" dirty="0">
                  <a:latin typeface="Cambria Math" panose="02040503050406030204" pitchFamily="18" charset="0"/>
                  <a:ea typeface="Cambria Math" panose="02040503050406030204" pitchFamily="18" charset="0"/>
                </a:endParaRPr>
              </a:p>
            </p:txBody>
          </p:sp>
        </mc:Choice>
        <mc:Fallback xmlns="">
          <p:sp>
            <p:nvSpPr>
              <p:cNvPr id="3" name="Notes Placeholder 2"/>
              <p:cNvSpPr>
                <a:spLocks noGrp="1"/>
              </p:cNvSpPr>
              <p:nvPr>
                <p:ph type="body" idx="1"/>
              </p:nvPr>
            </p:nvSpPr>
            <p:spPr/>
            <p:txBody>
              <a:bodyPr/>
              <a:lstStyle/>
              <a:p>
                <a:pPr algn="just"/>
                <a:r>
                  <a:rPr lang="en-ZA" b="0" dirty="0"/>
                  <a:t>Another method of encoding data is amplitude encoding, where information is stored in the probability amplitudes of quantum states.</a:t>
                </a:r>
              </a:p>
              <a:p>
                <a:pPr algn="just"/>
                <a:endParaRPr lang="en-ZA" b="0" dirty="0"/>
              </a:p>
              <a:p>
                <a:pPr marL="171450" indent="-171450" algn="just">
                  <a:buFont typeface="Arial" panose="020B0604020202020204" pitchFamily="34" charset="0"/>
                  <a:buChar char="•"/>
                </a:pPr>
                <a:r>
                  <a:rPr lang="en-ZA" b="0" dirty="0"/>
                  <a:t>Real-valued data are first normalized using the Euclidean norm (the square root of the sum of squares of all vector components).</a:t>
                </a:r>
              </a:p>
              <a:p>
                <a:pPr marL="171450" indent="-171450" algn="just">
                  <a:buFont typeface="Arial" panose="020B0604020202020204" pitchFamily="34" charset="0"/>
                  <a:buChar char="•"/>
                </a:pPr>
                <a:r>
                  <a:rPr lang="en-ZA" b="0" dirty="0"/>
                  <a:t>The normalized values are then used directly as the amplitudes of the quantum state.</a:t>
                </a:r>
              </a:p>
              <a:p>
                <a:pPr marL="171450" indent="-171450" algn="just">
                  <a:buFont typeface="Arial" panose="020B0604020202020204" pitchFamily="34" charset="0"/>
                  <a:buChar char="•"/>
                </a:pPr>
                <a:r>
                  <a:rPr lang="en-ZA" b="0" dirty="0"/>
                  <a:t>While amplitude encoding is very efficient in qubit usage, preparing the required quantum state can be technically challenging and resource-intensive.</a:t>
                </a:r>
              </a:p>
              <a:p>
                <a:pPr algn="just"/>
                <a:endParaRPr lang="en-ZA" b="0" dirty="0"/>
              </a:p>
              <a:p>
                <a:pPr algn="just"/>
                <a:r>
                  <a:rPr lang="en-ZA" b="0" dirty="0"/>
                  <a:t>If the original feature vector has dimension </a:t>
                </a:r>
                <a:r>
                  <a:rPr lang="en-US" sz="1200" b="0" i="0">
                    <a:latin typeface="Cambria Math" panose="02040503050406030204" pitchFamily="18" charset="0"/>
                  </a:rPr>
                  <a:t>𝑛</a:t>
                </a:r>
                <a:r>
                  <a:rPr lang="en-ZA" b="0" dirty="0"/>
                  <a:t>, then the number of qubits needed is </a:t>
                </a:r>
                <a:r>
                  <a:rPr lang="en-US" sz="1200" i="0">
                    <a:latin typeface="Cambria Math" panose="02040503050406030204" pitchFamily="18" charset="0"/>
                    <a:ea typeface="Cambria Math" panose="02040503050406030204" pitchFamily="18" charset="0"/>
                  </a:rPr>
                  <a:t>𝑞</a:t>
                </a:r>
                <a:r>
                  <a:rPr lang="en-ZA" sz="1200" i="0" dirty="0">
                    <a:latin typeface="Cambria Math" panose="02040503050406030204" pitchFamily="18" charset="0"/>
                  </a:rPr>
                  <a:t>≥⌈log_</a:t>
                </a:r>
                <a:r>
                  <a:rPr lang="en-US" sz="1200" b="0" i="0" dirty="0">
                    <a:latin typeface="Cambria Math" panose="02040503050406030204" pitchFamily="18" charset="0"/>
                  </a:rPr>
                  <a:t>2</a:t>
                </a:r>
                <a:r>
                  <a:rPr lang="en-ZA" sz="1200" b="0" i="0" dirty="0">
                    <a:latin typeface="Cambria Math" panose="02040503050406030204" pitchFamily="18" charset="0"/>
                  </a:rPr>
                  <a:t>⁡</a:t>
                </a:r>
                <a:r>
                  <a:rPr lang="en-US" sz="1200" b="0" i="0" dirty="0">
                    <a:latin typeface="Cambria Math" panose="02040503050406030204" pitchFamily="18" charset="0"/>
                  </a:rPr>
                  <a:t>𝑛 ⌉</a:t>
                </a:r>
                <a:r>
                  <a:rPr lang="en-ZA" b="0" dirty="0"/>
                  <a:t> since an </a:t>
                </a:r>
                <a:r>
                  <a:rPr lang="en-US" sz="1200" b="0" i="0">
                    <a:latin typeface="Cambria Math" panose="02040503050406030204" pitchFamily="18" charset="0"/>
                  </a:rPr>
                  <a:t>𝑛</a:t>
                </a:r>
                <a:r>
                  <a:rPr lang="en-ZA" b="0" dirty="0"/>
                  <a:t>-dimensional vector must fit into a Hilbert space of dimension </a:t>
                </a:r>
                <a:r>
                  <a:rPr lang="en-US" sz="1200" b="0" i="0">
                    <a:latin typeface="Cambria Math" panose="02040503050406030204" pitchFamily="18" charset="0"/>
                  </a:rPr>
                  <a:t>2^𝑞</a:t>
                </a:r>
                <a:r>
                  <a:rPr lang="en-ZA" b="0" dirty="0"/>
                  <a:t>. If </a:t>
                </a:r>
                <a:r>
                  <a:rPr lang="en-ZA" dirty="0"/>
                  <a:t>the </a:t>
                </a:r>
                <a:r>
                  <a:rPr lang="en-ZA" dirty="0" err="1"/>
                  <a:t>orifinal</a:t>
                </a:r>
                <a:r>
                  <a:rPr lang="en-ZA" dirty="0"/>
                  <a:t> vector has fewer components then zero-padding is needed.</a:t>
                </a:r>
                <a:endParaRPr lang="en-ZA" b="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5</a:t>
            </a:fld>
            <a:endParaRPr lang="en-US"/>
          </a:p>
        </p:txBody>
      </p:sp>
    </p:spTree>
    <p:extLst>
      <p:ext uri="{BB962C8B-B14F-4D97-AF65-F5344CB8AC3E}">
        <p14:creationId xmlns:p14="http://schemas.microsoft.com/office/powerpoint/2010/main" val="38616787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b="0" dirty="0"/>
              <a:t>The example shows a vector of four real numbers that we want to encode into the probability amplitudes of a quantum state.</a:t>
            </a:r>
          </a:p>
          <a:p>
            <a:endParaRPr lang="en-ZA" dirty="0"/>
          </a:p>
          <a:p>
            <a:pPr marL="228600" indent="-228600">
              <a:buFont typeface="+mj-lt"/>
              <a:buAutoNum type="arabicPeriod"/>
            </a:pPr>
            <a:r>
              <a:rPr lang="en-ZA" b="0" dirty="0"/>
              <a:t>Since the sum of the squares of the amplitudes must equal 1, the first step is to calculate the Euclidean norm of the data vector. </a:t>
            </a:r>
          </a:p>
          <a:p>
            <a:pPr marL="228600" indent="-228600">
              <a:buFont typeface="+mj-lt"/>
              <a:buAutoNum type="arabicPeriod"/>
            </a:pPr>
            <a:endParaRPr lang="en-ZA" b="0" dirty="0"/>
          </a:p>
          <a:p>
            <a:pPr marL="228600" indent="-228600">
              <a:buFont typeface="+mj-lt"/>
              <a:buAutoNum type="arabicPeriod"/>
            </a:pPr>
            <a:r>
              <a:rPr lang="en-ZA" b="0" dirty="0"/>
              <a:t>Each data value is then normalized by dividing it by this norm. </a:t>
            </a:r>
          </a:p>
          <a:p>
            <a:pPr marL="228600" indent="-228600">
              <a:buFont typeface="+mj-lt"/>
              <a:buAutoNum type="arabicPeriod"/>
            </a:pPr>
            <a:endParaRPr lang="en-ZA" b="0" dirty="0"/>
          </a:p>
          <a:p>
            <a:pPr marL="228600" indent="-228600">
              <a:buFont typeface="+mj-lt"/>
              <a:buAutoNum type="arabicPeriod"/>
            </a:pPr>
            <a:r>
              <a:rPr lang="en-ZA" b="0" dirty="0"/>
              <a:t>Finally, the normalized values are used as the amplitudes of the quantum state, while the computational basis states serve as indices for the components of the data vector.</a:t>
            </a:r>
          </a:p>
        </p:txBody>
      </p:sp>
      <p:sp>
        <p:nvSpPr>
          <p:cNvPr id="4" name="Slide Number Placeholder 3"/>
          <p:cNvSpPr>
            <a:spLocks noGrp="1"/>
          </p:cNvSpPr>
          <p:nvPr>
            <p:ph type="sldNum" sz="quarter" idx="5"/>
          </p:nvPr>
        </p:nvSpPr>
        <p:spPr/>
        <p:txBody>
          <a:bodyPr/>
          <a:lstStyle/>
          <a:p>
            <a:fld id="{1B2CE5E3-B8BD-D040-AC87-D640191DD8F1}" type="slidenum">
              <a:rPr lang="en-US" smtClean="0"/>
              <a:t>6</a:t>
            </a:fld>
            <a:endParaRPr lang="en-US"/>
          </a:p>
        </p:txBody>
      </p:sp>
    </p:spTree>
    <p:extLst>
      <p:ext uri="{BB962C8B-B14F-4D97-AF65-F5344CB8AC3E}">
        <p14:creationId xmlns:p14="http://schemas.microsoft.com/office/powerpoint/2010/main" val="22055437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In this example, the calculated amplitudes are passed as arguments to </a:t>
            </a:r>
            <a:r>
              <a:rPr lang="en-ZA" dirty="0" err="1"/>
              <a:t>Qiskit’s</a:t>
            </a:r>
            <a:r>
              <a:rPr lang="en-ZA" dirty="0"/>
              <a:t> initialize method, which prepares the qubits in the required quantum state. </a:t>
            </a:r>
          </a:p>
          <a:p>
            <a:pPr algn="just"/>
            <a:endParaRPr lang="en-ZA" dirty="0"/>
          </a:p>
          <a:p>
            <a:pPr algn="just"/>
            <a:r>
              <a:rPr lang="en-ZA" dirty="0"/>
              <a:t>For small cases, this is straightforward, but as the number of qubits increases, state preparation becomes more complex. The reason is that the required transformation must be decomposed into standard quantum gates, with the appropriate parameters determined for each gate.</a:t>
            </a:r>
            <a:endParaRPr lang="en-US" dirty="0">
              <a:solidFill>
                <a:schemeClr val="tx1"/>
              </a:solidFill>
            </a:endParaRPr>
          </a:p>
        </p:txBody>
      </p:sp>
      <p:sp>
        <p:nvSpPr>
          <p:cNvPr id="4" name="Slide Number Placeholder 3"/>
          <p:cNvSpPr>
            <a:spLocks noGrp="1"/>
          </p:cNvSpPr>
          <p:nvPr>
            <p:ph type="sldNum" sz="quarter" idx="5"/>
          </p:nvPr>
        </p:nvSpPr>
        <p:spPr/>
        <p:txBody>
          <a:bodyPr/>
          <a:lstStyle/>
          <a:p>
            <a:fld id="{1B2CE5E3-B8BD-D040-AC87-D640191DD8F1}" type="slidenum">
              <a:rPr lang="en-US" smtClean="0"/>
              <a:t>7</a:t>
            </a:fld>
            <a:endParaRPr lang="en-US"/>
          </a:p>
        </p:txBody>
      </p:sp>
    </p:spTree>
    <p:extLst>
      <p:ext uri="{BB962C8B-B14F-4D97-AF65-F5344CB8AC3E}">
        <p14:creationId xmlns:p14="http://schemas.microsoft.com/office/powerpoint/2010/main" val="5351116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Angle encoding is a way of loading classical data into qubits by using the data values to determine rotation angles.</a:t>
                </a:r>
              </a:p>
              <a:p>
                <a:pPr algn="just"/>
                <a:endParaRPr lang="en-ZA" b="0" dirty="0"/>
              </a:p>
              <a:p>
                <a:pPr marL="228600" indent="-228600" algn="just">
                  <a:buFont typeface="+mj-lt"/>
                  <a:buAutoNum type="arabicPeriod"/>
                </a:pPr>
                <a:r>
                  <a:rPr lang="en-ZA" b="0" dirty="0"/>
                  <a:t>Each component of a classical data vector is first scaled to a suitable range and then used to set the rotation angle of a corresponding qubit, for example using RX​, RY​, or RZ​ gates.</a:t>
                </a:r>
              </a:p>
              <a:p>
                <a:pPr marL="228600" indent="-228600" algn="just">
                  <a:buFont typeface="+mj-lt"/>
                  <a:buAutoNum type="arabicPeriod"/>
                </a:pPr>
                <a:r>
                  <a:rPr lang="en-ZA" b="0" dirty="0"/>
                  <a:t>If the vector has n components, the straightforward approach typically requires n qubits, one for each data value.</a:t>
                </a:r>
              </a:p>
              <a:p>
                <a:pPr marL="228600" indent="-228600" algn="just">
                  <a:buFont typeface="+mj-lt"/>
                  <a:buAutoNum type="arabicPeriod"/>
                </a:pPr>
                <a:r>
                  <a:rPr lang="en-ZA" b="0" dirty="0"/>
                  <a:t>In practice, fewer qubits can be used through data re-uploading, where the same qubits are used to encode multiple data values through successive rotations.</a:t>
                </a:r>
              </a:p>
              <a:p>
                <a:pPr marL="228600" indent="-228600" algn="just">
                  <a:buFont typeface="+mj-lt"/>
                  <a:buAutoNum type="arabicPeriod"/>
                </a:pPr>
                <a:endParaRPr lang="en-ZA" b="0" dirty="0"/>
              </a:p>
              <a:p>
                <a:pPr algn="just"/>
                <a:r>
                  <a:rPr lang="en-ZA" dirty="0"/>
                  <a:t>For example, for a two-dimensional vector, we can use two qubits and apply one rotation to each. Here, RY​ rotations are used because they create a superposition with real probability amplitudes when starting from ∣0⟩. This makes RY​ rotations a natural choice for encoding real-valued data. The amplitudes therefore remain real, which makes RY​ rotations a natural choice for encoding real-valued data.</a:t>
                </a:r>
              </a:p>
              <a:p>
                <a:pPr algn="just"/>
                <a:endParaRPr lang="en-ZA" dirty="0"/>
              </a:p>
              <a:p>
                <a:pPr algn="just"/>
                <a:r>
                  <a:rPr lang="en-ZA" dirty="0"/>
                  <a:t>Since each data value is encoded into an individual qubit, the complete encoded state is obtained as the tensor product of the individual qubit states.</a:t>
                </a:r>
              </a:p>
              <a:p>
                <a:pPr marL="0" indent="0" algn="just">
                  <a:buFont typeface="+mj-lt"/>
                  <a:buNone/>
                </a:pPr>
                <a:endParaRPr lang="en-ZA" b="0"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t>Najčešće</a:t>
                </a:r>
                <a:r>
                  <a:rPr lang="en-US" sz="2000" dirty="0"/>
                  <a:t> </a:t>
                </a:r>
                <a:r>
                  <a:rPr lang="en-US" sz="2000" dirty="0" err="1"/>
                  <a:t>korišćeni</a:t>
                </a:r>
                <a:r>
                  <a:rPr lang="en-US" sz="2000" dirty="0"/>
                  <a:t> </a:t>
                </a:r>
                <a:r>
                  <a:rPr lang="en-US" sz="2000" dirty="0" err="1"/>
                  <a:t>metod</a:t>
                </a:r>
                <a:r>
                  <a:rPr lang="en-US" sz="2000" dirty="0"/>
                  <a:t> </a:t>
                </a:r>
                <a:r>
                  <a:rPr lang="en-US" sz="2000" dirty="0" err="1"/>
                  <a:t>kodiranja</a:t>
                </a:r>
                <a:r>
                  <a:rPr lang="en-US" sz="2000" dirty="0"/>
                  <a:t> </a:t>
                </a:r>
                <a:r>
                  <a:rPr lang="en-US" sz="2000" dirty="0" err="1"/>
                  <a:t>je</a:t>
                </a:r>
                <a:r>
                  <a:rPr lang="en-US" sz="2000" dirty="0"/>
                  <a:t> </a:t>
                </a:r>
                <a:r>
                  <a:rPr lang="en-US" sz="2000" dirty="0" err="1"/>
                  <a:t>kodiranje</a:t>
                </a:r>
                <a:r>
                  <a:rPr lang="en-US" sz="2000" dirty="0"/>
                  <a:t> </a:t>
                </a:r>
                <a:r>
                  <a:rPr lang="en-US" sz="2000" dirty="0" err="1"/>
                  <a:t>podataka</a:t>
                </a:r>
                <a:r>
                  <a:rPr lang="en-US" sz="2000" dirty="0"/>
                  <a:t> u </a:t>
                </a:r>
                <a:r>
                  <a:rPr lang="en-US" sz="2000" dirty="0" err="1"/>
                  <a:t>uglove</a:t>
                </a:r>
                <a:r>
                  <a:rPr lang="en-US" sz="2000" dirty="0"/>
                  <a:t> </a:t>
                </a:r>
                <a:r>
                  <a:rPr lang="en-US" sz="2000" dirty="0" err="1"/>
                  <a:t>rotacije</a:t>
                </a:r>
                <a:r>
                  <a:rPr lang="en-US" sz="2000" dirty="0"/>
                  <a:t>. U </a:t>
                </a:r>
                <a:r>
                  <a:rPr lang="en-US" sz="2000" dirty="0" err="1"/>
                  <a:t>ovom</a:t>
                </a:r>
                <a:r>
                  <a:rPr lang="en-US" sz="2000" dirty="0"/>
                  <a:t> </a:t>
                </a:r>
                <a:r>
                  <a:rPr lang="en-US" sz="2000" dirty="0" err="1"/>
                  <a:t>slučaju</a:t>
                </a:r>
                <a:r>
                  <a:rPr lang="en-US" sz="2000" dirty="0"/>
                  <a:t> se N-</a:t>
                </a:r>
                <a:r>
                  <a:rPr lang="en-US" sz="2000" dirty="0" err="1"/>
                  <a:t>dimenzionalni</a:t>
                </a:r>
                <a:r>
                  <a:rPr lang="en-US" sz="2000" dirty="0"/>
                  <a:t> </a:t>
                </a:r>
                <a:r>
                  <a:rPr lang="en-US" sz="2000" dirty="0" err="1"/>
                  <a:t>vektori</a:t>
                </a:r>
                <a:r>
                  <a:rPr lang="en-US" sz="2000" dirty="0"/>
                  <a:t> </a:t>
                </a:r>
                <a:r>
                  <a:rPr lang="en-US" sz="2000" dirty="0" err="1"/>
                  <a:t>atributa</a:t>
                </a:r>
                <a:r>
                  <a:rPr lang="en-US" sz="2000" dirty="0"/>
                  <a:t> </a:t>
                </a:r>
                <a:r>
                  <a:rPr lang="en-US" sz="2000" dirty="0" err="1"/>
                  <a:t>kodiraju</a:t>
                </a:r>
                <a:r>
                  <a:rPr lang="en-US" sz="2000" dirty="0"/>
                  <a:t> u </a:t>
                </a:r>
                <a:r>
                  <a:rPr lang="en-US" sz="2000" dirty="0" err="1"/>
                  <a:t>isti</a:t>
                </a:r>
                <a:r>
                  <a:rPr lang="en-US" sz="2000" dirty="0"/>
                  <a:t> </a:t>
                </a:r>
                <a:r>
                  <a:rPr lang="en-US" sz="2000" dirty="0" err="1"/>
                  <a:t>broj</a:t>
                </a:r>
                <a:r>
                  <a:rPr lang="en-US" sz="2000" dirty="0"/>
                  <a:t> </a:t>
                </a:r>
                <a:r>
                  <a:rPr lang="en-US" sz="2000" dirty="0" err="1"/>
                  <a:t>kubita</a:t>
                </a:r>
                <a:r>
                  <a:rPr lang="en-US" sz="200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err="1"/>
                  <a:t>Neka</a:t>
                </a:r>
                <a:r>
                  <a:rPr lang="en-US" sz="2000" dirty="0"/>
                  <a:t> </a:t>
                </a:r>
                <a:r>
                  <a:rPr lang="en-US" sz="2000" dirty="0" err="1"/>
                  <a:t>je</a:t>
                </a:r>
                <a:r>
                  <a:rPr lang="en-US" sz="2000" dirty="0"/>
                  <a:t> </a:t>
                </a:r>
                <a:r>
                  <a:rPr lang="en-US" sz="2000" dirty="0" err="1"/>
                  <a:t>na</a:t>
                </a:r>
                <a:r>
                  <a:rPr lang="en-US" sz="2000" dirty="0"/>
                  <a:t> primer </a:t>
                </a:r>
                <a:r>
                  <a:rPr lang="en-US" sz="2000" dirty="0" err="1"/>
                  <a:t>dat</a:t>
                </a:r>
                <a:r>
                  <a:rPr lang="en-US" sz="2000" dirty="0"/>
                  <a:t> </a:t>
                </a:r>
                <a:r>
                  <a:rPr lang="en-US" sz="2000" dirty="0" err="1"/>
                  <a:t>dvodimenzionalni</a:t>
                </a:r>
                <a:r>
                  <a:rPr lang="en-US" sz="2000" dirty="0"/>
                  <a:t> </a:t>
                </a:r>
                <a:r>
                  <a:rPr lang="en-US" sz="2000" dirty="0" err="1"/>
                  <a:t>atribut</a:t>
                </a:r>
                <a:r>
                  <a:rPr lang="en-US" sz="2000" dirty="0"/>
                  <a:t> 𝑥, </a:t>
                </a:r>
                <a:r>
                  <a:rPr lang="en-US" sz="2000" dirty="0" err="1"/>
                  <a:t>što</a:t>
                </a:r>
                <a:r>
                  <a:rPr lang="en-US" sz="2000" dirty="0"/>
                  <a:t> </a:t>
                </a:r>
                <a:r>
                  <a:rPr lang="en-US" sz="2000" dirty="0" err="1"/>
                  <a:t>znači</a:t>
                </a:r>
                <a:r>
                  <a:rPr lang="en-US" sz="2000" dirty="0"/>
                  <a:t> da </a:t>
                </a:r>
                <a:r>
                  <a:rPr lang="en-US" sz="2000" dirty="0" err="1"/>
                  <a:t>će</a:t>
                </a:r>
                <a:r>
                  <a:rPr lang="en-US" sz="2000" dirty="0"/>
                  <a:t> u </a:t>
                </a:r>
                <a:r>
                  <a:rPr lang="en-US" sz="2000" dirty="0" err="1"/>
                  <a:t>svrhu</a:t>
                </a:r>
                <a:r>
                  <a:rPr lang="en-US" sz="2000" dirty="0"/>
                  <a:t> </a:t>
                </a:r>
                <a:r>
                  <a:rPr lang="en-US" sz="2000" dirty="0" err="1"/>
                  <a:t>kodiranja</a:t>
                </a:r>
                <a:r>
                  <a:rPr lang="en-US" sz="2000" dirty="0"/>
                  <a:t> </a:t>
                </a:r>
                <a:r>
                  <a:rPr lang="en-US" sz="2000" dirty="0" err="1"/>
                  <a:t>biti</a:t>
                </a:r>
                <a:r>
                  <a:rPr lang="en-US" sz="2000" dirty="0"/>
                  <a:t> </a:t>
                </a:r>
                <a:r>
                  <a:rPr lang="en-US" sz="2000" dirty="0" err="1"/>
                  <a:t>potreban</a:t>
                </a:r>
                <a:r>
                  <a:rPr lang="en-US" sz="2000" dirty="0"/>
                  <a:t> </a:t>
                </a:r>
                <a:r>
                  <a:rPr lang="en-US" sz="2000" dirty="0" err="1"/>
                  <a:t>registar</a:t>
                </a:r>
                <a:r>
                  <a:rPr lang="en-US" sz="2000" dirty="0"/>
                  <a:t> </a:t>
                </a:r>
                <a:r>
                  <a:rPr lang="en-US" sz="2000" dirty="0" err="1"/>
                  <a:t>sa</a:t>
                </a:r>
                <a:r>
                  <a:rPr lang="en-US" sz="2000" dirty="0"/>
                  <a:t> </a:t>
                </a:r>
                <a:r>
                  <a:rPr lang="en-US" sz="2000" dirty="0" err="1"/>
                  <a:t>dva</a:t>
                </a:r>
                <a:r>
                  <a:rPr lang="en-US" sz="2000" dirty="0"/>
                  <a:t> </a:t>
                </a:r>
                <a:r>
                  <a:rPr lang="en-US" sz="2000" dirty="0" err="1"/>
                  <a:t>kubita</a:t>
                </a:r>
                <a:r>
                  <a:rPr lang="en-US" sz="2000" dirty="0"/>
                  <a:t>.</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err="1"/>
                  <a:t>Atribut</a:t>
                </a:r>
                <a:r>
                  <a:rPr lang="en-US" sz="2000" dirty="0"/>
                  <a:t> 𝑥 se </a:t>
                </a:r>
                <a:r>
                  <a:rPr lang="en-US" sz="2000" dirty="0" err="1"/>
                  <a:t>sada</a:t>
                </a:r>
                <a:r>
                  <a:rPr lang="en-US" sz="2000" dirty="0"/>
                  <a:t> </a:t>
                </a:r>
                <a:r>
                  <a:rPr lang="en-US" sz="2000" dirty="0" err="1"/>
                  <a:t>kodira</a:t>
                </a:r>
                <a:r>
                  <a:rPr lang="en-US" sz="2000" dirty="0"/>
                  <a:t> </a:t>
                </a:r>
                <a:r>
                  <a:rPr lang="en-US" sz="2000" dirty="0" err="1"/>
                  <a:t>tako</a:t>
                </a:r>
                <a:r>
                  <a:rPr lang="en-US" sz="2000" dirty="0"/>
                  <a:t> </a:t>
                </a:r>
                <a:r>
                  <a:rPr lang="en-US" sz="2000" dirty="0" err="1"/>
                  <a:t>što</a:t>
                </a:r>
                <a:r>
                  <a:rPr lang="en-US" sz="2000" dirty="0"/>
                  <a:t> se </a:t>
                </a:r>
                <a:r>
                  <a:rPr lang="en-US" sz="2000" dirty="0" err="1"/>
                  <a:t>svaki</a:t>
                </a:r>
                <a:r>
                  <a:rPr lang="en-US" sz="2000" dirty="0"/>
                  <a:t> od </a:t>
                </a:r>
                <a:r>
                  <a:rPr lang="en-US" sz="2000" dirty="0" err="1"/>
                  <a:t>kubita</a:t>
                </a:r>
                <a:r>
                  <a:rPr lang="en-US" sz="2000" dirty="0"/>
                  <a:t> </a:t>
                </a:r>
                <a:r>
                  <a:rPr lang="en-US" sz="2000" dirty="0" err="1"/>
                  <a:t>rotira</a:t>
                </a:r>
                <a:r>
                  <a:rPr lang="en-US" sz="2000" dirty="0"/>
                  <a:t> </a:t>
                </a:r>
                <a:r>
                  <a:rPr lang="en-US" sz="2000" dirty="0" err="1"/>
                  <a:t>za</a:t>
                </a:r>
                <a:r>
                  <a:rPr lang="en-US" sz="2000" dirty="0"/>
                  <a:t> </a:t>
                </a:r>
                <a:r>
                  <a:rPr lang="en-US" sz="2000" dirty="0" err="1"/>
                  <a:t>vrednost</a:t>
                </a:r>
                <a:r>
                  <a:rPr lang="en-US" sz="2000" dirty="0"/>
                  <a:t> </a:t>
                </a:r>
                <a:r>
                  <a:rPr lang="en-US" sz="2000" dirty="0" err="1"/>
                  <a:t>svakog</a:t>
                </a:r>
                <a:r>
                  <a:rPr lang="en-US" sz="2000" dirty="0"/>
                  <a:t> </a:t>
                </a:r>
                <a:r>
                  <a:rPr lang="en-US" sz="2000" dirty="0" err="1"/>
                  <a:t>elementa</a:t>
                </a:r>
                <a:r>
                  <a:rPr lang="en-US" sz="2000" dirty="0"/>
                  <a:t> </a:t>
                </a:r>
                <a:r>
                  <a:rPr lang="en-US" sz="2000" dirty="0" err="1"/>
                  <a:t>vektora</a:t>
                </a:r>
                <a:r>
                  <a:rPr lang="en-US" sz="2000" dirty="0"/>
                  <a:t> 𝑥.</a:t>
                </a:r>
                <a:r>
                  <a:rPr lang="en-US" sz="2000" baseline="0" dirty="0"/>
                  <a:t> </a:t>
                </a:r>
                <a:r>
                  <a:rPr lang="en-US" sz="2000" baseline="0" dirty="0" err="1"/>
                  <a:t>P</a:t>
                </a:r>
                <a:r>
                  <a:rPr lang="en-US" sz="2000" dirty="0" err="1"/>
                  <a:t>rvi</a:t>
                </a:r>
                <a:r>
                  <a:rPr lang="en-US" sz="2000" dirty="0"/>
                  <a:t> </a:t>
                </a:r>
                <a:r>
                  <a:rPr lang="en-US" sz="2000" dirty="0" err="1"/>
                  <a:t>kubit</a:t>
                </a:r>
                <a:r>
                  <a:rPr lang="en-US" sz="2000" dirty="0"/>
                  <a:t> se </a:t>
                </a:r>
                <a:r>
                  <a:rPr lang="en-US" sz="2000" dirty="0" err="1"/>
                  <a:t>rotira</a:t>
                </a:r>
                <a:r>
                  <a:rPr lang="en-US" sz="2000" dirty="0"/>
                  <a:t> </a:t>
                </a:r>
                <a:r>
                  <a:rPr lang="en-US" sz="2000" dirty="0" err="1"/>
                  <a:t>za</a:t>
                </a:r>
                <a:r>
                  <a:rPr lang="en-US" sz="2000" dirty="0"/>
                  <a:t> </a:t>
                </a:r>
                <a:r>
                  <a:rPr lang="en-US" sz="2000" i="0">
                    <a:solidFill>
                      <a:schemeClr val="bg1"/>
                    </a:solidFill>
                    <a:latin typeface="Cambria Math" panose="02040503050406030204" pitchFamily="18" charset="0"/>
                  </a:rPr>
                  <a:t>𝑥_1</a:t>
                </a:r>
                <a:r>
                  <a:rPr lang="en-US" sz="2000" dirty="0"/>
                  <a:t> a </a:t>
                </a:r>
                <a:r>
                  <a:rPr lang="en-US" sz="2000" dirty="0" err="1"/>
                  <a:t>drugi</a:t>
                </a:r>
                <a:r>
                  <a:rPr lang="en-US" sz="2000" baseline="0" dirty="0"/>
                  <a:t> </a:t>
                </a:r>
                <a:r>
                  <a:rPr lang="en-US" sz="2000" baseline="0" dirty="0" err="1"/>
                  <a:t>za</a:t>
                </a:r>
                <a:r>
                  <a:rPr lang="en-US" sz="2000" baseline="0" dirty="0"/>
                  <a:t> </a:t>
                </a:r>
                <a:r>
                  <a:rPr lang="en-US" sz="2000" i="0">
                    <a:solidFill>
                      <a:schemeClr val="bg1"/>
                    </a:solidFill>
                    <a:latin typeface="Cambria Math" panose="02040503050406030204" pitchFamily="18" charset="0"/>
                  </a:rPr>
                  <a:t>𝑥_</a:t>
                </a:r>
                <a:r>
                  <a:rPr lang="sr-Latn-RS" sz="2000" b="0" i="0">
                    <a:solidFill>
                      <a:schemeClr val="bg1"/>
                    </a:solidFill>
                    <a:latin typeface="Cambria Math" panose="02040503050406030204" pitchFamily="18" charset="0"/>
                  </a:rPr>
                  <a:t>2</a:t>
                </a:r>
                <a:r>
                  <a:rPr lang="en-US" sz="2000" dirty="0"/>
                  <a:t>. U </a:t>
                </a:r>
                <a:r>
                  <a:rPr lang="en-US" sz="2000" dirty="0" err="1"/>
                  <a:t>ovom</a:t>
                </a:r>
                <a:r>
                  <a:rPr lang="en-US" sz="2000" dirty="0"/>
                  <a:t> </a:t>
                </a:r>
                <a:r>
                  <a:rPr lang="en-US" sz="2000" dirty="0" err="1"/>
                  <a:t>primeru</a:t>
                </a:r>
                <a:r>
                  <a:rPr lang="en-US" sz="2000" dirty="0"/>
                  <a:t> se </a:t>
                </a:r>
                <a:r>
                  <a:rPr lang="en-US" sz="2000" dirty="0" err="1"/>
                  <a:t>koristi</a:t>
                </a:r>
                <a:r>
                  <a:rPr lang="en-US" sz="2000" dirty="0"/>
                  <a:t> </a:t>
                </a:r>
                <a:r>
                  <a:rPr lang="en-US" sz="2000" dirty="0" err="1"/>
                  <a:t>rotacija</a:t>
                </a:r>
                <a:r>
                  <a:rPr lang="en-US" sz="2000" dirty="0"/>
                  <a:t> </a:t>
                </a:r>
                <a:r>
                  <a:rPr lang="en-US" sz="2000" dirty="0" err="1"/>
                  <a:t>oko</a:t>
                </a:r>
                <a:r>
                  <a:rPr lang="en-US" sz="2000" dirty="0"/>
                  <a:t> 𝑦 </a:t>
                </a:r>
                <a:r>
                  <a:rPr lang="en-US" sz="2000" dirty="0" err="1"/>
                  <a:t>ose</a:t>
                </a:r>
                <a:r>
                  <a:rPr lang="en-US" sz="2000" baseline="0" dirty="0"/>
                  <a:t>  </a:t>
                </a:r>
                <a:r>
                  <a:rPr lang="en-US" sz="2000" baseline="0" dirty="0" err="1"/>
                  <a:t>mada</a:t>
                </a:r>
                <a:r>
                  <a:rPr lang="en-US" sz="2000" baseline="0" dirty="0"/>
                  <a:t> se </a:t>
                </a:r>
                <a:r>
                  <a:rPr lang="en-US" sz="2000" baseline="0" dirty="0" err="1"/>
                  <a:t>može</a:t>
                </a:r>
                <a:r>
                  <a:rPr lang="en-US" sz="2000" baseline="0" dirty="0"/>
                  <a:t> </a:t>
                </a:r>
                <a:r>
                  <a:rPr lang="en-US" sz="2000" baseline="0" dirty="0" err="1"/>
                  <a:t>koristiti</a:t>
                </a:r>
                <a:r>
                  <a:rPr lang="en-US" sz="2000" baseline="0" dirty="0"/>
                  <a:t> </a:t>
                </a:r>
                <a:r>
                  <a:rPr lang="en-US" sz="2000" baseline="0" dirty="0" err="1"/>
                  <a:t>i</a:t>
                </a:r>
                <a:r>
                  <a:rPr lang="en-US" sz="2000" baseline="0" dirty="0"/>
                  <a:t> </a:t>
                </a:r>
                <a:r>
                  <a:rPr lang="en-US" sz="2000" baseline="0" dirty="0" err="1"/>
                  <a:t>rotacija</a:t>
                </a:r>
                <a:r>
                  <a:rPr lang="en-US" sz="2000" baseline="0" dirty="0"/>
                  <a:t> </a:t>
                </a:r>
                <a:r>
                  <a:rPr lang="en-US" sz="2000" baseline="0" dirty="0" err="1"/>
                  <a:t>oko</a:t>
                </a:r>
                <a:r>
                  <a:rPr lang="en-US" sz="2000" baseline="0" dirty="0"/>
                  <a:t> </a:t>
                </a:r>
                <a:r>
                  <a:rPr lang="en-US" sz="2000" baseline="0" dirty="0" err="1"/>
                  <a:t>drugih</a:t>
                </a:r>
                <a:r>
                  <a:rPr lang="en-US" sz="2000" baseline="0" dirty="0"/>
                  <a:t> </a:t>
                </a:r>
                <a:r>
                  <a:rPr lang="en-US" sz="2000" baseline="0" dirty="0" err="1"/>
                  <a:t>osa</a:t>
                </a:r>
                <a:r>
                  <a:rPr lang="en-US" sz="2000" baseline="0" dirty="0"/>
                  <a:t>.</a:t>
                </a:r>
                <a:endParaRPr lang="en-US" sz="2000" dirty="0"/>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err="1"/>
                  <a:t>Stanje</a:t>
                </a:r>
                <a:r>
                  <a:rPr lang="en-US" sz="2000" dirty="0"/>
                  <a:t> </a:t>
                </a:r>
                <a:r>
                  <a:rPr lang="en-US" sz="2000" dirty="0" err="1"/>
                  <a:t>registra</a:t>
                </a:r>
                <a:r>
                  <a:rPr lang="en-US" sz="2000" dirty="0"/>
                  <a:t> se </a:t>
                </a:r>
                <a:r>
                  <a:rPr lang="en-US" sz="2000" dirty="0" err="1"/>
                  <a:t>izražava</a:t>
                </a:r>
                <a:r>
                  <a:rPr lang="en-US" sz="2000" dirty="0"/>
                  <a:t> </a:t>
                </a:r>
                <a:r>
                  <a:rPr lang="en-US" sz="2000" dirty="0" err="1"/>
                  <a:t>Kronekerovim</a:t>
                </a:r>
                <a:r>
                  <a:rPr lang="en-US" sz="2000" dirty="0"/>
                  <a:t> </a:t>
                </a:r>
                <a:r>
                  <a:rPr lang="en-US" sz="2000" dirty="0" err="1"/>
                  <a:t>proizvodom</a:t>
                </a:r>
                <a:r>
                  <a:rPr lang="en-US" sz="2000" dirty="0"/>
                  <a:t> </a:t>
                </a:r>
                <a:r>
                  <a:rPr lang="en-US" sz="2000" dirty="0" err="1"/>
                  <a:t>stanja</a:t>
                </a:r>
                <a:r>
                  <a:rPr lang="en-US" sz="2000" dirty="0"/>
                  <a:t> </a:t>
                </a:r>
                <a:r>
                  <a:rPr lang="en-US" sz="2000" dirty="0" err="1"/>
                  <a:t>pojedinačnih</a:t>
                </a:r>
                <a:r>
                  <a:rPr lang="en-US" sz="2000" dirty="0"/>
                  <a:t> </a:t>
                </a:r>
                <a:r>
                  <a:rPr lang="en-US" sz="2000" dirty="0" err="1"/>
                  <a:t>kubita</a:t>
                </a:r>
                <a:r>
                  <a:rPr lang="en-US" sz="2000" dirty="0"/>
                  <a:t>. </a:t>
                </a:r>
                <a:r>
                  <a:rPr lang="en-US" sz="2000" dirty="0" err="1"/>
                  <a:t>Iz</a:t>
                </a:r>
                <a:r>
                  <a:rPr lang="en-US" sz="2000" dirty="0"/>
                  <a:t> </a:t>
                </a:r>
                <a:r>
                  <a:rPr lang="en-US" sz="2000" dirty="0" err="1"/>
                  <a:t>ovog</a:t>
                </a:r>
                <a:r>
                  <a:rPr lang="en-US" sz="2000" dirty="0"/>
                  <a:t> </a:t>
                </a:r>
                <a:r>
                  <a:rPr lang="en-US" sz="2000" dirty="0" err="1"/>
                  <a:t>razloga</a:t>
                </a:r>
                <a:r>
                  <a:rPr lang="en-US" sz="2000" dirty="0"/>
                  <a:t>, </a:t>
                </a:r>
                <a:r>
                  <a:rPr lang="en-US" sz="2000" dirty="0" err="1"/>
                  <a:t>ovo</a:t>
                </a:r>
                <a:r>
                  <a:rPr lang="en-US" sz="2000" dirty="0"/>
                  <a:t> </a:t>
                </a:r>
                <a:r>
                  <a:rPr lang="en-US" sz="2000" dirty="0" err="1"/>
                  <a:t>kodiranje</a:t>
                </a:r>
                <a:r>
                  <a:rPr lang="en-US" sz="2000" dirty="0"/>
                  <a:t> se </a:t>
                </a:r>
                <a:r>
                  <a:rPr lang="en-US" sz="2000" dirty="0" err="1"/>
                  <a:t>često</a:t>
                </a:r>
                <a:r>
                  <a:rPr lang="en-US" sz="2000" dirty="0"/>
                  <a:t> </a:t>
                </a:r>
                <a:r>
                  <a:rPr lang="en-US" sz="2000" dirty="0" err="1"/>
                  <a:t>naziva</a:t>
                </a:r>
                <a:r>
                  <a:rPr lang="en-US" sz="2000" dirty="0"/>
                  <a:t> </a:t>
                </a:r>
                <a:r>
                  <a:rPr lang="en-US" sz="2000" dirty="0" err="1"/>
                  <a:t>tenzorsko</a:t>
                </a:r>
                <a:r>
                  <a:rPr lang="en-US" sz="2000" dirty="0"/>
                  <a:t> </a:t>
                </a:r>
                <a:r>
                  <a:rPr lang="en-US" sz="2000" dirty="0" err="1"/>
                  <a:t>kodiranje</a:t>
                </a:r>
                <a:r>
                  <a:rPr lang="en-US" sz="2000" dirty="0"/>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8</a:t>
            </a:fld>
            <a:endParaRPr lang="en-US"/>
          </a:p>
        </p:txBody>
      </p:sp>
    </p:spTree>
    <p:extLst>
      <p:ext uri="{BB962C8B-B14F-4D97-AF65-F5344CB8AC3E}">
        <p14:creationId xmlns:p14="http://schemas.microsoft.com/office/powerpoint/2010/main" val="9986920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ZA" dirty="0"/>
                  <a:t>Consider a vector </a:t>
                </a:r>
                <a14:m>
                  <m:oMath xmlns:m="http://schemas.openxmlformats.org/officeDocument/2006/math">
                    <m:r>
                      <a:rPr lang="en-US" i="1" smtClean="0">
                        <a:latin typeface="Cambria Math" panose="02040503050406030204" pitchFamily="18" charset="0"/>
                      </a:rPr>
                      <m:t>𝑥</m:t>
                    </m:r>
                  </m:oMath>
                </a14:m>
                <a:r>
                  <a:rPr lang="en-ZA" dirty="0"/>
                  <a:t>, with each component taking values between a known minimum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𝑥</m:t>
                        </m:r>
                      </m:e>
                      <m:sub>
                        <m:r>
                          <a:rPr lang="sr-Latn-RS" b="0" i="1" smtClean="0">
                            <a:latin typeface="Cambria Math" panose="02040503050406030204" pitchFamily="18" charset="0"/>
                          </a:rPr>
                          <m:t>𝑚𝑖𝑛</m:t>
                        </m:r>
                      </m:sub>
                    </m:sSub>
                  </m:oMath>
                </a14:m>
                <a:r>
                  <a:rPr lang="en-ZA" dirty="0"/>
                  <a:t>​ and maximum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𝑥</m:t>
                        </m:r>
                      </m:e>
                      <m:sub>
                        <m:r>
                          <a:rPr lang="sr-Latn-RS" b="0" i="1" smtClean="0">
                            <a:latin typeface="Cambria Math" panose="02040503050406030204" pitchFamily="18" charset="0"/>
                          </a:rPr>
                          <m:t>𝑚𝑎𝑥</m:t>
                        </m:r>
                      </m:sub>
                    </m:sSub>
                  </m:oMath>
                </a14:m>
                <a:endParaRPr lang="en-ZA"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ZA" dirty="0"/>
                  <a:t>In the first step, the vector components are </a:t>
                </a:r>
                <a:r>
                  <a:rPr lang="en-ZA" b="0" dirty="0"/>
                  <a:t>scaled to the interval </a:t>
                </a:r>
                <a14:m>
                  <m:oMath xmlns:m="http://schemas.openxmlformats.org/officeDocument/2006/math">
                    <m:d>
                      <m:dPr>
                        <m:begChr m:val="["/>
                        <m:endChr m:val="]"/>
                        <m:ctrlPr>
                          <a:rPr lang="en-US" b="0" i="1" smtClean="0">
                            <a:latin typeface="Cambria Math" panose="02040503050406030204" pitchFamily="18" charset="0"/>
                          </a:rPr>
                        </m:ctrlPr>
                      </m:dPr>
                      <m:e>
                        <m:r>
                          <a:rPr lang="en-US" b="0" i="0" smtClean="0">
                            <a:latin typeface="Cambria Math" panose="02040503050406030204" pitchFamily="18" charset="0"/>
                          </a:rPr>
                          <m:t>0,1</m:t>
                        </m:r>
                      </m:e>
                    </m:d>
                  </m:oMath>
                </a14:m>
                <a:r>
                  <a:rPr lang="en-ZA" dirty="0"/>
                  <a: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ZA" dirty="0"/>
                  <a:t>If the data is to be encoded using angles in the interval </a:t>
                </a:r>
                <a14:m>
                  <m:oMath xmlns:m="http://schemas.openxmlformats.org/officeDocument/2006/math">
                    <m:d>
                      <m:dPr>
                        <m:begChr m:val="["/>
                        <m:endChr m:val="]"/>
                        <m:ctrlPr>
                          <a:rPr lang="en-US" b="0" i="1" smtClean="0">
                            <a:latin typeface="Cambria Math" panose="02040503050406030204" pitchFamily="18" charset="0"/>
                          </a:rPr>
                        </m:ctrlPr>
                      </m:dPr>
                      <m:e>
                        <m:r>
                          <a:rPr lang="en-US" b="0" i="0" smtClean="0">
                            <a:latin typeface="Cambria Math" panose="02040503050406030204" pitchFamily="18" charset="0"/>
                          </a:rPr>
                          <m:t>0,</m:t>
                        </m:r>
                        <m:r>
                          <a:rPr lang="sr-Latn-RS" b="0" i="1" smtClean="0">
                            <a:latin typeface="Cambria Math" panose="02040503050406030204" pitchFamily="18" charset="0"/>
                          </a:rPr>
                          <m:t>2</m:t>
                        </m:r>
                        <m:r>
                          <a:rPr lang="sr-Latn-RS" b="0" i="1" smtClean="0">
                            <a:latin typeface="Cambria Math" panose="02040503050406030204" pitchFamily="18" charset="0"/>
                            <a:ea typeface="Cambria Math" panose="02040503050406030204" pitchFamily="18" charset="0"/>
                          </a:rPr>
                          <m:t>𝜋</m:t>
                        </m:r>
                      </m:e>
                    </m:d>
                  </m:oMath>
                </a14:m>
                <a:r>
                  <a:rPr lang="en-ZA" dirty="0"/>
                  <a:t>, each scaled component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𝑖</m:t>
                        </m:r>
                        <m:r>
                          <a:rPr lang="en-US" b="0" i="1" smtClean="0">
                            <a:latin typeface="Cambria Math" panose="02040503050406030204" pitchFamily="18" charset="0"/>
                          </a:rPr>
                          <m:t>_</m:t>
                        </m:r>
                        <m:r>
                          <a:rPr lang="en-US" b="0" i="1" smtClean="0">
                            <a:latin typeface="Cambria Math" panose="02040503050406030204" pitchFamily="18" charset="0"/>
                          </a:rPr>
                          <m:t>𝑛𝑜𝑟𝑚</m:t>
                        </m:r>
                      </m:sub>
                    </m:sSub>
                  </m:oMath>
                </a14:m>
                <a:r>
                  <a:rPr lang="en-ZA" dirty="0"/>
                  <a:t>​ is mapped to a rotation angle</a:t>
                </a:r>
                <a:r>
                  <a:rPr lang="en-ZA" baseline="0" dirty="0"/>
                  <a:t> </a:t>
                </a:r>
                <a14:m>
                  <m:oMath xmlns:m="http://schemas.openxmlformats.org/officeDocument/2006/math">
                    <m:sSub>
                      <m:sSubPr>
                        <m:ctrlPr>
                          <a:rPr lang="el-GR" b="0" i="1" smtClean="0">
                            <a:latin typeface="Cambria Math" panose="02040503050406030204" pitchFamily="18" charset="0"/>
                            <a:ea typeface="Cambria Math" panose="02040503050406030204" pitchFamily="18" charset="0"/>
                          </a:rPr>
                        </m:ctrlPr>
                      </m:sSubPr>
                      <m:e>
                        <m:r>
                          <m:rPr>
                            <m:sty m:val="p"/>
                          </m:rPr>
                          <a:rPr lang="el-GR" b="0" i="1" smtClean="0">
                            <a:latin typeface="Cambria Math" panose="02040503050406030204" pitchFamily="18" charset="0"/>
                            <a:ea typeface="Cambria Math" panose="02040503050406030204" pitchFamily="18" charset="0"/>
                          </a:rPr>
                          <m:t>θ</m:t>
                        </m:r>
                      </m:e>
                      <m:sub>
                        <m:r>
                          <a:rPr lang="sr-Latn-RS" b="0" i="1" smtClean="0">
                            <a:latin typeface="Cambria Math" panose="02040503050406030204" pitchFamily="18" charset="0"/>
                            <a:ea typeface="Cambria Math" panose="02040503050406030204" pitchFamily="18" charset="0"/>
                          </a:rPr>
                          <m:t>𝑖</m:t>
                        </m:r>
                      </m:sub>
                    </m:sSub>
                    <m:r>
                      <a:rPr lang="sr-Latn-R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2</m:t>
                        </m:r>
                        <m:r>
                          <a:rPr lang="sr-Latn-RS" b="0" i="1" smtClean="0">
                            <a:latin typeface="Cambria Math" panose="02040503050406030204" pitchFamily="18" charset="0"/>
                            <a:ea typeface="Cambria Math" panose="02040503050406030204" pitchFamily="18" charset="0"/>
                          </a:rPr>
                          <m:t>𝜋</m:t>
                        </m:r>
                        <m:r>
                          <a:rPr lang="en-US" i="1">
                            <a:latin typeface="Cambria Math" panose="02040503050406030204" pitchFamily="18" charset="0"/>
                          </a:rPr>
                          <m:t>𝑥</m:t>
                        </m:r>
                      </m:e>
                      <m:sub>
                        <m:r>
                          <a:rPr lang="en-US" b="0" i="1" smtClean="0">
                            <a:latin typeface="Cambria Math" panose="02040503050406030204" pitchFamily="18" charset="0"/>
                          </a:rPr>
                          <m:t>𝑖</m:t>
                        </m:r>
                        <m:r>
                          <a:rPr lang="en-US" b="0" i="1" smtClean="0">
                            <a:latin typeface="Cambria Math" panose="02040503050406030204" pitchFamily="18" charset="0"/>
                          </a:rPr>
                          <m:t>_</m:t>
                        </m:r>
                        <m:r>
                          <a:rPr lang="en-US" b="0" i="1" smtClean="0">
                            <a:latin typeface="Cambria Math" panose="02040503050406030204" pitchFamily="18" charset="0"/>
                          </a:rPr>
                          <m:t>𝑛𝑜𝑟𝑚</m:t>
                        </m:r>
                      </m:sub>
                    </m:sSub>
                  </m:oMath>
                </a14:m>
                <a:endParaRPr lang="en-US"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ZA" dirty="0"/>
                  <a:t>Alternatively, if the data is to be encoded using angles in the interval </a:t>
                </a:r>
                <a:r>
                  <a:rPr lang="en-US" dirty="0"/>
                  <a:t> </a:t>
                </a:r>
                <a14:m>
                  <m:oMath xmlns:m="http://schemas.openxmlformats.org/officeDocument/2006/math">
                    <m:d>
                      <m:dPr>
                        <m:begChr m:val="["/>
                        <m:endChr m:val="]"/>
                        <m:ctrlPr>
                          <a:rPr lang="en-US" b="0" i="1" smtClean="0">
                            <a:latin typeface="Cambria Math" panose="02040503050406030204" pitchFamily="18" charset="0"/>
                          </a:rPr>
                        </m:ctrlPr>
                      </m:dPr>
                      <m:e>
                        <m:r>
                          <a:rPr lang="en-US" b="0" i="0" smtClean="0">
                            <a:latin typeface="Cambria Math" panose="02040503050406030204" pitchFamily="18" charset="0"/>
                          </a:rPr>
                          <m:t>−</m:t>
                        </m:r>
                        <m:r>
                          <a:rPr lang="sr-Latn-RS" b="0" i="1" smtClean="0">
                            <a:latin typeface="Cambria Math" panose="02040503050406030204" pitchFamily="18" charset="0"/>
                            <a:ea typeface="Cambria Math" panose="02040503050406030204" pitchFamily="18" charset="0"/>
                          </a:rPr>
                          <m:t>𝜋</m:t>
                        </m:r>
                        <m:r>
                          <a:rPr lang="en-US" b="0" i="0" smtClean="0">
                            <a:latin typeface="Cambria Math" panose="02040503050406030204" pitchFamily="18" charset="0"/>
                          </a:rPr>
                          <m:t>,</m:t>
                        </m:r>
                        <m:r>
                          <a:rPr lang="sr-Latn-RS" b="0" i="1" smtClean="0">
                            <a:latin typeface="Cambria Math" panose="02040503050406030204" pitchFamily="18" charset="0"/>
                            <a:ea typeface="Cambria Math" panose="02040503050406030204" pitchFamily="18" charset="0"/>
                          </a:rPr>
                          <m:t>𝜋</m:t>
                        </m:r>
                      </m:e>
                    </m:d>
                  </m:oMath>
                </a14:m>
                <a:r>
                  <a:rPr lang="en-ZA" dirty="0"/>
                  <a:t>, the mapping becomes</a:t>
                </a:r>
                <a:r>
                  <a:rPr lang="en-ZA" baseline="0" dirty="0"/>
                  <a:t> </a:t>
                </a:r>
                <a14:m>
                  <m:oMath xmlns:m="http://schemas.openxmlformats.org/officeDocument/2006/math">
                    <m:sSub>
                      <m:sSubPr>
                        <m:ctrlPr>
                          <a:rPr lang="el-GR" b="0" i="1" smtClean="0">
                            <a:latin typeface="Cambria Math" panose="02040503050406030204" pitchFamily="18" charset="0"/>
                            <a:ea typeface="Cambria Math" panose="02040503050406030204" pitchFamily="18" charset="0"/>
                          </a:rPr>
                        </m:ctrlPr>
                      </m:sSubPr>
                      <m:e>
                        <m:r>
                          <m:rPr>
                            <m:sty m:val="p"/>
                          </m:rPr>
                          <a:rPr lang="el-GR" b="0" i="1" smtClean="0">
                            <a:latin typeface="Cambria Math" panose="02040503050406030204" pitchFamily="18" charset="0"/>
                            <a:ea typeface="Cambria Math" panose="02040503050406030204" pitchFamily="18" charset="0"/>
                          </a:rPr>
                          <m:t>θ</m:t>
                        </m:r>
                      </m:e>
                      <m:sub>
                        <m:r>
                          <a:rPr lang="sr-Latn-RS" b="0" i="1" smtClean="0">
                            <a:latin typeface="Cambria Math" panose="02040503050406030204" pitchFamily="18" charset="0"/>
                            <a:ea typeface="Cambria Math" panose="02040503050406030204" pitchFamily="18" charset="0"/>
                          </a:rPr>
                          <m:t>𝑖</m:t>
                        </m:r>
                      </m:sub>
                    </m:sSub>
                    <m:r>
                      <a:rPr lang="sr-Latn-R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2</m:t>
                        </m:r>
                        <m:r>
                          <a:rPr lang="sr-Latn-RS" b="0" i="1" smtClean="0">
                            <a:latin typeface="Cambria Math" panose="02040503050406030204" pitchFamily="18" charset="0"/>
                            <a:ea typeface="Cambria Math" panose="02040503050406030204" pitchFamily="18" charset="0"/>
                          </a:rPr>
                          <m:t>𝜋</m:t>
                        </m:r>
                        <m:r>
                          <a:rPr lang="en-US" i="1">
                            <a:latin typeface="Cambria Math" panose="02040503050406030204" pitchFamily="18" charset="0"/>
                          </a:rPr>
                          <m:t>𝑥</m:t>
                        </m:r>
                      </m:e>
                      <m:sub>
                        <m:r>
                          <a:rPr lang="en-US" b="0" i="1" smtClean="0">
                            <a:latin typeface="Cambria Math" panose="02040503050406030204" pitchFamily="18" charset="0"/>
                          </a:rPr>
                          <m:t>𝑖</m:t>
                        </m:r>
                        <m:r>
                          <a:rPr lang="en-US" b="0" i="1" smtClean="0">
                            <a:latin typeface="Cambria Math" panose="02040503050406030204" pitchFamily="18" charset="0"/>
                          </a:rPr>
                          <m:t>_</m:t>
                        </m:r>
                        <m:r>
                          <a:rPr lang="en-US" b="0" i="1" smtClean="0">
                            <a:latin typeface="Cambria Math" panose="02040503050406030204" pitchFamily="18" charset="0"/>
                          </a:rPr>
                          <m:t>𝑛𝑜𝑟𝑚</m:t>
                        </m:r>
                      </m:sub>
                    </m:sSub>
                    <m:r>
                      <a:rPr lang="en-US" b="0" i="1" smtClean="0">
                        <a:latin typeface="Cambria Math" panose="02040503050406030204" pitchFamily="18" charset="0"/>
                      </a:rPr>
                      <m:t>−</m:t>
                    </m:r>
                    <m:r>
                      <a:rPr lang="sr-Latn-RS" b="0" i="1" smtClean="0">
                        <a:latin typeface="Cambria Math" panose="02040503050406030204" pitchFamily="18" charset="0"/>
                        <a:ea typeface="Cambria Math" panose="02040503050406030204" pitchFamily="18" charset="0"/>
                      </a:rPr>
                      <m:t>𝜋</m:t>
                    </m:r>
                  </m:oMath>
                </a14:m>
                <a:r>
                  <a:rPr lang="en-US" dirty="0"/>
                  <a:t>.</a:t>
                </a:r>
              </a:p>
              <a:p>
                <a:pPr marL="228600" indent="-228600">
                  <a:buFont typeface="+mj-lt"/>
                  <a:buAutoNum type="arabicPeriod"/>
                </a:pPr>
                <a:r>
                  <a:rPr lang="en-ZA" dirty="0"/>
                  <a:t>We then use these angles in the quantum circuit by applying the corresponding rotation gates to the qubits.</a:t>
                </a:r>
              </a:p>
            </p:txBody>
          </p:sp>
        </mc:Choice>
        <mc:Fallback xmlns="">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Neka </a:t>
                </a:r>
                <a:r>
                  <a:rPr lang="en-US" dirty="0" err="1"/>
                  <a:t>je</a:t>
                </a:r>
                <a:r>
                  <a:rPr lang="en-US" dirty="0"/>
                  <a:t> </a:t>
                </a:r>
                <a:r>
                  <a:rPr lang="en-US" dirty="0" err="1"/>
                  <a:t>na</a:t>
                </a:r>
                <a:r>
                  <a:rPr lang="en-US" dirty="0"/>
                  <a:t> primer </a:t>
                </a:r>
                <a:r>
                  <a:rPr lang="en-US" dirty="0" err="1"/>
                  <a:t>dat</a:t>
                </a:r>
                <a:r>
                  <a:rPr lang="en-US" dirty="0"/>
                  <a:t> </a:t>
                </a:r>
                <a:r>
                  <a:rPr lang="en-US" dirty="0" err="1"/>
                  <a:t>vektor</a:t>
                </a:r>
                <a:r>
                  <a:rPr lang="en-US" dirty="0"/>
                  <a:t> </a:t>
                </a:r>
                <a:r>
                  <a:rPr lang="en-US" dirty="0" err="1"/>
                  <a:t>sa</a:t>
                </a:r>
                <a:r>
                  <a:rPr lang="en-US" dirty="0"/>
                  <a:t> n </a:t>
                </a:r>
                <a:r>
                  <a:rPr lang="en-US" dirty="0" err="1"/>
                  <a:t>komponenata</a:t>
                </a:r>
                <a:r>
                  <a:rPr lang="en-US" dirty="0"/>
                  <a:t>: </a:t>
                </a:r>
                <a:r>
                  <a:rPr lang="en-US" sz="1200" i="0">
                    <a:latin typeface="Cambria Math" panose="02040503050406030204" pitchFamily="18" charset="0"/>
                  </a:rPr>
                  <a:t>𝑥=(𝑥_</a:t>
                </a:r>
                <a:r>
                  <a:rPr lang="en-US" sz="1200" b="0" i="0">
                    <a:latin typeface="Cambria Math" panose="02040503050406030204" pitchFamily="18" charset="0"/>
                  </a:rPr>
                  <a:t>1</a:t>
                </a:r>
                <a:r>
                  <a:rPr lang="en-US" sz="1200" i="0">
                    <a:latin typeface="Cambria Math" panose="02040503050406030204" pitchFamily="18" charset="0"/>
                  </a:rPr>
                  <a:t>,𝑥_</a:t>
                </a:r>
                <a:r>
                  <a:rPr lang="en-US" sz="1200" b="0" i="0">
                    <a:latin typeface="Cambria Math" panose="02040503050406030204" pitchFamily="18" charset="0"/>
                  </a:rPr>
                  <a:t>2,</a:t>
                </a:r>
                <a:r>
                  <a:rPr lang="en-US" sz="1200" b="0" i="0">
                    <a:latin typeface="Cambria Math" panose="02040503050406030204" pitchFamily="18" charset="0"/>
                    <a:ea typeface="Cambria Math" panose="02040503050406030204" pitchFamily="18" charset="0"/>
                  </a:rPr>
                  <a:t>⋯</a:t>
                </a:r>
                <a:r>
                  <a:rPr lang="en-US" sz="1200" i="0">
                    <a:latin typeface="Cambria Math" panose="02040503050406030204" pitchFamily="18" charset="0"/>
                  </a:rPr>
                  <a:t>𝑥_</a:t>
                </a:r>
                <a:r>
                  <a:rPr lang="en-US" sz="1200" b="0" i="0">
                    <a:latin typeface="Cambria Math" panose="02040503050406030204" pitchFamily="18" charset="0"/>
                  </a:rPr>
                  <a:t>𝑛 )</a:t>
                </a:r>
                <a:r>
                  <a:rPr lang="sr-Latn-RS" sz="1200" b="0" i="0">
                    <a:latin typeface="Cambria Math" panose="02040503050406030204" pitchFamily="18" charset="0"/>
                  </a:rPr>
                  <a:t>,</a:t>
                </a:r>
                <a:r>
                  <a:rPr lang="en-US" sz="1200" dirty="0"/>
                  <a:t>  sa minimalnom vrednošću</a:t>
                </a:r>
                <a:r>
                  <a:rPr lang="en-US" sz="1200" baseline="0" dirty="0"/>
                  <a:t> </a:t>
                </a:r>
                <a:r>
                  <a:rPr lang="en-US" sz="1200" i="0">
                    <a:latin typeface="Cambria Math" panose="02040503050406030204" pitchFamily="18" charset="0"/>
                  </a:rPr>
                  <a:t>𝑥_</a:t>
                </a:r>
                <a:r>
                  <a:rPr lang="sr-Latn-RS" sz="1200" b="0" i="0">
                    <a:latin typeface="Cambria Math" panose="02040503050406030204" pitchFamily="18" charset="0"/>
                  </a:rPr>
                  <a:t>𝑚𝑖𝑛</a:t>
                </a:r>
                <a:r>
                  <a:rPr lang="en-US" sz="1200" baseline="0" dirty="0"/>
                  <a:t> i </a:t>
                </a:r>
                <a:r>
                  <a:rPr lang="en-US" sz="1200" baseline="0" dirty="0" err="1"/>
                  <a:t>maksimalnom</a:t>
                </a:r>
                <a:r>
                  <a:rPr lang="en-US" sz="1200" baseline="0" dirty="0"/>
                  <a:t> </a:t>
                </a:r>
                <a:r>
                  <a:rPr lang="en-US" sz="1200" baseline="0" dirty="0" err="1"/>
                  <a:t>vrednošću</a:t>
                </a:r>
                <a:r>
                  <a:rPr lang="en-US" sz="1200" baseline="0" dirty="0"/>
                  <a:t>  </a:t>
                </a:r>
                <a:r>
                  <a:rPr lang="en-US" sz="1200" i="0">
                    <a:latin typeface="Cambria Math" panose="02040503050406030204" pitchFamily="18" charset="0"/>
                  </a:rPr>
                  <a:t>𝑥_</a:t>
                </a:r>
                <a:r>
                  <a:rPr lang="sr-Latn-RS" sz="1200" b="0" i="0">
                    <a:latin typeface="Cambria Math" panose="02040503050406030204" pitchFamily="18" charset="0"/>
                  </a:rPr>
                  <a:t>𝑚𝑎𝑥</a:t>
                </a:r>
                <a:r>
                  <a:rPr lang="en-US" sz="1200" dirty="0"/>
                  <a:t>.</a:t>
                </a: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US" sz="1200" dirty="0"/>
                  <a:t>U </a:t>
                </a:r>
                <a:r>
                  <a:rPr lang="en-US" sz="1200" dirty="0" err="1"/>
                  <a:t>prvom</a:t>
                </a:r>
                <a:r>
                  <a:rPr lang="en-US" sz="1200" dirty="0"/>
                  <a:t> </a:t>
                </a:r>
                <a:r>
                  <a:rPr lang="en-US" sz="1200" dirty="0" err="1"/>
                  <a:t>koraku</a:t>
                </a:r>
                <a:r>
                  <a:rPr lang="en-US" sz="1200" dirty="0"/>
                  <a:t> se </a:t>
                </a:r>
                <a:r>
                  <a:rPr lang="en-US" sz="1200" dirty="0" err="1"/>
                  <a:t>normalizuju</a:t>
                </a:r>
                <a:r>
                  <a:rPr lang="en-US" sz="1200" dirty="0"/>
                  <a:t> </a:t>
                </a:r>
                <a:r>
                  <a:rPr lang="en-US" sz="1200" dirty="0" err="1"/>
                  <a:t>vrednosti</a:t>
                </a:r>
                <a:r>
                  <a:rPr lang="en-US" sz="1200" dirty="0"/>
                  <a:t> </a:t>
                </a:r>
                <a:r>
                  <a:rPr lang="en-US" sz="1200" dirty="0" err="1"/>
                  <a:t>komponenti</a:t>
                </a:r>
                <a:r>
                  <a:rPr lang="en-US" sz="1200" dirty="0"/>
                  <a:t> u </a:t>
                </a:r>
                <a:r>
                  <a:rPr lang="en-US" sz="1200" dirty="0" err="1"/>
                  <a:t>opseg</a:t>
                </a:r>
                <a:r>
                  <a:rPr lang="en-US" sz="1200" dirty="0"/>
                  <a:t> </a:t>
                </a:r>
                <a:r>
                  <a:rPr lang="en-US" b="0" i="0">
                    <a:latin typeface="Cambria Math" panose="02040503050406030204" pitchFamily="18" charset="0"/>
                  </a:rPr>
                  <a:t>[0,1]</a:t>
                </a:r>
                <a:r>
                  <a:rPr lang="en-US" dirty="0"/>
                  <a:t>.</a:t>
                </a: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US" sz="1200" dirty="0" err="1"/>
                  <a:t>Ukoliko</a:t>
                </a:r>
                <a:r>
                  <a:rPr lang="en-US" sz="1200" dirty="0"/>
                  <a:t> se </a:t>
                </a:r>
                <a:r>
                  <a:rPr lang="en-US" sz="1200" dirty="0" err="1"/>
                  <a:t>želi</a:t>
                </a:r>
                <a:r>
                  <a:rPr lang="en-US" sz="1200" dirty="0"/>
                  <a:t> </a:t>
                </a:r>
                <a:r>
                  <a:rPr lang="en-US" sz="1200" dirty="0" err="1"/>
                  <a:t>kodiranje</a:t>
                </a:r>
                <a:r>
                  <a:rPr lang="en-US" sz="1200" dirty="0"/>
                  <a:t> </a:t>
                </a:r>
                <a:r>
                  <a:rPr lang="en-US" sz="1200" dirty="0" err="1"/>
                  <a:t>između</a:t>
                </a:r>
                <a:r>
                  <a:rPr lang="en-US" sz="1200" dirty="0"/>
                  <a:t>  </a:t>
                </a:r>
                <a:r>
                  <a:rPr lang="en-US" b="0" i="0">
                    <a:latin typeface="Cambria Math" panose="02040503050406030204" pitchFamily="18" charset="0"/>
                  </a:rPr>
                  <a:t>[0,</a:t>
                </a:r>
                <a:r>
                  <a:rPr lang="sr-Latn-RS" b="0" i="0">
                    <a:latin typeface="Cambria Math" panose="02040503050406030204" pitchFamily="18" charset="0"/>
                  </a:rPr>
                  <a:t>2</a:t>
                </a:r>
                <a:r>
                  <a:rPr lang="sr-Latn-RS" b="0" i="0">
                    <a:latin typeface="Cambria Math" panose="02040503050406030204" pitchFamily="18" charset="0"/>
                    <a:ea typeface="Cambria Math" panose="02040503050406030204" pitchFamily="18" charset="0"/>
                  </a:rPr>
                  <a:t>𝜋]</a:t>
                </a:r>
                <a:r>
                  <a:rPr lang="en-US" dirty="0"/>
                  <a:t> </a:t>
                </a:r>
                <a:r>
                  <a:rPr lang="en-US" dirty="0" err="1"/>
                  <a:t>ugao</a:t>
                </a:r>
                <a:r>
                  <a:rPr lang="en-US" dirty="0"/>
                  <a:t> </a:t>
                </a:r>
                <a:r>
                  <a:rPr lang="en-US" dirty="0" err="1"/>
                  <a:t>rotacije</a:t>
                </a:r>
                <a:r>
                  <a:rPr lang="en-US" dirty="0"/>
                  <a:t> se </a:t>
                </a:r>
                <a:r>
                  <a:rPr lang="en-US" dirty="0" err="1"/>
                  <a:t>dobija</a:t>
                </a:r>
                <a:r>
                  <a:rPr lang="en-US" dirty="0"/>
                  <a:t> </a:t>
                </a:r>
                <a:r>
                  <a:rPr lang="en-US" dirty="0" err="1"/>
                  <a:t>kao</a:t>
                </a:r>
                <a:r>
                  <a:rPr lang="en-US" dirty="0"/>
                  <a:t> </a:t>
                </a:r>
                <a:r>
                  <a:rPr lang="el-GR" b="0" i="0">
                    <a:latin typeface="Cambria Math" panose="02040503050406030204" pitchFamily="18" charset="0"/>
                    <a:ea typeface="Cambria Math" panose="02040503050406030204" pitchFamily="18" charset="0"/>
                  </a:rPr>
                  <a:t>θ_</a:t>
                </a:r>
                <a:r>
                  <a:rPr lang="sr-Latn-RS" b="0" i="0">
                    <a:latin typeface="Cambria Math" panose="02040503050406030204" pitchFamily="18" charset="0"/>
                    <a:ea typeface="Cambria Math" panose="02040503050406030204" pitchFamily="18" charset="0"/>
                  </a:rPr>
                  <a:t>𝑖=</a:t>
                </a:r>
                <a:r>
                  <a:rPr lang="en-US" i="0">
                    <a:latin typeface="Cambria Math" panose="02040503050406030204" pitchFamily="18" charset="0"/>
                  </a:rPr>
                  <a:t>〖</a:t>
                </a:r>
                <a:r>
                  <a:rPr lang="en-US" b="0" i="0">
                    <a:latin typeface="Cambria Math" panose="02040503050406030204" pitchFamily="18" charset="0"/>
                  </a:rPr>
                  <a:t>2</a:t>
                </a:r>
                <a:r>
                  <a:rPr lang="sr-Latn-RS" b="0" i="0">
                    <a:latin typeface="Cambria Math" panose="02040503050406030204" pitchFamily="18" charset="0"/>
                    <a:ea typeface="Cambria Math" panose="02040503050406030204" pitchFamily="18" charset="0"/>
                  </a:rPr>
                  <a:t>𝜋</a:t>
                </a:r>
                <a:r>
                  <a:rPr lang="en-US" i="0">
                    <a:latin typeface="Cambria Math" panose="02040503050406030204" pitchFamily="18" charset="0"/>
                  </a:rPr>
                  <a:t>𝑥〗_(</a:t>
                </a:r>
                <a:r>
                  <a:rPr lang="en-US" b="0" i="0">
                    <a:latin typeface="Cambria Math" panose="02040503050406030204" pitchFamily="18" charset="0"/>
                  </a:rPr>
                  <a:t>𝑖_𝑛𝑜𝑟𝑚)</a:t>
                </a:r>
                <a:endParaRPr lang="en-US" dirty="0"/>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US" dirty="0"/>
                  <a:t> </a:t>
                </a:r>
                <a:r>
                  <a:rPr lang="en-US" sz="1200" dirty="0"/>
                  <a:t>Ukoliko se </a:t>
                </a:r>
                <a:r>
                  <a:rPr lang="en-US" sz="1200" dirty="0" err="1"/>
                  <a:t>želi</a:t>
                </a:r>
                <a:r>
                  <a:rPr lang="en-US" sz="1200" dirty="0"/>
                  <a:t> </a:t>
                </a:r>
                <a:r>
                  <a:rPr lang="en-US" sz="1200" dirty="0" err="1"/>
                  <a:t>kodiranje</a:t>
                </a:r>
                <a:r>
                  <a:rPr lang="en-US" sz="1200" dirty="0"/>
                  <a:t> </a:t>
                </a:r>
                <a:r>
                  <a:rPr lang="en-US" sz="1200" dirty="0" err="1"/>
                  <a:t>između</a:t>
                </a:r>
                <a:r>
                  <a:rPr lang="en-US" sz="1200" dirty="0"/>
                  <a:t>  </a:t>
                </a:r>
                <a:r>
                  <a:rPr lang="en-US" b="0" i="0">
                    <a:latin typeface="Cambria Math" panose="02040503050406030204" pitchFamily="18" charset="0"/>
                  </a:rPr>
                  <a:t>[</a:t>
                </a:r>
                <a:r>
                  <a:rPr lang="sr-Latn-RS" b="0" i="0">
                    <a:latin typeface="Cambria Math" panose="02040503050406030204" pitchFamily="18" charset="0"/>
                  </a:rPr>
                  <a:t>−</a:t>
                </a:r>
                <a:r>
                  <a:rPr lang="sr-Latn-RS" b="0" i="0">
                    <a:latin typeface="Cambria Math" panose="02040503050406030204" pitchFamily="18" charset="0"/>
                    <a:ea typeface="Cambria Math" panose="02040503050406030204" pitchFamily="18" charset="0"/>
                  </a:rPr>
                  <a:t>𝜋</a:t>
                </a:r>
                <a:r>
                  <a:rPr lang="en-US" b="0" i="0">
                    <a:latin typeface="Cambria Math" panose="02040503050406030204" pitchFamily="18" charset="0"/>
                  </a:rPr>
                  <a:t>,</a:t>
                </a:r>
                <a:r>
                  <a:rPr lang="sr-Latn-RS" b="0" i="0">
                    <a:latin typeface="Cambria Math" panose="02040503050406030204" pitchFamily="18" charset="0"/>
                    <a:ea typeface="Cambria Math" panose="02040503050406030204" pitchFamily="18" charset="0"/>
                  </a:rPr>
                  <a:t>𝜋]</a:t>
                </a:r>
                <a:r>
                  <a:rPr lang="en-US" dirty="0"/>
                  <a:t> </a:t>
                </a:r>
                <a:r>
                  <a:rPr lang="en-US" dirty="0" err="1"/>
                  <a:t>ugao</a:t>
                </a:r>
                <a:r>
                  <a:rPr lang="en-US" dirty="0"/>
                  <a:t> </a:t>
                </a:r>
                <a:r>
                  <a:rPr lang="en-US" dirty="0" err="1"/>
                  <a:t>rotacije</a:t>
                </a:r>
                <a:r>
                  <a:rPr lang="en-US" dirty="0"/>
                  <a:t> se </a:t>
                </a:r>
                <a:r>
                  <a:rPr lang="en-US" dirty="0" err="1"/>
                  <a:t>dobija</a:t>
                </a:r>
                <a:r>
                  <a:rPr lang="en-US" dirty="0"/>
                  <a:t> </a:t>
                </a:r>
                <a:r>
                  <a:rPr lang="en-US" dirty="0" err="1"/>
                  <a:t>kao</a:t>
                </a:r>
                <a:r>
                  <a:rPr lang="en-US" dirty="0"/>
                  <a:t> </a:t>
                </a:r>
                <a:r>
                  <a:rPr lang="el-GR" b="0" i="0">
                    <a:latin typeface="Cambria Math" panose="02040503050406030204" pitchFamily="18" charset="0"/>
                    <a:ea typeface="Cambria Math" panose="02040503050406030204" pitchFamily="18" charset="0"/>
                  </a:rPr>
                  <a:t>θ_</a:t>
                </a:r>
                <a:r>
                  <a:rPr lang="sr-Latn-RS" b="0" i="0">
                    <a:latin typeface="Cambria Math" panose="02040503050406030204" pitchFamily="18" charset="0"/>
                    <a:ea typeface="Cambria Math" panose="02040503050406030204" pitchFamily="18" charset="0"/>
                  </a:rPr>
                  <a:t>𝑖=</a:t>
                </a:r>
                <a:r>
                  <a:rPr lang="en-US" i="0">
                    <a:latin typeface="Cambria Math" panose="02040503050406030204" pitchFamily="18" charset="0"/>
                  </a:rPr>
                  <a:t>〖</a:t>
                </a:r>
                <a:r>
                  <a:rPr lang="en-US" b="0" i="0">
                    <a:latin typeface="Cambria Math" panose="02040503050406030204" pitchFamily="18" charset="0"/>
                  </a:rPr>
                  <a:t>2</a:t>
                </a:r>
                <a:r>
                  <a:rPr lang="sr-Latn-RS" b="0" i="0">
                    <a:latin typeface="Cambria Math" panose="02040503050406030204" pitchFamily="18" charset="0"/>
                    <a:ea typeface="Cambria Math" panose="02040503050406030204" pitchFamily="18" charset="0"/>
                  </a:rPr>
                  <a:t>𝜋</a:t>
                </a:r>
                <a:r>
                  <a:rPr lang="en-US" i="0">
                    <a:latin typeface="Cambria Math" panose="02040503050406030204" pitchFamily="18" charset="0"/>
                  </a:rPr>
                  <a:t>𝑥〗_(</a:t>
                </a:r>
                <a:r>
                  <a:rPr lang="en-US" b="0" i="0">
                    <a:latin typeface="Cambria Math" panose="02040503050406030204" pitchFamily="18" charset="0"/>
                  </a:rPr>
                  <a:t>𝑖_𝑛𝑜𝑟𝑚)</a:t>
                </a:r>
                <a:r>
                  <a:rPr lang="sr-Latn-RS" b="0" i="0">
                    <a:latin typeface="Cambria Math" panose="02040503050406030204" pitchFamily="18" charset="0"/>
                  </a:rPr>
                  <a:t>−</a:t>
                </a:r>
                <a:r>
                  <a:rPr lang="sr-Latn-RS" b="0" i="0">
                    <a:latin typeface="Cambria Math" panose="02040503050406030204" pitchFamily="18" charset="0"/>
                    <a:ea typeface="Cambria Math" panose="02040503050406030204" pitchFamily="18" charset="0"/>
                  </a:rPr>
                  <a:t>𝜋</a:t>
                </a:r>
                <a:endParaRPr lang="en-US" dirty="0"/>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US" dirty="0" err="1"/>
                  <a:t>Zatim</a:t>
                </a:r>
                <a:r>
                  <a:rPr lang="en-US" dirty="0"/>
                  <a:t> se </a:t>
                </a:r>
                <a:r>
                  <a:rPr lang="en-US" dirty="0" err="1"/>
                  <a:t>programskim</a:t>
                </a:r>
                <a:r>
                  <a:rPr lang="en-US" dirty="0"/>
                  <a:t> </a:t>
                </a:r>
                <a:r>
                  <a:rPr lang="en-US" dirty="0" err="1"/>
                  <a:t>metodom</a:t>
                </a:r>
                <a:r>
                  <a:rPr lang="en-US" dirty="0"/>
                  <a:t> </a:t>
                </a:r>
                <a:r>
                  <a:rPr lang="en-US" dirty="0" err="1"/>
                  <a:t>kreira</a:t>
                </a:r>
                <a:r>
                  <a:rPr lang="en-US" dirty="0"/>
                  <a:t> </a:t>
                </a:r>
                <a:r>
                  <a:rPr lang="en-US" dirty="0" err="1"/>
                  <a:t>kvantno</a:t>
                </a:r>
                <a:r>
                  <a:rPr lang="en-US" dirty="0"/>
                  <a:t> </a:t>
                </a:r>
                <a:r>
                  <a:rPr lang="en-US" dirty="0" err="1"/>
                  <a:t>kolo</a:t>
                </a:r>
                <a:r>
                  <a:rPr lang="en-US" dirty="0"/>
                  <a:t> </a:t>
                </a:r>
                <a:r>
                  <a:rPr lang="en-US" dirty="0" err="1"/>
                  <a:t>koje</a:t>
                </a:r>
                <a:r>
                  <a:rPr lang="en-US" dirty="0"/>
                  <a:t> </a:t>
                </a:r>
                <a:r>
                  <a:rPr lang="en-US" dirty="0" err="1"/>
                  <a:t>će</a:t>
                </a:r>
                <a:r>
                  <a:rPr lang="en-US" dirty="0"/>
                  <a:t> </a:t>
                </a:r>
                <a:r>
                  <a:rPr lang="en-US" dirty="0" err="1"/>
                  <a:t>sadržati</a:t>
                </a:r>
                <a:r>
                  <a:rPr lang="en-US" dirty="0"/>
                  <a:t> </a:t>
                </a:r>
                <a:r>
                  <a:rPr lang="en-US" dirty="0" err="1"/>
                  <a:t>elementarna</a:t>
                </a:r>
                <a:r>
                  <a:rPr lang="en-US" dirty="0"/>
                  <a:t> </a:t>
                </a:r>
                <a:r>
                  <a:rPr lang="en-US" dirty="0" err="1"/>
                  <a:t>rotaciona</a:t>
                </a:r>
                <a:r>
                  <a:rPr lang="en-US" dirty="0"/>
                  <a:t> kola, </a:t>
                </a:r>
                <a:r>
                  <a:rPr lang="en-US" dirty="0" err="1"/>
                  <a:t>obično</a:t>
                </a:r>
                <a:r>
                  <a:rPr lang="en-US" dirty="0"/>
                  <a:t> Rx </a:t>
                </a:r>
                <a:r>
                  <a:rPr lang="en-US" dirty="0" err="1"/>
                  <a:t>ili</a:t>
                </a:r>
                <a:r>
                  <a:rPr lang="en-US" dirty="0"/>
                  <a:t> Ry</a:t>
                </a: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dirty="0"/>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US" dirty="0" err="1"/>
                  <a:t>Ovaj</a:t>
                </a:r>
                <a:r>
                  <a:rPr lang="en-US" dirty="0"/>
                  <a:t> primer </a:t>
                </a:r>
                <a:r>
                  <a:rPr lang="en-US" dirty="0" err="1"/>
                  <a:t>je</a:t>
                </a:r>
                <a:r>
                  <a:rPr lang="en-US" dirty="0"/>
                  <a:t> </a:t>
                </a:r>
                <a:r>
                  <a:rPr lang="en-US" dirty="0" err="1"/>
                  <a:t>samo</a:t>
                </a:r>
                <a:r>
                  <a:rPr lang="en-US" dirty="0"/>
                  <a:t> </a:t>
                </a:r>
                <a:r>
                  <a:rPr lang="en-US" dirty="0" err="1"/>
                  <a:t>ilustracija</a:t>
                </a:r>
                <a:r>
                  <a:rPr lang="en-US" dirty="0"/>
                  <a:t>, a </a:t>
                </a:r>
                <a:r>
                  <a:rPr lang="en-US" dirty="0" err="1"/>
                  <a:t>programer</a:t>
                </a:r>
                <a:r>
                  <a:rPr lang="en-US" dirty="0"/>
                  <a:t> </a:t>
                </a:r>
                <a:r>
                  <a:rPr lang="en-US" dirty="0" err="1"/>
                  <a:t>može</a:t>
                </a:r>
                <a:r>
                  <a:rPr lang="en-US" dirty="0"/>
                  <a:t> </a:t>
                </a:r>
                <a:r>
                  <a:rPr lang="en-US" dirty="0" err="1"/>
                  <a:t>razviti</a:t>
                </a:r>
                <a:r>
                  <a:rPr lang="en-US" dirty="0"/>
                  <a:t> </a:t>
                </a:r>
                <a:r>
                  <a:rPr lang="en-US" dirty="0" err="1"/>
                  <a:t>i</a:t>
                </a:r>
                <a:r>
                  <a:rPr lang="en-US" dirty="0"/>
                  <a:t> </a:t>
                </a:r>
                <a:r>
                  <a:rPr lang="en-US" dirty="0" err="1"/>
                  <a:t>neku</a:t>
                </a:r>
                <a:r>
                  <a:rPr lang="en-US" dirty="0"/>
                  <a:t> </a:t>
                </a:r>
                <a:r>
                  <a:rPr lang="en-US" dirty="0" err="1"/>
                  <a:t>svoju</a:t>
                </a:r>
                <a:r>
                  <a:rPr lang="en-US" dirty="0"/>
                  <a:t> </a:t>
                </a:r>
                <a:r>
                  <a:rPr lang="en-US" dirty="0" err="1"/>
                  <a:t>metodu</a:t>
                </a:r>
                <a:r>
                  <a:rPr lang="en-US" dirty="0"/>
                  <a:t> </a:t>
                </a:r>
                <a:r>
                  <a:rPr lang="en-US" dirty="0" err="1"/>
                  <a:t>ukoliko</a:t>
                </a:r>
                <a:r>
                  <a:rPr lang="en-US" dirty="0"/>
                  <a:t> </a:t>
                </a:r>
                <a:r>
                  <a:rPr lang="en-US" dirty="0" err="1"/>
                  <a:t>želi</a:t>
                </a:r>
                <a:r>
                  <a:rPr lang="en-US" dirty="0"/>
                  <a:t> da </a:t>
                </a:r>
                <a:r>
                  <a:rPr lang="en-US" dirty="0" err="1"/>
                  <a:t>očuva</a:t>
                </a:r>
                <a:r>
                  <a:rPr lang="en-US" dirty="0"/>
                  <a:t> </a:t>
                </a:r>
                <a:r>
                  <a:rPr lang="en-US" dirty="0" err="1"/>
                  <a:t>neke</a:t>
                </a:r>
                <a:r>
                  <a:rPr lang="en-US" dirty="0"/>
                  <a:t> </a:t>
                </a:r>
                <a:r>
                  <a:rPr lang="en-US" dirty="0" err="1"/>
                  <a:t>karakteristike</a:t>
                </a:r>
                <a:r>
                  <a:rPr lang="en-US" dirty="0"/>
                  <a:t> </a:t>
                </a:r>
                <a:r>
                  <a:rPr lang="en-US" dirty="0" err="1"/>
                  <a:t>podataka</a:t>
                </a:r>
                <a:r>
                  <a:rPr lang="en-US" dirty="0"/>
                  <a:t>, </a:t>
                </a:r>
                <a:r>
                  <a:rPr lang="en-US" dirty="0" err="1"/>
                  <a:t>na</a:t>
                </a:r>
                <a:r>
                  <a:rPr lang="en-US" dirty="0"/>
                  <a:t> primer, </a:t>
                </a:r>
                <a:r>
                  <a:rPr lang="en-US" dirty="0" err="1"/>
                  <a:t>razliku</a:t>
                </a:r>
                <a:r>
                  <a:rPr lang="en-US" dirty="0"/>
                  <a:t> </a:t>
                </a:r>
                <a:r>
                  <a:rPr lang="en-US" dirty="0" err="1"/>
                  <a:t>ili</a:t>
                </a:r>
                <a:r>
                  <a:rPr lang="en-US" dirty="0"/>
                  <a:t> </a:t>
                </a:r>
                <a:r>
                  <a:rPr lang="en-US" dirty="0" err="1"/>
                  <a:t>odnos</a:t>
                </a:r>
                <a:r>
                  <a:rPr lang="en-US" dirty="0"/>
                  <a:t> </a:t>
                </a:r>
                <a:r>
                  <a:rPr lang="en-US" dirty="0" err="1"/>
                  <a:t>između</a:t>
                </a:r>
                <a:r>
                  <a:rPr lang="en-US" dirty="0"/>
                  <a:t> </a:t>
                </a:r>
                <a:r>
                  <a:rPr lang="en-US" dirty="0" err="1"/>
                  <a:t>njih</a:t>
                </a:r>
                <a:r>
                  <a:rPr lang="en-US" dirty="0"/>
                  <a:t>.</a:t>
                </a: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9</a:t>
            </a:fld>
            <a:endParaRPr lang="en-US"/>
          </a:p>
        </p:txBody>
      </p:sp>
    </p:spTree>
    <p:extLst>
      <p:ext uri="{BB962C8B-B14F-4D97-AF65-F5344CB8AC3E}">
        <p14:creationId xmlns:p14="http://schemas.microsoft.com/office/powerpoint/2010/main" val="14375894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2CE5E3-B8BD-D040-AC87-D640191DD8F1}" type="slidenum">
              <a:rPr lang="en-US" smtClean="0"/>
              <a:t>10</a:t>
            </a:fld>
            <a:endParaRPr lang="en-US"/>
          </a:p>
        </p:txBody>
      </p:sp>
    </p:spTree>
    <p:extLst>
      <p:ext uri="{BB962C8B-B14F-4D97-AF65-F5344CB8AC3E}">
        <p14:creationId xmlns:p14="http://schemas.microsoft.com/office/powerpoint/2010/main" val="37931269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Quantum computing makes extensive use of modular arithmetic.</a:t>
                </a:r>
                <a:r>
                  <a:rPr lang="en-ZA" b="0" dirty="0"/>
                  <a:t> </a:t>
                </a:r>
                <a:r>
                  <a:rPr lang="en-ZA" dirty="0"/>
                  <a:t>It is a type of arithmetic in which integers “wrap around” after reaching a certain value called the modulus.</a:t>
                </a:r>
                <a:endParaRPr lang="en-ZA" b="0" dirty="0"/>
              </a:p>
              <a:p>
                <a:pPr algn="just"/>
                <a:endParaRPr lang="en-ZA" b="0" dirty="0"/>
              </a:p>
              <a:p>
                <a:pPr algn="just"/>
                <a:r>
                  <a:rPr lang="en-ZA" b="0" dirty="0"/>
                  <a:t>A simple example is a 12-hour clock: after 12, we return to 1 again. Here, 12 is the modulus. This illustrates the periodic nature of modular arithmetic, where values repeat after a fixed interval.</a:t>
                </a:r>
              </a:p>
              <a:p>
                <a:pPr algn="just"/>
                <a:endParaRPr lang="en-ZA" b="0" dirty="0"/>
              </a:p>
              <a:p>
                <a:pPr algn="just"/>
                <a:r>
                  <a:rPr lang="en-ZA" b="0" dirty="0"/>
                  <a:t>In mathematics, modular arithmetic is described using a congruence relation. We write </a:t>
                </a:r>
                <a14:m>
                  <m:oMath xmlns:m="http://schemas.openxmlformats.org/officeDocument/2006/math">
                    <m:d>
                      <m:dPr>
                        <m:begChr m:val=""/>
                        <m:ctrlPr>
                          <a:rPr lang="en-US" sz="1200" i="1" smtClean="0">
                            <a:latin typeface="Cambria Math" panose="02040503050406030204" pitchFamily="18" charset="0"/>
                          </a:rPr>
                        </m:ctrlPr>
                      </m:dPr>
                      <m:e>
                        <m:r>
                          <a:rPr lang="en-US" sz="1200" i="1">
                            <a:latin typeface="Cambria Math" panose="02040503050406030204" pitchFamily="18" charset="0"/>
                          </a:rPr>
                          <m:t>𝑎</m:t>
                        </m:r>
                        <m:r>
                          <a:rPr lang="en-US" sz="1200" i="0">
                            <a:latin typeface="Cambria Math" panose="02040503050406030204" pitchFamily="18" charset="0"/>
                          </a:rPr>
                          <m:t>≡</m:t>
                        </m:r>
                        <m:r>
                          <a:rPr lang="en-US" sz="1200" i="1">
                            <a:latin typeface="Cambria Math" panose="02040503050406030204" pitchFamily="18" charset="0"/>
                          </a:rPr>
                          <m:t>𝑏</m:t>
                        </m:r>
                        <m:r>
                          <a:rPr lang="en-US" sz="1200" i="0">
                            <a:latin typeface="Cambria Math" panose="02040503050406030204" pitchFamily="18" charset="0"/>
                          </a:rPr>
                          <m:t> (</m:t>
                        </m:r>
                        <m:r>
                          <a:rPr lang="en-US" sz="1200" i="1">
                            <a:latin typeface="Cambria Math" panose="02040503050406030204" pitchFamily="18" charset="0"/>
                          </a:rPr>
                          <m:t>𝑚𝑜𝑑</m:t>
                        </m:r>
                        <m:r>
                          <a:rPr lang="en-US" sz="1200" i="0">
                            <a:latin typeface="Cambria Math" panose="02040503050406030204" pitchFamily="18" charset="0"/>
                          </a:rPr>
                          <m:t> </m:t>
                        </m:r>
                        <m:r>
                          <a:rPr lang="en-US" sz="1200" i="1">
                            <a:latin typeface="Cambria Math" panose="02040503050406030204" pitchFamily="18" charset="0"/>
                          </a:rPr>
                          <m:t>𝑛</m:t>
                        </m:r>
                      </m:e>
                    </m:d>
                  </m:oMath>
                </a14:m>
                <a:r>
                  <a:rPr lang="en-ZA" b="0" dirty="0"/>
                  <a:t>, which means that a and b have the same remainder when divided by n.</a:t>
                </a:r>
              </a:p>
            </p:txBody>
          </p:sp>
        </mc:Choice>
        <mc:Fallback xmlns="">
          <p:sp>
            <p:nvSpPr>
              <p:cNvPr id="3" name="Notes Placeholder 2"/>
              <p:cNvSpPr>
                <a:spLocks noGrp="1"/>
              </p:cNvSpPr>
              <p:nvPr>
                <p:ph type="body" idx="1"/>
              </p:nvPr>
            </p:nvSpPr>
            <p:spPr/>
            <p:txBody>
              <a:bodyPr/>
              <a:lstStyle/>
              <a:p>
                <a:pPr algn="just"/>
                <a:r>
                  <a:rPr lang="en-ZA" b="0" dirty="0"/>
                  <a:t>Quantum computing, in addition to linear algebra and matrix calculations, frequently utilizes modular arithmetic. Modular arithmetic is the arithmetic of integers in which numbers "wrap around" upon reaching a certain value, known as the modulus.</a:t>
                </a:r>
              </a:p>
              <a:p>
                <a:pPr algn="just"/>
                <a:endParaRPr lang="en-ZA" b="0" dirty="0"/>
              </a:p>
              <a:p>
                <a:pPr algn="just"/>
                <a:r>
                  <a:rPr lang="en-ZA" b="0" dirty="0"/>
                  <a:t>For example, consider a 12-hour clock: once the number 12 is reached, the sequence resets and continues from 1 onward. In this scenario, 12 acts as the modulus. This demonstrates intuitively that modular arithmetic is periodic, meaning functions defined using modular arithmetic repeat their values at regular intervals or periods.</a:t>
                </a:r>
              </a:p>
              <a:p>
                <a:pPr algn="just"/>
                <a:endParaRPr lang="en-ZA" b="0" dirty="0"/>
              </a:p>
              <a:p>
                <a:pPr algn="just"/>
                <a:r>
                  <a:rPr lang="en-ZA" b="0" dirty="0"/>
                  <a:t>Mathematically, modular arithmetic defines an equivalence relationship:</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b="0" i="0">
                    <a:latin typeface="Cambria Math" panose="02040503050406030204" pitchFamily="18" charset="0"/>
                  </a:rPr>
                  <a:t>├ 𝑎≡𝑏 (𝑚𝑜𝑑 𝑛)</a:t>
                </a:r>
                <a:endParaRPr lang="en-US" sz="1200" b="0" dirty="0"/>
              </a:p>
              <a:p>
                <a:pPr algn="just"/>
                <a:r>
                  <a:rPr lang="en-ZA" b="0" dirty="0"/>
                  <a:t>This congruence indicates that both numbers </a:t>
                </a:r>
                <a:r>
                  <a:rPr lang="en-US" sz="1200" b="0" i="0">
                    <a:latin typeface="Cambria Math" panose="02040503050406030204" pitchFamily="18" charset="0"/>
                  </a:rPr>
                  <a:t>𝑎</a:t>
                </a:r>
                <a:r>
                  <a:rPr lang="en-ZA" b="0" dirty="0"/>
                  <a:t> and </a:t>
                </a:r>
                <a:r>
                  <a:rPr lang="en-US" sz="1200" b="0" i="0">
                    <a:latin typeface="Cambria Math" panose="02040503050406030204" pitchFamily="18" charset="0"/>
                  </a:rPr>
                  <a:t>𝑏</a:t>
                </a:r>
                <a:r>
                  <a:rPr lang="en-ZA" b="0" dirty="0"/>
                  <a:t> leave the same remainder upon division by </a:t>
                </a:r>
                <a:r>
                  <a:rPr lang="en-US" sz="1200" b="0" i="0">
                    <a:latin typeface="Cambria Math" panose="02040503050406030204" pitchFamily="18" charset="0"/>
                  </a:rPr>
                  <a:t>𝑛</a:t>
                </a:r>
                <a:r>
                  <a:rPr lang="en-ZA" b="0" dirty="0"/>
                  <a:t>. It is important not to confuse this equivalence relation with the modulo operator (often written as </a:t>
                </a:r>
                <a:r>
                  <a:rPr lang="en-US" sz="1200" b="0" i="0">
                    <a:latin typeface="Cambria Math" panose="02040503050406030204" pitchFamily="18" charset="0"/>
                  </a:rPr>
                  <a:t>𝑎%𝑛</a:t>
                </a:r>
                <a:r>
                  <a:rPr lang="en-ZA" b="0" dirty="0"/>
                  <a:t>), which explicitly computes the remainder when </a:t>
                </a:r>
                <a:r>
                  <a:rPr lang="en-ZA" b="0" dirty="0" err="1"/>
                  <a:t>aaa</a:t>
                </a:r>
                <a:r>
                  <a:rPr lang="en-ZA" b="0" dirty="0"/>
                  <a:t> is divided by </a:t>
                </a:r>
                <a:r>
                  <a:rPr lang="en-US" sz="1200" b="0" i="0">
                    <a:latin typeface="Cambria Math" panose="02040503050406030204" pitchFamily="18" charset="0"/>
                  </a:rPr>
                  <a:t>𝑛</a:t>
                </a:r>
                <a:r>
                  <a:rPr lang="en-ZA" b="0" dirty="0"/>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11</a:t>
            </a:fld>
            <a:endParaRPr lang="en-US"/>
          </a:p>
        </p:txBody>
      </p:sp>
    </p:spTree>
    <p:extLst>
      <p:ext uri="{BB962C8B-B14F-4D97-AF65-F5344CB8AC3E}">
        <p14:creationId xmlns:p14="http://schemas.microsoft.com/office/powerpoint/2010/main" val="41220525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0" dirty="0"/>
                  <a:t>A half-adder performs the addition of two binary digits. </a:t>
                </a:r>
                <a:r>
                  <a:rPr lang="en-ZA" dirty="0"/>
                  <a:t>It takes two input bits, x1​ and x2​, and produces two outputs:</a:t>
                </a:r>
              </a:p>
              <a:p>
                <a:endParaRPr lang="en-ZA" dirty="0"/>
              </a:p>
              <a:p>
                <a:pPr marL="171450" indent="-171450">
                  <a:buFont typeface="Arial" panose="020B0604020202020204" pitchFamily="34" charset="0"/>
                  <a:buChar char="•"/>
                </a:pPr>
                <a:r>
                  <a:rPr lang="en-ZA" dirty="0"/>
                  <a:t>The </a:t>
                </a:r>
                <a:r>
                  <a:rPr lang="en-ZA" b="1" dirty="0"/>
                  <a:t>sum</a:t>
                </a:r>
                <a:r>
                  <a:rPr lang="en-ZA" dirty="0"/>
                  <a:t> S, which is the XOR of the two inputs and therefore represents addition modulo 2. </a:t>
                </a:r>
              </a:p>
              <a:p>
                <a:pPr marL="171450" indent="-171450">
                  <a:buFont typeface="Arial" panose="020B0604020202020204" pitchFamily="34" charset="0"/>
                  <a:buChar char="•"/>
                </a:pPr>
                <a:r>
                  <a:rPr lang="en-ZA" dirty="0"/>
                  <a:t>The </a:t>
                </a:r>
                <a:r>
                  <a:rPr lang="en-ZA" b="1" dirty="0"/>
                  <a:t>carry</a:t>
                </a:r>
                <a:r>
                  <a:rPr lang="en-ZA" dirty="0"/>
                  <a:t> C, which is 1 only when both inputs are 1. </a:t>
                </a:r>
              </a:p>
              <a:p>
                <a:endParaRPr lang="en-ZA" dirty="0"/>
              </a:p>
              <a:p>
                <a:r>
                  <a:rPr lang="en-ZA" dirty="0"/>
                  <a:t>The truth table shows how the half-adder works. If both inputs are 0, the sum is 0. If one input is 1, the sum is 1. But when both inputs are 1, the sum wraps back to 0 and the carry bit C becomes 1. This is similar to regular decimal addition: when a digit exceeds its allowed range, it resets and a carry is passed to the next position.</a:t>
                </a:r>
              </a:p>
              <a:p>
                <a:endParaRPr lang="en-ZA" dirty="0"/>
              </a:p>
              <a:p>
                <a:r>
                  <a:rPr lang="en-ZA" b="0" dirty="0"/>
                  <a:t>A quantum half-adder circuit can be built using two types of gates:</a:t>
                </a:r>
              </a:p>
              <a:p>
                <a:r>
                  <a:rPr lang="en-ZA" b="0" dirty="0"/>
                  <a:t>A CNOT gate to compute the sum S. </a:t>
                </a:r>
              </a:p>
              <a:p>
                <a:r>
                  <a:rPr lang="en-ZA" b="0" dirty="0"/>
                  <a:t>A </a:t>
                </a:r>
                <a:r>
                  <a:rPr lang="en-ZA" b="0" dirty="0" err="1"/>
                  <a:t>Toffoli</a:t>
                </a:r>
                <a:r>
                  <a:rPr lang="en-ZA" b="0" dirty="0"/>
                  <a:t> (CCNOT) gate to compute the carry C. </a:t>
                </a:r>
              </a:p>
              <a:p>
                <a:endParaRPr lang="en-ZA" b="0" dirty="0"/>
              </a:p>
            </p:txBody>
          </p:sp>
        </mc:Choice>
        <mc:Fallback xmlns="">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A half-adder is a fundamental quantum circuit that performs addition modulo 2. It has two input qubits, </a:t>
                </a:r>
                <a:r>
                  <a:rPr lang="en-US" i="0">
                    <a:latin typeface="Cambria Math" panose="02040503050406030204" pitchFamily="18" charset="0"/>
                  </a:rPr>
                  <a:t>𝑥_</a:t>
                </a:r>
                <a:r>
                  <a:rPr lang="en-US" b="0" i="0">
                    <a:latin typeface="Cambria Math" panose="02040503050406030204" pitchFamily="18" charset="0"/>
                  </a:rPr>
                  <a:t>1</a:t>
                </a:r>
                <a:r>
                  <a:rPr lang="en-ZA" b="0" dirty="0"/>
                  <a:t> and </a:t>
                </a:r>
                <a:r>
                  <a:rPr lang="en-US" i="0">
                    <a:latin typeface="Cambria Math" panose="02040503050406030204" pitchFamily="18" charset="0"/>
                  </a:rPr>
                  <a:t>𝑥_</a:t>
                </a:r>
                <a:r>
                  <a:rPr lang="en-US" b="0" i="0">
                    <a:latin typeface="Cambria Math" panose="02040503050406030204" pitchFamily="18" charset="0"/>
                  </a:rPr>
                  <a:t>2</a:t>
                </a:r>
                <a:r>
                  <a:rPr lang="en-ZA" b="0" dirty="0"/>
                  <a:t>, and produces two outputs: a sum qubit </a:t>
                </a:r>
                <a:r>
                  <a:rPr lang="en-US" i="0">
                    <a:latin typeface="Cambria Math" panose="02040503050406030204" pitchFamily="18" charset="0"/>
                  </a:rPr>
                  <a:t>𝑆</a:t>
                </a:r>
                <a:r>
                  <a:rPr lang="en-ZA" b="0" dirty="0"/>
                  <a:t> and a carry qubit </a:t>
                </a:r>
                <a:r>
                  <a:rPr lang="en-US" i="0">
                    <a:latin typeface="Cambria Math" panose="02040503050406030204" pitchFamily="18" charset="0"/>
                  </a:rPr>
                  <a:t>𝐶</a:t>
                </a:r>
                <a:r>
                  <a:rPr lang="en-ZA" b="0" dirty="0"/>
                  <a:t>. The sum qubit </a:t>
                </a:r>
                <a:r>
                  <a:rPr lang="en-US" i="0">
                    <a:latin typeface="Cambria Math" panose="02040503050406030204" pitchFamily="18" charset="0"/>
                  </a:rPr>
                  <a:t>𝑆</a:t>
                </a:r>
                <a:r>
                  <a:rPr lang="en-ZA" b="0" dirty="0"/>
                  <a:t> represents the result of an XOR operation between </a:t>
                </a:r>
                <a:r>
                  <a:rPr lang="en-US" i="0">
                    <a:latin typeface="Cambria Math" panose="02040503050406030204" pitchFamily="18" charset="0"/>
                  </a:rPr>
                  <a:t>𝑥_</a:t>
                </a:r>
                <a:r>
                  <a:rPr lang="en-US" b="0" i="0">
                    <a:latin typeface="Cambria Math" panose="02040503050406030204" pitchFamily="18" charset="0"/>
                  </a:rPr>
                  <a:t>1</a:t>
                </a:r>
                <a:r>
                  <a:rPr lang="en-ZA" b="0" dirty="0"/>
                  <a:t> and </a:t>
                </a:r>
                <a:r>
                  <a:rPr lang="en-US" i="0">
                    <a:latin typeface="Cambria Math" panose="02040503050406030204" pitchFamily="18" charset="0"/>
                  </a:rPr>
                  <a:t>𝑥_</a:t>
                </a:r>
                <a:r>
                  <a:rPr lang="en-US" b="0" i="0">
                    <a:latin typeface="Cambria Math" panose="02040503050406030204" pitchFamily="18" charset="0"/>
                  </a:rPr>
                  <a:t>2</a:t>
                </a:r>
                <a:r>
                  <a:rPr lang="en-ZA" b="0" dirty="0"/>
                  <a:t>, while the carry qubit </a:t>
                </a:r>
                <a:r>
                  <a:rPr lang="en-US" i="0">
                    <a:latin typeface="Cambria Math" panose="02040503050406030204" pitchFamily="18" charset="0"/>
                  </a:rPr>
                  <a:t>𝐶</a:t>
                </a:r>
                <a:r>
                  <a:rPr lang="en-ZA" b="0" dirty="0"/>
                  <a:t> holds the carry bit, which is 1 only when both inputs are 1.</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b="0" dirty="0"/>
              </a:p>
              <a:p>
                <a:pPr algn="just"/>
                <a:r>
                  <a:rPr lang="en-ZA" b="0" dirty="0"/>
                  <a:t>The half-adder circuit is implemented using a CNOT gate and a </a:t>
                </a:r>
                <a:r>
                  <a:rPr lang="en-ZA" b="0" dirty="0" err="1"/>
                  <a:t>Toffoli</a:t>
                </a:r>
                <a:r>
                  <a:rPr lang="en-ZA" b="0" dirty="0"/>
                  <a:t> gate:</a:t>
                </a:r>
              </a:p>
              <a:p>
                <a:pPr marL="171450" indent="-171450" algn="just">
                  <a:buFont typeface="Arial" panose="020B0604020202020204" pitchFamily="34" charset="0"/>
                  <a:buChar char="•"/>
                </a:pPr>
                <a:r>
                  <a:rPr lang="en-ZA" b="0" dirty="0"/>
                  <a:t>The CNOT gate computes the sum </a:t>
                </a:r>
                <a:r>
                  <a:rPr lang="en-US" i="0">
                    <a:latin typeface="Cambria Math" panose="02040503050406030204" pitchFamily="18" charset="0"/>
                  </a:rPr>
                  <a:t>𝑆</a:t>
                </a:r>
                <a:r>
                  <a:rPr lang="en-ZA" b="0" dirty="0"/>
                  <a:t> by performing an XOR operation on </a:t>
                </a:r>
                <a:r>
                  <a:rPr lang="en-US" i="0">
                    <a:latin typeface="Cambria Math" panose="02040503050406030204" pitchFamily="18" charset="0"/>
                  </a:rPr>
                  <a:t>𝑥_</a:t>
                </a:r>
                <a:r>
                  <a:rPr lang="en-US" b="0" i="0">
                    <a:latin typeface="Cambria Math" panose="02040503050406030204" pitchFamily="18" charset="0"/>
                  </a:rPr>
                  <a:t>1</a:t>
                </a:r>
                <a:r>
                  <a:rPr lang="en-ZA" b="0" dirty="0"/>
                  <a:t> and </a:t>
                </a:r>
                <a:r>
                  <a:rPr lang="en-US" i="0">
                    <a:latin typeface="Cambria Math" panose="02040503050406030204" pitchFamily="18" charset="0"/>
                  </a:rPr>
                  <a:t>𝑥_</a:t>
                </a:r>
                <a:r>
                  <a:rPr lang="en-US" b="0" i="0">
                    <a:latin typeface="Cambria Math" panose="02040503050406030204" pitchFamily="18" charset="0"/>
                  </a:rPr>
                  <a:t>2</a:t>
                </a:r>
                <a:r>
                  <a:rPr lang="en-ZA" b="0" dirty="0"/>
                  <a:t>.</a:t>
                </a:r>
              </a:p>
              <a:p>
                <a:pPr marL="171450" indent="-171450" algn="just">
                  <a:buFont typeface="Arial" panose="020B0604020202020204" pitchFamily="34" charset="0"/>
                  <a:buChar char="•"/>
                </a:pPr>
                <a:r>
                  <a:rPr lang="en-ZA" b="0" dirty="0"/>
                  <a:t>The </a:t>
                </a:r>
                <a:r>
                  <a:rPr lang="en-ZA" b="0" dirty="0" err="1"/>
                  <a:t>Toffoli</a:t>
                </a:r>
                <a:r>
                  <a:rPr lang="en-ZA" b="0" dirty="0"/>
                  <a:t> gate (CCNOT gate) detects the carry condition: it sets </a:t>
                </a:r>
                <a:r>
                  <a:rPr lang="en-US" i="0">
                    <a:latin typeface="Cambria Math" panose="02040503050406030204" pitchFamily="18" charset="0"/>
                  </a:rPr>
                  <a:t>𝐶</a:t>
                </a:r>
                <a:r>
                  <a:rPr lang="en-ZA" b="0" dirty="0"/>
                  <a:t> to 1 only if both </a:t>
                </a:r>
                <a:r>
                  <a:rPr lang="en-US" i="0">
                    <a:latin typeface="Cambria Math" panose="02040503050406030204" pitchFamily="18" charset="0"/>
                  </a:rPr>
                  <a:t>𝑥_</a:t>
                </a:r>
                <a:r>
                  <a:rPr lang="en-US" b="0" i="0">
                    <a:latin typeface="Cambria Math" panose="02040503050406030204" pitchFamily="18" charset="0"/>
                  </a:rPr>
                  <a:t>1</a:t>
                </a:r>
                <a:r>
                  <a:rPr lang="en-ZA" b="0" dirty="0"/>
                  <a:t> and </a:t>
                </a:r>
                <a:r>
                  <a:rPr lang="en-US" i="0">
                    <a:latin typeface="Cambria Math" panose="02040503050406030204" pitchFamily="18" charset="0"/>
                  </a:rPr>
                  <a:t>𝑥_</a:t>
                </a:r>
                <a:r>
                  <a:rPr lang="en-US" b="0" i="0">
                    <a:latin typeface="Cambria Math" panose="02040503050406030204" pitchFamily="18" charset="0"/>
                  </a:rPr>
                  <a:t>2</a:t>
                </a:r>
                <a:r>
                  <a:rPr lang="en-ZA" b="0" dirty="0"/>
                  <a:t> are 1.</a:t>
                </a:r>
              </a:p>
              <a:p>
                <a:pPr marL="171450" indent="-171450" algn="just">
                  <a:buFont typeface="Arial" panose="020B0604020202020204" pitchFamily="34" charset="0"/>
                  <a:buChar char="•"/>
                </a:pPr>
                <a:endParaRPr lang="en-ZA" b="0" dirty="0"/>
              </a:p>
              <a:p>
                <a:pPr algn="just"/>
                <a:r>
                  <a:rPr lang="en-ZA" b="0" dirty="0"/>
                  <a:t>This circuit is a building block for more complex quantum arithmetic operations, such as full adders and multi-qubit addition.</a:t>
                </a:r>
              </a:p>
              <a:p>
                <a:pPr algn="just"/>
                <a:endParaRPr lang="sr-Latn-RS" sz="1200" b="0" kern="1200" dirty="0">
                  <a:solidFill>
                    <a:schemeClr val="tx1"/>
                  </a:solidFill>
                  <a:effectLst/>
                  <a:latin typeface="+mn-lt"/>
                  <a:ea typeface="+mn-ea"/>
                  <a:cs typeface="+mn-cs"/>
                </a:endParaRPr>
              </a:p>
              <a:p>
                <a:pPr algn="just"/>
                <a:endParaRPr lang="sr-Latn-RS" sz="1200" b="0" kern="1200" dirty="0">
                  <a:solidFill>
                    <a:schemeClr val="tx1"/>
                  </a:solidFill>
                  <a:effectLst/>
                  <a:latin typeface="+mn-lt"/>
                  <a:ea typeface="+mn-ea"/>
                  <a:cs typeface="+mn-cs"/>
                </a:endParaRPr>
              </a:p>
              <a:p>
                <a:pPr algn="just"/>
                <a:endParaRPr lang="sr-Latn-RS" sz="1200" b="0" kern="1200" dirty="0">
                  <a:solidFill>
                    <a:schemeClr val="tx1"/>
                  </a:solidFill>
                  <a:effectLst/>
                  <a:latin typeface="+mn-lt"/>
                  <a:ea typeface="+mn-ea"/>
                  <a:cs typeface="+mn-cs"/>
                </a:endParaRPr>
              </a:p>
              <a:p>
                <a:pPr algn="just"/>
                <a:endParaRPr lang="sr-Latn-RS" sz="1200" b="0" kern="1200" dirty="0">
                  <a:solidFill>
                    <a:schemeClr val="tx1"/>
                  </a:solidFill>
                  <a:effectLst/>
                  <a:latin typeface="+mn-lt"/>
                  <a:ea typeface="+mn-ea"/>
                  <a:cs typeface="+mn-cs"/>
                </a:endParaRPr>
              </a:p>
              <a:p>
                <a:pPr algn="just"/>
                <a:r>
                  <a:rPr lang="sr-Latn-RS" sz="1200" b="0" kern="1200" dirty="0">
                    <a:solidFill>
                      <a:schemeClr val="tx1"/>
                    </a:solidFill>
                    <a:effectLst/>
                    <a:latin typeface="+mn-lt"/>
                    <a:ea typeface="+mn-ea"/>
                    <a:cs typeface="+mn-cs"/>
                  </a:rPr>
                  <a:t>Osnovno kolo koje vrši sabiranje po modulu 2 naziva se </a:t>
                </a:r>
                <a:r>
                  <a:rPr lang="sr-Latn-RS" sz="1200" b="0" kern="1200" dirty="0" err="1">
                    <a:solidFill>
                      <a:schemeClr val="tx1"/>
                    </a:solidFill>
                    <a:effectLst/>
                    <a:latin typeface="+mn-lt"/>
                    <a:ea typeface="+mn-ea"/>
                    <a:cs typeface="+mn-cs"/>
                  </a:rPr>
                  <a:t>polusabirač</a:t>
                </a:r>
                <a:r>
                  <a:rPr lang="sr-Latn-RS" sz="1200" b="0" kern="1200" dirty="0">
                    <a:solidFill>
                      <a:schemeClr val="tx1"/>
                    </a:solidFill>
                    <a:effectLst/>
                    <a:latin typeface="+mn-lt"/>
                    <a:ea typeface="+mn-ea"/>
                    <a:cs typeface="+mn-cs"/>
                  </a:rPr>
                  <a:t>. Ime potiče od činjenice da kolo ima </a:t>
                </a:r>
                <a:r>
                  <a:rPr lang="sr-Latn-RS" sz="1200" b="0" kern="1200" dirty="0" err="1">
                    <a:solidFill>
                      <a:schemeClr val="tx1"/>
                    </a:solidFill>
                    <a:effectLst/>
                    <a:latin typeface="+mn-lt"/>
                    <a:ea typeface="+mn-ea"/>
                    <a:cs typeface="+mn-cs"/>
                  </a:rPr>
                  <a:t>jednokubitni</a:t>
                </a:r>
                <a:r>
                  <a:rPr lang="sr-Latn-RS" sz="1200" b="0" kern="1200" dirty="0">
                    <a:solidFill>
                      <a:schemeClr val="tx1"/>
                    </a:solidFill>
                    <a:effectLst/>
                    <a:latin typeface="+mn-lt"/>
                    <a:ea typeface="+mn-ea"/>
                    <a:cs typeface="+mn-cs"/>
                  </a:rPr>
                  <a:t> izlaz, dok se prenos u veći razred stavlja u poseban kubit. Ulazi u </a:t>
                </a:r>
                <a:r>
                  <a:rPr lang="sr-Latn-RS" sz="1200" b="0" kern="1200" dirty="0" err="1">
                    <a:solidFill>
                      <a:schemeClr val="tx1"/>
                    </a:solidFill>
                    <a:effectLst/>
                    <a:latin typeface="+mn-lt"/>
                    <a:ea typeface="+mn-ea"/>
                    <a:cs typeface="+mn-cs"/>
                  </a:rPr>
                  <a:t>polusabirač</a:t>
                </a:r>
                <a:r>
                  <a:rPr lang="sr-Latn-RS" sz="1200" b="0" kern="1200" dirty="0">
                    <a:solidFill>
                      <a:schemeClr val="tx1"/>
                    </a:solidFill>
                    <a:effectLst/>
                    <a:latin typeface="+mn-lt"/>
                    <a:ea typeface="+mn-ea"/>
                    <a:cs typeface="+mn-cs"/>
                  </a:rPr>
                  <a:t> su kubiti x1 i x2, Kubit S predstavlja njihovu sumu, a kubit C ili </a:t>
                </a:r>
                <a:r>
                  <a:rPr lang="sr-Latn-RS" sz="1200" b="0" kern="1200" dirty="0" err="1">
                    <a:solidFill>
                      <a:schemeClr val="tx1"/>
                    </a:solidFill>
                    <a:effectLst/>
                    <a:latin typeface="+mn-lt"/>
                    <a:ea typeface="+mn-ea"/>
                    <a:cs typeface="+mn-cs"/>
                  </a:rPr>
                  <a:t>carry</a:t>
                </a:r>
                <a:r>
                  <a:rPr lang="sr-Latn-RS" sz="1200" b="0" kern="1200" dirty="0">
                    <a:solidFill>
                      <a:schemeClr val="tx1"/>
                    </a:solidFill>
                    <a:effectLst/>
                    <a:latin typeface="+mn-lt"/>
                    <a:ea typeface="+mn-ea"/>
                    <a:cs typeface="+mn-cs"/>
                  </a:rPr>
                  <a:t>-kubit nosi bit prenosa u sledeći razred. Iz tablice istinitosti se vidi da je operacija sabiranja u stvari  </a:t>
                </a:r>
                <a:r>
                  <a:rPr lang="sr-Latn-RS" sz="1200" b="0" kern="1200" dirty="0" err="1">
                    <a:solidFill>
                      <a:schemeClr val="tx1"/>
                    </a:solidFill>
                    <a:effectLst/>
                    <a:latin typeface="+mn-lt"/>
                    <a:ea typeface="+mn-ea"/>
                    <a:cs typeface="+mn-cs"/>
                  </a:rPr>
                  <a:t>eksluzivno</a:t>
                </a:r>
                <a:r>
                  <a:rPr lang="sr-Latn-RS" sz="1200" b="0" kern="1200" dirty="0">
                    <a:solidFill>
                      <a:schemeClr val="tx1"/>
                    </a:solidFill>
                    <a:effectLst/>
                    <a:latin typeface="+mn-lt"/>
                    <a:ea typeface="+mn-ea"/>
                    <a:cs typeface="+mn-cs"/>
                  </a:rPr>
                  <a:t> ili operacija sa prenosom bita 1 kada su oba </a:t>
                </a:r>
                <a:r>
                  <a:rPr lang="sr-Latn-RS" sz="1200" b="0" kern="1200" dirty="0" err="1">
                    <a:solidFill>
                      <a:schemeClr val="tx1"/>
                    </a:solidFill>
                    <a:effectLst/>
                    <a:latin typeface="+mn-lt"/>
                    <a:ea typeface="+mn-ea"/>
                    <a:cs typeface="+mn-cs"/>
                  </a:rPr>
                  <a:t>sabirka</a:t>
                </a:r>
                <a:r>
                  <a:rPr lang="sr-Latn-RS" sz="1200" b="0" kern="1200" dirty="0">
                    <a:solidFill>
                      <a:schemeClr val="tx1"/>
                    </a:solidFill>
                    <a:effectLst/>
                    <a:latin typeface="+mn-lt"/>
                    <a:ea typeface="+mn-ea"/>
                    <a:cs typeface="+mn-cs"/>
                  </a:rPr>
                  <a:t> 1.</a:t>
                </a:r>
              </a:p>
              <a:p>
                <a:pPr algn="just"/>
                <a:endParaRPr lang="sr-Latn-RS" sz="1200" b="0" kern="1200" dirty="0">
                  <a:solidFill>
                    <a:schemeClr val="tx1"/>
                  </a:solidFill>
                  <a:effectLst/>
                  <a:latin typeface="+mn-lt"/>
                  <a:ea typeface="+mn-ea"/>
                  <a:cs typeface="+mn-cs"/>
                </a:endParaRPr>
              </a:p>
              <a:p>
                <a:pPr algn="just"/>
                <a:r>
                  <a:rPr lang="sr-Latn-RS" sz="1200" b="0" kern="1200" dirty="0">
                    <a:solidFill>
                      <a:schemeClr val="tx1"/>
                    </a:solidFill>
                    <a:effectLst/>
                    <a:latin typeface="+mn-lt"/>
                    <a:ea typeface="+mn-ea"/>
                    <a:cs typeface="+mn-cs"/>
                  </a:rPr>
                  <a:t>Kolo </a:t>
                </a:r>
                <a:r>
                  <a:rPr lang="sr-Latn-RS" sz="1200" b="0" kern="1200" dirty="0" err="1">
                    <a:solidFill>
                      <a:schemeClr val="tx1"/>
                    </a:solidFill>
                    <a:effectLst/>
                    <a:latin typeface="+mn-lt"/>
                    <a:ea typeface="+mn-ea"/>
                    <a:cs typeface="+mn-cs"/>
                  </a:rPr>
                  <a:t>polusabirača</a:t>
                </a:r>
                <a:r>
                  <a:rPr lang="sr-Latn-RS" sz="1200" b="0" kern="1200" dirty="0">
                    <a:solidFill>
                      <a:schemeClr val="tx1"/>
                    </a:solidFill>
                    <a:effectLst/>
                    <a:latin typeface="+mn-lt"/>
                    <a:ea typeface="+mn-ea"/>
                    <a:cs typeface="+mn-cs"/>
                  </a:rPr>
                  <a:t> se konstruiše se primenom </a:t>
                </a:r>
                <a:r>
                  <a:rPr lang="sr-Latn-RS" sz="1200" b="0" kern="1200" dirty="0" err="1">
                    <a:solidFill>
                      <a:schemeClr val="tx1"/>
                    </a:solidFill>
                    <a:effectLst/>
                    <a:latin typeface="+mn-lt"/>
                    <a:ea typeface="+mn-ea"/>
                    <a:cs typeface="+mn-cs"/>
                  </a:rPr>
                  <a:t>Tofolijevog</a:t>
                </a:r>
                <a:r>
                  <a:rPr lang="sr-Latn-RS" sz="1200" b="0" kern="1200" dirty="0">
                    <a:solidFill>
                      <a:schemeClr val="tx1"/>
                    </a:solidFill>
                    <a:effectLst/>
                    <a:latin typeface="+mn-lt"/>
                    <a:ea typeface="+mn-ea"/>
                    <a:cs typeface="+mn-cs"/>
                  </a:rPr>
                  <a:t> i </a:t>
                </a:r>
                <a:r>
                  <a:rPr lang="sr-Latn-RS" sz="1200" b="0" kern="1200" dirty="0" err="1">
                    <a:solidFill>
                      <a:schemeClr val="tx1"/>
                    </a:solidFill>
                    <a:effectLst/>
                    <a:latin typeface="+mn-lt"/>
                    <a:ea typeface="+mn-ea"/>
                    <a:cs typeface="+mn-cs"/>
                  </a:rPr>
                  <a:t>cX</a:t>
                </a:r>
                <a:r>
                  <a:rPr lang="sr-Latn-RS" sz="1200" b="0" kern="1200" dirty="0">
                    <a:solidFill>
                      <a:schemeClr val="tx1"/>
                    </a:solidFill>
                    <a:effectLst/>
                    <a:latin typeface="+mn-lt"/>
                    <a:ea typeface="+mn-ea"/>
                    <a:cs typeface="+mn-cs"/>
                  </a:rPr>
                  <a:t> kola. </a:t>
                </a:r>
                <a:r>
                  <a:rPr lang="sr-Latn-RS" sz="1200" b="0" kern="1200" dirty="0" err="1">
                    <a:solidFill>
                      <a:schemeClr val="tx1"/>
                    </a:solidFill>
                    <a:effectLst/>
                    <a:latin typeface="+mn-lt"/>
                    <a:ea typeface="+mn-ea"/>
                    <a:cs typeface="+mn-cs"/>
                  </a:rPr>
                  <a:t>cX</a:t>
                </a:r>
                <a:r>
                  <a:rPr lang="sr-Latn-RS" sz="1200" b="0" kern="1200" dirty="0">
                    <a:solidFill>
                      <a:schemeClr val="tx1"/>
                    </a:solidFill>
                    <a:effectLst/>
                    <a:latin typeface="+mn-lt"/>
                    <a:ea typeface="+mn-ea"/>
                    <a:cs typeface="+mn-cs"/>
                  </a:rPr>
                  <a:t> kolo sabira kubite |x1⟩ i |x2⟩, dok </a:t>
                </a:r>
                <a:r>
                  <a:rPr lang="sr-Latn-RS" sz="1200" b="0" kern="1200" dirty="0" err="1">
                    <a:solidFill>
                      <a:schemeClr val="tx1"/>
                    </a:solidFill>
                    <a:effectLst/>
                    <a:latin typeface="+mn-lt"/>
                    <a:ea typeface="+mn-ea"/>
                    <a:cs typeface="+mn-cs"/>
                  </a:rPr>
                  <a:t>Tofolijevo</a:t>
                </a:r>
                <a:r>
                  <a:rPr lang="sr-Latn-RS" sz="1200" b="0" kern="1200" dirty="0">
                    <a:solidFill>
                      <a:schemeClr val="tx1"/>
                    </a:solidFill>
                    <a:effectLst/>
                    <a:latin typeface="+mn-lt"/>
                    <a:ea typeface="+mn-ea"/>
                    <a:cs typeface="+mn-cs"/>
                  </a:rPr>
                  <a:t> kolo detektuje prebačaj koji se javlja kada su |x1⟩ i |x2⟩ jedinice. Izlaz iz </a:t>
                </a:r>
                <a:r>
                  <a:rPr lang="sr-Latn-RS" sz="1200" b="0" kern="1200" dirty="0" err="1">
                    <a:solidFill>
                      <a:schemeClr val="tx1"/>
                    </a:solidFill>
                    <a:effectLst/>
                    <a:latin typeface="+mn-lt"/>
                    <a:ea typeface="+mn-ea"/>
                    <a:cs typeface="+mn-cs"/>
                  </a:rPr>
                  <a:t>Tofolijevog</a:t>
                </a:r>
                <a:r>
                  <a:rPr lang="sr-Latn-RS" sz="1200" b="0" kern="1200" dirty="0">
                    <a:solidFill>
                      <a:schemeClr val="tx1"/>
                    </a:solidFill>
                    <a:effectLst/>
                    <a:latin typeface="+mn-lt"/>
                    <a:ea typeface="+mn-ea"/>
                    <a:cs typeface="+mn-cs"/>
                  </a:rPr>
                  <a:t> kola je kubit |C⟩ (</a:t>
                </a:r>
                <a:r>
                  <a:rPr lang="sr-Latn-RS" sz="1200" b="0" kern="1200" dirty="0" err="1">
                    <a:solidFill>
                      <a:schemeClr val="tx1"/>
                    </a:solidFill>
                    <a:effectLst/>
                    <a:latin typeface="+mn-lt"/>
                    <a:ea typeface="+mn-ea"/>
                    <a:cs typeface="+mn-cs"/>
                  </a:rPr>
                  <a:t>eng</a:t>
                </a:r>
                <a:r>
                  <a:rPr lang="sr-Latn-RS" sz="1200" b="0" kern="1200" dirty="0">
                    <a:solidFill>
                      <a:schemeClr val="tx1"/>
                    </a:solidFill>
                    <a:effectLst/>
                    <a:latin typeface="+mn-lt"/>
                    <a:ea typeface="+mn-ea"/>
                    <a:cs typeface="+mn-cs"/>
                  </a:rPr>
                  <a:t>. </a:t>
                </a:r>
                <a:r>
                  <a:rPr lang="sr-Latn-RS" sz="1200" b="0" kern="1200" dirty="0" err="1">
                    <a:solidFill>
                      <a:schemeClr val="tx1"/>
                    </a:solidFill>
                    <a:effectLst/>
                    <a:latin typeface="+mn-lt"/>
                    <a:ea typeface="+mn-ea"/>
                    <a:cs typeface="+mn-cs"/>
                  </a:rPr>
                  <a:t>carry</a:t>
                </a:r>
                <a:r>
                  <a:rPr lang="sr-Latn-RS" sz="1200" b="0" kern="1200" dirty="0">
                    <a:solidFill>
                      <a:schemeClr val="tx1"/>
                    </a:solidFill>
                    <a:effectLst/>
                    <a:latin typeface="+mn-lt"/>
                    <a:ea typeface="+mn-ea"/>
                    <a:cs typeface="+mn-cs"/>
                  </a:rPr>
                  <a:t>) koji nosi bit prenosa u ulaz sledećeg </a:t>
                </a:r>
                <a:r>
                  <a:rPr lang="sr-Latn-RS" sz="1200" b="0" kern="1200" dirty="0" err="1">
                    <a:solidFill>
                      <a:schemeClr val="tx1"/>
                    </a:solidFill>
                    <a:effectLst/>
                    <a:latin typeface="+mn-lt"/>
                    <a:ea typeface="+mn-ea"/>
                    <a:cs typeface="+mn-cs"/>
                  </a:rPr>
                  <a:t>polusabirača</a:t>
                </a:r>
                <a:r>
                  <a:rPr lang="sr-Latn-RS" sz="1200" b="0" kern="1200" dirty="0">
                    <a:solidFill>
                      <a:schemeClr val="tx1"/>
                    </a:solidFill>
                    <a:effectLst/>
                    <a:latin typeface="+mn-lt"/>
                    <a:ea typeface="+mn-ea"/>
                    <a:cs typeface="+mn-cs"/>
                  </a:rPr>
                  <a:t>.</a:t>
                </a:r>
                <a:endParaRPr lang="en-US" b="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12</a:t>
            </a:fld>
            <a:endParaRPr lang="en-US"/>
          </a:p>
        </p:txBody>
      </p:sp>
    </p:spTree>
    <p:extLst>
      <p:ext uri="{BB962C8B-B14F-4D97-AF65-F5344CB8AC3E}">
        <p14:creationId xmlns:p14="http://schemas.microsoft.com/office/powerpoint/2010/main" val="15824078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By combining two half-adders, we can build a full adder, shown in Figure a). It adds three input bits: x1​, x2​, and a carry-in </a:t>
                </a:r>
                <a:r>
                  <a:rPr lang="en-ZA" b="0" dirty="0" err="1"/>
                  <a:t>Cin</a:t>
                </a:r>
                <a:r>
                  <a:rPr lang="en-ZA" b="0" dirty="0"/>
                  <a:t>​ from the previous stage. It produces the sum S and carry-out </a:t>
                </a:r>
                <a:r>
                  <a:rPr lang="en-ZA" b="0" dirty="0" err="1"/>
                  <a:t>Cout</a:t>
                </a:r>
                <a:r>
                  <a:rPr lang="en-ZA" b="0" dirty="0"/>
                  <a:t>​. The carry-out is obtained by combining the internal carry values from the two half-adders.</a:t>
                </a:r>
              </a:p>
              <a:p>
                <a:pPr algn="just"/>
                <a:endParaRPr lang="en-ZA" b="0" dirty="0"/>
              </a:p>
              <a:p>
                <a:pPr algn="just"/>
                <a:r>
                  <a:rPr lang="en-ZA" b="0" dirty="0"/>
                  <a:t>Figure b) shows a quantum implementation of the full adder using CNOT and </a:t>
                </a:r>
                <a:r>
                  <a:rPr lang="en-ZA" b="0" dirty="0" err="1"/>
                  <a:t>Toffoli</a:t>
                </a:r>
                <a:r>
                  <a:rPr lang="en-ZA" b="0" dirty="0"/>
                  <a:t> gates.</a:t>
                </a:r>
              </a:p>
              <a:p>
                <a:pPr algn="just"/>
                <a:endParaRPr lang="en-ZA" b="0" dirty="0"/>
              </a:p>
              <a:p>
                <a:pPr algn="just"/>
                <a:r>
                  <a:rPr lang="en-ZA" b="0" dirty="0"/>
                  <a:t>Unlike a classical adder, a quantum adder can operate on superpositions of input values, producing a corresponding superposition of possible results. This makes quantum arithmetic an important building block in many quantum algorithms.</a:t>
                </a:r>
              </a:p>
            </p:txBody>
          </p:sp>
        </mc:Choice>
        <mc:Fallback xmlns="">
          <p:sp>
            <p:nvSpPr>
              <p:cNvPr id="3" name="Notes Placeholder 2"/>
              <p:cNvSpPr>
                <a:spLocks noGrp="1"/>
              </p:cNvSpPr>
              <p:nvPr>
                <p:ph type="body" idx="1"/>
              </p:nvPr>
            </p:nvSpPr>
            <p:spPr/>
            <p:txBody>
              <a:bodyPr/>
              <a:lstStyle/>
              <a:p>
                <a:pPr algn="just"/>
                <a:r>
                  <a:rPr lang="en-ZA" b="0" dirty="0"/>
                  <a:t>By combining two half-adders in series, a full adder is constructed, as shown in Figure a). The full adder adds three qubits: the input qubits </a:t>
                </a:r>
                <a:r>
                  <a:rPr lang="en-US" i="0">
                    <a:latin typeface="Cambria Math" panose="02040503050406030204" pitchFamily="18" charset="0"/>
                  </a:rPr>
                  <a:t>𝑥_</a:t>
                </a:r>
                <a:r>
                  <a:rPr lang="en-US" b="0" i="0">
                    <a:latin typeface="Cambria Math" panose="02040503050406030204" pitchFamily="18" charset="0"/>
                  </a:rPr>
                  <a:t>1</a:t>
                </a:r>
                <a:r>
                  <a:rPr lang="en-ZA" b="0" dirty="0"/>
                  <a:t> and </a:t>
                </a:r>
                <a:r>
                  <a:rPr lang="en-US" i="0">
                    <a:latin typeface="Cambria Math" panose="02040503050406030204" pitchFamily="18" charset="0"/>
                  </a:rPr>
                  <a:t>𝑥_</a:t>
                </a:r>
                <a:r>
                  <a:rPr lang="en-US" b="0" i="0">
                    <a:latin typeface="Cambria Math" panose="02040503050406030204" pitchFamily="18" charset="0"/>
                  </a:rPr>
                  <a:t>2</a:t>
                </a:r>
                <a:r>
                  <a:rPr lang="en-ZA" b="0" dirty="0"/>
                  <a:t>, and the carry-in qubit </a:t>
                </a:r>
                <a:r>
                  <a:rPr lang="en-US" b="0" i="0">
                    <a:latin typeface="Cambria Math" panose="02040503050406030204" pitchFamily="18" charset="0"/>
                  </a:rPr>
                  <a:t>𝐶_𝑖𝑛</a:t>
                </a:r>
                <a:r>
                  <a:rPr lang="en-ZA" b="0" dirty="0"/>
                  <a:t> from the previous half-adder module. The outputs of the full adder are the sum qubit </a:t>
                </a:r>
                <a:r>
                  <a:rPr lang="en-US" i="0">
                    <a:latin typeface="Cambria Math" panose="02040503050406030204" pitchFamily="18" charset="0"/>
                  </a:rPr>
                  <a:t>𝑆</a:t>
                </a:r>
                <a:r>
                  <a:rPr lang="en-ZA" b="0" dirty="0"/>
                  <a:t> and the carry-out qubit </a:t>
                </a:r>
                <a:r>
                  <a:rPr lang="en-US" b="0" i="0">
                    <a:latin typeface="Cambria Math" panose="02040503050406030204" pitchFamily="18" charset="0"/>
                  </a:rPr>
                  <a:t>𝐶_𝑜𝑢𝑡</a:t>
                </a:r>
                <a:r>
                  <a:rPr lang="en-ZA" b="0" dirty="0"/>
                  <a:t>. The carry-out is computed using an OR operation on the internal carry qubits of the circuit. Specifically, a carry occurs if at least one of the internal carry qubits is 1.</a:t>
                </a:r>
              </a:p>
              <a:p>
                <a:pPr algn="just"/>
                <a:endParaRPr lang="en-ZA" b="0" dirty="0"/>
              </a:p>
              <a:p>
                <a:pPr algn="just"/>
                <a:r>
                  <a:rPr lang="en-ZA" b="0" dirty="0"/>
                  <a:t>Figure b) illustrates the quantum implementation of the full adder. In addition to the two half-adders, the circuit includes a CNOT gate at the output to ensure the reversibility of the entire circuit. The outputs of the circuit are the unchanged input qubits </a:t>
                </a:r>
                <a:r>
                  <a:rPr lang="en-US" i="0">
                    <a:latin typeface="Cambria Math" panose="02040503050406030204" pitchFamily="18" charset="0"/>
                  </a:rPr>
                  <a:t>𝑥_</a:t>
                </a:r>
                <a:r>
                  <a:rPr lang="en-US" b="0" i="0">
                    <a:latin typeface="Cambria Math" panose="02040503050406030204" pitchFamily="18" charset="0"/>
                  </a:rPr>
                  <a:t>1</a:t>
                </a:r>
                <a:r>
                  <a:rPr lang="en-ZA" b="0" dirty="0"/>
                  <a:t> and </a:t>
                </a:r>
                <a:r>
                  <a:rPr lang="en-US" i="0">
                    <a:latin typeface="Cambria Math" panose="02040503050406030204" pitchFamily="18" charset="0"/>
                  </a:rPr>
                  <a:t>𝑥_</a:t>
                </a:r>
                <a:r>
                  <a:rPr lang="en-US" b="0" i="0">
                    <a:latin typeface="Cambria Math" panose="02040503050406030204" pitchFamily="18" charset="0"/>
                  </a:rPr>
                  <a:t>2</a:t>
                </a:r>
                <a:r>
                  <a:rPr lang="en-ZA" b="0" dirty="0"/>
                  <a:t>, the sum qubit </a:t>
                </a:r>
                <a:r>
                  <a:rPr lang="en-US" i="0">
                    <a:latin typeface="Cambria Math" panose="02040503050406030204" pitchFamily="18" charset="0"/>
                  </a:rPr>
                  <a:t>𝑆</a:t>
                </a:r>
                <a:r>
                  <a:rPr lang="en-ZA" b="0" dirty="0"/>
                  <a:t>, and the carry-out qubit </a:t>
                </a:r>
                <a:r>
                  <a:rPr lang="en-US" b="0" i="0">
                    <a:latin typeface="Cambria Math" panose="02040503050406030204" pitchFamily="18" charset="0"/>
                  </a:rPr>
                  <a:t>𝐶_𝑜𝑢𝑡</a:t>
                </a:r>
                <a:r>
                  <a:rPr lang="en-ZA" b="0" dirty="0"/>
                  <a:t>. Multiple full adders can be connected in series (e.g., 8 or 16) to perform multi-digit addition.</a:t>
                </a:r>
              </a:p>
              <a:p>
                <a:pPr algn="just"/>
                <a:endParaRPr lang="en-ZA" b="0" dirty="0"/>
              </a:p>
              <a:p>
                <a:pPr algn="just"/>
                <a:r>
                  <a:rPr lang="en-ZA" b="0" dirty="0"/>
                  <a:t>A key distinction between quantum adders and classical adders is the superposition of outputs. If the input qubits are in superposition, the output will be a superposition of all possible results. Quantum adders have applications in error correction, information encoding, state preparation, and other quantum algorithms.</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13</a:t>
            </a:fld>
            <a:endParaRPr lang="en-US"/>
          </a:p>
        </p:txBody>
      </p:sp>
    </p:spTree>
    <p:extLst>
      <p:ext uri="{BB962C8B-B14F-4D97-AF65-F5344CB8AC3E}">
        <p14:creationId xmlns:p14="http://schemas.microsoft.com/office/powerpoint/2010/main" val="16315024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Function evaluation is a basic task in any kind of computing. Boolean functions are particularly important in quantum computing, and several quantum algorithms use them to achieve speedups over classical methods. More complex functions, such as trigonometric or exponential functions, are more challenging to implement efficiently and remain an active area of research.</a:t>
            </a:r>
            <a:endParaRPr lang="en-US" dirty="0"/>
          </a:p>
        </p:txBody>
      </p:sp>
      <p:sp>
        <p:nvSpPr>
          <p:cNvPr id="4" name="Slide Number Placeholder 3"/>
          <p:cNvSpPr>
            <a:spLocks noGrp="1"/>
          </p:cNvSpPr>
          <p:nvPr>
            <p:ph type="sldNum" sz="quarter" idx="5"/>
          </p:nvPr>
        </p:nvSpPr>
        <p:spPr/>
        <p:txBody>
          <a:bodyPr/>
          <a:lstStyle/>
          <a:p>
            <a:fld id="{1B2CE5E3-B8BD-D040-AC87-D640191DD8F1}" type="slidenum">
              <a:rPr lang="en-US" smtClean="0"/>
              <a:t>14</a:t>
            </a:fld>
            <a:endParaRPr lang="en-US"/>
          </a:p>
        </p:txBody>
      </p:sp>
    </p:spTree>
    <p:extLst>
      <p:ext uri="{BB962C8B-B14F-4D97-AF65-F5344CB8AC3E}">
        <p14:creationId xmlns:p14="http://schemas.microsoft.com/office/powerpoint/2010/main" val="22139031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0" dirty="0"/>
                  <a:t>A Boolean function maps n binary input variables to a single binary output. The result is either true or false, represented by the classical bit values 1 and 0.</a:t>
                </a:r>
              </a:p>
              <a:p>
                <a:endParaRPr lang="en-ZA" b="0" dirty="0"/>
              </a:p>
              <a:p>
                <a:r>
                  <a:rPr lang="en-ZA" b="0" dirty="0"/>
                  <a:t>Two important computational tasks involving Boolean functions are:</a:t>
                </a:r>
              </a:p>
              <a:p>
                <a:endParaRPr lang="en-ZA" b="0" dirty="0"/>
              </a:p>
              <a:p>
                <a:pPr marL="228600" indent="-228600">
                  <a:buFont typeface="+mj-lt"/>
                  <a:buAutoNum type="arabicPeriod"/>
                </a:pPr>
                <a:r>
                  <a:rPr lang="en-ZA" b="0" dirty="0"/>
                  <a:t>Exhaustive evaluation: Evaluating the function for all possible input combinations. For n input bits, there are 2</a:t>
                </a:r>
                <a:r>
                  <a:rPr lang="en-ZA" b="0" baseline="30000" dirty="0"/>
                  <a:t>n</a:t>
                </a:r>
                <a:r>
                  <a:rPr lang="en-ZA" b="0" dirty="0"/>
                  <a:t> possible combinations. </a:t>
                </a:r>
              </a:p>
              <a:p>
                <a:pPr marL="228600" indent="-228600">
                  <a:buFont typeface="+mj-lt"/>
                  <a:buAutoNum type="arabicPeriod"/>
                </a:pPr>
                <a:r>
                  <a:rPr lang="en-ZA" b="0" dirty="0"/>
                  <a:t>Satisfiability (SAT): Determining whether there is at least one input combination for which the function is true (1), and often finding such an input. SAT plays a central role in computational complexity theory and has applications in optimization, verification, cryptography, and combinatorial problems.</a:t>
                </a:r>
              </a:p>
            </p:txBody>
          </p:sp>
        </mc:Choice>
        <mc:Fallback xmlns="">
          <p:sp>
            <p:nvSpPr>
              <p:cNvPr id="3" name="Notes Placeholder 2"/>
              <p:cNvSpPr>
                <a:spLocks noGrp="1"/>
              </p:cNvSpPr>
              <p:nvPr>
                <p:ph type="body" idx="1"/>
              </p:nvPr>
            </p:nvSpPr>
            <p:spPr/>
            <p:txBody>
              <a:bodyPr/>
              <a:lstStyle/>
              <a:p>
                <a:pPr algn="just"/>
                <a:r>
                  <a:rPr lang="en-ZA" b="0" dirty="0"/>
                  <a:t>In quantum computing, a particularly important class of functions are Boolean functions, which map </a:t>
                </a:r>
                <a:r>
                  <a:rPr lang="sr-Latn-RS" sz="1200" i="0">
                    <a:solidFill>
                      <a:schemeClr val="tx1"/>
                    </a:solidFill>
                    <a:latin typeface="Cambria Math" panose="02040503050406030204" pitchFamily="18" charset="0"/>
                  </a:rPr>
                  <a:t>𝑛</a:t>
                </a:r>
                <a:r>
                  <a:rPr lang="en-ZA" b="0" dirty="0"/>
                  <a:t> input binary variables into a binary outcome — evaluated as either true or false, corresponding to classical bit values 0 or 1.</a:t>
                </a:r>
              </a:p>
              <a:p>
                <a:pPr algn="just"/>
                <a:endParaRPr lang="en-ZA" b="0" dirty="0"/>
              </a:p>
              <a:p>
                <a:pPr algn="just"/>
                <a:r>
                  <a:rPr lang="en-ZA" b="0" dirty="0"/>
                  <a:t>Two primary computational tasks involving such Boolean functions are especially significant:</a:t>
                </a:r>
              </a:p>
              <a:p>
                <a:pPr marL="228600" indent="-228600" algn="l">
                  <a:buFont typeface="+mj-lt"/>
                  <a:buAutoNum type="arabicPeriod"/>
                </a:pPr>
                <a:endParaRPr lang="en-ZA" b="0" dirty="0"/>
              </a:p>
              <a:p>
                <a:pPr marL="228600" indent="-228600" algn="l">
                  <a:buFont typeface="+mj-lt"/>
                  <a:buAutoNum type="arabicPeriod"/>
                </a:pPr>
                <a:r>
                  <a:rPr lang="en-ZA" b="0" dirty="0"/>
                  <a:t>Complete function evaluation:</a:t>
                </a:r>
                <a:br>
                  <a:rPr lang="en-ZA" b="0" dirty="0"/>
                </a:br>
                <a:r>
                  <a:rPr lang="en-ZA" b="0" dirty="0"/>
                  <a:t>Evaluating the function for all possible input combinations. This is useful when understanding the complete input space or performing statistical analysis of results.</a:t>
                </a:r>
              </a:p>
              <a:p>
                <a:pPr marL="228600" indent="-228600" algn="l">
                  <a:buFont typeface="+mj-lt"/>
                  <a:buAutoNum type="arabicPeriod"/>
                </a:pPr>
                <a:endParaRPr lang="en-ZA" b="0" dirty="0"/>
              </a:p>
              <a:p>
                <a:pPr marL="228600" indent="-228600" algn="l">
                  <a:buFont typeface="+mj-lt"/>
                  <a:buAutoNum type="arabicPeriod"/>
                </a:pPr>
                <a:r>
                  <a:rPr lang="en-ZA" b="0" dirty="0"/>
                  <a:t>Satisfiability (SAT) problem:</a:t>
                </a:r>
                <a:br>
                  <a:rPr lang="en-ZA" b="0" dirty="0"/>
                </a:br>
                <a:r>
                  <a:rPr lang="en-ZA" b="0" dirty="0"/>
                  <a:t>Identifying all input combinations for which the function evaluates to true (equal to 1). Known as the Boolean satisfiability (SAT) problem, this task is fundamental in computational complexity theory and has wide applications in optimization, cryptography, circuit verification, and combinatorial problem-solving.</a:t>
                </a:r>
              </a:p>
              <a:p>
                <a:pPr marL="0" indent="0" algn="l">
                  <a:buFont typeface="+mj-lt"/>
                  <a:buNone/>
                </a:pPr>
                <a:endParaRPr lang="en-ZA" b="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15</a:t>
            </a:fld>
            <a:endParaRPr lang="en-US"/>
          </a:p>
        </p:txBody>
      </p:sp>
    </p:spTree>
    <p:extLst>
      <p:ext uri="{BB962C8B-B14F-4D97-AF65-F5344CB8AC3E}">
        <p14:creationId xmlns:p14="http://schemas.microsoft.com/office/powerpoint/2010/main" val="23587965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Any Boolean function can be implemented in a quantum circuit using a small set of reversible gates, such as the X, CNOT, and </a:t>
                </a:r>
                <a:r>
                  <a:rPr lang="en-ZA" b="0" dirty="0" err="1"/>
                  <a:t>Toffoli</a:t>
                </a:r>
                <a:r>
                  <a:rPr lang="en-ZA" b="0" dirty="0"/>
                  <a:t> gates. Together, these gates can be used to construct quantum versions of classical logical operations.</a:t>
                </a:r>
              </a:p>
              <a:p>
                <a:endParaRPr lang="en-ZA" b="0" dirty="0"/>
              </a:p>
              <a:p>
                <a:pPr marL="171450" indent="-171450">
                  <a:buFont typeface="Arial" panose="020B0604020202020204" pitchFamily="34" charset="0"/>
                  <a:buChar char="•"/>
                </a:pPr>
                <a:r>
                  <a:rPr lang="en-ZA" b="0" dirty="0"/>
                  <a:t>The X gate acts as the quantum equivalent of NOT. </a:t>
                </a:r>
              </a:p>
              <a:p>
                <a:pPr marL="171450" indent="-171450">
                  <a:buFont typeface="Arial" panose="020B0604020202020204" pitchFamily="34" charset="0"/>
                  <a:buChar char="•"/>
                </a:pPr>
                <a:r>
                  <a:rPr lang="en-ZA" b="0" dirty="0"/>
                  <a:t>The CNOT gate can implement the XOR operation. </a:t>
                </a:r>
              </a:p>
              <a:p>
                <a:pPr marL="171450" indent="-171450">
                  <a:buFont typeface="Arial" panose="020B0604020202020204" pitchFamily="34" charset="0"/>
                  <a:buChar char="•"/>
                </a:pPr>
                <a:r>
                  <a:rPr lang="en-ZA" b="0" dirty="0"/>
                  <a:t>The </a:t>
                </a:r>
                <a:r>
                  <a:rPr lang="en-ZA" b="0" dirty="0" err="1"/>
                  <a:t>Toffoli</a:t>
                </a:r>
                <a:r>
                  <a:rPr lang="en-ZA" b="0" dirty="0"/>
                  <a:t> (CCNOT) gate can be used to construct operations such as AND and, together with other reversible gates, can implement arbitrary Boolean functions.</a:t>
                </a:r>
              </a:p>
            </p:txBody>
          </p:sp>
        </mc:Choice>
        <mc:Fallback xmlns="">
          <p:sp>
            <p:nvSpPr>
              <p:cNvPr id="3" name="Notes Placeholder 2"/>
              <p:cNvSpPr>
                <a:spLocks noGrp="1"/>
              </p:cNvSpPr>
              <p:nvPr>
                <p:ph type="body" idx="1"/>
              </p:nvPr>
            </p:nvSpPr>
            <p:spPr/>
            <p:txBody>
              <a:bodyPr/>
              <a:lstStyle/>
              <a:p>
                <a:r>
                  <a:rPr lang="en-US" dirty="0"/>
                  <a:t>Zahvaljujući </a:t>
                </a:r>
                <a:r>
                  <a:rPr lang="en-US" dirty="0" err="1"/>
                  <a:t>osobinama</a:t>
                </a:r>
                <a:r>
                  <a:rPr lang="en-US" dirty="0"/>
                  <a:t> </a:t>
                </a:r>
                <a:r>
                  <a:rPr lang="en-US" dirty="0" err="1"/>
                  <a:t>Bulove</a:t>
                </a:r>
                <a:r>
                  <a:rPr lang="en-US" dirty="0"/>
                  <a:t> algebra,  </a:t>
                </a:r>
                <a:r>
                  <a:rPr lang="en-US" dirty="0" err="1"/>
                  <a:t>sve</a:t>
                </a:r>
                <a:r>
                  <a:rPr lang="en-US" dirty="0"/>
                  <a:t> se </a:t>
                </a:r>
                <a:r>
                  <a:rPr lang="en-US" dirty="0" err="1"/>
                  <a:t>Bulove</a:t>
                </a:r>
                <a:r>
                  <a:rPr lang="en-US" dirty="0"/>
                  <a:t> </a:t>
                </a:r>
                <a:r>
                  <a:rPr lang="en-US" dirty="0" err="1"/>
                  <a:t>funkcije</a:t>
                </a:r>
                <a:r>
                  <a:rPr lang="en-US" dirty="0"/>
                  <a:t> </a:t>
                </a:r>
                <a:r>
                  <a:rPr lang="en-US" dirty="0" err="1"/>
                  <a:t>mogu</a:t>
                </a:r>
                <a:r>
                  <a:rPr lang="en-US" dirty="0"/>
                  <a:t> </a:t>
                </a:r>
                <a:r>
                  <a:rPr lang="en-US" dirty="0" err="1"/>
                  <a:t>implementirati</a:t>
                </a:r>
                <a:r>
                  <a:rPr lang="en-US" dirty="0"/>
                  <a:t> </a:t>
                </a:r>
                <a:r>
                  <a:rPr lang="en-US" dirty="0" err="1"/>
                  <a:t>familijom</a:t>
                </a:r>
                <a:r>
                  <a:rPr lang="en-US" dirty="0"/>
                  <a:t> </a:t>
                </a:r>
                <a:r>
                  <a:rPr lang="en-US" dirty="0" err="1"/>
                  <a:t>Paulijevih</a:t>
                </a:r>
                <a:r>
                  <a:rPr lang="en-US" dirty="0"/>
                  <a:t> </a:t>
                </a:r>
                <a:r>
                  <a:rPr lang="en-US" dirty="0" err="1"/>
                  <a:t>operatora</a:t>
                </a:r>
                <a:r>
                  <a:rPr lang="en-US" dirty="0"/>
                  <a:t>: X, </a:t>
                </a:r>
                <a:r>
                  <a:rPr lang="en-US" dirty="0" err="1"/>
                  <a:t>kontrolisnao</a:t>
                </a:r>
                <a:r>
                  <a:rPr lang="en-US" dirty="0"/>
                  <a:t> X </a:t>
                </a:r>
                <a:r>
                  <a:rPr lang="en-US" dirty="0" err="1"/>
                  <a:t>ili</a:t>
                </a:r>
                <a:r>
                  <a:rPr lang="en-US" dirty="0"/>
                  <a:t> CNOT, </a:t>
                </a:r>
                <a:r>
                  <a:rPr lang="en-US" dirty="0" err="1"/>
                  <a:t>i</a:t>
                </a:r>
                <a:r>
                  <a:rPr lang="en-US" dirty="0"/>
                  <a:t> </a:t>
                </a:r>
                <a:r>
                  <a:rPr lang="en-US" dirty="0" err="1"/>
                  <a:t>kontrolisano-kontrolisano</a:t>
                </a:r>
                <a:r>
                  <a:rPr lang="en-US" dirty="0"/>
                  <a:t> X </a:t>
                </a:r>
                <a:r>
                  <a:rPr lang="en-US" dirty="0" err="1"/>
                  <a:t>ili</a:t>
                </a:r>
                <a:r>
                  <a:rPr lang="en-US" dirty="0"/>
                  <a:t> CCNOT.</a:t>
                </a:r>
              </a:p>
              <a:p>
                <a:endParaRPr lang="en-US" dirty="0"/>
              </a:p>
              <a:p>
                <a:r>
                  <a:rPr lang="en-US" dirty="0" err="1"/>
                  <a:t>Pri</a:t>
                </a:r>
                <a:r>
                  <a:rPr lang="en-US" dirty="0"/>
                  <a:t> </a:t>
                </a:r>
                <a:r>
                  <a:rPr lang="en-US" dirty="0" err="1"/>
                  <a:t>evaluaciji</a:t>
                </a:r>
                <a:r>
                  <a:rPr lang="en-US" dirty="0"/>
                  <a:t> </a:t>
                </a:r>
                <a:r>
                  <a:rPr lang="en-US" dirty="0" err="1"/>
                  <a:t>ovih</a:t>
                </a:r>
                <a:r>
                  <a:rPr lang="en-US" dirty="0"/>
                  <a:t> </a:t>
                </a:r>
                <a:r>
                  <a:rPr lang="en-US" dirty="0" err="1"/>
                  <a:t>funkcija</a:t>
                </a:r>
                <a:r>
                  <a:rPr lang="en-US" dirty="0"/>
                  <a:t>, </a:t>
                </a:r>
                <a:r>
                  <a:rPr lang="en-US" dirty="0" err="1"/>
                  <a:t>posebno</a:t>
                </a:r>
                <a:r>
                  <a:rPr lang="en-US" dirty="0"/>
                  <a:t> u </a:t>
                </a:r>
                <a:r>
                  <a:rPr lang="en-US" dirty="0" err="1"/>
                  <a:t>rešavanju</a:t>
                </a:r>
                <a:r>
                  <a:rPr lang="en-US" dirty="0"/>
                  <a:t> </a:t>
                </a:r>
                <a:r>
                  <a:rPr lang="en-US" dirty="0" err="1"/>
                  <a:t>problema</a:t>
                </a:r>
                <a:r>
                  <a:rPr lang="en-US" dirty="0"/>
                  <a:t>  </a:t>
                </a:r>
                <a:r>
                  <a:rPr lang="en-US" dirty="0" err="1"/>
                  <a:t>zadovoljivosti</a:t>
                </a:r>
                <a:r>
                  <a:rPr lang="en-US" dirty="0"/>
                  <a:t>, </a:t>
                </a:r>
                <a:r>
                  <a:rPr lang="en-US" dirty="0" err="1"/>
                  <a:t>važnu</a:t>
                </a:r>
                <a:r>
                  <a:rPr lang="en-US" dirty="0"/>
                  <a:t> </a:t>
                </a:r>
                <a:r>
                  <a:rPr lang="en-US" dirty="0" err="1"/>
                  <a:t>ulogu</a:t>
                </a:r>
                <a:r>
                  <a:rPr lang="en-US" dirty="0"/>
                  <a:t> </a:t>
                </a:r>
                <a:r>
                  <a:rPr lang="en-US" dirty="0" err="1"/>
                  <a:t>igraju</a:t>
                </a:r>
                <a:r>
                  <a:rPr lang="en-US" dirty="0"/>
                  <a:t> </a:t>
                </a:r>
                <a:r>
                  <a:rPr lang="en-US" dirty="0" err="1"/>
                  <a:t>sopstvene</a:t>
                </a:r>
                <a:r>
                  <a:rPr lang="en-US" dirty="0"/>
                  <a:t> </a:t>
                </a:r>
                <a:r>
                  <a:rPr lang="en-US" dirty="0" err="1"/>
                  <a:t>vrednosti</a:t>
                </a:r>
                <a:r>
                  <a:rPr lang="en-US" dirty="0"/>
                  <a:t> I </a:t>
                </a:r>
                <a:r>
                  <a:rPr lang="en-US" dirty="0" err="1"/>
                  <a:t>sopstveni</a:t>
                </a:r>
                <a:r>
                  <a:rPr lang="en-US" dirty="0"/>
                  <a:t> </a:t>
                </a:r>
                <a:r>
                  <a:rPr lang="en-US" dirty="0" err="1"/>
                  <a:t>vektori</a:t>
                </a:r>
                <a:r>
                  <a:rPr lang="en-US" dirty="0"/>
                  <a:t> Pauli X </a:t>
                </a:r>
                <a:r>
                  <a:rPr lang="en-US" dirty="0" err="1"/>
                  <a:t>operatora</a:t>
                </a:r>
                <a:r>
                  <a:rPr lang="en-US" dirty="0"/>
                  <a:t> </a:t>
                </a:r>
                <a:r>
                  <a:rPr lang="en-US" dirty="0" err="1"/>
                  <a:t>koji</a:t>
                </a:r>
                <a:r>
                  <a:rPr lang="en-US" dirty="0"/>
                  <a:t> </a:t>
                </a:r>
                <a:r>
                  <a:rPr lang="en-US" dirty="0" err="1"/>
                  <a:t>su</a:t>
                </a:r>
                <a:r>
                  <a:rPr lang="en-US" dirty="0"/>
                  <a:t> </a:t>
                </a:r>
                <a:r>
                  <a:rPr lang="sr-Latn-RS" sz="1200" i="0">
                    <a:latin typeface="Cambria Math" panose="02040503050406030204" pitchFamily="18" charset="0"/>
                  </a:rPr>
                  <a:t>𝜆</a:t>
                </a:r>
                <a:r>
                  <a:rPr lang="en-ZA" sz="1200" i="0">
                    <a:latin typeface="Cambria Math" panose="02040503050406030204" pitchFamily="18" charset="0"/>
                  </a:rPr>
                  <a:t>_(</a:t>
                </a:r>
                <a:r>
                  <a:rPr lang="sr-Latn-RS" sz="1200" i="0">
                    <a:latin typeface="Cambria Math" panose="02040503050406030204" pitchFamily="18" charset="0"/>
                  </a:rPr>
                  <a:t>1</a:t>
                </a:r>
                <a:r>
                  <a:rPr lang="sr-Latn-RS" sz="1200" b="0" i="0">
                    <a:latin typeface="Cambria Math" panose="02040503050406030204" pitchFamily="18" charset="0"/>
                  </a:rPr>
                  <a:t>/2</a:t>
                </a:r>
                <a:r>
                  <a:rPr lang="en-ZA" sz="1200" b="0" i="0">
                    <a:latin typeface="Cambria Math" panose="02040503050406030204" pitchFamily="18" charset="0"/>
                  </a:rPr>
                  <a:t>)</a:t>
                </a:r>
                <a:r>
                  <a:rPr lang="sr-Latn-RS" sz="1200" b="0" i="0">
                    <a:latin typeface="Cambria Math" panose="02040503050406030204" pitchFamily="18" charset="0"/>
                  </a:rPr>
                  <a:t>=</a:t>
                </a:r>
                <a:r>
                  <a:rPr lang="sr-Latn-RS" sz="1200" b="0" i="0">
                    <a:latin typeface="Cambria Math" panose="02040503050406030204" pitchFamily="18" charset="0"/>
                    <a:ea typeface="Cambria Math" panose="02040503050406030204" pitchFamily="18" charset="0"/>
                  </a:rPr>
                  <a:t>±1</a:t>
                </a:r>
                <a:r>
                  <a:rPr lang="en-US" dirty="0"/>
                  <a:t> i</a:t>
                </a:r>
                <a:r>
                  <a:rPr lang="en-US" baseline="0" dirty="0"/>
                  <a:t> </a:t>
                </a:r>
                <a:r>
                  <a:rPr lang="en-US" sz="1200" i="0">
                    <a:latin typeface="Cambria Math" panose="02040503050406030204" pitchFamily="18" charset="0"/>
                  </a:rPr>
                  <a:t>|</a:t>
                </a:r>
                <a:r>
                  <a:rPr lang="sr-Latn-RS" sz="1200" b="0" i="0">
                    <a:latin typeface="Cambria Math" panose="02040503050406030204" pitchFamily="18" charset="0"/>
                  </a:rPr>
                  <a:t>𝑦</a:t>
                </a:r>
                <a:r>
                  <a:rPr lang="en-ZA" sz="1200" b="0" i="0">
                    <a:latin typeface="Cambria Math" panose="02040503050406030204" pitchFamily="18" charset="0"/>
                  </a:rPr>
                  <a:t>_(</a:t>
                </a:r>
                <a:r>
                  <a:rPr lang="sr-Latn-RS" sz="1200" i="0">
                    <a:latin typeface="Cambria Math" panose="02040503050406030204" pitchFamily="18" charset="0"/>
                  </a:rPr>
                  <a:t>1</a:t>
                </a:r>
                <a:r>
                  <a:rPr lang="sr-Latn-RS" sz="1200" b="0" i="0">
                    <a:latin typeface="Cambria Math" panose="02040503050406030204" pitchFamily="18" charset="0"/>
                  </a:rPr>
                  <a:t>/2</a:t>
                </a:r>
                <a:r>
                  <a:rPr lang="en-ZA" sz="1200" b="0" i="0">
                    <a:latin typeface="Cambria Math" panose="02040503050406030204" pitchFamily="18" charset="0"/>
                  </a:rPr>
                  <a:t>)</a:t>
                </a:r>
                <a:r>
                  <a:rPr lang="sr-Latn-RS" sz="1200" b="0" i="0">
                    <a:latin typeface="Cambria Math" panose="02040503050406030204" pitchFamily="18" charset="0"/>
                  </a:rPr>
                  <a:t> ⟩</a:t>
                </a:r>
                <a:r>
                  <a:rPr lang="sr-Latn-RS" sz="1200" i="0">
                    <a:latin typeface="Cambria Math" panose="02040503050406030204" pitchFamily="18" charset="0"/>
                    <a:ea typeface="Cambria Math" panose="02040503050406030204" pitchFamily="18" charset="0"/>
                  </a:rPr>
                  <a:t>∈{</a:t>
                </a:r>
                <a:r>
                  <a:rPr lang="en-US" sz="1200" i="0">
                    <a:latin typeface="Cambria Math" panose="02040503050406030204" pitchFamily="18" charset="0"/>
                    <a:ea typeface="Cambria Math" panose="02040503050406030204" pitchFamily="18" charset="0"/>
                  </a:rPr>
                  <a:t>├|</a:t>
                </a:r>
                <a:r>
                  <a:rPr lang="sr-Latn-RS" sz="1200" b="0" i="0">
                    <a:latin typeface="Cambria Math" panose="02040503050406030204" pitchFamily="18" charset="0"/>
                  </a:rPr>
                  <a:t>+⟩,</a:t>
                </a:r>
                <a:r>
                  <a:rPr lang="en-US" sz="1200" b="0" i="0">
                    <a:latin typeface="Cambria Math" panose="02040503050406030204" pitchFamily="18" charset="0"/>
                  </a:rPr>
                  <a:t>├|</a:t>
                </a:r>
                <a:r>
                  <a:rPr lang="sr-Latn-RS" sz="1200" b="0" i="0">
                    <a:latin typeface="Cambria Math" panose="02040503050406030204" pitchFamily="18" charset="0"/>
                  </a:rPr>
                  <a:t>−⟩</a:t>
                </a:r>
                <a:r>
                  <a:rPr lang="sr-Latn-RS" sz="1200" b="0" i="0">
                    <a:latin typeface="Cambria Math" panose="02040503050406030204" pitchFamily="18" charset="0"/>
                    <a:ea typeface="Cambria Math" panose="02040503050406030204" pitchFamily="18" charset="0"/>
                  </a:rPr>
                  <a:t>}</a:t>
                </a:r>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16</a:t>
            </a:fld>
            <a:endParaRPr lang="en-US"/>
          </a:p>
        </p:txBody>
      </p:sp>
    </p:spTree>
    <p:extLst>
      <p:ext uri="{BB962C8B-B14F-4D97-AF65-F5344CB8AC3E}">
        <p14:creationId xmlns:p14="http://schemas.microsoft.com/office/powerpoint/2010/main" val="30591884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As a simple example, consider the Boolean function </a:t>
                </a:r>
                <a14:m>
                  <m:oMath xmlns:m="http://schemas.openxmlformats.org/officeDocument/2006/math">
                    <m:r>
                      <a:rPr lang="sr-Latn-RS" sz="1200" b="0" i="1" smtClean="0">
                        <a:latin typeface="Cambria Math" panose="02040503050406030204" pitchFamily="18" charset="0"/>
                      </a:rPr>
                      <m:t>𝑓</m:t>
                    </m:r>
                    <m:d>
                      <m:dPr>
                        <m:ctrlPr>
                          <a:rPr lang="sr-Latn-RS" sz="1200" b="0" i="1" smtClean="0">
                            <a:latin typeface="Cambria Math" panose="02040503050406030204" pitchFamily="18" charset="0"/>
                          </a:rPr>
                        </m:ctrlPr>
                      </m:dPr>
                      <m:e>
                        <m:r>
                          <a:rPr lang="sr-Latn-RS" sz="1200" b="0" i="1">
                            <a:latin typeface="Cambria Math" panose="02040503050406030204" pitchFamily="18" charset="0"/>
                          </a:rPr>
                          <m:t>𝑥</m:t>
                        </m:r>
                      </m:e>
                    </m:d>
                    <m:r>
                      <a:rPr lang="sr-Latn-RS" sz="1200" b="0" i="1" smtClean="0">
                        <a:latin typeface="Cambria Math" panose="02040503050406030204" pitchFamily="18" charset="0"/>
                      </a:rPr>
                      <m:t>=</m:t>
                    </m:r>
                    <m:r>
                      <a:rPr lang="sr-Latn-RS" sz="1200" b="0" i="1" smtClean="0">
                        <a:latin typeface="Cambria Math" panose="02040503050406030204" pitchFamily="18" charset="0"/>
                      </a:rPr>
                      <m:t>𝑥</m:t>
                    </m:r>
                  </m:oMath>
                </a14:m>
                <a:r>
                  <a:rPr lang="en-ZA" dirty="0"/>
                  <a:t>. This function can be implemented with just one CNOT gate. </a:t>
                </a:r>
              </a:p>
              <a:p>
                <a:pPr algn="just"/>
                <a:endParaRPr lang="en-ZA" dirty="0"/>
              </a:p>
              <a:p>
                <a:pPr marL="171450" indent="-171450">
                  <a:buFont typeface="Arial" panose="020B0604020202020204" pitchFamily="34" charset="0"/>
                  <a:buChar char="•"/>
                </a:pPr>
                <a:r>
                  <a:rPr lang="en-ZA" dirty="0"/>
                  <a:t>The left side shows the function evaluation. The control qubit represents the input ∣x⟩, while the target qubit represents the output ∣y⟩, which is initialized to ∣0⟩. If the control qubit is ∣0⟩, the target remains ∣0⟩. If the control qubit is ∣1⟩, the target flips to ∣1⟩, thus implementing </a:t>
                </a:r>
                <a14:m>
                  <m:oMath xmlns:m="http://schemas.openxmlformats.org/officeDocument/2006/math">
                    <m:r>
                      <a:rPr lang="sr-Latn-RS" sz="1200" b="0" i="1" smtClean="0">
                        <a:latin typeface="Cambria Math" panose="02040503050406030204" pitchFamily="18" charset="0"/>
                      </a:rPr>
                      <m:t>𝑓</m:t>
                    </m:r>
                    <m:d>
                      <m:dPr>
                        <m:ctrlPr>
                          <a:rPr lang="sr-Latn-RS" sz="1200" b="0" i="1" smtClean="0">
                            <a:latin typeface="Cambria Math" panose="02040503050406030204" pitchFamily="18" charset="0"/>
                          </a:rPr>
                        </m:ctrlPr>
                      </m:dPr>
                      <m:e>
                        <m:r>
                          <a:rPr lang="sr-Latn-RS" sz="1200" b="0" i="1">
                            <a:latin typeface="Cambria Math" panose="02040503050406030204" pitchFamily="18" charset="0"/>
                          </a:rPr>
                          <m:t>𝑥</m:t>
                        </m:r>
                      </m:e>
                    </m:d>
                    <m:r>
                      <a:rPr lang="sr-Latn-RS" sz="1200" b="0" i="1" smtClean="0">
                        <a:latin typeface="Cambria Math" panose="02040503050406030204" pitchFamily="18" charset="0"/>
                      </a:rPr>
                      <m:t>=</m:t>
                    </m:r>
                    <m:r>
                      <a:rPr lang="sr-Latn-RS" sz="1200" b="0" i="1" smtClean="0">
                        <a:latin typeface="Cambria Math" panose="02040503050406030204" pitchFamily="18" charset="0"/>
                      </a:rPr>
                      <m:t>𝑥</m:t>
                    </m:r>
                  </m:oMath>
                </a14:m>
                <a:r>
                  <a:rPr lang="en-ZA" dirty="0"/>
                  <a:t>. If the control qubit is in a superposition, the output becomes a superposition of the two possible input-output pairs, with the first qubit representing the input and the second representing the output.</a:t>
                </a:r>
              </a:p>
              <a:p>
                <a:endParaRPr lang="en-ZA" dirty="0"/>
              </a:p>
              <a:p>
                <a:pPr marL="171450" indent="-171450">
                  <a:buFont typeface="Arial" panose="020B0604020202020204" pitchFamily="34" charset="0"/>
                  <a:buChar char="•"/>
                </a:pPr>
                <a:r>
                  <a:rPr lang="en-ZA" b="0" dirty="0"/>
                  <a:t>The right side shows how to mark the solutions for which the function is true.</a:t>
                </a:r>
                <a:r>
                  <a:rPr lang="en-ZA" b="0" baseline="0" dirty="0"/>
                  <a:t> </a:t>
                </a:r>
                <a:r>
                  <a:rPr lang="en-ZA" dirty="0"/>
                  <a:t>Initially, the control qubit is in a superposition of possible inputs, while the target qubit is in the state ∣−⟩. </a:t>
                </a:r>
                <a:r>
                  <a:rPr lang="en-ZA" b="0" dirty="0"/>
                  <a:t>After applying the CNOT gate, the control qubit remains in superposition, but its ∣1⟩ component acquires a minus sign. </a:t>
                </a:r>
                <a:r>
                  <a:rPr lang="en-ZA" dirty="0"/>
                  <a:t>In this way, the circuit marks the input ∣1⟩ as the solution, because for this input the function is true, i.e.,  </a:t>
                </a:r>
                <a14:m>
                  <m:oMath xmlns:m="http://schemas.openxmlformats.org/officeDocument/2006/math">
                    <m:r>
                      <a:rPr lang="sr-Latn-RS" sz="1200" b="0" i="1" smtClean="0">
                        <a:latin typeface="Cambria Math" panose="02040503050406030204" pitchFamily="18" charset="0"/>
                      </a:rPr>
                      <m:t>𝑓</m:t>
                    </m:r>
                    <m:d>
                      <m:dPr>
                        <m:ctrlPr>
                          <a:rPr lang="sr-Latn-RS" sz="1200" b="0" i="1" smtClean="0">
                            <a:latin typeface="Cambria Math" panose="02040503050406030204" pitchFamily="18" charset="0"/>
                          </a:rPr>
                        </m:ctrlPr>
                      </m:dPr>
                      <m:e>
                        <m:r>
                          <a:rPr lang="en-US" sz="1200" b="0" i="1" smtClean="0">
                            <a:latin typeface="Cambria Math" panose="02040503050406030204" pitchFamily="18" charset="0"/>
                          </a:rPr>
                          <m:t>1</m:t>
                        </m:r>
                      </m:e>
                    </m:d>
                    <m:r>
                      <a:rPr lang="sr-Latn-RS" sz="1200" b="0" i="1" smtClean="0">
                        <a:latin typeface="Cambria Math" panose="02040503050406030204" pitchFamily="18" charset="0"/>
                      </a:rPr>
                      <m:t>=</m:t>
                    </m:r>
                    <m:r>
                      <a:rPr lang="en-US" sz="1200" b="0" i="1" smtClean="0">
                        <a:latin typeface="Cambria Math" panose="02040503050406030204" pitchFamily="18" charset="0"/>
                      </a:rPr>
                      <m:t>1</m:t>
                    </m:r>
                  </m:oMath>
                </a14:m>
                <a:r>
                  <a:rPr lang="en-ZA" dirty="0"/>
                  <a:t>. </a:t>
                </a:r>
                <a:r>
                  <a:rPr lang="en-ZA" b="0" dirty="0"/>
                  <a:t>The target qubit remains in the state ∣−⟩.</a:t>
                </a:r>
              </a:p>
              <a:p>
                <a:pPr algn="just"/>
                <a:endParaRPr lang="en-ZA" b="0" dirty="0"/>
              </a:p>
            </p:txBody>
          </p:sp>
        </mc:Choice>
        <mc:Fallback xmlns="">
          <p:sp>
            <p:nvSpPr>
              <p:cNvPr id="3" name="Notes Placeholder 2"/>
              <p:cNvSpPr>
                <a:spLocks noGrp="1"/>
              </p:cNvSpPr>
              <p:nvPr>
                <p:ph type="body" idx="1"/>
              </p:nvPr>
            </p:nvSpPr>
            <p:spPr/>
            <p:txBody>
              <a:bodyPr/>
              <a:lstStyle/>
              <a:p>
                <a:pPr algn="just"/>
                <a:r>
                  <a:rPr lang="en-ZA" b="0" dirty="0"/>
                  <a:t>As a simple example, consider the Boolean function </a:t>
                </a:r>
                <a:r>
                  <a:rPr lang="sr-Latn-RS" sz="1200" b="0" i="0">
                    <a:latin typeface="Cambria Math" panose="02040503050406030204" pitchFamily="18" charset="0"/>
                  </a:rPr>
                  <a:t>𝑓(𝑥)=𝑥</a:t>
                </a:r>
                <a:r>
                  <a:rPr lang="en-ZA" b="0" dirty="0"/>
                  <a:t>, where </a:t>
                </a:r>
                <a:r>
                  <a:rPr lang="en-US" sz="1200" b="0" i="0">
                    <a:solidFill>
                      <a:schemeClr val="tx1"/>
                    </a:solidFill>
                    <a:latin typeface="Cambria Math" panose="02040503050406030204" pitchFamily="18" charset="0"/>
                    <a:ea typeface="Cambria Math" panose="02040503050406030204" pitchFamily="18" charset="0"/>
                  </a:rPr>
                  <a:t>x</a:t>
                </a:r>
                <a:r>
                  <a:rPr lang="sr-Latn-RS" sz="1200" b="0" i="0">
                    <a:solidFill>
                      <a:schemeClr val="tx1"/>
                    </a:solidFill>
                    <a:latin typeface="Cambria Math" panose="02040503050406030204" pitchFamily="18" charset="0"/>
                    <a:ea typeface="Cambria Math" panose="02040503050406030204" pitchFamily="18" charset="0"/>
                  </a:rPr>
                  <a:t>∈</a:t>
                </a:r>
                <a:r>
                  <a:rPr lang="en-ZA" sz="1200" b="0" i="0">
                    <a:solidFill>
                      <a:schemeClr val="tx1"/>
                    </a:solidFill>
                    <a:latin typeface="Cambria Math" panose="02040503050406030204" pitchFamily="18" charset="0"/>
                  </a:rPr>
                  <a:t>{</a:t>
                </a:r>
                <a:r>
                  <a:rPr lang="sr-Latn-RS" sz="1200" b="0" i="0">
                    <a:solidFill>
                      <a:schemeClr val="tx1"/>
                    </a:solidFill>
                    <a:latin typeface="Cambria Math" panose="02040503050406030204" pitchFamily="18" charset="0"/>
                  </a:rPr>
                  <a:t>0,1}</a:t>
                </a:r>
                <a:r>
                  <a:rPr lang="en-ZA" b="0" dirty="0"/>
                  <a:t>. This function can be directly implemented by a single CNOT gate.</a:t>
                </a:r>
              </a:p>
              <a:p>
                <a:pPr algn="just"/>
                <a:endParaRPr lang="en-ZA" b="0" dirty="0"/>
              </a:p>
              <a:p>
                <a:pPr algn="just"/>
                <a:r>
                  <a:rPr lang="en-ZA" b="0" dirty="0"/>
                  <a:t>On the left side of the slide, the target qubit is initialized to </a:t>
                </a:r>
                <a:r>
                  <a:rPr lang="en-ZA" sz="1200" i="0">
                    <a:latin typeface="Cambria Math" panose="02040503050406030204" pitchFamily="18" charset="0"/>
                  </a:rPr>
                  <a:t>|</a:t>
                </a:r>
                <a:r>
                  <a:rPr lang="sr-Latn-RS" sz="1200" b="0" i="0">
                    <a:latin typeface="Cambria Math" panose="02040503050406030204" pitchFamily="18" charset="0"/>
                  </a:rPr>
                  <a:t>0⟩</a:t>
                </a:r>
                <a:r>
                  <a:rPr lang="en-ZA" b="0" dirty="0"/>
                  <a:t>. If the control qubit is </a:t>
                </a:r>
                <a:r>
                  <a:rPr lang="en-ZA" sz="1200" i="0">
                    <a:latin typeface="Cambria Math" panose="02040503050406030204" pitchFamily="18" charset="0"/>
                  </a:rPr>
                  <a:t>|</a:t>
                </a:r>
                <a:r>
                  <a:rPr lang="sr-Latn-RS" sz="1200" b="0" i="0">
                    <a:latin typeface="Cambria Math" panose="02040503050406030204" pitchFamily="18" charset="0"/>
                  </a:rPr>
                  <a:t>0⟩</a:t>
                </a:r>
                <a:r>
                  <a:rPr lang="en-ZA" b="0" dirty="0"/>
                  <a:t>, the target output remains </a:t>
                </a:r>
                <a:r>
                  <a:rPr lang="en-ZA" sz="1200" i="0">
                    <a:latin typeface="Cambria Math" panose="02040503050406030204" pitchFamily="18" charset="0"/>
                  </a:rPr>
                  <a:t>|</a:t>
                </a:r>
                <a:r>
                  <a:rPr lang="sr-Latn-RS" sz="1200" b="0" i="0">
                    <a:latin typeface="Cambria Math" panose="02040503050406030204" pitchFamily="18" charset="0"/>
                  </a:rPr>
                  <a:t>0⟩</a:t>
                </a:r>
                <a:r>
                  <a:rPr lang="en-ZA" b="0" dirty="0"/>
                  <a:t>. If the control qubit is </a:t>
                </a:r>
                <a:r>
                  <a:rPr lang="en-ZA" sz="1200" i="0">
                    <a:latin typeface="Cambria Math" panose="02040503050406030204" pitchFamily="18" charset="0"/>
                  </a:rPr>
                  <a:t>|</a:t>
                </a:r>
                <a:r>
                  <a:rPr lang="en-US" sz="1200" b="0" i="0">
                    <a:latin typeface="Cambria Math" panose="02040503050406030204" pitchFamily="18" charset="0"/>
                  </a:rPr>
                  <a:t>1</a:t>
                </a:r>
                <a:r>
                  <a:rPr lang="sr-Latn-RS" sz="1200" b="0" i="0">
                    <a:latin typeface="Cambria Math" panose="02040503050406030204" pitchFamily="18" charset="0"/>
                  </a:rPr>
                  <a:t>⟩</a:t>
                </a:r>
                <a:r>
                  <a:rPr lang="en-ZA" b="0" dirty="0"/>
                  <a:t>, the target output becomes </a:t>
                </a:r>
                <a:r>
                  <a:rPr lang="en-ZA" sz="1200" i="0">
                    <a:latin typeface="Cambria Math" panose="02040503050406030204" pitchFamily="18" charset="0"/>
                  </a:rPr>
                  <a:t>|</a:t>
                </a:r>
                <a:r>
                  <a:rPr lang="en-US" sz="1200" b="0" i="0">
                    <a:latin typeface="Cambria Math" panose="02040503050406030204" pitchFamily="18" charset="0"/>
                  </a:rPr>
                  <a:t>1</a:t>
                </a:r>
                <a:r>
                  <a:rPr lang="sr-Latn-RS" sz="1200" b="0" i="0">
                    <a:latin typeface="Cambria Math" panose="02040503050406030204" pitchFamily="18" charset="0"/>
                  </a:rPr>
                  <a:t>⟩</a:t>
                </a:r>
                <a:r>
                  <a:rPr lang="en-ZA" b="0" dirty="0"/>
                  <a:t>. Thus, the circuit simulates the function </a:t>
                </a:r>
                <a:r>
                  <a:rPr lang="sr-Latn-RS" sz="1200" b="0" i="0">
                    <a:latin typeface="Cambria Math" panose="02040503050406030204" pitchFamily="18" charset="0"/>
                  </a:rPr>
                  <a:t>𝑓(</a:t>
                </a:r>
                <a:r>
                  <a:rPr lang="sr-Latn-RS" sz="1200" i="0">
                    <a:latin typeface="Cambria Math" panose="02040503050406030204" pitchFamily="18" charset="0"/>
                  </a:rPr>
                  <a:t>𝑥)</a:t>
                </a:r>
                <a:r>
                  <a:rPr lang="sr-Latn-RS" sz="1200" b="0" i="0">
                    <a:latin typeface="Cambria Math" panose="02040503050406030204" pitchFamily="18" charset="0"/>
                  </a:rPr>
                  <a:t>=𝑥</a:t>
                </a:r>
                <a:r>
                  <a:rPr lang="en-ZA" b="0" dirty="0"/>
                  <a:t>. Additionally, if the control qubit is in a superposition state, the target output will be a Bell state, representing a superposition of all possible outcomes. </a:t>
                </a:r>
                <a:r>
                  <a:rPr lang="en-ZA" dirty="0"/>
                  <a:t>In other words, this configuration </a:t>
                </a:r>
                <a:r>
                  <a:rPr lang="en-ZA" b="0" dirty="0"/>
                  <a:t>identified the input combinations for which the function evaluates to true (equal to 1).</a:t>
                </a:r>
                <a:endParaRPr lang="en-ZA"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17</a:t>
            </a:fld>
            <a:endParaRPr lang="en-US"/>
          </a:p>
        </p:txBody>
      </p:sp>
    </p:spTree>
    <p:extLst>
      <p:ext uri="{BB962C8B-B14F-4D97-AF65-F5344CB8AC3E}">
        <p14:creationId xmlns:p14="http://schemas.microsoft.com/office/powerpoint/2010/main" val="37969839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Now, consider a Boolean function with two input variables. From the truth table, it is clear that the function is </a:t>
                </a:r>
                <a:r>
                  <a:rPr lang="en-ZA" b="1" dirty="0"/>
                  <a:t>XNOR</a:t>
                </a:r>
                <a:r>
                  <a:rPr lang="en-ZA" dirty="0"/>
                  <a:t>, or </a:t>
                </a:r>
                <a:r>
                  <a:rPr lang="en-ZA" b="1" dirty="0"/>
                  <a:t>NOT XOR</a:t>
                </a:r>
                <a:r>
                  <a:rPr lang="en-ZA" dirty="0"/>
                  <a:t>. It outputs 1 when the two inputs are equal and 0 when they are different.</a:t>
                </a:r>
              </a:p>
              <a:p>
                <a:pPr algn="just"/>
                <a:endParaRPr lang="en-ZA" b="0" i="0" dirty="0"/>
              </a:p>
              <a:p>
                <a:pPr marL="228600" indent="-228600" algn="just">
                  <a:buFont typeface="+mj-lt"/>
                  <a:buAutoNum type="arabicPeriod"/>
                </a:pPr>
                <a:r>
                  <a:rPr lang="en-ZA" dirty="0"/>
                  <a:t>The truth table can first be translated into the corresponding quantum input and output states.</a:t>
                </a:r>
              </a:p>
              <a:p>
                <a:pPr marL="228600" indent="-228600" algn="just">
                  <a:buFont typeface="+mj-lt"/>
                  <a:buAutoNum type="arabicPeriod"/>
                </a:pPr>
                <a:endParaRPr lang="en-ZA" dirty="0"/>
              </a:p>
              <a:p>
                <a:pPr marL="228600" indent="-228600" algn="just">
                  <a:buFont typeface="+mj-lt"/>
                  <a:buAutoNum type="arabicPeriod"/>
                </a:pPr>
                <a:r>
                  <a:rPr lang="en-ZA" dirty="0"/>
                  <a:t>Based on these states, a quantum circuit can then be designed to reproduce the same </a:t>
                </a:r>
                <a:r>
                  <a:rPr lang="en-ZA" dirty="0" err="1"/>
                  <a:t>behavior</a:t>
                </a:r>
                <a:r>
                  <a:rPr lang="en-ZA" dirty="0"/>
                  <a:t>.</a:t>
                </a:r>
                <a:endParaRPr lang="en-ZA" b="0" i="0" dirty="0"/>
              </a:p>
              <a:p>
                <a:pPr algn="just"/>
                <a:endParaRPr lang="en-ZA" b="0" i="0" dirty="0"/>
              </a:p>
              <a:p>
                <a:pPr marL="628650" lvl="1" indent="-171450" algn="just">
                  <a:buFont typeface="Arial" panose="020B0604020202020204" pitchFamily="34" charset="0"/>
                  <a:buChar char="•"/>
                </a:pPr>
                <a:r>
                  <a:rPr lang="en-ZA" b="0" dirty="0"/>
                  <a:t>Both inputs are ∣0⟩: The CNOT gates do nothing, and the final X gate flips the output from ∣0⟩ to ∣1⟩.</a:t>
                </a:r>
                <a:endParaRPr lang="en-ZA" b="0" i="0" dirty="0"/>
              </a:p>
              <a:p>
                <a:pPr marL="628650" lvl="1" indent="-171450" algn="just">
                  <a:buFont typeface="Arial" panose="020B0604020202020204" pitchFamily="34" charset="0"/>
                  <a:buChar char="•"/>
                </a:pPr>
                <a:r>
                  <a:rPr lang="en-ZA" b="0" dirty="0"/>
                  <a:t>Both inputs are ∣1⟩: Both CNOT gates flip the output, so their effects cancel. The final X gate then flips the output to ∣1⟩.</a:t>
                </a:r>
                <a:endParaRPr lang="en-ZA" b="0" i="0" dirty="0"/>
              </a:p>
              <a:p>
                <a:pPr marL="628650" lvl="1" indent="-171450" algn="just">
                  <a:buFont typeface="Arial" panose="020B0604020202020204" pitchFamily="34" charset="0"/>
                  <a:buChar char="•"/>
                </a:pPr>
                <a:r>
                  <a:rPr lang="en-ZA" b="0" dirty="0"/>
                  <a:t>The inputs are different: Only one CNOT flips the output to ∣1⟩, and the final X gate flips it back to ∣0⟩.</a:t>
                </a:r>
                <a:endParaRPr lang="en-ZA" b="0" i="0" dirty="0"/>
              </a:p>
              <a:p>
                <a:pPr algn="just"/>
                <a:endParaRPr lang="en-ZA" b="0" i="0" dirty="0"/>
              </a:p>
              <a:p>
                <a:pPr algn="just"/>
                <a:r>
                  <a:rPr lang="en-ZA" dirty="0"/>
                  <a:t>If the inputs are placed in superposition, the circuit produces a superposition of all possible input-output pairs, corresponding to the same truth table.</a:t>
                </a:r>
                <a:endParaRPr lang="en-ZA" b="0" i="0" dirty="0"/>
              </a:p>
            </p:txBody>
          </p:sp>
        </mc:Choice>
        <mc:Fallback xmlns="">
          <p:sp>
            <p:nvSpPr>
              <p:cNvPr id="3" name="Notes Placeholder 2"/>
              <p:cNvSpPr>
                <a:spLocks noGrp="1"/>
              </p:cNvSpPr>
              <p:nvPr>
                <p:ph type="body" idx="1"/>
              </p:nvPr>
            </p:nvSpPr>
            <p:spPr/>
            <p:txBody>
              <a:bodyPr/>
              <a:lstStyle/>
              <a:p>
                <a:r>
                  <a:rPr lang="en-US" b="0" dirty="0"/>
                  <a:t>Neka </a:t>
                </a:r>
                <a:r>
                  <a:rPr lang="en-US" b="0" dirty="0" err="1"/>
                  <a:t>je</a:t>
                </a:r>
                <a:r>
                  <a:rPr lang="en-US" b="0" dirty="0"/>
                  <a:t> </a:t>
                </a:r>
                <a:r>
                  <a:rPr lang="en-US" b="0" dirty="0" err="1"/>
                  <a:t>na</a:t>
                </a:r>
                <a:r>
                  <a:rPr lang="en-US" b="0" dirty="0"/>
                  <a:t> primer, data </a:t>
                </a:r>
                <a:r>
                  <a:rPr lang="en-US" b="0" dirty="0" err="1"/>
                  <a:t>funkcija</a:t>
                </a:r>
                <a:r>
                  <a:rPr lang="en-US" b="0" dirty="0"/>
                  <a:t> </a:t>
                </a:r>
                <a:r>
                  <a:rPr lang="en-US" b="0" dirty="0" err="1"/>
                  <a:t>sa</a:t>
                </a:r>
                <a:r>
                  <a:rPr lang="en-US" b="0" dirty="0"/>
                  <a:t> </a:t>
                </a:r>
                <a:r>
                  <a:rPr lang="en-US" b="0" dirty="0" err="1"/>
                  <a:t>dve</a:t>
                </a:r>
                <a:r>
                  <a:rPr lang="en-US" b="0" dirty="0"/>
                  <a:t> </a:t>
                </a:r>
                <a:r>
                  <a:rPr lang="en-US" b="0" dirty="0" err="1"/>
                  <a:t>promenljive</a:t>
                </a:r>
                <a:r>
                  <a:rPr lang="en-US" b="0" dirty="0"/>
                  <a:t> u </a:t>
                </a:r>
                <a:r>
                  <a:rPr lang="en-US" b="0" dirty="0" err="1"/>
                  <a:t>obliku</a:t>
                </a:r>
                <a:r>
                  <a:rPr lang="en-US" b="0" dirty="0"/>
                  <a:t> </a:t>
                </a:r>
                <a:r>
                  <a:rPr lang="en-US" b="0" dirty="0" err="1"/>
                  <a:t>parova</a:t>
                </a:r>
                <a:r>
                  <a:rPr lang="en-US" b="0" dirty="0"/>
                  <a:t> </a:t>
                </a:r>
                <a:r>
                  <a:rPr lang="en-US" b="0" dirty="0" err="1"/>
                  <a:t>ulaznih</a:t>
                </a:r>
                <a:r>
                  <a:rPr lang="en-US" b="0" dirty="0"/>
                  <a:t> </a:t>
                </a:r>
                <a:r>
                  <a:rPr lang="en-US" b="0" dirty="0" err="1"/>
                  <a:t>i</a:t>
                </a:r>
                <a:r>
                  <a:rPr lang="en-US" b="0" dirty="0"/>
                  <a:t> </a:t>
                </a:r>
                <a:r>
                  <a:rPr lang="en-US" b="0" dirty="0" err="1"/>
                  <a:t>izlaznih</a:t>
                </a:r>
                <a:r>
                  <a:rPr lang="en-US" b="0" dirty="0"/>
                  <a:t> </a:t>
                </a:r>
                <a:r>
                  <a:rPr lang="en-US" b="0" dirty="0" err="1"/>
                  <a:t>vrednosti</a:t>
                </a:r>
                <a:r>
                  <a:rPr lang="en-US" b="0" dirty="0"/>
                  <a:t> </a:t>
                </a:r>
                <a:r>
                  <a:rPr lang="en-US" b="0" dirty="0" err="1"/>
                  <a:t>kao</a:t>
                </a:r>
                <a:r>
                  <a:rPr lang="en-US" b="0" dirty="0"/>
                  <a:t> u </a:t>
                </a:r>
                <a:r>
                  <a:rPr lang="en-US" b="0" dirty="0" err="1"/>
                  <a:t>tabeli</a:t>
                </a:r>
                <a:r>
                  <a:rPr lang="en-US" b="0" dirty="0"/>
                  <a:t>. </a:t>
                </a:r>
                <a:r>
                  <a:rPr lang="en-US" b="0" dirty="0" err="1"/>
                  <a:t>Iz</a:t>
                </a:r>
                <a:r>
                  <a:rPr lang="en-US" b="0" dirty="0"/>
                  <a:t> </a:t>
                </a:r>
                <a:r>
                  <a:rPr lang="en-US" b="0" dirty="0" err="1"/>
                  <a:t>tabele</a:t>
                </a:r>
                <a:r>
                  <a:rPr lang="en-US" b="0" dirty="0"/>
                  <a:t> se </a:t>
                </a:r>
                <a:r>
                  <a:rPr lang="en-US" b="0" dirty="0" err="1"/>
                  <a:t>vidi</a:t>
                </a:r>
                <a:r>
                  <a:rPr lang="en-US" b="0" dirty="0"/>
                  <a:t> da se </a:t>
                </a:r>
                <a:r>
                  <a:rPr lang="en-US" b="0" dirty="0" err="1"/>
                  <a:t>funkcija</a:t>
                </a:r>
                <a:r>
                  <a:rPr lang="en-US" b="0" dirty="0"/>
                  <a:t> </a:t>
                </a:r>
                <a:r>
                  <a:rPr lang="en-US" b="0" dirty="0" err="1"/>
                  <a:t>može</a:t>
                </a:r>
                <a:r>
                  <a:rPr lang="en-US" b="0" dirty="0"/>
                  <a:t> </a:t>
                </a:r>
                <a:r>
                  <a:rPr lang="en-US" b="0" dirty="0" err="1"/>
                  <a:t>izraziti</a:t>
                </a:r>
                <a:r>
                  <a:rPr lang="en-US" b="0" dirty="0"/>
                  <a:t> </a:t>
                </a:r>
                <a:r>
                  <a:rPr lang="en-US" b="0" dirty="0" err="1"/>
                  <a:t>kao</a:t>
                </a:r>
                <a:r>
                  <a:rPr lang="en-US" b="0" dirty="0"/>
                  <a:t> NOT XOR.  </a:t>
                </a:r>
                <a:r>
                  <a:rPr lang="en-US" b="0" dirty="0" err="1"/>
                  <a:t>Odnosno</a:t>
                </a:r>
                <a:r>
                  <a:rPr lang="en-US" b="0" dirty="0"/>
                  <a:t> </a:t>
                </a:r>
                <a:r>
                  <a:rPr lang="en-US" b="0" dirty="0" err="1"/>
                  <a:t>za</a:t>
                </a:r>
                <a:r>
                  <a:rPr lang="en-US" b="0" dirty="0"/>
                  <a:t> </a:t>
                </a:r>
                <a:r>
                  <a:rPr lang="en-US" b="0" dirty="0" err="1"/>
                  <a:t>iste</a:t>
                </a:r>
                <a:r>
                  <a:rPr lang="en-US" b="0" dirty="0"/>
                  <a:t> </a:t>
                </a:r>
                <a:r>
                  <a:rPr lang="en-US" b="0" dirty="0" err="1"/>
                  <a:t>ulaze</a:t>
                </a:r>
                <a:r>
                  <a:rPr lang="en-US" b="0" dirty="0"/>
                  <a:t> </a:t>
                </a:r>
                <a:r>
                  <a:rPr lang="en-US" b="0" dirty="0" err="1"/>
                  <a:t>daje</a:t>
                </a:r>
                <a:r>
                  <a:rPr lang="en-US" b="0" dirty="0"/>
                  <a:t> 1, a </a:t>
                </a:r>
                <a:r>
                  <a:rPr lang="en-US" b="0" dirty="0" err="1"/>
                  <a:t>za</a:t>
                </a:r>
                <a:r>
                  <a:rPr lang="en-US" b="0" dirty="0"/>
                  <a:t> </a:t>
                </a:r>
                <a:r>
                  <a:rPr lang="en-US" b="0" dirty="0" err="1"/>
                  <a:t>različite</a:t>
                </a:r>
                <a:r>
                  <a:rPr lang="en-US" b="0" dirty="0"/>
                  <a:t> </a:t>
                </a:r>
                <a:r>
                  <a:rPr lang="en-US" b="0" dirty="0" err="1"/>
                  <a:t>daje</a:t>
                </a:r>
                <a:r>
                  <a:rPr lang="en-US" b="0" dirty="0"/>
                  <a:t> 0.</a:t>
                </a:r>
              </a:p>
              <a:p>
                <a:endParaRPr lang="en-US" b="0" dirty="0"/>
              </a:p>
              <a:p>
                <a:r>
                  <a:rPr lang="en-US" b="0" dirty="0"/>
                  <a:t>Na </a:t>
                </a:r>
                <a:r>
                  <a:rPr lang="en-US" b="0" dirty="0" err="1"/>
                  <a:t>osnovu</a:t>
                </a:r>
                <a:r>
                  <a:rPr lang="en-US" b="0" dirty="0"/>
                  <a:t> </a:t>
                </a:r>
                <a:r>
                  <a:rPr lang="en-US" b="0" dirty="0" err="1"/>
                  <a:t>ovoga</a:t>
                </a:r>
                <a:r>
                  <a:rPr lang="en-US" b="0" dirty="0"/>
                  <a:t> </a:t>
                </a:r>
                <a:r>
                  <a:rPr lang="en-US" b="0" dirty="0" err="1"/>
                  <a:t>pravi</a:t>
                </a:r>
                <a:r>
                  <a:rPr lang="en-US" b="0" dirty="0"/>
                  <a:t> se </a:t>
                </a:r>
                <a:r>
                  <a:rPr lang="en-US" b="0" dirty="0" err="1"/>
                  <a:t>tabela</a:t>
                </a:r>
                <a:r>
                  <a:rPr lang="en-US" b="0" dirty="0"/>
                  <a:t> </a:t>
                </a:r>
                <a:r>
                  <a:rPr lang="en-US" b="0" dirty="0" err="1"/>
                  <a:t>odgovarajućih</a:t>
                </a:r>
                <a:r>
                  <a:rPr lang="en-US" b="0" dirty="0"/>
                  <a:t> </a:t>
                </a:r>
                <a:r>
                  <a:rPr lang="en-US" b="0" dirty="0" err="1"/>
                  <a:t>kvantnih</a:t>
                </a:r>
                <a:r>
                  <a:rPr lang="en-US" b="0" dirty="0"/>
                  <a:t> </a:t>
                </a:r>
                <a:r>
                  <a:rPr lang="en-US" b="0" dirty="0" err="1"/>
                  <a:t>stanja</a:t>
                </a:r>
                <a:r>
                  <a:rPr lang="en-US" b="0" dirty="0"/>
                  <a:t> </a:t>
                </a:r>
                <a:r>
                  <a:rPr lang="en-US" b="0" dirty="0" err="1"/>
                  <a:t>ulaza</a:t>
                </a:r>
                <a:r>
                  <a:rPr lang="en-US" b="0" dirty="0"/>
                  <a:t> I </a:t>
                </a:r>
                <a:r>
                  <a:rPr lang="en-US" b="0" dirty="0" err="1"/>
                  <a:t>izlaza</a:t>
                </a:r>
                <a:r>
                  <a:rPr lang="en-US" b="0" dirty="0"/>
                  <a:t> </a:t>
                </a:r>
                <a:r>
                  <a:rPr lang="en-US" b="0" dirty="0" err="1"/>
                  <a:t>i</a:t>
                </a:r>
                <a:r>
                  <a:rPr lang="en-US" b="0" dirty="0"/>
                  <a:t> </a:t>
                </a:r>
                <a:r>
                  <a:rPr lang="en-US" b="0" dirty="0" err="1"/>
                  <a:t>projektuje</a:t>
                </a:r>
                <a:r>
                  <a:rPr lang="en-US" b="0" dirty="0"/>
                  <a:t> </a:t>
                </a:r>
                <a:r>
                  <a:rPr lang="en-US" b="0" dirty="0" err="1"/>
                  <a:t>kvantno</a:t>
                </a:r>
                <a:r>
                  <a:rPr lang="en-US" b="0" dirty="0"/>
                  <a:t> </a:t>
                </a:r>
                <a:r>
                  <a:rPr lang="en-US" b="0" dirty="0" err="1"/>
                  <a:t>kolo</a:t>
                </a:r>
                <a:r>
                  <a:rPr lang="en-US" b="0" dirty="0"/>
                  <a:t>.</a:t>
                </a:r>
              </a:p>
              <a:p>
                <a:endParaRPr lang="en-US" b="0" dirty="0"/>
              </a:p>
              <a:p>
                <a:pPr marL="171450" indent="-171450">
                  <a:buFontTx/>
                  <a:buChar char="-"/>
                </a:pPr>
                <a:r>
                  <a:rPr lang="en-US" b="0" dirty="0" err="1"/>
                  <a:t>Analizom</a:t>
                </a:r>
                <a:r>
                  <a:rPr lang="en-US" b="0" dirty="0"/>
                  <a:t> </a:t>
                </a:r>
                <a:r>
                  <a:rPr lang="en-US" b="0" dirty="0" err="1"/>
                  <a:t>kvantnog</a:t>
                </a:r>
                <a:r>
                  <a:rPr lang="en-US" b="0" dirty="0"/>
                  <a:t> kola </a:t>
                </a:r>
                <a:r>
                  <a:rPr lang="en-US" b="0" dirty="0" err="1"/>
                  <a:t>vidimo</a:t>
                </a:r>
                <a:r>
                  <a:rPr lang="en-US" b="0" dirty="0"/>
                  <a:t> da </a:t>
                </a:r>
                <a:r>
                  <a:rPr lang="en-US" b="0" dirty="0" err="1"/>
                  <a:t>kada</a:t>
                </a:r>
                <a:r>
                  <a:rPr lang="en-US" b="0" dirty="0"/>
                  <a:t> </a:t>
                </a:r>
                <a:r>
                  <a:rPr lang="en-US" b="0" dirty="0" err="1"/>
                  <a:t>su</a:t>
                </a:r>
                <a:r>
                  <a:rPr lang="en-US" b="0" dirty="0"/>
                  <a:t> x1 </a:t>
                </a:r>
                <a:r>
                  <a:rPr lang="en-US" b="0" dirty="0" err="1"/>
                  <a:t>i</a:t>
                </a:r>
                <a:r>
                  <a:rPr lang="en-US" b="0" dirty="0"/>
                  <a:t> x2 </a:t>
                </a:r>
                <a:r>
                  <a:rPr lang="en-US" b="0" dirty="0" err="1"/>
                  <a:t>jendaki</a:t>
                </a:r>
                <a:r>
                  <a:rPr lang="en-US" b="0" dirty="0"/>
                  <a:t> 0, </a:t>
                </a:r>
                <a:r>
                  <a:rPr lang="en-US" b="0" dirty="0" err="1"/>
                  <a:t>cX</a:t>
                </a:r>
                <a:r>
                  <a:rPr lang="en-US" b="0" dirty="0"/>
                  <a:t> </a:t>
                </a:r>
                <a:r>
                  <a:rPr lang="en-US" b="0" dirty="0" err="1"/>
                  <a:t>operatori</a:t>
                </a:r>
                <a:r>
                  <a:rPr lang="en-US" b="0" dirty="0"/>
                  <a:t> </a:t>
                </a:r>
                <a:r>
                  <a:rPr lang="en-US" b="0" dirty="0" err="1"/>
                  <a:t>su</a:t>
                </a:r>
                <a:r>
                  <a:rPr lang="en-US" b="0" dirty="0"/>
                  <a:t> </a:t>
                </a:r>
                <a:r>
                  <a:rPr lang="en-US" b="0" dirty="0" err="1"/>
                  <a:t>neaktivni</a:t>
                </a:r>
                <a:r>
                  <a:rPr lang="en-US" b="0" dirty="0"/>
                  <a:t>, a X operator </a:t>
                </a:r>
                <a:r>
                  <a:rPr lang="en-US" b="0" dirty="0" err="1"/>
                  <a:t>na</a:t>
                </a:r>
                <a:r>
                  <a:rPr lang="en-US" b="0" dirty="0"/>
                  <a:t> </a:t>
                </a:r>
                <a:r>
                  <a:rPr lang="en-US" b="0" dirty="0" err="1"/>
                  <a:t>donjem</a:t>
                </a:r>
                <a:r>
                  <a:rPr lang="en-US" b="0" dirty="0"/>
                  <a:t> kubitu </a:t>
                </a:r>
                <a:r>
                  <a:rPr lang="en-US" b="0" dirty="0" err="1"/>
                  <a:t>menja</a:t>
                </a:r>
                <a:r>
                  <a:rPr lang="en-US" b="0" dirty="0"/>
                  <a:t> </a:t>
                </a:r>
                <a:r>
                  <a:rPr lang="en-US" b="0" dirty="0" err="1"/>
                  <a:t>stanje</a:t>
                </a:r>
                <a:r>
                  <a:rPr lang="en-US" b="0" dirty="0"/>
                  <a:t> </a:t>
                </a:r>
                <a:r>
                  <a:rPr lang="en-US" b="0" dirty="0" err="1"/>
                  <a:t>stanje</a:t>
                </a:r>
                <a:r>
                  <a:rPr lang="en-US" b="0" dirty="0"/>
                  <a:t> y kubita </a:t>
                </a:r>
                <a:r>
                  <a:rPr lang="en-US" b="0" dirty="0" err="1"/>
                  <a:t>iz</a:t>
                </a:r>
                <a:r>
                  <a:rPr lang="en-US" b="0" dirty="0"/>
                  <a:t> </a:t>
                </a:r>
                <a:r>
                  <a:rPr lang="en-ZA" sz="1200" b="0" i="0" kern="1200">
                    <a:solidFill>
                      <a:schemeClr val="tx1"/>
                    </a:solidFill>
                    <a:effectLst/>
                    <a:latin typeface="Cambria Math" panose="02040503050406030204" pitchFamily="18" charset="0"/>
                    <a:ea typeface="+mn-ea"/>
                    <a:cs typeface="+mn-cs"/>
                  </a:rPr>
                  <a:t>|</a:t>
                </a:r>
                <a:r>
                  <a:rPr lang="sr-Latn-RS" sz="1200" b="0" i="0" kern="1200">
                    <a:solidFill>
                      <a:schemeClr val="tx1"/>
                    </a:solidFill>
                    <a:effectLst/>
                    <a:latin typeface="Cambria Math" panose="02040503050406030204" pitchFamily="18" charset="0"/>
                    <a:ea typeface="+mn-ea"/>
                    <a:cs typeface="+mn-cs"/>
                  </a:rPr>
                  <a:t>0⟩</a:t>
                </a:r>
                <a:r>
                  <a:rPr lang="en-US" b="0" dirty="0"/>
                  <a:t> u </a:t>
                </a:r>
                <a:r>
                  <a:rPr lang="en-ZA" sz="1200" b="0" i="0" kern="1200">
                    <a:solidFill>
                      <a:schemeClr val="tx1"/>
                    </a:solidFill>
                    <a:effectLst/>
                    <a:latin typeface="Cambria Math" panose="02040503050406030204" pitchFamily="18" charset="0"/>
                    <a:ea typeface="+mn-ea"/>
                    <a:cs typeface="+mn-cs"/>
                  </a:rPr>
                  <a:t>|</a:t>
                </a:r>
                <a:r>
                  <a:rPr lang="sr-Latn-RS" sz="1200" b="0" i="0" kern="1200">
                    <a:solidFill>
                      <a:schemeClr val="tx1"/>
                    </a:solidFill>
                    <a:effectLst/>
                    <a:latin typeface="Cambria Math" panose="02040503050406030204" pitchFamily="18" charset="0"/>
                    <a:ea typeface="+mn-ea"/>
                    <a:cs typeface="+mn-cs"/>
                  </a:rPr>
                  <a:t>1⟩</a:t>
                </a:r>
                <a:r>
                  <a:rPr lang="en-US" b="0" dirty="0"/>
                  <a:t>, </a:t>
                </a:r>
                <a:r>
                  <a:rPr lang="en-US" b="0" dirty="0" err="1"/>
                  <a:t>što</a:t>
                </a:r>
                <a:r>
                  <a:rPr lang="en-US" b="0" dirty="0"/>
                  <a:t> </a:t>
                </a:r>
                <a:r>
                  <a:rPr lang="en-US" b="0" dirty="0" err="1"/>
                  <a:t>je</a:t>
                </a:r>
                <a:r>
                  <a:rPr lang="en-US" b="0" dirty="0"/>
                  <a:t> </a:t>
                </a:r>
                <a:r>
                  <a:rPr lang="en-US" b="0" dirty="0" err="1"/>
                  <a:t>i</a:t>
                </a:r>
                <a:r>
                  <a:rPr lang="en-US" b="0" dirty="0"/>
                  <a:t> </a:t>
                </a:r>
                <a:r>
                  <a:rPr lang="en-US" b="0" dirty="0" err="1"/>
                  <a:t>zahtevani</a:t>
                </a:r>
                <a:r>
                  <a:rPr lang="en-US" b="0" dirty="0"/>
                  <a:t> </a:t>
                </a:r>
                <a:r>
                  <a:rPr lang="en-US" b="0" dirty="0" err="1"/>
                  <a:t>rezultat</a:t>
                </a:r>
                <a:r>
                  <a:rPr lang="en-US" b="0" dirty="0"/>
                  <a:t>.</a:t>
                </a:r>
              </a:p>
              <a:p>
                <a:pPr marL="171450" indent="-171450">
                  <a:buFontTx/>
                  <a:buChar char="-"/>
                </a:pPr>
                <a:endParaRPr lang="en-US" b="0" dirty="0"/>
              </a:p>
              <a:p>
                <a:r>
                  <a:rPr lang="en-US" b="0" dirty="0"/>
                  <a:t>  - </a:t>
                </a:r>
                <a:r>
                  <a:rPr lang="en-US" b="0" dirty="0" err="1"/>
                  <a:t>Kada</a:t>
                </a:r>
                <a:r>
                  <a:rPr lang="en-US" b="0" dirty="0"/>
                  <a:t> </a:t>
                </a:r>
                <a:r>
                  <a:rPr lang="en-US" b="0" dirty="0" err="1"/>
                  <a:t>su</a:t>
                </a:r>
                <a:r>
                  <a:rPr lang="en-US" b="0" dirty="0"/>
                  <a:t> </a:t>
                </a:r>
                <a:r>
                  <a:rPr lang="en-US" b="0" dirty="0" err="1"/>
                  <a:t>ulazi</a:t>
                </a:r>
                <a:r>
                  <a:rPr lang="en-US" b="0" dirty="0"/>
                  <a:t> </a:t>
                </a:r>
                <a:r>
                  <a:rPr lang="en-US" b="0" dirty="0" err="1"/>
                  <a:t>jednaki</a:t>
                </a:r>
                <a:r>
                  <a:rPr lang="en-US" b="0" dirty="0"/>
                  <a:t> </a:t>
                </a:r>
                <a:r>
                  <a:rPr lang="en-US" b="0" dirty="0" err="1"/>
                  <a:t>jedinici</a:t>
                </a:r>
                <a:r>
                  <a:rPr lang="en-US" b="0" dirty="0"/>
                  <a:t>, </a:t>
                </a:r>
                <a:r>
                  <a:rPr lang="en-US" b="0" dirty="0" err="1"/>
                  <a:t>biće</a:t>
                </a:r>
                <a:r>
                  <a:rPr lang="en-US" b="0" dirty="0"/>
                  <a:t> </a:t>
                </a:r>
                <a:r>
                  <a:rPr lang="en-US" b="0" dirty="0" err="1"/>
                  <a:t>aktivna</a:t>
                </a:r>
                <a:r>
                  <a:rPr lang="en-US" b="0" dirty="0"/>
                  <a:t> </a:t>
                </a:r>
                <a:r>
                  <a:rPr lang="en-US" b="0" dirty="0" err="1"/>
                  <a:t>sva</a:t>
                </a:r>
                <a:r>
                  <a:rPr lang="en-US" b="0" dirty="0"/>
                  <a:t> tri X </a:t>
                </a:r>
                <a:r>
                  <a:rPr lang="en-US" b="0" dirty="0" err="1"/>
                  <a:t>operatora</a:t>
                </a:r>
                <a:r>
                  <a:rPr lang="en-US" b="0" dirty="0"/>
                  <a:t>, </a:t>
                </a:r>
                <a:r>
                  <a:rPr lang="en-US" b="0" dirty="0" err="1"/>
                  <a:t>i</a:t>
                </a:r>
                <a:r>
                  <a:rPr lang="en-US" b="0" dirty="0"/>
                  <a:t> </a:t>
                </a:r>
                <a:r>
                  <a:rPr lang="en-US" b="0" dirty="0" err="1"/>
                  <a:t>na</a:t>
                </a:r>
                <a:r>
                  <a:rPr lang="en-US" b="0" dirty="0"/>
                  <a:t> </a:t>
                </a:r>
                <a:r>
                  <a:rPr lang="en-US" b="0" dirty="0" err="1"/>
                  <a:t>izlazu</a:t>
                </a:r>
                <a:r>
                  <a:rPr lang="en-US" b="0" dirty="0"/>
                  <a:t> </a:t>
                </a:r>
                <a:r>
                  <a:rPr lang="en-US" b="0" dirty="0" err="1"/>
                  <a:t>opet</a:t>
                </a:r>
                <a:r>
                  <a:rPr lang="en-US" b="0" dirty="0"/>
                  <a:t> </a:t>
                </a:r>
                <a:r>
                  <a:rPr lang="en-US" b="0" dirty="0" err="1"/>
                  <a:t>dobijamo</a:t>
                </a:r>
                <a:r>
                  <a:rPr lang="en-US" b="0" dirty="0"/>
                  <a:t> </a:t>
                </a:r>
                <a:r>
                  <a:rPr lang="en-ZA" sz="1200" b="0" i="0" kern="1200">
                    <a:solidFill>
                      <a:schemeClr val="tx1"/>
                    </a:solidFill>
                    <a:effectLst/>
                    <a:latin typeface="Cambria Math" panose="02040503050406030204" pitchFamily="18" charset="0"/>
                    <a:ea typeface="+mn-ea"/>
                    <a:cs typeface="+mn-cs"/>
                  </a:rPr>
                  <a:t>|</a:t>
                </a:r>
                <a:r>
                  <a:rPr lang="sr-Latn-RS" sz="1200" b="0" i="0" kern="1200">
                    <a:solidFill>
                      <a:schemeClr val="tx1"/>
                    </a:solidFill>
                    <a:effectLst/>
                    <a:latin typeface="Cambria Math" panose="02040503050406030204" pitchFamily="18" charset="0"/>
                    <a:ea typeface="+mn-ea"/>
                    <a:cs typeface="+mn-cs"/>
                  </a:rPr>
                  <a:t>1⟩</a:t>
                </a:r>
                <a:r>
                  <a:rPr lang="en-US" b="0" dirty="0"/>
                  <a:t>, </a:t>
                </a:r>
                <a:r>
                  <a:rPr lang="en-US" b="0" dirty="0" err="1"/>
                  <a:t>što</a:t>
                </a:r>
                <a:r>
                  <a:rPr lang="en-US" b="0" dirty="0"/>
                  <a:t> </a:t>
                </a:r>
                <a:r>
                  <a:rPr lang="en-US" b="0" dirty="0" err="1"/>
                  <a:t>je</a:t>
                </a:r>
                <a:r>
                  <a:rPr lang="en-US" b="0" dirty="0"/>
                  <a:t> </a:t>
                </a:r>
                <a:r>
                  <a:rPr lang="en-US" b="0" dirty="0" err="1"/>
                  <a:t>traženi</a:t>
                </a:r>
                <a:r>
                  <a:rPr lang="en-US" b="0" dirty="0"/>
                  <a:t> </a:t>
                </a:r>
                <a:r>
                  <a:rPr lang="en-US" b="0" dirty="0" err="1"/>
                  <a:t>rezultat</a:t>
                </a:r>
                <a:r>
                  <a:rPr lang="en-US" b="0" dirty="0"/>
                  <a:t>.</a:t>
                </a:r>
              </a:p>
              <a:p>
                <a:endParaRPr lang="en-US" b="0" dirty="0"/>
              </a:p>
              <a:p>
                <a:r>
                  <a:rPr lang="en-US" b="0" dirty="0"/>
                  <a:t>  - </a:t>
                </a:r>
                <a:r>
                  <a:rPr lang="en-US" b="0" dirty="0" err="1"/>
                  <a:t>Kada</a:t>
                </a:r>
                <a:r>
                  <a:rPr lang="en-US" b="0" dirty="0"/>
                  <a:t> </a:t>
                </a:r>
                <a:r>
                  <a:rPr lang="en-US" b="0" dirty="0" err="1"/>
                  <a:t>su</a:t>
                </a:r>
                <a:r>
                  <a:rPr lang="en-US" b="0" dirty="0"/>
                  <a:t> </a:t>
                </a:r>
                <a:r>
                  <a:rPr lang="en-US" b="0" dirty="0" err="1"/>
                  <a:t>ulazi</a:t>
                </a:r>
                <a:r>
                  <a:rPr lang="en-US" b="0" dirty="0"/>
                  <a:t> </a:t>
                </a:r>
                <a:r>
                  <a:rPr lang="en-US" b="0" dirty="0" err="1"/>
                  <a:t>različiti</a:t>
                </a:r>
                <a:r>
                  <a:rPr lang="en-US" b="0" dirty="0"/>
                  <a:t>, </a:t>
                </a:r>
                <a:r>
                  <a:rPr lang="en-US" b="0" dirty="0" err="1"/>
                  <a:t>biće</a:t>
                </a:r>
                <a:r>
                  <a:rPr lang="en-US" b="0" dirty="0"/>
                  <a:t> </a:t>
                </a:r>
                <a:r>
                  <a:rPr lang="en-US" b="0" dirty="0" err="1"/>
                  <a:t>aktivan</a:t>
                </a:r>
                <a:r>
                  <a:rPr lang="en-US" b="0" dirty="0"/>
                  <a:t> </a:t>
                </a:r>
                <a:r>
                  <a:rPr lang="en-US" b="0" dirty="0" err="1"/>
                  <a:t>jedan</a:t>
                </a:r>
                <a:r>
                  <a:rPr lang="en-US" b="0" dirty="0"/>
                  <a:t> od </a:t>
                </a:r>
                <a:r>
                  <a:rPr lang="en-US" b="0" dirty="0" err="1"/>
                  <a:t>dva</a:t>
                </a:r>
                <a:r>
                  <a:rPr lang="en-US" b="0" dirty="0"/>
                  <a:t> </a:t>
                </a:r>
                <a:r>
                  <a:rPr lang="en-US" b="0" dirty="0" err="1"/>
                  <a:t>cX</a:t>
                </a:r>
                <a:r>
                  <a:rPr lang="en-US" b="0" dirty="0"/>
                  <a:t> </a:t>
                </a:r>
                <a:r>
                  <a:rPr lang="en-US" b="0" dirty="0" err="1"/>
                  <a:t>operatora</a:t>
                </a:r>
                <a:r>
                  <a:rPr lang="en-US" b="0" dirty="0"/>
                  <a:t> </a:t>
                </a:r>
                <a:r>
                  <a:rPr lang="en-US" b="0" dirty="0" err="1"/>
                  <a:t>čija</a:t>
                </a:r>
                <a:r>
                  <a:rPr lang="en-US" b="0" dirty="0"/>
                  <a:t> </a:t>
                </a:r>
                <a:r>
                  <a:rPr lang="en-US" b="0" dirty="0" err="1"/>
                  <a:t>će</a:t>
                </a:r>
                <a:r>
                  <a:rPr lang="en-US" b="0" dirty="0"/>
                  <a:t> </a:t>
                </a:r>
                <a:r>
                  <a:rPr lang="en-US" b="0" dirty="0" err="1"/>
                  <a:t>akcija</a:t>
                </a:r>
                <a:r>
                  <a:rPr lang="en-US" b="0" dirty="0"/>
                  <a:t> </a:t>
                </a:r>
                <a:r>
                  <a:rPr lang="en-US" b="0" dirty="0" err="1"/>
                  <a:t>biti</a:t>
                </a:r>
                <a:r>
                  <a:rPr lang="en-US" b="0" dirty="0"/>
                  <a:t> </a:t>
                </a:r>
                <a:r>
                  <a:rPr lang="en-US" b="0" dirty="0" err="1"/>
                  <a:t>poništena</a:t>
                </a:r>
                <a:r>
                  <a:rPr lang="en-US" b="0" dirty="0"/>
                  <a:t> </a:t>
                </a:r>
                <a:r>
                  <a:rPr lang="en-US" b="0" dirty="0" err="1"/>
                  <a:t>zadnjim</a:t>
                </a:r>
                <a:r>
                  <a:rPr lang="en-US" b="0" dirty="0"/>
                  <a:t> X </a:t>
                </a:r>
                <a:r>
                  <a:rPr lang="en-US" b="0" dirty="0" err="1"/>
                  <a:t>operatorom</a:t>
                </a:r>
                <a:r>
                  <a:rPr lang="en-US" b="0" dirty="0"/>
                  <a:t>, </a:t>
                </a:r>
                <a:r>
                  <a:rPr lang="en-US" b="0" dirty="0" err="1"/>
                  <a:t>i</a:t>
                </a:r>
                <a:r>
                  <a:rPr lang="en-US" b="0" dirty="0"/>
                  <a:t> </a:t>
                </a:r>
                <a:r>
                  <a:rPr lang="en-US" b="0" dirty="0" err="1"/>
                  <a:t>na</a:t>
                </a:r>
                <a:r>
                  <a:rPr lang="en-US" b="0" dirty="0"/>
                  <a:t> </a:t>
                </a:r>
                <a:r>
                  <a:rPr lang="en-US" b="0" dirty="0" err="1"/>
                  <a:t>izlazu</a:t>
                </a:r>
                <a:r>
                  <a:rPr lang="en-US" b="0" dirty="0"/>
                  <a:t> </a:t>
                </a:r>
                <a:r>
                  <a:rPr lang="en-US" b="0" dirty="0" err="1"/>
                  <a:t>dobijamo</a:t>
                </a:r>
                <a:r>
                  <a:rPr lang="en-US" b="0" dirty="0"/>
                  <a:t> </a:t>
                </a:r>
                <a:r>
                  <a:rPr lang="en-US" b="0" dirty="0" err="1"/>
                  <a:t>rezultat</a:t>
                </a:r>
                <a:r>
                  <a:rPr lang="en-US" b="0" dirty="0"/>
                  <a:t> </a:t>
                </a:r>
                <a:r>
                  <a:rPr lang="en-ZA" sz="1200" b="1" i="0" kern="1200">
                    <a:solidFill>
                      <a:schemeClr val="tx1"/>
                    </a:solidFill>
                    <a:effectLst/>
                    <a:latin typeface="Cambria Math" panose="02040503050406030204" pitchFamily="18" charset="0"/>
                    <a:ea typeface="+mn-ea"/>
                    <a:cs typeface="+mn-cs"/>
                  </a:rPr>
                  <a:t>|</a:t>
                </a:r>
                <a:r>
                  <a:rPr lang="sr-Latn-RS" sz="1200" b="1" i="0" kern="1200">
                    <a:solidFill>
                      <a:schemeClr val="tx1"/>
                    </a:solidFill>
                    <a:effectLst/>
                    <a:latin typeface="Cambria Math" panose="02040503050406030204" pitchFamily="18" charset="0"/>
                    <a:ea typeface="+mn-ea"/>
                    <a:cs typeface="+mn-cs"/>
                  </a:rPr>
                  <a:t>0⟩</a:t>
                </a:r>
                <a:r>
                  <a:rPr lang="en-US" b="0" dirty="0"/>
                  <a:t>. </a:t>
                </a:r>
              </a:p>
              <a:p>
                <a:endParaRPr lang="en-US" b="0" dirty="0"/>
              </a:p>
              <a:p>
                <a:r>
                  <a:rPr lang="en-US" b="0" dirty="0" err="1"/>
                  <a:t>Kada</a:t>
                </a:r>
                <a:r>
                  <a:rPr lang="en-US" b="0" dirty="0"/>
                  <a:t> se </a:t>
                </a:r>
                <a:r>
                  <a:rPr lang="en-US" b="0" dirty="0" err="1"/>
                  <a:t>na</a:t>
                </a:r>
                <a:r>
                  <a:rPr lang="en-US" b="0" dirty="0"/>
                  <a:t> </a:t>
                </a:r>
                <a:r>
                  <a:rPr lang="en-US" b="0" dirty="0" err="1"/>
                  <a:t>ovakvo</a:t>
                </a:r>
                <a:r>
                  <a:rPr lang="en-US" b="0" dirty="0"/>
                  <a:t> </a:t>
                </a:r>
                <a:r>
                  <a:rPr lang="en-US" b="0" dirty="0" err="1"/>
                  <a:t>kolo</a:t>
                </a:r>
                <a:r>
                  <a:rPr lang="en-US" b="0" dirty="0"/>
                  <a:t> </a:t>
                </a:r>
                <a:r>
                  <a:rPr lang="en-US" b="0" dirty="0" err="1"/>
                  <a:t>dovedu</a:t>
                </a:r>
                <a:r>
                  <a:rPr lang="en-US" b="0" dirty="0"/>
                  <a:t> </a:t>
                </a:r>
                <a:r>
                  <a:rPr lang="en-US" b="0" dirty="0" err="1"/>
                  <a:t>ulazi</a:t>
                </a:r>
                <a:r>
                  <a:rPr lang="en-US" b="0" dirty="0"/>
                  <a:t> u </a:t>
                </a:r>
                <a:r>
                  <a:rPr lang="en-US" b="0" dirty="0" err="1"/>
                  <a:t>superpoziciji</a:t>
                </a:r>
                <a:r>
                  <a:rPr lang="en-US" b="0" dirty="0"/>
                  <a:t>, </a:t>
                </a:r>
                <a:r>
                  <a:rPr lang="en-US" b="0" dirty="0" err="1"/>
                  <a:t>dobijamo</a:t>
                </a:r>
                <a:r>
                  <a:rPr lang="en-US" b="0" dirty="0"/>
                  <a:t> </a:t>
                </a:r>
                <a:r>
                  <a:rPr lang="en-US" b="0" dirty="0" err="1"/>
                  <a:t>sva</a:t>
                </a:r>
                <a:r>
                  <a:rPr lang="en-US" b="0" dirty="0"/>
                  <a:t> </a:t>
                </a:r>
                <a:r>
                  <a:rPr lang="en-US" b="0" dirty="0" err="1"/>
                  <a:t>rešenja</a:t>
                </a:r>
                <a:r>
                  <a:rPr lang="en-US" b="0" dirty="0"/>
                  <a:t> </a:t>
                </a:r>
                <a:r>
                  <a:rPr lang="en-US" b="0" dirty="0" err="1"/>
                  <a:t>istovremeno</a:t>
                </a:r>
                <a:r>
                  <a:rPr lang="en-US" b="0" dirty="0"/>
                  <a:t> </a:t>
                </a:r>
                <a:r>
                  <a:rPr lang="en-US" b="0" dirty="0" err="1"/>
                  <a:t>koja</a:t>
                </a:r>
                <a:r>
                  <a:rPr lang="en-US" b="0" dirty="0"/>
                  <a:t> </a:t>
                </a:r>
                <a:r>
                  <a:rPr lang="en-US" b="0" dirty="0" err="1"/>
                  <a:t>odgovaraju</a:t>
                </a:r>
                <a:r>
                  <a:rPr lang="en-US" b="0" dirty="0"/>
                  <a:t> </a:t>
                </a:r>
                <a:r>
                  <a:rPr lang="en-US" b="0" dirty="0" err="1"/>
                  <a:t>teorijskoj</a:t>
                </a:r>
                <a:r>
                  <a:rPr lang="en-US" b="0" dirty="0"/>
                  <a:t> </a:t>
                </a:r>
                <a:r>
                  <a:rPr lang="en-US" b="0" dirty="0" err="1"/>
                  <a:t>tabeli</a:t>
                </a:r>
                <a:r>
                  <a:rPr lang="en-US" b="0" dirty="0"/>
                  <a:t> </a:t>
                </a:r>
                <a:r>
                  <a:rPr lang="en-US" b="0" dirty="0" err="1"/>
                  <a:t>sa</a:t>
                </a:r>
                <a:r>
                  <a:rPr lang="en-US" b="0" dirty="0"/>
                  <a:t> </a:t>
                </a:r>
                <a:r>
                  <a:rPr lang="en-US" b="0" dirty="0" err="1"/>
                  <a:t>desne</a:t>
                </a:r>
                <a:r>
                  <a:rPr lang="en-US" b="0" dirty="0"/>
                  <a:t> </a:t>
                </a:r>
                <a:r>
                  <a:rPr lang="en-US" b="0" dirty="0" err="1"/>
                  <a:t>strane</a:t>
                </a:r>
                <a:r>
                  <a:rPr lang="en-US" b="0" dirty="0"/>
                  <a:t>.</a:t>
                </a:r>
              </a:p>
              <a:p>
                <a:endParaRPr lang="en-US" b="0" dirty="0"/>
              </a:p>
              <a:p>
                <a:r>
                  <a:rPr lang="en-US" b="0" dirty="0"/>
                  <a:t>U </a:t>
                </a:r>
                <a:r>
                  <a:rPr lang="en-US" b="0" dirty="0" err="1"/>
                  <a:t>praksi</a:t>
                </a:r>
                <a:r>
                  <a:rPr lang="en-US" b="0" dirty="0"/>
                  <a:t> </a:t>
                </a:r>
                <a:r>
                  <a:rPr lang="en-US" b="0" dirty="0" err="1"/>
                  <a:t>Bulove</a:t>
                </a:r>
                <a:r>
                  <a:rPr lang="en-US" b="0" dirty="0"/>
                  <a:t> </a:t>
                </a:r>
                <a:r>
                  <a:rPr lang="en-US" b="0" dirty="0" err="1"/>
                  <a:t>funkcije</a:t>
                </a:r>
                <a:r>
                  <a:rPr lang="en-US" b="0" dirty="0"/>
                  <a:t> </a:t>
                </a:r>
                <a:r>
                  <a:rPr lang="en-US" b="0" dirty="0" err="1"/>
                  <a:t>mogu</a:t>
                </a:r>
                <a:r>
                  <a:rPr lang="en-US" b="0" dirty="0"/>
                  <a:t> </a:t>
                </a:r>
                <a:r>
                  <a:rPr lang="en-US" b="0" dirty="0" err="1"/>
                  <a:t>imati</a:t>
                </a:r>
                <a:r>
                  <a:rPr lang="en-US" b="0" dirty="0"/>
                  <a:t> </a:t>
                </a:r>
                <a:r>
                  <a:rPr lang="en-US" b="0" dirty="0" err="1"/>
                  <a:t>i</a:t>
                </a:r>
                <a:r>
                  <a:rPr lang="en-US" b="0" dirty="0"/>
                  <a:t> </a:t>
                </a:r>
                <a:r>
                  <a:rPr lang="en-US" b="0" dirty="0" err="1"/>
                  <a:t>na</a:t>
                </a:r>
                <a:r>
                  <a:rPr lang="en-US" b="0" dirty="0"/>
                  <a:t> </a:t>
                </a:r>
                <a:r>
                  <a:rPr lang="en-US" b="0" dirty="0" err="1"/>
                  <a:t>desetine</a:t>
                </a:r>
                <a:r>
                  <a:rPr lang="en-US" b="0" dirty="0"/>
                  <a:t> </a:t>
                </a:r>
                <a:r>
                  <a:rPr lang="en-US" b="0" dirty="0" err="1"/>
                  <a:t>hiljada</a:t>
                </a:r>
                <a:r>
                  <a:rPr lang="en-US" b="0" dirty="0"/>
                  <a:t> </a:t>
                </a:r>
                <a:r>
                  <a:rPr lang="en-US" b="0" dirty="0" err="1"/>
                  <a:t>parametara</a:t>
                </a:r>
                <a:r>
                  <a:rPr lang="en-US" b="0" dirty="0"/>
                  <a:t>, u </a:t>
                </a:r>
                <a:r>
                  <a:rPr lang="en-US" b="0" dirty="0" err="1"/>
                  <a:t>primenama</a:t>
                </a:r>
                <a:r>
                  <a:rPr lang="en-US" b="0" dirty="0"/>
                  <a:t> </a:t>
                </a:r>
                <a:r>
                  <a:rPr lang="en-US" b="0" dirty="0" err="1"/>
                  <a:t>kao</a:t>
                </a:r>
                <a:r>
                  <a:rPr lang="en-US" b="0" dirty="0"/>
                  <a:t> </a:t>
                </a:r>
                <a:r>
                  <a:rPr lang="en-US" b="0" dirty="0" err="1"/>
                  <a:t>što</a:t>
                </a:r>
                <a:r>
                  <a:rPr lang="en-US" b="0" dirty="0"/>
                  <a:t> </a:t>
                </a:r>
                <a:r>
                  <a:rPr lang="en-US" b="0" dirty="0" err="1"/>
                  <a:t>su</a:t>
                </a:r>
                <a:r>
                  <a:rPr lang="en-US" b="0" dirty="0"/>
                  <a:t> </a:t>
                </a:r>
                <a:r>
                  <a:rPr lang="en-US" b="0" dirty="0" err="1"/>
                  <a:t>dizajn</a:t>
                </a:r>
                <a:r>
                  <a:rPr lang="en-US" b="0" dirty="0"/>
                  <a:t> </a:t>
                </a:r>
                <a:r>
                  <a:rPr lang="en-US" b="0" dirty="0" err="1"/>
                  <a:t>čipova</a:t>
                </a:r>
                <a:r>
                  <a:rPr lang="en-US" b="0" dirty="0"/>
                  <a:t>, </a:t>
                </a:r>
                <a:r>
                  <a:rPr lang="en-US" b="0" dirty="0" err="1"/>
                  <a:t>analiza</a:t>
                </a:r>
                <a:r>
                  <a:rPr lang="en-US" b="0" dirty="0"/>
                  <a:t> </a:t>
                </a:r>
                <a:r>
                  <a:rPr lang="en-US" b="0" dirty="0" err="1"/>
                  <a:t>grafova</a:t>
                </a:r>
                <a:r>
                  <a:rPr lang="en-US" b="0" dirty="0"/>
                  <a:t>, </a:t>
                </a:r>
                <a:r>
                  <a:rPr lang="en-US" b="0" dirty="0" err="1"/>
                  <a:t>socijalnih</a:t>
                </a:r>
                <a:r>
                  <a:rPr lang="en-US" b="0" dirty="0"/>
                  <a:t> </a:t>
                </a:r>
                <a:r>
                  <a:rPr lang="en-US" b="0" dirty="0" err="1"/>
                  <a:t>mreža</a:t>
                </a:r>
                <a:r>
                  <a:rPr lang="en-US" b="0" dirty="0"/>
                  <a:t> </a:t>
                </a:r>
                <a:r>
                  <a:rPr lang="en-US" b="0" dirty="0" err="1"/>
                  <a:t>ili</a:t>
                </a:r>
                <a:r>
                  <a:rPr lang="en-US" b="0" dirty="0"/>
                  <a:t> u </a:t>
                </a:r>
                <a:r>
                  <a:rPr lang="en-US" b="0" dirty="0" err="1"/>
                  <a:t>mašinskom</a:t>
                </a:r>
                <a:r>
                  <a:rPr lang="en-US" b="0" dirty="0"/>
                  <a:t> </a:t>
                </a:r>
                <a:r>
                  <a:rPr lang="en-US" b="0" dirty="0" err="1"/>
                  <a:t>učenju</a:t>
                </a:r>
                <a:r>
                  <a:rPr lang="en-US" b="0" dirty="0"/>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18</a:t>
            </a:fld>
            <a:endParaRPr lang="en-US"/>
          </a:p>
        </p:txBody>
      </p:sp>
    </p:spTree>
    <p:extLst>
      <p:ext uri="{BB962C8B-B14F-4D97-AF65-F5344CB8AC3E}">
        <p14:creationId xmlns:p14="http://schemas.microsoft.com/office/powerpoint/2010/main" val="41454167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The figure shows the quantum circuit implementation of the XNOR function. </a:t>
                </a:r>
                <a:r>
                  <a:rPr lang="en-ZA" b="0" dirty="0"/>
                  <a:t>In the figure on the left, both input qubits are set to ∣0⟩, while the output qubit also starts in ∣0⟩. The amplitude diagram shows the expected result, with the output qubit in state ∣1⟩. Similar tests can be performed for all other input combinations. Notice that in the diagram, the output qubit appears as the leftmost bit due to </a:t>
                </a:r>
                <a:r>
                  <a:rPr lang="en-ZA" b="0" dirty="0" err="1"/>
                  <a:t>Qiskit’s</a:t>
                </a:r>
                <a:r>
                  <a:rPr lang="en-ZA" b="0" dirty="0"/>
                  <a:t> little-endian convention.</a:t>
                </a:r>
              </a:p>
              <a:p>
                <a:pPr algn="just"/>
                <a:endParaRPr lang="en-ZA" b="0" dirty="0"/>
              </a:p>
              <a:p>
                <a:pPr algn="just"/>
                <a:r>
                  <a:rPr lang="en-ZA" b="0" dirty="0"/>
                  <a:t>When the input qubits are placed in superposition, the circuit evaluates the function coherently for all possible inputs. By looking at the amplitude diagram, we can see which input states correspond to which outputs.</a:t>
                </a:r>
              </a:p>
              <a:p>
                <a:pPr algn="just"/>
                <a:endParaRPr lang="en-ZA" b="0" dirty="0"/>
              </a:p>
              <a:p>
                <a:pPr algn="just"/>
                <a:r>
                  <a:rPr lang="en-ZA" b="0" dirty="0"/>
                  <a:t>In real-world applications, Boolean functions can involve thousands or even tens of thousands of variables. They play an important role in areas such as chip design, graph problems, optimization, and machine learning.</a:t>
                </a:r>
              </a:p>
            </p:txBody>
          </p:sp>
        </mc:Choice>
        <mc:Fallback xmlns="">
          <p:sp>
            <p:nvSpPr>
              <p:cNvPr id="3" name="Notes Placeholder 2"/>
              <p:cNvSpPr>
                <a:spLocks noGrp="1"/>
              </p:cNvSpPr>
              <p:nvPr>
                <p:ph type="body" idx="1"/>
              </p:nvPr>
            </p:nvSpPr>
            <p:spPr/>
            <p:txBody>
              <a:bodyPr/>
              <a:lstStyle/>
              <a:p>
                <a:pPr algn="just"/>
                <a:r>
                  <a:rPr lang="en-ZA" dirty="0"/>
                  <a:t>The previously discussed reasoning is confirmed by practical experimentation. The probability amplitude diagram clearly shows that the amplitude of the output state </a:t>
                </a:r>
                <a:r>
                  <a:rPr lang="en-ZA" sz="1200" b="0" i="0" kern="1200">
                    <a:solidFill>
                      <a:schemeClr val="tx1"/>
                    </a:solidFill>
                    <a:effectLst/>
                    <a:latin typeface="Cambria Math" panose="02040503050406030204" pitchFamily="18" charset="0"/>
                    <a:ea typeface="+mn-ea"/>
                    <a:cs typeface="+mn-cs"/>
                  </a:rPr>
                  <a:t>|</a:t>
                </a:r>
                <a:r>
                  <a:rPr lang="en-US" sz="1200" b="0" i="0" kern="1200">
                    <a:solidFill>
                      <a:schemeClr val="tx1"/>
                    </a:solidFill>
                    <a:effectLst/>
                    <a:latin typeface="Cambria Math" panose="02040503050406030204" pitchFamily="18" charset="0"/>
                    <a:ea typeface="+mn-ea"/>
                    <a:cs typeface="+mn-cs"/>
                  </a:rPr>
                  <a:t>1</a:t>
                </a:r>
                <a:r>
                  <a:rPr lang="sr-Latn-RS" sz="1200" b="0" i="0" kern="1200">
                    <a:solidFill>
                      <a:schemeClr val="tx1"/>
                    </a:solidFill>
                    <a:effectLst/>
                    <a:latin typeface="Cambria Math" panose="02040503050406030204" pitchFamily="18" charset="0"/>
                    <a:ea typeface="+mn-ea"/>
                    <a:cs typeface="+mn-cs"/>
                  </a:rPr>
                  <a:t>⟩</a:t>
                </a:r>
                <a:r>
                  <a:rPr lang="en-ZA" b="0" dirty="0"/>
                  <a:t> </a:t>
                </a:r>
                <a:r>
                  <a:rPr lang="en-ZA" dirty="0"/>
                  <a:t>is maximal when both input are </a:t>
                </a:r>
                <a:r>
                  <a:rPr lang="en-ZA" sz="1200" b="1" i="0" kern="1200">
                    <a:solidFill>
                      <a:schemeClr val="tx1"/>
                    </a:solidFill>
                    <a:effectLst/>
                    <a:latin typeface="Cambria Math" panose="02040503050406030204" pitchFamily="18" charset="0"/>
                    <a:ea typeface="+mn-ea"/>
                    <a:cs typeface="+mn-cs"/>
                  </a:rPr>
                  <a:t>|</a:t>
                </a:r>
                <a:r>
                  <a:rPr lang="sr-Latn-RS" sz="1200" b="1" i="0" kern="1200">
                    <a:solidFill>
                      <a:schemeClr val="tx1"/>
                    </a:solidFill>
                    <a:effectLst/>
                    <a:latin typeface="Cambria Math" panose="02040503050406030204" pitchFamily="18" charset="0"/>
                    <a:ea typeface="+mn-ea"/>
                    <a:cs typeface="+mn-cs"/>
                  </a:rPr>
                  <a:t>0⟩</a:t>
                </a:r>
                <a:r>
                  <a:rPr lang="en-ZA" dirty="0"/>
                  <a:t>. Note that in the amplitude diagram, the output bit appears as the leftmost bit, indicating that the result is presented in the little-endian convention.</a:t>
                </a:r>
              </a:p>
              <a:p>
                <a:pPr algn="just"/>
                <a:endParaRPr lang="en-ZA" dirty="0"/>
              </a:p>
              <a:p>
                <a:pPr algn="just"/>
                <a:r>
                  <a:rPr lang="en-ZA" dirty="0"/>
                  <a:t>When input qubits are prepared in a superposition, the quantum circuit simultaneously evaluates the function for all possible inputs. By examining each bit combination on the amplitude diagram, we can easily identify which input states produce specific outputs.</a:t>
                </a:r>
              </a:p>
              <a:p>
                <a:pPr algn="just"/>
                <a:endParaRPr lang="en-ZA" dirty="0"/>
              </a:p>
              <a:p>
                <a:pPr algn="just"/>
                <a:r>
                  <a:rPr lang="en-ZA" dirty="0"/>
                  <a:t>In practical scenarios, Boolean functions may involve tens of thousands of variables, with important applications in areas such as chip design, graph analysis, social network modelling, and machine learning.</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19</a:t>
            </a:fld>
            <a:endParaRPr lang="en-US"/>
          </a:p>
        </p:txBody>
      </p:sp>
    </p:spTree>
    <p:extLst>
      <p:ext uri="{BB962C8B-B14F-4D97-AF65-F5344CB8AC3E}">
        <p14:creationId xmlns:p14="http://schemas.microsoft.com/office/powerpoint/2010/main" val="1386093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The idea of an oracle goes back to ancient times, when oracles were believed to deliver messages from the gods. In computer science, the word has a different but equally intriguing meaning.</a:t>
            </a:r>
          </a:p>
          <a:p>
            <a:pPr algn="just"/>
            <a:endParaRPr lang="en-ZA" b="0" dirty="0"/>
          </a:p>
          <a:p>
            <a:pPr marL="171450" indent="-171450" algn="just">
              <a:buFont typeface="Arial" panose="020B0604020202020204" pitchFamily="34" charset="0"/>
              <a:buChar char="•"/>
            </a:pPr>
            <a:r>
              <a:rPr lang="en-ZA" b="0" dirty="0"/>
              <a:t>In theoretical computer science, an oracle is imagined as a black box: we give it an input, and it returns an answer without considering how the answer is computed internally. In query complexity, the cost of an algorithm is measured by the number of times it queries the oracle. In quantum computing, an oracle can be queried with inputs in superposition, which can reduce the number of queries required for certain problems. </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In software testing, the term is used in a more practical way. Here, an oracle is a mechanism that determines whether a program’s output is correct. One common approach is to use test cases for which the correct outputs are already known. If the program produces the expected outputs, those tests are considered successful.</a:t>
            </a:r>
          </a:p>
        </p:txBody>
      </p:sp>
      <p:sp>
        <p:nvSpPr>
          <p:cNvPr id="4" name="Slide Number Placeholder 3"/>
          <p:cNvSpPr>
            <a:spLocks noGrp="1"/>
          </p:cNvSpPr>
          <p:nvPr>
            <p:ph type="sldNum" sz="quarter" idx="5"/>
          </p:nvPr>
        </p:nvSpPr>
        <p:spPr/>
        <p:txBody>
          <a:bodyPr/>
          <a:lstStyle/>
          <a:p>
            <a:fld id="{1B2CE5E3-B8BD-D040-AC87-D640191DD8F1}" type="slidenum">
              <a:rPr lang="en-US" smtClean="0"/>
              <a:t>20</a:t>
            </a:fld>
            <a:endParaRPr lang="en-US"/>
          </a:p>
        </p:txBody>
      </p:sp>
    </p:spTree>
    <p:extLst>
      <p:ext uri="{BB962C8B-B14F-4D97-AF65-F5344CB8AC3E}">
        <p14:creationId xmlns:p14="http://schemas.microsoft.com/office/powerpoint/2010/main" val="21695093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A quantum oracle can be thought of as a black box that implements a function</a:t>
                </a:r>
                <a:r>
                  <a:rPr lang="en-ZA" b="0" dirty="0"/>
                  <a:t> </a:t>
                </a:r>
                <a14:m>
                  <m:oMath xmlns:m="http://schemas.openxmlformats.org/officeDocument/2006/math">
                    <m:r>
                      <a:rPr lang="en-US" sz="1200" b="0" i="1" smtClean="0">
                        <a:latin typeface="Cambria Math" panose="02040503050406030204" pitchFamily="18" charset="0"/>
                      </a:rPr>
                      <m:t>𝑓</m:t>
                    </m:r>
                    <m:d>
                      <m:dPr>
                        <m:ctrlPr>
                          <a:rPr lang="en-US" sz="1200" b="0" i="1">
                            <a:latin typeface="Cambria Math" panose="02040503050406030204" pitchFamily="18" charset="0"/>
                          </a:rPr>
                        </m:ctrlPr>
                      </m:dPr>
                      <m:e>
                        <m:r>
                          <a:rPr lang="en-US" sz="1200" b="0" i="1">
                            <a:latin typeface="Cambria Math" panose="02040503050406030204" pitchFamily="18" charset="0"/>
                          </a:rPr>
                          <m:t>𝑥</m:t>
                        </m:r>
                      </m:e>
                    </m:d>
                  </m:oMath>
                </a14:m>
                <a:r>
                  <a:rPr lang="en-ZA" b="0" dirty="0"/>
                  <a:t>. </a:t>
                </a:r>
                <a:r>
                  <a:rPr lang="en-ZA" dirty="0"/>
                  <a:t>What matters is its input-output </a:t>
                </a:r>
                <a:r>
                  <a:rPr lang="en-ZA" dirty="0" err="1"/>
                  <a:t>behavior</a:t>
                </a:r>
                <a:r>
                  <a:rPr lang="en-ZA" dirty="0"/>
                  <a:t>, rather than the internal details of how the function is computed.</a:t>
                </a:r>
                <a:endParaRPr lang="en-ZA" b="0" dirty="0"/>
              </a:p>
              <a:p>
                <a:pPr algn="just"/>
                <a:endParaRPr lang="en-ZA" b="0" dirty="0"/>
              </a:p>
              <a:p>
                <a:pPr algn="just"/>
                <a:r>
                  <a:rPr lang="en-ZA" dirty="0"/>
                  <a:t>In many quantum algorithms, particularly search algorithms, the function is Boolean: it takes an n-bit string as input and produces a single output bit, either 0 or 1. A quantum oracle can be used in two closely related ways</a:t>
                </a:r>
                <a:r>
                  <a:rPr lang="en-ZA" b="0" dirty="0"/>
                  <a:t>:</a:t>
                </a:r>
              </a:p>
              <a:p>
                <a:endParaRPr lang="en-ZA" b="0" dirty="0"/>
              </a:p>
              <a:p>
                <a:pPr marL="228600" indent="-228600">
                  <a:buFont typeface="+mj-lt"/>
                  <a:buAutoNum type="arabicPeriod"/>
                </a:pPr>
                <a:r>
                  <a:rPr lang="en-ZA" b="1" dirty="0"/>
                  <a:t>Provides answers:</a:t>
                </a:r>
                <a:r>
                  <a:rPr lang="en-ZA" dirty="0"/>
                  <a:t> It evaluates a function </a:t>
                </a:r>
                <a:r>
                  <a:rPr lang="en-ZA" b="0" dirty="0"/>
                  <a:t> </a:t>
                </a:r>
                <a14:m>
                  <m:oMath xmlns:m="http://schemas.openxmlformats.org/officeDocument/2006/math">
                    <m:r>
                      <a:rPr lang="en-US" sz="1200" i="1" smtClean="0">
                        <a:latin typeface="Cambria Math" panose="02040503050406030204" pitchFamily="18" charset="0"/>
                      </a:rPr>
                      <m:t>𝑓</m:t>
                    </m:r>
                    <m:d>
                      <m:dPr>
                        <m:ctrlPr>
                          <a:rPr lang="en-US" sz="1200" i="1">
                            <a:latin typeface="Cambria Math" panose="02040503050406030204" pitchFamily="18" charset="0"/>
                          </a:rPr>
                        </m:ctrlPr>
                      </m:dPr>
                      <m:e>
                        <m:r>
                          <a:rPr lang="en-US" sz="1200" i="1">
                            <a:latin typeface="Cambria Math" panose="02040503050406030204" pitchFamily="18" charset="0"/>
                          </a:rPr>
                          <m:t>𝑥</m:t>
                        </m:r>
                      </m:e>
                    </m:d>
                  </m:oMath>
                </a14:m>
                <a:r>
                  <a:rPr lang="en-ZA" b="0" dirty="0"/>
                  <a:t> </a:t>
                </a:r>
                <a:r>
                  <a:rPr lang="en-ZA" dirty="0"/>
                  <a:t>for a given input.</a:t>
                </a:r>
                <a:endParaRPr lang="en-ZA" b="0" dirty="0"/>
              </a:p>
              <a:p>
                <a:pPr marL="228600" indent="-228600">
                  <a:buFont typeface="+mj-lt"/>
                  <a:buAutoNum type="arabicPeriod"/>
                </a:pPr>
                <a:endParaRPr lang="en-ZA" b="0" dirty="0"/>
              </a:p>
              <a:p>
                <a:pPr marL="228600" indent="-228600">
                  <a:buFont typeface="+mj-lt"/>
                  <a:buAutoNum type="arabicPeriod"/>
                </a:pPr>
                <a:r>
                  <a:rPr lang="en-ZA" b="1" dirty="0"/>
                  <a:t>Checks solutions:</a:t>
                </a:r>
                <a:r>
                  <a:rPr lang="en-ZA" dirty="0"/>
                  <a:t> It can determine whether a particular input satisfies a given condition.</a:t>
                </a:r>
                <a:endParaRPr lang="en-ZA" b="0" dirty="0"/>
              </a:p>
              <a:p>
                <a:pPr algn="just"/>
                <a:endParaRPr lang="en-ZA" b="0" dirty="0"/>
              </a:p>
              <a:p>
                <a:pPr algn="just"/>
                <a:r>
                  <a:rPr lang="en-ZA" dirty="0"/>
                  <a:t>For example, consider a search problem where we want to find an input that satisfies a particular condition. The oracle returns 1 if the input is a solution and 0 if it is not.</a:t>
                </a:r>
                <a:endParaRPr lang="en-ZA" b="0" dirty="0"/>
              </a:p>
            </p:txBody>
          </p:sp>
        </mc:Choice>
        <mc:Fallback xmlns="">
          <p:sp>
            <p:nvSpPr>
              <p:cNvPr id="3" name="Notes Placeholder 2"/>
              <p:cNvSpPr>
                <a:spLocks noGrp="1"/>
              </p:cNvSpPr>
              <p:nvPr>
                <p:ph type="body" idx="1"/>
              </p:nvPr>
            </p:nvSpPr>
            <p:spPr/>
            <p:txBody>
              <a:bodyPr/>
              <a:lstStyle/>
              <a:p>
                <a:pPr algn="just"/>
                <a:r>
                  <a:rPr lang="en-ZA" b="0" dirty="0"/>
                  <a:t>A quantum oracle can be thought of as a black box that implements a function</a:t>
                </a:r>
                <a:r>
                  <a:rPr lang="en-ZA" b="0" baseline="0" dirty="0"/>
                  <a:t> </a:t>
                </a:r>
                <a:r>
                  <a:rPr lang="en-US" sz="1200" b="0" i="0">
                    <a:latin typeface="Cambria Math" panose="02040503050406030204" pitchFamily="18" charset="0"/>
                  </a:rPr>
                  <a:t>𝑓(𝑥)</a:t>
                </a:r>
                <a:r>
                  <a:rPr lang="en-ZA" b="0" dirty="0"/>
                  <a:t>, which is known only by its input-output </a:t>
                </a:r>
                <a:r>
                  <a:rPr lang="en-ZA" b="0" dirty="0" err="1"/>
                  <a:t>behavior</a:t>
                </a:r>
                <a:r>
                  <a:rPr lang="en-ZA" b="0" dirty="0"/>
                  <a:t>, not by its internal structure. In most quantum algorithms, </a:t>
                </a:r>
                <a:r>
                  <a:rPr lang="en-US" sz="1200" b="0" i="0">
                    <a:latin typeface="Cambria Math" panose="02040503050406030204" pitchFamily="18" charset="0"/>
                  </a:rPr>
                  <a:t>𝑓(𝑥)</a:t>
                </a:r>
                <a:r>
                  <a:rPr lang="en-ZA" b="0" dirty="0"/>
                  <a:t> used in oracles is assumed to be a binary function,</a:t>
                </a:r>
                <a:r>
                  <a:rPr lang="en-ZA" b="0" baseline="0" dirty="0"/>
                  <a:t> </a:t>
                </a:r>
                <a:r>
                  <a:rPr lang="en-ZA" b="0" dirty="0"/>
                  <a:t>meaning: </a:t>
                </a:r>
                <a:r>
                  <a:rPr lang="en-US" sz="1200" b="0" i="0">
                    <a:latin typeface="Cambria Math" panose="02040503050406030204" pitchFamily="18" charset="0"/>
                  </a:rPr>
                  <a:t>𝑓(𝑥):{0,1}^𝑛</a:t>
                </a:r>
                <a:r>
                  <a:rPr lang="en-US" sz="1200" b="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rPr>
                  <a:t>{0,1}</a:t>
                </a:r>
                <a:r>
                  <a:rPr lang="en-US" sz="1200" b="0" dirty="0"/>
                  <a:t>. </a:t>
                </a:r>
                <a:r>
                  <a:rPr lang="en-ZA" b="0" dirty="0"/>
                  <a:t>That is, the function takes an </a:t>
                </a:r>
                <a:r>
                  <a:rPr lang="en-US" sz="1200" b="0" i="0">
                    <a:latin typeface="Cambria Math" panose="02040503050406030204" pitchFamily="18" charset="0"/>
                  </a:rPr>
                  <a:t>𝑛</a:t>
                </a:r>
                <a:r>
                  <a:rPr lang="en-ZA" b="0" dirty="0"/>
                  <a:t>-bit binary string as input and returns a single binary output (0 or 1).</a:t>
                </a:r>
              </a:p>
              <a:p>
                <a:pPr algn="just"/>
                <a:endParaRPr lang="en-ZA" b="0" dirty="0"/>
              </a:p>
              <a:p>
                <a:pPr algn="just"/>
                <a:r>
                  <a:rPr lang="en-ZA" dirty="0"/>
                  <a:t>An oracle can be seen as a function that returns predefined outputs/</a:t>
                </a:r>
                <a:r>
                  <a:rPr lang="en-ZA" dirty="0" err="1"/>
                  <a:t>soultions</a:t>
                </a:r>
                <a:r>
                  <a:rPr lang="en-ZA" dirty="0"/>
                  <a:t> for specific inputs.</a:t>
                </a:r>
              </a:p>
              <a:p>
                <a:pPr algn="just"/>
                <a:r>
                  <a:rPr lang="en-ZA" dirty="0"/>
                  <a:t>Additionally, an oracle can verify the correctness of solutions. For example, a program computes a result and then queries the oracle to confirm if that result is correct. The oracle responds simply with "yes" or "no," represented as 1 or 0. A classic example is number factoring—finding the factors is difficult, but if the factors are already known, multiplying them to verify correctness is straightforward.</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21</a:t>
            </a:fld>
            <a:endParaRPr lang="en-US"/>
          </a:p>
        </p:txBody>
      </p:sp>
    </p:spTree>
    <p:extLst>
      <p:ext uri="{BB962C8B-B14F-4D97-AF65-F5344CB8AC3E}">
        <p14:creationId xmlns:p14="http://schemas.microsoft.com/office/powerpoint/2010/main" val="232642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In its simplest form, an oracle acts on two registers: an input register holding an </a:t>
                </a:r>
                <a14:m>
                  <m:oMath xmlns:m="http://schemas.openxmlformats.org/officeDocument/2006/math">
                    <m:r>
                      <a:rPr lang="sr-Latn-RS" sz="1200" i="1" smtClean="0">
                        <a:latin typeface="Cambria Math" panose="02040503050406030204" pitchFamily="18" charset="0"/>
                      </a:rPr>
                      <m:t>𝑛</m:t>
                    </m:r>
                  </m:oMath>
                </a14:m>
                <a:r>
                  <a:rPr lang="en-ZA" dirty="0"/>
                  <a:t>-qubit state </a:t>
                </a:r>
                <a14:m>
                  <m:oMath xmlns:m="http://schemas.openxmlformats.org/officeDocument/2006/math">
                    <m:d>
                      <m:dPr>
                        <m:begChr m:val=""/>
                        <m:endChr m:val="⟩"/>
                        <m:ctrlPr>
                          <a:rPr lang="en-US" sz="1200" i="1" smtClean="0">
                            <a:latin typeface="Cambria Math" panose="02040503050406030204" pitchFamily="18" charset="0"/>
                          </a:rPr>
                        </m:ctrlPr>
                      </m:dPr>
                      <m:e>
                        <m:r>
                          <a:rPr lang="en-US" sz="1200" i="0" smtClean="0">
                            <a:latin typeface="Cambria Math" panose="02040503050406030204" pitchFamily="18" charset="0"/>
                          </a:rPr>
                          <m:t>|</m:t>
                        </m:r>
                        <m:r>
                          <a:rPr lang="sr-Latn-RS" sz="1200" b="0" i="1" smtClean="0">
                            <a:latin typeface="Cambria Math" panose="02040503050406030204" pitchFamily="18" charset="0"/>
                          </a:rPr>
                          <m:t>𝑥</m:t>
                        </m:r>
                      </m:e>
                    </m:d>
                  </m:oMath>
                </a14:m>
                <a:r>
                  <a:rPr lang="en-ZA" dirty="0"/>
                  <a:t>, and a single-qubit auxiliary (target) register </a:t>
                </a:r>
                <a14:m>
                  <m:oMath xmlns:m="http://schemas.openxmlformats.org/officeDocument/2006/math">
                    <m:d>
                      <m:dPr>
                        <m:begChr m:val=""/>
                        <m:endChr m:val="⟩"/>
                        <m:ctrlPr>
                          <a:rPr lang="en-US" sz="1200" i="1" smtClean="0">
                            <a:latin typeface="Cambria Math" panose="02040503050406030204" pitchFamily="18" charset="0"/>
                          </a:rPr>
                        </m:ctrlPr>
                      </m:dPr>
                      <m:e>
                        <m:r>
                          <a:rPr lang="en-US" sz="1200" i="0" smtClean="0">
                            <a:latin typeface="Cambria Math" panose="02040503050406030204" pitchFamily="18" charset="0"/>
                          </a:rPr>
                          <m:t>|</m:t>
                        </m:r>
                        <m:r>
                          <a:rPr lang="sr-Latn-RS" sz="1200" b="0" i="1" smtClean="0">
                            <a:latin typeface="Cambria Math" panose="02040503050406030204" pitchFamily="18" charset="0"/>
                          </a:rPr>
                          <m:t>𝑦</m:t>
                        </m:r>
                      </m:e>
                    </m:d>
                  </m:oMath>
                </a14:m>
                <a:r>
                  <a:rPr lang="en-ZA" dirty="0"/>
                  <a:t>.</a:t>
                </a:r>
                <a:endParaRPr lang="en-ZA"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ZA" b="0" dirty="0"/>
              </a:p>
              <a:p>
                <a:r>
                  <a:rPr lang="en-ZA" b="1" dirty="0"/>
                  <a:t>1. Binary oracle</a:t>
                </a:r>
              </a:p>
              <a:p>
                <a:pPr marL="0" marR="0" lvl="0" indent="0" algn="l" defTabSz="914400" rtl="0" eaLnBrk="1" fontAlgn="auto" latinLnBrk="0" hangingPunct="1">
                  <a:lnSpc>
                    <a:spcPct val="100000"/>
                  </a:lnSpc>
                  <a:spcBef>
                    <a:spcPts val="0"/>
                  </a:spcBef>
                  <a:spcAft>
                    <a:spcPts val="0"/>
                  </a:spcAft>
                  <a:buClrTx/>
                  <a:buSzTx/>
                  <a:buFontTx/>
                  <a:buNone/>
                  <a:tabLst/>
                  <a:defRPr/>
                </a:pPr>
                <a:r>
                  <a:rPr lang="en-ZA" b="0" dirty="0"/>
                  <a:t>If the auxiliary qubit is initialized to </a:t>
                </a:r>
                <a14:m>
                  <m:oMath xmlns:m="http://schemas.openxmlformats.org/officeDocument/2006/math">
                    <m:d>
                      <m:dPr>
                        <m:begChr m:val=""/>
                        <m:endChr m:val="⟩"/>
                        <m:ctrlPr>
                          <a:rPr lang="en-US" sz="1200" i="1" smtClean="0">
                            <a:latin typeface="Cambria Math" panose="02040503050406030204" pitchFamily="18" charset="0"/>
                          </a:rPr>
                        </m:ctrlPr>
                      </m:dPr>
                      <m:e>
                        <m:r>
                          <a:rPr lang="en-US" sz="1200" i="0" smtClean="0">
                            <a:latin typeface="Cambria Math" panose="02040503050406030204" pitchFamily="18" charset="0"/>
                          </a:rPr>
                          <m:t>|</m:t>
                        </m:r>
                        <m:r>
                          <a:rPr lang="en-US" sz="1200" b="0" i="1" smtClean="0">
                            <a:latin typeface="Cambria Math" panose="02040503050406030204" pitchFamily="18" charset="0"/>
                          </a:rPr>
                          <m:t>0</m:t>
                        </m:r>
                      </m:e>
                    </m:d>
                  </m:oMath>
                </a14:m>
                <a:r>
                  <a:rPr lang="en-ZA" b="0" dirty="0"/>
                  <a:t>, the oracle evaluates the function</a:t>
                </a:r>
                <a:r>
                  <a:rPr lang="en-ZA" b="0" baseline="0" dirty="0"/>
                  <a:t> </a:t>
                </a:r>
                <a14:m>
                  <m:oMath xmlns:m="http://schemas.openxmlformats.org/officeDocument/2006/math">
                    <m:r>
                      <a:rPr lang="en-US" sz="1200" b="0" i="1" smtClean="0">
                        <a:latin typeface="Cambria Math" panose="02040503050406030204" pitchFamily="18" charset="0"/>
                      </a:rPr>
                      <m:t>𝑓</m:t>
                    </m:r>
                    <m:d>
                      <m:dPr>
                        <m:ctrlPr>
                          <a:rPr lang="en-US" sz="1200" b="0" i="1">
                            <a:latin typeface="Cambria Math" panose="02040503050406030204" pitchFamily="18" charset="0"/>
                          </a:rPr>
                        </m:ctrlPr>
                      </m:dPr>
                      <m:e>
                        <m:r>
                          <a:rPr lang="en-US" sz="1200" b="0" i="1" smtClean="0">
                            <a:latin typeface="Cambria Math" panose="02040503050406030204" pitchFamily="18" charset="0"/>
                          </a:rPr>
                          <m:t>𝑥</m:t>
                        </m:r>
                      </m:e>
                    </m:d>
                  </m:oMath>
                </a14:m>
                <a:r>
                  <a:rPr lang="en-ZA" b="0" dirty="0"/>
                  <a:t>. </a:t>
                </a:r>
                <a:r>
                  <a:rPr lang="en-ZA" dirty="0"/>
                  <a:t>At the output, the input register</a:t>
                </a:r>
                <a14:m>
                  <m:oMath xmlns:m="http://schemas.openxmlformats.org/officeDocument/2006/math">
                    <m:r>
                      <a:rPr lang="en-US" sz="1200" b="0" i="0" smtClean="0">
                        <a:latin typeface="Cambria Math" panose="02040503050406030204" pitchFamily="18" charset="0"/>
                      </a:rPr>
                      <m:t> </m:t>
                    </m:r>
                    <m:d>
                      <m:dPr>
                        <m:begChr m:val=""/>
                        <m:endChr m:val="⟩"/>
                        <m:ctrlPr>
                          <a:rPr lang="en-US" sz="1200" i="1" smtClean="0">
                            <a:latin typeface="Cambria Math" panose="02040503050406030204" pitchFamily="18" charset="0"/>
                          </a:rPr>
                        </m:ctrlPr>
                      </m:dPr>
                      <m:e>
                        <m:r>
                          <a:rPr lang="en-US" sz="1200" i="0" smtClean="0">
                            <a:latin typeface="Cambria Math" panose="02040503050406030204" pitchFamily="18" charset="0"/>
                          </a:rPr>
                          <m:t>|</m:t>
                        </m:r>
                        <m:r>
                          <a:rPr lang="en-US" sz="1200" b="0" i="1" smtClean="0">
                            <a:latin typeface="Cambria Math" panose="02040503050406030204" pitchFamily="18" charset="0"/>
                          </a:rPr>
                          <m:t>𝑥</m:t>
                        </m:r>
                      </m:e>
                    </m:d>
                  </m:oMath>
                </a14:m>
                <a:r>
                  <a:rPr lang="en-ZA" b="0" dirty="0"/>
                  <a:t> </a:t>
                </a:r>
                <a:r>
                  <a:rPr lang="en-ZA" dirty="0"/>
                  <a:t>remains unchanged, while the auxiliary qubit contains the value </a:t>
                </a:r>
                <a:r>
                  <a:rPr lang="en-ZA" b="0" dirty="0"/>
                  <a:t> </a:t>
                </a:r>
                <a14:m>
                  <m:oMath xmlns:m="http://schemas.openxmlformats.org/officeDocument/2006/math">
                    <m:r>
                      <a:rPr lang="en-US" sz="1200" b="0" i="1" smtClean="0">
                        <a:latin typeface="Cambria Math" panose="02040503050406030204" pitchFamily="18" charset="0"/>
                      </a:rPr>
                      <m:t>𝑓</m:t>
                    </m:r>
                    <m:d>
                      <m:dPr>
                        <m:ctrlPr>
                          <a:rPr lang="en-US" sz="1200" b="0" i="1">
                            <a:latin typeface="Cambria Math" panose="02040503050406030204" pitchFamily="18" charset="0"/>
                          </a:rPr>
                        </m:ctrlPr>
                      </m:dPr>
                      <m:e>
                        <m:r>
                          <a:rPr lang="en-US" sz="1200" b="0" i="1" smtClean="0">
                            <a:latin typeface="Cambria Math" panose="02040503050406030204" pitchFamily="18" charset="0"/>
                          </a:rPr>
                          <m:t>𝑥</m:t>
                        </m:r>
                      </m:e>
                    </m:d>
                  </m:oMath>
                </a14:m>
                <a:r>
                  <a:rPr lang="en-ZA" b="0" dirty="0"/>
                  <a:t>. </a:t>
                </a:r>
                <a:r>
                  <a:rPr lang="en-ZA" dirty="0"/>
                  <a:t>More generally, for any auxiliary state</a:t>
                </a:r>
                <a:r>
                  <a:rPr lang="en-ZA" b="0" dirty="0"/>
                  <a:t> </a:t>
                </a:r>
                <a14:m>
                  <m:oMath xmlns:m="http://schemas.openxmlformats.org/officeDocument/2006/math">
                    <m:d>
                      <m:dPr>
                        <m:begChr m:val=""/>
                        <m:endChr m:val="⟩"/>
                        <m:ctrlPr>
                          <a:rPr lang="en-US" sz="1200" i="1" smtClean="0">
                            <a:latin typeface="Cambria Math" panose="02040503050406030204" pitchFamily="18" charset="0"/>
                          </a:rPr>
                        </m:ctrlPr>
                      </m:dPr>
                      <m:e>
                        <m:r>
                          <a:rPr lang="en-US" sz="1200" i="0" smtClean="0">
                            <a:latin typeface="Cambria Math" panose="02040503050406030204" pitchFamily="18" charset="0"/>
                          </a:rPr>
                          <m:t>|</m:t>
                        </m:r>
                        <m:r>
                          <a:rPr lang="en-US" sz="1200" b="0" i="1" smtClean="0">
                            <a:latin typeface="Cambria Math" panose="02040503050406030204" pitchFamily="18" charset="0"/>
                          </a:rPr>
                          <m:t>𝑦</m:t>
                        </m:r>
                      </m:e>
                    </m:d>
                  </m:oMath>
                </a14:m>
                <a:r>
                  <a:rPr lang="en-ZA" b="0" dirty="0"/>
                  <a:t>, </a:t>
                </a:r>
                <a:r>
                  <a:rPr lang="en-ZA" dirty="0"/>
                  <a:t>the oracle transforms the state as </a:t>
                </a:r>
                <a:endParaRPr lang="sr-Latn-RS" sz="1200" i="1" dirty="0">
                  <a:latin typeface="Cambria Math"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𝑥</m:t>
                          </m:r>
                        </m:e>
                      </m:d>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𝑦</m:t>
                          </m:r>
                        </m:e>
                      </m:d>
                      <m:r>
                        <a:rPr lang="en-US" sz="1200" i="1">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𝑥</m:t>
                          </m:r>
                        </m:e>
                      </m:d>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𝑦</m:t>
                          </m:r>
                          <m:r>
                            <a:rPr lang="en-US" sz="1200" i="1">
                              <a:latin typeface="Cambria Math" panose="02040503050406030204" pitchFamily="18" charset="0"/>
                            </a:rPr>
                            <m:t>⨁</m:t>
                          </m:r>
                          <m:r>
                            <a:rPr lang="en-US" sz="1200" i="1">
                              <a:latin typeface="Cambria Math" panose="02040503050406030204" pitchFamily="18" charset="0"/>
                            </a:rPr>
                            <m:t>𝑓</m:t>
                          </m:r>
                          <m:d>
                            <m:dPr>
                              <m:ctrlPr>
                                <a:rPr lang="en-US" sz="1200" i="1">
                                  <a:latin typeface="Cambria Math" panose="02040503050406030204" pitchFamily="18" charset="0"/>
                                </a:rPr>
                              </m:ctrlPr>
                            </m:dPr>
                            <m:e>
                              <m:r>
                                <a:rPr lang="en-US" sz="1200" i="1">
                                  <a:latin typeface="Cambria Math" panose="02040503050406030204" pitchFamily="18" charset="0"/>
                                </a:rPr>
                                <m:t>𝑥</m:t>
                              </m:r>
                            </m:e>
                          </m:d>
                        </m:e>
                      </m:d>
                    </m:oMath>
                  </m:oMathPara>
                </a14:m>
                <a:endParaRPr lang="en-ZA"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ZA" b="0" dirty="0"/>
              </a:p>
              <a:p>
                <a:r>
                  <a:rPr lang="en-ZA" b="1" dirty="0"/>
                  <a:t>2. Phase oracle</a:t>
                </a:r>
              </a:p>
              <a:p>
                <a:r>
                  <a:rPr lang="en-ZA" b="0" dirty="0"/>
                  <a:t>If the auxiliary qubit is initialized to the state </a:t>
                </a:r>
                <a14:m>
                  <m:oMath xmlns:m="http://schemas.openxmlformats.org/officeDocument/2006/math">
                    <m:d>
                      <m:dPr>
                        <m:begChr m:val="|"/>
                        <m:endChr m:val="⟩"/>
                        <m:ctrlPr>
                          <a:rPr lang="en-US" sz="1200" i="1" smtClean="0">
                            <a:latin typeface="Cambria Math" panose="02040503050406030204" pitchFamily="18" charset="0"/>
                          </a:rPr>
                        </m:ctrlPr>
                      </m:dPr>
                      <m:e>
                        <m:r>
                          <a:rPr lang="sr-Latn-RS" sz="1200" b="0" i="1" smtClean="0">
                            <a:latin typeface="Cambria Math" panose="02040503050406030204" pitchFamily="18" charset="0"/>
                          </a:rPr>
                          <m:t>−</m:t>
                        </m:r>
                      </m:e>
                    </m:d>
                  </m:oMath>
                </a14:m>
                <a:r>
                  <a:rPr lang="en-ZA" b="0" dirty="0"/>
                  <a:t>, the same oracle can act as a phase oracle:</a:t>
                </a:r>
                <a:r>
                  <a:rPr lang="en-ZA" b="0" baseline="0" dirty="0"/>
                  <a:t> </a:t>
                </a:r>
              </a:p>
              <a:p>
                <a:endParaRPr lang="sr-Latn-RS" sz="12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𝑥</m:t>
                          </m:r>
                        </m:e>
                      </m:d>
                      <m:d>
                        <m:dPr>
                          <m:begChr m:val="|"/>
                          <m:endChr m:val="⟩"/>
                          <m:ctrlPr>
                            <a:rPr lang="en-US" sz="1200" i="1">
                              <a:latin typeface="Cambria Math" panose="02040503050406030204" pitchFamily="18" charset="0"/>
                            </a:rPr>
                          </m:ctrlPr>
                        </m:dPr>
                        <m:e>
                          <m:r>
                            <a:rPr lang="sr-Latn-RS" sz="1200" b="0" i="1" smtClean="0">
                              <a:latin typeface="Cambria Math" panose="02040503050406030204" pitchFamily="18" charset="0"/>
                            </a:rPr>
                            <m:t>−</m:t>
                          </m:r>
                        </m:e>
                      </m:d>
                      <m:r>
                        <a:rPr lang="en-US" sz="1200" i="0">
                          <a:latin typeface="Cambria Math" panose="02040503050406030204" pitchFamily="18" charset="0"/>
                        </a:rPr>
                        <m:t>→</m:t>
                      </m:r>
                      <m:sSup>
                        <m:sSupPr>
                          <m:ctrlPr>
                            <a:rPr lang="en-US" sz="1200" i="1" smtClean="0">
                              <a:latin typeface="Cambria Math" panose="02040503050406030204" pitchFamily="18" charset="0"/>
                            </a:rPr>
                          </m:ctrlPr>
                        </m:sSupPr>
                        <m:e>
                          <m:r>
                            <a:rPr lang="sr-Latn-RS" sz="1200" b="0" i="1" smtClean="0">
                              <a:latin typeface="Cambria Math" panose="02040503050406030204" pitchFamily="18" charset="0"/>
                            </a:rPr>
                            <m:t>(−1)</m:t>
                          </m:r>
                        </m:e>
                        <m:sup>
                          <m:r>
                            <a:rPr lang="sr-Latn-RS" sz="1200" b="0" i="1" smtClean="0">
                              <a:latin typeface="Cambria Math" panose="02040503050406030204" pitchFamily="18" charset="0"/>
                            </a:rPr>
                            <m:t>𝑓</m:t>
                          </m:r>
                          <m:r>
                            <a:rPr lang="sr-Latn-RS" sz="1200" b="0" i="1" smtClean="0">
                              <a:latin typeface="Cambria Math" panose="02040503050406030204" pitchFamily="18" charset="0"/>
                            </a:rPr>
                            <m:t>(</m:t>
                          </m:r>
                          <m:r>
                            <a:rPr lang="sr-Latn-RS" sz="1200" b="0" i="1" smtClean="0">
                              <a:latin typeface="Cambria Math" panose="02040503050406030204" pitchFamily="18" charset="0"/>
                            </a:rPr>
                            <m:t>𝑥</m:t>
                          </m:r>
                          <m:r>
                            <a:rPr lang="sr-Latn-RS" sz="1200" b="0" i="1" smtClean="0">
                              <a:latin typeface="Cambria Math" panose="02040503050406030204" pitchFamily="18" charset="0"/>
                            </a:rPr>
                            <m:t>)</m:t>
                          </m:r>
                        </m:sup>
                      </m:sSup>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𝑥</m:t>
                          </m:r>
                        </m:e>
                      </m:d>
                      <m:d>
                        <m:dPr>
                          <m:begChr m:val="|"/>
                          <m:endChr m:val="⟩"/>
                          <m:ctrlPr>
                            <a:rPr lang="en-US" sz="1200" i="1">
                              <a:latin typeface="Cambria Math" panose="02040503050406030204" pitchFamily="18" charset="0"/>
                            </a:rPr>
                          </m:ctrlPr>
                        </m:dPr>
                        <m:e>
                          <m:r>
                            <a:rPr lang="sr-Latn-RS" sz="1200" b="0" i="1" smtClean="0">
                              <a:latin typeface="Cambria Math" panose="02040503050406030204" pitchFamily="18" charset="0"/>
                            </a:rPr>
                            <m:t>−</m:t>
                          </m:r>
                        </m:e>
                      </m:d>
                    </m:oMath>
                  </m:oMathPara>
                </a14:m>
                <a:endParaRPr lang="sr-Latn-RS" sz="1200" b="0" dirty="0"/>
              </a:p>
              <a:p>
                <a:endParaRPr lang="sr-Latn-RS" sz="1200" b="0" dirty="0"/>
              </a:p>
              <a:p>
                <a:r>
                  <a:rPr lang="en-ZA" b="0" dirty="0"/>
                  <a:t>The auxiliary qubit remains in the state </a:t>
                </a:r>
                <a14:m>
                  <m:oMath xmlns:m="http://schemas.openxmlformats.org/officeDocument/2006/math">
                    <m:d>
                      <m:dPr>
                        <m:begChr m:val="|"/>
                        <m:endChr m:val="⟩"/>
                        <m:ctrlPr>
                          <a:rPr lang="en-US" sz="1200" i="1" smtClean="0">
                            <a:latin typeface="Cambria Math" panose="02040503050406030204" pitchFamily="18" charset="0"/>
                          </a:rPr>
                        </m:ctrlPr>
                      </m:dPr>
                      <m:e>
                        <m:r>
                          <a:rPr lang="sr-Latn-RS" sz="1200" b="0" i="1" smtClean="0">
                            <a:latin typeface="Cambria Math" panose="02040503050406030204" pitchFamily="18" charset="0"/>
                          </a:rPr>
                          <m:t>−</m:t>
                        </m:r>
                      </m:e>
                    </m:d>
                  </m:oMath>
                </a14:m>
                <a:r>
                  <a:rPr lang="en-ZA" b="0" dirty="0"/>
                  <a:t>, </a:t>
                </a:r>
                <a:r>
                  <a:rPr lang="en-ZA" dirty="0"/>
                  <a:t>while the phase of the input register is flipped based on</a:t>
                </a:r>
                <a:r>
                  <a:rPr lang="en-ZA" b="0" dirty="0"/>
                  <a:t> </a:t>
                </a:r>
                <a14:m>
                  <m:oMath xmlns:m="http://schemas.openxmlformats.org/officeDocument/2006/math">
                    <m:r>
                      <a:rPr lang="sr-Latn-RS" sz="1200" b="0" i="1" smtClean="0">
                        <a:latin typeface="Cambria Math" panose="02040503050406030204" pitchFamily="18" charset="0"/>
                      </a:rPr>
                      <m:t>𝑓</m:t>
                    </m:r>
                    <m:r>
                      <a:rPr lang="sr-Latn-RS" sz="1200" b="0" i="1" smtClean="0">
                        <a:latin typeface="Cambria Math" panose="02040503050406030204" pitchFamily="18" charset="0"/>
                      </a:rPr>
                      <m:t>(</m:t>
                    </m:r>
                    <m:r>
                      <a:rPr lang="sr-Latn-RS" sz="1200" b="0" i="1" smtClean="0">
                        <a:latin typeface="Cambria Math" panose="02040503050406030204" pitchFamily="18" charset="0"/>
                      </a:rPr>
                      <m:t>𝑥</m:t>
                    </m:r>
                    <m:r>
                      <a:rPr lang="sr-Latn-RS" sz="1200" b="0" i="1" smtClean="0">
                        <a:latin typeface="Cambria Math" panose="02040503050406030204" pitchFamily="18" charset="0"/>
                      </a:rPr>
                      <m:t>)</m:t>
                    </m:r>
                  </m:oMath>
                </a14:m>
                <a:r>
                  <a:rPr lang="en-ZA" b="0" dirty="0"/>
                  <a:t>. If </a:t>
                </a:r>
                <a14:m>
                  <m:oMath xmlns:m="http://schemas.openxmlformats.org/officeDocument/2006/math">
                    <m:r>
                      <a:rPr lang="sr-Latn-RS" sz="1200" b="0" i="1" smtClean="0">
                        <a:latin typeface="Cambria Math" panose="02040503050406030204" pitchFamily="18" charset="0"/>
                      </a:rPr>
                      <m:t>𝑓</m:t>
                    </m:r>
                    <m:d>
                      <m:dPr>
                        <m:ctrlPr>
                          <a:rPr lang="sr-Latn-RS" sz="1200" b="0" i="1" smtClean="0">
                            <a:latin typeface="Cambria Math" panose="02040503050406030204" pitchFamily="18" charset="0"/>
                          </a:rPr>
                        </m:ctrlPr>
                      </m:dPr>
                      <m:e>
                        <m:r>
                          <a:rPr lang="sr-Latn-RS" sz="1200" b="0" i="1" smtClean="0">
                            <a:latin typeface="Cambria Math" panose="02040503050406030204" pitchFamily="18" charset="0"/>
                          </a:rPr>
                          <m:t>𝑥</m:t>
                        </m:r>
                      </m:e>
                    </m:d>
                    <m:r>
                      <a:rPr lang="en-US" sz="1200" b="0" i="1" smtClean="0">
                        <a:latin typeface="Cambria Math" panose="02040503050406030204" pitchFamily="18" charset="0"/>
                      </a:rPr>
                      <m:t>=1</m:t>
                    </m:r>
                  </m:oMath>
                </a14:m>
                <a:r>
                  <a:rPr lang="en-ZA" b="0" dirty="0"/>
                  <a:t>, the input acquires a minus sign; if </a:t>
                </a:r>
                <a14:m>
                  <m:oMath xmlns:m="http://schemas.openxmlformats.org/officeDocument/2006/math">
                    <m:r>
                      <a:rPr lang="sr-Latn-RS" sz="1200" b="0" i="1" smtClean="0">
                        <a:latin typeface="Cambria Math" panose="02040503050406030204" pitchFamily="18" charset="0"/>
                      </a:rPr>
                      <m:t>𝑓</m:t>
                    </m:r>
                    <m:d>
                      <m:dPr>
                        <m:ctrlPr>
                          <a:rPr lang="sr-Latn-RS" sz="1200" b="0" i="1" smtClean="0">
                            <a:latin typeface="Cambria Math" panose="02040503050406030204" pitchFamily="18" charset="0"/>
                          </a:rPr>
                        </m:ctrlPr>
                      </m:dPr>
                      <m:e>
                        <m:r>
                          <a:rPr lang="sr-Latn-RS" sz="1200" b="0" i="1" smtClean="0">
                            <a:latin typeface="Cambria Math" panose="02040503050406030204" pitchFamily="18" charset="0"/>
                          </a:rPr>
                          <m:t>𝑥</m:t>
                        </m:r>
                      </m:e>
                    </m:d>
                    <m:r>
                      <a:rPr lang="en-US" sz="1200" b="0" i="1" smtClean="0">
                        <a:latin typeface="Cambria Math" panose="02040503050406030204" pitchFamily="18" charset="0"/>
                      </a:rPr>
                      <m:t>=0</m:t>
                    </m:r>
                  </m:oMath>
                </a14:m>
                <a:r>
                  <a:rPr lang="en-ZA" b="0" dirty="0"/>
                  <a:t>, it remains unchanged.</a:t>
                </a:r>
              </a:p>
              <a:p>
                <a:endParaRPr lang="en-ZA"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effectLst/>
                  </a:rPr>
                  <a:t>More generally, an oracle can operate on multi-qubit input and multi-qubit auxiliary registers.</a:t>
                </a:r>
              </a:p>
              <a:p>
                <a:r>
                  <a:rPr lang="en-ZA" b="0" dirty="0"/>
                  <a:t>More generally, an oracle can operate on multi-qubit input and auxiliary registers.</a:t>
                </a:r>
              </a:p>
            </p:txBody>
          </p:sp>
        </mc:Choice>
        <mc:Fallback xmlns="">
          <p:sp>
            <p:nvSpPr>
              <p:cNvPr id="3" name="Notes Placeholder 2"/>
              <p:cNvSpPr>
                <a:spLocks noGrp="1"/>
              </p:cNvSpPr>
              <p:nvPr>
                <p:ph type="body" idx="1"/>
              </p:nvPr>
            </p:nvSpPr>
            <p:spPr/>
            <p:txBody>
              <a:bodyPr/>
              <a:lstStyle/>
              <a:p>
                <a:r>
                  <a:rPr lang="en-US" dirty="0"/>
                  <a:t>Kvantni </a:t>
                </a:r>
                <a:r>
                  <a:rPr lang="en-US" dirty="0" err="1"/>
                  <a:t>orakl</a:t>
                </a:r>
                <a:r>
                  <a:rPr lang="en-US" dirty="0"/>
                  <a:t> se </a:t>
                </a:r>
                <a:r>
                  <a:rPr lang="en-US" dirty="0" err="1"/>
                  <a:t>može</a:t>
                </a:r>
                <a:r>
                  <a:rPr lang="en-US" dirty="0"/>
                  <a:t> </a:t>
                </a:r>
                <a:r>
                  <a:rPr lang="en-US" dirty="0" err="1"/>
                  <a:t>zamisliti</a:t>
                </a:r>
                <a:r>
                  <a:rPr lang="en-US" dirty="0"/>
                  <a:t> </a:t>
                </a:r>
                <a:r>
                  <a:rPr lang="en-US" dirty="0" err="1"/>
                  <a:t>kao</a:t>
                </a:r>
                <a:r>
                  <a:rPr lang="en-US" dirty="0"/>
                  <a:t> </a:t>
                </a:r>
                <a:r>
                  <a:rPr lang="en-US" dirty="0" err="1"/>
                  <a:t>crna</a:t>
                </a:r>
                <a:r>
                  <a:rPr lang="en-US" dirty="0"/>
                  <a:t> </a:t>
                </a:r>
                <a:r>
                  <a:rPr lang="en-US" dirty="0" err="1"/>
                  <a:t>kutija</a:t>
                </a:r>
                <a:r>
                  <a:rPr lang="en-US" dirty="0"/>
                  <a:t> </a:t>
                </a:r>
                <a:r>
                  <a:rPr lang="en-US" dirty="0" err="1"/>
                  <a:t>koja</a:t>
                </a:r>
                <a:r>
                  <a:rPr lang="en-US" dirty="0"/>
                  <a:t> </a:t>
                </a:r>
                <a:r>
                  <a:rPr lang="en-US" dirty="0" err="1"/>
                  <a:t>implementira</a:t>
                </a:r>
                <a:r>
                  <a:rPr lang="en-US" dirty="0"/>
                  <a:t> </a:t>
                </a:r>
                <a:r>
                  <a:rPr lang="en-US" dirty="0" err="1"/>
                  <a:t>neku</a:t>
                </a:r>
                <a:r>
                  <a:rPr lang="en-US" dirty="0"/>
                  <a:t> </a:t>
                </a:r>
                <a:r>
                  <a:rPr lang="en-US" dirty="0" err="1"/>
                  <a:t>funkciju</a:t>
                </a:r>
                <a:r>
                  <a:rPr lang="en-US" dirty="0"/>
                  <a:t> f(x) </a:t>
                </a:r>
                <a:r>
                  <a:rPr lang="en-US" dirty="0" err="1"/>
                  <a:t>koju</a:t>
                </a:r>
                <a:r>
                  <a:rPr lang="en-US" dirty="0"/>
                  <a:t> </a:t>
                </a:r>
                <a:r>
                  <a:rPr lang="en-US" dirty="0" err="1"/>
                  <a:t>poznajemo</a:t>
                </a:r>
                <a:r>
                  <a:rPr lang="en-US" dirty="0"/>
                  <a:t> </a:t>
                </a:r>
                <a:r>
                  <a:rPr lang="en-US" dirty="0" err="1"/>
                  <a:t>samo</a:t>
                </a:r>
                <a:r>
                  <a:rPr lang="en-US" dirty="0"/>
                  <a:t> </a:t>
                </a:r>
                <a:r>
                  <a:rPr lang="en-US" dirty="0" err="1"/>
                  <a:t>po</a:t>
                </a:r>
                <a:r>
                  <a:rPr lang="en-US" dirty="0"/>
                  <a:t> </a:t>
                </a:r>
                <a:r>
                  <a:rPr lang="en-US" dirty="0" err="1"/>
                  <a:t>njenim</a:t>
                </a:r>
                <a:r>
                  <a:rPr lang="en-US" dirty="0"/>
                  <a:t> </a:t>
                </a:r>
                <a:r>
                  <a:rPr lang="en-US" dirty="0" err="1"/>
                  <a:t>ulazima</a:t>
                </a:r>
                <a:r>
                  <a:rPr lang="en-US" dirty="0"/>
                  <a:t> </a:t>
                </a:r>
                <a:r>
                  <a:rPr lang="en-US" dirty="0" err="1"/>
                  <a:t>i</a:t>
                </a:r>
                <a:r>
                  <a:rPr lang="en-US" dirty="0"/>
                  <a:t> </a:t>
                </a:r>
                <a:r>
                  <a:rPr lang="en-US" dirty="0" err="1"/>
                  <a:t>izlazima</a:t>
                </a:r>
                <a:r>
                  <a:rPr lang="en-US" dirty="0"/>
                  <a:t>.</a:t>
                </a:r>
              </a:p>
              <a:p>
                <a:endParaRPr lang="en-US" dirty="0"/>
              </a:p>
              <a:p>
                <a:r>
                  <a:rPr lang="en-US" dirty="0" err="1"/>
                  <a:t>Neka</a:t>
                </a:r>
                <a:r>
                  <a:rPr lang="en-US" dirty="0"/>
                  <a:t> se </a:t>
                </a:r>
                <a:r>
                  <a:rPr lang="en-US" dirty="0" err="1"/>
                  <a:t>na</a:t>
                </a:r>
                <a:r>
                  <a:rPr lang="en-US" dirty="0"/>
                  <a:t> </a:t>
                </a:r>
                <a:r>
                  <a:rPr lang="en-US" dirty="0" err="1"/>
                  <a:t>ulaz</a:t>
                </a:r>
                <a:r>
                  <a:rPr lang="en-US" dirty="0"/>
                  <a:t> </a:t>
                </a:r>
                <a:r>
                  <a:rPr lang="en-US" dirty="0" err="1"/>
                  <a:t>orakla</a:t>
                </a:r>
                <a:r>
                  <a:rPr lang="en-US" dirty="0"/>
                  <a:t> </a:t>
                </a:r>
                <a:r>
                  <a:rPr lang="en-US" dirty="0" err="1"/>
                  <a:t>dovode</a:t>
                </a:r>
                <a:r>
                  <a:rPr lang="en-US" dirty="0"/>
                  <a:t> </a:t>
                </a:r>
                <a:r>
                  <a:rPr lang="en-US" dirty="0" err="1"/>
                  <a:t>dva</a:t>
                </a:r>
                <a:r>
                  <a:rPr lang="en-US" dirty="0"/>
                  <a:t> kubita |x⟩ </a:t>
                </a:r>
                <a:r>
                  <a:rPr lang="en-US" dirty="0" err="1"/>
                  <a:t>i</a:t>
                </a:r>
                <a:r>
                  <a:rPr lang="en-US" dirty="0"/>
                  <a:t> |y⟩. Na </a:t>
                </a:r>
                <a:r>
                  <a:rPr lang="en-US" dirty="0" err="1"/>
                  <a:t>jednom</a:t>
                </a:r>
                <a:r>
                  <a:rPr lang="en-US" dirty="0"/>
                  <a:t> </a:t>
                </a:r>
                <a:r>
                  <a:rPr lang="en-US" dirty="0" err="1"/>
                  <a:t>izlazu</a:t>
                </a:r>
                <a:r>
                  <a:rPr lang="en-US" dirty="0"/>
                  <a:t> </a:t>
                </a:r>
                <a:r>
                  <a:rPr lang="en-US" dirty="0" err="1"/>
                  <a:t>orakl</a:t>
                </a:r>
                <a:r>
                  <a:rPr lang="en-US" dirty="0"/>
                  <a:t> </a:t>
                </a:r>
                <a:r>
                  <a:rPr lang="en-US" dirty="0" err="1"/>
                  <a:t>daje</a:t>
                </a:r>
                <a:r>
                  <a:rPr lang="en-US" dirty="0"/>
                  <a:t> </a:t>
                </a:r>
                <a:r>
                  <a:rPr lang="en-US" dirty="0" err="1"/>
                  <a:t>ulaz</a:t>
                </a:r>
                <a:r>
                  <a:rPr lang="en-US" dirty="0"/>
                  <a:t> |x⟩, a </a:t>
                </a:r>
                <a:r>
                  <a:rPr lang="en-US" dirty="0" err="1"/>
                  <a:t>na</a:t>
                </a:r>
                <a:r>
                  <a:rPr lang="en-US" dirty="0"/>
                  <a:t> </a:t>
                </a:r>
                <a:r>
                  <a:rPr lang="en-US" dirty="0" err="1"/>
                  <a:t>drugom</a:t>
                </a:r>
                <a:r>
                  <a:rPr lang="en-US" dirty="0"/>
                  <a:t> </a:t>
                </a:r>
                <a:r>
                  <a:rPr lang="en-US" dirty="0" err="1"/>
                  <a:t>zbir</a:t>
                </a:r>
                <a:r>
                  <a:rPr lang="en-US" dirty="0"/>
                  <a:t> </a:t>
                </a:r>
                <a:r>
                  <a:rPr lang="en-US" dirty="0" err="1"/>
                  <a:t>ulaza</a:t>
                </a:r>
                <a:r>
                  <a:rPr lang="en-US" dirty="0"/>
                  <a:t> </a:t>
                </a:r>
                <a:r>
                  <a:rPr lang="en-US" dirty="0" err="1"/>
                  <a:t>po</a:t>
                </a:r>
                <a:r>
                  <a:rPr lang="en-US" dirty="0"/>
                  <a:t> </a:t>
                </a:r>
                <a:r>
                  <a:rPr lang="en-US" dirty="0" err="1"/>
                  <a:t>modulu</a:t>
                </a:r>
                <a:r>
                  <a:rPr lang="en-US" dirty="0"/>
                  <a:t> 2 |y ⨁ f(x)⟩.</a:t>
                </a:r>
              </a:p>
              <a:p>
                <a:endParaRPr lang="en-US" dirty="0"/>
              </a:p>
              <a:p>
                <a:pPr marL="228600" indent="-228600">
                  <a:buFont typeface="Arial" panose="020B0604020202020204" pitchFamily="34" charset="0"/>
                  <a:buChar char="•"/>
                </a:pPr>
                <a:r>
                  <a:rPr lang="en-US" dirty="0" err="1"/>
                  <a:t>Ako</a:t>
                </a:r>
                <a:r>
                  <a:rPr lang="en-US" dirty="0"/>
                  <a:t> </a:t>
                </a:r>
                <a:r>
                  <a:rPr lang="en-US" dirty="0" err="1"/>
                  <a:t>je</a:t>
                </a:r>
                <a:r>
                  <a:rPr lang="en-US" dirty="0"/>
                  <a:t> </a:t>
                </a:r>
                <a:r>
                  <a:rPr lang="en-US" dirty="0" err="1"/>
                  <a:t>ulaz</a:t>
                </a:r>
                <a:r>
                  <a:rPr lang="en-US" dirty="0"/>
                  <a:t> </a:t>
                </a:r>
                <a:r>
                  <a:rPr lang="en-US" sz="1200" i="0">
                    <a:latin typeface="Cambria Math" panose="02040503050406030204" pitchFamily="18" charset="0"/>
                  </a:rPr>
                  <a:t>𝑦</a:t>
                </a:r>
                <a:r>
                  <a:rPr lang="en-US" sz="1200" dirty="0"/>
                  <a:t>= </a:t>
                </a:r>
                <a:r>
                  <a:rPr lang="en-US" sz="1200" i="0">
                    <a:latin typeface="Cambria Math" panose="02040503050406030204" pitchFamily="18" charset="0"/>
                  </a:rPr>
                  <a:t>|</a:t>
                </a:r>
                <a:r>
                  <a:rPr lang="sr-Latn-RS" sz="1200" i="0">
                    <a:latin typeface="Cambria Math" panose="02040503050406030204" pitchFamily="18" charset="0"/>
                  </a:rPr>
                  <a:t>0⟩  </a:t>
                </a:r>
                <a:r>
                  <a:rPr lang="en-US" dirty="0"/>
                  <a:t>  </a:t>
                </a:r>
                <a:r>
                  <a:rPr lang="en-US" dirty="0" err="1"/>
                  <a:t>na</a:t>
                </a:r>
                <a:r>
                  <a:rPr lang="en-US" dirty="0"/>
                  <a:t> </a:t>
                </a:r>
                <a:r>
                  <a:rPr lang="en-US" dirty="0" err="1"/>
                  <a:t>istom</a:t>
                </a:r>
                <a:r>
                  <a:rPr lang="en-US" dirty="0"/>
                  <a:t> </a:t>
                </a:r>
                <a:r>
                  <a:rPr lang="en-US" dirty="0" err="1"/>
                  <a:t>izlazu</a:t>
                </a:r>
                <a:r>
                  <a:rPr lang="en-US" dirty="0"/>
                  <a:t> se dobija</a:t>
                </a:r>
                <a:r>
                  <a:rPr lang="en-US" baseline="0" dirty="0"/>
                  <a:t> </a:t>
                </a:r>
                <a:r>
                  <a:rPr lang="en-US" sz="1200" i="0">
                    <a:latin typeface="Cambria Math" panose="02040503050406030204" pitchFamily="18" charset="0"/>
                  </a:rPr>
                  <a:t>|𝑓(𝑥)⟩</a:t>
                </a:r>
                <a:r>
                  <a:rPr lang="en-US" dirty="0"/>
                  <a:t> </a:t>
                </a:r>
                <a:r>
                  <a:rPr lang="en-US" dirty="0" err="1"/>
                  <a:t>jer</a:t>
                </a:r>
                <a:r>
                  <a:rPr lang="en-US" dirty="0"/>
                  <a:t> </a:t>
                </a:r>
                <a:r>
                  <a:rPr lang="en-US" dirty="0" err="1"/>
                  <a:t>rezultat</a:t>
                </a:r>
                <a:r>
                  <a:rPr lang="en-US" dirty="0"/>
                  <a:t> XOR </a:t>
                </a:r>
                <a:r>
                  <a:rPr lang="en-US" dirty="0" err="1"/>
                  <a:t>operacije</a:t>
                </a:r>
                <a:r>
                  <a:rPr lang="en-US" dirty="0"/>
                  <a:t> </a:t>
                </a:r>
                <a:r>
                  <a:rPr lang="en-US" dirty="0" err="1"/>
                  <a:t>neke</a:t>
                </a:r>
                <a:r>
                  <a:rPr lang="en-US" dirty="0"/>
                  <a:t> </a:t>
                </a:r>
                <a:r>
                  <a:rPr lang="en-US" dirty="0" err="1"/>
                  <a:t>binarne</a:t>
                </a:r>
                <a:r>
                  <a:rPr lang="en-US" dirty="0"/>
                  <a:t> </a:t>
                </a:r>
                <a:r>
                  <a:rPr lang="en-US" dirty="0" err="1"/>
                  <a:t>vrednosti</a:t>
                </a:r>
                <a:r>
                  <a:rPr lang="en-US" dirty="0"/>
                  <a:t> </a:t>
                </a:r>
                <a:r>
                  <a:rPr lang="en-US" dirty="0" err="1"/>
                  <a:t>sa</a:t>
                </a:r>
                <a:r>
                  <a:rPr lang="en-US" dirty="0"/>
                  <a:t> </a:t>
                </a:r>
                <a:r>
                  <a:rPr lang="en-US" dirty="0" err="1"/>
                  <a:t>nulom</a:t>
                </a:r>
                <a:r>
                  <a:rPr lang="en-US" dirty="0"/>
                  <a:t> ne </a:t>
                </a:r>
                <a:r>
                  <a:rPr lang="en-US" dirty="0" err="1"/>
                  <a:t>menja</a:t>
                </a:r>
                <a:r>
                  <a:rPr lang="en-US" dirty="0"/>
                  <a:t> </a:t>
                </a:r>
                <a:r>
                  <a:rPr lang="en-US" dirty="0" err="1"/>
                  <a:t>tu</a:t>
                </a:r>
                <a:r>
                  <a:rPr lang="en-US" dirty="0"/>
                  <a:t> </a:t>
                </a:r>
                <a:r>
                  <a:rPr lang="en-US" dirty="0" err="1"/>
                  <a:t>vrednost</a:t>
                </a:r>
                <a:r>
                  <a:rPr lang="en-US" dirty="0"/>
                  <a:t>.</a:t>
                </a:r>
                <a:br>
                  <a:rPr lang="en-US" dirty="0"/>
                </a:br>
                <a:endParaRPr lang="en-US" dirty="0"/>
              </a:p>
              <a:p>
                <a:pPr marL="228600" indent="-228600">
                  <a:buFont typeface="Arial" panose="020B0604020202020204" pitchFamily="34" charset="0"/>
                  <a:buChar char="•"/>
                </a:pPr>
                <a:r>
                  <a:rPr lang="en-US" dirty="0" err="1"/>
                  <a:t>Ako</a:t>
                </a:r>
                <a:r>
                  <a:rPr lang="en-US" dirty="0"/>
                  <a:t> </a:t>
                </a:r>
                <a:r>
                  <a:rPr lang="en-US" dirty="0" err="1"/>
                  <a:t>je</a:t>
                </a:r>
                <a:r>
                  <a:rPr lang="en-US" dirty="0"/>
                  <a:t> </a:t>
                </a:r>
                <a:r>
                  <a:rPr lang="en-US" dirty="0" err="1"/>
                  <a:t>ulaz</a:t>
                </a:r>
                <a:r>
                  <a:rPr lang="en-US" dirty="0"/>
                  <a:t> </a:t>
                </a:r>
                <a:r>
                  <a:rPr lang="en-US" sz="1200" i="0">
                    <a:latin typeface="Cambria Math" panose="02040503050406030204" pitchFamily="18" charset="0"/>
                  </a:rPr>
                  <a:t>𝑦</a:t>
                </a:r>
                <a:r>
                  <a:rPr lang="en-US" sz="1200" dirty="0"/>
                  <a:t>= </a:t>
                </a:r>
                <a:r>
                  <a:rPr lang="en-US" sz="1200" i="0">
                    <a:latin typeface="Cambria Math" panose="02040503050406030204" pitchFamily="18" charset="0"/>
                  </a:rPr>
                  <a:t>|</a:t>
                </a:r>
                <a:r>
                  <a:rPr lang="sr-Latn-RS" sz="1200" b="0" i="0">
                    <a:latin typeface="Cambria Math" panose="02040503050406030204" pitchFamily="18" charset="0"/>
                  </a:rPr>
                  <a:t>−⟩ </a:t>
                </a:r>
                <a:r>
                  <a:rPr lang="sr-Latn-RS" sz="1200" i="0">
                    <a:latin typeface="Cambria Math" panose="02040503050406030204" pitchFamily="18" charset="0"/>
                  </a:rPr>
                  <a:t> </a:t>
                </a:r>
                <a:r>
                  <a:rPr lang="en-US" dirty="0"/>
                  <a:t> onda </a:t>
                </a:r>
                <a:r>
                  <a:rPr lang="en-US" dirty="0" err="1"/>
                  <a:t>dolazi</a:t>
                </a:r>
                <a:r>
                  <a:rPr lang="en-US" dirty="0"/>
                  <a:t> do </a:t>
                </a:r>
                <a:r>
                  <a:rPr lang="en-US" dirty="0" err="1"/>
                  <a:t>prenosa</a:t>
                </a:r>
                <a:r>
                  <a:rPr lang="en-US" dirty="0"/>
                  <a:t> faze </a:t>
                </a:r>
                <a:r>
                  <a:rPr lang="en-US" dirty="0" err="1"/>
                  <a:t>na</a:t>
                </a:r>
                <a:r>
                  <a:rPr lang="en-US" dirty="0"/>
                  <a:t> </a:t>
                </a:r>
                <a:r>
                  <a:rPr lang="en-US" dirty="0" err="1"/>
                  <a:t>izlaz</a:t>
                </a:r>
                <a:r>
                  <a:rPr lang="en-US" dirty="0"/>
                  <a:t> </a:t>
                </a:r>
                <a:r>
                  <a:rPr lang="en-US" sz="1200" i="0">
                    <a:latin typeface="Cambria Math" panose="02040503050406030204" pitchFamily="18" charset="0"/>
                  </a:rPr>
                  <a:t>𝑥</a:t>
                </a:r>
                <a:r>
                  <a:rPr lang="en-US" dirty="0"/>
                  <a:t> </a:t>
                </a:r>
                <a:r>
                  <a:rPr lang="en-US" dirty="0" err="1"/>
                  <a:t>koji</a:t>
                </a:r>
                <a:r>
                  <a:rPr lang="en-US" dirty="0"/>
                  <a:t> </a:t>
                </a:r>
                <a:r>
                  <a:rPr lang="en-US" dirty="0" err="1"/>
                  <a:t>postaje</a:t>
                </a:r>
                <a:r>
                  <a:rPr lang="en-US" dirty="0"/>
                  <a:t>  </a:t>
                </a:r>
                <a:r>
                  <a:rPr lang="en-US" sz="1200" i="0">
                    <a:latin typeface="Cambria Math" panose="02040503050406030204" pitchFamily="18" charset="0"/>
                  </a:rPr>
                  <a:t>〖</a:t>
                </a:r>
                <a:r>
                  <a:rPr lang="sr-Latn-RS" sz="1200" b="0" i="0">
                    <a:latin typeface="Cambria Math" panose="02040503050406030204" pitchFamily="18" charset="0"/>
                  </a:rPr>
                  <a:t>(−1)</a:t>
                </a:r>
                <a:r>
                  <a:rPr lang="en-US" sz="1200" b="0" i="0">
                    <a:latin typeface="Cambria Math" panose="02040503050406030204" pitchFamily="18" charset="0"/>
                  </a:rPr>
                  <a:t>〗^(</a:t>
                </a:r>
                <a:r>
                  <a:rPr lang="sr-Latn-RS" sz="1200" b="0" i="0">
                    <a:latin typeface="Cambria Math" panose="02040503050406030204" pitchFamily="18" charset="0"/>
                  </a:rPr>
                  <a:t>𝑓(𝑥)</a:t>
                </a:r>
                <a:r>
                  <a:rPr lang="en-US" sz="1200" b="0" i="0">
                    <a:latin typeface="Cambria Math" panose="02040503050406030204" pitchFamily="18" charset="0"/>
                  </a:rPr>
                  <a:t>) </a:t>
                </a:r>
                <a:r>
                  <a:rPr lang="en-US" sz="1200" i="0">
                    <a:latin typeface="Cambria Math" panose="02040503050406030204" pitchFamily="18" charset="0"/>
                  </a:rPr>
                  <a:t>|𝑥⟩</a:t>
                </a:r>
                <a:r>
                  <a:rPr lang="en-US" dirty="0"/>
                  <a:t>. </a:t>
                </a:r>
                <a:r>
                  <a:rPr lang="en-US" dirty="0" err="1"/>
                  <a:t>Pri</a:t>
                </a:r>
                <a:r>
                  <a:rPr lang="en-US" dirty="0"/>
                  <a:t> tome </a:t>
                </a:r>
                <a:r>
                  <a:rPr lang="en-US" dirty="0" err="1"/>
                  <a:t>izlaz</a:t>
                </a:r>
                <a:r>
                  <a:rPr lang="en-US" dirty="0"/>
                  <a:t> </a:t>
                </a:r>
                <a:r>
                  <a:rPr lang="en-US" sz="1200" i="0">
                    <a:latin typeface="Cambria Math" panose="02040503050406030204" pitchFamily="18" charset="0"/>
                  </a:rPr>
                  <a:t>𝑦</a:t>
                </a:r>
                <a:r>
                  <a:rPr lang="en-US" dirty="0"/>
                  <a:t> ne </a:t>
                </a:r>
                <a:r>
                  <a:rPr lang="en-US" dirty="0" err="1"/>
                  <a:t>menja</a:t>
                </a:r>
                <a:r>
                  <a:rPr lang="en-US" dirty="0"/>
                  <a:t> </a:t>
                </a:r>
                <a:r>
                  <a:rPr lang="en-US" dirty="0" err="1"/>
                  <a:t>vrednost</a:t>
                </a:r>
                <a:r>
                  <a:rPr lang="en-US" dirty="0"/>
                  <a:t>, </a:t>
                </a:r>
                <a:r>
                  <a:rPr lang="en-US" dirty="0" err="1"/>
                  <a:t>odnosno</a:t>
                </a:r>
                <a:r>
                  <a:rPr lang="en-US" dirty="0"/>
                  <a:t> </a:t>
                </a:r>
                <a:r>
                  <a:rPr lang="en-US" dirty="0" err="1"/>
                  <a:t>ostaje</a:t>
                </a:r>
                <a:r>
                  <a:rPr lang="en-US" dirty="0"/>
                  <a:t> </a:t>
                </a:r>
                <a:r>
                  <a:rPr lang="en-US" baseline="0" dirty="0"/>
                  <a:t> </a:t>
                </a:r>
                <a:r>
                  <a:rPr lang="en-US" dirty="0"/>
                  <a:t>|–⟩. </a:t>
                </a:r>
                <a:r>
                  <a:rPr lang="en-US" dirty="0" err="1"/>
                  <a:t>Ovakav</a:t>
                </a:r>
                <a:r>
                  <a:rPr lang="en-US" dirty="0"/>
                  <a:t> </a:t>
                </a:r>
                <a:r>
                  <a:rPr lang="en-US" dirty="0" err="1"/>
                  <a:t>orakl</a:t>
                </a:r>
                <a:r>
                  <a:rPr lang="en-US" dirty="0"/>
                  <a:t> se </a:t>
                </a:r>
                <a:r>
                  <a:rPr lang="en-US" dirty="0" err="1"/>
                  <a:t>naziva</a:t>
                </a:r>
                <a:r>
                  <a:rPr lang="en-US" dirty="0"/>
                  <a:t> </a:t>
                </a:r>
                <a:r>
                  <a:rPr lang="en-US" dirty="0" err="1"/>
                  <a:t>fazni</a:t>
                </a:r>
                <a:r>
                  <a:rPr lang="en-US" dirty="0"/>
                  <a:t> </a:t>
                </a:r>
                <a:r>
                  <a:rPr lang="en-US" dirty="0" err="1"/>
                  <a:t>orakl</a:t>
                </a:r>
                <a:r>
                  <a:rPr lang="en-US" dirty="0"/>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22</a:t>
            </a:fld>
            <a:endParaRPr lang="en-US"/>
          </a:p>
        </p:txBody>
      </p:sp>
    </p:spTree>
    <p:extLst>
      <p:ext uri="{BB962C8B-B14F-4D97-AF65-F5344CB8AC3E}">
        <p14:creationId xmlns:p14="http://schemas.microsoft.com/office/powerpoint/2010/main" val="39146734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Quantum superposition</a:t>
            </a:r>
            <a:r>
              <a:rPr lang="en-ZA" dirty="0"/>
              <a:t> is a fundamental principle of quantum computing that allows a quantum system to exist in a combination of multiple basis states at the same time.</a:t>
            </a:r>
            <a:endParaRPr lang="en-US" dirty="0"/>
          </a:p>
        </p:txBody>
      </p:sp>
      <p:sp>
        <p:nvSpPr>
          <p:cNvPr id="4" name="Slide Number Placeholder 3"/>
          <p:cNvSpPr>
            <a:spLocks noGrp="1"/>
          </p:cNvSpPr>
          <p:nvPr>
            <p:ph type="sldNum" sz="quarter" idx="5"/>
          </p:nvPr>
        </p:nvSpPr>
        <p:spPr/>
        <p:txBody>
          <a:bodyPr/>
          <a:lstStyle/>
          <a:p>
            <a:fld id="{1B2CE5E3-B8BD-D040-AC87-D640191DD8F1}" type="slidenum">
              <a:rPr lang="en-US" smtClean="0"/>
              <a:t>23</a:t>
            </a:fld>
            <a:endParaRPr lang="en-US"/>
          </a:p>
        </p:txBody>
      </p:sp>
    </p:spTree>
    <p:extLst>
      <p:ext uri="{BB962C8B-B14F-4D97-AF65-F5344CB8AC3E}">
        <p14:creationId xmlns:p14="http://schemas.microsoft.com/office/powerpoint/2010/main" val="13123109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The power of quantum superposition is that it allows a quantum computer to process multiple inputs within a single quantum state. Instead of evaluating inputs one by one, a quantum circuit can represent and process all possible inputs in superposition.</a:t>
                </a:r>
              </a:p>
              <a:p>
                <a:pPr algn="just"/>
                <a:endParaRPr lang="en-ZA" b="0" dirty="0"/>
              </a:p>
              <a:p>
                <a:pPr algn="just"/>
                <a:r>
                  <a:rPr lang="en-ZA" b="0" dirty="0"/>
                  <a:t>A typical quantum circuit starts with all qubits in the state ∣0⟩. By applying Hadamard gates, we place them into an equal superposition of all possible input states. The circuit can then process these inputs together in a single quantum computation.</a:t>
                </a:r>
              </a:p>
            </p:txBody>
          </p:sp>
        </mc:Choice>
        <mc:Fallback xmlns="">
          <p:sp>
            <p:nvSpPr>
              <p:cNvPr id="3" name="Notes Placeholder 2"/>
              <p:cNvSpPr>
                <a:spLocks noGrp="1"/>
              </p:cNvSpPr>
              <p:nvPr>
                <p:ph type="body" idx="1"/>
              </p:nvPr>
            </p:nvSpPr>
            <p:spPr/>
            <p:txBody>
              <a:bodyPr/>
              <a:lstStyle/>
              <a:p>
                <a:pPr algn="just"/>
                <a:r>
                  <a:rPr lang="en-ZA" dirty="0"/>
                  <a:t>The importance of quantum superposition is that it allows simultaneous processing of a large amount of data. Rather than evaluating inputs one-by-one, or in parallel, quantum computers can evaluate many inputs simultaneously. Earlier, we saw an example where all possible outputs for all possible inputs in a superposition were calculated simultaneously.</a:t>
                </a:r>
              </a:p>
              <a:p>
                <a:pPr algn="just"/>
                <a:endParaRPr lang="en-ZA"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Typically, a quantum program begins with all qubits initialized in the state </a:t>
                </a:r>
                <a:r>
                  <a:rPr lang="en-US" sz="1200" i="0">
                    <a:solidFill>
                      <a:srgbClr val="002060"/>
                    </a:solidFill>
                    <a:latin typeface="Cambria Math" panose="02040503050406030204" pitchFamily="18" charset="0"/>
                    <a:ea typeface="Cambria Math" panose="02040503050406030204" pitchFamily="18" charset="0"/>
                  </a:rPr>
                  <a:t>├ |</a:t>
                </a:r>
                <a:r>
                  <a:rPr lang="sr-Latn-RS" sz="1200" i="0">
                    <a:solidFill>
                      <a:srgbClr val="002060"/>
                    </a:solidFill>
                    <a:latin typeface="Cambria Math" panose="02040503050406030204" pitchFamily="18" charset="0"/>
                    <a:ea typeface="Cambria Math" panose="02040503050406030204" pitchFamily="18" charset="0"/>
                  </a:rPr>
                  <a:t>0⟩</a:t>
                </a:r>
                <a:r>
                  <a:rPr lang="en-ZA" dirty="0"/>
                  <a:t>. By applying Hadamard gates, we place these qubits into a superposition, enabling simultaneous processing of multiple input states.</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24</a:t>
            </a:fld>
            <a:endParaRPr lang="en-US"/>
          </a:p>
        </p:txBody>
      </p:sp>
    </p:spTree>
    <p:extLst>
      <p:ext uri="{BB962C8B-B14F-4D97-AF65-F5344CB8AC3E}">
        <p14:creationId xmlns:p14="http://schemas.microsoft.com/office/powerpoint/2010/main" val="7720468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Applying a Hadamard transformation to a qubit initially in state ∣0⟩ produces the state ∣+⟩, represented by a vector pointing along the positive x-axis of the Bloch sphere. Similarly, applying the Hadamard transformation to ∣1⟩ produces ∣−⟩, pointing along the negative x-axis.</a:t>
                </a:r>
              </a:p>
              <a:p>
                <a:pPr algn="just"/>
                <a:endParaRPr lang="en-ZA" dirty="0"/>
              </a:p>
              <a:p>
                <a:pPr algn="just"/>
                <a:r>
                  <a:rPr lang="en-ZA" dirty="0"/>
                  <a:t>These two cases can be combined into a single expression by introducing the factor </a:t>
                </a:r>
                <a14:m>
                  <m:oMath xmlns:m="http://schemas.openxmlformats.org/officeDocument/2006/math">
                    <m:sSup>
                      <m:sSupPr>
                        <m:ctrlPr>
                          <a:rPr lang="en-US" sz="1200" i="1" smtClean="0">
                            <a:solidFill>
                              <a:srgbClr val="002060"/>
                            </a:solidFill>
                            <a:latin typeface="Cambria Math" panose="02040503050406030204" pitchFamily="18" charset="0"/>
                            <a:ea typeface="Cambria Math" panose="02040503050406030204" pitchFamily="18" charset="0"/>
                          </a:rPr>
                        </m:ctrlPr>
                      </m:sSupPr>
                      <m:e>
                        <m:d>
                          <m:dPr>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−1</m:t>
                            </m:r>
                          </m:e>
                        </m:d>
                      </m:e>
                      <m:sup>
                        <m:r>
                          <a:rPr lang="sr-Latn-RS" sz="1200" i="1">
                            <a:solidFill>
                              <a:srgbClr val="002060"/>
                            </a:solidFill>
                            <a:latin typeface="Cambria Math" panose="02040503050406030204" pitchFamily="18" charset="0"/>
                            <a:ea typeface="Cambria Math" panose="02040503050406030204" pitchFamily="18" charset="0"/>
                          </a:rPr>
                          <m:t>𝑞</m:t>
                        </m:r>
                      </m:sup>
                    </m:sSup>
                  </m:oMath>
                </a14:m>
                <a:r>
                  <a:rPr lang="en-ZA" dirty="0"/>
                  <a:t>, where </a:t>
                </a:r>
                <a14:m>
                  <m:oMath xmlns:m="http://schemas.openxmlformats.org/officeDocument/2006/math">
                    <m:r>
                      <a:rPr lang="sr-Latn-RS" sz="1200" i="1" smtClean="0">
                        <a:solidFill>
                          <a:srgbClr val="002060"/>
                        </a:solidFill>
                        <a:latin typeface="Cambria Math" panose="02040503050406030204" pitchFamily="18" charset="0"/>
                        <a:ea typeface="Cambria Math" panose="02040503050406030204" pitchFamily="18" charset="0"/>
                      </a:rPr>
                      <m:t>𝑞</m:t>
                    </m:r>
                  </m:oMath>
                </a14:m>
                <a:r>
                  <a:rPr lang="en-ZA" dirty="0"/>
                  <a:t> is either 0 or 1. This factor determines the sign of the ∣1⟩ component of the resulting state.</a:t>
                </a:r>
              </a:p>
              <a:p>
                <a:pPr algn="just"/>
                <a:endParaRPr lang="en-ZA" dirty="0"/>
              </a:p>
              <a:p>
                <a:pPr algn="just"/>
                <a:r>
                  <a:rPr lang="en-ZA" dirty="0"/>
                  <a:t>The expression can then be written more generally by introducing an index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𝑘</m:t>
                    </m:r>
                  </m:oMath>
                </a14:m>
                <a:r>
                  <a:rPr lang="en-ZA" dirty="0"/>
                  <a:t>, which also takes the values 0 and 1:</a:t>
                </a:r>
              </a:p>
              <a:p>
                <a:pPr algn="just"/>
                <a:endParaRPr lang="en-US" sz="1200" baseline="0" dirty="0"/>
              </a:p>
              <a:p>
                <a:pPr marL="0" indent="0" algn="just">
                  <a:buFont typeface="+mj-lt"/>
                  <a:buNone/>
                </a:pPr>
                <a14:m>
                  <m:oMathPara xmlns:m="http://schemas.openxmlformats.org/officeDocument/2006/math">
                    <m:oMathParaPr>
                      <m:jc m:val="centerGroup"/>
                    </m:oMathParaPr>
                    <m:oMath xmlns:m="http://schemas.openxmlformats.org/officeDocument/2006/math">
                      <m:f>
                        <m:fPr>
                          <m:ctrlPr>
                            <a:rPr lang="en-US" sz="1200" i="1" smtClean="0">
                              <a:solidFill>
                                <a:srgbClr val="002060"/>
                              </a:solidFill>
                              <a:latin typeface="Cambria Math" panose="02040503050406030204" pitchFamily="18" charset="0"/>
                              <a:ea typeface="Cambria Math" panose="02040503050406030204" pitchFamily="18" charset="0"/>
                            </a:rPr>
                          </m:ctrlPr>
                        </m:fPr>
                        <m:num>
                          <m:r>
                            <a:rPr lang="en-US" sz="1200" i="1">
                              <a:solidFill>
                                <a:srgbClr val="002060"/>
                              </a:solidFill>
                              <a:latin typeface="Cambria Math" panose="02040503050406030204" pitchFamily="18" charset="0"/>
                              <a:ea typeface="Cambria Math" panose="02040503050406030204" pitchFamily="18" charset="0"/>
                            </a:rPr>
                            <m:t>1</m:t>
                          </m:r>
                        </m:num>
                        <m:den>
                          <m:rad>
                            <m:radPr>
                              <m:degHide m:val="on"/>
                              <m:ctrlPr>
                                <a:rPr lang="en-US" sz="1200" i="1">
                                  <a:solidFill>
                                    <a:srgbClr val="002060"/>
                                  </a:solidFill>
                                  <a:latin typeface="Cambria Math" panose="02040503050406030204" pitchFamily="18" charset="0"/>
                                  <a:ea typeface="Cambria Math" panose="02040503050406030204" pitchFamily="18" charset="0"/>
                                </a:rPr>
                              </m:ctrlPr>
                            </m:radPr>
                            <m:deg/>
                            <m:e>
                              <m:r>
                                <a:rPr lang="en-US" sz="1200" i="1">
                                  <a:solidFill>
                                    <a:srgbClr val="002060"/>
                                  </a:solidFill>
                                  <a:latin typeface="Cambria Math" panose="02040503050406030204" pitchFamily="18" charset="0"/>
                                  <a:ea typeface="Cambria Math" panose="02040503050406030204" pitchFamily="18" charset="0"/>
                                </a:rPr>
                                <m:t>2</m:t>
                              </m:r>
                            </m:e>
                          </m:rad>
                        </m:den>
                      </m:f>
                      <m:nary>
                        <m:naryPr>
                          <m:chr m:val="∑"/>
                          <m:ctrlPr>
                            <a:rPr lang="en-US" sz="1200" i="1">
                              <a:solidFill>
                                <a:srgbClr val="002060"/>
                              </a:solidFill>
                              <a:latin typeface="Cambria Math" panose="02040503050406030204" pitchFamily="18" charset="0"/>
                              <a:ea typeface="Cambria Math" panose="02040503050406030204" pitchFamily="18" charset="0"/>
                            </a:rPr>
                          </m:ctrlPr>
                        </m:naryPr>
                        <m:sub>
                          <m:r>
                            <m:rPr>
                              <m:brk m:alnAt="23"/>
                            </m:rPr>
                            <a:rPr lang="en-US" sz="1200" i="1">
                              <a:solidFill>
                                <a:srgbClr val="002060"/>
                              </a:solidFill>
                              <a:latin typeface="Cambria Math" panose="02040503050406030204" pitchFamily="18" charset="0"/>
                              <a:ea typeface="Cambria Math" panose="02040503050406030204" pitchFamily="18" charset="0"/>
                            </a:rPr>
                            <m:t>𝑘</m:t>
                          </m:r>
                          <m:r>
                            <a:rPr lang="en-US" sz="1200" i="1">
                              <a:solidFill>
                                <a:srgbClr val="002060"/>
                              </a:solidFill>
                              <a:latin typeface="Cambria Math" panose="02040503050406030204" pitchFamily="18" charset="0"/>
                              <a:ea typeface="Cambria Math" panose="02040503050406030204" pitchFamily="18" charset="0"/>
                            </a:rPr>
                            <m:t>=0</m:t>
                          </m:r>
                        </m:sub>
                        <m:sup>
                          <m:r>
                            <a:rPr lang="en-US" sz="1200" i="1">
                              <a:solidFill>
                                <a:srgbClr val="002060"/>
                              </a:solidFill>
                              <a:latin typeface="Cambria Math" panose="02040503050406030204" pitchFamily="18" charset="0"/>
                              <a:ea typeface="Cambria Math" panose="02040503050406030204" pitchFamily="18" charset="0"/>
                            </a:rPr>
                            <m:t>1</m:t>
                          </m:r>
                        </m:sup>
                        <m:e>
                          <m:sSup>
                            <m:sSupPr>
                              <m:ctrlPr>
                                <a:rPr lang="en-US" sz="1200" i="1">
                                  <a:solidFill>
                                    <a:srgbClr val="002060"/>
                                  </a:solidFill>
                                  <a:latin typeface="Cambria Math" panose="02040503050406030204" pitchFamily="18" charset="0"/>
                                  <a:ea typeface="Cambria Math" panose="02040503050406030204" pitchFamily="18" charset="0"/>
                                </a:rPr>
                              </m:ctrlPr>
                            </m:sSupPr>
                            <m:e>
                              <m:d>
                                <m:dPr>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−1</m:t>
                                  </m:r>
                                </m:e>
                              </m:d>
                            </m:e>
                            <m:sup>
                              <m:r>
                                <a:rPr lang="sr-Latn-RS" sz="1200" i="1">
                                  <a:solidFill>
                                    <a:srgbClr val="002060"/>
                                  </a:solidFill>
                                  <a:latin typeface="Cambria Math" panose="02040503050406030204" pitchFamily="18" charset="0"/>
                                  <a:ea typeface="Cambria Math" panose="02040503050406030204" pitchFamily="18" charset="0"/>
                                </a:rPr>
                                <m:t>𝑞</m:t>
                              </m:r>
                              <m:r>
                                <a:rPr lang="en-US" sz="1200" i="1">
                                  <a:solidFill>
                                    <a:srgbClr val="002060"/>
                                  </a:solidFill>
                                  <a:latin typeface="Cambria Math" panose="02040503050406030204" pitchFamily="18" charset="0"/>
                                  <a:ea typeface="Cambria Math" panose="02040503050406030204" pitchFamily="18" charset="0"/>
                                </a:rPr>
                                <m:t>𝑘</m:t>
                              </m:r>
                            </m:sup>
                          </m:sSup>
                          <m:r>
                            <a:rPr lang="en-US" sz="1200" i="1">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𝑘</m:t>
                              </m:r>
                            </m:e>
                          </m:d>
                          <m:r>
                            <m:rPr>
                              <m:nor/>
                            </m:rPr>
                            <a:rPr lang="en-US" sz="1200">
                              <a:solidFill>
                                <a:srgbClr val="002060"/>
                              </a:solidFill>
                              <a:latin typeface="Cambria Math" panose="02040503050406030204" pitchFamily="18" charset="0"/>
                              <a:ea typeface="Cambria Math" panose="02040503050406030204" pitchFamily="18" charset="0"/>
                            </a:rPr>
                            <m:t>,</m:t>
                          </m:r>
                          <m:r>
                            <m:rPr>
                              <m:nor/>
                            </m:rPr>
                            <a:rPr lang="en-US" sz="1200" dirty="0"/>
                            <m:t> </m:t>
                          </m:r>
                        </m:e>
                      </m:nary>
                    </m:oMath>
                  </m:oMathPara>
                </a14:m>
                <a:endParaRPr lang="en-US" sz="1200" baseline="0" dirty="0"/>
              </a:p>
            </p:txBody>
          </p:sp>
        </mc:Choice>
        <mc:Fallback xmlns="">
          <p:sp>
            <p:nvSpPr>
              <p:cNvPr id="3" name="Notes Placeholder 2"/>
              <p:cNvSpPr>
                <a:spLocks noGrp="1"/>
              </p:cNvSpPr>
              <p:nvPr>
                <p:ph type="body" idx="1"/>
              </p:nvPr>
            </p:nvSpPr>
            <p:spPr/>
            <p:txBody>
              <a:bodyPr/>
              <a:lstStyle/>
              <a:p>
                <a:r>
                  <a:rPr lang="en-US" sz="2000" dirty="0"/>
                  <a:t>Superposition is one of the keys of quantum computing. Quantum circuit usually start by putting qubits into superposition by using the Hadamard gate. In a case of one qubit, that can</a:t>
                </a:r>
                <a:r>
                  <a:rPr lang="en-US" sz="2000" baseline="0" dirty="0"/>
                  <a:t> be either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0⟩</a:t>
                </a:r>
                <a:r>
                  <a:rPr lang="en-US" sz="2000" dirty="0"/>
                  <a:t> or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1⟩</a:t>
                </a:r>
                <a:r>
                  <a:rPr lang="en-US" sz="2000" dirty="0"/>
                  <a:t>, we get a familiar state of superposition.</a:t>
                </a:r>
              </a:p>
              <a:p>
                <a:pPr marL="457200" indent="-457200">
                  <a:buFont typeface="+mj-lt"/>
                  <a:buAutoNum type="arabicPeriod"/>
                </a:pPr>
                <a:r>
                  <a:rPr lang="en-US" sz="2000" dirty="0"/>
                  <a:t>We can generalize this expression by introducing term </a:t>
                </a:r>
                <a:r>
                  <a:rPr lang="en-US" sz="2000" b="0" i="0">
                    <a:solidFill>
                      <a:srgbClr val="002060"/>
                    </a:solidFill>
                    <a:latin typeface="Cambria Math" panose="02040503050406030204" pitchFamily="18" charset="0"/>
                    <a:ea typeface="Cambria Math" panose="02040503050406030204" pitchFamily="18" charset="0"/>
                  </a:rPr>
                  <a:t>(−1)^</a:t>
                </a:r>
                <a:r>
                  <a:rPr lang="en-US" sz="2000" i="0">
                    <a:solidFill>
                      <a:srgbClr val="002060"/>
                    </a:solidFill>
                    <a:latin typeface="Cambria Math" panose="02040503050406030204" pitchFamily="18" charset="0"/>
                    <a:ea typeface="Cambria Math" panose="02040503050406030204" pitchFamily="18" charset="0"/>
                  </a:rPr>
                  <a:t>𝑥</a:t>
                </a:r>
                <a:r>
                  <a:rPr lang="en-US" sz="2000" dirty="0"/>
                  <a:t> where </a:t>
                </a:r>
                <a:r>
                  <a:rPr lang="en-US" sz="2000" i="0">
                    <a:solidFill>
                      <a:srgbClr val="002060"/>
                    </a:solidFill>
                    <a:latin typeface="Cambria Math" panose="02040503050406030204" pitchFamily="18" charset="0"/>
                    <a:ea typeface="Cambria Math" panose="02040503050406030204" pitchFamily="18" charset="0"/>
                  </a:rPr>
                  <a:t>𝑥</a:t>
                </a:r>
                <a:r>
                  <a:rPr lang="en-US" sz="2000" dirty="0"/>
                  <a:t> can be </a:t>
                </a:r>
                <a:r>
                  <a:rPr lang="en-US" sz="2000" i="0">
                    <a:solidFill>
                      <a:srgbClr val="002060"/>
                    </a:solidFill>
                    <a:latin typeface="Cambria Math" panose="02040503050406030204" pitchFamily="18" charset="0"/>
                    <a:ea typeface="Cambria Math" panose="02040503050406030204" pitchFamily="18" charset="0"/>
                  </a:rPr>
                  <a:t>0</a:t>
                </a:r>
                <a:r>
                  <a:rPr lang="en-US" sz="2000" dirty="0"/>
                  <a:t> or </a:t>
                </a:r>
                <a:r>
                  <a:rPr lang="en-US" sz="2000" b="0" i="0">
                    <a:latin typeface="Cambria Math" panose="02040503050406030204" pitchFamily="18" charset="0"/>
                  </a:rPr>
                  <a:t>1</a:t>
                </a:r>
                <a:r>
                  <a:rPr lang="en-US" sz="2000" dirty="0"/>
                  <a:t>. In addition we can compact the sum by introducing</a:t>
                </a:r>
                <a:r>
                  <a:rPr lang="en-US" sz="2000" baseline="0" dirty="0"/>
                  <a:t> another variable k that indicate qubits 0 and 1.</a:t>
                </a:r>
              </a:p>
              <a:p>
                <a:pPr marL="457200" indent="-457200">
                  <a:buFont typeface="+mj-lt"/>
                  <a:buAutoNum type="arabicPeriod"/>
                </a:pPr>
                <a:r>
                  <a:rPr lang="en-US" sz="2000" baseline="0" dirty="0"/>
                  <a:t>For two qubits we calculate the Kronecker product. Since superposition is equally distributed, the first term is 1/</a:t>
                </a:r>
                <a:r>
                  <a:rPr lang="en-US" sz="2000" i="0">
                    <a:solidFill>
                      <a:srgbClr val="002060"/>
                    </a:solidFill>
                    <a:latin typeface="Cambria Math" panose="02040503050406030204" pitchFamily="18" charset="0"/>
                    <a:ea typeface="Cambria Math" panose="02040503050406030204" pitchFamily="18" charset="0"/>
                  </a:rPr>
                  <a:t>√(</a:t>
                </a:r>
                <a:r>
                  <a:rPr lang="en-US" sz="2000" b="0" i="0">
                    <a:solidFill>
                      <a:srgbClr val="002060"/>
                    </a:solidFill>
                    <a:latin typeface="Cambria Math" panose="02040503050406030204" pitchFamily="18" charset="0"/>
                    <a:ea typeface="Cambria Math" panose="02040503050406030204" pitchFamily="18" charset="0"/>
                  </a:rPr>
                  <a:t>2^2 )</a:t>
                </a:r>
                <a:r>
                  <a:rPr lang="en-US" sz="2000" baseline="0" dirty="0"/>
                  <a:t>  Note that value of the (-1) exponent simply determine plus or minus. Finally the combination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𝑘_</a:t>
                </a:r>
                <a:r>
                  <a:rPr lang="en-US" sz="2000" i="0">
                    <a:solidFill>
                      <a:srgbClr val="002060"/>
                    </a:solidFill>
                    <a:latin typeface="Cambria Math" panose="02040503050406030204" pitchFamily="18" charset="0"/>
                    <a:ea typeface="Cambria Math" panose="02040503050406030204" pitchFamily="18" charset="0"/>
                  </a:rPr>
                  <a:t>1 </a:t>
                </a:r>
                <a:r>
                  <a:rPr lang="en-US" sz="2000" b="0" i="0">
                    <a:solidFill>
                      <a:srgbClr val="002060"/>
                    </a:solidFill>
                    <a:latin typeface="Cambria Math" panose="02040503050406030204" pitchFamily="18" charset="0"/>
                    <a:ea typeface="Cambria Math" panose="02040503050406030204" pitchFamily="18" charset="0"/>
                  </a:rPr>
                  <a:t>𝑘_2 ⟩</a:t>
                </a:r>
                <a:r>
                  <a:rPr lang="en-US" sz="2000" dirty="0"/>
                  <a:t> generate all possible</a:t>
                </a:r>
                <a:r>
                  <a:rPr lang="en-US" sz="2000" baseline="0" dirty="0"/>
                  <a:t> states of two qubits from 00 to 11.</a:t>
                </a:r>
              </a:p>
              <a:p>
                <a:pPr marL="457200" indent="-457200">
                  <a:buFont typeface="+mj-lt"/>
                  <a:buAutoNum type="arabicPeriod"/>
                </a:pPr>
                <a:r>
                  <a:rPr lang="en-US" sz="2000" baseline="0" dirty="0"/>
                  <a:t>Like in this example of two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0⟩</a:t>
                </a:r>
                <a:r>
                  <a:rPr lang="en-US" sz="2000" dirty="0"/>
                  <a:t> qubits. We</a:t>
                </a:r>
                <a:r>
                  <a:rPr lang="en-US" sz="2000" baseline="0" dirty="0"/>
                  <a:t> can apply the same formula for any number of qubits.</a:t>
                </a: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25</a:t>
            </a:fld>
            <a:endParaRPr lang="en-US"/>
          </a:p>
        </p:txBody>
      </p:sp>
    </p:spTree>
    <p:extLst>
      <p:ext uri="{BB962C8B-B14F-4D97-AF65-F5344CB8AC3E}">
        <p14:creationId xmlns:p14="http://schemas.microsoft.com/office/powerpoint/2010/main" val="26536119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For two qubits, the superposition is built by taking the Kronecker product of the two single-qubit states produced by the Hadamard gates. When we expand the product, the exponents </a:t>
                </a:r>
                <a14:m>
                  <m:oMath xmlns:m="http://schemas.openxmlformats.org/officeDocument/2006/math">
                    <m:r>
                      <a:rPr lang="en-US" sz="1200" i="1" smtClean="0">
                        <a:solidFill>
                          <a:srgbClr val="002060"/>
                        </a:solidFill>
                        <a:latin typeface="Cambria Math" panose="02040503050406030204" pitchFamily="18" charset="0"/>
                        <a:ea typeface="Cambria Math" panose="02040503050406030204" pitchFamily="18" charset="0"/>
                      </a:rPr>
                      <m:t>𝑞</m:t>
                    </m:r>
                    <m:r>
                      <a:rPr lang="en-US" sz="1200" b="0" i="1" smtClean="0">
                        <a:solidFill>
                          <a:srgbClr val="002060"/>
                        </a:solidFill>
                        <a:latin typeface="Cambria Math" panose="02040503050406030204" pitchFamily="18" charset="0"/>
                        <a:ea typeface="Cambria Math" panose="02040503050406030204" pitchFamily="18" charset="0"/>
                      </a:rPr>
                      <m:t>𝑘</m:t>
                    </m:r>
                  </m:oMath>
                </a14:m>
                <a:r>
                  <a:rPr lang="en-ZA" dirty="0"/>
                  <a:t> add together in the powers of (−1), determining the sign of each term.</a:t>
                </a:r>
              </a:p>
              <a:p>
                <a:pPr algn="just"/>
                <a:endParaRPr lang="en-ZA" dirty="0"/>
              </a:p>
              <a:p>
                <a:pPr algn="just"/>
                <a:r>
                  <a:rPr lang="en-ZA" dirty="0"/>
                  <a:t>The resulting basis states </a:t>
                </a:r>
                <a14:m>
                  <m:oMath xmlns:m="http://schemas.openxmlformats.org/officeDocument/2006/math">
                    <m:r>
                      <a:rPr lang="en-US" sz="12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sSub>
                          <m:sSubPr>
                            <m:ctrlPr>
                              <a:rPr lang="en-US" sz="1200" i="1">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𝑘</m:t>
                            </m:r>
                          </m:e>
                          <m:sub>
                            <m:r>
                              <a:rPr lang="en-US" sz="1200" b="0" i="1" smtClean="0">
                                <a:solidFill>
                                  <a:srgbClr val="002060"/>
                                </a:solidFill>
                                <a:latin typeface="Cambria Math" panose="02040503050406030204" pitchFamily="18" charset="0"/>
                                <a:ea typeface="Cambria Math" panose="02040503050406030204" pitchFamily="18" charset="0"/>
                              </a:rPr>
                              <m:t>1</m:t>
                            </m:r>
                          </m:sub>
                        </m:sSub>
                        <m:sSub>
                          <m:sSubPr>
                            <m:ctrlPr>
                              <a:rPr lang="en-US" sz="1200" i="1">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𝑘</m:t>
                            </m:r>
                          </m:e>
                          <m:sub>
                            <m:r>
                              <a:rPr lang="en-US" sz="1200" i="1">
                                <a:solidFill>
                                  <a:srgbClr val="002060"/>
                                </a:solidFill>
                                <a:latin typeface="Cambria Math" panose="02040503050406030204" pitchFamily="18" charset="0"/>
                                <a:ea typeface="Cambria Math" panose="02040503050406030204" pitchFamily="18" charset="0"/>
                              </a:rPr>
                              <m:t>2</m:t>
                            </m:r>
                          </m:sub>
                        </m:sSub>
                      </m:e>
                    </m:d>
                  </m:oMath>
                </a14:m>
                <a:r>
                  <a:rPr lang="en-ZA" dirty="0"/>
                  <a:t>⟩ cover all four possible combinations of two bits. Each appears with the same amplitude magnitude, and the normalization factor becomes</a:t>
                </a:r>
                <a:r>
                  <a:rPr lang="en-ZA" baseline="0" dirty="0"/>
                  <a:t> 1/2.</a:t>
                </a:r>
                <a:endParaRPr lang="en-ZA" dirty="0"/>
              </a:p>
              <a:p>
                <a:pPr algn="just"/>
                <a:r>
                  <a:rPr lang="en-ZA" dirty="0"/>
                  <a:t>.</a:t>
                </a:r>
              </a:p>
              <a:p>
                <a:pPr algn="just"/>
                <a:endParaRPr lang="en-ZA" dirty="0"/>
              </a:p>
            </p:txBody>
          </p:sp>
        </mc:Choice>
        <mc:Fallback xmlns="">
          <p:sp>
            <p:nvSpPr>
              <p:cNvPr id="3" name="Notes Placeholder 2"/>
              <p:cNvSpPr>
                <a:spLocks noGrp="1"/>
              </p:cNvSpPr>
              <p:nvPr>
                <p:ph type="body" idx="1"/>
              </p:nvPr>
            </p:nvSpPr>
            <p:spPr/>
            <p:txBody>
              <a:bodyPr/>
              <a:lstStyle/>
              <a:p>
                <a:r>
                  <a:rPr lang="en-US" sz="2000" dirty="0"/>
                  <a:t>Superposition is one of the keys of quantum computing. Quantum circuit usually start by putting qubits into superposition by using the Hadamard gate. In a case of one qubit, that can</a:t>
                </a:r>
                <a:r>
                  <a:rPr lang="en-US" sz="2000" baseline="0" dirty="0"/>
                  <a:t> be either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0⟩</a:t>
                </a:r>
                <a:r>
                  <a:rPr lang="en-US" sz="2000" dirty="0"/>
                  <a:t> or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1⟩</a:t>
                </a:r>
                <a:r>
                  <a:rPr lang="en-US" sz="2000" dirty="0"/>
                  <a:t>, we get a familiar state of superposition.</a:t>
                </a:r>
              </a:p>
              <a:p>
                <a:pPr marL="457200" indent="-457200">
                  <a:buFont typeface="+mj-lt"/>
                  <a:buAutoNum type="arabicPeriod"/>
                </a:pPr>
                <a:r>
                  <a:rPr lang="en-US" sz="2000" dirty="0"/>
                  <a:t>We can generalize this expression by introducing term </a:t>
                </a:r>
                <a:r>
                  <a:rPr lang="en-US" sz="2000" b="0" i="0">
                    <a:solidFill>
                      <a:srgbClr val="002060"/>
                    </a:solidFill>
                    <a:latin typeface="Cambria Math" panose="02040503050406030204" pitchFamily="18" charset="0"/>
                    <a:ea typeface="Cambria Math" panose="02040503050406030204" pitchFamily="18" charset="0"/>
                  </a:rPr>
                  <a:t>(−1)^</a:t>
                </a:r>
                <a:r>
                  <a:rPr lang="en-US" sz="2000" i="0">
                    <a:solidFill>
                      <a:srgbClr val="002060"/>
                    </a:solidFill>
                    <a:latin typeface="Cambria Math" panose="02040503050406030204" pitchFamily="18" charset="0"/>
                    <a:ea typeface="Cambria Math" panose="02040503050406030204" pitchFamily="18" charset="0"/>
                  </a:rPr>
                  <a:t>𝑥</a:t>
                </a:r>
                <a:r>
                  <a:rPr lang="en-US" sz="2000" dirty="0"/>
                  <a:t> where </a:t>
                </a:r>
                <a:r>
                  <a:rPr lang="en-US" sz="2000" i="0">
                    <a:solidFill>
                      <a:srgbClr val="002060"/>
                    </a:solidFill>
                    <a:latin typeface="Cambria Math" panose="02040503050406030204" pitchFamily="18" charset="0"/>
                    <a:ea typeface="Cambria Math" panose="02040503050406030204" pitchFamily="18" charset="0"/>
                  </a:rPr>
                  <a:t>𝑥</a:t>
                </a:r>
                <a:r>
                  <a:rPr lang="en-US" sz="2000" dirty="0"/>
                  <a:t> can be </a:t>
                </a:r>
                <a:r>
                  <a:rPr lang="en-US" sz="2000" i="0">
                    <a:solidFill>
                      <a:srgbClr val="002060"/>
                    </a:solidFill>
                    <a:latin typeface="Cambria Math" panose="02040503050406030204" pitchFamily="18" charset="0"/>
                    <a:ea typeface="Cambria Math" panose="02040503050406030204" pitchFamily="18" charset="0"/>
                  </a:rPr>
                  <a:t>0</a:t>
                </a:r>
                <a:r>
                  <a:rPr lang="en-US" sz="2000" dirty="0"/>
                  <a:t> or </a:t>
                </a:r>
                <a:r>
                  <a:rPr lang="en-US" sz="2000" b="0" i="0">
                    <a:latin typeface="Cambria Math" panose="02040503050406030204" pitchFamily="18" charset="0"/>
                  </a:rPr>
                  <a:t>1</a:t>
                </a:r>
                <a:r>
                  <a:rPr lang="en-US" sz="2000" dirty="0"/>
                  <a:t>. In addition we can compact the sum by introducing</a:t>
                </a:r>
                <a:r>
                  <a:rPr lang="en-US" sz="2000" baseline="0" dirty="0"/>
                  <a:t> another variable k that indicate qubits 0 and 1.</a:t>
                </a:r>
              </a:p>
              <a:p>
                <a:pPr marL="457200" indent="-457200">
                  <a:buFont typeface="+mj-lt"/>
                  <a:buAutoNum type="arabicPeriod"/>
                </a:pPr>
                <a:r>
                  <a:rPr lang="en-US" sz="2000" baseline="0" dirty="0"/>
                  <a:t>For two qubits we calculate the Kronecker product. Since superposition is equally distributed, the first term is 1/</a:t>
                </a:r>
                <a:r>
                  <a:rPr lang="en-US" sz="2000" i="0">
                    <a:solidFill>
                      <a:srgbClr val="002060"/>
                    </a:solidFill>
                    <a:latin typeface="Cambria Math" panose="02040503050406030204" pitchFamily="18" charset="0"/>
                    <a:ea typeface="Cambria Math" panose="02040503050406030204" pitchFamily="18" charset="0"/>
                  </a:rPr>
                  <a:t>√(</a:t>
                </a:r>
                <a:r>
                  <a:rPr lang="en-US" sz="2000" b="0" i="0">
                    <a:solidFill>
                      <a:srgbClr val="002060"/>
                    </a:solidFill>
                    <a:latin typeface="Cambria Math" panose="02040503050406030204" pitchFamily="18" charset="0"/>
                    <a:ea typeface="Cambria Math" panose="02040503050406030204" pitchFamily="18" charset="0"/>
                  </a:rPr>
                  <a:t>2^2 )</a:t>
                </a:r>
                <a:r>
                  <a:rPr lang="en-US" sz="2000" baseline="0" dirty="0"/>
                  <a:t>  Note that value of the (-1) exponent simply determine plus or minus. Finally the combination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𝑘_</a:t>
                </a:r>
                <a:r>
                  <a:rPr lang="en-US" sz="2000" i="0">
                    <a:solidFill>
                      <a:srgbClr val="002060"/>
                    </a:solidFill>
                    <a:latin typeface="Cambria Math" panose="02040503050406030204" pitchFamily="18" charset="0"/>
                    <a:ea typeface="Cambria Math" panose="02040503050406030204" pitchFamily="18" charset="0"/>
                  </a:rPr>
                  <a:t>1 </a:t>
                </a:r>
                <a:r>
                  <a:rPr lang="en-US" sz="2000" b="0" i="0">
                    <a:solidFill>
                      <a:srgbClr val="002060"/>
                    </a:solidFill>
                    <a:latin typeface="Cambria Math" panose="02040503050406030204" pitchFamily="18" charset="0"/>
                    <a:ea typeface="Cambria Math" panose="02040503050406030204" pitchFamily="18" charset="0"/>
                  </a:rPr>
                  <a:t>𝑘_2 ⟩</a:t>
                </a:r>
                <a:r>
                  <a:rPr lang="en-US" sz="2000" dirty="0"/>
                  <a:t> generate all possible</a:t>
                </a:r>
                <a:r>
                  <a:rPr lang="en-US" sz="2000" baseline="0" dirty="0"/>
                  <a:t> states of two qubits from 00 to 11.</a:t>
                </a:r>
              </a:p>
              <a:p>
                <a:pPr marL="457200" indent="-457200">
                  <a:buFont typeface="+mj-lt"/>
                  <a:buAutoNum type="arabicPeriod"/>
                </a:pPr>
                <a:r>
                  <a:rPr lang="en-US" sz="2000" baseline="0" dirty="0"/>
                  <a:t>Like in this example of two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0⟩</a:t>
                </a:r>
                <a:r>
                  <a:rPr lang="en-US" sz="2000" dirty="0"/>
                  <a:t> qubits. We</a:t>
                </a:r>
                <a:r>
                  <a:rPr lang="en-US" sz="2000" baseline="0" dirty="0"/>
                  <a:t> can apply the same formula for any number of qubits.</a:t>
                </a: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26</a:t>
            </a:fld>
            <a:endParaRPr lang="en-US"/>
          </a:p>
        </p:txBody>
      </p:sp>
    </p:spTree>
    <p:extLst>
      <p:ext uri="{BB962C8B-B14F-4D97-AF65-F5344CB8AC3E}">
        <p14:creationId xmlns:p14="http://schemas.microsoft.com/office/powerpoint/2010/main" val="22848252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To find the superposition state of multiple qubits, we generalize the two-qubit case to an </a:t>
                </a:r>
                <a14:m>
                  <m:oMath xmlns:m="http://schemas.openxmlformats.org/officeDocument/2006/math">
                    <m:r>
                      <a:rPr lang="en-US" sz="1200" i="1" smtClean="0">
                        <a:latin typeface="Cambria Math" panose="02040503050406030204" pitchFamily="18" charset="0"/>
                      </a:rPr>
                      <m:t>𝑛</m:t>
                    </m:r>
                  </m:oMath>
                </a14:m>
                <a:r>
                  <a:rPr lang="en-ZA" dirty="0"/>
                  <a:t>-qubit register. The result contains all </a:t>
                </a:r>
                <a14:m>
                  <m:oMath xmlns:m="http://schemas.openxmlformats.org/officeDocument/2006/math">
                    <m:sSup>
                      <m:sSupPr>
                        <m:ctrlPr>
                          <a:rPr lang="en-ZA" sz="1200" i="1" smtClean="0">
                            <a:latin typeface="Cambria Math" panose="02040503050406030204" pitchFamily="18" charset="0"/>
                          </a:rPr>
                        </m:ctrlPr>
                      </m:sSupPr>
                      <m:e>
                        <m:r>
                          <a:rPr lang="sr-Latn-RS" sz="1200" i="1">
                            <a:latin typeface="Cambria Math" panose="02040503050406030204" pitchFamily="18" charset="0"/>
                          </a:rPr>
                          <m:t>2</m:t>
                        </m:r>
                      </m:e>
                      <m:sup>
                        <m:r>
                          <a:rPr lang="sr-Latn-RS" sz="1200" i="1">
                            <a:latin typeface="Cambria Math" panose="02040503050406030204" pitchFamily="18" charset="0"/>
                          </a:rPr>
                          <m:t>𝑛</m:t>
                        </m:r>
                      </m:sup>
                    </m:sSup>
                  </m:oMath>
                </a14:m>
                <a:r>
                  <a:rPr lang="en-ZA" dirty="0"/>
                  <a:t> computational basis states, each with the same amplitude magnitude </a:t>
                </a:r>
                <a14:m>
                  <m:oMath xmlns:m="http://schemas.openxmlformats.org/officeDocument/2006/math">
                    <m:r>
                      <a:rPr lang="en-US" sz="1200" b="0" i="0" smtClean="0">
                        <a:solidFill>
                          <a:srgbClr val="002060"/>
                        </a:solidFill>
                        <a:latin typeface="Cambria Math" panose="02040503050406030204" pitchFamily="18" charset="0"/>
                        <a:ea typeface="Cambria Math" panose="02040503050406030204" pitchFamily="18" charset="0"/>
                      </a:rPr>
                      <m:t>1/</m:t>
                    </m:r>
                    <m:rad>
                      <m:radPr>
                        <m:degHide m:val="on"/>
                        <m:ctrlPr>
                          <a:rPr lang="en-US" sz="1200" i="1" smtClean="0">
                            <a:solidFill>
                              <a:srgbClr val="002060"/>
                            </a:solidFill>
                            <a:latin typeface="Cambria Math" panose="02040503050406030204" pitchFamily="18" charset="0"/>
                            <a:ea typeface="Cambria Math" panose="02040503050406030204" pitchFamily="18" charset="0"/>
                          </a:rPr>
                        </m:ctrlPr>
                      </m:radPr>
                      <m:deg/>
                      <m:e>
                        <m:sSup>
                          <m:sSupPr>
                            <m:ctrlPr>
                              <a:rPr lang="en-US" sz="1200" i="1" smtClean="0">
                                <a:solidFill>
                                  <a:srgbClr val="002060"/>
                                </a:solidFill>
                                <a:latin typeface="Cambria Math" panose="02040503050406030204" pitchFamily="18" charset="0"/>
                                <a:ea typeface="Cambria Math" panose="02040503050406030204" pitchFamily="18" charset="0"/>
                              </a:rPr>
                            </m:ctrlPr>
                          </m:sSupPr>
                          <m:e>
                            <m:r>
                              <a:rPr lang="en-US" sz="1200" i="1">
                                <a:solidFill>
                                  <a:srgbClr val="002060"/>
                                </a:solidFill>
                                <a:latin typeface="Cambria Math" panose="02040503050406030204" pitchFamily="18" charset="0"/>
                                <a:ea typeface="Cambria Math" panose="02040503050406030204" pitchFamily="18" charset="0"/>
                              </a:rPr>
                              <m:t>2</m:t>
                            </m:r>
                          </m:e>
                          <m:sup>
                            <m:r>
                              <a:rPr lang="en-US" sz="1200" b="0" i="1" smtClean="0">
                                <a:solidFill>
                                  <a:srgbClr val="002060"/>
                                </a:solidFill>
                                <a:latin typeface="Cambria Math" panose="02040503050406030204" pitchFamily="18" charset="0"/>
                                <a:ea typeface="Cambria Math" panose="02040503050406030204" pitchFamily="18" charset="0"/>
                              </a:rPr>
                              <m:t>𝑛</m:t>
                            </m:r>
                          </m:sup>
                        </m:sSup>
                      </m:e>
                    </m:rad>
                  </m:oMath>
                </a14:m>
                <a:r>
                  <a:rPr lang="en-ZA" dirty="0"/>
                  <a:t>. The only difference between the amplitudes is their sign, which is determined by the exponent</a:t>
                </a:r>
                <a:r>
                  <a:rPr lang="en-ZA" baseline="0" dirty="0"/>
                  <a:t> </a:t>
                </a:r>
                <a14:m>
                  <m:oMath xmlns:m="http://schemas.openxmlformats.org/officeDocument/2006/math">
                    <m:sSup>
                      <m:sSupPr>
                        <m:ctrlPr>
                          <a:rPr lang="en-ZA" sz="1200" i="1" smtClean="0">
                            <a:latin typeface="Cambria Math" panose="02040503050406030204" pitchFamily="18" charset="0"/>
                          </a:rPr>
                        </m:ctrlPr>
                      </m:sSupPr>
                      <m:e>
                        <m:d>
                          <m:dPr>
                            <m:ctrlPr>
                              <a:rPr lang="en-ZA" sz="1200" i="1">
                                <a:latin typeface="Cambria Math" panose="02040503050406030204" pitchFamily="18" charset="0"/>
                              </a:rPr>
                            </m:ctrlPr>
                          </m:dPr>
                          <m:e>
                            <m:r>
                              <a:rPr lang="sr-Latn-RS" sz="1200" i="1">
                                <a:latin typeface="Cambria Math" panose="02040503050406030204" pitchFamily="18" charset="0"/>
                              </a:rPr>
                              <m:t>−1</m:t>
                            </m:r>
                          </m:e>
                        </m:d>
                      </m:e>
                      <m:sup>
                        <m:r>
                          <a:rPr lang="sr-Latn-RS" sz="1200" i="1">
                            <a:latin typeface="Cambria Math" panose="02040503050406030204" pitchFamily="18" charset="0"/>
                          </a:rPr>
                          <m:t>𝑞</m:t>
                        </m:r>
                        <m:r>
                          <a:rPr lang="sr-Latn-RS" sz="1200" i="1" smtClean="0">
                            <a:latin typeface="Cambria Math" panose="02040503050406030204" pitchFamily="18" charset="0"/>
                            <a:ea typeface="Cambria Math" panose="02040503050406030204" pitchFamily="18" charset="0"/>
                          </a:rPr>
                          <m:t>∙</m:t>
                        </m:r>
                        <m:r>
                          <a:rPr lang="sr-Latn-RS" sz="1200" b="0" i="1" smtClean="0">
                            <a:latin typeface="Cambria Math" panose="02040503050406030204" pitchFamily="18" charset="0"/>
                          </a:rPr>
                          <m:t>𝑘</m:t>
                        </m:r>
                      </m:sup>
                    </m:sSup>
                  </m:oMath>
                </a14:m>
                <a:r>
                  <a:rPr lang="en-ZA" dirty="0"/>
                  <a:t>, where</a:t>
                </a:r>
              </a:p>
              <a:p>
                <a:pPr algn="just"/>
                <a:endParaRPr lang="en-ZA" dirty="0"/>
              </a:p>
              <a:p>
                <a:pPr algn="just"/>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sSub>
                            <m:sSubPr>
                              <m:ctrlPr>
                                <a:rPr lang="en-US" sz="1200" i="1">
                                  <a:latin typeface="Cambria Math" panose="02040503050406030204" pitchFamily="18" charset="0"/>
                                </a:rPr>
                              </m:ctrlPr>
                            </m:sSubPr>
                            <m:e>
                              <m:sSub>
                                <m:sSubPr>
                                  <m:ctrlPr>
                                    <a:rPr lang="en-US" sz="1200" i="1">
                                      <a:latin typeface="Cambria Math" panose="02040503050406030204" pitchFamily="18" charset="0"/>
                                    </a:rPr>
                                  </m:ctrlPr>
                                </m:sSubPr>
                                <m:e>
                                  <m:r>
                                    <a:rPr lang="en-US" sz="1200" i="1">
                                      <a:latin typeface="Cambria Math" panose="02040503050406030204" pitchFamily="18" charset="0"/>
                                    </a:rPr>
                                    <m:t>𝑞</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rPr>
                                    <m:t>𝑘</m:t>
                                  </m:r>
                                  <m:r>
                                    <a:rPr lang="en-US" sz="1200" b="0" i="1" smtClean="0">
                                      <a:latin typeface="Cambria Math" panose="02040503050406030204" pitchFamily="18" charset="0"/>
                                    </a:rPr>
                                    <m:t>=</m:t>
                                  </m:r>
                                  <m:r>
                                    <a:rPr lang="en-US" sz="1200" i="1">
                                      <a:latin typeface="Cambria Math" panose="02040503050406030204" pitchFamily="18" charset="0"/>
                                    </a:rPr>
                                    <m:t>𝑞</m:t>
                                  </m:r>
                                </m:e>
                                <m:sub>
                                  <m:r>
                                    <a:rPr lang="en-US" sz="1200" i="0">
                                      <a:latin typeface="Cambria Math" panose="02040503050406030204" pitchFamily="18" charset="0"/>
                                    </a:rPr>
                                    <m:t>1</m:t>
                                  </m:r>
                                </m:sub>
                              </m:sSub>
                              <m:sSub>
                                <m:sSubPr>
                                  <m:ctrlPr>
                                    <a:rPr lang="en-US" sz="1200" i="1">
                                      <a:latin typeface="Cambria Math" panose="02040503050406030204" pitchFamily="18" charset="0"/>
                                    </a:rPr>
                                  </m:ctrlPr>
                                </m:sSubPr>
                                <m:e>
                                  <m:r>
                                    <a:rPr lang="sr-Latn-RS" sz="1200" b="0" i="1" smtClean="0">
                                      <a:latin typeface="Cambria Math" panose="02040503050406030204" pitchFamily="18" charset="0"/>
                                    </a:rPr>
                                    <m:t>𝑘</m:t>
                                  </m:r>
                                </m:e>
                                <m:sub>
                                  <m:r>
                                    <a:rPr lang="en-US" sz="1200" i="0">
                                      <a:latin typeface="Cambria Math" panose="02040503050406030204" pitchFamily="18" charset="0"/>
                                    </a:rPr>
                                    <m:t>1</m:t>
                                  </m:r>
                                </m:sub>
                              </m:sSub>
                              <m:r>
                                <a:rPr lang="en-US" sz="1200" i="0">
                                  <a:latin typeface="Cambria Math" panose="02040503050406030204" pitchFamily="18" charset="0"/>
                                </a:rPr>
                                <m:t>+⋯+</m:t>
                              </m:r>
                              <m:r>
                                <a:rPr lang="en-US" sz="1200" i="1">
                                  <a:latin typeface="Cambria Math" panose="02040503050406030204" pitchFamily="18" charset="0"/>
                                </a:rPr>
                                <m:t>𝑞</m:t>
                              </m:r>
                            </m:e>
                            <m:sub>
                              <m:r>
                                <a:rPr lang="en-US" sz="1200" i="1">
                                  <a:latin typeface="Cambria Math" panose="02040503050406030204" pitchFamily="18" charset="0"/>
                                </a:rPr>
                                <m:t>𝑛</m:t>
                              </m:r>
                            </m:sub>
                          </m:sSub>
                          <m:sSub>
                            <m:sSubPr>
                              <m:ctrlPr>
                                <a:rPr lang="en-US" sz="1200" i="1">
                                  <a:latin typeface="Cambria Math" panose="02040503050406030204" pitchFamily="18" charset="0"/>
                                </a:rPr>
                              </m:ctrlPr>
                            </m:sSubPr>
                            <m:e>
                              <m:r>
                                <a:rPr lang="sr-Latn-RS" sz="1200" b="0" i="1" smtClean="0">
                                  <a:latin typeface="Cambria Math" panose="02040503050406030204" pitchFamily="18" charset="0"/>
                                </a:rPr>
                                <m:t>𝑘</m:t>
                              </m:r>
                            </m:e>
                            <m:sub>
                              <m:r>
                                <a:rPr lang="en-US" sz="1200" i="1">
                                  <a:latin typeface="Cambria Math" panose="02040503050406030204" pitchFamily="18" charset="0"/>
                                </a:rPr>
                                <m:t>𝑛</m:t>
                              </m:r>
                            </m:sub>
                          </m:sSub>
                          <m:r>
                            <a:rPr lang="en-US" sz="1200" i="0">
                              <a:latin typeface="Cambria Math" panose="02040503050406030204" pitchFamily="18" charset="0"/>
                            </a:rPr>
                            <m:t>→</m:t>
                          </m:r>
                          <m:r>
                            <a:rPr lang="en-US" sz="1200" i="1">
                              <a:latin typeface="Cambria Math" panose="02040503050406030204" pitchFamily="18" charset="0"/>
                            </a:rPr>
                            <m:t>𝑞</m:t>
                          </m:r>
                        </m:e>
                        <m:sub>
                          <m:r>
                            <a:rPr lang="en-US" sz="1200" i="0">
                              <a:latin typeface="Cambria Math" panose="02040503050406030204" pitchFamily="18" charset="0"/>
                            </a:rPr>
                            <m:t>1</m:t>
                          </m:r>
                        </m:sub>
                      </m:sSub>
                      <m:sSub>
                        <m:sSubPr>
                          <m:ctrlPr>
                            <a:rPr lang="en-US" sz="1200" i="1">
                              <a:latin typeface="Cambria Math" panose="02040503050406030204" pitchFamily="18" charset="0"/>
                            </a:rPr>
                          </m:ctrlPr>
                        </m:sSubPr>
                        <m:e>
                          <m:r>
                            <a:rPr lang="sr-Latn-RS" sz="1200" b="0" i="1" smtClean="0">
                              <a:latin typeface="Cambria Math" panose="02040503050406030204" pitchFamily="18" charset="0"/>
                            </a:rPr>
                            <m:t>𝑘</m:t>
                          </m:r>
                        </m:e>
                        <m:sub>
                          <m:r>
                            <a:rPr lang="en-US" sz="1200" i="0">
                              <a:latin typeface="Cambria Math" panose="02040503050406030204" pitchFamily="18" charset="0"/>
                            </a:rPr>
                            <m:t>1</m:t>
                          </m:r>
                        </m:sub>
                      </m:sSub>
                      <m:r>
                        <a:rPr lang="en-US" sz="1200">
                          <a:latin typeface="Cambria Math" panose="02040503050406030204" pitchFamily="18" charset="0"/>
                        </a:rPr>
                        <m:t>⨁</m:t>
                      </m:r>
                      <m:r>
                        <a:rPr lang="en-US" sz="1200" i="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𝑞</m:t>
                          </m:r>
                        </m:e>
                        <m:sub>
                          <m:r>
                            <a:rPr lang="sr-Latn-RS" sz="1200" b="0" i="1" smtClean="0">
                              <a:latin typeface="Cambria Math" panose="02040503050406030204" pitchFamily="18" charset="0"/>
                            </a:rPr>
                            <m:t>𝑛</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sr-Latn-RS" sz="1200" b="0" i="1" smtClean="0">
                              <a:latin typeface="Cambria Math" panose="02040503050406030204" pitchFamily="18" charset="0"/>
                            </a:rPr>
                            <m:t>𝑘</m:t>
                          </m:r>
                        </m:e>
                        <m:sub>
                          <m:r>
                            <a:rPr lang="en-US" sz="1200" i="1">
                              <a:latin typeface="Cambria Math" panose="02040503050406030204" pitchFamily="18" charset="0"/>
                            </a:rPr>
                            <m:t>𝑛</m:t>
                          </m:r>
                        </m:sub>
                      </m:sSub>
                    </m:oMath>
                  </m:oMathPara>
                </a14:m>
                <a:endParaRPr lang="en-ZA" dirty="0"/>
              </a:p>
              <a:p>
                <a:pPr algn="just"/>
                <a:endParaRPr lang="en-ZA" dirty="0"/>
              </a:p>
              <a:p>
                <a:pPr algn="just"/>
                <a:r>
                  <a:rPr lang="en-ZA" dirty="0"/>
                  <a:t>This is the </a:t>
                </a:r>
                <a:r>
                  <a:rPr lang="en-ZA" b="1" dirty="0"/>
                  <a:t>bitwise inner product modulo 2</a:t>
                </a:r>
                <a:r>
                  <a:rPr lang="en-ZA" dirty="0"/>
                  <a:t>. If the result is 0, the amplitude is positive; if it is 1, the amplitude is negative.</a:t>
                </a:r>
              </a:p>
              <a:p>
                <a:pPr algn="just"/>
                <a:endParaRPr lang="en-ZA" dirty="0"/>
              </a:p>
              <a:p>
                <a:pPr algn="just"/>
                <a:r>
                  <a:rPr lang="en-ZA" dirty="0"/>
                  <a:t>So the formula has the same form as in the single-qubit case, except that the exponent now contains a bitwise inner product rather than a simple product. The Hadamard transformation produces a superposition of all possible n-bit basis states, with each state carrying a sign determined by its bitwise inner product with the initial bit string.</a:t>
                </a:r>
                <a:endParaRPr lang="en-US" sz="1200" baseline="0" dirty="0"/>
              </a:p>
            </p:txBody>
          </p:sp>
        </mc:Choice>
        <mc:Fallback xmlns="">
          <p:sp>
            <p:nvSpPr>
              <p:cNvPr id="3" name="Notes Placeholder 2"/>
              <p:cNvSpPr>
                <a:spLocks noGrp="1"/>
              </p:cNvSpPr>
              <p:nvPr>
                <p:ph type="body" idx="1"/>
              </p:nvPr>
            </p:nvSpPr>
            <p:spPr/>
            <p:txBody>
              <a:bodyPr/>
              <a:lstStyle/>
              <a:p>
                <a:r>
                  <a:rPr lang="en-US" sz="2000" dirty="0"/>
                  <a:t>Superposition is one of the keys of quantum computing. Quantum circuit usually start by putting qubits into superposition by using the Hadamard gate. In a case of one qubit, that can</a:t>
                </a:r>
                <a:r>
                  <a:rPr lang="en-US" sz="2000" baseline="0" dirty="0"/>
                  <a:t> be either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0⟩</a:t>
                </a:r>
                <a:r>
                  <a:rPr lang="en-US" sz="2000" dirty="0"/>
                  <a:t> or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1⟩</a:t>
                </a:r>
                <a:r>
                  <a:rPr lang="en-US" sz="2000" dirty="0"/>
                  <a:t>, we get a familiar state of superposition.</a:t>
                </a:r>
              </a:p>
              <a:p>
                <a:pPr marL="457200" indent="-457200">
                  <a:buFont typeface="+mj-lt"/>
                  <a:buAutoNum type="arabicPeriod"/>
                </a:pPr>
                <a:r>
                  <a:rPr lang="en-US" sz="2000" dirty="0"/>
                  <a:t>We can generalize this expression by introducing term </a:t>
                </a:r>
                <a:r>
                  <a:rPr lang="en-US" sz="2000" b="0" i="0">
                    <a:solidFill>
                      <a:srgbClr val="002060"/>
                    </a:solidFill>
                    <a:latin typeface="Cambria Math" panose="02040503050406030204" pitchFamily="18" charset="0"/>
                    <a:ea typeface="Cambria Math" panose="02040503050406030204" pitchFamily="18" charset="0"/>
                  </a:rPr>
                  <a:t>(−1)^</a:t>
                </a:r>
                <a:r>
                  <a:rPr lang="en-US" sz="2000" i="0">
                    <a:solidFill>
                      <a:srgbClr val="002060"/>
                    </a:solidFill>
                    <a:latin typeface="Cambria Math" panose="02040503050406030204" pitchFamily="18" charset="0"/>
                    <a:ea typeface="Cambria Math" panose="02040503050406030204" pitchFamily="18" charset="0"/>
                  </a:rPr>
                  <a:t>𝑥</a:t>
                </a:r>
                <a:r>
                  <a:rPr lang="en-US" sz="2000" dirty="0"/>
                  <a:t> where </a:t>
                </a:r>
                <a:r>
                  <a:rPr lang="en-US" sz="2000" i="0">
                    <a:solidFill>
                      <a:srgbClr val="002060"/>
                    </a:solidFill>
                    <a:latin typeface="Cambria Math" panose="02040503050406030204" pitchFamily="18" charset="0"/>
                    <a:ea typeface="Cambria Math" panose="02040503050406030204" pitchFamily="18" charset="0"/>
                  </a:rPr>
                  <a:t>𝑥</a:t>
                </a:r>
                <a:r>
                  <a:rPr lang="en-US" sz="2000" dirty="0"/>
                  <a:t> can be </a:t>
                </a:r>
                <a:r>
                  <a:rPr lang="en-US" sz="2000" i="0">
                    <a:solidFill>
                      <a:srgbClr val="002060"/>
                    </a:solidFill>
                    <a:latin typeface="Cambria Math" panose="02040503050406030204" pitchFamily="18" charset="0"/>
                    <a:ea typeface="Cambria Math" panose="02040503050406030204" pitchFamily="18" charset="0"/>
                  </a:rPr>
                  <a:t>0</a:t>
                </a:r>
                <a:r>
                  <a:rPr lang="en-US" sz="2000" dirty="0"/>
                  <a:t> or </a:t>
                </a:r>
                <a:r>
                  <a:rPr lang="en-US" sz="2000" b="0" i="0">
                    <a:latin typeface="Cambria Math" panose="02040503050406030204" pitchFamily="18" charset="0"/>
                  </a:rPr>
                  <a:t>1</a:t>
                </a:r>
                <a:r>
                  <a:rPr lang="en-US" sz="2000" dirty="0"/>
                  <a:t>. In addition we can compact the sum by introducing</a:t>
                </a:r>
                <a:r>
                  <a:rPr lang="en-US" sz="2000" baseline="0" dirty="0"/>
                  <a:t> another variable k that indicate qubits 0 and 1.</a:t>
                </a:r>
              </a:p>
              <a:p>
                <a:pPr marL="457200" indent="-457200">
                  <a:buFont typeface="+mj-lt"/>
                  <a:buAutoNum type="arabicPeriod"/>
                </a:pPr>
                <a:r>
                  <a:rPr lang="en-US" sz="2000" baseline="0" dirty="0"/>
                  <a:t>For two qubits we calculate the Kronecker product. Since superposition is equally distributed, the first term is 1/</a:t>
                </a:r>
                <a:r>
                  <a:rPr lang="en-US" sz="2000" i="0">
                    <a:solidFill>
                      <a:srgbClr val="002060"/>
                    </a:solidFill>
                    <a:latin typeface="Cambria Math" panose="02040503050406030204" pitchFamily="18" charset="0"/>
                    <a:ea typeface="Cambria Math" panose="02040503050406030204" pitchFamily="18" charset="0"/>
                  </a:rPr>
                  <a:t>√(</a:t>
                </a:r>
                <a:r>
                  <a:rPr lang="en-US" sz="2000" b="0" i="0">
                    <a:solidFill>
                      <a:srgbClr val="002060"/>
                    </a:solidFill>
                    <a:latin typeface="Cambria Math" panose="02040503050406030204" pitchFamily="18" charset="0"/>
                    <a:ea typeface="Cambria Math" panose="02040503050406030204" pitchFamily="18" charset="0"/>
                  </a:rPr>
                  <a:t>2^2 )</a:t>
                </a:r>
                <a:r>
                  <a:rPr lang="en-US" sz="2000" baseline="0" dirty="0"/>
                  <a:t>  Note that value of the (-1) exponent simply determine plus or minus. Finally the combination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𝑘_</a:t>
                </a:r>
                <a:r>
                  <a:rPr lang="en-US" sz="2000" i="0">
                    <a:solidFill>
                      <a:srgbClr val="002060"/>
                    </a:solidFill>
                    <a:latin typeface="Cambria Math" panose="02040503050406030204" pitchFamily="18" charset="0"/>
                    <a:ea typeface="Cambria Math" panose="02040503050406030204" pitchFamily="18" charset="0"/>
                  </a:rPr>
                  <a:t>1 </a:t>
                </a:r>
                <a:r>
                  <a:rPr lang="en-US" sz="2000" b="0" i="0">
                    <a:solidFill>
                      <a:srgbClr val="002060"/>
                    </a:solidFill>
                    <a:latin typeface="Cambria Math" panose="02040503050406030204" pitchFamily="18" charset="0"/>
                    <a:ea typeface="Cambria Math" panose="02040503050406030204" pitchFamily="18" charset="0"/>
                  </a:rPr>
                  <a:t>𝑘_2 ⟩</a:t>
                </a:r>
                <a:r>
                  <a:rPr lang="en-US" sz="2000" dirty="0"/>
                  <a:t> generate all possible</a:t>
                </a:r>
                <a:r>
                  <a:rPr lang="en-US" sz="2000" baseline="0" dirty="0"/>
                  <a:t> states of two qubits from 00 to 11.</a:t>
                </a:r>
              </a:p>
              <a:p>
                <a:pPr marL="457200" indent="-457200">
                  <a:buFont typeface="+mj-lt"/>
                  <a:buAutoNum type="arabicPeriod"/>
                </a:pPr>
                <a:r>
                  <a:rPr lang="en-US" sz="2000" baseline="0" dirty="0"/>
                  <a:t>Like in this example of two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0⟩</a:t>
                </a:r>
                <a:r>
                  <a:rPr lang="en-US" sz="2000" dirty="0"/>
                  <a:t> qubits. We</a:t>
                </a:r>
                <a:r>
                  <a:rPr lang="en-US" sz="2000" baseline="0" dirty="0"/>
                  <a:t> can apply the same formula for any number of qubits.</a:t>
                </a: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27</a:t>
            </a:fld>
            <a:endParaRPr lang="en-US"/>
          </a:p>
        </p:txBody>
      </p:sp>
    </p:spTree>
    <p:extLst>
      <p:ext uri="{BB962C8B-B14F-4D97-AF65-F5344CB8AC3E}">
        <p14:creationId xmlns:p14="http://schemas.microsoft.com/office/powerpoint/2010/main" val="22298420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Quantum superposition enables another fundamental principle of quantum computing: quantum interference. Probability amplitudes associated with the same basis state can reinforce each other, called constructive interference, or cancel each other, called destructive interference.</a:t>
            </a:r>
          </a:p>
          <a:p>
            <a:pPr algn="just"/>
            <a:endParaRPr lang="en-ZA" b="0" dirty="0"/>
          </a:p>
          <a:p>
            <a:pPr algn="just"/>
            <a:r>
              <a:rPr lang="en-ZA" b="0" dirty="0"/>
              <a:t>In many quantum algorithms, qubits are initially placed in equal superposition. The algorithm then uses interference to increase the amplitude of desired states and reduce the amplitudes of unwanted states, making the correct result more likely to appear when measured.</a:t>
            </a:r>
          </a:p>
          <a:p>
            <a:pPr algn="just"/>
            <a:endParaRPr lang="en-ZA" b="0" dirty="0"/>
          </a:p>
          <a:p>
            <a:pPr algn="just"/>
            <a:r>
              <a:rPr lang="en-ZA" b="0" dirty="0"/>
              <a:t>Depending on the algorithm, quantum computation can produce different types of results:</a:t>
            </a:r>
          </a:p>
          <a:p>
            <a:pPr algn="just"/>
            <a:endParaRPr lang="en-ZA" b="0" dirty="0"/>
          </a:p>
          <a:p>
            <a:pPr marL="171450" indent="-171450" algn="just">
              <a:buFont typeface="Arial" panose="020B0604020202020204" pitchFamily="34" charset="0"/>
              <a:buChar char="•"/>
            </a:pPr>
            <a:r>
              <a:rPr lang="en-ZA" b="0" dirty="0"/>
              <a:t>Exact results: The correct answer is obtained with certainty. </a:t>
            </a:r>
          </a:p>
          <a:p>
            <a:pPr marL="171450" indent="-171450" algn="just">
              <a:buFont typeface="Arial" panose="020B0604020202020204" pitchFamily="34" charset="0"/>
              <a:buChar char="•"/>
            </a:pPr>
            <a:r>
              <a:rPr lang="en-ZA" b="0" dirty="0"/>
              <a:t>Superpositions of results: The quantum state represents multiple possible outcomes, although each measurement returns only one. </a:t>
            </a:r>
          </a:p>
          <a:p>
            <a:pPr marL="171450" indent="-171450" algn="just">
              <a:buFont typeface="Arial" panose="020B0604020202020204" pitchFamily="34" charset="0"/>
              <a:buChar char="•"/>
            </a:pPr>
            <a:r>
              <a:rPr lang="en-ZA" b="0" dirty="0"/>
              <a:t>Statistical results: Repeated measurements produce a probability distribution of possible outcomes.</a:t>
            </a:r>
          </a:p>
        </p:txBody>
      </p:sp>
      <p:sp>
        <p:nvSpPr>
          <p:cNvPr id="4" name="Slide Number Placeholder 3"/>
          <p:cNvSpPr>
            <a:spLocks noGrp="1"/>
          </p:cNvSpPr>
          <p:nvPr>
            <p:ph type="sldNum" sz="quarter" idx="5"/>
          </p:nvPr>
        </p:nvSpPr>
        <p:spPr/>
        <p:txBody>
          <a:bodyPr/>
          <a:lstStyle/>
          <a:p>
            <a:fld id="{1B2CE5E3-B8BD-D040-AC87-D640191DD8F1}" type="slidenum">
              <a:rPr lang="en-US" smtClean="0"/>
              <a:t>28</a:t>
            </a:fld>
            <a:endParaRPr lang="en-US"/>
          </a:p>
        </p:txBody>
      </p:sp>
    </p:spTree>
    <p:extLst>
      <p:ext uri="{BB962C8B-B14F-4D97-AF65-F5344CB8AC3E}">
        <p14:creationId xmlns:p14="http://schemas.microsoft.com/office/powerpoint/2010/main" val="24111090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buFont typeface="+mj-lt"/>
                  <a:buNone/>
                </a:pPr>
                <a:r>
                  <a:rPr lang="en-ZA" dirty="0"/>
                  <a:t>To illustrate the principle of quantum interference, consider a qubit initially prepared in the state ∣0⟩.</a:t>
                </a:r>
              </a:p>
              <a:p>
                <a:pPr marL="0" indent="0">
                  <a:buFont typeface="+mj-lt"/>
                  <a:buNone/>
                </a:pPr>
                <a:endParaRPr lang="en-ZA" b="0" dirty="0"/>
              </a:p>
              <a:p>
                <a:pPr marL="228600" indent="-228600">
                  <a:buFont typeface="+mj-lt"/>
                  <a:buAutoNum type="arabicPeriod"/>
                </a:pPr>
                <a:r>
                  <a:rPr lang="en-ZA" b="0" dirty="0"/>
                  <a:t>After applying a Hadamard gate, the qubit enters a superposition of ∣0⟩ and ∣1⟩. </a:t>
                </a:r>
              </a:p>
              <a:p>
                <a:pPr marL="228600" indent="-228600">
                  <a:buFont typeface="+mj-lt"/>
                  <a:buAutoNum type="arabicPeriod"/>
                </a:pPr>
                <a:r>
                  <a:rPr lang="en-ZA" dirty="0"/>
                  <a:t>Next, a U gate modifies the amplitudes, introducing a negative sign into one component and causing them to interfere. </a:t>
                </a:r>
                <a:r>
                  <a:rPr lang="en-ZA" b="0" dirty="0"/>
                  <a:t> The amplitudes leading to ∣0⟩ reinforce each other, while those leading to ∣1⟩ cancel.</a:t>
                </a:r>
              </a:p>
              <a:p>
                <a:pPr marL="228600" indent="-228600">
                  <a:buFont typeface="+mj-lt"/>
                  <a:buAutoNum type="arabicPeriod"/>
                </a:pPr>
                <a:r>
                  <a:rPr lang="en-ZA" b="0" dirty="0"/>
                  <a:t>As a result, the final state is ∣0⟩. </a:t>
                </a:r>
              </a:p>
              <a:p>
                <a:endParaRPr lang="en-ZA" b="0" dirty="0"/>
              </a:p>
              <a:p>
                <a:pPr algn="just"/>
                <a:r>
                  <a:rPr lang="en-ZA" b="0" dirty="0"/>
                  <a:t>In this simple example, the U gate controls the interference pattern and therefore the final outcome. </a:t>
                </a:r>
                <a:r>
                  <a:rPr lang="en-ZA" dirty="0"/>
                  <a:t>In a real quantum algorithm, this part could represent a much more complex sequence of operations designed to increase the probability of desired results and suppress unwanted ones. For example, a quantum model could be used to predict whether it will rain. It could process inputs such as temperature, humidity, and pressure and use quantum interference to make one of the two possible answers more likely.</a:t>
                </a:r>
              </a:p>
            </p:txBody>
          </p:sp>
        </mc:Choice>
        <mc:Fallback xmlns="">
          <p:sp>
            <p:nvSpPr>
              <p:cNvPr id="3" name="Notes Placeholder 2"/>
              <p:cNvSpPr>
                <a:spLocks noGrp="1"/>
              </p:cNvSpPr>
              <p:nvPr>
                <p:ph type="body" idx="1"/>
              </p:nvPr>
            </p:nvSpPr>
            <p:spPr/>
            <p:txBody>
              <a:bodyPr/>
              <a:lstStyle/>
              <a:p>
                <a:r>
                  <a:rPr lang="en-US" sz="2000" dirty="0"/>
                  <a:t>Quantum interference is one of the main mechanisms of quantum computing. Interference is used to affect probability amplitudes and consequently, to affect probability of computational outcome. It is used to  promote favorable and demote non-favorable results. </a:t>
                </a:r>
              </a:p>
              <a:p>
                <a:pPr/>
                <a:r>
                  <a:rPr lang="en-US" sz="2000" dirty="0"/>
                  <a:t>In this example, we start with </a:t>
                </a:r>
                <a:r>
                  <a:rPr lang="en-US" sz="2000" i="0">
                    <a:solidFill>
                      <a:srgbClr val="002060"/>
                    </a:solidFill>
                    <a:latin typeface="Cambria Math" panose="02040503050406030204" pitchFamily="18" charset="0"/>
                    <a:ea typeface="Cambria Math" panose="02040503050406030204" pitchFamily="18" charset="0"/>
                  </a:rPr>
                  <a:t>├ |0⟩</a:t>
                </a:r>
                <a:r>
                  <a:rPr lang="en-US" sz="2000" dirty="0"/>
                  <a:t>, with amplitude 1, shown on the graph. To take place, the interference requires superposition.</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a:t>After applying the H gate, qubit is in equal superposition of </a:t>
                </a:r>
                <a:r>
                  <a:rPr lang="en-US" sz="2000" i="0">
                    <a:solidFill>
                      <a:srgbClr val="002060"/>
                    </a:solidFill>
                    <a:latin typeface="Cambria Math" panose="02040503050406030204" pitchFamily="18" charset="0"/>
                    <a:ea typeface="Cambria Math" panose="02040503050406030204" pitchFamily="18" charset="0"/>
                  </a:rPr>
                  <a:t>├ |0⟩</a:t>
                </a:r>
                <a:r>
                  <a:rPr lang="en-US" sz="2000" dirty="0"/>
                  <a:t> and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1⟩</a:t>
                </a:r>
                <a:r>
                  <a:rPr lang="en-US" sz="2000" dirty="0"/>
                  <a:t>. </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a:t>After applying the second H gate, each of the components is put into superposition again. From the algebraic expression we see that </a:t>
                </a:r>
                <a:r>
                  <a:rPr lang="en-US" sz="2000" i="0">
                    <a:solidFill>
                      <a:srgbClr val="002060"/>
                    </a:solidFill>
                    <a:latin typeface="Cambria Math" panose="02040503050406030204" pitchFamily="18" charset="0"/>
                    <a:ea typeface="Cambria Math" panose="02040503050406030204" pitchFamily="18" charset="0"/>
                  </a:rPr>
                  <a:t>├ |0⟩</a:t>
                </a:r>
                <a:r>
                  <a:rPr lang="en-US" sz="2000" dirty="0"/>
                  <a:t> amplitudes will add up and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1⟩</a:t>
                </a:r>
                <a:r>
                  <a:rPr lang="en-US" sz="2000" dirty="0"/>
                  <a:t> amplitudes will subtract. This positive and negative interference is also shown on the graph.</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a:t>Positive interference will produce amplitude 1 for </a:t>
                </a:r>
                <a:r>
                  <a:rPr lang="en-US" sz="2000" i="0">
                    <a:solidFill>
                      <a:srgbClr val="002060"/>
                    </a:solidFill>
                    <a:latin typeface="Cambria Math" panose="02040503050406030204" pitchFamily="18" charset="0"/>
                    <a:ea typeface="Cambria Math" panose="02040503050406030204" pitchFamily="18" charset="0"/>
                  </a:rPr>
                  <a:t>├ |0⟩</a:t>
                </a:r>
                <a:r>
                  <a:rPr lang="en-US" sz="2000" dirty="0"/>
                  <a:t> and negative interference will cancel</a:t>
                </a:r>
                <a:r>
                  <a:rPr lang="en-US" sz="2000" baseline="0" dirty="0"/>
                  <a:t> amplitude of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1⟩</a:t>
                </a:r>
                <a:r>
                  <a:rPr lang="en-US" sz="2000" dirty="0"/>
                  <a:t>, so the final result will be </a:t>
                </a:r>
                <a:r>
                  <a:rPr lang="en-US" sz="2000" i="0">
                    <a:solidFill>
                      <a:srgbClr val="002060"/>
                    </a:solidFill>
                    <a:latin typeface="Cambria Math" panose="02040503050406030204" pitchFamily="18" charset="0"/>
                    <a:ea typeface="Cambria Math" panose="02040503050406030204" pitchFamily="18" charset="0"/>
                  </a:rPr>
                  <a:t>├ |0⟩</a:t>
                </a:r>
                <a:r>
                  <a:rPr lang="en-US" sz="2000" dirty="0"/>
                  <a:t>.</a:t>
                </a:r>
              </a:p>
              <a:p>
                <a:pPr marL="457200" indent="-457200">
                  <a:buFont typeface="+mj-lt"/>
                  <a:buAutoNum type="arabicPeriod"/>
                </a:pP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29</a:t>
            </a:fld>
            <a:endParaRPr lang="en-US"/>
          </a:p>
        </p:txBody>
      </p:sp>
    </p:spTree>
    <p:extLst>
      <p:ext uri="{BB962C8B-B14F-4D97-AF65-F5344CB8AC3E}">
        <p14:creationId xmlns:p14="http://schemas.microsoft.com/office/powerpoint/2010/main" val="22792824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Phase kickback is a mechanism used in many quantum algorithms to encode information into the phase of a qubit. This phase information can then be used through quantum interference to influence the final measurement.</a:t>
            </a:r>
            <a:endParaRPr lang="en-US" b="0" dirty="0"/>
          </a:p>
        </p:txBody>
      </p:sp>
      <p:sp>
        <p:nvSpPr>
          <p:cNvPr id="4" name="Slide Number Placeholder 3"/>
          <p:cNvSpPr>
            <a:spLocks noGrp="1"/>
          </p:cNvSpPr>
          <p:nvPr>
            <p:ph type="sldNum" sz="quarter" idx="5"/>
          </p:nvPr>
        </p:nvSpPr>
        <p:spPr/>
        <p:txBody>
          <a:bodyPr/>
          <a:lstStyle/>
          <a:p>
            <a:fld id="{1B2CE5E3-B8BD-D040-AC87-D640191DD8F1}" type="slidenum">
              <a:rPr lang="en-US" smtClean="0"/>
              <a:t>30</a:t>
            </a:fld>
            <a:endParaRPr lang="en-US"/>
          </a:p>
        </p:txBody>
      </p:sp>
    </p:spTree>
    <p:extLst>
      <p:ext uri="{BB962C8B-B14F-4D97-AF65-F5344CB8AC3E}">
        <p14:creationId xmlns:p14="http://schemas.microsoft.com/office/powerpoint/2010/main" val="37354098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To better understand how phase information is encoded in quantum algorithms, it is useful to introduce the concepts of </a:t>
                </a:r>
                <a:r>
                  <a:rPr lang="en-ZA" b="1" dirty="0"/>
                  <a:t>eigenvalues and eigenvectors</a:t>
                </a:r>
                <a:r>
                  <a:rPr lang="en-ZA" dirty="0"/>
                  <a:t>. </a:t>
                </a:r>
                <a:r>
                  <a:rPr lang="en-ZA" b="0" dirty="0"/>
                  <a:t>The German word eigen means “own,” “proper,” or “characteristic,” depending on context.</a:t>
                </a:r>
                <a:endParaRPr lang="en-ZA" dirty="0"/>
              </a:p>
              <a:p>
                <a:pPr algn="just"/>
                <a:endParaRPr lang="en-ZA" dirty="0"/>
              </a:p>
              <a:p>
                <a:pPr algn="just"/>
                <a:r>
                  <a:rPr lang="en-ZA" dirty="0"/>
                  <a:t>If an operator </a:t>
                </a:r>
                <a14:m>
                  <m:oMath xmlns:m="http://schemas.openxmlformats.org/officeDocument/2006/math">
                    <m:r>
                      <a:rPr lang="en-US" sz="1200" b="0" i="1" smtClean="0">
                        <a:latin typeface="Cambria Math" panose="02040503050406030204" pitchFamily="18" charset="0"/>
                        <a:ea typeface="Cambria Math" panose="02040503050406030204" pitchFamily="18" charset="0"/>
                      </a:rPr>
                      <m:t>𝐴</m:t>
                    </m:r>
                  </m:oMath>
                </a14:m>
                <a:r>
                  <a:rPr lang="en-ZA" dirty="0"/>
                  <a:t> acts on a nonzero vector ∣x⟩ and simply scales it by a factor </a:t>
                </a:r>
                <a14:m>
                  <m:oMath xmlns:m="http://schemas.openxmlformats.org/officeDocument/2006/math">
                    <m:r>
                      <a:rPr lang="en-US" sz="1200" b="0" i="1" smtClean="0">
                        <a:latin typeface="Cambria Math" panose="02040503050406030204" pitchFamily="18" charset="0"/>
                        <a:ea typeface="Cambria Math" panose="02040503050406030204" pitchFamily="18" charset="0"/>
                      </a:rPr>
                      <m:t>𝜆</m:t>
                    </m:r>
                  </m:oMath>
                </a14:m>
                <a:r>
                  <a:rPr lang="el-GR" dirty="0"/>
                  <a:t> </a:t>
                </a:r>
                <a:r>
                  <a:rPr lang="en-ZA" dirty="0"/>
                  <a:t>without changing its direction, then </a:t>
                </a:r>
                <a14:m>
                  <m:oMath xmlns:m="http://schemas.openxmlformats.org/officeDocument/2006/math">
                    <m:r>
                      <a:rPr lang="en-US" sz="1200" b="0" i="1" smtClean="0">
                        <a:latin typeface="Cambria Math" panose="02040503050406030204" pitchFamily="18" charset="0"/>
                        <a:ea typeface="Cambria Math" panose="02040503050406030204" pitchFamily="18" charset="0"/>
                      </a:rPr>
                      <m:t>𝜆</m:t>
                    </m:r>
                  </m:oMath>
                </a14:m>
                <a:r>
                  <a:rPr lang="el-GR" dirty="0"/>
                  <a:t> </a:t>
                </a:r>
                <a:r>
                  <a:rPr lang="en-ZA" dirty="0"/>
                  <a:t>is called an </a:t>
                </a:r>
                <a:r>
                  <a:rPr lang="en-ZA" b="1" dirty="0"/>
                  <a:t>eigenvalue</a:t>
                </a:r>
                <a:r>
                  <a:rPr lang="en-ZA" dirty="0"/>
                  <a:t>, and </a:t>
                </a:r>
                <a14:m>
                  <m:oMath xmlns:m="http://schemas.openxmlformats.org/officeDocument/2006/math">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𝑥</m:t>
                        </m:r>
                      </m:e>
                    </m:d>
                  </m:oMath>
                </a14:m>
                <a:r>
                  <a:rPr lang="en-ZA" dirty="0"/>
                  <a:t> is called an </a:t>
                </a:r>
                <a:r>
                  <a:rPr lang="en-ZA" b="1" dirty="0"/>
                  <a:t>eigenvector</a:t>
                </a:r>
                <a:r>
                  <a:rPr lang="en-ZA" dirty="0"/>
                  <a:t> of </a:t>
                </a:r>
                <a14:m>
                  <m:oMath xmlns:m="http://schemas.openxmlformats.org/officeDocument/2006/math">
                    <m:r>
                      <a:rPr lang="en-US" sz="1200" b="0" i="1" smtClean="0">
                        <a:latin typeface="Cambria Math" panose="02040503050406030204" pitchFamily="18" charset="0"/>
                        <a:ea typeface="Cambria Math" panose="02040503050406030204" pitchFamily="18" charset="0"/>
                      </a:rPr>
                      <m:t>𝐴</m:t>
                    </m:r>
                  </m:oMath>
                </a14:m>
                <a:r>
                  <a:rPr lang="en-ZA" dirty="0"/>
                  <a:t>. In simple terms, applying the operator to an eigenvector has the same effect as multiplying that vector by a scalar. This is expressed by the </a:t>
                </a:r>
                <a:r>
                  <a:rPr lang="en-ZA" b="1" dirty="0"/>
                  <a:t>eigenvalue equation</a:t>
                </a:r>
              </a:p>
              <a:p>
                <a:pPr algn="just"/>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rPr>
                        <m:t>𝐴</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𝑥</m:t>
                          </m:r>
                        </m:e>
                      </m:d>
                      <m:r>
                        <a:rPr lang="en-US" sz="1200" b="0" i="1" smtClean="0">
                          <a:latin typeface="Cambria Math" panose="02040503050406030204" pitchFamily="18" charset="0"/>
                        </a:rPr>
                        <m:t>=</m:t>
                      </m:r>
                      <m:r>
                        <a:rPr lang="en-US" sz="1200" i="1">
                          <a:latin typeface="Cambria Math" panose="02040503050406030204" pitchFamily="18" charset="0"/>
                          <a:ea typeface="Cambria Math" panose="02040503050406030204" pitchFamily="18" charset="0"/>
                        </a:rPr>
                        <m:t>𝜆</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𝑥</m:t>
                          </m:r>
                        </m:e>
                      </m:d>
                    </m:oMath>
                  </m:oMathPara>
                </a14:m>
                <a:endParaRPr lang="en-ZA" b="1" dirty="0"/>
              </a:p>
              <a:p>
                <a:pPr algn="just"/>
                <a:endParaRPr lang="en-ZA" dirty="0"/>
              </a:p>
              <a:p>
                <a:pPr algn="just"/>
                <a:r>
                  <a:rPr lang="en-ZA" dirty="0"/>
                  <a:t>For example, applying the identity operator </a:t>
                </a:r>
                <a14:m>
                  <m:oMath xmlns:m="http://schemas.openxmlformats.org/officeDocument/2006/math">
                    <m:r>
                      <a:rPr lang="en-US" sz="1200" b="0" i="1" smtClean="0">
                        <a:latin typeface="Cambria Math" panose="02040503050406030204" pitchFamily="18" charset="0"/>
                      </a:rPr>
                      <m:t>𝐼</m:t>
                    </m:r>
                  </m:oMath>
                </a14:m>
                <a:r>
                  <a:rPr lang="en-ZA" dirty="0"/>
                  <a:t> to any vector </a:t>
                </a:r>
                <a14:m>
                  <m:oMath xmlns:m="http://schemas.openxmlformats.org/officeDocument/2006/math">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𝑥</m:t>
                        </m:r>
                      </m:e>
                    </m:d>
                  </m:oMath>
                </a14:m>
                <a:r>
                  <a:rPr lang="en-ZA" dirty="0"/>
                  <a:t> gives the same vector: </a:t>
                </a:r>
              </a:p>
              <a:p>
                <a:pPr algn="just"/>
                <a14:m>
                  <m:oMath xmlns:m="http://schemas.openxmlformats.org/officeDocument/2006/math">
                    <m:r>
                      <a:rPr lang="sr-Latn-RS" sz="1200" b="0" i="1" smtClean="0">
                        <a:latin typeface="Cambria Math" panose="02040503050406030204" pitchFamily="18" charset="0"/>
                      </a:rPr>
                      <m:t>𝐼</m:t>
                    </m:r>
                    <m:d>
                      <m:dPr>
                        <m:begChr m:val="|"/>
                        <m:endChr m:val="⟩"/>
                        <m:ctrlPr>
                          <a:rPr lang="en-US" sz="1200" b="0" i="1">
                            <a:latin typeface="Cambria Math" panose="02040503050406030204" pitchFamily="18" charset="0"/>
                          </a:rPr>
                        </m:ctrlPr>
                      </m:dPr>
                      <m:e>
                        <m:r>
                          <a:rPr lang="en-US" sz="1200" b="0" i="1">
                            <a:latin typeface="Cambria Math" panose="02040503050406030204" pitchFamily="18" charset="0"/>
                          </a:rPr>
                          <m:t>𝑥</m:t>
                        </m:r>
                      </m:e>
                    </m:d>
                    <m:r>
                      <a:rPr lang="en-US" sz="1200" b="0" i="1" smtClean="0">
                        <a:latin typeface="Cambria Math" panose="02040503050406030204" pitchFamily="18" charset="0"/>
                      </a:rPr>
                      <m:t>=</m:t>
                    </m:r>
                    <m:d>
                      <m:dPr>
                        <m:begChr m:val="|"/>
                        <m:endChr m:val="⟩"/>
                        <m:ctrlPr>
                          <a:rPr lang="en-US" sz="1200" b="0" i="1">
                            <a:latin typeface="Cambria Math" panose="02040503050406030204" pitchFamily="18" charset="0"/>
                          </a:rPr>
                        </m:ctrlPr>
                      </m:dPr>
                      <m:e>
                        <m:r>
                          <a:rPr lang="en-US" sz="1200" b="0" i="1">
                            <a:latin typeface="Cambria Math" panose="02040503050406030204" pitchFamily="18" charset="0"/>
                          </a:rPr>
                          <m:t>𝑥</m:t>
                        </m:r>
                      </m:e>
                    </m:d>
                  </m:oMath>
                </a14:m>
                <a:r>
                  <a:rPr lang="en-ZA" dirty="0"/>
                  <a:t>. Therefore, the eigenvalue is </a:t>
                </a:r>
                <a14:m>
                  <m:oMath xmlns:m="http://schemas.openxmlformats.org/officeDocument/2006/math">
                    <m:r>
                      <a:rPr lang="en-US" sz="1200" b="0" i="1" smtClean="0">
                        <a:latin typeface="Cambria Math" panose="02040503050406030204" pitchFamily="18" charset="0"/>
                        <a:ea typeface="Cambria Math" panose="02040503050406030204" pitchFamily="18" charset="0"/>
                      </a:rPr>
                      <m:t>𝜆</m:t>
                    </m:r>
                  </m:oMath>
                </a14:m>
                <a:r>
                  <a:rPr lang="en-US" sz="1200" dirty="0"/>
                  <a:t>=1</a:t>
                </a:r>
                <a:r>
                  <a:rPr lang="el-GR" dirty="0"/>
                  <a:t>, </a:t>
                </a:r>
                <a:r>
                  <a:rPr lang="en-ZA" dirty="0"/>
                  <a:t>and every nonzero vector is an eigenvector of the identity operator.</a:t>
                </a:r>
              </a:p>
              <a:p>
                <a:pPr algn="just"/>
                <a:endParaRPr lang="en-ZA" dirty="0"/>
              </a:p>
              <a:p>
                <a:pPr algn="just"/>
                <a:r>
                  <a:rPr lang="en-ZA" dirty="0"/>
                  <a:t>When a unitary operator is applied to one of its eigenstates, the state itself remains unchanged, but it picks up a phase determined by the eigenvalue. This allows us to extract information about the operator without changing the eigenstate.</a:t>
                </a:r>
              </a:p>
            </p:txBody>
          </p:sp>
        </mc:Choice>
        <mc:Fallback xmlns="">
          <p:sp>
            <p:nvSpPr>
              <p:cNvPr id="3" name="Notes Placeholder 2"/>
              <p:cNvSpPr>
                <a:spLocks noGrp="1"/>
              </p:cNvSpPr>
              <p:nvPr>
                <p:ph type="body" idx="1"/>
              </p:nvPr>
            </p:nvSpPr>
            <p:spPr/>
            <p:txBody>
              <a:bodyPr/>
              <a:lstStyle/>
              <a:p>
                <a:pPr marL="457200" indent="-457200">
                  <a:buFont typeface="+mj-lt"/>
                  <a:buAutoNum type="arabicPeriod"/>
                </a:pPr>
                <a:r>
                  <a:rPr lang="en-US" sz="2200" b="0" dirty="0">
                    <a:latin typeface="+mn-lt"/>
                  </a:rPr>
                  <a:t>If a matrix </a:t>
                </a:r>
                <a:r>
                  <a:rPr lang="en-US" sz="2200" b="0" i="1" dirty="0">
                    <a:latin typeface="+mn-lt"/>
                  </a:rPr>
                  <a:t>A</a:t>
                </a:r>
                <a:r>
                  <a:rPr lang="en-US" sz="2200" b="0" dirty="0">
                    <a:latin typeface="+mn-lt"/>
                  </a:rPr>
                  <a:t> acts on vector x by stretching it, without changing its direction, then the vector x is an eigenvector for</a:t>
                </a:r>
                <a:r>
                  <a:rPr lang="en-US" sz="2200" b="0" baseline="0" dirty="0">
                    <a:latin typeface="+mn-lt"/>
                  </a:rPr>
                  <a:t> transformation A</a:t>
                </a:r>
                <a:r>
                  <a:rPr lang="en-US" sz="2200" b="0" dirty="0">
                    <a:latin typeface="+mn-lt"/>
                  </a:rPr>
                  <a:t> and scalar </a:t>
                </a:r>
                <a:r>
                  <a:rPr lang="en-US" sz="2200" b="0" i="0">
                    <a:latin typeface="+mn-lt"/>
                    <a:ea typeface="Cambria Math" panose="02040503050406030204" pitchFamily="18" charset="0"/>
                  </a:rPr>
                  <a:t>𝜆</a:t>
                </a:r>
                <a:r>
                  <a:rPr lang="en-US" sz="2200" b="0" i="0" dirty="0">
                    <a:latin typeface="+mn-lt"/>
                  </a:rPr>
                  <a:t> is an eigenvalue. Eigenvector and eigenvalue are also</a:t>
                </a:r>
                <a:r>
                  <a:rPr lang="en-US" sz="2200" b="0" i="0" baseline="0" dirty="0">
                    <a:latin typeface="+mn-lt"/>
                  </a:rPr>
                  <a:t> called characteristic vector and characteristic value since </a:t>
                </a:r>
                <a:r>
                  <a:rPr lang="en-US" sz="2200" b="0" dirty="0">
                    <a:latin typeface="+mn-lt"/>
                  </a:rPr>
                  <a:t>the German word ‘eigen’ means ‘characteristic’. </a:t>
                </a:r>
              </a:p>
              <a:p>
                <a:pPr marL="457200" indent="-457200">
                  <a:buFont typeface="+mj-lt"/>
                  <a:buAutoNum type="arabicPeriod"/>
                </a:pPr>
                <a:r>
                  <a:rPr lang="en-US" sz="2200" b="0" i="0" dirty="0">
                    <a:latin typeface="+mn-lt"/>
                  </a:rPr>
                  <a:t>For example, for the identity matrix I, vector x is an eigenvector and +1 is an eigenvalue.</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31</a:t>
            </a:fld>
            <a:endParaRPr lang="en-US"/>
          </a:p>
        </p:txBody>
      </p:sp>
    </p:spTree>
    <p:extLst>
      <p:ext uri="{BB962C8B-B14F-4D97-AF65-F5344CB8AC3E}">
        <p14:creationId xmlns:p14="http://schemas.microsoft.com/office/powerpoint/2010/main" val="10337534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Phase kickback gets its name from the fact that, in a controlled-</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𝑉</m:t>
                    </m:r>
                  </m:oMath>
                </a14:m>
                <a:r>
                  <a:rPr lang="en-ZA" dirty="0"/>
                  <a:t> operation, a phase associated with the target state can appear on the control qubit</a:t>
                </a:r>
                <a:r>
                  <a:rPr lang="en-ZA" b="0" dirty="0"/>
                  <a:t>. If an operator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𝑉</m:t>
                    </m:r>
                  </m:oMath>
                </a14:m>
                <a:r>
                  <a:rPr lang="en-ZA" b="0" dirty="0"/>
                  <a:t> has an eigenstate (i.e. eigenvector)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𝑣</m:t>
                        </m:r>
                      </m:e>
                    </m:d>
                  </m:oMath>
                </a14:m>
                <a:r>
                  <a:rPr lang="en-ZA" b="0" dirty="0"/>
                  <a:t> with eigenvalue </a:t>
                </a:r>
                <a14:m>
                  <m:oMath xmlns:m="http://schemas.openxmlformats.org/officeDocument/2006/math">
                    <m:sSup>
                      <m:sSupPr>
                        <m:ctrlPr>
                          <a:rPr lang="en-US" sz="1200" i="1" smtClean="0">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𝑒</m:t>
                        </m:r>
                      </m:e>
                      <m:sup>
                        <m:r>
                          <a:rPr lang="en-US" sz="1200" i="1">
                            <a:latin typeface="Cambria Math" panose="02040503050406030204" pitchFamily="18" charset="0"/>
                            <a:ea typeface="Cambria Math" panose="02040503050406030204" pitchFamily="18" charset="0"/>
                          </a:rPr>
                          <m:t>𝑖</m:t>
                        </m:r>
                        <m:r>
                          <a:rPr lang="el-GR" sz="1200" i="1">
                            <a:latin typeface="Cambria Math" panose="02040503050406030204" pitchFamily="18" charset="0"/>
                            <a:ea typeface="Cambria Math" panose="02040503050406030204" pitchFamily="18" charset="0"/>
                          </a:rPr>
                          <m:t>𝜑</m:t>
                        </m:r>
                      </m:sup>
                    </m:sSup>
                  </m:oMath>
                </a14:m>
                <a:r>
                  <a:rPr lang="el-GR" b="0" dirty="0"/>
                  <a:t>, </a:t>
                </a:r>
                <a:r>
                  <a:rPr lang="en-ZA" b="0" dirty="0"/>
                  <a:t>then applying controlled-</a:t>
                </a:r>
                <a14:m>
                  <m:oMath xmlns:m="http://schemas.openxmlformats.org/officeDocument/2006/math">
                    <m:r>
                      <a:rPr lang="en-US" sz="1200" i="1" smtClean="0">
                        <a:solidFill>
                          <a:srgbClr val="002060"/>
                        </a:solidFill>
                        <a:latin typeface="Cambria Math" panose="02040503050406030204" pitchFamily="18" charset="0"/>
                        <a:ea typeface="Cambria Math" panose="02040503050406030204" pitchFamily="18" charset="0"/>
                      </a:rPr>
                      <m:t>𝑉</m:t>
                    </m:r>
                  </m:oMath>
                </a14:m>
                <a:r>
                  <a:rPr lang="en-ZA" b="0" dirty="0"/>
                  <a:t> causes the phase factor </a:t>
                </a:r>
                <a14:m>
                  <m:oMath xmlns:m="http://schemas.openxmlformats.org/officeDocument/2006/math">
                    <m:sSup>
                      <m:sSupPr>
                        <m:ctrlPr>
                          <a:rPr lang="en-US" sz="1200" i="1" smtClean="0">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𝑒</m:t>
                        </m:r>
                      </m:e>
                      <m:sup>
                        <m:r>
                          <a:rPr lang="en-US" sz="1200" i="1">
                            <a:latin typeface="Cambria Math" panose="02040503050406030204" pitchFamily="18" charset="0"/>
                            <a:ea typeface="Cambria Math" panose="02040503050406030204" pitchFamily="18" charset="0"/>
                          </a:rPr>
                          <m:t>𝑖</m:t>
                        </m:r>
                        <m:r>
                          <a:rPr lang="el-GR" sz="1200" i="1">
                            <a:latin typeface="Cambria Math" panose="02040503050406030204" pitchFamily="18" charset="0"/>
                            <a:ea typeface="Cambria Math" panose="02040503050406030204" pitchFamily="18" charset="0"/>
                          </a:rPr>
                          <m:t>𝜑</m:t>
                        </m:r>
                      </m:sup>
                    </m:sSup>
                  </m:oMath>
                </a14:m>
                <a:r>
                  <a:rPr lang="el-GR" b="0" dirty="0"/>
                  <a:t> </a:t>
                </a:r>
                <a:r>
                  <a:rPr lang="en-ZA" b="0" dirty="0"/>
                  <a:t>to appear on the ∣1⟩ component of the control qubit, provided the target is in the eigenstate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𝑣</m:t>
                        </m:r>
                      </m:e>
                    </m:d>
                  </m:oMath>
                </a14:m>
                <a:r>
                  <a:rPr lang="en-ZA" b="0" dirty="0"/>
                  <a:t>.</a:t>
                </a:r>
              </a:p>
              <a:p>
                <a:pPr algn="just"/>
                <a:endParaRPr lang="en-ZA" b="0" dirty="0"/>
              </a:p>
              <a:p>
                <a:pPr algn="just"/>
                <a:r>
                  <a:rPr lang="en-ZA" b="0" dirty="0"/>
                  <a:t>The control qubit should be in superposition for this phase to have an observable effect. If the control is ∣0⟩, </a:t>
                </a:r>
                <a14:m>
                  <m:oMath xmlns:m="http://schemas.openxmlformats.org/officeDocument/2006/math">
                    <m:r>
                      <a:rPr lang="en-US" sz="1200" i="1" smtClean="0">
                        <a:solidFill>
                          <a:srgbClr val="002060"/>
                        </a:solidFill>
                        <a:latin typeface="Cambria Math" panose="02040503050406030204" pitchFamily="18" charset="0"/>
                        <a:ea typeface="Cambria Math" panose="02040503050406030204" pitchFamily="18" charset="0"/>
                      </a:rPr>
                      <m:t>𝑉</m:t>
                    </m:r>
                  </m:oMath>
                </a14:m>
                <a:r>
                  <a:rPr lang="en-ZA" b="0" dirty="0"/>
                  <a:t> is not applied and no kickback occurs. </a:t>
                </a:r>
                <a:r>
                  <a:rPr lang="en-ZA" dirty="0"/>
                  <a:t>If the control qubit is in the state |1⟩, both qubits will acquire a phase, resulting in a global phase for the system that is physically unmeasurable. Therefore, phase kickback is effective and measurable only when the control qubit is in a state of superposition.</a:t>
                </a:r>
                <a:endParaRPr lang="en-ZA" b="0"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t>Fazni</a:t>
                </a:r>
                <a:r>
                  <a:rPr lang="en-US" sz="2000" dirty="0"/>
                  <a:t> </a:t>
                </a:r>
                <a:r>
                  <a:rPr lang="en-US" sz="2000" dirty="0" err="1"/>
                  <a:t>povratni</a:t>
                </a:r>
                <a:r>
                  <a:rPr lang="en-US" sz="2000" dirty="0"/>
                  <a:t> </a:t>
                </a:r>
                <a:r>
                  <a:rPr lang="en-US" sz="2000" dirty="0" err="1"/>
                  <a:t>udarac</a:t>
                </a:r>
                <a:r>
                  <a:rPr lang="en-US" sz="2000" dirty="0"/>
                  <a:t> </a:t>
                </a:r>
                <a:r>
                  <a:rPr lang="en-US" sz="2000" dirty="0" err="1"/>
                  <a:t>petom</a:t>
                </a:r>
                <a:r>
                  <a:rPr lang="en-US" sz="2000" dirty="0"/>
                  <a:t> </a:t>
                </a:r>
                <a:r>
                  <a:rPr lang="en-US" sz="2000" dirty="0" err="1"/>
                  <a:t>ili</a:t>
                </a:r>
                <a:r>
                  <a:rPr lang="en-US" sz="2000" dirty="0"/>
                  <a:t> </a:t>
                </a:r>
                <a:r>
                  <a:rPr lang="en-US" sz="2000" dirty="0" err="1"/>
                  <a:t>fazni</a:t>
                </a:r>
                <a:r>
                  <a:rPr lang="en-US" sz="2000" dirty="0"/>
                  <a:t> kick-back </a:t>
                </a:r>
                <a:r>
                  <a:rPr lang="en-US" sz="2000" dirty="0" err="1"/>
                  <a:t>je</a:t>
                </a:r>
                <a:r>
                  <a:rPr lang="en-US" sz="2000" dirty="0"/>
                  <a:t> </a:t>
                </a:r>
                <a:r>
                  <a:rPr lang="en-US" sz="2000" dirty="0" err="1"/>
                  <a:t>koristan</a:t>
                </a:r>
                <a:r>
                  <a:rPr lang="en-US" sz="2000" dirty="0"/>
                  <a:t> element </a:t>
                </a:r>
                <a:r>
                  <a:rPr lang="en-US" sz="2000" dirty="0" err="1"/>
                  <a:t>kvantnih</a:t>
                </a:r>
                <a:r>
                  <a:rPr lang="en-US" sz="2000" dirty="0"/>
                  <a:t> </a:t>
                </a:r>
                <a:r>
                  <a:rPr lang="en-US" sz="2000" dirty="0" err="1"/>
                  <a:t>algoritama</a:t>
                </a:r>
                <a:r>
                  <a:rPr lang="en-US" sz="2000" dirty="0"/>
                  <a:t>. </a:t>
                </a:r>
                <a:r>
                  <a:rPr lang="en-US" sz="2000" dirty="0" err="1"/>
                  <a:t>Ime</a:t>
                </a:r>
                <a:r>
                  <a:rPr lang="en-US" sz="2000" dirty="0"/>
                  <a:t> </a:t>
                </a:r>
                <a:r>
                  <a:rPr lang="en-US" sz="2000" dirty="0" err="1"/>
                  <a:t>je</a:t>
                </a:r>
                <a:r>
                  <a:rPr lang="en-US" sz="2000" dirty="0"/>
                  <a:t> </a:t>
                </a:r>
                <a:r>
                  <a:rPr lang="en-US" sz="2000" dirty="0" err="1"/>
                  <a:t>dobio</a:t>
                </a:r>
                <a:r>
                  <a:rPr lang="en-US" sz="2000" dirty="0"/>
                  <a:t> </a:t>
                </a:r>
                <a:r>
                  <a:rPr lang="en-US" sz="2000" dirty="0" err="1"/>
                  <a:t>po</a:t>
                </a:r>
                <a:r>
                  <a:rPr lang="en-US" sz="2000" dirty="0"/>
                  <a:t> tome </a:t>
                </a:r>
                <a:r>
                  <a:rPr lang="en-US" sz="2000" dirty="0" err="1"/>
                  <a:t>sto</a:t>
                </a:r>
                <a:r>
                  <a:rPr lang="en-US" sz="2000" dirty="0"/>
                  <a:t> se </a:t>
                </a:r>
                <a:r>
                  <a:rPr lang="en-US" sz="2000" dirty="0" err="1"/>
                  <a:t>primenom</a:t>
                </a:r>
                <a:r>
                  <a:rPr lang="en-US" sz="2000" dirty="0"/>
                  <a:t> </a:t>
                </a:r>
                <a:r>
                  <a:rPr lang="en-US" sz="2000" dirty="0" err="1"/>
                  <a:t>kontrolisanog</a:t>
                </a:r>
                <a:r>
                  <a:rPr lang="en-US" sz="2000" dirty="0"/>
                  <a:t> </a:t>
                </a:r>
                <a:r>
                  <a:rPr lang="en-US" sz="2000" dirty="0" err="1"/>
                  <a:t>faznog</a:t>
                </a:r>
                <a:r>
                  <a:rPr lang="en-US" sz="2000" dirty="0"/>
                  <a:t> kola, </a:t>
                </a:r>
                <a:r>
                  <a:rPr lang="en-US" sz="2000" dirty="0" err="1"/>
                  <a:t>faza</a:t>
                </a:r>
                <a:r>
                  <a:rPr lang="en-US" sz="2000" dirty="0"/>
                  <a:t> </a:t>
                </a:r>
                <a:r>
                  <a:rPr lang="en-US" sz="2000" dirty="0" err="1"/>
                  <a:t>umesto</a:t>
                </a:r>
                <a:r>
                  <a:rPr lang="en-US" sz="2000" dirty="0"/>
                  <a:t> </a:t>
                </a:r>
                <a:r>
                  <a:rPr lang="en-US" sz="2000" dirty="0" err="1"/>
                  <a:t>na</a:t>
                </a:r>
                <a:r>
                  <a:rPr lang="en-US" sz="2000" dirty="0"/>
                  <a:t> target </a:t>
                </a:r>
                <a:r>
                  <a:rPr lang="en-US" sz="2000" dirty="0" err="1"/>
                  <a:t>primeni</a:t>
                </a:r>
                <a:r>
                  <a:rPr lang="en-US" sz="2000" dirty="0"/>
                  <a:t> </a:t>
                </a:r>
                <a:r>
                  <a:rPr lang="en-US" sz="2000" dirty="0" err="1"/>
                  <a:t>na</a:t>
                </a:r>
                <a:r>
                  <a:rPr lang="en-US" sz="2000" dirty="0"/>
                  <a:t> </a:t>
                </a:r>
                <a:r>
                  <a:rPr lang="en-US" sz="2000" dirty="0" err="1"/>
                  <a:t>kontrolni</a:t>
                </a:r>
                <a:r>
                  <a:rPr lang="en-US" sz="2000" dirty="0"/>
                  <a:t> </a:t>
                </a:r>
                <a:r>
                  <a:rPr lang="en-US" sz="2000" dirty="0" err="1"/>
                  <a:t>kubit</a:t>
                </a:r>
                <a:r>
                  <a:rPr lang="en-US" sz="2000" dirty="0"/>
                  <a:t>. </a:t>
                </a:r>
                <a:r>
                  <a:rPr lang="en-US" sz="2000" dirty="0" err="1"/>
                  <a:t>Efektivno</a:t>
                </a:r>
                <a:r>
                  <a:rPr lang="en-US" sz="2000" dirty="0"/>
                  <a:t>, </a:t>
                </a:r>
                <a:r>
                  <a:rPr lang="en-US" sz="2000" dirty="0" err="1"/>
                  <a:t>imamo</a:t>
                </a:r>
                <a:r>
                  <a:rPr lang="en-US" sz="2000" dirty="0"/>
                  <a:t> </a:t>
                </a:r>
                <a:r>
                  <a:rPr lang="en-US" sz="2000" dirty="0" err="1"/>
                  <a:t>situaciju</a:t>
                </a:r>
                <a:r>
                  <a:rPr lang="en-US" sz="2000" dirty="0"/>
                  <a:t> </a:t>
                </a:r>
                <a:r>
                  <a:rPr lang="en-US" sz="2000" dirty="0" err="1"/>
                  <a:t>kao</a:t>
                </a:r>
                <a:r>
                  <a:rPr lang="en-US" sz="2000" dirty="0"/>
                  <a:t> da </a:t>
                </a:r>
                <a:r>
                  <a:rPr lang="en-US" sz="2000" dirty="0" err="1"/>
                  <a:t>je</a:t>
                </a:r>
                <a:r>
                  <a:rPr lang="en-US" sz="2000" dirty="0"/>
                  <a:t> </a:t>
                </a:r>
                <a:r>
                  <a:rPr lang="en-US" sz="2000" dirty="0" err="1"/>
                  <a:t>fazno</a:t>
                </a:r>
                <a:r>
                  <a:rPr lang="en-US" sz="2000" dirty="0"/>
                  <a:t> </a:t>
                </a:r>
                <a:r>
                  <a:rPr lang="en-US" sz="2000" dirty="0" err="1"/>
                  <a:t>kolo</a:t>
                </a:r>
                <a:r>
                  <a:rPr lang="en-US" sz="2000" dirty="0"/>
                  <a:t> </a:t>
                </a:r>
                <a:r>
                  <a:rPr lang="en-US" sz="2000" dirty="0" err="1"/>
                  <a:t>primenjeno</a:t>
                </a:r>
                <a:r>
                  <a:rPr lang="en-US" sz="2000" dirty="0"/>
                  <a:t> </a:t>
                </a:r>
                <a:r>
                  <a:rPr lang="en-US" sz="2000" dirty="0" err="1"/>
                  <a:t>na</a:t>
                </a:r>
                <a:r>
                  <a:rPr lang="en-US" sz="2000" dirty="0"/>
                  <a:t> </a:t>
                </a:r>
                <a:r>
                  <a:rPr lang="en-US" sz="2000" dirty="0" err="1"/>
                  <a:t>kontrolni</a:t>
                </a:r>
                <a:r>
                  <a:rPr lang="en-US" sz="2000" dirty="0"/>
                  <a:t> </a:t>
                </a:r>
                <a:r>
                  <a:rPr lang="en-US" sz="2000" dirty="0" err="1"/>
                  <a:t>kubit</a:t>
                </a:r>
                <a:r>
                  <a:rPr lang="en-US" sz="2000" dirty="0"/>
                  <a:t>, pod </a:t>
                </a:r>
                <a:r>
                  <a:rPr lang="en-US" sz="2000" dirty="0" err="1"/>
                  <a:t>uslovom</a:t>
                </a:r>
                <a:r>
                  <a:rPr lang="en-US" sz="2000" dirty="0"/>
                  <a:t> da </a:t>
                </a:r>
                <a:r>
                  <a:rPr lang="en-US" sz="2000" dirty="0" err="1"/>
                  <a:t>je</a:t>
                </a:r>
                <a:r>
                  <a:rPr lang="en-US" sz="2000" dirty="0"/>
                  <a:t> </a:t>
                </a:r>
                <a:r>
                  <a:rPr lang="en-US" sz="2000" dirty="0" err="1"/>
                  <a:t>ovaj</a:t>
                </a:r>
                <a:r>
                  <a:rPr lang="en-US" sz="2000" dirty="0"/>
                  <a:t> </a:t>
                </a:r>
                <a:r>
                  <a:rPr lang="en-US" sz="2000" dirty="0" err="1"/>
                  <a:t>razlicit</a:t>
                </a:r>
                <a:r>
                  <a:rPr lang="en-US" sz="2000" dirty="0"/>
                  <a:t> od </a:t>
                </a:r>
                <a:r>
                  <a:rPr lang="en-US" sz="2000" i="0">
                    <a:solidFill>
                      <a:srgbClr val="002060"/>
                    </a:solidFill>
                    <a:latin typeface="Cambria Math" panose="02040503050406030204" pitchFamily="18" charset="0"/>
                    <a:ea typeface="Cambria Math" panose="02040503050406030204" pitchFamily="18" charset="0"/>
                  </a:rPr>
                  <a:t>├ |0⟩</a:t>
                </a:r>
                <a:r>
                  <a:rPr lang="en-US" sz="2000" dirty="0"/>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32</a:t>
            </a:fld>
            <a:endParaRPr lang="en-US"/>
          </a:p>
        </p:txBody>
      </p:sp>
    </p:spTree>
    <p:extLst>
      <p:ext uri="{BB962C8B-B14F-4D97-AF65-F5344CB8AC3E}">
        <p14:creationId xmlns:p14="http://schemas.microsoft.com/office/powerpoint/2010/main" val="10380362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The image illustrates phase kickback using a controlled-phase gate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𝑃</m:t>
                    </m:r>
                    <m:d>
                      <m:dPr>
                        <m:ctrlPr>
                          <a:rPr lang="en-US" sz="1200" b="0" i="1" smtClean="0">
                            <a:solidFill>
                              <a:srgbClr val="002060"/>
                            </a:solidFill>
                            <a:latin typeface="Cambria Math" panose="02040503050406030204" pitchFamily="18" charset="0"/>
                            <a:ea typeface="Cambria Math" panose="02040503050406030204" pitchFamily="18" charset="0"/>
                          </a:rPr>
                        </m:ctrlPr>
                      </m:dPr>
                      <m:e>
                        <m:r>
                          <a:rPr lang="el-GR" sz="1200" i="1">
                            <a:solidFill>
                              <a:srgbClr val="002060"/>
                            </a:solidFill>
                            <a:latin typeface="Cambria Math" panose="02040503050406030204" pitchFamily="18" charset="0"/>
                            <a:ea typeface="Cambria Math" panose="02040503050406030204" pitchFamily="18" charset="0"/>
                          </a:rPr>
                          <m:t>𝜑</m:t>
                        </m:r>
                      </m:e>
                    </m:d>
                  </m:oMath>
                </a14:m>
                <a:r>
                  <a:rPr lang="el-GR" b="0" dirty="0"/>
                  <a:t>.</a:t>
                </a:r>
              </a:p>
              <a:p>
                <a:pPr algn="just"/>
                <a:r>
                  <a:rPr lang="en-ZA" b="0" dirty="0"/>
                  <a:t>The upper qubit is in the superposition state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m:t>
                        </m:r>
                      </m:e>
                    </m:d>
                  </m:oMath>
                </a14:m>
                <a:r>
                  <a:rPr lang="en-ZA" b="0" dirty="0"/>
                  <a:t>, while the lower qubit is in state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1</m:t>
                        </m:r>
                      </m:e>
                    </m:d>
                  </m:oMath>
                </a14:m>
                <a:r>
                  <a:rPr lang="en-ZA" b="0" dirty="0"/>
                  <a:t>, which is an eigenstate of the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𝑃</m:t>
                    </m:r>
                    <m:d>
                      <m:dPr>
                        <m:ctrlPr>
                          <a:rPr lang="en-US" sz="1200" b="0" i="1" smtClean="0">
                            <a:solidFill>
                              <a:srgbClr val="002060"/>
                            </a:solidFill>
                            <a:latin typeface="Cambria Math" panose="02040503050406030204" pitchFamily="18" charset="0"/>
                            <a:ea typeface="Cambria Math" panose="02040503050406030204" pitchFamily="18" charset="0"/>
                          </a:rPr>
                        </m:ctrlPr>
                      </m:dPr>
                      <m:e>
                        <m:r>
                          <a:rPr lang="el-GR" sz="1200" i="1">
                            <a:solidFill>
                              <a:srgbClr val="002060"/>
                            </a:solidFill>
                            <a:latin typeface="Cambria Math" panose="02040503050406030204" pitchFamily="18" charset="0"/>
                            <a:ea typeface="Cambria Math" panose="02040503050406030204" pitchFamily="18" charset="0"/>
                          </a:rPr>
                          <m:t>𝜑</m:t>
                        </m:r>
                      </m:e>
                    </m:d>
                  </m:oMath>
                </a14:m>
                <a:r>
                  <a:rPr lang="el-GR" b="0" dirty="0"/>
                  <a:t> </a:t>
                </a:r>
                <a:r>
                  <a:rPr lang="en-ZA" b="0" dirty="0"/>
                  <a:t>operator with eigenvalue </a:t>
                </a:r>
                <a14:m>
                  <m:oMath xmlns:m="http://schemas.openxmlformats.org/officeDocument/2006/math">
                    <m:sSup>
                      <m:sSupPr>
                        <m:ctrlPr>
                          <a:rPr lang="en-US" sz="1200" i="1" smtClean="0">
                            <a:solidFill>
                              <a:srgbClr val="002060"/>
                            </a:solidFill>
                            <a:latin typeface="Cambria Math" panose="02040503050406030204" pitchFamily="18" charset="0"/>
                            <a:ea typeface="Cambria Math" panose="02040503050406030204" pitchFamily="18" charset="0"/>
                          </a:rPr>
                        </m:ctrlPr>
                      </m:sSupPr>
                      <m:e>
                        <m:r>
                          <a:rPr lang="en-US" sz="1200" i="1">
                            <a:solidFill>
                              <a:srgbClr val="002060"/>
                            </a:solidFill>
                            <a:latin typeface="Cambria Math" panose="02040503050406030204" pitchFamily="18" charset="0"/>
                            <a:ea typeface="Cambria Math" panose="02040503050406030204" pitchFamily="18" charset="0"/>
                          </a:rPr>
                          <m:t>𝑒</m:t>
                        </m:r>
                      </m:e>
                      <m:sup>
                        <m:r>
                          <a:rPr lang="en-US" sz="1200" i="1">
                            <a:solidFill>
                              <a:srgbClr val="002060"/>
                            </a:solidFill>
                            <a:latin typeface="Cambria Math" panose="02040503050406030204" pitchFamily="18" charset="0"/>
                            <a:ea typeface="Cambria Math" panose="02040503050406030204" pitchFamily="18" charset="0"/>
                          </a:rPr>
                          <m:t>𝑖</m:t>
                        </m:r>
                        <m:r>
                          <a:rPr lang="el-GR" sz="1200" i="1">
                            <a:solidFill>
                              <a:srgbClr val="002060"/>
                            </a:solidFill>
                            <a:latin typeface="Cambria Math" panose="02040503050406030204" pitchFamily="18" charset="0"/>
                            <a:ea typeface="Cambria Math" panose="02040503050406030204" pitchFamily="18" charset="0"/>
                          </a:rPr>
                          <m:t>𝜑</m:t>
                        </m:r>
                      </m:sup>
                    </m:sSup>
                  </m:oMath>
                </a14:m>
                <a:r>
                  <a:rPr lang="el-GR" b="0" dirty="0"/>
                  <a:t>.</a:t>
                </a:r>
                <a:endParaRPr lang="en-US" b="0" dirty="0"/>
              </a:p>
              <a:p>
                <a:pPr algn="just"/>
                <a:endParaRPr lang="el-GR" b="0" dirty="0"/>
              </a:p>
              <a:p>
                <a:pPr marL="171450" indent="-171450" algn="just">
                  <a:buFont typeface="Arial" panose="020B0604020202020204" pitchFamily="34" charset="0"/>
                  <a:buChar char="•"/>
                </a:pPr>
                <a:r>
                  <a:rPr lang="en-ZA" b="0" dirty="0"/>
                  <a:t>At the input to the controlled-P gate, the state of the circuit is described by the Kronecker product of these two qubit states.</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After applying the controlled-P gate, the phase factor </a:t>
                </a:r>
                <a14:m>
                  <m:oMath xmlns:m="http://schemas.openxmlformats.org/officeDocument/2006/math">
                    <m:sSup>
                      <m:sSupPr>
                        <m:ctrlPr>
                          <a:rPr lang="en-US" sz="1200" i="1" smtClean="0">
                            <a:solidFill>
                              <a:srgbClr val="002060"/>
                            </a:solidFill>
                            <a:latin typeface="Cambria Math" panose="02040503050406030204" pitchFamily="18" charset="0"/>
                            <a:ea typeface="Cambria Math" panose="02040503050406030204" pitchFamily="18" charset="0"/>
                          </a:rPr>
                        </m:ctrlPr>
                      </m:sSupPr>
                      <m:e>
                        <m:r>
                          <a:rPr lang="en-US" sz="1200" i="1">
                            <a:solidFill>
                              <a:srgbClr val="002060"/>
                            </a:solidFill>
                            <a:latin typeface="Cambria Math" panose="02040503050406030204" pitchFamily="18" charset="0"/>
                            <a:ea typeface="Cambria Math" panose="02040503050406030204" pitchFamily="18" charset="0"/>
                          </a:rPr>
                          <m:t>𝑒</m:t>
                        </m:r>
                      </m:e>
                      <m:sup>
                        <m:r>
                          <a:rPr lang="en-US" sz="1200" i="1">
                            <a:solidFill>
                              <a:srgbClr val="002060"/>
                            </a:solidFill>
                            <a:latin typeface="Cambria Math" panose="02040503050406030204" pitchFamily="18" charset="0"/>
                            <a:ea typeface="Cambria Math" panose="02040503050406030204" pitchFamily="18" charset="0"/>
                          </a:rPr>
                          <m:t>𝑖</m:t>
                        </m:r>
                        <m:r>
                          <a:rPr lang="el-GR" sz="1200" i="1">
                            <a:solidFill>
                              <a:srgbClr val="002060"/>
                            </a:solidFill>
                            <a:latin typeface="Cambria Math" panose="02040503050406030204" pitchFamily="18" charset="0"/>
                            <a:ea typeface="Cambria Math" panose="02040503050406030204" pitchFamily="18" charset="0"/>
                          </a:rPr>
                          <m:t>𝜑</m:t>
                        </m:r>
                      </m:sup>
                    </m:sSup>
                  </m:oMath>
                </a14:m>
                <a:r>
                  <a:rPr lang="el-GR" b="0" dirty="0"/>
                  <a:t> </a:t>
                </a:r>
                <a:r>
                  <a:rPr lang="en-ZA" b="0" dirty="0"/>
                  <a:t>appears on the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1</m:t>
                        </m:r>
                      </m:e>
                    </m:d>
                  </m:oMath>
                </a14:m>
                <a:r>
                  <a:rPr lang="en-ZA" b="0" dirty="0"/>
                  <a:t> component of the control qubit, while the target qubit remains unchanged. This is the phase kickback.</a:t>
                </a:r>
              </a:p>
              <a:p>
                <a:pPr marL="171450" indent="-171450" algn="just">
                  <a:buFont typeface="Arial" panose="020B0604020202020204" pitchFamily="34" charset="0"/>
                  <a:buChar char="•"/>
                </a:pPr>
                <a:endParaRPr lang="en-ZA" b="0" dirty="0"/>
              </a:p>
              <a:p>
                <a:pPr algn="just"/>
                <a:r>
                  <a:rPr lang="en-ZA" b="0" dirty="0"/>
                  <a:t>We can visualize the result using two Bloch spheres. The upper, control qubit rotates around the z-axis by an angle </a:t>
                </a:r>
                <a14:m>
                  <m:oMath xmlns:m="http://schemas.openxmlformats.org/officeDocument/2006/math">
                    <m:r>
                      <a:rPr lang="el-GR" sz="1200" i="1" smtClean="0">
                        <a:solidFill>
                          <a:srgbClr val="002060"/>
                        </a:solidFill>
                        <a:latin typeface="Cambria Math" panose="02040503050406030204" pitchFamily="18" charset="0"/>
                        <a:ea typeface="Cambria Math" panose="02040503050406030204" pitchFamily="18" charset="0"/>
                      </a:rPr>
                      <m:t>𝜑</m:t>
                    </m:r>
                  </m:oMath>
                </a14:m>
                <a:r>
                  <a:rPr lang="el-GR" b="0" dirty="0"/>
                  <a:t>, </a:t>
                </a:r>
                <a:r>
                  <a:rPr lang="en-ZA" b="0" dirty="0"/>
                  <a:t>for example </a:t>
                </a:r>
                <a14:m>
                  <m:oMath xmlns:m="http://schemas.openxmlformats.org/officeDocument/2006/math">
                    <m:r>
                      <a:rPr lang="el-GR" sz="1200" i="1" smtClean="0">
                        <a:solidFill>
                          <a:srgbClr val="002060"/>
                        </a:solidFill>
                        <a:latin typeface="Cambria Math" panose="02040503050406030204" pitchFamily="18" charset="0"/>
                        <a:ea typeface="Cambria Math" panose="02040503050406030204" pitchFamily="18" charset="0"/>
                      </a:rPr>
                      <m:t>𝜑</m:t>
                    </m:r>
                    <m:r>
                      <a:rPr lang="en-US" sz="1200" b="0" i="1" smtClean="0">
                        <a:solidFill>
                          <a:srgbClr val="002060"/>
                        </a:solidFill>
                        <a:latin typeface="Cambria Math" panose="02040503050406030204" pitchFamily="18" charset="0"/>
                        <a:ea typeface="Cambria Math" panose="02040503050406030204" pitchFamily="18" charset="0"/>
                      </a:rPr>
                      <m:t>=</m:t>
                    </m:r>
                    <m:f>
                      <m:fPr>
                        <m:type m:val="lin"/>
                        <m:ctrlPr>
                          <a:rPr lang="en-US" sz="1200" b="0" i="1" smtClean="0">
                            <a:solidFill>
                              <a:srgbClr val="002060"/>
                            </a:solidFill>
                            <a:latin typeface="Cambria Math" panose="02040503050406030204" pitchFamily="18" charset="0"/>
                            <a:ea typeface="Cambria Math" panose="02040503050406030204" pitchFamily="18" charset="0"/>
                          </a:rPr>
                        </m:ctrlPr>
                      </m:fPr>
                      <m:num>
                        <m:r>
                          <a:rPr lang="en-US" sz="1200" b="0" i="1" smtClean="0">
                            <a:solidFill>
                              <a:srgbClr val="002060"/>
                            </a:solidFill>
                            <a:latin typeface="Cambria Math" panose="02040503050406030204" pitchFamily="18" charset="0"/>
                            <a:ea typeface="Cambria Math" panose="02040503050406030204" pitchFamily="18" charset="0"/>
                          </a:rPr>
                          <m:t>𝜋</m:t>
                        </m:r>
                      </m:num>
                      <m:den>
                        <m:r>
                          <a:rPr lang="en-US" sz="1200" b="0" i="1" smtClean="0">
                            <a:solidFill>
                              <a:srgbClr val="002060"/>
                            </a:solidFill>
                            <a:latin typeface="Cambria Math" panose="02040503050406030204" pitchFamily="18" charset="0"/>
                            <a:ea typeface="Cambria Math" panose="02040503050406030204" pitchFamily="18" charset="0"/>
                          </a:rPr>
                          <m:t>4</m:t>
                        </m:r>
                      </m:den>
                    </m:f>
                  </m:oMath>
                </a14:m>
                <a:r>
                  <a:rPr lang="el-GR" b="0" dirty="0"/>
                  <a:t>, </a:t>
                </a:r>
                <a:r>
                  <a:rPr lang="en-ZA" b="0" dirty="0"/>
                  <a:t>while the lower, target qubit remains in its original state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1</m:t>
                        </m:r>
                      </m:e>
                    </m:d>
                  </m:oMath>
                </a14:m>
                <a:r>
                  <a:rPr lang="en-ZA" b="0" dirty="0"/>
                  <a:t>.</a:t>
                </a:r>
              </a:p>
            </p:txBody>
          </p:sp>
        </mc:Choice>
        <mc:Fallback xmlns="">
          <p:sp>
            <p:nvSpPr>
              <p:cNvPr id="3" name="Notes Placeholder 2"/>
              <p:cNvSpPr>
                <a:spLocks noGrp="1"/>
              </p:cNvSpPr>
              <p:nvPr>
                <p:ph type="body" idx="1"/>
              </p:nvPr>
            </p:nvSpPr>
            <p:spPr/>
            <p:txBody>
              <a:bodyPr/>
              <a:lstStyle/>
              <a:p>
                <a:r>
                  <a:rPr lang="en-US" sz="2000" dirty="0"/>
                  <a:t>Phase kick-back is another useful element in quantum algorithms. It is called the kickback, because a phase shift initiated by a control qubit is send back to it.. </a:t>
                </a:r>
              </a:p>
              <a:p>
                <a:r>
                  <a:rPr lang="en-US" sz="2000" dirty="0"/>
                  <a:t>Let’s say that we have a two-qubit circuit. The top qubit q</a:t>
                </a:r>
                <a:r>
                  <a:rPr lang="en-US" sz="2000" baseline="-25000" dirty="0"/>
                  <a:t>0</a:t>
                </a:r>
                <a:r>
                  <a:rPr lang="en-US" sz="2000" dirty="0"/>
                  <a:t> is a control qubit and the bottom, q</a:t>
                </a:r>
                <a:r>
                  <a:rPr lang="en-US" sz="2000" baseline="-25000" dirty="0"/>
                  <a:t>1</a:t>
                </a:r>
                <a:r>
                  <a:rPr lang="en-US" sz="2000" dirty="0"/>
                  <a:t> is a target qubit.</a:t>
                </a:r>
              </a:p>
              <a:p>
                <a:pPr marL="342900" indent="-342900">
                  <a:buFont typeface="Arial" panose="020B0604020202020204" pitchFamily="34" charset="0"/>
                  <a:buChar char="•"/>
                </a:pPr>
                <a:r>
                  <a:rPr lang="en-US" sz="2000" dirty="0"/>
                  <a:t>Our goal is to add a phase to the target qubit and then kickback this phase to the control qubit leaving the target unchanged.</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a:t>After application of the H gate, the top qubit is put into superposition</a:t>
                </a:r>
                <a:r>
                  <a:rPr lang="en-US" sz="2000" baseline="0" dirty="0"/>
                  <a:t> </a:t>
                </a:r>
                <a:r>
                  <a:rPr lang="en-US" sz="2000" dirty="0"/>
                  <a:t>and after the application of the X gate the bottom qubit becomes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1⟩</a:t>
                </a:r>
                <a:r>
                  <a:rPr lang="en-US" sz="2000" dirty="0"/>
                  <a:t>. The two-qubit state </a:t>
                </a:r>
                <a:r>
                  <a:rPr lang="en-US" sz="2000" i="0">
                    <a:solidFill>
                      <a:srgbClr val="002060"/>
                    </a:solidFill>
                    <a:latin typeface="Cambria Math" panose="02040503050406030204" pitchFamily="18" charset="0"/>
                    <a:ea typeface="Cambria Math" panose="02040503050406030204" pitchFamily="18" charset="0"/>
                  </a:rPr>
                  <a:t>├ |𝑆_1 ⟩</a:t>
                </a:r>
                <a:r>
                  <a:rPr lang="en-US" sz="2000" dirty="0"/>
                  <a:t> is given</a:t>
                </a:r>
                <a:r>
                  <a:rPr lang="en-US" sz="2000" baseline="0" dirty="0"/>
                  <a:t> as</a:t>
                </a:r>
                <a:r>
                  <a:rPr lang="en-US" sz="2000" dirty="0"/>
                  <a:t> the Kronecker product of these two states.</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t>The phase gate is then applied to the target qubit when the control qubit is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1⟩</a:t>
                </a:r>
                <a:r>
                  <a:rPr lang="en-US" sz="2000" dirty="0"/>
                  <a:t>, leading to</a:t>
                </a:r>
                <a:r>
                  <a:rPr lang="en-US" sz="2000" baseline="0" dirty="0"/>
                  <a:t> </a:t>
                </a:r>
                <a:r>
                  <a:rPr lang="en-US" sz="2000" dirty="0"/>
                  <a:t>state </a:t>
                </a:r>
                <a:r>
                  <a:rPr lang="en-US" sz="2000" i="0">
                    <a:solidFill>
                      <a:srgbClr val="002060"/>
                    </a:solidFill>
                    <a:latin typeface="Cambria Math" panose="02040503050406030204" pitchFamily="18" charset="0"/>
                    <a:ea typeface="Cambria Math" panose="02040503050406030204" pitchFamily="18" charset="0"/>
                  </a:rPr>
                  <a:t>├ |𝑆_</a:t>
                </a:r>
                <a:r>
                  <a:rPr lang="en-US" sz="2000" b="0" i="0">
                    <a:solidFill>
                      <a:srgbClr val="002060"/>
                    </a:solidFill>
                    <a:latin typeface="Cambria Math" panose="02040503050406030204" pitchFamily="18" charset="0"/>
                    <a:ea typeface="Cambria Math" panose="02040503050406030204" pitchFamily="18" charset="0"/>
                  </a:rPr>
                  <a:t>2 ⟩</a:t>
                </a:r>
                <a:endParaRPr lang="en-US" sz="2000" dirty="0">
                  <a:solidFill>
                    <a:srgbClr val="002060"/>
                  </a:solidFill>
                  <a:ea typeface="Cambria Math" panose="02040503050406030204" pitchFamily="18" charset="0"/>
                </a:endParaRP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t>Since the resulting state is not entangled, it can be written as a Kronecker product, which gives us the final equation. The phase shift applied to the target was kicked-back to the control qubit, leaving the target qubit </a:t>
                </a:r>
                <a:r>
                  <a:rPr lang="en-US" sz="2000" baseline="0" dirty="0"/>
                  <a:t>unchanged</a:t>
                </a:r>
                <a:r>
                  <a:rPr lang="en-US" sz="2000" dirty="0"/>
                  <a:t>.</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a:t>For example, if </a:t>
                </a:r>
                <a:r>
                  <a:rPr lang="en-US" sz="2000" i="0">
                    <a:solidFill>
                      <a:srgbClr val="002060"/>
                    </a:solidFill>
                    <a:latin typeface="Cambria Math" panose="02040503050406030204" pitchFamily="18" charset="0"/>
                    <a:ea typeface="Cambria Math" panose="02040503050406030204" pitchFamily="18" charset="0"/>
                  </a:rPr>
                  <a:t>𝜃</a:t>
                </a:r>
                <a:r>
                  <a:rPr lang="en-US" sz="2000" b="0" i="0">
                    <a:solidFill>
                      <a:srgbClr val="002060"/>
                    </a:solidFill>
                    <a:latin typeface="Cambria Math" panose="02040503050406030204" pitchFamily="18" charset="0"/>
                    <a:ea typeface="Cambria Math" panose="02040503050406030204" pitchFamily="18" charset="0"/>
                  </a:rPr>
                  <a:t>=𝜋</a:t>
                </a:r>
                <a:r>
                  <a:rPr lang="en-US" sz="2000" dirty="0"/>
                  <a:t>/4,</a:t>
                </a:r>
                <a:r>
                  <a:rPr lang="en-US" sz="2000" baseline="0" dirty="0"/>
                  <a:t> the P gate effectively rotated control qubit </a:t>
                </a:r>
                <a:r>
                  <a:rPr lang="en-US" sz="2000" dirty="0"/>
                  <a:t>by </a:t>
                </a:r>
                <a:r>
                  <a:rPr lang="en-US" sz="2000" b="0" i="0">
                    <a:solidFill>
                      <a:srgbClr val="002060"/>
                    </a:solidFill>
                    <a:latin typeface="Cambria Math" panose="02040503050406030204" pitchFamily="18" charset="0"/>
                    <a:ea typeface="Cambria Math" panose="02040503050406030204" pitchFamily="18" charset="0"/>
                  </a:rPr>
                  <a:t>𝜋</a:t>
                </a:r>
                <a:r>
                  <a:rPr lang="en-US" sz="2000" dirty="0"/>
                  <a:t>/4.</a:t>
                </a:r>
                <a:r>
                  <a:rPr lang="en-US" sz="2000" baseline="0" dirty="0"/>
                  <a:t> It’s important to emphasize that this phase cannot actually be seen by a measurement. Measuring the first qubit would result in an equal probability of getting bit 0 and bit 1, Measuring the second qubit will give a bit 1.  </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200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2000" dirty="0"/>
                  <a:t>https://</a:t>
                </a:r>
                <a:r>
                  <a:rPr lang="en-US" sz="2000" dirty="0" err="1"/>
                  <a:t>medium.com</a:t>
                </a:r>
                <a:r>
                  <a:rPr lang="en-US" sz="2000" dirty="0"/>
                  <a:t>/quantum-untangled/a-clever-quantum-trick-54f27e2518a4</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33</a:t>
            </a:fld>
            <a:endParaRPr lang="en-US"/>
          </a:p>
        </p:txBody>
      </p:sp>
    </p:spTree>
    <p:extLst>
      <p:ext uri="{BB962C8B-B14F-4D97-AF65-F5344CB8AC3E}">
        <p14:creationId xmlns:p14="http://schemas.microsoft.com/office/powerpoint/2010/main" val="34731027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Quantum entanglement occurs when two or more qubits share a combined quantum state that cannot be described independently. Their measurement outcomes can then be strongly correlated, so measuring one can immediately tell us something about the other, even when the qubits are far apart.</a:t>
            </a:r>
          </a:p>
        </p:txBody>
      </p:sp>
      <p:sp>
        <p:nvSpPr>
          <p:cNvPr id="4" name="Slide Number Placeholder 3"/>
          <p:cNvSpPr>
            <a:spLocks noGrp="1"/>
          </p:cNvSpPr>
          <p:nvPr>
            <p:ph type="sldNum" sz="quarter" idx="5"/>
          </p:nvPr>
        </p:nvSpPr>
        <p:spPr/>
        <p:txBody>
          <a:bodyPr/>
          <a:lstStyle/>
          <a:p>
            <a:fld id="{1B2CE5E3-B8BD-D040-AC87-D640191DD8F1}" type="slidenum">
              <a:rPr lang="en-US" smtClean="0"/>
              <a:t>34</a:t>
            </a:fld>
            <a:endParaRPr lang="en-US"/>
          </a:p>
        </p:txBody>
      </p:sp>
    </p:spTree>
    <p:extLst>
      <p:ext uri="{BB962C8B-B14F-4D97-AF65-F5344CB8AC3E}">
        <p14:creationId xmlns:p14="http://schemas.microsoft.com/office/powerpoint/2010/main" val="20333920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Qubits can be entangled using the circuit shown in the image, often called a </a:t>
            </a:r>
            <a:r>
              <a:rPr lang="en-ZA" b="0" dirty="0"/>
              <a:t>Bell circuit</a:t>
            </a:r>
            <a:r>
              <a:rPr lang="en-ZA" dirty="0"/>
              <a:t>, named after physicist John Bell.</a:t>
            </a:r>
          </a:p>
          <a:p>
            <a:pPr algn="just"/>
            <a:endParaRPr lang="en-ZA" dirty="0"/>
          </a:p>
          <a:p>
            <a:pPr marL="171450" indent="-171450" algn="l">
              <a:buFont typeface="Arial" panose="020B0604020202020204" pitchFamily="34" charset="0"/>
              <a:buChar char="•"/>
            </a:pPr>
            <a:r>
              <a:rPr lang="en-ZA" dirty="0"/>
              <a:t>First, the upper qubit is placed in superposition using a Hadamard gate. </a:t>
            </a:r>
          </a:p>
          <a:p>
            <a:pPr marL="171450" indent="-171450" algn="l">
              <a:buFont typeface="Arial" panose="020B0604020202020204" pitchFamily="34" charset="0"/>
              <a:buChar char="•"/>
            </a:pPr>
            <a:r>
              <a:rPr lang="en-ZA" dirty="0"/>
              <a:t>Next, a CNOT gate is applied. If the upper qubit is ∣1⟩, the lower qubit is flipped to ∣1⟩. This creates an entangled state in which the two qubits can no longer be described independently. </a:t>
            </a:r>
          </a:p>
          <a:p>
            <a:pPr algn="just"/>
            <a:endParaRPr lang="en-ZA" dirty="0"/>
          </a:p>
          <a:p>
            <a:pPr algn="just"/>
            <a:r>
              <a:rPr lang="en-ZA" b="0" dirty="0"/>
              <a:t>The listing shows a Python program that generates the entangled state, together with a histogram of the measurement results. The histogram clearly shows that the qubits are correlated: on an ideal simulator, the result is either 00 or 11. These two outcomes occur with equal probability, so each individual measurement is random, with a 50%−50% probability distribution.</a:t>
            </a:r>
          </a:p>
        </p:txBody>
      </p:sp>
      <p:sp>
        <p:nvSpPr>
          <p:cNvPr id="4" name="Slide Number Placeholder 3"/>
          <p:cNvSpPr>
            <a:spLocks noGrp="1"/>
          </p:cNvSpPr>
          <p:nvPr>
            <p:ph type="sldNum" sz="quarter" idx="5"/>
          </p:nvPr>
        </p:nvSpPr>
        <p:spPr/>
        <p:txBody>
          <a:bodyPr/>
          <a:lstStyle/>
          <a:p>
            <a:fld id="{1B2CE5E3-B8BD-D040-AC87-D640191DD8F1}" type="slidenum">
              <a:rPr lang="en-US" smtClean="0"/>
              <a:t>35</a:t>
            </a:fld>
            <a:endParaRPr lang="en-US"/>
          </a:p>
        </p:txBody>
      </p:sp>
    </p:spTree>
    <p:extLst>
      <p:ext uri="{BB962C8B-B14F-4D97-AF65-F5344CB8AC3E}">
        <p14:creationId xmlns:p14="http://schemas.microsoft.com/office/powerpoint/2010/main" val="33499642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dirty="0"/>
                  <a:t>It is often useful to transform one Bell state into another. Starting with the standard Bell state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𝐵</m:t>
                            </m:r>
                          </m:e>
                          <m:sub>
                            <m:r>
                              <a:rPr lang="en-US" sz="1200" b="0" i="1" smtClean="0">
                                <a:solidFill>
                                  <a:srgbClr val="002060"/>
                                </a:solidFill>
                                <a:latin typeface="Cambria Math" panose="02040503050406030204" pitchFamily="18" charset="0"/>
                                <a:ea typeface="Cambria Math" panose="02040503050406030204" pitchFamily="18" charset="0"/>
                              </a:rPr>
                              <m:t>00</m:t>
                            </m:r>
                          </m:sub>
                        </m:sSub>
                      </m:e>
                    </m:d>
                  </m:oMath>
                </a14:m>
                <a:r>
                  <a:rPr lang="en-ZA" dirty="0"/>
                  <a:t>, applying Pauli gates to one qubit of the entangled pair can transform it into any of the other Bell states:</a:t>
                </a:r>
              </a:p>
              <a:p>
                <a:endParaRPr lang="en-ZA" b="0" dirty="0"/>
              </a:p>
              <a:p>
                <a:pPr marL="171450" indent="-171450" algn="just">
                  <a:buFont typeface="Arial" panose="020B0604020202020204" pitchFamily="34" charset="0"/>
                  <a:buChar char="•"/>
                </a:pPr>
                <a:r>
                  <a:rPr lang="en-ZA" dirty="0"/>
                  <a:t>Applying the Pauli-X gate gives</a:t>
                </a:r>
                <a:r>
                  <a:rPr lang="en-ZA" b="0" dirty="0"/>
                  <a:t>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𝐵</m:t>
                            </m:r>
                          </m:e>
                          <m:sub>
                            <m:r>
                              <a:rPr lang="en-US" sz="1200" b="0" i="1" smtClean="0">
                                <a:solidFill>
                                  <a:srgbClr val="002060"/>
                                </a:solidFill>
                                <a:latin typeface="Cambria Math" panose="02040503050406030204" pitchFamily="18" charset="0"/>
                                <a:ea typeface="Cambria Math" panose="02040503050406030204" pitchFamily="18" charset="0"/>
                              </a:rPr>
                              <m:t>01</m:t>
                            </m:r>
                          </m:sub>
                        </m:sSub>
                      </m:e>
                    </m:d>
                  </m:oMath>
                </a14:m>
                <a:r>
                  <a:rPr lang="en-ZA" b="0" dirty="0"/>
                  <a:t>.</a:t>
                </a:r>
              </a:p>
              <a:p>
                <a:pPr marL="171450" indent="-171450" algn="just">
                  <a:buFont typeface="Arial" panose="020B0604020202020204" pitchFamily="34" charset="0"/>
                  <a:buChar char="•"/>
                </a:pPr>
                <a:r>
                  <a:rPr lang="en-ZA" b="0" dirty="0"/>
                  <a:t>Applying the Pauli-Z gate gives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𝐵</m:t>
                            </m:r>
                          </m:e>
                          <m:sub>
                            <m:r>
                              <a:rPr lang="en-US" sz="1200" b="0" i="1" smtClean="0">
                                <a:solidFill>
                                  <a:srgbClr val="002060"/>
                                </a:solidFill>
                                <a:latin typeface="Cambria Math" panose="02040503050406030204" pitchFamily="18" charset="0"/>
                                <a:ea typeface="Cambria Math" panose="02040503050406030204" pitchFamily="18" charset="0"/>
                              </a:rPr>
                              <m:t>10</m:t>
                            </m:r>
                          </m:sub>
                        </m:sSub>
                      </m:e>
                    </m:d>
                  </m:oMath>
                </a14:m>
                <a:r>
                  <a:rPr lang="en-ZA" b="0" dirty="0"/>
                  <a:t>.</a:t>
                </a:r>
              </a:p>
              <a:p>
                <a:pPr marL="171450" indent="-171450" algn="just">
                  <a:buFont typeface="Arial" panose="020B0604020202020204" pitchFamily="34" charset="0"/>
                  <a:buChar char="•"/>
                </a:pPr>
                <a:r>
                  <a:rPr lang="en-ZA" dirty="0"/>
                  <a:t>Applying both the Pauli-X and Pauli-Z gates gives</a:t>
                </a:r>
                <a14:m>
                  <m:oMath xmlns:m="http://schemas.openxmlformats.org/officeDocument/2006/math">
                    <m:r>
                      <a:rPr lang="en-US" sz="1200" b="0" i="0" smtClean="0">
                        <a:solidFill>
                          <a:srgbClr val="002060"/>
                        </a:solidFill>
                        <a:latin typeface="Cambria Math" panose="02040503050406030204" pitchFamily="18" charset="0"/>
                        <a:ea typeface="Cambria Math" panose="02040503050406030204" pitchFamily="18" charset="0"/>
                      </a:rPr>
                      <m:t> </m:t>
                    </m:r>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𝐵</m:t>
                            </m:r>
                          </m:e>
                          <m:sub>
                            <m:r>
                              <a:rPr lang="en-US" sz="1200" b="0" i="1" smtClean="0">
                                <a:solidFill>
                                  <a:srgbClr val="002060"/>
                                </a:solidFill>
                                <a:latin typeface="Cambria Math" panose="02040503050406030204" pitchFamily="18" charset="0"/>
                                <a:ea typeface="Cambria Math" panose="02040503050406030204" pitchFamily="18" charset="0"/>
                              </a:rPr>
                              <m:t>11</m:t>
                            </m:r>
                          </m:sub>
                        </m:sSub>
                      </m:e>
                    </m:d>
                  </m:oMath>
                </a14:m>
                <a:endParaRPr lang="en-US" sz="1200" b="0" dirty="0">
                  <a:solidFill>
                    <a:srgbClr val="002060"/>
                  </a:solidFill>
                  <a:ea typeface="Cambria Math" panose="02040503050406030204" pitchFamily="18" charset="0"/>
                </a:endParaRPr>
              </a:p>
              <a:p>
                <a:pPr marL="171450" indent="-171450" algn="just">
                  <a:buFont typeface="Arial" panose="020B0604020202020204" pitchFamily="34" charset="0"/>
                  <a:buChar char="•"/>
                </a:pPr>
                <a:endParaRPr lang="en-ZA" b="0" dirty="0"/>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ZA" b="0" dirty="0"/>
                  <a:t>Note that the terms are usually written in the standard order, so</a:t>
                </a:r>
                <a:r>
                  <a:rPr lang="en-ZA" b="0" baseline="0" dirty="0"/>
                  <a:t>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𝐵</m:t>
                            </m:r>
                          </m:e>
                          <m:sub>
                            <m:r>
                              <a:rPr lang="en-US" sz="1200" i="1">
                                <a:solidFill>
                                  <a:srgbClr val="002060"/>
                                </a:solidFill>
                                <a:latin typeface="Cambria Math" panose="02040503050406030204" pitchFamily="18" charset="0"/>
                                <a:ea typeface="Cambria Math" panose="02040503050406030204" pitchFamily="18" charset="0"/>
                              </a:rPr>
                              <m:t>0</m:t>
                            </m:r>
                            <m:r>
                              <a:rPr lang="en-US" sz="1200" b="0" i="1" smtClean="0">
                                <a:solidFill>
                                  <a:srgbClr val="002060"/>
                                </a:solidFill>
                                <a:latin typeface="Cambria Math" panose="02040503050406030204" pitchFamily="18" charset="0"/>
                                <a:ea typeface="Cambria Math" panose="02040503050406030204" pitchFamily="18" charset="0"/>
                              </a:rPr>
                              <m:t>1</m:t>
                            </m:r>
                          </m:sub>
                        </m:sSub>
                      </m:e>
                    </m:d>
                    <m:r>
                      <a:rPr lang="en-US" sz="1200" b="0" i="1" smtClean="0">
                        <a:solidFill>
                          <a:srgbClr val="002060"/>
                        </a:solidFill>
                        <a:latin typeface="Cambria Math" panose="02040503050406030204" pitchFamily="18" charset="0"/>
                        <a:ea typeface="Cambria Math" panose="02040503050406030204" pitchFamily="18" charset="0"/>
                      </a:rPr>
                      <m:t>=</m:t>
                    </m:r>
                    <m:f>
                      <m:fPr>
                        <m:ctrlPr>
                          <a:rPr lang="en-US" sz="12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10</m:t>
                            </m:r>
                          </m:e>
                        </m:d>
                        <m:r>
                          <a:rPr lang="en-US" sz="12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01</m:t>
                            </m:r>
                          </m:e>
                        </m:d>
                      </m:num>
                      <m:den>
                        <m:rad>
                          <m:radPr>
                            <m:degHide m:val="on"/>
                            <m:ctrlPr>
                              <a:rPr lang="en-US" sz="1200" i="1">
                                <a:solidFill>
                                  <a:srgbClr val="002060"/>
                                </a:solidFill>
                                <a:latin typeface="Cambria Math" panose="02040503050406030204" pitchFamily="18" charset="0"/>
                                <a:ea typeface="Cambria Math" panose="02040503050406030204" pitchFamily="18" charset="0"/>
                              </a:rPr>
                            </m:ctrlPr>
                          </m:radPr>
                          <m:deg/>
                          <m:e>
                            <m:r>
                              <a:rPr lang="en-US" sz="1200" i="1">
                                <a:solidFill>
                                  <a:srgbClr val="002060"/>
                                </a:solidFill>
                                <a:latin typeface="Cambria Math" panose="02040503050406030204" pitchFamily="18" charset="0"/>
                                <a:ea typeface="Cambria Math" panose="02040503050406030204" pitchFamily="18" charset="0"/>
                              </a:rPr>
                              <m:t>2</m:t>
                            </m:r>
                          </m:e>
                        </m:rad>
                      </m:den>
                    </m:f>
                  </m:oMath>
                </a14:m>
                <a:r>
                  <a:rPr lang="en-ZA" b="0" dirty="0"/>
                  <a:t> is written as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𝐵</m:t>
                            </m:r>
                          </m:e>
                          <m:sub>
                            <m:r>
                              <a:rPr lang="en-US" sz="1200" i="1">
                                <a:solidFill>
                                  <a:srgbClr val="002060"/>
                                </a:solidFill>
                                <a:latin typeface="Cambria Math" panose="02040503050406030204" pitchFamily="18" charset="0"/>
                                <a:ea typeface="Cambria Math" panose="02040503050406030204" pitchFamily="18" charset="0"/>
                              </a:rPr>
                              <m:t>0</m:t>
                            </m:r>
                            <m:r>
                              <a:rPr lang="en-US" sz="1200" b="0" i="1" smtClean="0">
                                <a:solidFill>
                                  <a:srgbClr val="002060"/>
                                </a:solidFill>
                                <a:latin typeface="Cambria Math" panose="02040503050406030204" pitchFamily="18" charset="0"/>
                                <a:ea typeface="Cambria Math" panose="02040503050406030204" pitchFamily="18" charset="0"/>
                              </a:rPr>
                              <m:t>1</m:t>
                            </m:r>
                          </m:sub>
                        </m:sSub>
                      </m:e>
                    </m:d>
                    <m:r>
                      <a:rPr lang="en-US" sz="1200" b="0" i="1" smtClean="0">
                        <a:solidFill>
                          <a:srgbClr val="002060"/>
                        </a:solidFill>
                        <a:latin typeface="Cambria Math" panose="02040503050406030204" pitchFamily="18" charset="0"/>
                        <a:ea typeface="Cambria Math" panose="02040503050406030204" pitchFamily="18" charset="0"/>
                      </a:rPr>
                      <m:t>=</m:t>
                    </m:r>
                    <m:f>
                      <m:fPr>
                        <m:ctrlPr>
                          <a:rPr lang="en-US" sz="12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r>
                              <a:rPr lang="en-US" sz="1200" i="1" smtClean="0">
                                <a:solidFill>
                                  <a:srgbClr val="002060"/>
                                </a:solidFill>
                                <a:latin typeface="Cambria Math" panose="02040503050406030204" pitchFamily="18" charset="0"/>
                                <a:ea typeface="Cambria Math" panose="02040503050406030204" pitchFamily="18" charset="0"/>
                              </a:rPr>
                              <m:t>0</m:t>
                            </m:r>
                            <m:r>
                              <a:rPr lang="en-US" sz="1200" b="0" i="1" smtClean="0">
                                <a:solidFill>
                                  <a:srgbClr val="002060"/>
                                </a:solidFill>
                                <a:latin typeface="Cambria Math" panose="02040503050406030204" pitchFamily="18" charset="0"/>
                                <a:ea typeface="Cambria Math" panose="02040503050406030204" pitchFamily="18" charset="0"/>
                              </a:rPr>
                              <m:t>1</m:t>
                            </m:r>
                          </m:e>
                        </m:d>
                        <m:r>
                          <a:rPr lang="en-US" sz="12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10</m:t>
                            </m:r>
                          </m:e>
                        </m:d>
                      </m:num>
                      <m:den>
                        <m:rad>
                          <m:radPr>
                            <m:degHide m:val="on"/>
                            <m:ctrlPr>
                              <a:rPr lang="en-US" sz="1200" i="1">
                                <a:solidFill>
                                  <a:srgbClr val="002060"/>
                                </a:solidFill>
                                <a:latin typeface="Cambria Math" panose="02040503050406030204" pitchFamily="18" charset="0"/>
                                <a:ea typeface="Cambria Math" panose="02040503050406030204" pitchFamily="18" charset="0"/>
                              </a:rPr>
                            </m:ctrlPr>
                          </m:radPr>
                          <m:deg/>
                          <m:e>
                            <m:r>
                              <a:rPr lang="en-US" sz="1200" i="1">
                                <a:solidFill>
                                  <a:srgbClr val="002060"/>
                                </a:solidFill>
                                <a:latin typeface="Cambria Math" panose="02040503050406030204" pitchFamily="18" charset="0"/>
                                <a:ea typeface="Cambria Math" panose="02040503050406030204" pitchFamily="18" charset="0"/>
                              </a:rPr>
                              <m:t>2</m:t>
                            </m:r>
                          </m:e>
                        </m:rad>
                      </m:den>
                    </m:f>
                  </m:oMath>
                </a14:m>
                <a:r>
                  <a:rPr lang="en-ZA" b="0" dirty="0"/>
                  <a:t>. When the Z gate introduces a minus sign, the state is written so that the minus sign appears as the relative phase between the two terms.</a:t>
                </a:r>
              </a:p>
              <a:p>
                <a:pPr marL="0" indent="0" algn="just">
                  <a:buFont typeface="Arial" panose="020B0604020202020204" pitchFamily="34" charset="0"/>
                  <a:buNone/>
                </a:pPr>
                <a:endParaRPr lang="en-ZA" b="0" dirty="0"/>
              </a:p>
            </p:txBody>
          </p:sp>
        </mc:Choice>
        <mc:Fallback xmlns="">
          <p:sp>
            <p:nvSpPr>
              <p:cNvPr id="3" name="Notes Placeholder 2"/>
              <p:cNvSpPr>
                <a:spLocks noGrp="1"/>
              </p:cNvSpPr>
              <p:nvPr>
                <p:ph type="body" idx="1"/>
              </p:nvPr>
            </p:nvSpPr>
            <p:spPr/>
            <p:txBody>
              <a:bodyPr/>
              <a:lstStyle/>
              <a:p>
                <a:pPr marL="0" indent="0">
                  <a:buFont typeface="+mj-lt"/>
                  <a:buNone/>
                </a:pPr>
                <a:r>
                  <a:rPr lang="en-US" sz="2000" dirty="0" err="1"/>
                  <a:t>Ako</a:t>
                </a:r>
                <a:r>
                  <a:rPr lang="en-US" sz="2000" dirty="0"/>
                  <a:t> </a:t>
                </a:r>
                <a:r>
                  <a:rPr lang="en-US" sz="2000" dirty="0" err="1"/>
                  <a:t>primenimo</a:t>
                </a:r>
                <a:r>
                  <a:rPr lang="en-US" sz="2000" dirty="0"/>
                  <a:t> </a:t>
                </a:r>
                <a:r>
                  <a:rPr lang="en-US" sz="2000" dirty="0" err="1"/>
                  <a:t>isti</a:t>
                </a:r>
                <a:r>
                  <a:rPr lang="en-US" sz="2000" dirty="0"/>
                  <a:t> </a:t>
                </a:r>
                <a:r>
                  <a:rPr lang="en-US" sz="2000" dirty="0" err="1"/>
                  <a:t>metod</a:t>
                </a:r>
                <a:r>
                  <a:rPr lang="en-US" sz="2000" dirty="0"/>
                  <a:t> </a:t>
                </a:r>
                <a:r>
                  <a:rPr lang="en-US" sz="2000" dirty="0" err="1"/>
                  <a:t>na</a:t>
                </a:r>
                <a:r>
                  <a:rPr lang="en-US" sz="2000" dirty="0"/>
                  <a:t> </a:t>
                </a:r>
                <a:r>
                  <a:rPr lang="en-US" sz="2000" dirty="0" err="1"/>
                  <a:t>prvi</a:t>
                </a:r>
                <a:r>
                  <a:rPr lang="en-US" sz="2000" dirty="0"/>
                  <a:t> </a:t>
                </a:r>
                <a:r>
                  <a:rPr lang="en-US" sz="2000" dirty="0" err="1"/>
                  <a:t>kubit</a:t>
                </a:r>
                <a:r>
                  <a:rPr lang="en-US" sz="2000" dirty="0"/>
                  <a:t> </a:t>
                </a:r>
                <a:r>
                  <a:rPr lang="en-US" sz="2000" dirty="0" err="1"/>
                  <a:t>dobicemo</a:t>
                </a:r>
                <a:r>
                  <a:rPr lang="en-US" sz="2000" dirty="0"/>
                  <a:t> </a:t>
                </a:r>
                <a:r>
                  <a:rPr lang="en-US" sz="2000" dirty="0" err="1"/>
                  <a:t>iste</a:t>
                </a:r>
                <a:r>
                  <a:rPr lang="en-US" sz="2000" dirty="0"/>
                  <a:t> </a:t>
                </a:r>
                <a:r>
                  <a:rPr lang="en-US" sz="2000" dirty="0" err="1"/>
                  <a:t>transformacije</a:t>
                </a:r>
                <a:r>
                  <a:rPr lang="en-US" sz="2000" dirty="0"/>
                  <a:t>. </a:t>
                </a:r>
                <a:r>
                  <a:rPr lang="en-US" sz="2000" dirty="0" err="1"/>
                  <a:t>Takodje</a:t>
                </a:r>
                <a:r>
                  <a:rPr lang="en-US" sz="2000" dirty="0"/>
                  <a:t>, </a:t>
                </a:r>
                <a:r>
                  <a:rPr lang="en-US" sz="2000" dirty="0" err="1"/>
                  <a:t>posto</a:t>
                </a:r>
                <a:r>
                  <a:rPr lang="en-US" sz="2000" dirty="0"/>
                  <a:t> </a:t>
                </a:r>
                <a:r>
                  <a:rPr lang="en-US" sz="2000" dirty="0" err="1"/>
                  <a:t>su</a:t>
                </a:r>
                <a:r>
                  <a:rPr lang="en-US" sz="2000" dirty="0"/>
                  <a:t> </a:t>
                </a:r>
                <a:r>
                  <a:rPr lang="en-US" sz="2000" dirty="0" err="1"/>
                  <a:t>kvantne</a:t>
                </a:r>
                <a:r>
                  <a:rPr lang="en-US" sz="2000" dirty="0"/>
                  <a:t> </a:t>
                </a:r>
                <a:r>
                  <a:rPr lang="en-US" sz="2000" dirty="0" err="1"/>
                  <a:t>operacije</a:t>
                </a:r>
                <a:r>
                  <a:rPr lang="en-US" sz="2000" dirty="0"/>
                  <a:t> </a:t>
                </a:r>
                <a:r>
                  <a:rPr lang="en-US" sz="2000" dirty="0" err="1"/>
                  <a:t>reverzibilne</a:t>
                </a:r>
                <a:r>
                  <a:rPr lang="en-US" sz="2000" dirty="0"/>
                  <a:t> </a:t>
                </a:r>
                <a:r>
                  <a:rPr lang="en-US" sz="2000" dirty="0" err="1"/>
                  <a:t>ponavljanjem</a:t>
                </a:r>
                <a:r>
                  <a:rPr lang="en-US" sz="2000" dirty="0"/>
                  <a:t> </a:t>
                </a:r>
                <a:r>
                  <a:rPr lang="en-US" sz="2000" dirty="0" err="1"/>
                  <a:t>istih</a:t>
                </a:r>
                <a:r>
                  <a:rPr lang="en-US" sz="2000" dirty="0"/>
                  <a:t> kola </a:t>
                </a:r>
                <a:r>
                  <a:rPr lang="en-US" sz="2000" dirty="0" err="1"/>
                  <a:t>lako</a:t>
                </a:r>
                <a:r>
                  <a:rPr lang="en-US" sz="2000" baseline="0" dirty="0"/>
                  <a:t> se </a:t>
                </a:r>
                <a:r>
                  <a:rPr lang="en-US" sz="2000" dirty="0" err="1"/>
                  <a:t>rekonstruise</a:t>
                </a:r>
                <a:r>
                  <a:rPr lang="en-US" sz="2000" dirty="0"/>
                  <a:t> </a:t>
                </a:r>
                <a:r>
                  <a:rPr lang="en-US" sz="2000" dirty="0" err="1"/>
                  <a:t>stanje</a:t>
                </a:r>
                <a:r>
                  <a:rPr lang="en-US" sz="2000" dirty="0"/>
                  <a:t>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𝐵_00 ⟩</a:t>
                </a:r>
                <a:r>
                  <a:rPr lang="en-US" sz="2000" dirty="0"/>
                  <a:t>. </a:t>
                </a:r>
                <a:r>
                  <a:rPr lang="en-US" sz="2000" baseline="0" dirty="0"/>
                  <a:t>Kao </a:t>
                </a:r>
                <a:r>
                  <a:rPr lang="en-US" sz="2000" baseline="0" dirty="0" err="1"/>
                  <a:t>sto</a:t>
                </a:r>
                <a:r>
                  <a:rPr lang="en-US" sz="2000" baseline="0" dirty="0"/>
                  <a:t> </a:t>
                </a:r>
                <a:r>
                  <a:rPr lang="en-US" sz="2000" baseline="0" dirty="0" err="1"/>
                  <a:t>cemo</a:t>
                </a:r>
                <a:r>
                  <a:rPr lang="en-US" sz="2000" baseline="0" dirty="0"/>
                  <a:t> </a:t>
                </a:r>
                <a:r>
                  <a:rPr lang="en-US" sz="2000" baseline="0" dirty="0" err="1"/>
                  <a:t>videti</a:t>
                </a:r>
                <a:r>
                  <a:rPr lang="en-US" sz="2000" baseline="0" dirty="0"/>
                  <a:t>, </a:t>
                </a:r>
                <a:r>
                  <a:rPr lang="en-US" sz="2000" baseline="0" dirty="0" err="1"/>
                  <a:t>ove</a:t>
                </a:r>
                <a:r>
                  <a:rPr lang="en-US" sz="2000" baseline="0" dirty="0"/>
                  <a:t> se </a:t>
                </a:r>
                <a:r>
                  <a:rPr lang="en-US" sz="2000" baseline="0" dirty="0" err="1"/>
                  <a:t>konfiguracije</a:t>
                </a:r>
                <a:r>
                  <a:rPr lang="en-US" sz="2000" baseline="0" dirty="0"/>
                  <a:t> </a:t>
                </a:r>
                <a:r>
                  <a:rPr lang="en-US" sz="2000" baseline="0" dirty="0" err="1"/>
                  <a:t>cesto</a:t>
                </a:r>
                <a:r>
                  <a:rPr lang="en-US" sz="2000" baseline="0" dirty="0"/>
                  <a:t> </a:t>
                </a:r>
                <a:r>
                  <a:rPr lang="en-US" sz="2000" baseline="0" dirty="0" err="1"/>
                  <a:t>koriste</a:t>
                </a:r>
                <a:r>
                  <a:rPr lang="en-US" sz="2000" baseline="0" dirty="0"/>
                  <a:t> u </a:t>
                </a:r>
                <a:r>
                  <a:rPr lang="en-US" sz="2000" baseline="0" dirty="0" err="1"/>
                  <a:t>kvantnim</a:t>
                </a:r>
                <a:r>
                  <a:rPr lang="en-US" sz="2000" baseline="0" dirty="0"/>
                  <a:t> </a:t>
                </a:r>
                <a:r>
                  <a:rPr lang="en-US" sz="2000" baseline="0" dirty="0" err="1"/>
                  <a:t>komunikacijama</a:t>
                </a:r>
                <a:r>
                  <a:rPr lang="en-US" sz="2000" baseline="0" dirty="0"/>
                  <a:t>.</a:t>
                </a: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36</a:t>
            </a:fld>
            <a:endParaRPr lang="en-US"/>
          </a:p>
        </p:txBody>
      </p:sp>
    </p:spTree>
    <p:extLst>
      <p:ext uri="{BB962C8B-B14F-4D97-AF65-F5344CB8AC3E}">
        <p14:creationId xmlns:p14="http://schemas.microsoft.com/office/powerpoint/2010/main" val="26165039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As shown earlier, measuring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𝐵</m:t>
                            </m:r>
                          </m:e>
                          <m:sub>
                            <m:r>
                              <a:rPr lang="en-US" sz="1200" b="0" i="1" smtClean="0">
                                <a:solidFill>
                                  <a:srgbClr val="002060"/>
                                </a:solidFill>
                                <a:latin typeface="Cambria Math" panose="02040503050406030204" pitchFamily="18" charset="0"/>
                                <a:ea typeface="Cambria Math" panose="02040503050406030204" pitchFamily="18" charset="0"/>
                              </a:rPr>
                              <m:t>00</m:t>
                            </m:r>
                          </m:sub>
                        </m:sSub>
                      </m:e>
                    </m:d>
                  </m:oMath>
                </a14:m>
                <a:r>
                  <a:rPr lang="en-ZA" b="0" dirty="0"/>
                  <a:t>⟩ or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𝐵</m:t>
                            </m:r>
                          </m:e>
                          <m:sub>
                            <m:r>
                              <a:rPr lang="en-US" sz="1200" b="0" i="1" smtClean="0">
                                <a:solidFill>
                                  <a:srgbClr val="002060"/>
                                </a:solidFill>
                                <a:latin typeface="Cambria Math" panose="02040503050406030204" pitchFamily="18" charset="0"/>
                                <a:ea typeface="Cambria Math" panose="02040503050406030204" pitchFamily="18" charset="0"/>
                              </a:rPr>
                              <m:t>10</m:t>
                            </m:r>
                          </m:sub>
                        </m:sSub>
                      </m:e>
                    </m:d>
                  </m:oMath>
                </a14:m>
                <a:r>
                  <a:rPr lang="en-ZA" b="0" dirty="0"/>
                  <a:t> produces correlated outcomes: either 00 or 11. </a:t>
                </a:r>
              </a:p>
              <a:p>
                <a:pPr algn="just"/>
                <a:r>
                  <a:rPr lang="en-ZA" b="0" dirty="0"/>
                  <a:t>Measuring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𝐵</m:t>
                            </m:r>
                          </m:e>
                          <m:sub>
                            <m:r>
                              <a:rPr lang="en-US" sz="1200" b="0" i="1" smtClean="0">
                                <a:solidFill>
                                  <a:srgbClr val="002060"/>
                                </a:solidFill>
                                <a:latin typeface="Cambria Math" panose="02040503050406030204" pitchFamily="18" charset="0"/>
                                <a:ea typeface="Cambria Math" panose="02040503050406030204" pitchFamily="18" charset="0"/>
                              </a:rPr>
                              <m:t>01</m:t>
                            </m:r>
                          </m:sub>
                        </m:sSub>
                      </m:e>
                    </m:d>
                  </m:oMath>
                </a14:m>
                <a:r>
                  <a:rPr lang="en-ZA" b="0" dirty="0"/>
                  <a:t> or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𝐵</m:t>
                            </m:r>
                          </m:e>
                          <m:sub>
                            <m:r>
                              <a:rPr lang="en-US" sz="1200" b="0" i="1" smtClean="0">
                                <a:solidFill>
                                  <a:srgbClr val="002060"/>
                                </a:solidFill>
                                <a:latin typeface="Cambria Math" panose="02040503050406030204" pitchFamily="18" charset="0"/>
                                <a:ea typeface="Cambria Math" panose="02040503050406030204" pitchFamily="18" charset="0"/>
                              </a:rPr>
                              <m:t>11</m:t>
                            </m:r>
                          </m:sub>
                        </m:sSub>
                      </m:e>
                    </m:d>
                  </m:oMath>
                </a14:m>
                <a:r>
                  <a:rPr lang="en-ZA" b="0" dirty="0"/>
                  <a:t> produces anti-correlated outcomes: either 01 or 10. </a:t>
                </a:r>
              </a:p>
              <a:p>
                <a:pPr algn="just"/>
                <a:endParaRPr lang="en-ZA" b="0" dirty="0"/>
              </a:p>
              <a:p>
                <a:pPr algn="just"/>
                <a:r>
                  <a:rPr lang="en-ZA" b="0" dirty="0"/>
                  <a:t>The relative phase distinguishes the Bell states but does not change these computational-basis measurement correlations. </a:t>
                </a:r>
              </a:p>
              <a:p>
                <a:pPr algn="just"/>
                <a:endParaRPr lang="en-ZA" b="0" dirty="0"/>
              </a:p>
              <a:p>
                <a:pPr algn="just"/>
                <a:r>
                  <a:rPr lang="en-ZA" dirty="0"/>
                  <a:t>These correlations are an important resource in quantum computing and are used in many quantum algorithms, communication protocols, and other quantum applications.</a:t>
                </a:r>
                <a:endParaRPr lang="en-ZA" b="0" dirty="0"/>
              </a:p>
            </p:txBody>
          </p:sp>
        </mc:Choice>
        <mc:Fallback xmlns="">
          <p:sp>
            <p:nvSpPr>
              <p:cNvPr id="3" name="Notes Placeholder 2"/>
              <p:cNvSpPr>
                <a:spLocks noGrp="1"/>
              </p:cNvSpPr>
              <p:nvPr>
                <p:ph type="body" idx="1"/>
              </p:nvPr>
            </p:nvSpPr>
            <p:spPr/>
            <p:txBody>
              <a:bodyPr/>
              <a:lstStyle/>
              <a:p>
                <a:pPr marL="171450" indent="-171450" algn="just">
                  <a:buFont typeface="Arial" panose="020B0604020202020204" pitchFamily="34" charset="0"/>
                  <a:buChar char="•"/>
                </a:pPr>
                <a:r>
                  <a:rPr lang="en-ZA" b="0" dirty="0"/>
                  <a:t>We have shown that measuring the Bell state </a:t>
                </a: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𝐵_00 ⟩</a:t>
                </a:r>
                <a:r>
                  <a:rPr lang="en-ZA" b="0" dirty="0"/>
                  <a:t> results in correlated outcomes. The qubits will always be measured as either 00 or 11, each with a 50% probability. Importantly, the measurement results remain correlated regardless of whether the qubits are measured simultaneously or at different times.</a:t>
                </a:r>
              </a:p>
              <a:p>
                <a:pPr marL="171450" indent="-171450" algn="just">
                  <a:buFont typeface="Arial" panose="020B0604020202020204" pitchFamily="34" charset="0"/>
                  <a:buChar char="•"/>
                </a:pPr>
                <a:r>
                  <a:rPr lang="en-ZA" b="0" dirty="0"/>
                  <a:t>The same applies to the Bell state </a:t>
                </a: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𝐵_10 ⟩</a:t>
                </a:r>
                <a:r>
                  <a:rPr lang="en-ZA" b="0" dirty="0"/>
                  <a:t>. Since the global phase (− sign) does not affect measurement outcomes, the two qubits will always yield the same result when measured.</a:t>
                </a:r>
              </a:p>
              <a:p>
                <a:pPr marL="171450" indent="-171450" algn="just">
                  <a:buFont typeface="Arial" panose="020B0604020202020204" pitchFamily="34" charset="0"/>
                  <a:buChar char="•"/>
                </a:pPr>
                <a:r>
                  <a:rPr lang="en-ZA" b="0" dirty="0"/>
                  <a:t>In contrast, measuring the Bell state </a:t>
                </a: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𝐵_01 ⟩</a:t>
                </a:r>
                <a:r>
                  <a:rPr lang="en-ZA" b="0" dirty="0"/>
                  <a:t> gives opposite results for each qubit. If one qubit is measured as 0, the other will always be 1, and vice versa. This type of correlation is known as anti-correlation.</a:t>
                </a:r>
              </a:p>
              <a:p>
                <a:pPr marL="171450" indent="-171450" algn="just">
                  <a:buFont typeface="Arial" panose="020B0604020202020204" pitchFamily="34" charset="0"/>
                  <a:buChar char="•"/>
                </a:pPr>
                <a:r>
                  <a:rPr lang="en-ZA" b="0" dirty="0"/>
                  <a:t>The same anti-correlation property holds for the Bell state </a:t>
                </a:r>
                <a:r>
                  <a:rPr lang="en-US" sz="1200" i="0">
                    <a:solidFill>
                      <a:srgbClr val="002060"/>
                    </a:solidFill>
                    <a:latin typeface="Cambria Math" panose="02040503050406030204" pitchFamily="18" charset="0"/>
                    <a:ea typeface="Cambria Math" panose="02040503050406030204" pitchFamily="18" charset="0"/>
                  </a:rPr>
                  <a:t>├ |</a:t>
                </a:r>
                <a:r>
                  <a:rPr lang="en-US" sz="1200" b="0" i="0">
                    <a:solidFill>
                      <a:srgbClr val="002060"/>
                    </a:solidFill>
                    <a:latin typeface="Cambria Math" panose="02040503050406030204" pitchFamily="18" charset="0"/>
                    <a:ea typeface="Cambria Math" panose="02040503050406030204" pitchFamily="18" charset="0"/>
                  </a:rPr>
                  <a:t>𝐵_11 ⟩</a:t>
                </a:r>
                <a:r>
                  <a:rPr lang="en-ZA" b="0" dirty="0"/>
                  <a:t>.</a:t>
                </a:r>
              </a:p>
              <a:p>
                <a:pPr algn="just"/>
                <a:endParaRPr lang="en-ZA" b="0" dirty="0"/>
              </a:p>
              <a:p>
                <a:pPr algn="just"/>
                <a:r>
                  <a:rPr lang="en-ZA" b="0" dirty="0"/>
                  <a:t>This property is frequently utilized in quantum communication. Before transmitting information, two parties exchange entangled qubits. The sender then measures their qubit, knowing that the receiver will obtain either the same or the opposite value, depending on which Bell state they shared.</a:t>
                </a:r>
              </a:p>
              <a:p>
                <a:pPr algn="just"/>
                <a:endParaRPr lang="en-ZA" b="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37</a:t>
            </a:fld>
            <a:endParaRPr lang="en-US"/>
          </a:p>
        </p:txBody>
      </p:sp>
    </p:spTree>
    <p:extLst>
      <p:ext uri="{BB962C8B-B14F-4D97-AF65-F5344CB8AC3E}">
        <p14:creationId xmlns:p14="http://schemas.microsoft.com/office/powerpoint/2010/main" val="16579515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Bell-state measurement allows us to distinguish between the four Bell states. Since quantum gates are reversible, we apply the Bell-state preparation circuit in reverse: first a CNOT gate, followed by a Hadamard gate.</a:t>
                </a:r>
              </a:p>
              <a:p>
                <a:pPr algn="just"/>
                <a:endParaRPr lang="en-ZA" b="0" dirty="0"/>
              </a:p>
              <a:p>
                <a:pPr algn="just"/>
                <a:r>
                  <a:rPr lang="en-ZA" b="0" dirty="0"/>
                  <a:t>These operations transform the Bell states into computational basis states, where quantum interference plays an important role. Measuring the two qubits then produces a unique result—00, 01, 10, or 11—that identifies the original Bell state.</a:t>
                </a:r>
              </a:p>
              <a:p>
                <a:pPr algn="just"/>
                <a:endParaRPr lang="en-ZA" b="0" dirty="0"/>
              </a:p>
              <a:p>
                <a:pPr algn="just"/>
                <a:r>
                  <a:rPr lang="en-ZA" b="0" dirty="0"/>
                  <a:t>This process is called measurement in the Bell basis.</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Ponekad </a:t>
                </a:r>
                <a:r>
                  <a:rPr lang="en-US" sz="2000" dirty="0" err="1"/>
                  <a:t>je</a:t>
                </a:r>
                <a:r>
                  <a:rPr lang="en-US" sz="2000" dirty="0"/>
                  <a:t> </a:t>
                </a:r>
                <a:r>
                  <a:rPr lang="en-US" sz="2000" dirty="0" err="1"/>
                  <a:t>potrebno</a:t>
                </a:r>
                <a:r>
                  <a:rPr lang="en-US" sz="2000" dirty="0"/>
                  <a:t> </a:t>
                </a:r>
                <a:r>
                  <a:rPr lang="en-US" sz="2000" dirty="0" err="1"/>
                  <a:t>uraditi</a:t>
                </a:r>
                <a:r>
                  <a:rPr lang="en-US" sz="2000" dirty="0"/>
                  <a:t> </a:t>
                </a:r>
                <a:r>
                  <a:rPr lang="en-US" sz="2000" dirty="0" err="1"/>
                  <a:t>inverziju</a:t>
                </a:r>
                <a:r>
                  <a:rPr lang="en-US" sz="2000" dirty="0"/>
                  <a:t> </a:t>
                </a:r>
                <a:r>
                  <a:rPr lang="en-US" sz="2000" dirty="0" err="1"/>
                  <a:t>Belovih</a:t>
                </a:r>
                <a:r>
                  <a:rPr lang="en-US" sz="2000" dirty="0"/>
                  <a:t> </a:t>
                </a:r>
                <a:r>
                  <a:rPr lang="en-US" sz="2000" dirty="0" err="1"/>
                  <a:t>stanja</a:t>
                </a:r>
                <a:r>
                  <a:rPr lang="en-US" sz="2000" dirty="0"/>
                  <a:t>, </a:t>
                </a:r>
                <a:r>
                  <a:rPr lang="en-US" sz="2000" dirty="0" err="1"/>
                  <a:t>odnosno</a:t>
                </a:r>
                <a:r>
                  <a:rPr lang="en-US" sz="2000" dirty="0"/>
                  <a:t> </a:t>
                </a:r>
                <a:r>
                  <a:rPr lang="en-US" sz="2000" dirty="0" err="1"/>
                  <a:t>rasplesti</a:t>
                </a:r>
                <a:r>
                  <a:rPr lang="en-US" sz="2000" dirty="0"/>
                  <a:t> </a:t>
                </a:r>
                <a:r>
                  <a:rPr lang="en-US" sz="2000" dirty="0" err="1"/>
                  <a:t>kubite</a:t>
                </a:r>
                <a:r>
                  <a:rPr lang="en-US" sz="2000" dirty="0"/>
                  <a:t>. </a:t>
                </a:r>
                <a:r>
                  <a:rPr lang="en-US" sz="2000" dirty="0" err="1"/>
                  <a:t>Posto</a:t>
                </a:r>
                <a:r>
                  <a:rPr lang="en-US" sz="2000" dirty="0"/>
                  <a:t> </a:t>
                </a:r>
                <a:r>
                  <a:rPr lang="en-US" sz="2000" dirty="0" err="1"/>
                  <a:t>su</a:t>
                </a:r>
                <a:r>
                  <a:rPr lang="en-US" sz="2000" dirty="0"/>
                  <a:t> </a:t>
                </a:r>
                <a:r>
                  <a:rPr lang="en-US" sz="2000" dirty="0" err="1"/>
                  <a:t>kvantna</a:t>
                </a:r>
                <a:r>
                  <a:rPr lang="en-US" sz="2000" dirty="0"/>
                  <a:t> kola </a:t>
                </a:r>
                <a:r>
                  <a:rPr lang="en-US" sz="2000" dirty="0" err="1"/>
                  <a:t>reverzibilna</a:t>
                </a:r>
                <a:r>
                  <a:rPr lang="en-US" sz="2000" dirty="0"/>
                  <a:t>, </a:t>
                </a:r>
                <a:r>
                  <a:rPr lang="en-US" sz="2000" dirty="0" err="1"/>
                  <a:t>ovo</a:t>
                </a:r>
                <a:r>
                  <a:rPr lang="en-US" sz="2000" dirty="0"/>
                  <a:t> se </a:t>
                </a:r>
                <a:r>
                  <a:rPr lang="en-US" sz="2000" dirty="0" err="1"/>
                  <a:t>lako</a:t>
                </a:r>
                <a:r>
                  <a:rPr lang="en-US" sz="2000" dirty="0"/>
                  <a:t> </a:t>
                </a:r>
                <a:r>
                  <a:rPr lang="en-US" sz="2000" dirty="0" err="1"/>
                  <a:t>postize</a:t>
                </a:r>
                <a:r>
                  <a:rPr lang="en-US" sz="2000" dirty="0"/>
                  <a:t> </a:t>
                </a:r>
                <a:r>
                  <a:rPr lang="en-US" sz="2000" dirty="0" err="1"/>
                  <a:t>primenom</a:t>
                </a:r>
                <a:r>
                  <a:rPr lang="en-US" sz="2000" dirty="0"/>
                  <a:t> </a:t>
                </a:r>
                <a:r>
                  <a:rPr lang="en-US" sz="2000" dirty="0" err="1"/>
                  <a:t>istih</a:t>
                </a:r>
                <a:r>
                  <a:rPr lang="en-US" sz="2000" dirty="0"/>
                  <a:t> kola </a:t>
                </a:r>
                <a:r>
                  <a:rPr lang="en-US" sz="2000" dirty="0" err="1"/>
                  <a:t>postavljenih</a:t>
                </a:r>
                <a:r>
                  <a:rPr lang="en-US" sz="2000" dirty="0"/>
                  <a:t> </a:t>
                </a:r>
                <a:r>
                  <a:rPr lang="en-US" sz="2000" dirty="0" err="1"/>
                  <a:t>simetricno</a:t>
                </a:r>
                <a:r>
                  <a:rPr lang="en-US" sz="2000" dirty="0"/>
                  <a:t> u </a:t>
                </a:r>
                <a:r>
                  <a:rPr lang="en-US" sz="2000" dirty="0" err="1"/>
                  <a:t>odnosu</a:t>
                </a:r>
                <a:r>
                  <a:rPr lang="en-US" sz="2000" dirty="0"/>
                  <a:t> </a:t>
                </a:r>
                <a:r>
                  <a:rPr lang="en-US" sz="2000" dirty="0" err="1"/>
                  <a:t>na</a:t>
                </a:r>
                <a:r>
                  <a:rPr lang="en-US" sz="2000" dirty="0"/>
                  <a:t> kola </a:t>
                </a:r>
                <a:r>
                  <a:rPr lang="en-US" sz="2000" dirty="0" err="1"/>
                  <a:t>koja</a:t>
                </a:r>
                <a:r>
                  <a:rPr lang="en-US" sz="2000" dirty="0"/>
                  <a:t> </a:t>
                </a:r>
                <a:r>
                  <a:rPr lang="en-US" sz="2000" dirty="0" err="1"/>
                  <a:t>su</a:t>
                </a:r>
                <a:r>
                  <a:rPr lang="en-US" sz="2000" dirty="0"/>
                  <a:t> </a:t>
                </a:r>
                <a:r>
                  <a:rPr lang="en-US" sz="2000" dirty="0" err="1"/>
                  <a:t>kreirala</a:t>
                </a:r>
                <a:r>
                  <a:rPr lang="en-US" sz="2000" dirty="0"/>
                  <a:t> </a:t>
                </a:r>
                <a:r>
                  <a:rPr lang="en-US" sz="2000" dirty="0" err="1"/>
                  <a:t>Belovo</a:t>
                </a:r>
                <a:r>
                  <a:rPr lang="en-US" sz="2000" dirty="0"/>
                  <a:t> </a:t>
                </a:r>
                <a:r>
                  <a:rPr lang="en-US" sz="2000" dirty="0" err="1"/>
                  <a:t>stanje</a:t>
                </a:r>
                <a:r>
                  <a:rPr lang="en-US" sz="2000"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Na </a:t>
                </a:r>
                <a:r>
                  <a:rPr lang="en-US" sz="2000" dirty="0" err="1"/>
                  <a:t>slici</a:t>
                </a:r>
                <a:r>
                  <a:rPr lang="en-US" sz="2000" dirty="0"/>
                  <a:t> </a:t>
                </a:r>
                <a:r>
                  <a:rPr lang="en-US" sz="2000" dirty="0" err="1"/>
                  <a:t>je</a:t>
                </a:r>
                <a:r>
                  <a:rPr lang="en-US" sz="2000" dirty="0"/>
                  <a:t> </a:t>
                </a:r>
                <a:r>
                  <a:rPr lang="en-US" sz="2000" dirty="0" err="1"/>
                  <a:t>prikazano</a:t>
                </a:r>
                <a:r>
                  <a:rPr lang="en-US" sz="2000" dirty="0"/>
                  <a:t> </a:t>
                </a:r>
                <a:r>
                  <a:rPr lang="en-US" sz="2000" dirty="0" err="1"/>
                  <a:t>kolo</a:t>
                </a:r>
                <a:r>
                  <a:rPr lang="en-US" sz="2000" dirty="0"/>
                  <a:t> </a:t>
                </a:r>
                <a:r>
                  <a:rPr lang="en-US" sz="2000" dirty="0" err="1"/>
                  <a:t>koje</a:t>
                </a:r>
                <a:r>
                  <a:rPr lang="en-US" sz="2000" dirty="0"/>
                  <a:t> </a:t>
                </a:r>
                <a:r>
                  <a:rPr lang="en-US" sz="2000" dirty="0" err="1"/>
                  <a:t>generise</a:t>
                </a:r>
                <a:r>
                  <a:rPr lang="en-US" sz="2000" dirty="0"/>
                  <a:t> </a:t>
                </a:r>
                <a:r>
                  <a:rPr lang="en-US" sz="2000" dirty="0" err="1"/>
                  <a:t>speleteno</a:t>
                </a:r>
                <a:r>
                  <a:rPr lang="en-US" sz="2000" dirty="0"/>
                  <a:t> </a:t>
                </a:r>
                <a:r>
                  <a:rPr lang="en-US" sz="2000" dirty="0" err="1"/>
                  <a:t>stanje</a:t>
                </a:r>
                <a:r>
                  <a:rPr lang="en-US" sz="2000" dirty="0"/>
                  <a:t>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𝐵_00 ⟩</a:t>
                </a:r>
                <a:r>
                  <a:rPr lang="en-US" sz="2000" dirty="0"/>
                  <a:t> I </a:t>
                </a:r>
                <a:r>
                  <a:rPr lang="en-US" sz="2000" dirty="0" err="1"/>
                  <a:t>kolo</a:t>
                </a:r>
                <a:r>
                  <a:rPr lang="en-US" sz="2000" dirty="0"/>
                  <a:t> </a:t>
                </a:r>
                <a:r>
                  <a:rPr lang="en-US" sz="2000" dirty="0" err="1"/>
                  <a:t>koje</a:t>
                </a:r>
                <a:r>
                  <a:rPr lang="en-US" sz="2000" baseline="0" dirty="0"/>
                  <a:t> </a:t>
                </a:r>
                <a:r>
                  <a:rPr lang="en-US" sz="2000" baseline="0" dirty="0" err="1"/>
                  <a:t>ga</a:t>
                </a:r>
                <a:r>
                  <a:rPr lang="en-US" sz="2000" baseline="0" dirty="0"/>
                  <a:t> </a:t>
                </a:r>
                <a:r>
                  <a:rPr lang="en-US" sz="2000" baseline="0" dirty="0" err="1"/>
                  <a:t>rasplice</a:t>
                </a:r>
                <a:r>
                  <a:rPr lang="en-US" sz="2000" baseline="0" dirty="0"/>
                  <a:t> </a:t>
                </a:r>
                <a:r>
                  <a:rPr lang="en-US" sz="2000" baseline="0" dirty="0" err="1"/>
                  <a:t>dajuci</a:t>
                </a:r>
                <a:r>
                  <a:rPr lang="en-US" sz="2000" baseline="0" dirty="0"/>
                  <a:t> </a:t>
                </a:r>
                <a:r>
                  <a:rPr lang="en-US" sz="2000" baseline="0" dirty="0" err="1"/>
                  <a:t>na</a:t>
                </a:r>
                <a:r>
                  <a:rPr lang="en-US" sz="2000" baseline="0" dirty="0"/>
                  <a:t> </a:t>
                </a:r>
                <a:r>
                  <a:rPr lang="en-US" sz="2000" baseline="0" dirty="0" err="1"/>
                  <a:t>izlazu</a:t>
                </a:r>
                <a:r>
                  <a:rPr lang="en-US" sz="2000" baseline="0" dirty="0"/>
                  <a:t> </a:t>
                </a:r>
                <a:r>
                  <a:rPr lang="en-US" sz="2000" baseline="0" dirty="0" err="1"/>
                  <a:t>pocetno</a:t>
                </a:r>
                <a:r>
                  <a:rPr lang="en-US" sz="2000" baseline="0" dirty="0"/>
                  <a:t> </a:t>
                </a:r>
                <a:r>
                  <a:rPr lang="en-US" sz="2000" baseline="0" dirty="0" err="1"/>
                  <a:t>stanje</a:t>
                </a:r>
                <a:r>
                  <a:rPr lang="en-US" sz="2000" baseline="0" dirty="0"/>
                  <a:t>. </a:t>
                </a:r>
                <a:r>
                  <a:rPr lang="en-US" sz="2000" baseline="0" dirty="0" err="1"/>
                  <a:t>Iz</a:t>
                </a:r>
                <a:r>
                  <a:rPr lang="en-US" sz="2000" baseline="0" dirty="0"/>
                  <a:t> </a:t>
                </a:r>
                <a:r>
                  <a:rPr lang="en-US" sz="2000" baseline="0" dirty="0" err="1"/>
                  <a:t>izraza</a:t>
                </a:r>
                <a:r>
                  <a:rPr lang="en-US" sz="2000" baseline="0" dirty="0"/>
                  <a:t> </a:t>
                </a:r>
                <a:r>
                  <a:rPr lang="en-US" sz="2000" baseline="0" dirty="0" err="1"/>
                  <a:t>za</a:t>
                </a:r>
                <a:r>
                  <a:rPr lang="en-US" sz="2000" baseline="0" dirty="0"/>
                  <a:t> </a:t>
                </a:r>
                <a:r>
                  <a:rPr lang="en-US" sz="2000" i="0">
                    <a:solidFill>
                      <a:schemeClr val="tx1"/>
                    </a:solidFill>
                    <a:latin typeface="Cambria Math" panose="02040503050406030204" pitchFamily="18" charset="0"/>
                    <a:ea typeface="Cambria Math" panose="02040503050406030204" pitchFamily="18" charset="0"/>
                  </a:rPr>
                  <a:t>├ |〖𝐵′′〗_00 ⟩</a:t>
                </a:r>
                <a:r>
                  <a:rPr lang="en-US" sz="2000" dirty="0"/>
                  <a:t> </a:t>
                </a:r>
                <a:r>
                  <a:rPr lang="en-US" sz="2000" dirty="0" err="1"/>
                  <a:t>vidimo</a:t>
                </a:r>
                <a:r>
                  <a:rPr lang="en-US" sz="2000" dirty="0"/>
                  <a:t> da </a:t>
                </a:r>
                <a:r>
                  <a:rPr lang="en-US" sz="2000" dirty="0" err="1"/>
                  <a:t>dolazi</a:t>
                </a:r>
                <a:r>
                  <a:rPr lang="en-US" sz="2000" dirty="0"/>
                  <a:t> do </a:t>
                </a:r>
                <a:r>
                  <a:rPr lang="en-US" sz="2000" dirty="0" err="1"/>
                  <a:t>kvantne</a:t>
                </a:r>
                <a:r>
                  <a:rPr lang="en-US" sz="2000" dirty="0"/>
                  <a:t> </a:t>
                </a:r>
                <a:r>
                  <a:rPr lang="en-US" sz="2000" dirty="0" err="1"/>
                  <a:t>interferencije</a:t>
                </a:r>
                <a:r>
                  <a:rPr lang="en-US" sz="2000" dirty="0"/>
                  <a:t> </a:t>
                </a:r>
                <a:r>
                  <a:rPr lang="en-US" sz="2000" dirty="0" err="1"/>
                  <a:t>koja</a:t>
                </a:r>
                <a:r>
                  <a:rPr lang="en-US" sz="2000" dirty="0"/>
                  <a:t> </a:t>
                </a:r>
                <a:r>
                  <a:rPr lang="en-US" sz="2000" dirty="0" err="1"/>
                  <a:t>sabira</a:t>
                </a:r>
                <a:r>
                  <a:rPr lang="en-US" sz="2000" dirty="0"/>
                  <a:t>  </a:t>
                </a:r>
                <a:r>
                  <a:rPr lang="en-US" sz="2000" dirty="0" err="1"/>
                  <a:t>stanja</a:t>
                </a:r>
                <a:r>
                  <a:rPr lang="en-US" sz="2000" dirty="0"/>
                  <a:t> </a:t>
                </a:r>
                <a:r>
                  <a:rPr lang="en-US" sz="2000" i="0">
                    <a:solidFill>
                      <a:schemeClr val="tx1"/>
                    </a:solidFill>
                    <a:latin typeface="Cambria Math" panose="02040503050406030204" pitchFamily="18" charset="0"/>
                    <a:ea typeface="Cambria Math" panose="02040503050406030204" pitchFamily="18" charset="0"/>
                  </a:rPr>
                  <a:t>├ |00⟩</a:t>
                </a:r>
                <a:r>
                  <a:rPr lang="en-US" sz="2000" dirty="0"/>
                  <a:t> </a:t>
                </a:r>
                <a:r>
                  <a:rPr lang="en-US" sz="2000" dirty="0" err="1"/>
                  <a:t>i</a:t>
                </a:r>
                <a:r>
                  <a:rPr lang="en-US" sz="2000" dirty="0"/>
                  <a:t> </a:t>
                </a:r>
                <a:r>
                  <a:rPr lang="en-US" sz="2000" dirty="0" err="1"/>
                  <a:t>ponistava</a:t>
                </a:r>
                <a:r>
                  <a:rPr lang="en-US" sz="2000" dirty="0"/>
                  <a:t> </a:t>
                </a:r>
                <a:r>
                  <a:rPr lang="en-US" sz="2000" dirty="0" err="1"/>
                  <a:t>stanja</a:t>
                </a:r>
                <a:r>
                  <a:rPr lang="en-US" sz="2000" baseline="0" dirty="0"/>
                  <a:t> </a:t>
                </a:r>
                <a:r>
                  <a:rPr lang="en-US" sz="2000" i="0">
                    <a:solidFill>
                      <a:schemeClr val="tx1"/>
                    </a:solidFill>
                    <a:latin typeface="Cambria Math" panose="02040503050406030204" pitchFamily="18" charset="0"/>
                    <a:ea typeface="Cambria Math" panose="02040503050406030204" pitchFamily="18" charset="0"/>
                  </a:rPr>
                  <a:t>├ |</a:t>
                </a:r>
                <a:r>
                  <a:rPr lang="en-US" sz="2000" b="0" i="0">
                    <a:solidFill>
                      <a:schemeClr val="tx1"/>
                    </a:solidFill>
                    <a:latin typeface="Cambria Math" panose="02040503050406030204" pitchFamily="18" charset="0"/>
                    <a:ea typeface="Cambria Math" panose="02040503050406030204" pitchFamily="18" charset="0"/>
                  </a:rPr>
                  <a:t>1</a:t>
                </a:r>
                <a:r>
                  <a:rPr lang="en-US" sz="2000" i="0">
                    <a:solidFill>
                      <a:schemeClr val="tx1"/>
                    </a:solidFill>
                    <a:latin typeface="Cambria Math" panose="02040503050406030204" pitchFamily="18" charset="0"/>
                    <a:ea typeface="Cambria Math" panose="02040503050406030204" pitchFamily="18" charset="0"/>
                  </a:rPr>
                  <a:t>0⟩</a:t>
                </a:r>
                <a:r>
                  <a:rPr lang="en-US" sz="2000" dirty="0"/>
                  <a:t>.</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err="1"/>
                  <a:t>Ako</a:t>
                </a:r>
                <a:r>
                  <a:rPr lang="en-US" sz="2000" dirty="0"/>
                  <a:t> </a:t>
                </a:r>
                <a:r>
                  <a:rPr lang="en-US" sz="2000" dirty="0" err="1"/>
                  <a:t>sada</a:t>
                </a:r>
                <a:r>
                  <a:rPr lang="en-US" sz="2000" dirty="0"/>
                  <a:t> </a:t>
                </a:r>
                <a:r>
                  <a:rPr lang="en-US" sz="2000" dirty="0" err="1"/>
                  <a:t>na</a:t>
                </a:r>
                <a:r>
                  <a:rPr lang="en-US" sz="2000" dirty="0"/>
                  <a:t> </a:t>
                </a:r>
                <a:r>
                  <a:rPr lang="en-US" sz="2000" dirty="0" err="1"/>
                  <a:t>izlaz</a:t>
                </a:r>
                <a:r>
                  <a:rPr lang="en-US" sz="2000" dirty="0"/>
                  <a:t> kola </a:t>
                </a:r>
                <a:r>
                  <a:rPr lang="en-US" sz="2000" dirty="0" err="1"/>
                  <a:t>postavimo</a:t>
                </a:r>
                <a:r>
                  <a:rPr lang="en-US" sz="2000" dirty="0"/>
                  <a:t> </a:t>
                </a:r>
                <a:r>
                  <a:rPr lang="en-US" sz="2000" dirty="0" err="1"/>
                  <a:t>merne</a:t>
                </a:r>
                <a:r>
                  <a:rPr lang="en-US" sz="2000" dirty="0"/>
                  <a:t> </a:t>
                </a:r>
                <a:r>
                  <a:rPr lang="en-US" sz="2000" dirty="0" err="1"/>
                  <a:t>instrumente</a:t>
                </a:r>
                <a:r>
                  <a:rPr lang="en-US" sz="2000" dirty="0"/>
                  <a:t>, </a:t>
                </a:r>
                <a:r>
                  <a:rPr lang="en-US" sz="2000" dirty="0" err="1"/>
                  <a:t>zaokruzeni</a:t>
                </a:r>
                <a:r>
                  <a:rPr lang="en-US" sz="2000" dirty="0"/>
                  <a:t> deo kola se </a:t>
                </a:r>
                <a:r>
                  <a:rPr lang="en-US" sz="2000" dirty="0" err="1"/>
                  <a:t>naziva</a:t>
                </a:r>
                <a:r>
                  <a:rPr lang="en-US" sz="2000" dirty="0"/>
                  <a:t> </a:t>
                </a:r>
                <a:r>
                  <a:rPr lang="en-US" sz="2000" dirty="0" err="1"/>
                  <a:t>kolo</a:t>
                </a:r>
                <a:r>
                  <a:rPr lang="en-US" sz="2000" dirty="0"/>
                  <a:t> </a:t>
                </a:r>
                <a:r>
                  <a:rPr lang="en-US" sz="2000" dirty="0" err="1"/>
                  <a:t>za</a:t>
                </a:r>
                <a:r>
                  <a:rPr lang="en-US" sz="2000" dirty="0"/>
                  <a:t> </a:t>
                </a:r>
                <a:r>
                  <a:rPr lang="en-US" sz="2000" dirty="0" err="1"/>
                  <a:t>merenje</a:t>
                </a:r>
                <a:r>
                  <a:rPr lang="en-US" sz="2000" dirty="0"/>
                  <a:t> u </a:t>
                </a:r>
                <a:r>
                  <a:rPr lang="en-US" sz="2000" dirty="0" err="1"/>
                  <a:t>Belovoj</a:t>
                </a:r>
                <a:r>
                  <a:rPr lang="en-US" sz="2000" dirty="0"/>
                  <a:t> </a:t>
                </a:r>
                <a:r>
                  <a:rPr lang="en-US" sz="2000" dirty="0" err="1"/>
                  <a:t>bazi</a:t>
                </a:r>
                <a:r>
                  <a:rPr lang="en-US" sz="2000" dirty="0"/>
                  <a:t> </a:t>
                </a:r>
                <a:r>
                  <a:rPr lang="en-US" sz="2000" dirty="0" err="1"/>
                  <a:t>jer</a:t>
                </a:r>
                <a:r>
                  <a:rPr lang="en-US" sz="2000" dirty="0"/>
                  <a:t> </a:t>
                </a:r>
                <a:r>
                  <a:rPr lang="en-US" sz="2000" dirty="0" err="1"/>
                  <a:t>otkriva</a:t>
                </a:r>
                <a:r>
                  <a:rPr lang="en-US" sz="2000" dirty="0"/>
                  <a:t> </a:t>
                </a:r>
                <a:r>
                  <a:rPr lang="en-US" sz="2000" dirty="0" err="1"/>
                  <a:t>stanje</a:t>
                </a:r>
                <a:r>
                  <a:rPr lang="en-US" sz="2000" dirty="0"/>
                  <a:t> </a:t>
                </a:r>
                <a:r>
                  <a:rPr lang="en-US" sz="2000" dirty="0" err="1"/>
                  <a:t>kubita</a:t>
                </a:r>
                <a:r>
                  <a:rPr lang="en-US" sz="2000" dirty="0"/>
                  <a:t> pre </a:t>
                </a:r>
                <a:r>
                  <a:rPr lang="en-US" sz="2000" dirty="0" err="1"/>
                  <a:t>spregnutosti</a:t>
                </a:r>
                <a:r>
                  <a:rPr lang="en-US" sz="2000" dirty="0"/>
                  <a:t>. </a:t>
                </a:r>
                <a:r>
                  <a:rPr lang="en-US" sz="2000" dirty="0" err="1"/>
                  <a:t>Mozete</a:t>
                </a:r>
                <a:r>
                  <a:rPr lang="en-US" sz="2000" dirty="0"/>
                  <a:t> </a:t>
                </a:r>
                <a:r>
                  <a:rPr lang="en-US" sz="2000" dirty="0" err="1"/>
                  <a:t>proveriti</a:t>
                </a:r>
                <a:r>
                  <a:rPr lang="en-US" sz="2000" dirty="0"/>
                  <a:t> da o</a:t>
                </a:r>
                <a:r>
                  <a:rPr lang="en-US" sz="2000"/>
                  <a:t>vo</a:t>
                </a:r>
                <a:r>
                  <a:rPr lang="en-US" sz="2000" dirty="0"/>
                  <a:t> </a:t>
                </a:r>
                <a:r>
                  <a:rPr lang="en-US" sz="2000" dirty="0" err="1"/>
                  <a:t>kolo</a:t>
                </a:r>
                <a:r>
                  <a:rPr lang="en-US" sz="2000" dirty="0"/>
                  <a:t> </a:t>
                </a:r>
                <a:r>
                  <a:rPr lang="en-US" sz="2000" dirty="0" err="1"/>
                  <a:t>rasplice</a:t>
                </a:r>
                <a:r>
                  <a:rPr lang="en-US" sz="2000" dirty="0"/>
                  <a:t> </a:t>
                </a:r>
                <a:r>
                  <a:rPr lang="en-US" sz="2000" dirty="0" err="1"/>
                  <a:t>sva</a:t>
                </a:r>
                <a:r>
                  <a:rPr lang="en-US" sz="2000" dirty="0"/>
                  <a:t> </a:t>
                </a:r>
                <a:r>
                  <a:rPr lang="en-US" sz="2000" dirty="0" err="1"/>
                  <a:t>Belova</a:t>
                </a:r>
                <a:r>
                  <a:rPr lang="en-US" sz="2000" dirty="0"/>
                  <a:t> </a:t>
                </a:r>
                <a:r>
                  <a:rPr lang="en-US" sz="2000" dirty="0" err="1"/>
                  <a:t>stanja</a:t>
                </a:r>
                <a:r>
                  <a:rPr lang="en-US" sz="2000" dirty="0"/>
                  <a:t>, </a:t>
                </a:r>
                <a:r>
                  <a:rPr lang="en-US" sz="2000" dirty="0" err="1"/>
                  <a:t>odnosno</a:t>
                </a:r>
                <a:r>
                  <a:rPr lang="en-US" sz="2000" dirty="0"/>
                  <a:t> </a:t>
                </a:r>
                <a:r>
                  <a:rPr lang="en-US" sz="2000" dirty="0" err="1"/>
                  <a:t>nije</a:t>
                </a:r>
                <a:r>
                  <a:rPr lang="en-US" sz="2000" dirty="0"/>
                  <a:t> </a:t>
                </a:r>
                <a:r>
                  <a:rPr lang="en-US" sz="2000" dirty="0" err="1"/>
                  <a:t>potrebno</a:t>
                </a:r>
                <a:r>
                  <a:rPr lang="en-US" sz="2000" dirty="0"/>
                  <a:t> </a:t>
                </a:r>
                <a:r>
                  <a:rPr lang="en-US" sz="2000" dirty="0" err="1"/>
                  <a:t>dodavati</a:t>
                </a:r>
                <a:r>
                  <a:rPr lang="en-US" sz="2000" dirty="0"/>
                  <a:t> X kola </a:t>
                </a:r>
                <a:r>
                  <a:rPr lang="en-US" sz="2000" dirty="0" err="1"/>
                  <a:t>koja</a:t>
                </a:r>
                <a:r>
                  <a:rPr lang="en-US" sz="2000" dirty="0"/>
                  <a:t> </a:t>
                </a:r>
                <a:r>
                  <a:rPr lang="en-US" sz="2000" dirty="0" err="1"/>
                  <a:t>su</a:t>
                </a:r>
                <a:r>
                  <a:rPr lang="en-US" sz="2000" dirty="0"/>
                  <a:t> </a:t>
                </a:r>
                <a:r>
                  <a:rPr lang="en-US" sz="2000" dirty="0" err="1"/>
                  <a:t>koriscena</a:t>
                </a:r>
                <a:r>
                  <a:rPr lang="en-US" sz="2000" dirty="0"/>
                  <a:t> </a:t>
                </a:r>
                <a:r>
                  <a:rPr lang="en-US" sz="2000" dirty="0" err="1"/>
                  <a:t>kod</a:t>
                </a:r>
                <a:r>
                  <a:rPr lang="en-US" sz="2000" dirty="0"/>
                  <a:t> </a:t>
                </a:r>
                <a:r>
                  <a:rPr lang="en-US" sz="2000" dirty="0" err="1"/>
                  <a:t>spletanja</a:t>
                </a:r>
                <a:r>
                  <a:rPr lang="en-US" sz="2000" dirty="0"/>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38</a:t>
            </a:fld>
            <a:endParaRPr lang="en-US"/>
          </a:p>
        </p:txBody>
      </p:sp>
    </p:spTree>
    <p:extLst>
      <p:ext uri="{BB962C8B-B14F-4D97-AF65-F5344CB8AC3E}">
        <p14:creationId xmlns:p14="http://schemas.microsoft.com/office/powerpoint/2010/main" val="10898238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lgn="just">
                  <a:buFont typeface="Arial" panose="020B0604020202020204" pitchFamily="34" charset="0"/>
                  <a:buNone/>
                </a:pPr>
                <a:r>
                  <a:rPr lang="en-ZA" b="0" dirty="0"/>
                  <a:t>Entanglement can be extended to three or more qubits, producing multi-qubit entangled states such as the GHZ state.</a:t>
                </a:r>
              </a:p>
              <a:p>
                <a:pPr marL="0" indent="0" algn="just">
                  <a:buFont typeface="Arial" panose="020B0604020202020204" pitchFamily="34" charset="0"/>
                  <a:buNone/>
                </a:pPr>
                <a:r>
                  <a:rPr lang="en-ZA" dirty="0"/>
                  <a:t>For three qubits,</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𝐺𝐻𝑍</m:t>
                              </m:r>
                            </m:e>
                            <m:sub>
                              <m:r>
                                <a:rPr lang="en-US" sz="1200" i="1">
                                  <a:solidFill>
                                    <a:srgbClr val="002060"/>
                                  </a:solidFill>
                                  <a:latin typeface="Cambria Math" panose="02040503050406030204" pitchFamily="18" charset="0"/>
                                  <a:ea typeface="Cambria Math" panose="02040503050406030204" pitchFamily="18" charset="0"/>
                                </a:rPr>
                                <m:t>3</m:t>
                              </m:r>
                            </m:sub>
                          </m:sSub>
                        </m:e>
                      </m:d>
                      <m:r>
                        <a:rPr lang="en-US" sz="1200" i="1">
                          <a:solidFill>
                            <a:srgbClr val="002060"/>
                          </a:solidFill>
                          <a:latin typeface="Cambria Math" panose="02040503050406030204" pitchFamily="18" charset="0"/>
                          <a:ea typeface="Cambria Math" panose="02040503050406030204" pitchFamily="18" charset="0"/>
                        </a:rPr>
                        <m:t>=</m:t>
                      </m:r>
                      <m:f>
                        <m:fPr>
                          <m:ctrlPr>
                            <a:rPr lang="en-US" sz="12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|000</m:t>
                              </m:r>
                            </m:e>
                          </m:d>
                          <m:r>
                            <a:rPr lang="en-US" sz="1200" i="1">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|111</m:t>
                              </m:r>
                            </m:e>
                          </m:d>
                        </m:num>
                        <m:den>
                          <m:rad>
                            <m:radPr>
                              <m:degHide m:val="on"/>
                              <m:ctrlPr>
                                <a:rPr lang="en-US" sz="1200" i="1">
                                  <a:solidFill>
                                    <a:srgbClr val="002060"/>
                                  </a:solidFill>
                                  <a:latin typeface="Cambria Math" panose="02040503050406030204" pitchFamily="18" charset="0"/>
                                  <a:ea typeface="Cambria Math" panose="02040503050406030204" pitchFamily="18" charset="0"/>
                                </a:rPr>
                              </m:ctrlPr>
                            </m:radPr>
                            <m:deg/>
                            <m:e>
                              <m:r>
                                <a:rPr lang="en-US" sz="1200" i="1">
                                  <a:solidFill>
                                    <a:srgbClr val="002060"/>
                                  </a:solidFill>
                                  <a:latin typeface="Cambria Math" panose="02040503050406030204" pitchFamily="18" charset="0"/>
                                  <a:ea typeface="Cambria Math" panose="02040503050406030204" pitchFamily="18" charset="0"/>
                                </a:rPr>
                                <m:t>2</m:t>
                              </m:r>
                            </m:e>
                          </m:rad>
                        </m:den>
                      </m:f>
                    </m:oMath>
                  </m:oMathPara>
                </a14:m>
                <a:endParaRPr lang="en-ZA" dirty="0"/>
              </a:p>
              <a:p>
                <a:pPr marL="171450" indent="-171450">
                  <a:buFont typeface="Arial" panose="020B0604020202020204" pitchFamily="34" charset="0"/>
                  <a:buChar char="•"/>
                </a:pPr>
                <a:endParaRPr lang="en-ZA" dirty="0"/>
              </a:p>
              <a:p>
                <a:pPr marL="0" indent="0" algn="just">
                  <a:buFont typeface="Arial" panose="020B0604020202020204" pitchFamily="34" charset="0"/>
                  <a:buNone/>
                </a:pPr>
                <a:r>
                  <a:rPr lang="en-ZA" dirty="0"/>
                  <a:t>GHZ states exhibit strong corr</a:t>
                </a:r>
                <a:r>
                  <a:rPr lang="en-ZA" b="0" dirty="0"/>
                  <a:t>elations across multiple qubits and are an important resource in quantum computing. They are used in areas such as quantum algorithms, error correction, distributed quantum computing, and quantum communication.</a:t>
                </a:r>
              </a:p>
            </p:txBody>
          </p:sp>
        </mc:Choice>
        <mc:Fallback xmlns="">
          <p:sp>
            <p:nvSpPr>
              <p:cNvPr id="3" name="Notes Placeholder 2"/>
              <p:cNvSpPr>
                <a:spLocks noGrp="1"/>
              </p:cNvSpPr>
              <p:nvPr>
                <p:ph type="body" idx="1"/>
              </p:nvPr>
            </p:nvSpPr>
            <p:spPr/>
            <p:txBody>
              <a:bodyPr/>
              <a:lstStyle/>
              <a:p>
                <a:r>
                  <a:rPr lang="en-US" sz="2000" dirty="0"/>
                  <a:t>States that involve three or more entangled qubits are known as GHZ states. The measured results should be half </a:t>
                </a:r>
                <a:r>
                  <a:rPr lang="en-US" sz="2000" i="0">
                    <a:solidFill>
                      <a:srgbClr val="002060"/>
                    </a:solidFill>
                    <a:latin typeface="Cambria Math" panose="02040503050406030204" pitchFamily="18" charset="0"/>
                    <a:ea typeface="Cambria Math" panose="02040503050406030204" pitchFamily="18" charset="0"/>
                  </a:rPr>
                  <a:t>├ |000⟩</a:t>
                </a:r>
                <a:r>
                  <a:rPr lang="en-US" sz="2000" dirty="0"/>
                  <a:t> and half </a:t>
                </a:r>
                <a:r>
                  <a:rPr lang="en-US" sz="2000" i="0">
                    <a:solidFill>
                      <a:srgbClr val="002060"/>
                    </a:solidFill>
                    <a:latin typeface="Cambria Math" panose="02040503050406030204" pitchFamily="18" charset="0"/>
                    <a:ea typeface="Cambria Math" panose="02040503050406030204" pitchFamily="18" charset="0"/>
                  </a:rPr>
                  <a:t>├ |111⟩</a:t>
                </a:r>
                <a:r>
                  <a:rPr lang="en-US" sz="2000" dirty="0"/>
                  <a:t> for three</a:t>
                </a:r>
                <a:r>
                  <a:rPr lang="en-US" sz="2000" baseline="0" dirty="0"/>
                  <a:t> entangled qubits, and so on.</a:t>
                </a:r>
                <a:endParaRPr lang="en-US" sz="2000" dirty="0"/>
              </a:p>
              <a:p>
                <a:r>
                  <a:rPr lang="en-US" sz="2000" dirty="0"/>
                  <a:t>Quantum entanglement is a key quantum mechanical property used in quantum cryptography, super dense coding, quantum teleportation and error correction.</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39</a:t>
            </a:fld>
            <a:endParaRPr lang="en-US"/>
          </a:p>
        </p:txBody>
      </p:sp>
    </p:spTree>
    <p:extLst>
      <p:ext uri="{BB962C8B-B14F-4D97-AF65-F5344CB8AC3E}">
        <p14:creationId xmlns:p14="http://schemas.microsoft.com/office/powerpoint/2010/main" val="37872257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Quantum measurement is the final step in most quantum algorithms, where quantum information is converted into a classical result. It allows the information produced by quantum computation to be extracted and used for further processing.</a:t>
            </a:r>
            <a:endParaRPr lang="en-US" sz="1200" b="0" dirty="0">
              <a:latin typeface="+mn-lt"/>
            </a:endParaRPr>
          </a:p>
        </p:txBody>
      </p:sp>
      <p:sp>
        <p:nvSpPr>
          <p:cNvPr id="4" name="Slide Number Placeholder 3"/>
          <p:cNvSpPr>
            <a:spLocks noGrp="1"/>
          </p:cNvSpPr>
          <p:nvPr>
            <p:ph type="sldNum" sz="quarter" idx="5"/>
          </p:nvPr>
        </p:nvSpPr>
        <p:spPr/>
        <p:txBody>
          <a:bodyPr/>
          <a:lstStyle/>
          <a:p>
            <a:fld id="{1B2CE5E3-B8BD-D040-AC87-D640191DD8F1}" type="slidenum">
              <a:rPr lang="en-US" smtClean="0"/>
              <a:t>40</a:t>
            </a:fld>
            <a:endParaRPr lang="en-US"/>
          </a:p>
        </p:txBody>
      </p:sp>
    </p:spTree>
    <p:extLst>
      <p:ext uri="{BB962C8B-B14F-4D97-AF65-F5344CB8AC3E}">
        <p14:creationId xmlns:p14="http://schemas.microsoft.com/office/powerpoint/2010/main" val="16025874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0" dirty="0"/>
                  <a:t>In quantum mechanics, measurement is described using observables.</a:t>
                </a:r>
              </a:p>
              <a:p>
                <a:endParaRPr lang="en-ZA" b="0" dirty="0"/>
              </a:p>
              <a:p>
                <a:pPr marL="171450" indent="-171450">
                  <a:buFont typeface="Arial" panose="020B0604020202020204" pitchFamily="34" charset="0"/>
                  <a:buChar char="•"/>
                </a:pPr>
                <a:r>
                  <a:rPr lang="en-ZA" b="0" dirty="0"/>
                  <a:t>A physical observable is a measurable property of a quantum system, such as photon polarization, energy, or spin. </a:t>
                </a:r>
              </a:p>
              <a:p>
                <a:pPr marL="171450" indent="-171450">
                  <a:buFont typeface="Arial" panose="020B0604020202020204" pitchFamily="34" charset="0"/>
                  <a:buChar char="•"/>
                </a:pPr>
                <a:endParaRPr lang="en-ZA" b="0" dirty="0"/>
              </a:p>
              <a:p>
                <a:pPr marL="171450" indent="-171450">
                  <a:buFont typeface="Arial" panose="020B0604020202020204" pitchFamily="34" charset="0"/>
                  <a:buChar char="•"/>
                </a:pPr>
                <a:r>
                  <a:rPr lang="en-ZA" b="0" dirty="0"/>
                  <a:t>A mathematical observable is represented by a Hermitian operator. Its eigenvalues represent the possible measurement outcomes, while its eigenvectors correspond to the states associated with those outcomes. Its expectation value gives the statistical average obtained over many identical measurements. </a:t>
                </a:r>
              </a:p>
              <a:p>
                <a:endParaRPr lang="en-ZA" b="0" dirty="0"/>
              </a:p>
              <a:p>
                <a:r>
                  <a:rPr lang="en-ZA" b="0" dirty="0"/>
                  <a:t>The term </a:t>
                </a:r>
                <a:r>
                  <a:rPr lang="en-ZA" b="0" i="1" dirty="0"/>
                  <a:t>observable</a:t>
                </a:r>
                <a:r>
                  <a:rPr lang="en-ZA" b="0" dirty="0"/>
                  <a:t> is commonly used for both the physical quantity and its mathematical representation, with the meaning determined by context.</a:t>
                </a:r>
              </a:p>
              <a:p>
                <a:endParaRPr lang="en-ZA" b="0" dirty="0"/>
              </a:p>
              <a:p>
                <a:r>
                  <a:rPr lang="en-ZA" b="0" dirty="0"/>
                  <a:t>Example:</a:t>
                </a:r>
              </a:p>
              <a:p>
                <a:r>
                  <a:rPr lang="en-ZA" b="0" dirty="0"/>
                  <a:t>From a hardware perspective, measuring a qubit means measuring a physical property of the system used to represent it, such as the polarization of a photon.</a:t>
                </a:r>
              </a:p>
              <a:p>
                <a:endParaRPr lang="en-ZA" b="0" dirty="0"/>
              </a:p>
              <a:p>
                <a:pPr marL="171450" indent="-171450">
                  <a:buFont typeface="Arial" panose="020B0604020202020204" pitchFamily="34" charset="0"/>
                  <a:buChar char="•"/>
                </a:pPr>
                <a:r>
                  <a:rPr lang="en-ZA" dirty="0"/>
                  <a:t>A diagonally polarized photon (figure left) can be represented as a superposition of horizontal and vertical polarization states. When its polarization is measured in the horizontal–vertical basis, the photon is detected as either horizontal or vertical, which can be assigned the measurement values +1 and −1, respectively.</a:t>
                </a:r>
              </a:p>
              <a:p>
                <a:pPr marL="171450" indent="-171450">
                  <a:buFont typeface="Arial" panose="020B0604020202020204" pitchFamily="34" charset="0"/>
                  <a:buChar char="•"/>
                </a:pPr>
                <a:endParaRPr lang="en-ZA" b="0" dirty="0"/>
              </a:p>
              <a:p>
                <a:pPr marL="171450" indent="-171450">
                  <a:buFont typeface="Arial" panose="020B0604020202020204" pitchFamily="34" charset="0"/>
                  <a:buChar char="•"/>
                </a:pPr>
                <a:r>
                  <a:rPr lang="en-ZA" b="0" dirty="0"/>
                  <a:t>Mathematically (figure right), horizontal and vertical polarization are represented by the basis states ∣0⟩ and ∣1⟩, while diagonal polarization is their superposition.</a:t>
                </a:r>
              </a:p>
              <a:p>
                <a:pPr marL="171450" indent="-171450">
                  <a:buFont typeface="Arial" panose="020B0604020202020204" pitchFamily="34" charset="0"/>
                  <a:buChar char="•"/>
                </a:pPr>
                <a:endParaRPr lang="en-ZA" b="0" dirty="0"/>
              </a:p>
              <a:p>
                <a:pPr marL="171450" indent="-171450">
                  <a:buFont typeface="Arial" panose="020B0604020202020204" pitchFamily="34" charset="0"/>
                  <a:buChar char="•"/>
                </a:pPr>
                <a:r>
                  <a:rPr lang="en-ZA" b="0" dirty="0"/>
                  <a:t>Suppose the photon state is ∣S⟩ and the measurement observable is the Pauli-Z operator. Its eigenstates are ∣0⟩ and ∣1⟩, with eigenvalues +1 and −1, respectively. The measurement therefore produces one of these eigenvalues and leaves the qubit in the corresponding eigenstate.</a:t>
                </a:r>
                <a:br>
                  <a:rPr lang="en-ZA" b="0" dirty="0"/>
                </a:br>
                <a:r>
                  <a:rPr lang="en-ZA" b="0" dirty="0"/>
                  <a:t>In a quantum computer, these two outcomes are typically reported as the classical bits 0 and 1.</a:t>
                </a:r>
              </a:p>
              <a:p>
                <a:pPr marL="171450" indent="-171450">
                  <a:buFont typeface="Arial" panose="020B0604020202020204" pitchFamily="34" charset="0"/>
                  <a:buChar char="•"/>
                </a:pPr>
                <a:endParaRPr lang="en-ZA" b="0" dirty="0"/>
              </a:p>
              <a:p>
                <a:r>
                  <a:rPr lang="en-ZA" b="0" dirty="0"/>
                  <a:t>If a different observable is measured, its eigenstates define a different measurement basis and can therefore produce different measurement probabilities and outcomes.</a:t>
                </a:r>
              </a:p>
            </p:txBody>
          </p:sp>
        </mc:Choice>
        <mc:Fallback xmlns="">
          <p:sp>
            <p:nvSpPr>
              <p:cNvPr id="3" name="Notes Placeholder 2"/>
              <p:cNvSpPr>
                <a:spLocks noGrp="1"/>
              </p:cNvSpPr>
              <p:nvPr>
                <p:ph type="body" idx="1"/>
              </p:nvPr>
            </p:nvSpPr>
            <p:spPr/>
            <p:txBody>
              <a:bodyPr/>
              <a:lstStyle/>
              <a:p>
                <a:pPr algn="just"/>
                <a:r>
                  <a:rPr lang="en-US" dirty="0"/>
                  <a:t>U </a:t>
                </a:r>
                <a:r>
                  <a:rPr lang="en-US" dirty="0" err="1"/>
                  <a:t>hardverskom</a:t>
                </a:r>
                <a:r>
                  <a:rPr lang="en-US" dirty="0"/>
                  <a:t> </a:t>
                </a:r>
                <a:r>
                  <a:rPr lang="en-US" dirty="0" err="1"/>
                  <a:t>smislu</a:t>
                </a:r>
                <a:r>
                  <a:rPr lang="en-US" dirty="0"/>
                  <a:t> </a:t>
                </a:r>
                <a:r>
                  <a:rPr lang="en-US" dirty="0" err="1"/>
                  <a:t>merenje</a:t>
                </a:r>
                <a:r>
                  <a:rPr lang="en-US" dirty="0"/>
                  <a:t> kubita </a:t>
                </a:r>
                <a:r>
                  <a:rPr lang="en-US" dirty="0" err="1"/>
                  <a:t>znači</a:t>
                </a:r>
                <a:r>
                  <a:rPr lang="en-US" dirty="0"/>
                  <a:t> </a:t>
                </a:r>
                <a:r>
                  <a:rPr lang="en-US" dirty="0" err="1"/>
                  <a:t>merenje</a:t>
                </a:r>
                <a:r>
                  <a:rPr lang="en-US" dirty="0"/>
                  <a:t> </a:t>
                </a:r>
                <a:r>
                  <a:rPr lang="en-US" dirty="0" err="1"/>
                  <a:t>neke</a:t>
                </a:r>
                <a:r>
                  <a:rPr lang="en-US" dirty="0"/>
                  <a:t> </a:t>
                </a:r>
                <a:r>
                  <a:rPr lang="en-US" dirty="0" err="1"/>
                  <a:t>fizičke</a:t>
                </a:r>
                <a:r>
                  <a:rPr lang="en-US" dirty="0"/>
                  <a:t> </a:t>
                </a:r>
                <a:r>
                  <a:rPr lang="en-US" dirty="0" err="1"/>
                  <a:t>veličine</a:t>
                </a:r>
                <a:r>
                  <a:rPr lang="en-US" dirty="0"/>
                  <a:t> </a:t>
                </a:r>
                <a:r>
                  <a:rPr lang="en-US" dirty="0" err="1"/>
                  <a:t>objekta</a:t>
                </a:r>
                <a:r>
                  <a:rPr lang="en-US" dirty="0"/>
                  <a:t> </a:t>
                </a:r>
                <a:r>
                  <a:rPr lang="en-US" dirty="0" err="1"/>
                  <a:t>kojim</a:t>
                </a:r>
                <a:r>
                  <a:rPr lang="en-US" dirty="0"/>
                  <a:t> </a:t>
                </a:r>
                <a:r>
                  <a:rPr lang="en-US" dirty="0" err="1"/>
                  <a:t>je</a:t>
                </a:r>
                <a:r>
                  <a:rPr lang="en-US" dirty="0"/>
                  <a:t> kubit </a:t>
                </a:r>
                <a:r>
                  <a:rPr lang="en-US" dirty="0" err="1"/>
                  <a:t>predstavljen</a:t>
                </a:r>
                <a:r>
                  <a:rPr lang="en-US" dirty="0"/>
                  <a:t>. Na primer, </a:t>
                </a:r>
                <a:r>
                  <a:rPr lang="en-US" dirty="0" err="1"/>
                  <a:t>nivo</a:t>
                </a:r>
                <a:r>
                  <a:rPr lang="en-US" dirty="0"/>
                  <a:t> </a:t>
                </a:r>
                <a:r>
                  <a:rPr lang="en-US" dirty="0" err="1"/>
                  <a:t>energije</a:t>
                </a:r>
                <a:r>
                  <a:rPr lang="en-US" dirty="0"/>
                  <a:t>, </a:t>
                </a:r>
                <a:r>
                  <a:rPr lang="en-US" dirty="0" err="1"/>
                  <a:t>rezonantna</a:t>
                </a:r>
                <a:r>
                  <a:rPr lang="en-US" dirty="0"/>
                  <a:t> </a:t>
                </a:r>
                <a:r>
                  <a:rPr lang="en-US" dirty="0" err="1"/>
                  <a:t>frekvencija</a:t>
                </a:r>
                <a:r>
                  <a:rPr lang="en-US" dirty="0"/>
                  <a:t>, </a:t>
                </a:r>
                <a:r>
                  <a:rPr lang="en-US" dirty="0" err="1"/>
                  <a:t>magnetizacija</a:t>
                </a:r>
                <a:r>
                  <a:rPr lang="en-US" dirty="0"/>
                  <a:t> </a:t>
                </a:r>
                <a:r>
                  <a:rPr lang="en-US" dirty="0" err="1"/>
                  <a:t>ili</a:t>
                </a:r>
                <a:r>
                  <a:rPr lang="en-US" dirty="0"/>
                  <a:t> </a:t>
                </a:r>
                <a:r>
                  <a:rPr lang="en-US" dirty="0" err="1"/>
                  <a:t>polarizacija</a:t>
                </a:r>
                <a:r>
                  <a:rPr lang="en-US" dirty="0"/>
                  <a:t> </a:t>
                </a:r>
                <a:r>
                  <a:rPr lang="en-US" dirty="0" err="1"/>
                  <a:t>kvantnog</a:t>
                </a:r>
                <a:r>
                  <a:rPr lang="en-US" dirty="0"/>
                  <a:t> </a:t>
                </a:r>
                <a:r>
                  <a:rPr lang="en-US" dirty="0" err="1"/>
                  <a:t>objekta</a:t>
                </a:r>
                <a:r>
                  <a:rPr lang="en-US" dirty="0"/>
                  <a:t> </a:t>
                </a:r>
                <a:r>
                  <a:rPr lang="en-US" dirty="0" err="1"/>
                  <a:t>koji</a:t>
                </a:r>
                <a:r>
                  <a:rPr lang="en-US" dirty="0"/>
                  <a:t> se </a:t>
                </a:r>
                <a:r>
                  <a:rPr lang="en-US" dirty="0" err="1"/>
                  <a:t>posmatra</a:t>
                </a:r>
                <a:r>
                  <a:rPr lang="en-US" dirty="0"/>
                  <a:t>. U </a:t>
                </a:r>
                <a:r>
                  <a:rPr lang="en-US" dirty="0" err="1"/>
                  <a:t>primeru</a:t>
                </a:r>
                <a:r>
                  <a:rPr lang="en-US" dirty="0"/>
                  <a:t> </a:t>
                </a:r>
                <a:r>
                  <a:rPr lang="en-US" dirty="0" err="1"/>
                  <a:t>sa</a:t>
                </a:r>
                <a:r>
                  <a:rPr lang="en-US" dirty="0"/>
                  <a:t> </a:t>
                </a:r>
                <a:r>
                  <a:rPr lang="en-US" dirty="0" err="1"/>
                  <a:t>slike</a:t>
                </a:r>
                <a:r>
                  <a:rPr lang="en-US" dirty="0"/>
                  <a:t> </a:t>
                </a:r>
                <a:r>
                  <a:rPr lang="en-US" dirty="0" err="1"/>
                  <a:t>je</a:t>
                </a:r>
                <a:r>
                  <a:rPr lang="en-US" dirty="0"/>
                  <a:t> to </a:t>
                </a:r>
                <a:r>
                  <a:rPr lang="en-US" dirty="0" err="1"/>
                  <a:t>polarizacija</a:t>
                </a:r>
                <a:r>
                  <a:rPr lang="en-US" dirty="0"/>
                  <a:t> </a:t>
                </a:r>
                <a:r>
                  <a:rPr lang="en-US" dirty="0" err="1"/>
                  <a:t>svetlosti</a:t>
                </a:r>
                <a:r>
                  <a:rPr lang="en-US" dirty="0"/>
                  <a:t>. </a:t>
                </a:r>
                <a:r>
                  <a:rPr lang="en-US" dirty="0" err="1"/>
                  <a:t>Kod</a:t>
                </a:r>
                <a:r>
                  <a:rPr lang="en-US" dirty="0"/>
                  <a:t> </a:t>
                </a:r>
                <a:r>
                  <a:rPr lang="en-US" dirty="0" err="1"/>
                  <a:t>nepolarizovane</a:t>
                </a:r>
                <a:r>
                  <a:rPr lang="en-US" dirty="0"/>
                  <a:t> </a:t>
                </a:r>
                <a:r>
                  <a:rPr lang="en-US" dirty="0" err="1"/>
                  <a:t>svetlosti</a:t>
                </a:r>
                <a:r>
                  <a:rPr lang="en-US" dirty="0"/>
                  <a:t> </a:t>
                </a:r>
                <a:r>
                  <a:rPr lang="en-US" dirty="0" err="1"/>
                  <a:t>elektromagnetno</a:t>
                </a:r>
                <a:r>
                  <a:rPr lang="en-US" dirty="0"/>
                  <a:t> polje </a:t>
                </a:r>
                <a:r>
                  <a:rPr lang="en-US" dirty="0" err="1"/>
                  <a:t>osciluje</a:t>
                </a:r>
                <a:r>
                  <a:rPr lang="en-US" dirty="0"/>
                  <a:t> u </a:t>
                </a:r>
                <a:r>
                  <a:rPr lang="en-US" dirty="0" err="1"/>
                  <a:t>svim</a:t>
                </a:r>
                <a:r>
                  <a:rPr lang="en-US" dirty="0"/>
                  <a:t> </a:t>
                </a:r>
                <a:r>
                  <a:rPr lang="en-US" dirty="0" err="1"/>
                  <a:t>pravcima</a:t>
                </a:r>
                <a:r>
                  <a:rPr lang="en-US" dirty="0"/>
                  <a:t>, </a:t>
                </a:r>
                <a:r>
                  <a:rPr lang="en-ZA" dirty="0" err="1"/>
                  <a:t>unutar</a:t>
                </a:r>
                <a:r>
                  <a:rPr lang="en-ZA" dirty="0"/>
                  <a:t> </a:t>
                </a:r>
                <a:r>
                  <a:rPr lang="en-ZA" dirty="0" err="1"/>
                  <a:t>ravni</a:t>
                </a:r>
                <a:r>
                  <a:rPr lang="en-ZA" dirty="0"/>
                  <a:t> </a:t>
                </a:r>
                <a:r>
                  <a:rPr lang="en-ZA" dirty="0" err="1"/>
                  <a:t>normalne</a:t>
                </a:r>
                <a:r>
                  <a:rPr lang="en-ZA" dirty="0"/>
                  <a:t> </a:t>
                </a:r>
                <a:r>
                  <a:rPr lang="en-ZA" dirty="0" err="1"/>
                  <a:t>na</a:t>
                </a:r>
                <a:r>
                  <a:rPr lang="en-ZA" dirty="0"/>
                  <a:t> </a:t>
                </a:r>
                <a:r>
                  <a:rPr lang="en-ZA" dirty="0" err="1"/>
                  <a:t>pravac</a:t>
                </a:r>
                <a:r>
                  <a:rPr lang="en-ZA" dirty="0"/>
                  <a:t> </a:t>
                </a:r>
                <a:r>
                  <a:rPr lang="en-ZA" dirty="0" err="1"/>
                  <a:t>prostiranja</a:t>
                </a:r>
                <a:r>
                  <a:rPr lang="en-ZA" dirty="0"/>
                  <a:t> </a:t>
                </a:r>
                <a:r>
                  <a:rPr lang="en-ZA" dirty="0" err="1"/>
                  <a:t>svetlosti</a:t>
                </a:r>
                <a:r>
                  <a:rPr lang="en-ZA" dirty="0"/>
                  <a:t>, </a:t>
                </a:r>
                <a:r>
                  <a:rPr lang="en-US" dirty="0" err="1"/>
                  <a:t>dok</a:t>
                </a:r>
                <a:r>
                  <a:rPr lang="en-US" dirty="0"/>
                  <a:t> </a:t>
                </a:r>
                <a:r>
                  <a:rPr lang="en-US" dirty="0" err="1"/>
                  <a:t>kod</a:t>
                </a:r>
                <a:r>
                  <a:rPr lang="en-US" dirty="0"/>
                  <a:t> </a:t>
                </a:r>
                <a:r>
                  <a:rPr lang="en-US" dirty="0" err="1"/>
                  <a:t>polarizovane</a:t>
                </a:r>
                <a:r>
                  <a:rPr lang="en-US" dirty="0"/>
                  <a:t>, </a:t>
                </a:r>
                <a:r>
                  <a:rPr lang="en-US" dirty="0" err="1"/>
                  <a:t>samo</a:t>
                </a:r>
                <a:r>
                  <a:rPr lang="en-US" dirty="0"/>
                  <a:t> u </a:t>
                </a:r>
                <a:r>
                  <a:rPr lang="en-US" dirty="0" err="1"/>
                  <a:t>jednoj</a:t>
                </a:r>
                <a:r>
                  <a:rPr lang="en-US" dirty="0"/>
                  <a:t> </a:t>
                </a:r>
                <a:r>
                  <a:rPr lang="en-US" dirty="0" err="1"/>
                  <a:t>ravni</a:t>
                </a:r>
                <a:r>
                  <a:rPr lang="en-US" dirty="0"/>
                  <a:t>. </a:t>
                </a:r>
              </a:p>
              <a:p>
                <a:pPr algn="just"/>
                <a:endParaRPr lang="en-US" dirty="0"/>
              </a:p>
              <a:p>
                <a:pPr algn="just"/>
                <a:r>
                  <a:rPr lang="en-US" dirty="0" err="1"/>
                  <a:t>Razmotrimo</a:t>
                </a:r>
                <a:r>
                  <a:rPr lang="en-US" dirty="0"/>
                  <a:t> </a:t>
                </a:r>
                <a:r>
                  <a:rPr lang="en-US" dirty="0" err="1"/>
                  <a:t>dijagonalno</a:t>
                </a:r>
                <a:r>
                  <a:rPr lang="en-US" dirty="0"/>
                  <a:t> </a:t>
                </a:r>
                <a:r>
                  <a:rPr lang="en-US" dirty="0" err="1"/>
                  <a:t>polarizovan</a:t>
                </a:r>
                <a:r>
                  <a:rPr lang="en-US" dirty="0"/>
                  <a:t> </a:t>
                </a:r>
                <a:r>
                  <a:rPr lang="en-US" dirty="0" err="1"/>
                  <a:t>foton</a:t>
                </a:r>
                <a:r>
                  <a:rPr lang="en-US" dirty="0"/>
                  <a:t> </a:t>
                </a:r>
                <a:r>
                  <a:rPr lang="en-US" dirty="0" err="1"/>
                  <a:t>čiju</a:t>
                </a:r>
                <a:r>
                  <a:rPr lang="en-US" dirty="0"/>
                  <a:t> </a:t>
                </a:r>
                <a:r>
                  <a:rPr lang="en-US" dirty="0" err="1"/>
                  <a:t>polarizaciju</a:t>
                </a:r>
                <a:r>
                  <a:rPr lang="en-US" dirty="0"/>
                  <a:t> </a:t>
                </a:r>
                <a:r>
                  <a:rPr lang="en-US" dirty="0" err="1"/>
                  <a:t>možemo</a:t>
                </a:r>
                <a:r>
                  <a:rPr lang="en-US" dirty="0"/>
                  <a:t> </a:t>
                </a:r>
                <a:r>
                  <a:rPr lang="en-US" dirty="0" err="1"/>
                  <a:t>predstaviti</a:t>
                </a:r>
                <a:r>
                  <a:rPr lang="en-US" dirty="0"/>
                  <a:t> </a:t>
                </a:r>
                <a:r>
                  <a:rPr lang="en-US" dirty="0" err="1"/>
                  <a:t>superpozicijom</a:t>
                </a:r>
                <a:r>
                  <a:rPr lang="en-US" dirty="0"/>
                  <a:t>  </a:t>
                </a:r>
                <a:r>
                  <a:rPr lang="en-US" dirty="0" err="1"/>
                  <a:t>horizontalno</a:t>
                </a:r>
                <a:r>
                  <a:rPr lang="en-US" dirty="0"/>
                  <a:t> </a:t>
                </a:r>
                <a:r>
                  <a:rPr lang="en-US" dirty="0" err="1"/>
                  <a:t>i</a:t>
                </a:r>
                <a:r>
                  <a:rPr lang="en-US" dirty="0"/>
                  <a:t> </a:t>
                </a:r>
                <a:r>
                  <a:rPr lang="en-US" dirty="0" err="1"/>
                  <a:t>vertikalno</a:t>
                </a:r>
                <a:r>
                  <a:rPr lang="en-US" dirty="0"/>
                  <a:t> </a:t>
                </a:r>
                <a:r>
                  <a:rPr lang="en-US" dirty="0" err="1"/>
                  <a:t>polarizovanih</a:t>
                </a:r>
                <a:r>
                  <a:rPr lang="en-US" dirty="0"/>
                  <a:t> </a:t>
                </a:r>
                <a:r>
                  <a:rPr lang="en-US" dirty="0" err="1"/>
                  <a:t>elektromagnetnih</a:t>
                </a:r>
                <a:r>
                  <a:rPr lang="en-US" dirty="0"/>
                  <a:t> </a:t>
                </a:r>
                <a:r>
                  <a:rPr lang="en-US" dirty="0" err="1"/>
                  <a:t>polja</a:t>
                </a:r>
                <a:r>
                  <a:rPr lang="en-US" dirty="0"/>
                  <a:t>. </a:t>
                </a:r>
                <a:r>
                  <a:rPr lang="en-US" dirty="0" err="1"/>
                  <a:t>Kada</a:t>
                </a:r>
                <a:r>
                  <a:rPr lang="en-US" dirty="0"/>
                  <a:t> </a:t>
                </a:r>
                <a:r>
                  <a:rPr lang="en-US" dirty="0" err="1"/>
                  <a:t>foton</a:t>
                </a:r>
                <a:r>
                  <a:rPr lang="en-US" dirty="0"/>
                  <a:t> </a:t>
                </a:r>
                <a:r>
                  <a:rPr lang="en-US" dirty="0" err="1"/>
                  <a:t>prođe</a:t>
                </a:r>
                <a:r>
                  <a:rPr lang="en-US" dirty="0"/>
                  <a:t> </a:t>
                </a:r>
                <a:r>
                  <a:rPr lang="en-US" dirty="0" err="1"/>
                  <a:t>kroz</a:t>
                </a:r>
                <a:r>
                  <a:rPr lang="en-US" dirty="0"/>
                  <a:t> filter </a:t>
                </a:r>
                <a:r>
                  <a:rPr lang="en-US" dirty="0" err="1"/>
                  <a:t>koji</a:t>
                </a:r>
                <a:r>
                  <a:rPr lang="en-US" dirty="0"/>
                  <a:t> </a:t>
                </a:r>
                <a:r>
                  <a:rPr lang="en-US" dirty="0" err="1"/>
                  <a:t>detektuje</a:t>
                </a:r>
                <a:r>
                  <a:rPr lang="en-US" dirty="0"/>
                  <a:t> </a:t>
                </a:r>
                <a:r>
                  <a:rPr lang="en-US" dirty="0" err="1"/>
                  <a:t>jednu</a:t>
                </a:r>
                <a:r>
                  <a:rPr lang="en-US" dirty="0"/>
                  <a:t> od </a:t>
                </a:r>
                <a:r>
                  <a:rPr lang="en-US" dirty="0" err="1"/>
                  <a:t>ove</a:t>
                </a:r>
                <a:r>
                  <a:rPr lang="en-US" dirty="0"/>
                  <a:t> </a:t>
                </a:r>
                <a:r>
                  <a:rPr lang="en-US" dirty="0" err="1"/>
                  <a:t>dve</a:t>
                </a:r>
                <a:r>
                  <a:rPr lang="en-US" dirty="0"/>
                  <a:t> </a:t>
                </a:r>
                <a:r>
                  <a:rPr lang="en-US" dirty="0" err="1"/>
                  <a:t>polarizacije</a:t>
                </a:r>
                <a:r>
                  <a:rPr lang="en-US" dirty="0"/>
                  <a:t>, </a:t>
                </a:r>
                <a:r>
                  <a:rPr lang="en-US" dirty="0" err="1"/>
                  <a:t>njegova</a:t>
                </a:r>
                <a:r>
                  <a:rPr lang="en-US" dirty="0"/>
                  <a:t> </a:t>
                </a:r>
                <a:r>
                  <a:rPr lang="en-US" dirty="0" err="1"/>
                  <a:t>polarizacija</a:t>
                </a:r>
                <a:r>
                  <a:rPr lang="en-US" dirty="0"/>
                  <a:t> </a:t>
                </a:r>
                <a:r>
                  <a:rPr lang="en-US" dirty="0" err="1"/>
                  <a:t>će</a:t>
                </a:r>
                <a:r>
                  <a:rPr lang="en-US" dirty="0"/>
                  <a:t> se </a:t>
                </a:r>
                <a:r>
                  <a:rPr lang="en-US" dirty="0" err="1"/>
                  <a:t>svesti</a:t>
                </a:r>
                <a:r>
                  <a:rPr lang="en-US" dirty="0"/>
                  <a:t> </a:t>
                </a:r>
                <a:r>
                  <a:rPr lang="en-US" dirty="0" err="1"/>
                  <a:t>ili</a:t>
                </a:r>
                <a:r>
                  <a:rPr lang="en-US" dirty="0"/>
                  <a:t> </a:t>
                </a:r>
                <a:r>
                  <a:rPr lang="en-US" dirty="0" err="1"/>
                  <a:t>na</a:t>
                </a:r>
                <a:r>
                  <a:rPr lang="en-US" dirty="0"/>
                  <a:t> </a:t>
                </a:r>
                <a:r>
                  <a:rPr lang="en-US" dirty="0" err="1"/>
                  <a:t>horizontalno</a:t>
                </a:r>
                <a:r>
                  <a:rPr lang="en-US" dirty="0"/>
                  <a:t> </a:t>
                </a:r>
                <a:r>
                  <a:rPr lang="en-US" dirty="0" err="1"/>
                  <a:t>stanje</a:t>
                </a:r>
                <a:r>
                  <a:rPr lang="en-US" dirty="0"/>
                  <a:t>, </a:t>
                </a:r>
                <a:r>
                  <a:rPr lang="en-US" dirty="0" err="1"/>
                  <a:t>koje</a:t>
                </a:r>
                <a:r>
                  <a:rPr lang="en-US" dirty="0"/>
                  <a:t> </a:t>
                </a:r>
                <a:r>
                  <a:rPr lang="en-US" dirty="0" err="1"/>
                  <a:t>detektor</a:t>
                </a:r>
                <a:r>
                  <a:rPr lang="en-US" dirty="0"/>
                  <a:t> </a:t>
                </a:r>
                <a:r>
                  <a:rPr lang="en-US" dirty="0" err="1"/>
                  <a:t>registruje</a:t>
                </a:r>
                <a:r>
                  <a:rPr lang="en-US" dirty="0"/>
                  <a:t> </a:t>
                </a:r>
                <a:r>
                  <a:rPr lang="en-US" dirty="0" err="1"/>
                  <a:t>kao</a:t>
                </a:r>
                <a:r>
                  <a:rPr lang="en-US" dirty="0"/>
                  <a:t> +1, </a:t>
                </a:r>
                <a:r>
                  <a:rPr lang="en-US" dirty="0" err="1"/>
                  <a:t>ili</a:t>
                </a:r>
                <a:r>
                  <a:rPr lang="en-US" dirty="0"/>
                  <a:t> </a:t>
                </a:r>
                <a:r>
                  <a:rPr lang="en-US" dirty="0" err="1"/>
                  <a:t>na</a:t>
                </a:r>
                <a:r>
                  <a:rPr lang="en-US" dirty="0"/>
                  <a:t> </a:t>
                </a:r>
                <a:r>
                  <a:rPr lang="en-US" dirty="0" err="1"/>
                  <a:t>vertikalno</a:t>
                </a:r>
                <a:r>
                  <a:rPr lang="en-US" dirty="0"/>
                  <a:t> </a:t>
                </a:r>
                <a:r>
                  <a:rPr lang="en-US" dirty="0" err="1"/>
                  <a:t>stanje</a:t>
                </a:r>
                <a:r>
                  <a:rPr lang="en-US" dirty="0"/>
                  <a:t>, </a:t>
                </a:r>
                <a:r>
                  <a:rPr lang="en-US" dirty="0" err="1"/>
                  <a:t>koje</a:t>
                </a:r>
                <a:r>
                  <a:rPr lang="en-US" dirty="0"/>
                  <a:t> </a:t>
                </a:r>
                <a:r>
                  <a:rPr lang="en-US" dirty="0" err="1"/>
                  <a:t>detektor</a:t>
                </a:r>
                <a:r>
                  <a:rPr lang="en-US" dirty="0"/>
                  <a:t> </a:t>
                </a:r>
                <a:r>
                  <a:rPr lang="en-US" dirty="0" err="1"/>
                  <a:t>registruje</a:t>
                </a:r>
                <a:r>
                  <a:rPr lang="en-US" dirty="0"/>
                  <a:t> </a:t>
                </a:r>
                <a:r>
                  <a:rPr lang="en-US" dirty="0" err="1"/>
                  <a:t>kao</a:t>
                </a:r>
                <a:r>
                  <a:rPr lang="en-US" dirty="0"/>
                  <a:t> -1. </a:t>
                </a:r>
              </a:p>
              <a:p>
                <a:pPr algn="just"/>
                <a:endParaRPr lang="en-US" dirty="0"/>
              </a:p>
              <a:p>
                <a:pPr algn="just"/>
                <a:r>
                  <a:rPr lang="en-US" dirty="0"/>
                  <a:t>U </a:t>
                </a:r>
                <a:r>
                  <a:rPr lang="en-US" dirty="0" err="1"/>
                  <a:t>matematičkom</a:t>
                </a:r>
                <a:r>
                  <a:rPr lang="en-US" dirty="0"/>
                  <a:t> </a:t>
                </a:r>
                <a:r>
                  <a:rPr lang="en-US" dirty="0" err="1"/>
                  <a:t>modelu</a:t>
                </a:r>
                <a:r>
                  <a:rPr lang="en-US" dirty="0"/>
                  <a:t>, </a:t>
                </a:r>
                <a:r>
                  <a:rPr lang="en-US" dirty="0" err="1"/>
                  <a:t>horizontalna</a:t>
                </a:r>
                <a:r>
                  <a:rPr lang="en-US" dirty="0"/>
                  <a:t> </a:t>
                </a:r>
                <a:r>
                  <a:rPr lang="en-US" dirty="0" err="1"/>
                  <a:t>i</a:t>
                </a:r>
                <a:r>
                  <a:rPr lang="en-US" dirty="0"/>
                  <a:t> </a:t>
                </a:r>
                <a:r>
                  <a:rPr lang="en-US" dirty="0" err="1"/>
                  <a:t>vertikalna</a:t>
                </a:r>
                <a:r>
                  <a:rPr lang="en-US" dirty="0"/>
                  <a:t> </a:t>
                </a:r>
                <a:r>
                  <a:rPr lang="en-US" dirty="0" err="1"/>
                  <a:t>polarizacija</a:t>
                </a:r>
                <a:r>
                  <a:rPr lang="en-US" dirty="0"/>
                  <a:t> </a:t>
                </a:r>
                <a:r>
                  <a:rPr lang="en-US" dirty="0" err="1"/>
                  <a:t>predstavljene</a:t>
                </a:r>
                <a:r>
                  <a:rPr lang="en-US" dirty="0"/>
                  <a:t> </a:t>
                </a:r>
                <a:r>
                  <a:rPr lang="en-US" dirty="0" err="1"/>
                  <a:t>su</a:t>
                </a:r>
                <a:r>
                  <a:rPr lang="en-US" dirty="0"/>
                  <a:t> </a:t>
                </a:r>
                <a:r>
                  <a:rPr lang="en-US" dirty="0" err="1"/>
                  <a:t>vektorima</a:t>
                </a:r>
                <a:r>
                  <a:rPr lang="en-US" dirty="0"/>
                  <a:t> </a:t>
                </a:r>
                <a:r>
                  <a:rPr lang="en-US" dirty="0" err="1"/>
                  <a:t>baze</a:t>
                </a:r>
                <a:r>
                  <a:rPr lang="en-US" dirty="0"/>
                  <a:t>, </a:t>
                </a:r>
                <a:r>
                  <a:rPr lang="en-US" dirty="0" err="1"/>
                  <a:t>dok</a:t>
                </a:r>
                <a:r>
                  <a:rPr lang="en-US" dirty="0"/>
                  <a:t> se </a:t>
                </a:r>
                <a:r>
                  <a:rPr lang="en-US" dirty="0" err="1"/>
                  <a:t>dijagonalna</a:t>
                </a:r>
                <a:r>
                  <a:rPr lang="en-US" dirty="0"/>
                  <a:t> </a:t>
                </a:r>
                <a:r>
                  <a:rPr lang="en-US" dirty="0" err="1"/>
                  <a:t>polarizacija</a:t>
                </a:r>
                <a:r>
                  <a:rPr lang="en-US" dirty="0"/>
                  <a:t> </a:t>
                </a:r>
                <a:r>
                  <a:rPr lang="en-US" dirty="0" err="1"/>
                  <a:t>opisuje</a:t>
                </a:r>
                <a:r>
                  <a:rPr lang="en-US" dirty="0"/>
                  <a:t> </a:t>
                </a:r>
                <a:r>
                  <a:rPr lang="en-US" dirty="0" err="1"/>
                  <a:t>njihovom</a:t>
                </a:r>
                <a:r>
                  <a:rPr lang="en-US" dirty="0"/>
                  <a:t> </a:t>
                </a:r>
                <a:r>
                  <a:rPr lang="en-US" dirty="0" err="1"/>
                  <a:t>superpozicijom</a:t>
                </a:r>
                <a:r>
                  <a:rPr lang="en-US" dirty="0"/>
                  <a:t>. </a:t>
                </a:r>
              </a:p>
              <a:p>
                <a:pPr algn="just"/>
                <a:endParaRPr lang="en-US" dirty="0"/>
              </a:p>
              <a:p>
                <a:pPr algn="just"/>
                <a:r>
                  <a:rPr lang="en-US" dirty="0" err="1"/>
                  <a:t>Proces</a:t>
                </a:r>
                <a:r>
                  <a:rPr lang="en-US" dirty="0"/>
                  <a:t> </a:t>
                </a:r>
                <a:r>
                  <a:rPr lang="en-US" dirty="0" err="1"/>
                  <a:t>merenja</a:t>
                </a:r>
                <a:r>
                  <a:rPr lang="en-US" dirty="0"/>
                  <a:t> se </a:t>
                </a:r>
                <a:r>
                  <a:rPr lang="en-US" dirty="0" err="1"/>
                  <a:t>modeluje</a:t>
                </a:r>
                <a:r>
                  <a:rPr lang="en-US" dirty="0"/>
                  <a:t> </a:t>
                </a:r>
                <a:r>
                  <a:rPr lang="en-US" dirty="0" err="1"/>
                  <a:t>ermitksim</a:t>
                </a:r>
                <a:r>
                  <a:rPr lang="en-US" dirty="0"/>
                  <a:t> </a:t>
                </a:r>
                <a:r>
                  <a:rPr lang="en-US" dirty="0" err="1"/>
                  <a:t>operatorom</a:t>
                </a:r>
                <a:r>
                  <a:rPr lang="en-US" dirty="0"/>
                  <a:t> </a:t>
                </a:r>
                <a:r>
                  <a:rPr lang="en-US" dirty="0" err="1"/>
                  <a:t>čiji</a:t>
                </a:r>
                <a:r>
                  <a:rPr lang="en-US" dirty="0"/>
                  <a:t> </a:t>
                </a:r>
                <a:r>
                  <a:rPr lang="en-US" dirty="0" err="1"/>
                  <a:t>sopstveni</a:t>
                </a:r>
                <a:r>
                  <a:rPr lang="en-US" dirty="0"/>
                  <a:t> </a:t>
                </a:r>
                <a:r>
                  <a:rPr lang="en-US" dirty="0" err="1"/>
                  <a:t>vektori</a:t>
                </a:r>
                <a:r>
                  <a:rPr lang="en-US" dirty="0"/>
                  <a:t> </a:t>
                </a:r>
                <a:r>
                  <a:rPr lang="en-US" dirty="0" err="1"/>
                  <a:t>predstavljaju</a:t>
                </a:r>
                <a:r>
                  <a:rPr lang="en-US" dirty="0"/>
                  <a:t> </a:t>
                </a:r>
                <a:r>
                  <a:rPr lang="en-US" dirty="0" err="1"/>
                  <a:t>vektori</a:t>
                </a:r>
                <a:r>
                  <a:rPr lang="en-US" dirty="0"/>
                  <a:t> </a:t>
                </a:r>
                <a:r>
                  <a:rPr lang="en-US" dirty="0" err="1"/>
                  <a:t>baze</a:t>
                </a:r>
                <a:r>
                  <a:rPr lang="en-US" dirty="0"/>
                  <a:t>, a </a:t>
                </a:r>
                <a:r>
                  <a:rPr lang="en-US" dirty="0" err="1"/>
                  <a:t>sopstvene</a:t>
                </a:r>
                <a:r>
                  <a:rPr lang="en-US" dirty="0"/>
                  <a:t> </a:t>
                </a:r>
                <a:r>
                  <a:rPr lang="en-US" dirty="0" err="1"/>
                  <a:t>vrednosti</a:t>
                </a:r>
                <a:r>
                  <a:rPr lang="en-US" dirty="0"/>
                  <a:t> </a:t>
                </a:r>
                <a:r>
                  <a:rPr lang="en-US" dirty="0" err="1"/>
                  <a:t>rezultate</a:t>
                </a:r>
                <a:r>
                  <a:rPr lang="en-US" dirty="0"/>
                  <a:t> </a:t>
                </a:r>
                <a:r>
                  <a:rPr lang="en-US" dirty="0" err="1"/>
                  <a:t>merenja</a:t>
                </a:r>
                <a:r>
                  <a:rPr lang="en-US" dirty="0"/>
                  <a:t>. </a:t>
                </a:r>
                <a:r>
                  <a:rPr lang="en-US" dirty="0" err="1"/>
                  <a:t>Ovakav</a:t>
                </a:r>
                <a:r>
                  <a:rPr lang="en-US" dirty="0"/>
                  <a:t> operator </a:t>
                </a:r>
                <a:r>
                  <a:rPr lang="en-US" dirty="0" err="1"/>
                  <a:t>naziva</a:t>
                </a:r>
                <a:r>
                  <a:rPr lang="en-US" dirty="0"/>
                  <a:t> se operator </a:t>
                </a:r>
                <a:r>
                  <a:rPr lang="en-US" dirty="0" err="1"/>
                  <a:t>merene</a:t>
                </a:r>
                <a:r>
                  <a:rPr lang="en-US" dirty="0"/>
                  <a:t> </a:t>
                </a:r>
                <a:r>
                  <a:rPr lang="en-US" dirty="0" err="1"/>
                  <a:t>veličine</a:t>
                </a:r>
                <a:r>
                  <a:rPr lang="en-US" dirty="0"/>
                  <a:t> (observable). </a:t>
                </a:r>
                <a:r>
                  <a:rPr lang="en-US" dirty="0" err="1"/>
                  <a:t>Ovakav</a:t>
                </a:r>
                <a:r>
                  <a:rPr lang="en-US" dirty="0"/>
                  <a:t> operator </a:t>
                </a:r>
                <a:r>
                  <a:rPr lang="en-US" dirty="0" err="1"/>
                  <a:t>naziva</a:t>
                </a:r>
                <a:r>
                  <a:rPr lang="en-US" dirty="0"/>
                  <a:t> se operator </a:t>
                </a:r>
                <a:r>
                  <a:rPr lang="en-US" dirty="0" err="1"/>
                  <a:t>merene</a:t>
                </a:r>
                <a:r>
                  <a:rPr lang="en-US" dirty="0"/>
                  <a:t> </a:t>
                </a:r>
                <a:r>
                  <a:rPr lang="en-US" dirty="0" err="1"/>
                  <a:t>veličine</a:t>
                </a:r>
                <a:r>
                  <a:rPr lang="en-US" dirty="0"/>
                  <a:t> (observable)</a:t>
                </a:r>
                <a:r>
                  <a:rPr lang="en-ZA" dirty="0"/>
                  <a:t>.</a:t>
                </a:r>
                <a:endParaRPr lang="en-US" dirty="0"/>
              </a:p>
              <a:p>
                <a:pPr algn="just"/>
                <a:endParaRPr lang="en-US"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err="1"/>
                  <a:t>Neka</a:t>
                </a:r>
                <a:r>
                  <a:rPr lang="en-US" dirty="0"/>
                  <a:t> </a:t>
                </a:r>
                <a:r>
                  <a:rPr lang="en-US" dirty="0" err="1"/>
                  <a:t>je</a:t>
                </a:r>
                <a:r>
                  <a:rPr lang="en-US" dirty="0"/>
                  <a:t>, </a:t>
                </a:r>
                <a:r>
                  <a:rPr lang="en-US" dirty="0" err="1"/>
                  <a:t>na</a:t>
                </a:r>
                <a:r>
                  <a:rPr lang="en-US" dirty="0"/>
                  <a:t> primer, </a:t>
                </a:r>
                <a:r>
                  <a:rPr lang="en-US" dirty="0" err="1"/>
                  <a:t>stanje</a:t>
                </a:r>
                <a:r>
                  <a:rPr lang="en-US" dirty="0"/>
                  <a:t> </a:t>
                </a:r>
                <a:r>
                  <a:rPr lang="en-US" dirty="0" err="1"/>
                  <a:t>fotona</a:t>
                </a:r>
                <a:r>
                  <a:rPr lang="en-US" dirty="0"/>
                  <a:t> </a:t>
                </a:r>
                <a:r>
                  <a:rPr lang="en-US" dirty="0" err="1"/>
                  <a:t>opisano</a:t>
                </a:r>
                <a:r>
                  <a:rPr lang="en-US" dirty="0"/>
                  <a:t> </a:t>
                </a:r>
                <a:r>
                  <a:rPr lang="en-US" dirty="0" err="1"/>
                  <a:t>vektorom</a:t>
                </a:r>
                <a:r>
                  <a:rPr lang="en-US" dirty="0"/>
                  <a:t> ∣S⟩, a operator </a:t>
                </a:r>
                <a:r>
                  <a:rPr lang="en-US" dirty="0" err="1"/>
                  <a:t>merene</a:t>
                </a:r>
                <a:r>
                  <a:rPr lang="en-US" dirty="0"/>
                  <a:t> </a:t>
                </a:r>
                <a:r>
                  <a:rPr lang="en-US" dirty="0" err="1"/>
                  <a:t>veličine</a:t>
                </a:r>
                <a:r>
                  <a:rPr lang="en-US" dirty="0"/>
                  <a:t> Pauli 𝑍 </a:t>
                </a:r>
                <a:r>
                  <a:rPr lang="en-US" dirty="0" err="1"/>
                  <a:t>operatorom</a:t>
                </a:r>
                <a:r>
                  <a:rPr lang="en-US" dirty="0"/>
                  <a:t>. </a:t>
                </a:r>
                <a:r>
                  <a:rPr lang="en-US" dirty="0" err="1"/>
                  <a:t>Sopstvene</a:t>
                </a:r>
                <a:r>
                  <a:rPr lang="en-US" dirty="0"/>
                  <a:t> </a:t>
                </a:r>
                <a:r>
                  <a:rPr lang="en-US" dirty="0" err="1"/>
                  <a:t>vrednosti</a:t>
                </a:r>
                <a:r>
                  <a:rPr lang="en-US" dirty="0"/>
                  <a:t> </a:t>
                </a:r>
                <a:r>
                  <a:rPr lang="en-US" dirty="0" err="1"/>
                  <a:t>ovog</a:t>
                </a:r>
                <a:r>
                  <a:rPr lang="en-US" dirty="0"/>
                  <a:t> </a:t>
                </a:r>
                <a:r>
                  <a:rPr lang="en-US" dirty="0" err="1"/>
                  <a:t>operatora</a:t>
                </a:r>
                <a:r>
                  <a:rPr lang="en-US" dirty="0"/>
                  <a:t> </a:t>
                </a:r>
                <a:r>
                  <a:rPr lang="en-US" dirty="0" err="1"/>
                  <a:t>su</a:t>
                </a:r>
                <a:r>
                  <a:rPr lang="en-US" dirty="0"/>
                  <a:t> </a:t>
                </a:r>
                <a:r>
                  <a:rPr lang="sr-Latn-RS" sz="1200" i="0">
                    <a:latin typeface="Cambria Math" panose="02040503050406030204" pitchFamily="18" charset="0"/>
                  </a:rPr>
                  <a:t>𝜆=</a:t>
                </a:r>
                <a:r>
                  <a:rPr lang="sr-Latn-RS" sz="1200" i="0">
                    <a:latin typeface="Cambria Math" panose="02040503050406030204" pitchFamily="18" charset="0"/>
                    <a:ea typeface="Cambria Math" panose="02040503050406030204" pitchFamily="18" charset="0"/>
                  </a:rPr>
                  <a:t>±</a:t>
                </a:r>
                <a:r>
                  <a:rPr lang="sr-Latn-RS" sz="1200" i="0">
                    <a:latin typeface="Cambria Math" panose="02040503050406030204" pitchFamily="18" charset="0"/>
                  </a:rPr>
                  <a:t>1</a:t>
                </a:r>
                <a:r>
                  <a:rPr lang="en-US" sz="1200" kern="1200" dirty="0">
                    <a:solidFill>
                      <a:schemeClr val="tx1"/>
                    </a:solidFill>
                    <a:latin typeface="+mn-lt"/>
                    <a:ea typeface="+mn-ea"/>
                    <a:cs typeface="+mn-cs"/>
                  </a:rPr>
                  <a:t>, a </a:t>
                </a:r>
                <a:r>
                  <a:rPr lang="en-US" sz="1200" kern="1200" dirty="0" err="1">
                    <a:solidFill>
                      <a:schemeClr val="tx1"/>
                    </a:solidFill>
                    <a:latin typeface="+mn-lt"/>
                    <a:ea typeface="+mn-ea"/>
                    <a:cs typeface="+mn-cs"/>
                  </a:rPr>
                  <a:t>sopstveni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vektori</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su</a:t>
                </a:r>
                <a:r>
                  <a:rPr lang="en-US" sz="1200" kern="1200" baseline="0" dirty="0">
                    <a:solidFill>
                      <a:schemeClr val="tx1"/>
                    </a:solidFill>
                    <a:latin typeface="+mn-lt"/>
                    <a:ea typeface="+mn-ea"/>
                    <a:cs typeface="+mn-cs"/>
                  </a:rPr>
                  <a:t> </a:t>
                </a:r>
                <a:r>
                  <a:rPr lang="en-US" dirty="0"/>
                  <a:t>∣0⟩ </a:t>
                </a:r>
                <a:r>
                  <a:rPr lang="en-US" dirty="0" err="1"/>
                  <a:t>i</a:t>
                </a:r>
                <a:r>
                  <a:rPr lang="en-US" dirty="0"/>
                  <a:t> ∣1⟩.  To </a:t>
                </a:r>
                <a:r>
                  <a:rPr lang="en-US" dirty="0" err="1"/>
                  <a:t>znači</a:t>
                </a:r>
                <a:r>
                  <a:rPr lang="en-US" dirty="0"/>
                  <a:t> da u </a:t>
                </a:r>
                <a:r>
                  <a:rPr lang="en-US" dirty="0" err="1"/>
                  <a:t>matematičkom</a:t>
                </a:r>
                <a:r>
                  <a:rPr lang="en-US" dirty="0"/>
                  <a:t> </a:t>
                </a:r>
                <a:r>
                  <a:rPr lang="en-US" dirty="0" err="1"/>
                  <a:t>modelu</a:t>
                </a:r>
                <a:r>
                  <a:rPr lang="en-US" dirty="0"/>
                  <a:t> </a:t>
                </a:r>
                <a:r>
                  <a:rPr lang="en-US" dirty="0" err="1"/>
                  <a:t>merenja</a:t>
                </a:r>
                <a:r>
                  <a:rPr lang="en-US" dirty="0"/>
                  <a:t>, </a:t>
                </a:r>
                <a:r>
                  <a:rPr lang="en-US" dirty="0" err="1"/>
                  <a:t>mogući</a:t>
                </a:r>
                <a:r>
                  <a:rPr lang="en-US" dirty="0"/>
                  <a:t> </a:t>
                </a:r>
                <a:r>
                  <a:rPr lang="en-US" dirty="0" err="1"/>
                  <a:t>ishodi</a:t>
                </a:r>
                <a:r>
                  <a:rPr lang="en-US" baseline="0" dirty="0"/>
                  <a:t> </a:t>
                </a:r>
                <a:r>
                  <a:rPr lang="en-US" baseline="0" dirty="0" err="1"/>
                  <a:t>merenja</a:t>
                </a:r>
                <a:r>
                  <a:rPr lang="en-US" baseline="0" dirty="0"/>
                  <a:t> </a:t>
                </a:r>
                <a:r>
                  <a:rPr lang="en-US" baseline="0" dirty="0" err="1"/>
                  <a:t>iznose</a:t>
                </a:r>
                <a:r>
                  <a:rPr lang="en-US" baseline="0" dirty="0"/>
                  <a:t> </a:t>
                </a:r>
                <a:r>
                  <a:rPr lang="sr-Latn-RS" sz="1200" b="0" i="0">
                    <a:latin typeface="Cambria Math" panose="02040503050406030204" pitchFamily="18" charset="0"/>
                    <a:ea typeface="Cambria Math" panose="02040503050406030204" pitchFamily="18" charset="0"/>
                  </a:rPr>
                  <a:t>+</a:t>
                </a:r>
                <a:r>
                  <a:rPr lang="sr-Latn-RS" sz="1200" i="0">
                    <a:latin typeface="Cambria Math" panose="02040503050406030204" pitchFamily="18" charset="0"/>
                  </a:rPr>
                  <a:t>1</a:t>
                </a:r>
                <a:r>
                  <a:rPr lang="en-US" sz="1200" kern="1200" dirty="0">
                    <a:solidFill>
                      <a:schemeClr val="tx1"/>
                    </a:solidFill>
                    <a:latin typeface="+mn-lt"/>
                    <a:ea typeface="+mn-ea"/>
                    <a:cs typeface="+mn-cs"/>
                  </a:rPr>
                  <a:t> ili </a:t>
                </a:r>
                <a:r>
                  <a:rPr lang="sr-Latn-RS" sz="1200" b="0" i="0">
                    <a:latin typeface="Cambria Math" panose="02040503050406030204" pitchFamily="18" charset="0"/>
                    <a:ea typeface="Cambria Math" panose="02040503050406030204" pitchFamily="18" charset="0"/>
                  </a:rPr>
                  <a:t>−</a:t>
                </a:r>
                <a:r>
                  <a:rPr lang="sr-Latn-RS" sz="1200" i="0">
                    <a:latin typeface="Cambria Math" panose="02040503050406030204" pitchFamily="18" charset="0"/>
                  </a:rPr>
                  <a:t>1</a:t>
                </a:r>
                <a:r>
                  <a:rPr lang="en-US" sz="1200" kern="1200" dirty="0">
                    <a:solidFill>
                      <a:schemeClr val="tx1"/>
                    </a:solidFill>
                    <a:latin typeface="+mn-lt"/>
                    <a:ea typeface="+mn-ea"/>
                    <a:cs typeface="+mn-cs"/>
                  </a:rPr>
                  <a:t>. Po </a:t>
                </a:r>
                <a:r>
                  <a:rPr lang="en-US" sz="1200" kern="1200" dirty="0" err="1">
                    <a:solidFill>
                      <a:schemeClr val="tx1"/>
                    </a:solidFill>
                    <a:latin typeface="+mn-lt"/>
                    <a:ea typeface="+mn-ea"/>
                    <a:cs typeface="+mn-cs"/>
                  </a:rPr>
                  <a:t>konvenciji</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predstavlja</a:t>
                </a:r>
                <a:r>
                  <a:rPr lang="en-US" sz="1200" kern="1200" dirty="0">
                    <a:solidFill>
                      <a:schemeClr val="tx1"/>
                    </a:solidFill>
                    <a:latin typeface="+mn-lt"/>
                    <a:ea typeface="+mn-ea"/>
                    <a:cs typeface="+mn-cs"/>
                  </a:rPr>
                  <a:t> bit 0, a −1 </a:t>
                </a:r>
                <a:r>
                  <a:rPr lang="en-US" sz="1200" kern="1200" dirty="0" err="1">
                    <a:solidFill>
                      <a:schemeClr val="tx1"/>
                    </a:solidFill>
                    <a:latin typeface="+mn-lt"/>
                    <a:ea typeface="+mn-ea"/>
                    <a:cs typeface="+mn-cs"/>
                  </a:rPr>
                  <a:t>predstavlja</a:t>
                </a:r>
                <a:r>
                  <a:rPr lang="en-US" sz="1200" kern="1200" dirty="0">
                    <a:solidFill>
                      <a:schemeClr val="tx1"/>
                    </a:solidFill>
                    <a:latin typeface="+mn-lt"/>
                    <a:ea typeface="+mn-ea"/>
                    <a:cs typeface="+mn-cs"/>
                  </a:rPr>
                  <a:t> bit 1. </a:t>
                </a:r>
                <a:r>
                  <a:rPr lang="en-US" sz="1200" kern="1200" dirty="0" err="1">
                    <a:solidFill>
                      <a:schemeClr val="tx1"/>
                    </a:solidFill>
                    <a:latin typeface="+mn-lt"/>
                    <a:ea typeface="+mn-ea"/>
                    <a:cs typeface="+mn-cs"/>
                  </a:rPr>
                  <a:t>Merenje</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izaziva</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kolaps</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kvantnog</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stanja</a:t>
                </a:r>
                <a:r>
                  <a:rPr lang="en-US" sz="1200" kern="1200" dirty="0">
                    <a:solidFill>
                      <a:schemeClr val="tx1"/>
                    </a:solidFill>
                    <a:latin typeface="+mn-lt"/>
                    <a:ea typeface="+mn-ea"/>
                    <a:cs typeface="+mn-cs"/>
                  </a:rPr>
                  <a:t> u</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vektor</a:t>
                </a:r>
                <a:r>
                  <a:rPr lang="en-US" sz="1200" kern="1200" baseline="0" dirty="0">
                    <a:solidFill>
                      <a:schemeClr val="tx1"/>
                    </a:solidFill>
                    <a:latin typeface="+mn-lt"/>
                    <a:ea typeface="+mn-ea"/>
                    <a:cs typeface="+mn-cs"/>
                  </a:rPr>
                  <a:t> </a:t>
                </a:r>
                <a:r>
                  <a:rPr lang="en-US" dirty="0"/>
                  <a:t>∣0⟩ </a:t>
                </a:r>
                <a:r>
                  <a:rPr lang="en-US" dirty="0" err="1"/>
                  <a:t>ili</a:t>
                </a:r>
                <a:r>
                  <a:rPr lang="en-US" dirty="0"/>
                  <a:t> ∣1⟩, </a:t>
                </a:r>
                <a:r>
                  <a:rPr lang="en-US" dirty="0" err="1"/>
                  <a:t>saglasno</a:t>
                </a:r>
                <a:r>
                  <a:rPr lang="en-US" baseline="0" dirty="0"/>
                  <a:t> </a:t>
                </a:r>
                <a:r>
                  <a:rPr lang="en-US" baseline="0" dirty="0" err="1"/>
                  <a:t>sa</a:t>
                </a:r>
                <a:r>
                  <a:rPr lang="en-US" baseline="0" dirty="0"/>
                  <a:t> </a:t>
                </a:r>
                <a:r>
                  <a:rPr lang="en-US" baseline="0" dirty="0" err="1"/>
                  <a:t>izmerenom</a:t>
                </a:r>
                <a:r>
                  <a:rPr lang="en-US" baseline="0" dirty="0"/>
                  <a:t> </a:t>
                </a:r>
                <a:r>
                  <a:rPr lang="en-US" baseline="0" dirty="0" err="1"/>
                  <a:t>sopstvenom</a:t>
                </a:r>
                <a:r>
                  <a:rPr lang="en-US" baseline="0" dirty="0"/>
                  <a:t> </a:t>
                </a:r>
                <a:r>
                  <a:rPr lang="en-US" baseline="0" dirty="0" err="1"/>
                  <a:t>vrednošću</a:t>
                </a:r>
                <a:r>
                  <a:rPr lang="en-US" baseline="0" dirty="0"/>
                  <a:t>.</a:t>
                </a:r>
                <a:endParaRPr lang="en-US" sz="1200" kern="1200" dirty="0">
                  <a:solidFill>
                    <a:schemeClr val="tx1"/>
                  </a:solidFill>
                  <a:latin typeface="+mn-lt"/>
                  <a:ea typeface="+mn-ea"/>
                  <a:cs typeface="+mn-cs"/>
                </a:endParaRPr>
              </a:p>
              <a:p>
                <a:pPr algn="just"/>
                <a:endParaRPr lang="en-US" dirty="0"/>
              </a:p>
              <a:p>
                <a:pPr algn="just"/>
                <a:r>
                  <a:rPr lang="en-US" dirty="0" err="1"/>
                  <a:t>Ako</a:t>
                </a:r>
                <a:r>
                  <a:rPr lang="en-US" dirty="0"/>
                  <a:t> bi se </a:t>
                </a:r>
                <a:r>
                  <a:rPr lang="en-US" dirty="0" err="1"/>
                  <a:t>koristio</a:t>
                </a:r>
                <a:r>
                  <a:rPr lang="en-US" dirty="0"/>
                  <a:t> </a:t>
                </a:r>
                <a:r>
                  <a:rPr lang="en-US" dirty="0" err="1"/>
                  <a:t>neki</a:t>
                </a:r>
                <a:r>
                  <a:rPr lang="en-US" dirty="0"/>
                  <a:t> </a:t>
                </a:r>
                <a:r>
                  <a:rPr lang="en-US" dirty="0" err="1"/>
                  <a:t>drugi</a:t>
                </a:r>
                <a:r>
                  <a:rPr lang="en-US" dirty="0"/>
                  <a:t> operator, </a:t>
                </a:r>
                <a:r>
                  <a:rPr lang="en-US" dirty="0" err="1"/>
                  <a:t>dobili</a:t>
                </a:r>
                <a:r>
                  <a:rPr lang="en-US" dirty="0"/>
                  <a:t> </a:t>
                </a:r>
                <a:r>
                  <a:rPr lang="en-US" dirty="0" err="1"/>
                  <a:t>bismo</a:t>
                </a:r>
                <a:r>
                  <a:rPr lang="en-US" dirty="0"/>
                  <a:t> </a:t>
                </a:r>
                <a:r>
                  <a:rPr lang="en-US" dirty="0" err="1"/>
                  <a:t>drugačije</a:t>
                </a:r>
                <a:r>
                  <a:rPr lang="en-US" dirty="0"/>
                  <a:t> </a:t>
                </a:r>
                <a:r>
                  <a:rPr lang="en-US" dirty="0" err="1"/>
                  <a:t>rezultate</a:t>
                </a:r>
                <a:r>
                  <a:rPr lang="en-US" dirty="0"/>
                  <a:t> </a:t>
                </a:r>
                <a:r>
                  <a:rPr lang="en-US" dirty="0" err="1"/>
                  <a:t>jer</a:t>
                </a:r>
                <a:r>
                  <a:rPr lang="en-US" dirty="0"/>
                  <a:t> bi se </a:t>
                </a:r>
                <a:r>
                  <a:rPr lang="en-US" dirty="0" err="1"/>
                  <a:t>sistem</a:t>
                </a:r>
                <a:r>
                  <a:rPr lang="en-US" dirty="0"/>
                  <a:t> </a:t>
                </a:r>
                <a:r>
                  <a:rPr lang="en-US" dirty="0" err="1"/>
                  <a:t>redukovao</a:t>
                </a:r>
                <a:r>
                  <a:rPr lang="en-US" dirty="0"/>
                  <a:t> u </a:t>
                </a:r>
                <a:r>
                  <a:rPr lang="en-US" dirty="0" err="1"/>
                  <a:t>sopstvene</a:t>
                </a:r>
                <a:r>
                  <a:rPr lang="en-US" dirty="0"/>
                  <a:t> </a:t>
                </a:r>
                <a:r>
                  <a:rPr lang="en-US" dirty="0" err="1"/>
                  <a:t>vektore</a:t>
                </a:r>
                <a:r>
                  <a:rPr lang="en-US" dirty="0"/>
                  <a:t> tog </a:t>
                </a:r>
                <a:r>
                  <a:rPr lang="en-US" dirty="0" err="1"/>
                  <a:t>operatora</a:t>
                </a:r>
                <a:r>
                  <a:rPr lang="en-US" dirty="0"/>
                  <a:t>.</a:t>
                </a:r>
              </a:p>
              <a:p>
                <a:pPr algn="just"/>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41</a:t>
            </a:fld>
            <a:endParaRPr lang="en-US"/>
          </a:p>
        </p:txBody>
      </p:sp>
    </p:spTree>
    <p:extLst>
      <p:ext uri="{BB962C8B-B14F-4D97-AF65-F5344CB8AC3E}">
        <p14:creationId xmlns:p14="http://schemas.microsoft.com/office/powerpoint/2010/main" val="40646293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In the standard circuit model, measurement is typically performed in the computational (Z) basis, along the z-axis. In this case, the observable is the Pauli-Z operator. The possible measurement outcomes are its eigenvalues +1 and −1, while the qubit is left in the corresponding eigenstate ∣0⟩ or ∣1⟩. These outcomes are typically mapped to the classical bits 0 and 1.</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b="0" dirty="0"/>
              </a:p>
              <a:p>
                <a:pPr algn="just"/>
                <a:r>
                  <a:rPr lang="en-ZA" dirty="0"/>
                  <a:t>More generally, </a:t>
                </a:r>
                <a:r>
                  <a:rPr lang="en-ZA" b="1" dirty="0"/>
                  <a:t>Pauli measurements</a:t>
                </a:r>
                <a:r>
                  <a:rPr lang="en-ZA" dirty="0"/>
                  <a:t> refer to measurements along the x-, y-, or z-axis, represented by the corresponding Pauli operators X, Y, and Z. Each measurement has two possible eigenstates, corresponding to the eigenvalues +1 and −1, as shown in the table.</a:t>
                </a:r>
              </a:p>
              <a:p>
                <a:pPr algn="just"/>
                <a:endParaRPr lang="en-ZA" dirty="0"/>
              </a:p>
              <a:p>
                <a:pPr algn="just"/>
                <a:r>
                  <a:rPr lang="en-ZA" dirty="0"/>
                  <a:t>To measure in another basis, we first apply appropriate gates to transform that basis into the computational basis and then perform the standard measurement. The table in the third column shows the operations used for measurements in the computational, diagonal, and circular bases.</a:t>
                </a:r>
              </a:p>
              <a:p>
                <a:pPr algn="just"/>
                <a:r>
                  <a:rPr lang="en-ZA" dirty="0"/>
                  <a:t>In all cases, the measurement result is typically reported as a classical bit, 0 or 1, while the post-measurement state depends on the chosen measurement basis.</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U kvatnom računarstvu često se koriste termini Paulijevo merenje ili merenje u Paulijevim bazama. Paulijeva merenja se odnose na merenju kubita duž </a:t>
                </a:r>
                <a:r>
                  <a:rPr lang="en-US" sz="2000" b="0" i="0">
                    <a:latin typeface="Cambria Math" panose="02040503050406030204" pitchFamily="18" charset="0"/>
                  </a:rPr>
                  <a:t>𝑥</a:t>
                </a:r>
                <a:r>
                  <a:rPr lang="sr-Latn-RS" sz="2000" b="0" i="0">
                    <a:latin typeface="Cambria Math" panose="02040503050406030204" pitchFamily="18" charset="0"/>
                  </a:rPr>
                  <a:t>,𝑦</a:t>
                </a:r>
                <a:r>
                  <a:rPr lang="en-US" sz="2000" dirty="0"/>
                  <a:t> ili </a:t>
                </a:r>
                <a:r>
                  <a:rPr lang="sr-Latn-RS" sz="2000" b="0" i="0">
                    <a:latin typeface="Cambria Math" panose="02040503050406030204" pitchFamily="18" charset="0"/>
                  </a:rPr>
                  <a:t>z</a:t>
                </a:r>
                <a:r>
                  <a:rPr lang="en-US" sz="2000" dirty="0"/>
                  <a:t> ose</a:t>
                </a:r>
                <a:r>
                  <a:rPr lang="en-US" sz="2000" baseline="0" dirty="0"/>
                  <a:t>.</a:t>
                </a:r>
                <a:endParaRPr lang="en-US" sz="2000" dirty="0"/>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err="1"/>
                  <a:t>Jedino</a:t>
                </a:r>
                <a:r>
                  <a:rPr lang="en-US" sz="2000" dirty="0"/>
                  <a:t> </a:t>
                </a:r>
                <a:r>
                  <a:rPr lang="en-US" sz="2000" dirty="0" err="1"/>
                  <a:t>fizičko</a:t>
                </a:r>
                <a:r>
                  <a:rPr lang="en-US" sz="2000" dirty="0"/>
                  <a:t>, </a:t>
                </a:r>
                <a:r>
                  <a:rPr lang="en-US" sz="2000" dirty="0" err="1"/>
                  <a:t>hardversko</a:t>
                </a:r>
                <a:r>
                  <a:rPr lang="en-US" sz="2000" dirty="0"/>
                  <a:t>, </a:t>
                </a:r>
                <a:r>
                  <a:rPr lang="en-US" sz="2000" dirty="0" err="1"/>
                  <a:t>merenje</a:t>
                </a:r>
                <a:r>
                  <a:rPr lang="en-US" sz="2000" dirty="0"/>
                  <a:t> </a:t>
                </a:r>
                <a:r>
                  <a:rPr lang="en-US" sz="2000" dirty="0" err="1"/>
                  <a:t>je</a:t>
                </a:r>
                <a:r>
                  <a:rPr lang="en-US" sz="2000" dirty="0"/>
                  <a:t> </a:t>
                </a:r>
                <a:r>
                  <a:rPr lang="en-US" sz="2000" dirty="0" err="1"/>
                  <a:t>merenje</a:t>
                </a:r>
                <a:r>
                  <a:rPr lang="en-US" sz="2000" dirty="0"/>
                  <a:t> </a:t>
                </a:r>
                <a:r>
                  <a:rPr lang="en-US" sz="2000" dirty="0" err="1"/>
                  <a:t>duž</a:t>
                </a:r>
                <a:r>
                  <a:rPr lang="en-US" sz="2000" dirty="0"/>
                  <a:t> </a:t>
                </a:r>
                <a:r>
                  <a:rPr lang="sr-Latn-RS" sz="2000" b="0" i="0">
                    <a:latin typeface="Cambria Math" panose="02040503050406030204" pitchFamily="18" charset="0"/>
                  </a:rPr>
                  <a:t>z</a:t>
                </a:r>
                <a:r>
                  <a:rPr lang="en-US" sz="2000" dirty="0"/>
                  <a:t> </a:t>
                </a:r>
                <a:r>
                  <a:rPr lang="en-US" sz="2000" dirty="0" err="1"/>
                  <a:t>ose</a:t>
                </a:r>
                <a:r>
                  <a:rPr lang="en-US" sz="2000" dirty="0"/>
                  <a:t> </a:t>
                </a:r>
                <a:r>
                  <a:rPr lang="en-US" sz="2000" dirty="0" err="1"/>
                  <a:t>odnosno</a:t>
                </a:r>
                <a:r>
                  <a:rPr lang="en-US" sz="2000" dirty="0"/>
                  <a:t> </a:t>
                </a:r>
                <a:r>
                  <a:rPr lang="en-US" sz="2000" dirty="0" err="1"/>
                  <a:t>standardno</a:t>
                </a:r>
                <a:r>
                  <a:rPr lang="en-US" sz="2000" dirty="0"/>
                  <a:t> </a:t>
                </a:r>
                <a:r>
                  <a:rPr lang="en-US" sz="2000" dirty="0" err="1"/>
                  <a:t>merenje</a:t>
                </a:r>
                <a:r>
                  <a:rPr lang="en-US" sz="2000" dirty="0"/>
                  <a:t>. </a:t>
                </a:r>
                <a:r>
                  <a:rPr lang="en-US" sz="2000" dirty="0" err="1"/>
                  <a:t>Merenje</a:t>
                </a:r>
                <a:r>
                  <a:rPr lang="en-US" sz="2000" dirty="0"/>
                  <a:t> </a:t>
                </a:r>
                <a:r>
                  <a:rPr lang="en-US" sz="2000" dirty="0" err="1"/>
                  <a:t>duž</a:t>
                </a:r>
                <a:r>
                  <a:rPr lang="en-US" sz="2000" baseline="0" dirty="0"/>
                  <a:t> </a:t>
                </a:r>
                <a:r>
                  <a:rPr lang="en-US" sz="2000" baseline="0" dirty="0" err="1"/>
                  <a:t>ostalih</a:t>
                </a:r>
                <a:r>
                  <a:rPr lang="en-US" sz="2000" baseline="0" dirty="0"/>
                  <a:t> </a:t>
                </a:r>
                <a:r>
                  <a:rPr lang="en-US" sz="2000" baseline="0" dirty="0" err="1"/>
                  <a:t>osa</a:t>
                </a:r>
                <a:r>
                  <a:rPr lang="en-US" sz="2000" baseline="0" dirty="0"/>
                  <a:t> se </a:t>
                </a:r>
                <a:r>
                  <a:rPr lang="en-US" sz="2000" baseline="0" dirty="0" err="1"/>
                  <a:t>dobija</a:t>
                </a:r>
                <a:r>
                  <a:rPr lang="en-US" sz="2000" baseline="0" dirty="0"/>
                  <a:t> </a:t>
                </a:r>
                <a:r>
                  <a:rPr lang="en-US" sz="2000" baseline="0" dirty="0" err="1"/>
                  <a:t>primenom</a:t>
                </a:r>
                <a:r>
                  <a:rPr lang="en-US" sz="2000" baseline="0" dirty="0"/>
                  <a:t> </a:t>
                </a:r>
                <a:r>
                  <a:rPr lang="en-US" sz="2000" baseline="0" dirty="0" err="1"/>
                  <a:t>operatora</a:t>
                </a:r>
                <a:r>
                  <a:rPr lang="en-US" sz="2000" baseline="0" dirty="0"/>
                  <a:t> </a:t>
                </a:r>
                <a:r>
                  <a:rPr lang="en-US" sz="2000" baseline="0" dirty="0" err="1"/>
                  <a:t>iz</a:t>
                </a:r>
                <a:r>
                  <a:rPr lang="en-US" sz="2000" baseline="0" dirty="0"/>
                  <a:t> </a:t>
                </a:r>
                <a:r>
                  <a:rPr lang="en-US" sz="2000" baseline="0" dirty="0" err="1"/>
                  <a:t>tabele</a:t>
                </a:r>
                <a:r>
                  <a:rPr lang="en-US" sz="2000" baseline="0" dirty="0"/>
                  <a:t> </a:t>
                </a:r>
                <a:r>
                  <a:rPr lang="en-US" sz="2000" baseline="0" dirty="0" err="1"/>
                  <a:t>koje</a:t>
                </a:r>
                <a:r>
                  <a:rPr lang="en-US" sz="2000" baseline="0" dirty="0"/>
                  <a:t> </a:t>
                </a:r>
                <a:r>
                  <a:rPr lang="en-US" sz="2000" baseline="0" dirty="0" err="1"/>
                  <a:t>rotiraju</a:t>
                </a:r>
                <a:r>
                  <a:rPr lang="en-US" sz="2000" baseline="0" dirty="0"/>
                  <a:t> </a:t>
                </a:r>
                <a:r>
                  <a:rPr lang="en-US" sz="2000" baseline="0" dirty="0" err="1"/>
                  <a:t>vektor</a:t>
                </a:r>
                <a:r>
                  <a:rPr lang="en-US" sz="2000" baseline="0" dirty="0"/>
                  <a:t> a </a:t>
                </a:r>
                <a:r>
                  <a:rPr lang="en-US" sz="2000" baseline="0" dirty="0" err="1"/>
                  <a:t>zatim</a:t>
                </a:r>
                <a:r>
                  <a:rPr lang="en-US" sz="2000" baseline="0" dirty="0"/>
                  <a:t> </a:t>
                </a:r>
                <a:r>
                  <a:rPr lang="en-US" sz="2000" baseline="0" dirty="0" err="1"/>
                  <a:t>primene</a:t>
                </a:r>
                <a:r>
                  <a:rPr lang="en-US" sz="2000" baseline="0" dirty="0"/>
                  <a:t> Pauli Z </a:t>
                </a:r>
                <a:r>
                  <a:rPr lang="en-US" sz="2000" baseline="0" dirty="0" err="1"/>
                  <a:t>merenje</a:t>
                </a:r>
                <a:r>
                  <a:rPr lang="en-US" sz="2000" baseline="0" dirty="0"/>
                  <a: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aseline="0" dirty="0" err="1"/>
                  <a:t>Rezultat</a:t>
                </a:r>
                <a:r>
                  <a:rPr lang="en-US" sz="2000" baseline="0" dirty="0"/>
                  <a:t> </a:t>
                </a:r>
                <a:r>
                  <a:rPr lang="en-US" sz="2000" baseline="0" dirty="0" err="1"/>
                  <a:t>merenja</a:t>
                </a:r>
                <a:r>
                  <a:rPr lang="en-US" sz="2000" baseline="0" dirty="0"/>
                  <a:t> </a:t>
                </a:r>
                <a:r>
                  <a:rPr lang="en-US" sz="2000" baseline="0" dirty="0" err="1"/>
                  <a:t>je</a:t>
                </a:r>
                <a:r>
                  <a:rPr lang="en-US" sz="2000" baseline="0" dirty="0"/>
                  <a:t> </a:t>
                </a:r>
                <a:r>
                  <a:rPr lang="en-US" sz="2000" baseline="0" dirty="0" err="1"/>
                  <a:t>uvek</a:t>
                </a:r>
                <a:r>
                  <a:rPr lang="en-US" sz="2000" baseline="0" dirty="0"/>
                  <a:t> bit 0 iii bit 1, a </a:t>
                </a:r>
                <a:r>
                  <a:rPr lang="en-US" sz="2000" baseline="0" dirty="0" err="1"/>
                  <a:t>stanje</a:t>
                </a:r>
                <a:r>
                  <a:rPr lang="en-US" sz="2000" baseline="0" dirty="0"/>
                  <a:t> </a:t>
                </a:r>
                <a:r>
                  <a:rPr lang="en-US" sz="2000" baseline="0" dirty="0" err="1"/>
                  <a:t>vektora</a:t>
                </a:r>
                <a:r>
                  <a:rPr lang="en-US" sz="2000" baseline="0" dirty="0"/>
                  <a:t> </a:t>
                </a:r>
                <a:r>
                  <a:rPr lang="en-US" sz="2000" baseline="0" dirty="0" err="1"/>
                  <a:t>posle</a:t>
                </a:r>
                <a:r>
                  <a:rPr lang="en-US" sz="2000" baseline="0" dirty="0"/>
                  <a:t> </a:t>
                </a:r>
                <a:r>
                  <a:rPr lang="en-US" sz="2000" baseline="0" dirty="0" err="1"/>
                  <a:t>merenja</a:t>
                </a:r>
                <a:r>
                  <a:rPr lang="en-US" sz="2000" baseline="0" dirty="0"/>
                  <a:t> </a:t>
                </a:r>
                <a:r>
                  <a:rPr lang="en-US" sz="2000" baseline="0" dirty="0" err="1"/>
                  <a:t>je</a:t>
                </a:r>
                <a:r>
                  <a:rPr lang="en-US" sz="2000" baseline="0" dirty="0"/>
                  <a:t> </a:t>
                </a:r>
                <a:r>
                  <a:rPr lang="en-US" sz="2000" baseline="0" dirty="0" err="1"/>
                  <a:t>stvar</a:t>
                </a:r>
                <a:r>
                  <a:rPr lang="en-US" sz="2000" baseline="0" dirty="0"/>
                  <a:t> </a:t>
                </a:r>
                <a:r>
                  <a:rPr lang="en-US" sz="2000" baseline="0" dirty="0" err="1"/>
                  <a:t>interpretacije</a:t>
                </a:r>
                <a:r>
                  <a:rPr lang="en-US" sz="2000" baseline="0" dirty="0"/>
                  <a:t> </a:t>
                </a:r>
                <a:r>
                  <a:rPr lang="en-US" sz="2000" baseline="0" dirty="0" err="1"/>
                  <a:t>znajući</a:t>
                </a:r>
                <a:r>
                  <a:rPr lang="en-US" sz="2000" baseline="0" dirty="0"/>
                  <a:t> </a:t>
                </a:r>
                <a:r>
                  <a:rPr lang="en-US" sz="2000" baseline="0" dirty="0" err="1"/>
                  <a:t>koji</a:t>
                </a:r>
                <a:r>
                  <a:rPr lang="en-US" sz="2000" baseline="0" dirty="0"/>
                  <a:t> </a:t>
                </a:r>
                <a:r>
                  <a:rPr lang="en-US" sz="2000" baseline="0" dirty="0" err="1"/>
                  <a:t>je</a:t>
                </a:r>
                <a:r>
                  <a:rPr lang="en-US" sz="2000" baseline="0" dirty="0"/>
                  <a:t> operator </a:t>
                </a:r>
                <a:r>
                  <a:rPr lang="en-US" sz="2000" baseline="0" dirty="0" err="1"/>
                  <a:t>primenjen</a:t>
                </a:r>
                <a:r>
                  <a:rPr lang="en-US" sz="2000" baseline="0" dirty="0"/>
                  <a:t> pre </a:t>
                </a:r>
                <a:r>
                  <a:rPr lang="en-US" sz="2000" baseline="0" dirty="0" err="1"/>
                  <a:t>standardnog</a:t>
                </a:r>
                <a:r>
                  <a:rPr lang="en-US" sz="2000" baseline="0" dirty="0"/>
                  <a:t> </a:t>
                </a:r>
                <a:r>
                  <a:rPr lang="en-US" sz="2000" baseline="0" dirty="0" err="1"/>
                  <a:t>merenja</a:t>
                </a:r>
                <a:r>
                  <a:rPr lang="en-US" sz="2000" baseline="0" dirty="0"/>
                  <a:t>.</a:t>
                </a:r>
                <a:endParaRPr lang="en-US" sz="20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42</a:t>
            </a:fld>
            <a:endParaRPr lang="en-US"/>
          </a:p>
        </p:txBody>
      </p:sp>
    </p:spTree>
    <p:extLst>
      <p:ext uri="{BB962C8B-B14F-4D97-AF65-F5344CB8AC3E}">
        <p14:creationId xmlns:p14="http://schemas.microsoft.com/office/powerpoint/2010/main" val="334572650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The example illustrates the measurement of a qubit along the z-axis. Suppose the qubit is initialized in the state</a:t>
                </a:r>
                <a:endParaRPr lang="en-US" sz="1200" i="1" dirty="0">
                  <a:solidFill>
                    <a:srgbClr val="002060"/>
                  </a:solidFill>
                  <a:latin typeface="Cambria Math" panose="02040503050406030204" pitchFamily="18" charset="0"/>
                  <a:ea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𝑆</m:t>
                          </m:r>
                        </m:e>
                      </m:d>
                      <m:r>
                        <a:rPr lang="en-US" sz="1200" b="0" i="1" smtClean="0">
                          <a:solidFill>
                            <a:srgbClr val="002060"/>
                          </a:solidFill>
                          <a:latin typeface="Cambria Math" panose="02040503050406030204" pitchFamily="18" charset="0"/>
                          <a:ea typeface="Cambria Math" panose="02040503050406030204" pitchFamily="18" charset="0"/>
                        </a:rPr>
                        <m:t>=</m:t>
                      </m:r>
                      <m:f>
                        <m:fPr>
                          <m:ctrlPr>
                            <a:rPr lang="en-US" sz="1200" b="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0</m:t>
                              </m:r>
                            </m:e>
                          </m:d>
                          <m:r>
                            <a:rPr lang="en-US" sz="12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sSup>
                                <m:sSupPr>
                                  <m:ctrlPr>
                                    <a:rPr lang="en-US" sz="1200" i="1" smtClean="0">
                                      <a:solidFill>
                                        <a:srgbClr val="002060"/>
                                      </a:solidFill>
                                      <a:latin typeface="Cambria Math" panose="02040503050406030204" pitchFamily="18" charset="0"/>
                                      <a:ea typeface="Cambria Math" panose="02040503050406030204" pitchFamily="18" charset="0"/>
                                    </a:rPr>
                                  </m:ctrlPr>
                                </m:sSupPr>
                                <m:e>
                                  <m:r>
                                    <a:rPr lang="en-US" sz="1200" b="0" i="1" smtClean="0">
                                      <a:solidFill>
                                        <a:srgbClr val="002060"/>
                                      </a:solidFill>
                                      <a:latin typeface="Cambria Math" panose="02040503050406030204" pitchFamily="18" charset="0"/>
                                      <a:ea typeface="Cambria Math" panose="02040503050406030204" pitchFamily="18" charset="0"/>
                                    </a:rPr>
                                    <m:t>𝑒</m:t>
                                  </m:r>
                                </m:e>
                                <m:sup>
                                  <m:r>
                                    <a:rPr lang="en-US" sz="1200" b="0" i="1" smtClean="0">
                                      <a:solidFill>
                                        <a:srgbClr val="002060"/>
                                      </a:solidFill>
                                      <a:latin typeface="Cambria Math" panose="02040503050406030204" pitchFamily="18" charset="0"/>
                                      <a:ea typeface="Cambria Math" panose="02040503050406030204" pitchFamily="18" charset="0"/>
                                    </a:rPr>
                                    <m:t>𝑖</m:t>
                                  </m:r>
                                  <m:r>
                                    <a:rPr lang="en-US" sz="1200" i="1">
                                      <a:solidFill>
                                        <a:srgbClr val="002060"/>
                                      </a:solidFill>
                                      <a:latin typeface="Cambria Math" panose="02040503050406030204" pitchFamily="18" charset="0"/>
                                      <a:ea typeface="Cambria Math" panose="02040503050406030204" pitchFamily="18" charset="0"/>
                                    </a:rPr>
                                    <m:t>𝜋</m:t>
                                  </m:r>
                                  <m:r>
                                    <a:rPr lang="en-US" sz="1200" b="0" i="1" smtClean="0">
                                      <a:solidFill>
                                        <a:srgbClr val="002060"/>
                                      </a:solidFill>
                                      <a:latin typeface="Cambria Math" panose="02040503050406030204" pitchFamily="18" charset="0"/>
                                      <a:ea typeface="Cambria Math" panose="02040503050406030204" pitchFamily="18" charset="0"/>
                                    </a:rPr>
                                    <m:t>/3</m:t>
                                  </m:r>
                                </m:sup>
                              </m:sSup>
                              <m:r>
                                <a:rPr lang="en-US" sz="120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1</m:t>
                              </m:r>
                            </m:e>
                          </m:d>
                        </m:num>
                        <m:den>
                          <m:rad>
                            <m:radPr>
                              <m:degHide m:val="on"/>
                              <m:ctrlPr>
                                <a:rPr lang="en-US" sz="1200" b="0" i="1" smtClean="0">
                                  <a:solidFill>
                                    <a:srgbClr val="002060"/>
                                  </a:solidFill>
                                  <a:latin typeface="Cambria Math" panose="02040503050406030204" pitchFamily="18" charset="0"/>
                                  <a:ea typeface="Cambria Math" panose="02040503050406030204" pitchFamily="18" charset="0"/>
                                </a:rPr>
                              </m:ctrlPr>
                            </m:radPr>
                            <m:deg/>
                            <m:e>
                              <m:r>
                                <a:rPr lang="en-US" sz="1200" b="0" i="1" smtClean="0">
                                  <a:solidFill>
                                    <a:srgbClr val="002060"/>
                                  </a:solidFill>
                                  <a:latin typeface="Cambria Math" panose="02040503050406030204" pitchFamily="18" charset="0"/>
                                  <a:ea typeface="Cambria Math" panose="02040503050406030204" pitchFamily="18" charset="0"/>
                                </a:rPr>
                                <m:t>2</m:t>
                              </m:r>
                            </m:e>
                          </m:rad>
                        </m:den>
                      </m:f>
                    </m:oMath>
                  </m:oMathPara>
                </a14:m>
                <a:endParaRPr lang="en-ZA" b="0" dirty="0"/>
              </a:p>
              <a:p>
                <a:pPr algn="just"/>
                <a:r>
                  <a:rPr lang="en-ZA" dirty="0"/>
                  <a:t>On the Bloch sphere, the vector lies on the equator, with polar angle</a:t>
                </a:r>
                <a14:m>
                  <m:oMath xmlns:m="http://schemas.openxmlformats.org/officeDocument/2006/math">
                    <m:r>
                      <a:rPr lang="en-US" sz="1200" b="1" i="0" smtClean="0">
                        <a:solidFill>
                          <a:srgbClr val="002060"/>
                        </a:solidFill>
                        <a:latin typeface="Cambria Math" panose="02040503050406030204" pitchFamily="18" charset="0"/>
                        <a:ea typeface="Cambria Math" panose="02040503050406030204" pitchFamily="18" charset="0"/>
                      </a:rPr>
                      <m:t> </m:t>
                    </m:r>
                    <m:r>
                      <a:rPr lang="en-US" sz="1200" i="1" smtClean="0">
                        <a:solidFill>
                          <a:srgbClr val="002060"/>
                        </a:solidFill>
                        <a:latin typeface="Cambria Math" panose="02040503050406030204" pitchFamily="18" charset="0"/>
                        <a:ea typeface="Cambria Math" panose="02040503050406030204" pitchFamily="18" charset="0"/>
                      </a:rPr>
                      <m:t>𝜃</m:t>
                    </m:r>
                    <m:r>
                      <m:rPr>
                        <m:nor/>
                      </m:rPr>
                      <a:rPr lang="en-US" sz="1200" dirty="0"/>
                      <m:t> </m:t>
                    </m:r>
                    <m:r>
                      <a:rPr lang="en-US" sz="1200" i="1" dirty="0">
                        <a:latin typeface="Cambria Math" panose="02040503050406030204" pitchFamily="18" charset="0"/>
                      </a:rPr>
                      <m:t>=</m:t>
                    </m:r>
                    <m:f>
                      <m:fPr>
                        <m:type m:val="lin"/>
                        <m:ctrlPr>
                          <a:rPr lang="en-US" sz="1200" i="1" dirty="0">
                            <a:latin typeface="Cambria Math" panose="02040503050406030204" pitchFamily="18" charset="0"/>
                          </a:rPr>
                        </m:ctrlPr>
                      </m:fPr>
                      <m:num>
                        <m:r>
                          <a:rPr lang="en-US" sz="1200" i="1">
                            <a:solidFill>
                              <a:srgbClr val="002060"/>
                            </a:solidFill>
                            <a:latin typeface="Cambria Math" panose="02040503050406030204" pitchFamily="18" charset="0"/>
                            <a:ea typeface="Cambria Math" panose="02040503050406030204" pitchFamily="18" charset="0"/>
                          </a:rPr>
                          <m:t>𝜋</m:t>
                        </m:r>
                      </m:num>
                      <m:den>
                        <m:r>
                          <a:rPr lang="en-US" sz="1200" i="1" dirty="0">
                            <a:latin typeface="Cambria Math" panose="02040503050406030204" pitchFamily="18" charset="0"/>
                          </a:rPr>
                          <m:t>2</m:t>
                        </m:r>
                      </m:den>
                    </m:f>
                  </m:oMath>
                </a14:m>
                <a:r>
                  <a:rPr lang="en-ZA" b="0" dirty="0"/>
                  <a:t> and phase angle </a:t>
                </a:r>
                <a14:m>
                  <m:oMath xmlns:m="http://schemas.openxmlformats.org/officeDocument/2006/math">
                    <m:r>
                      <a:rPr lang="en-US" sz="1200" i="1" smtClean="0">
                        <a:solidFill>
                          <a:srgbClr val="002060"/>
                        </a:solidFill>
                        <a:latin typeface="Cambria Math" panose="02040503050406030204" pitchFamily="18" charset="0"/>
                        <a:ea typeface="Cambria Math" panose="02040503050406030204" pitchFamily="18" charset="0"/>
                      </a:rPr>
                      <m:t>𝜑</m:t>
                    </m:r>
                    <m:r>
                      <m:rPr>
                        <m:nor/>
                      </m:rPr>
                      <a:rPr lang="en-US" sz="1200" dirty="0"/>
                      <m:t> </m:t>
                    </m:r>
                    <m:r>
                      <a:rPr lang="en-US" sz="1200" i="1" dirty="0">
                        <a:latin typeface="Cambria Math" panose="02040503050406030204" pitchFamily="18" charset="0"/>
                      </a:rPr>
                      <m:t>=</m:t>
                    </m:r>
                    <m:f>
                      <m:fPr>
                        <m:type m:val="lin"/>
                        <m:ctrlPr>
                          <a:rPr lang="en-US" sz="1200" i="1" dirty="0" smtClean="0">
                            <a:latin typeface="Cambria Math" panose="02040503050406030204" pitchFamily="18" charset="0"/>
                          </a:rPr>
                        </m:ctrlPr>
                      </m:fPr>
                      <m:num>
                        <m:r>
                          <a:rPr lang="en-US" sz="1200" i="1">
                            <a:solidFill>
                              <a:srgbClr val="002060"/>
                            </a:solidFill>
                            <a:latin typeface="Cambria Math" panose="02040503050406030204" pitchFamily="18" charset="0"/>
                            <a:ea typeface="Cambria Math" panose="02040503050406030204" pitchFamily="18" charset="0"/>
                          </a:rPr>
                          <m:t>𝜋</m:t>
                        </m:r>
                      </m:num>
                      <m:den>
                        <m:r>
                          <a:rPr lang="en-US" sz="1200" b="0" i="1" smtClean="0">
                            <a:solidFill>
                              <a:srgbClr val="002060"/>
                            </a:solidFill>
                            <a:latin typeface="Cambria Math" panose="02040503050406030204" pitchFamily="18" charset="0"/>
                            <a:ea typeface="Cambria Math" panose="02040503050406030204" pitchFamily="18" charset="0"/>
                          </a:rPr>
                          <m:t>3</m:t>
                        </m:r>
                      </m:den>
                    </m:f>
                  </m:oMath>
                </a14:m>
                <a:r>
                  <a:rPr lang="en-ZA" b="0" dirty="0"/>
                  <a:t>.</a:t>
                </a:r>
              </a:p>
              <a:p>
                <a:pPr algn="just"/>
                <a:endParaRPr lang="en-ZA" b="0" dirty="0"/>
              </a:p>
              <a:p>
                <a:pPr algn="just"/>
                <a:r>
                  <a:rPr lang="en-ZA" b="0" dirty="0"/>
                  <a:t>When measured in the Z basis, the qubit collapses to either ∣0⟩ or ∣1⟩, each with a 50% probability, producing the classical bit 0 or 1. Repeated measurements produce the histogram shown in the figure, with approximately equal counts for the two outcomes.</a:t>
                </a:r>
              </a:p>
              <a:p>
                <a:pPr algn="just"/>
                <a:endParaRPr lang="en-ZA" b="0" dirty="0"/>
              </a:p>
              <a:p>
                <a:pPr algn="just"/>
                <a:r>
                  <a:rPr lang="en-ZA" b="0" dirty="0"/>
                  <a:t>Notice that the histogram contains no information about the relative phase. In other words, measurement in the Z basis cannot directly reveal the qubit’s phase.</a:t>
                </a:r>
              </a:p>
            </p:txBody>
          </p:sp>
        </mc:Choice>
        <mc:Fallback xmlns="">
          <p:sp>
            <p:nvSpPr>
              <p:cNvPr id="3" name="Notes Placeholder 2"/>
              <p:cNvSpPr>
                <a:spLocks noGrp="1"/>
              </p:cNvSpPr>
              <p:nvPr>
                <p:ph type="body" idx="1"/>
              </p:nvPr>
            </p:nvSpPr>
            <p:spPr/>
            <p:txBody>
              <a:bodyPr/>
              <a:lstStyle/>
              <a:p>
                <a:r>
                  <a:rPr lang="en-US" sz="2000" dirty="0"/>
                  <a:t>A measurement gate performs a measurement in z-basis only but sometimes measurement relative to other basis would be useful.</a:t>
                </a:r>
              </a:p>
              <a:p>
                <a:pPr marL="457200" indent="-457200">
                  <a:buFont typeface="+mj-lt"/>
                  <a:buAutoNum type="arabicPeriod"/>
                </a:pPr>
                <a:r>
                  <a:rPr lang="en-US" sz="2000" dirty="0"/>
                  <a:t>To illustrate this, let’s have a circuit that puts a qubit into superposition and then rotate it for 45 degrees. If we apply a measurement gate there is 50/50 % chance to get 0 or 1 as a result. In other words, the phase shift information cannot be retrieved.</a:t>
                </a:r>
              </a:p>
              <a:p>
                <a:pPr marL="457200" indent="-457200">
                  <a:buFont typeface="+mj-lt"/>
                  <a:buAutoNum type="arabicPeriod"/>
                </a:pPr>
                <a:r>
                  <a:rPr lang="en-US" sz="2000" dirty="0"/>
                  <a:t>Let’s now add a H gate before the measurement. The measurement result now shows sensitivity  to qubit phase. By adding the H gate we in effect</a:t>
                </a:r>
                <a:r>
                  <a:rPr lang="en-US" sz="2000" baseline="0" dirty="0"/>
                  <a:t> performed measurement in </a:t>
                </a:r>
                <a:r>
                  <a:rPr lang="en-US" sz="2000" i="0">
                    <a:solidFill>
                      <a:srgbClr val="002060"/>
                    </a:solidFill>
                    <a:latin typeface="Cambria Math" panose="02040503050406030204" pitchFamily="18" charset="0"/>
                    <a:ea typeface="Cambria Math" panose="02040503050406030204" pitchFamily="18" charset="0"/>
                  </a:rPr>
                  <a:t>├ |+⟩</a:t>
                </a:r>
                <a:r>
                  <a:rPr lang="en-US" sz="2000" dirty="0"/>
                  <a:t>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a:t>
                </a:r>
                <a:r>
                  <a:rPr lang="en-US" sz="2000" dirty="0"/>
                  <a:t> basis where 0 indicates </a:t>
                </a:r>
                <a:r>
                  <a:rPr lang="en-US" sz="2000" i="0">
                    <a:solidFill>
                      <a:srgbClr val="002060"/>
                    </a:solidFill>
                    <a:latin typeface="Cambria Math" panose="02040503050406030204" pitchFamily="18" charset="0"/>
                    <a:ea typeface="Cambria Math" panose="02040503050406030204" pitchFamily="18" charset="0"/>
                  </a:rPr>
                  <a:t>├ |+⟩</a:t>
                </a:r>
                <a:r>
                  <a:rPr lang="en-US" sz="2000" dirty="0"/>
                  <a:t> and</a:t>
                </a:r>
                <a:r>
                  <a:rPr lang="en-US" sz="2000" baseline="0" dirty="0"/>
                  <a:t> 1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a:t>
                </a:r>
                <a:r>
                  <a:rPr lang="en-US" sz="2000" dirty="0"/>
                  <a:t>. The</a:t>
                </a:r>
                <a:r>
                  <a:rPr lang="en-US" sz="2000" baseline="0" dirty="0"/>
                  <a:t> type of measurement in which a H gate precedes the measurement is called a measurement in superposition basis.</a:t>
                </a: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43</a:t>
            </a:fld>
            <a:endParaRPr lang="en-US"/>
          </a:p>
        </p:txBody>
      </p:sp>
    </p:spTree>
    <p:extLst>
      <p:ext uri="{BB962C8B-B14F-4D97-AF65-F5344CB8AC3E}">
        <p14:creationId xmlns:p14="http://schemas.microsoft.com/office/powerpoint/2010/main" val="204194177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The qubit is prepared in the same state as in the previous example</a:t>
                </a:r>
                <a:r>
                  <a:rPr lang="en-ZA" b="0" dirty="0"/>
                  <a:t>. Since the standard measurement is performed in the Z basis, to measure the qubit in the X basis we first apply a Hadamard (H) gate. This transforms the X basis into the computational basis before measurement. </a:t>
                </a:r>
                <a:r>
                  <a:rPr lang="en-ZA" dirty="0"/>
                  <a:t>We rotate the state so that the phase information contained in the x-component is converted into a new z-component, which the standard measurement can detect.</a:t>
                </a:r>
              </a:p>
              <a:p>
                <a:pPr algn="just"/>
                <a:endParaRPr lang="en-ZA" b="0" dirty="0"/>
              </a:p>
              <a:p>
                <a:pPr algn="just"/>
                <a:r>
                  <a:rPr lang="en-ZA" dirty="0"/>
                  <a:t>For a general Bloch state,</a:t>
                </a:r>
              </a:p>
              <a:p>
                <a:pPr algn="just"/>
                <a14:m>
                  <m:oMathPara xmlns:m="http://schemas.openxmlformats.org/officeDocument/2006/math">
                    <m:oMathParaPr>
                      <m:jc m:val="centerGroup"/>
                    </m:oMathParaPr>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𝑥</m:t>
                      </m:r>
                      <m:r>
                        <a:rPr lang="en-US" sz="1200" b="0" i="1" smtClean="0">
                          <a:solidFill>
                            <a:srgbClr val="002060"/>
                          </a:solidFill>
                          <a:latin typeface="Cambria Math" panose="02040503050406030204" pitchFamily="18" charset="0"/>
                          <a:ea typeface="Cambria Math" panose="02040503050406030204" pitchFamily="18" charset="0"/>
                        </a:rPr>
                        <m:t>=</m:t>
                      </m:r>
                      <m:func>
                        <m:funcPr>
                          <m:ctrlPr>
                            <a:rPr lang="en-US" sz="1200" b="0" i="1" smtClean="0">
                              <a:solidFill>
                                <a:srgbClr val="002060"/>
                              </a:solidFill>
                              <a:latin typeface="Cambria Math" panose="02040503050406030204" pitchFamily="18" charset="0"/>
                              <a:ea typeface="Cambria Math" panose="02040503050406030204" pitchFamily="18" charset="0"/>
                            </a:rPr>
                          </m:ctrlPr>
                        </m:funcPr>
                        <m:fName>
                          <m:r>
                            <m:rPr>
                              <m:sty m:val="p"/>
                            </m:rPr>
                            <a:rPr lang="en-US" sz="1200" b="0" i="0" smtClean="0">
                              <a:solidFill>
                                <a:srgbClr val="002060"/>
                              </a:solidFill>
                              <a:latin typeface="Cambria Math" panose="02040503050406030204" pitchFamily="18" charset="0"/>
                              <a:ea typeface="Cambria Math" panose="02040503050406030204" pitchFamily="18" charset="0"/>
                            </a:rPr>
                            <m:t>sin</m:t>
                          </m:r>
                        </m:fName>
                        <m:e>
                          <m:r>
                            <a:rPr lang="en-US" sz="1200" i="1" smtClean="0">
                              <a:solidFill>
                                <a:srgbClr val="002060"/>
                              </a:solidFill>
                              <a:latin typeface="Cambria Math" panose="02040503050406030204" pitchFamily="18" charset="0"/>
                              <a:ea typeface="Cambria Math" panose="02040503050406030204" pitchFamily="18" charset="0"/>
                            </a:rPr>
                            <m:t>𝜃</m:t>
                          </m:r>
                          <m:func>
                            <m:funcPr>
                              <m:ctrlPr>
                                <a:rPr lang="en-US" sz="1200" b="0" i="1" smtClean="0">
                                  <a:solidFill>
                                    <a:srgbClr val="002060"/>
                                  </a:solidFill>
                                  <a:latin typeface="Cambria Math" panose="02040503050406030204" pitchFamily="18" charset="0"/>
                                  <a:ea typeface="Cambria Math" panose="02040503050406030204" pitchFamily="18" charset="0"/>
                                </a:rPr>
                              </m:ctrlPr>
                            </m:funcPr>
                            <m:fName>
                              <m:r>
                                <m:rPr>
                                  <m:sty m:val="p"/>
                                </m:rPr>
                                <a:rPr lang="en-US" sz="1200" b="0" i="0" smtClean="0">
                                  <a:solidFill>
                                    <a:srgbClr val="002060"/>
                                  </a:solidFill>
                                  <a:latin typeface="Cambria Math" panose="02040503050406030204" pitchFamily="18" charset="0"/>
                                  <a:ea typeface="Cambria Math" panose="02040503050406030204" pitchFamily="18" charset="0"/>
                                </a:rPr>
                                <m:t>cos</m:t>
                              </m:r>
                            </m:fName>
                            <m:e>
                              <m:r>
                                <a:rPr lang="en-US" sz="1200" i="1" smtClean="0">
                                  <a:solidFill>
                                    <a:srgbClr val="002060"/>
                                  </a:solidFill>
                                  <a:latin typeface="Cambria Math" panose="02040503050406030204" pitchFamily="18" charset="0"/>
                                  <a:ea typeface="Cambria Math" panose="02040503050406030204" pitchFamily="18" charset="0"/>
                                </a:rPr>
                                <m:t>𝜑</m:t>
                              </m:r>
                              <m:r>
                                <a:rPr lang="en-US" sz="1200" b="0" i="1" smtClean="0">
                                  <a:solidFill>
                                    <a:srgbClr val="002060"/>
                                  </a:solidFill>
                                  <a:latin typeface="Cambria Math" panose="02040503050406030204" pitchFamily="18" charset="0"/>
                                  <a:ea typeface="Cambria Math" panose="02040503050406030204" pitchFamily="18" charset="0"/>
                                </a:rPr>
                                <m:t>, </m:t>
                              </m:r>
                            </m:e>
                          </m:func>
                        </m:e>
                      </m:func>
                      <m:r>
                        <a:rPr lang="en-US" sz="1200" b="0" i="1" smtClean="0">
                          <a:solidFill>
                            <a:srgbClr val="002060"/>
                          </a:solidFill>
                          <a:latin typeface="Cambria Math" panose="02040503050406030204" pitchFamily="18" charset="0"/>
                          <a:ea typeface="Cambria Math" panose="02040503050406030204" pitchFamily="18" charset="0"/>
                        </a:rPr>
                        <m:t>𝑦</m:t>
                      </m:r>
                      <m:r>
                        <a:rPr lang="en-US" sz="1200" b="0" i="1" smtClean="0">
                          <a:solidFill>
                            <a:srgbClr val="002060"/>
                          </a:solidFill>
                          <a:latin typeface="Cambria Math" panose="02040503050406030204" pitchFamily="18" charset="0"/>
                          <a:ea typeface="Cambria Math" panose="02040503050406030204" pitchFamily="18" charset="0"/>
                        </a:rPr>
                        <m:t>=</m:t>
                      </m:r>
                      <m:func>
                        <m:funcPr>
                          <m:ctrlPr>
                            <a:rPr lang="en-US" sz="1200" b="0" i="1" smtClean="0">
                              <a:solidFill>
                                <a:srgbClr val="002060"/>
                              </a:solidFill>
                              <a:latin typeface="Cambria Math" panose="02040503050406030204" pitchFamily="18" charset="0"/>
                              <a:ea typeface="Cambria Math" panose="02040503050406030204" pitchFamily="18" charset="0"/>
                            </a:rPr>
                          </m:ctrlPr>
                        </m:funcPr>
                        <m:fName>
                          <m:r>
                            <m:rPr>
                              <m:sty m:val="p"/>
                            </m:rPr>
                            <a:rPr lang="en-US" sz="1200" b="0" i="0" smtClean="0">
                              <a:solidFill>
                                <a:srgbClr val="002060"/>
                              </a:solidFill>
                              <a:latin typeface="Cambria Math" panose="02040503050406030204" pitchFamily="18" charset="0"/>
                              <a:ea typeface="Cambria Math" panose="02040503050406030204" pitchFamily="18" charset="0"/>
                            </a:rPr>
                            <m:t>sin</m:t>
                          </m:r>
                        </m:fName>
                        <m:e>
                          <m:r>
                            <a:rPr lang="en-US" sz="1200" i="1" smtClean="0">
                              <a:solidFill>
                                <a:srgbClr val="002060"/>
                              </a:solidFill>
                              <a:latin typeface="Cambria Math" panose="02040503050406030204" pitchFamily="18" charset="0"/>
                              <a:ea typeface="Cambria Math" panose="02040503050406030204" pitchFamily="18" charset="0"/>
                            </a:rPr>
                            <m:t>𝜃</m:t>
                          </m:r>
                          <m:func>
                            <m:funcPr>
                              <m:ctrlPr>
                                <a:rPr lang="en-US" sz="1200" b="0" i="1" smtClean="0">
                                  <a:solidFill>
                                    <a:srgbClr val="002060"/>
                                  </a:solidFill>
                                  <a:latin typeface="Cambria Math" panose="02040503050406030204" pitchFamily="18" charset="0"/>
                                  <a:ea typeface="Cambria Math" panose="02040503050406030204" pitchFamily="18" charset="0"/>
                                </a:rPr>
                              </m:ctrlPr>
                            </m:funcPr>
                            <m:fName>
                              <m:r>
                                <m:rPr>
                                  <m:sty m:val="p"/>
                                </m:rPr>
                                <a:rPr lang="en-US" sz="1200" b="0" i="0" smtClean="0">
                                  <a:solidFill>
                                    <a:srgbClr val="002060"/>
                                  </a:solidFill>
                                  <a:latin typeface="Cambria Math" panose="02040503050406030204" pitchFamily="18" charset="0"/>
                                  <a:ea typeface="Cambria Math" panose="02040503050406030204" pitchFamily="18" charset="0"/>
                                </a:rPr>
                                <m:t>sin</m:t>
                              </m:r>
                            </m:fName>
                            <m:e>
                              <m:r>
                                <a:rPr lang="en-US" sz="1200" i="1" smtClean="0">
                                  <a:solidFill>
                                    <a:srgbClr val="002060"/>
                                  </a:solidFill>
                                  <a:latin typeface="Cambria Math" panose="02040503050406030204" pitchFamily="18" charset="0"/>
                                  <a:ea typeface="Cambria Math" panose="02040503050406030204" pitchFamily="18" charset="0"/>
                                </a:rPr>
                                <m:t>𝜑</m:t>
                              </m:r>
                            </m:e>
                          </m:func>
                          <m:r>
                            <a:rPr lang="en-US" sz="1200" b="0" i="1" smtClean="0">
                              <a:solidFill>
                                <a:srgbClr val="002060"/>
                              </a:solidFill>
                              <a:latin typeface="Cambria Math" panose="02040503050406030204" pitchFamily="18" charset="0"/>
                              <a:ea typeface="Cambria Math" panose="02040503050406030204" pitchFamily="18" charset="0"/>
                            </a:rPr>
                            <m:t>, </m:t>
                          </m:r>
                          <m:r>
                            <a:rPr lang="en-US" sz="1200" b="0" i="1" smtClean="0">
                              <a:solidFill>
                                <a:srgbClr val="002060"/>
                              </a:solidFill>
                              <a:latin typeface="Cambria Math" panose="02040503050406030204" pitchFamily="18" charset="0"/>
                              <a:ea typeface="Cambria Math" panose="02040503050406030204" pitchFamily="18" charset="0"/>
                            </a:rPr>
                            <m:t>𝑧</m:t>
                          </m:r>
                          <m:r>
                            <a:rPr lang="en-US" sz="1200" b="0" i="1" smtClean="0">
                              <a:solidFill>
                                <a:srgbClr val="002060"/>
                              </a:solidFill>
                              <a:latin typeface="Cambria Math" panose="02040503050406030204" pitchFamily="18" charset="0"/>
                              <a:ea typeface="Cambria Math" panose="02040503050406030204" pitchFamily="18" charset="0"/>
                            </a:rPr>
                            <m:t>=</m:t>
                          </m:r>
                          <m:func>
                            <m:funcPr>
                              <m:ctrlPr>
                                <a:rPr lang="en-US" sz="1200" b="0" i="1" smtClean="0">
                                  <a:solidFill>
                                    <a:srgbClr val="002060"/>
                                  </a:solidFill>
                                  <a:latin typeface="Cambria Math" panose="02040503050406030204" pitchFamily="18" charset="0"/>
                                  <a:ea typeface="Cambria Math" panose="02040503050406030204" pitchFamily="18" charset="0"/>
                                </a:rPr>
                              </m:ctrlPr>
                            </m:funcPr>
                            <m:fName>
                              <m:r>
                                <m:rPr>
                                  <m:sty m:val="p"/>
                                </m:rPr>
                                <a:rPr lang="en-US" sz="1200" b="0" i="0" smtClean="0">
                                  <a:solidFill>
                                    <a:srgbClr val="002060"/>
                                  </a:solidFill>
                                  <a:latin typeface="Cambria Math" panose="02040503050406030204" pitchFamily="18" charset="0"/>
                                  <a:ea typeface="Cambria Math" panose="02040503050406030204" pitchFamily="18" charset="0"/>
                                </a:rPr>
                                <m:t>cos</m:t>
                              </m:r>
                            </m:fName>
                            <m:e>
                              <m:r>
                                <a:rPr lang="en-US" sz="1200" i="1" smtClean="0">
                                  <a:solidFill>
                                    <a:srgbClr val="002060"/>
                                  </a:solidFill>
                                  <a:latin typeface="Cambria Math" panose="02040503050406030204" pitchFamily="18" charset="0"/>
                                  <a:ea typeface="Cambria Math" panose="02040503050406030204" pitchFamily="18" charset="0"/>
                                </a:rPr>
                                <m:t>𝜃</m:t>
                              </m:r>
                            </m:e>
                          </m:func>
                        </m:e>
                      </m:func>
                    </m:oMath>
                  </m:oMathPara>
                </a14:m>
                <a:endParaRPr lang="en-ZA" b="0" dirty="0"/>
              </a:p>
              <a:p>
                <a:pPr algn="just"/>
                <a:r>
                  <a:rPr lang="en-ZA" dirty="0"/>
                  <a:t>After the Hadamard,</a:t>
                </a:r>
                <a:endParaRPr lang="en-ZA" b="0" dirty="0"/>
              </a:p>
              <a:p>
                <a:pPr algn="just"/>
                <a14:m>
                  <m:oMathPara xmlns:m="http://schemas.openxmlformats.org/officeDocument/2006/math">
                    <m:oMathParaPr>
                      <m:jc m:val="centerGroup"/>
                    </m:oMathParaPr>
                    <m:oMath xmlns:m="http://schemas.openxmlformats.org/officeDocument/2006/math">
                      <m:sSup>
                        <m:sSupPr>
                          <m:ctrlPr>
                            <a:rPr lang="en-US" sz="1200" b="0" i="1" smtClean="0">
                              <a:solidFill>
                                <a:srgbClr val="002060"/>
                              </a:solidFill>
                              <a:latin typeface="Cambria Math" panose="02040503050406030204" pitchFamily="18" charset="0"/>
                              <a:ea typeface="Cambria Math" panose="02040503050406030204" pitchFamily="18" charset="0"/>
                            </a:rPr>
                          </m:ctrlPr>
                        </m:sSupPr>
                        <m:e>
                          <m:r>
                            <a:rPr lang="en-US" sz="1200" b="0" i="1" smtClean="0">
                              <a:solidFill>
                                <a:srgbClr val="002060"/>
                              </a:solidFill>
                              <a:latin typeface="Cambria Math" panose="02040503050406030204" pitchFamily="18" charset="0"/>
                              <a:ea typeface="Cambria Math" panose="02040503050406030204" pitchFamily="18" charset="0"/>
                            </a:rPr>
                            <m:t>𝑧</m:t>
                          </m:r>
                        </m:e>
                        <m:sup>
                          <m:r>
                            <a:rPr lang="en-US" sz="1200" b="0" i="1" smtClean="0">
                              <a:solidFill>
                                <a:srgbClr val="002060"/>
                              </a:solidFill>
                              <a:latin typeface="Cambria Math" panose="02040503050406030204" pitchFamily="18" charset="0"/>
                              <a:ea typeface="Cambria Math" panose="02040503050406030204" pitchFamily="18" charset="0"/>
                            </a:rPr>
                            <m:t>′</m:t>
                          </m:r>
                        </m:sup>
                      </m:sSup>
                      <m:r>
                        <a:rPr lang="en-US" sz="1200" b="0" i="1" smtClean="0">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𝑥</m:t>
                      </m:r>
                      <m:r>
                        <a:rPr lang="en-US" sz="1200" b="0" i="1" smtClean="0">
                          <a:solidFill>
                            <a:srgbClr val="002060"/>
                          </a:solidFill>
                          <a:latin typeface="Cambria Math" panose="02040503050406030204" pitchFamily="18" charset="0"/>
                          <a:ea typeface="Cambria Math" panose="02040503050406030204" pitchFamily="18" charset="0"/>
                        </a:rPr>
                        <m:t>=</m:t>
                      </m:r>
                      <m:func>
                        <m:funcPr>
                          <m:ctrlPr>
                            <a:rPr lang="en-US" sz="1200" b="0" i="1" smtClean="0">
                              <a:solidFill>
                                <a:srgbClr val="002060"/>
                              </a:solidFill>
                              <a:latin typeface="Cambria Math" panose="02040503050406030204" pitchFamily="18" charset="0"/>
                              <a:ea typeface="Cambria Math" panose="02040503050406030204" pitchFamily="18" charset="0"/>
                            </a:rPr>
                          </m:ctrlPr>
                        </m:funcPr>
                        <m:fName>
                          <m:r>
                            <m:rPr>
                              <m:sty m:val="p"/>
                            </m:rPr>
                            <a:rPr lang="en-US" sz="1200" b="0" i="0" smtClean="0">
                              <a:solidFill>
                                <a:srgbClr val="002060"/>
                              </a:solidFill>
                              <a:latin typeface="Cambria Math" panose="02040503050406030204" pitchFamily="18" charset="0"/>
                              <a:ea typeface="Cambria Math" panose="02040503050406030204" pitchFamily="18" charset="0"/>
                            </a:rPr>
                            <m:t>sin</m:t>
                          </m:r>
                        </m:fName>
                        <m:e>
                          <m:r>
                            <a:rPr lang="en-US" sz="1200" i="1" smtClean="0">
                              <a:solidFill>
                                <a:srgbClr val="002060"/>
                              </a:solidFill>
                              <a:latin typeface="Cambria Math" panose="02040503050406030204" pitchFamily="18" charset="0"/>
                              <a:ea typeface="Cambria Math" panose="02040503050406030204" pitchFamily="18" charset="0"/>
                            </a:rPr>
                            <m:t>𝜃</m:t>
                          </m:r>
                          <m:func>
                            <m:funcPr>
                              <m:ctrlPr>
                                <a:rPr lang="en-US" sz="1200" b="0" i="1" smtClean="0">
                                  <a:solidFill>
                                    <a:srgbClr val="002060"/>
                                  </a:solidFill>
                                  <a:latin typeface="Cambria Math" panose="02040503050406030204" pitchFamily="18" charset="0"/>
                                  <a:ea typeface="Cambria Math" panose="02040503050406030204" pitchFamily="18" charset="0"/>
                                </a:rPr>
                              </m:ctrlPr>
                            </m:funcPr>
                            <m:fName>
                              <m:r>
                                <m:rPr>
                                  <m:sty m:val="p"/>
                                </m:rPr>
                                <a:rPr lang="en-US" sz="1200" b="0" i="0" smtClean="0">
                                  <a:solidFill>
                                    <a:srgbClr val="002060"/>
                                  </a:solidFill>
                                  <a:latin typeface="Cambria Math" panose="02040503050406030204" pitchFamily="18" charset="0"/>
                                  <a:ea typeface="Cambria Math" panose="02040503050406030204" pitchFamily="18" charset="0"/>
                                </a:rPr>
                                <m:t>cos</m:t>
                              </m:r>
                            </m:fName>
                            <m:e>
                              <m:r>
                                <a:rPr lang="en-US" sz="1200" i="1" smtClean="0">
                                  <a:solidFill>
                                    <a:srgbClr val="002060"/>
                                  </a:solidFill>
                                  <a:latin typeface="Cambria Math" panose="02040503050406030204" pitchFamily="18" charset="0"/>
                                  <a:ea typeface="Cambria Math" panose="02040503050406030204" pitchFamily="18" charset="0"/>
                                </a:rPr>
                                <m:t>𝜑</m:t>
                              </m:r>
                              <m:r>
                                <a:rPr lang="en-US" sz="1200" b="0" i="1" smtClean="0">
                                  <a:solidFill>
                                    <a:srgbClr val="002060"/>
                                  </a:solidFill>
                                  <a:latin typeface="Cambria Math" panose="02040503050406030204" pitchFamily="18" charset="0"/>
                                  <a:ea typeface="Cambria Math" panose="02040503050406030204" pitchFamily="18" charset="0"/>
                                </a:rPr>
                                <m:t>, </m:t>
                              </m:r>
                            </m:e>
                          </m:func>
                        </m:e>
                      </m:func>
                    </m:oMath>
                  </m:oMathPara>
                </a14:m>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Since </a:t>
                </a:r>
                <a14:m>
                  <m:oMath xmlns:m="http://schemas.openxmlformats.org/officeDocument/2006/math">
                    <m:sSup>
                      <m:sSupPr>
                        <m:ctrlPr>
                          <a:rPr lang="en-US" sz="1200" b="0" i="1" smtClean="0">
                            <a:solidFill>
                              <a:srgbClr val="002060"/>
                            </a:solidFill>
                            <a:latin typeface="Cambria Math" panose="02040503050406030204" pitchFamily="18" charset="0"/>
                            <a:ea typeface="Cambria Math" panose="02040503050406030204" pitchFamily="18" charset="0"/>
                          </a:rPr>
                        </m:ctrlPr>
                      </m:sSupPr>
                      <m:e>
                        <m:r>
                          <a:rPr lang="en-US" sz="1200" b="0" i="1" smtClean="0">
                            <a:solidFill>
                              <a:srgbClr val="002060"/>
                            </a:solidFill>
                            <a:latin typeface="Cambria Math" panose="02040503050406030204" pitchFamily="18" charset="0"/>
                            <a:ea typeface="Cambria Math" panose="02040503050406030204" pitchFamily="18" charset="0"/>
                          </a:rPr>
                          <m:t>𝑧</m:t>
                        </m:r>
                      </m:e>
                      <m:sup>
                        <m:r>
                          <a:rPr lang="en-US" sz="1200" b="0" i="1" smtClean="0">
                            <a:solidFill>
                              <a:srgbClr val="002060"/>
                            </a:solidFill>
                            <a:latin typeface="Cambria Math" panose="02040503050406030204" pitchFamily="18" charset="0"/>
                            <a:ea typeface="Cambria Math" panose="02040503050406030204" pitchFamily="18" charset="0"/>
                          </a:rPr>
                          <m:t>′</m:t>
                        </m:r>
                      </m:sup>
                    </m:sSup>
                    <m:r>
                      <a:rPr lang="en-US" sz="1200" b="0" i="1" smtClean="0">
                        <a:solidFill>
                          <a:srgbClr val="002060"/>
                        </a:solidFill>
                        <a:latin typeface="Cambria Math" panose="02040503050406030204" pitchFamily="18" charset="0"/>
                        <a:ea typeface="Cambria Math" panose="02040503050406030204" pitchFamily="18" charset="0"/>
                      </a:rPr>
                      <m:t>=</m:t>
                    </m:r>
                    <m:func>
                      <m:funcPr>
                        <m:ctrlPr>
                          <a:rPr lang="en-US" sz="1200" b="0" i="1" smtClean="0">
                            <a:solidFill>
                              <a:srgbClr val="002060"/>
                            </a:solidFill>
                            <a:latin typeface="Cambria Math" panose="02040503050406030204" pitchFamily="18" charset="0"/>
                            <a:ea typeface="Cambria Math" panose="02040503050406030204" pitchFamily="18" charset="0"/>
                          </a:rPr>
                        </m:ctrlPr>
                      </m:funcPr>
                      <m:fName>
                        <m:r>
                          <m:rPr>
                            <m:sty m:val="p"/>
                          </m:rPr>
                          <a:rPr lang="en-US" sz="1200" b="0" i="0" smtClean="0">
                            <a:solidFill>
                              <a:srgbClr val="002060"/>
                            </a:solidFill>
                            <a:latin typeface="Cambria Math" panose="02040503050406030204" pitchFamily="18" charset="0"/>
                            <a:ea typeface="Cambria Math" panose="02040503050406030204" pitchFamily="18" charset="0"/>
                          </a:rPr>
                          <m:t>cos</m:t>
                        </m:r>
                      </m:fName>
                      <m:e>
                        <m:r>
                          <a:rPr lang="en-US" sz="1200" i="1" smtClean="0">
                            <a:solidFill>
                              <a:srgbClr val="002060"/>
                            </a:solidFill>
                            <a:latin typeface="Cambria Math" panose="02040503050406030204" pitchFamily="18" charset="0"/>
                            <a:ea typeface="Cambria Math" panose="02040503050406030204" pitchFamily="18" charset="0"/>
                          </a:rPr>
                          <m:t>𝜃</m:t>
                        </m:r>
                        <m:r>
                          <a:rPr lang="en-US" sz="1200" b="0" i="1" smtClean="0">
                            <a:solidFill>
                              <a:srgbClr val="002060"/>
                            </a:solidFill>
                            <a:latin typeface="Cambria Math" panose="02040503050406030204" pitchFamily="18" charset="0"/>
                            <a:ea typeface="Cambria Math" panose="02040503050406030204" pitchFamily="18" charset="0"/>
                          </a:rPr>
                          <m:t>′⇒</m:t>
                        </m:r>
                      </m:e>
                    </m:func>
                    <m:func>
                      <m:funcPr>
                        <m:ctrlPr>
                          <a:rPr lang="en-US" sz="1200" b="0" i="1" smtClean="0">
                            <a:solidFill>
                              <a:srgbClr val="002060"/>
                            </a:solidFill>
                            <a:latin typeface="Cambria Math" panose="02040503050406030204" pitchFamily="18" charset="0"/>
                            <a:ea typeface="Cambria Math" panose="02040503050406030204" pitchFamily="18" charset="0"/>
                          </a:rPr>
                        </m:ctrlPr>
                      </m:funcPr>
                      <m:fName>
                        <m:r>
                          <m:rPr>
                            <m:sty m:val="p"/>
                          </m:rPr>
                          <a:rPr lang="en-US" sz="1200" b="0" i="0" smtClean="0">
                            <a:solidFill>
                              <a:srgbClr val="002060"/>
                            </a:solidFill>
                            <a:latin typeface="Cambria Math" panose="02040503050406030204" pitchFamily="18" charset="0"/>
                            <a:ea typeface="Cambria Math" panose="02040503050406030204" pitchFamily="18" charset="0"/>
                          </a:rPr>
                          <m:t>cos</m:t>
                        </m:r>
                      </m:fName>
                      <m:e>
                        <m:sSup>
                          <m:sSupPr>
                            <m:ctrlPr>
                              <a:rPr lang="en-US" sz="1200" b="0" i="1" smtClean="0">
                                <a:solidFill>
                                  <a:srgbClr val="002060"/>
                                </a:solidFill>
                                <a:latin typeface="Cambria Math" panose="02040503050406030204" pitchFamily="18" charset="0"/>
                                <a:ea typeface="Cambria Math" panose="02040503050406030204" pitchFamily="18" charset="0"/>
                              </a:rPr>
                            </m:ctrlPr>
                          </m:sSupPr>
                          <m:e>
                            <m:r>
                              <a:rPr lang="en-US" sz="1200" i="1" smtClean="0">
                                <a:solidFill>
                                  <a:srgbClr val="002060"/>
                                </a:solidFill>
                                <a:latin typeface="Cambria Math" panose="02040503050406030204" pitchFamily="18" charset="0"/>
                                <a:ea typeface="Cambria Math" panose="02040503050406030204" pitchFamily="18" charset="0"/>
                              </a:rPr>
                              <m:t>𝜃</m:t>
                            </m:r>
                          </m:e>
                          <m:sup>
                            <m:r>
                              <a:rPr lang="en-US" sz="1200" b="0" i="1" smtClean="0">
                                <a:solidFill>
                                  <a:srgbClr val="002060"/>
                                </a:solidFill>
                                <a:latin typeface="Cambria Math" panose="02040503050406030204" pitchFamily="18" charset="0"/>
                                <a:ea typeface="Cambria Math" panose="02040503050406030204" pitchFamily="18" charset="0"/>
                              </a:rPr>
                              <m:t>′</m:t>
                            </m:r>
                          </m:sup>
                        </m:sSup>
                        <m:r>
                          <a:rPr lang="en-US" sz="1200" b="0" i="1" smtClean="0">
                            <a:solidFill>
                              <a:srgbClr val="002060"/>
                            </a:solidFill>
                            <a:latin typeface="Cambria Math" panose="02040503050406030204" pitchFamily="18" charset="0"/>
                            <a:ea typeface="Cambria Math" panose="02040503050406030204" pitchFamily="18" charset="0"/>
                          </a:rPr>
                          <m:t>=</m:t>
                        </m:r>
                      </m:e>
                    </m:func>
                    <m:func>
                      <m:funcPr>
                        <m:ctrlPr>
                          <a:rPr lang="en-US" sz="1200" b="0" i="1" smtClean="0">
                            <a:solidFill>
                              <a:srgbClr val="002060"/>
                            </a:solidFill>
                            <a:latin typeface="Cambria Math" panose="02040503050406030204" pitchFamily="18" charset="0"/>
                            <a:ea typeface="Cambria Math" panose="02040503050406030204" pitchFamily="18" charset="0"/>
                          </a:rPr>
                        </m:ctrlPr>
                      </m:funcPr>
                      <m:fName>
                        <m:r>
                          <m:rPr>
                            <m:sty m:val="p"/>
                          </m:rPr>
                          <a:rPr lang="en-US" sz="1200" b="0" i="0" smtClean="0">
                            <a:solidFill>
                              <a:srgbClr val="002060"/>
                            </a:solidFill>
                            <a:latin typeface="Cambria Math" panose="02040503050406030204" pitchFamily="18" charset="0"/>
                            <a:ea typeface="Cambria Math" panose="02040503050406030204" pitchFamily="18" charset="0"/>
                          </a:rPr>
                          <m:t>sin</m:t>
                        </m:r>
                      </m:fName>
                      <m:e>
                        <m:r>
                          <a:rPr lang="en-US" sz="1200" i="1" smtClean="0">
                            <a:solidFill>
                              <a:srgbClr val="002060"/>
                            </a:solidFill>
                            <a:latin typeface="Cambria Math" panose="02040503050406030204" pitchFamily="18" charset="0"/>
                            <a:ea typeface="Cambria Math" panose="02040503050406030204" pitchFamily="18" charset="0"/>
                          </a:rPr>
                          <m:t>𝜃</m:t>
                        </m:r>
                        <m:func>
                          <m:funcPr>
                            <m:ctrlPr>
                              <a:rPr lang="en-US" sz="1200" b="0" i="1" smtClean="0">
                                <a:solidFill>
                                  <a:srgbClr val="002060"/>
                                </a:solidFill>
                                <a:latin typeface="Cambria Math" panose="02040503050406030204" pitchFamily="18" charset="0"/>
                                <a:ea typeface="Cambria Math" panose="02040503050406030204" pitchFamily="18" charset="0"/>
                              </a:rPr>
                            </m:ctrlPr>
                          </m:funcPr>
                          <m:fName>
                            <m:r>
                              <m:rPr>
                                <m:sty m:val="p"/>
                              </m:rPr>
                              <a:rPr lang="en-US" sz="1200" b="0" i="0" smtClean="0">
                                <a:solidFill>
                                  <a:srgbClr val="002060"/>
                                </a:solidFill>
                                <a:latin typeface="Cambria Math" panose="02040503050406030204" pitchFamily="18" charset="0"/>
                                <a:ea typeface="Cambria Math" panose="02040503050406030204" pitchFamily="18" charset="0"/>
                              </a:rPr>
                              <m:t>cos</m:t>
                            </m:r>
                          </m:fName>
                          <m:e>
                            <m:r>
                              <a:rPr lang="en-US" sz="1200" i="1" smtClean="0">
                                <a:solidFill>
                                  <a:srgbClr val="002060"/>
                                </a:solidFill>
                                <a:latin typeface="Cambria Math" panose="02040503050406030204" pitchFamily="18" charset="0"/>
                                <a:ea typeface="Cambria Math" panose="02040503050406030204" pitchFamily="18" charset="0"/>
                              </a:rPr>
                              <m:t>𝜑</m:t>
                            </m:r>
                            <m:r>
                              <a:rPr lang="en-US" sz="1200" b="0" i="1" smtClean="0">
                                <a:solidFill>
                                  <a:srgbClr val="002060"/>
                                </a:solidFill>
                                <a:latin typeface="Cambria Math" panose="02040503050406030204" pitchFamily="18" charset="0"/>
                                <a:ea typeface="Cambria Math" panose="02040503050406030204" pitchFamily="18" charset="0"/>
                              </a:rPr>
                              <m:t> </m:t>
                            </m:r>
                          </m:e>
                        </m:func>
                      </m:e>
                    </m:func>
                  </m:oMath>
                </a14:m>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b="0" dirty="0"/>
              </a:p>
              <a:p>
                <a:pPr algn="just"/>
                <a:r>
                  <a:rPr lang="en-ZA" b="0" dirty="0"/>
                  <a:t>The Hadamard gate can be viewed as a 180° rotation about an axis halfway between the positive x- and z-axes. For the initial state </a:t>
                </a:r>
                <a14:m>
                  <m:oMath xmlns:m="http://schemas.openxmlformats.org/officeDocument/2006/math">
                    <m:r>
                      <a:rPr lang="en-US" sz="1200" i="1" smtClean="0">
                        <a:solidFill>
                          <a:srgbClr val="002060"/>
                        </a:solidFill>
                        <a:latin typeface="Cambria Math" panose="02040503050406030204" pitchFamily="18" charset="0"/>
                        <a:ea typeface="Cambria Math" panose="02040503050406030204" pitchFamily="18" charset="0"/>
                      </a:rPr>
                      <m:t>𝜃</m:t>
                    </m:r>
                    <m:r>
                      <m:rPr>
                        <m:nor/>
                      </m:rPr>
                      <a:rPr lang="en-US" sz="1200" dirty="0"/>
                      <m:t> </m:t>
                    </m:r>
                    <m:r>
                      <a:rPr lang="en-US" sz="1200" i="1" dirty="0">
                        <a:latin typeface="Cambria Math" panose="02040503050406030204" pitchFamily="18" charset="0"/>
                      </a:rPr>
                      <m:t>=</m:t>
                    </m:r>
                    <m:f>
                      <m:fPr>
                        <m:type m:val="lin"/>
                        <m:ctrlPr>
                          <a:rPr lang="en-US" sz="1200" i="1" dirty="0" smtClean="0">
                            <a:latin typeface="Cambria Math" panose="02040503050406030204" pitchFamily="18" charset="0"/>
                          </a:rPr>
                        </m:ctrlPr>
                      </m:fPr>
                      <m:num>
                        <m:r>
                          <a:rPr lang="en-US" sz="1200" i="1">
                            <a:solidFill>
                              <a:srgbClr val="002060"/>
                            </a:solidFill>
                            <a:latin typeface="Cambria Math" panose="02040503050406030204" pitchFamily="18" charset="0"/>
                            <a:ea typeface="Cambria Math" panose="02040503050406030204" pitchFamily="18" charset="0"/>
                          </a:rPr>
                          <m:t>𝜋</m:t>
                        </m:r>
                      </m:num>
                      <m:den>
                        <m:r>
                          <a:rPr lang="en-US" sz="1200" b="0" i="1" smtClean="0">
                            <a:solidFill>
                              <a:srgbClr val="002060"/>
                            </a:solidFill>
                            <a:latin typeface="Cambria Math" panose="02040503050406030204" pitchFamily="18" charset="0"/>
                            <a:ea typeface="Cambria Math" panose="02040503050406030204" pitchFamily="18" charset="0"/>
                          </a:rPr>
                          <m:t>2</m:t>
                        </m:r>
                      </m:den>
                    </m:f>
                  </m:oMath>
                </a14:m>
                <a:r>
                  <a:rPr lang="en-ZA" b="0" dirty="0"/>
                  <a:t> and </a:t>
                </a:r>
                <a14:m>
                  <m:oMath xmlns:m="http://schemas.openxmlformats.org/officeDocument/2006/math">
                    <m:r>
                      <a:rPr lang="en-US" sz="1200" i="1" smtClean="0">
                        <a:solidFill>
                          <a:srgbClr val="002060"/>
                        </a:solidFill>
                        <a:latin typeface="Cambria Math" panose="02040503050406030204" pitchFamily="18" charset="0"/>
                        <a:ea typeface="Cambria Math" panose="02040503050406030204" pitchFamily="18" charset="0"/>
                      </a:rPr>
                      <m:t>𝜑</m:t>
                    </m:r>
                    <m:r>
                      <a:rPr lang="en-US" sz="1200" i="1" dirty="0">
                        <a:latin typeface="Cambria Math" panose="02040503050406030204" pitchFamily="18" charset="0"/>
                      </a:rPr>
                      <m:t>=</m:t>
                    </m:r>
                    <m:f>
                      <m:fPr>
                        <m:type m:val="lin"/>
                        <m:ctrlPr>
                          <a:rPr lang="en-US" sz="1200" i="1" dirty="0" smtClean="0">
                            <a:latin typeface="Cambria Math" panose="02040503050406030204" pitchFamily="18" charset="0"/>
                          </a:rPr>
                        </m:ctrlPr>
                      </m:fPr>
                      <m:num>
                        <m:r>
                          <a:rPr lang="en-US" sz="1200" i="1">
                            <a:solidFill>
                              <a:srgbClr val="002060"/>
                            </a:solidFill>
                            <a:latin typeface="Cambria Math" panose="02040503050406030204" pitchFamily="18" charset="0"/>
                            <a:ea typeface="Cambria Math" panose="02040503050406030204" pitchFamily="18" charset="0"/>
                          </a:rPr>
                          <m:t>𝜋</m:t>
                        </m:r>
                      </m:num>
                      <m:den>
                        <m:r>
                          <a:rPr lang="en-US" sz="1200" b="0" i="1" smtClean="0">
                            <a:solidFill>
                              <a:srgbClr val="002060"/>
                            </a:solidFill>
                            <a:latin typeface="Cambria Math" panose="02040503050406030204" pitchFamily="18" charset="0"/>
                            <a:ea typeface="Cambria Math" panose="02040503050406030204" pitchFamily="18" charset="0"/>
                          </a:rPr>
                          <m:t>3</m:t>
                        </m:r>
                      </m:den>
                    </m:f>
                  </m:oMath>
                </a14:m>
                <a:r>
                  <a:rPr lang="el-GR" b="0" dirty="0"/>
                  <a:t>​, </a:t>
                </a:r>
                <a:r>
                  <a:rPr lang="en-ZA" b="0" dirty="0"/>
                  <a:t>this rotation moves the Bloch vector from the </a:t>
                </a:r>
                <a:r>
                  <a:rPr lang="en-ZA" b="0" dirty="0" err="1"/>
                  <a:t>xy</a:t>
                </a:r>
                <a:r>
                  <a:rPr lang="en-ZA" b="0" dirty="0"/>
                  <a:t>-plane into the </a:t>
                </a:r>
                <a:r>
                  <a:rPr lang="en-ZA" b="0" dirty="0" err="1"/>
                  <a:t>yz</a:t>
                </a:r>
                <a:r>
                  <a:rPr lang="en-ZA" b="0" dirty="0"/>
                  <a:t>-plane.</a:t>
                </a:r>
              </a:p>
              <a:p>
                <a:pPr algn="just"/>
                <a:endParaRPr lang="en-ZA" b="0" dirty="0"/>
              </a:p>
              <a:p>
                <a:pPr algn="just"/>
                <a:r>
                  <a:rPr lang="en-ZA" b="0" dirty="0"/>
                  <a:t>After the Hadamard gate, the state has </a:t>
                </a:r>
                <a14:m>
                  <m:oMath xmlns:m="http://schemas.openxmlformats.org/officeDocument/2006/math">
                    <m:r>
                      <a:rPr lang="en-US" sz="1200" i="1" smtClean="0">
                        <a:solidFill>
                          <a:srgbClr val="002060"/>
                        </a:solidFill>
                        <a:latin typeface="Cambria Math" panose="02040503050406030204" pitchFamily="18" charset="0"/>
                        <a:ea typeface="Cambria Math" panose="02040503050406030204" pitchFamily="18" charset="0"/>
                      </a:rPr>
                      <m:t>𝜃</m:t>
                    </m:r>
                    <m:r>
                      <a:rPr lang="en-US" sz="1200" b="0" i="1" smtClean="0">
                        <a:solidFill>
                          <a:srgbClr val="002060"/>
                        </a:solidFill>
                        <a:latin typeface="Cambria Math" panose="02040503050406030204" pitchFamily="18" charset="0"/>
                        <a:ea typeface="Cambria Math" panose="02040503050406030204" pitchFamily="18" charset="0"/>
                      </a:rPr>
                      <m:t>′</m:t>
                    </m:r>
                    <m:r>
                      <m:rPr>
                        <m:nor/>
                      </m:rPr>
                      <a:rPr lang="en-US" sz="1200" dirty="0"/>
                      <m:t> </m:t>
                    </m:r>
                    <m:r>
                      <a:rPr lang="en-US" sz="1200" i="1" dirty="0">
                        <a:latin typeface="Cambria Math" panose="02040503050406030204" pitchFamily="18" charset="0"/>
                      </a:rPr>
                      <m:t>=</m:t>
                    </m:r>
                    <m:f>
                      <m:fPr>
                        <m:type m:val="lin"/>
                        <m:ctrlPr>
                          <a:rPr lang="en-US" sz="1200" i="1" dirty="0" smtClean="0">
                            <a:latin typeface="Cambria Math" panose="02040503050406030204" pitchFamily="18" charset="0"/>
                          </a:rPr>
                        </m:ctrlPr>
                      </m:fPr>
                      <m:num>
                        <m:r>
                          <a:rPr lang="en-US" sz="1200" i="1">
                            <a:solidFill>
                              <a:srgbClr val="002060"/>
                            </a:solidFill>
                            <a:latin typeface="Cambria Math" panose="02040503050406030204" pitchFamily="18" charset="0"/>
                            <a:ea typeface="Cambria Math" panose="02040503050406030204" pitchFamily="18" charset="0"/>
                          </a:rPr>
                          <m:t>𝜋</m:t>
                        </m:r>
                      </m:num>
                      <m:den>
                        <m:r>
                          <a:rPr lang="en-US" sz="1200" b="0" i="1" smtClean="0">
                            <a:solidFill>
                              <a:srgbClr val="002060"/>
                            </a:solidFill>
                            <a:latin typeface="Cambria Math" panose="02040503050406030204" pitchFamily="18" charset="0"/>
                            <a:ea typeface="Cambria Math" panose="02040503050406030204" pitchFamily="18" charset="0"/>
                          </a:rPr>
                          <m:t>3</m:t>
                        </m:r>
                      </m:den>
                    </m:f>
                  </m:oMath>
                </a14:m>
                <a:r>
                  <a:rPr lang="en-ZA" b="0" dirty="0"/>
                  <a:t> and </a:t>
                </a:r>
                <a14:m>
                  <m:oMath xmlns:m="http://schemas.openxmlformats.org/officeDocument/2006/math">
                    <m:r>
                      <a:rPr lang="en-US" sz="1200" i="1" smtClean="0">
                        <a:solidFill>
                          <a:srgbClr val="002060"/>
                        </a:solidFill>
                        <a:latin typeface="Cambria Math" panose="02040503050406030204" pitchFamily="18" charset="0"/>
                        <a:ea typeface="Cambria Math" panose="02040503050406030204" pitchFamily="18" charset="0"/>
                      </a:rPr>
                      <m:t>𝜑</m:t>
                    </m:r>
                    <m:r>
                      <a:rPr lang="en-US" sz="1200" b="0" i="1" smtClean="0">
                        <a:solidFill>
                          <a:srgbClr val="002060"/>
                        </a:solidFill>
                        <a:latin typeface="Cambria Math" panose="02040503050406030204" pitchFamily="18" charset="0"/>
                        <a:ea typeface="Cambria Math" panose="02040503050406030204" pitchFamily="18" charset="0"/>
                      </a:rPr>
                      <m:t>′</m:t>
                    </m:r>
                    <m:r>
                      <a:rPr lang="en-US" sz="1200" i="1" dirty="0">
                        <a:latin typeface="Cambria Math" panose="02040503050406030204" pitchFamily="18" charset="0"/>
                      </a:rPr>
                      <m:t>=</m:t>
                    </m:r>
                    <m:f>
                      <m:fPr>
                        <m:type m:val="lin"/>
                        <m:ctrlPr>
                          <a:rPr lang="en-US" sz="1200" i="1" dirty="0" smtClean="0">
                            <a:latin typeface="Cambria Math" panose="02040503050406030204" pitchFamily="18" charset="0"/>
                          </a:rPr>
                        </m:ctrlPr>
                      </m:fPr>
                      <m:num>
                        <m:r>
                          <a:rPr lang="en-US" sz="1200" b="0" i="1" dirty="0" smtClean="0">
                            <a:latin typeface="Cambria Math" panose="02040503050406030204" pitchFamily="18" charset="0"/>
                          </a:rPr>
                          <m:t>−</m:t>
                        </m:r>
                        <m:r>
                          <a:rPr lang="en-US" sz="1200" i="1">
                            <a:solidFill>
                              <a:srgbClr val="002060"/>
                            </a:solidFill>
                            <a:latin typeface="Cambria Math" panose="02040503050406030204" pitchFamily="18" charset="0"/>
                            <a:ea typeface="Cambria Math" panose="02040503050406030204" pitchFamily="18" charset="0"/>
                          </a:rPr>
                          <m:t>𝜋</m:t>
                        </m:r>
                      </m:num>
                      <m:den>
                        <m:r>
                          <a:rPr lang="en-US" sz="1200" b="0" i="1" smtClean="0">
                            <a:solidFill>
                              <a:srgbClr val="002060"/>
                            </a:solidFill>
                            <a:latin typeface="Cambria Math" panose="02040503050406030204" pitchFamily="18" charset="0"/>
                            <a:ea typeface="Cambria Math" panose="02040503050406030204" pitchFamily="18" charset="0"/>
                          </a:rPr>
                          <m:t>2</m:t>
                        </m:r>
                      </m:den>
                    </m:f>
                  </m:oMath>
                </a14:m>
                <a:r>
                  <a:rPr lang="en-ZA" b="0" dirty="0"/>
                  <a:t>. In this way, information about the original X-component is converted into a z-component that can be detected by the standard measurement. The histogram therefore gives approximately 75% for 0 and 25% for 1.</a:t>
                </a:r>
              </a:p>
              <a:p>
                <a:pPr algn="just"/>
                <a:endParaRPr lang="en-ZA" b="0" dirty="0"/>
              </a:p>
              <a:p>
                <a:pPr algn="just"/>
                <a:r>
                  <a:rPr lang="en-ZA" b="0" dirty="0"/>
                  <a:t>Although the physical measurement is performed in the Z basis, we interpret it as an X-basis measurement of the original state. A measured 0 corresponds to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m:t>
                        </m:r>
                      </m:e>
                    </m:d>
                  </m:oMath>
                </a14:m>
                <a:r>
                  <a:rPr lang="en-ZA" b="0" dirty="0"/>
                  <a:t>, while a measured 1 corresponds to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m:t>
                        </m:r>
                      </m:e>
                    </m:d>
                  </m:oMath>
                </a14:m>
                <a:r>
                  <a:rPr lang="en-ZA" b="0" dirty="0"/>
                  <a:t>.</a:t>
                </a:r>
              </a:p>
              <a:p>
                <a:pPr algn="just"/>
                <a:endParaRPr lang="en-ZA" b="0" dirty="0"/>
              </a:p>
            </p:txBody>
          </p:sp>
        </mc:Choice>
        <mc:Fallback xmlns="">
          <p:sp>
            <p:nvSpPr>
              <p:cNvPr id="3" name="Notes Placeholder 2"/>
              <p:cNvSpPr>
                <a:spLocks noGrp="1"/>
              </p:cNvSpPr>
              <p:nvPr>
                <p:ph type="body" idx="1"/>
              </p:nvPr>
            </p:nvSpPr>
            <p:spPr/>
            <p:txBody>
              <a:bodyPr/>
              <a:lstStyle/>
              <a:p>
                <a:r>
                  <a:rPr lang="en-US" sz="2000" dirty="0"/>
                  <a:t>A measurement gate performs a measurement in z-basis only but sometimes measurement relative to other basis would be useful.</a:t>
                </a:r>
              </a:p>
              <a:p>
                <a:pPr marL="457200" indent="-457200">
                  <a:buFont typeface="+mj-lt"/>
                  <a:buAutoNum type="arabicPeriod"/>
                </a:pPr>
                <a:r>
                  <a:rPr lang="en-US" sz="2000" dirty="0"/>
                  <a:t>To illustrate this, let’s have a circuit that puts a qubit into superposition and then rotate it for 45 degrees. If we apply a measurement gate there is 50/50 % chance to get 0 or 1 as a result. In other words, the phase shift information cannot be retrieved.</a:t>
                </a:r>
              </a:p>
              <a:p>
                <a:pPr marL="457200" indent="-457200">
                  <a:buFont typeface="+mj-lt"/>
                  <a:buAutoNum type="arabicPeriod"/>
                </a:pPr>
                <a:r>
                  <a:rPr lang="en-US" sz="2000" dirty="0"/>
                  <a:t>Let’s now add a H gate before the measurement. The measurement result now shows sensitivity  to qubit phase. By adding the H gate we in effect</a:t>
                </a:r>
                <a:r>
                  <a:rPr lang="en-US" sz="2000" baseline="0" dirty="0"/>
                  <a:t> performed measurement in </a:t>
                </a:r>
                <a:r>
                  <a:rPr lang="en-US" sz="2000" i="0">
                    <a:solidFill>
                      <a:srgbClr val="002060"/>
                    </a:solidFill>
                    <a:latin typeface="Cambria Math" panose="02040503050406030204" pitchFamily="18" charset="0"/>
                    <a:ea typeface="Cambria Math" panose="02040503050406030204" pitchFamily="18" charset="0"/>
                  </a:rPr>
                  <a:t>├ |+⟩</a:t>
                </a:r>
                <a:r>
                  <a:rPr lang="en-US" sz="2000" dirty="0"/>
                  <a:t>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a:t>
                </a:r>
                <a:r>
                  <a:rPr lang="en-US" sz="2000" dirty="0"/>
                  <a:t> basis where 0 indicates </a:t>
                </a:r>
                <a:r>
                  <a:rPr lang="en-US" sz="2000" i="0">
                    <a:solidFill>
                      <a:srgbClr val="002060"/>
                    </a:solidFill>
                    <a:latin typeface="Cambria Math" panose="02040503050406030204" pitchFamily="18" charset="0"/>
                    <a:ea typeface="Cambria Math" panose="02040503050406030204" pitchFamily="18" charset="0"/>
                  </a:rPr>
                  <a:t>├ |+⟩</a:t>
                </a:r>
                <a:r>
                  <a:rPr lang="en-US" sz="2000" dirty="0"/>
                  <a:t> and</a:t>
                </a:r>
                <a:r>
                  <a:rPr lang="en-US" sz="2000" baseline="0" dirty="0"/>
                  <a:t> 1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a:t>
                </a:r>
                <a:r>
                  <a:rPr lang="en-US" sz="2000" dirty="0"/>
                  <a:t>. The</a:t>
                </a:r>
                <a:r>
                  <a:rPr lang="en-US" sz="2000" baseline="0" dirty="0"/>
                  <a:t> type of measurement in which a H gate precedes the measurement is called a measurement in superposition basis.</a:t>
                </a: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44</a:t>
            </a:fld>
            <a:endParaRPr lang="en-US"/>
          </a:p>
        </p:txBody>
      </p:sp>
    </p:spTree>
    <p:extLst>
      <p:ext uri="{BB962C8B-B14F-4D97-AF65-F5344CB8AC3E}">
        <p14:creationId xmlns:p14="http://schemas.microsoft.com/office/powerpoint/2010/main" val="13184310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The qubit is prepared in the same state as in the previous examples</a:t>
                </a:r>
                <a:r>
                  <a:rPr lang="en-ZA" b="0" dirty="0"/>
                  <a:t>. Since the standard measurement is performed in the Z basis, to measure the qubit in the Y basis we first apply an S</a:t>
                </a:r>
                <a:r>
                  <a:rPr lang="en-ZA" b="0" baseline="30000" dirty="0"/>
                  <a:t>†</a:t>
                </a:r>
                <a:r>
                  <a:rPr lang="en-ZA" b="0" dirty="0"/>
                  <a:t> gate followed by a Hadamard (H) gate. Together, these gates transform the Y basis into the computational basis before measurement. </a:t>
                </a:r>
                <a:r>
                  <a:rPr lang="en-ZA" dirty="0"/>
                  <a:t>We rotate the state so that the phase information contained in the y-component is converted into a new z-component, which the standard measurement can detect.</a:t>
                </a:r>
              </a:p>
              <a:p>
                <a:pPr algn="just"/>
                <a:endParaRPr lang="en-ZA" b="0" dirty="0"/>
              </a:p>
              <a:p>
                <a:pPr algn="just"/>
                <a:r>
                  <a:rPr lang="en-ZA" b="0" dirty="0"/>
                  <a:t>We rotate the state so that the phase information contained in the y-component is converted into a new z-component, which the standard measurement can detect.</a:t>
                </a:r>
              </a:p>
              <a:p>
                <a:pPr algn="just"/>
                <a:endParaRPr lang="en-ZA" b="0" dirty="0"/>
              </a:p>
              <a:p>
                <a:pPr algn="just"/>
                <a:r>
                  <a:rPr lang="en-ZA" dirty="0"/>
                  <a:t>For a general Bloch state,</a:t>
                </a:r>
              </a:p>
              <a:p>
                <a:pPr algn="just"/>
                <a14:m>
                  <m:oMathPara xmlns:m="http://schemas.openxmlformats.org/officeDocument/2006/math">
                    <m:oMathParaPr>
                      <m:jc m:val="centerGroup"/>
                    </m:oMathParaPr>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𝑥</m:t>
                      </m:r>
                      <m:r>
                        <a:rPr lang="en-US" sz="1200" b="0" i="1" smtClean="0">
                          <a:solidFill>
                            <a:srgbClr val="002060"/>
                          </a:solidFill>
                          <a:latin typeface="Cambria Math" panose="02040503050406030204" pitchFamily="18" charset="0"/>
                          <a:ea typeface="Cambria Math" panose="02040503050406030204" pitchFamily="18" charset="0"/>
                        </a:rPr>
                        <m:t>=</m:t>
                      </m:r>
                      <m:func>
                        <m:funcPr>
                          <m:ctrlPr>
                            <a:rPr lang="en-US" sz="1200" b="0" i="1" smtClean="0">
                              <a:solidFill>
                                <a:srgbClr val="002060"/>
                              </a:solidFill>
                              <a:latin typeface="Cambria Math" panose="02040503050406030204" pitchFamily="18" charset="0"/>
                              <a:ea typeface="Cambria Math" panose="02040503050406030204" pitchFamily="18" charset="0"/>
                            </a:rPr>
                          </m:ctrlPr>
                        </m:funcPr>
                        <m:fName>
                          <m:r>
                            <m:rPr>
                              <m:sty m:val="p"/>
                            </m:rPr>
                            <a:rPr lang="en-US" sz="1200" b="0" i="0" smtClean="0">
                              <a:solidFill>
                                <a:srgbClr val="002060"/>
                              </a:solidFill>
                              <a:latin typeface="Cambria Math" panose="02040503050406030204" pitchFamily="18" charset="0"/>
                              <a:ea typeface="Cambria Math" panose="02040503050406030204" pitchFamily="18" charset="0"/>
                            </a:rPr>
                            <m:t>sin</m:t>
                          </m:r>
                        </m:fName>
                        <m:e>
                          <m:r>
                            <a:rPr lang="en-US" sz="1200" i="1" smtClean="0">
                              <a:solidFill>
                                <a:srgbClr val="002060"/>
                              </a:solidFill>
                              <a:latin typeface="Cambria Math" panose="02040503050406030204" pitchFamily="18" charset="0"/>
                              <a:ea typeface="Cambria Math" panose="02040503050406030204" pitchFamily="18" charset="0"/>
                            </a:rPr>
                            <m:t>𝜃</m:t>
                          </m:r>
                          <m:func>
                            <m:funcPr>
                              <m:ctrlPr>
                                <a:rPr lang="en-US" sz="1200" b="0" i="1" smtClean="0">
                                  <a:solidFill>
                                    <a:srgbClr val="002060"/>
                                  </a:solidFill>
                                  <a:latin typeface="Cambria Math" panose="02040503050406030204" pitchFamily="18" charset="0"/>
                                  <a:ea typeface="Cambria Math" panose="02040503050406030204" pitchFamily="18" charset="0"/>
                                </a:rPr>
                              </m:ctrlPr>
                            </m:funcPr>
                            <m:fName>
                              <m:r>
                                <m:rPr>
                                  <m:sty m:val="p"/>
                                </m:rPr>
                                <a:rPr lang="en-US" sz="1200" b="0" i="0" smtClean="0">
                                  <a:solidFill>
                                    <a:srgbClr val="002060"/>
                                  </a:solidFill>
                                  <a:latin typeface="Cambria Math" panose="02040503050406030204" pitchFamily="18" charset="0"/>
                                  <a:ea typeface="Cambria Math" panose="02040503050406030204" pitchFamily="18" charset="0"/>
                                </a:rPr>
                                <m:t>cos</m:t>
                              </m:r>
                            </m:fName>
                            <m:e>
                              <m:r>
                                <a:rPr lang="en-US" sz="1200" i="1" smtClean="0">
                                  <a:solidFill>
                                    <a:srgbClr val="002060"/>
                                  </a:solidFill>
                                  <a:latin typeface="Cambria Math" panose="02040503050406030204" pitchFamily="18" charset="0"/>
                                  <a:ea typeface="Cambria Math" panose="02040503050406030204" pitchFamily="18" charset="0"/>
                                </a:rPr>
                                <m:t>𝜑</m:t>
                              </m:r>
                              <m:r>
                                <a:rPr lang="en-US" sz="1200" b="0" i="1" smtClean="0">
                                  <a:solidFill>
                                    <a:srgbClr val="002060"/>
                                  </a:solidFill>
                                  <a:latin typeface="Cambria Math" panose="02040503050406030204" pitchFamily="18" charset="0"/>
                                  <a:ea typeface="Cambria Math" panose="02040503050406030204" pitchFamily="18" charset="0"/>
                                </a:rPr>
                                <m:t>, </m:t>
                              </m:r>
                            </m:e>
                          </m:func>
                        </m:e>
                      </m:func>
                      <m:r>
                        <a:rPr lang="en-US" sz="1200" b="0" i="1" smtClean="0">
                          <a:solidFill>
                            <a:srgbClr val="002060"/>
                          </a:solidFill>
                          <a:latin typeface="Cambria Math" panose="02040503050406030204" pitchFamily="18" charset="0"/>
                          <a:ea typeface="Cambria Math" panose="02040503050406030204" pitchFamily="18" charset="0"/>
                        </a:rPr>
                        <m:t>𝑦</m:t>
                      </m:r>
                      <m:r>
                        <a:rPr lang="en-US" sz="1200" b="0" i="1" smtClean="0">
                          <a:solidFill>
                            <a:srgbClr val="002060"/>
                          </a:solidFill>
                          <a:latin typeface="Cambria Math" panose="02040503050406030204" pitchFamily="18" charset="0"/>
                          <a:ea typeface="Cambria Math" panose="02040503050406030204" pitchFamily="18" charset="0"/>
                        </a:rPr>
                        <m:t>=</m:t>
                      </m:r>
                      <m:func>
                        <m:funcPr>
                          <m:ctrlPr>
                            <a:rPr lang="en-US" sz="1200" b="0" i="1" smtClean="0">
                              <a:solidFill>
                                <a:srgbClr val="002060"/>
                              </a:solidFill>
                              <a:latin typeface="Cambria Math" panose="02040503050406030204" pitchFamily="18" charset="0"/>
                              <a:ea typeface="Cambria Math" panose="02040503050406030204" pitchFamily="18" charset="0"/>
                            </a:rPr>
                          </m:ctrlPr>
                        </m:funcPr>
                        <m:fName>
                          <m:r>
                            <m:rPr>
                              <m:sty m:val="p"/>
                            </m:rPr>
                            <a:rPr lang="en-US" sz="1200" b="0" i="0" smtClean="0">
                              <a:solidFill>
                                <a:srgbClr val="002060"/>
                              </a:solidFill>
                              <a:latin typeface="Cambria Math" panose="02040503050406030204" pitchFamily="18" charset="0"/>
                              <a:ea typeface="Cambria Math" panose="02040503050406030204" pitchFamily="18" charset="0"/>
                            </a:rPr>
                            <m:t>sin</m:t>
                          </m:r>
                        </m:fName>
                        <m:e>
                          <m:r>
                            <a:rPr lang="en-US" sz="1200" i="1" smtClean="0">
                              <a:solidFill>
                                <a:srgbClr val="002060"/>
                              </a:solidFill>
                              <a:latin typeface="Cambria Math" panose="02040503050406030204" pitchFamily="18" charset="0"/>
                              <a:ea typeface="Cambria Math" panose="02040503050406030204" pitchFamily="18" charset="0"/>
                            </a:rPr>
                            <m:t>𝜃</m:t>
                          </m:r>
                          <m:func>
                            <m:funcPr>
                              <m:ctrlPr>
                                <a:rPr lang="en-US" sz="1200" b="0" i="1" smtClean="0">
                                  <a:solidFill>
                                    <a:srgbClr val="002060"/>
                                  </a:solidFill>
                                  <a:latin typeface="Cambria Math" panose="02040503050406030204" pitchFamily="18" charset="0"/>
                                  <a:ea typeface="Cambria Math" panose="02040503050406030204" pitchFamily="18" charset="0"/>
                                </a:rPr>
                              </m:ctrlPr>
                            </m:funcPr>
                            <m:fName>
                              <m:r>
                                <m:rPr>
                                  <m:sty m:val="p"/>
                                </m:rPr>
                                <a:rPr lang="en-US" sz="1200" b="0" i="0" smtClean="0">
                                  <a:solidFill>
                                    <a:srgbClr val="002060"/>
                                  </a:solidFill>
                                  <a:latin typeface="Cambria Math" panose="02040503050406030204" pitchFamily="18" charset="0"/>
                                  <a:ea typeface="Cambria Math" panose="02040503050406030204" pitchFamily="18" charset="0"/>
                                </a:rPr>
                                <m:t>sin</m:t>
                              </m:r>
                            </m:fName>
                            <m:e>
                              <m:r>
                                <a:rPr lang="en-US" sz="1200" i="1" smtClean="0">
                                  <a:solidFill>
                                    <a:srgbClr val="002060"/>
                                  </a:solidFill>
                                  <a:latin typeface="Cambria Math" panose="02040503050406030204" pitchFamily="18" charset="0"/>
                                  <a:ea typeface="Cambria Math" panose="02040503050406030204" pitchFamily="18" charset="0"/>
                                </a:rPr>
                                <m:t>𝜑</m:t>
                              </m:r>
                            </m:e>
                          </m:func>
                          <m:r>
                            <a:rPr lang="en-US" sz="1200" b="0" i="1" smtClean="0">
                              <a:solidFill>
                                <a:srgbClr val="002060"/>
                              </a:solidFill>
                              <a:latin typeface="Cambria Math" panose="02040503050406030204" pitchFamily="18" charset="0"/>
                              <a:ea typeface="Cambria Math" panose="02040503050406030204" pitchFamily="18" charset="0"/>
                            </a:rPr>
                            <m:t>, </m:t>
                          </m:r>
                          <m:r>
                            <a:rPr lang="en-US" sz="1200" b="0" i="1" smtClean="0">
                              <a:solidFill>
                                <a:srgbClr val="002060"/>
                              </a:solidFill>
                              <a:latin typeface="Cambria Math" panose="02040503050406030204" pitchFamily="18" charset="0"/>
                              <a:ea typeface="Cambria Math" panose="02040503050406030204" pitchFamily="18" charset="0"/>
                            </a:rPr>
                            <m:t>𝑧</m:t>
                          </m:r>
                          <m:r>
                            <a:rPr lang="en-US" sz="1200" b="0" i="1" smtClean="0">
                              <a:solidFill>
                                <a:srgbClr val="002060"/>
                              </a:solidFill>
                              <a:latin typeface="Cambria Math" panose="02040503050406030204" pitchFamily="18" charset="0"/>
                              <a:ea typeface="Cambria Math" panose="02040503050406030204" pitchFamily="18" charset="0"/>
                            </a:rPr>
                            <m:t>=</m:t>
                          </m:r>
                          <m:func>
                            <m:funcPr>
                              <m:ctrlPr>
                                <a:rPr lang="en-US" sz="1200" b="0" i="1" smtClean="0">
                                  <a:solidFill>
                                    <a:srgbClr val="002060"/>
                                  </a:solidFill>
                                  <a:latin typeface="Cambria Math" panose="02040503050406030204" pitchFamily="18" charset="0"/>
                                  <a:ea typeface="Cambria Math" panose="02040503050406030204" pitchFamily="18" charset="0"/>
                                </a:rPr>
                              </m:ctrlPr>
                            </m:funcPr>
                            <m:fName>
                              <m:r>
                                <m:rPr>
                                  <m:sty m:val="p"/>
                                </m:rPr>
                                <a:rPr lang="en-US" sz="1200" b="0" i="0" smtClean="0">
                                  <a:solidFill>
                                    <a:srgbClr val="002060"/>
                                  </a:solidFill>
                                  <a:latin typeface="Cambria Math" panose="02040503050406030204" pitchFamily="18" charset="0"/>
                                  <a:ea typeface="Cambria Math" panose="02040503050406030204" pitchFamily="18" charset="0"/>
                                </a:rPr>
                                <m:t>cos</m:t>
                              </m:r>
                            </m:fName>
                            <m:e>
                              <m:r>
                                <a:rPr lang="en-US" sz="1200" i="1" smtClean="0">
                                  <a:solidFill>
                                    <a:srgbClr val="002060"/>
                                  </a:solidFill>
                                  <a:latin typeface="Cambria Math" panose="02040503050406030204" pitchFamily="18" charset="0"/>
                                  <a:ea typeface="Cambria Math" panose="02040503050406030204" pitchFamily="18" charset="0"/>
                                </a:rPr>
                                <m:t>𝜃</m:t>
                              </m:r>
                            </m:e>
                          </m:func>
                        </m:e>
                      </m:func>
                    </m:oMath>
                  </m:oMathPara>
                </a14:m>
                <a:endParaRPr lang="en-ZA" b="0" dirty="0"/>
              </a:p>
              <a:p>
                <a:pPr algn="just"/>
                <a:r>
                  <a:rPr lang="en-ZA" dirty="0"/>
                  <a:t>After applying the S</a:t>
                </a:r>
                <a:r>
                  <a:rPr lang="en-ZA" baseline="30000" dirty="0"/>
                  <a:t>†</a:t>
                </a:r>
                <a:r>
                  <a:rPr lang="en-ZA" dirty="0"/>
                  <a:t>-H sequence,,</a:t>
                </a:r>
                <a:endParaRPr lang="en-ZA" b="0" dirty="0"/>
              </a:p>
              <a:p>
                <a:pPr algn="just"/>
                <a14:m>
                  <m:oMathPara xmlns:m="http://schemas.openxmlformats.org/officeDocument/2006/math">
                    <m:oMathParaPr>
                      <m:jc m:val="centerGroup"/>
                    </m:oMathParaPr>
                    <m:oMath xmlns:m="http://schemas.openxmlformats.org/officeDocument/2006/math">
                      <m:sSup>
                        <m:sSupPr>
                          <m:ctrlPr>
                            <a:rPr lang="en-US" sz="1200" b="0" i="1" smtClean="0">
                              <a:solidFill>
                                <a:srgbClr val="002060"/>
                              </a:solidFill>
                              <a:latin typeface="Cambria Math" panose="02040503050406030204" pitchFamily="18" charset="0"/>
                              <a:ea typeface="Cambria Math" panose="02040503050406030204" pitchFamily="18" charset="0"/>
                            </a:rPr>
                          </m:ctrlPr>
                        </m:sSupPr>
                        <m:e>
                          <m:r>
                            <a:rPr lang="en-US" sz="1200" b="0" i="1" smtClean="0">
                              <a:solidFill>
                                <a:srgbClr val="002060"/>
                              </a:solidFill>
                              <a:latin typeface="Cambria Math" panose="02040503050406030204" pitchFamily="18" charset="0"/>
                              <a:ea typeface="Cambria Math" panose="02040503050406030204" pitchFamily="18" charset="0"/>
                            </a:rPr>
                            <m:t>𝑧</m:t>
                          </m:r>
                        </m:e>
                        <m:sup>
                          <m:r>
                            <a:rPr lang="en-US" sz="1200" b="0" i="1" smtClean="0">
                              <a:solidFill>
                                <a:srgbClr val="002060"/>
                              </a:solidFill>
                              <a:latin typeface="Cambria Math" panose="02040503050406030204" pitchFamily="18" charset="0"/>
                              <a:ea typeface="Cambria Math" panose="02040503050406030204" pitchFamily="18" charset="0"/>
                            </a:rPr>
                            <m:t>′</m:t>
                          </m:r>
                        </m:sup>
                      </m:sSup>
                      <m:r>
                        <a:rPr lang="en-US" sz="1200" b="0" i="1" smtClean="0">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𝑦</m:t>
                      </m:r>
                      <m:r>
                        <a:rPr lang="en-US" sz="1200" b="0" i="1" smtClean="0">
                          <a:solidFill>
                            <a:srgbClr val="002060"/>
                          </a:solidFill>
                          <a:latin typeface="Cambria Math" panose="02040503050406030204" pitchFamily="18" charset="0"/>
                          <a:ea typeface="Cambria Math" panose="02040503050406030204" pitchFamily="18" charset="0"/>
                        </a:rPr>
                        <m:t>=</m:t>
                      </m:r>
                      <m:func>
                        <m:funcPr>
                          <m:ctrlPr>
                            <a:rPr lang="en-US" sz="1200" b="0" i="1" smtClean="0">
                              <a:solidFill>
                                <a:srgbClr val="002060"/>
                              </a:solidFill>
                              <a:latin typeface="Cambria Math" panose="02040503050406030204" pitchFamily="18" charset="0"/>
                              <a:ea typeface="Cambria Math" panose="02040503050406030204" pitchFamily="18" charset="0"/>
                            </a:rPr>
                          </m:ctrlPr>
                        </m:funcPr>
                        <m:fName>
                          <m:r>
                            <m:rPr>
                              <m:sty m:val="p"/>
                            </m:rPr>
                            <a:rPr lang="en-US" sz="1200" b="0" i="0" smtClean="0">
                              <a:solidFill>
                                <a:srgbClr val="002060"/>
                              </a:solidFill>
                              <a:latin typeface="Cambria Math" panose="02040503050406030204" pitchFamily="18" charset="0"/>
                              <a:ea typeface="Cambria Math" panose="02040503050406030204" pitchFamily="18" charset="0"/>
                            </a:rPr>
                            <m:t>sin</m:t>
                          </m:r>
                        </m:fName>
                        <m:e>
                          <m:r>
                            <a:rPr lang="en-US" sz="1200" i="1" smtClean="0">
                              <a:solidFill>
                                <a:srgbClr val="002060"/>
                              </a:solidFill>
                              <a:latin typeface="Cambria Math" panose="02040503050406030204" pitchFamily="18" charset="0"/>
                              <a:ea typeface="Cambria Math" panose="02040503050406030204" pitchFamily="18" charset="0"/>
                            </a:rPr>
                            <m:t>𝜃</m:t>
                          </m:r>
                          <m:func>
                            <m:funcPr>
                              <m:ctrlPr>
                                <a:rPr lang="en-US" sz="1200" b="0" i="1" smtClean="0">
                                  <a:solidFill>
                                    <a:srgbClr val="002060"/>
                                  </a:solidFill>
                                  <a:latin typeface="Cambria Math" panose="02040503050406030204" pitchFamily="18" charset="0"/>
                                  <a:ea typeface="Cambria Math" panose="02040503050406030204" pitchFamily="18" charset="0"/>
                                </a:rPr>
                              </m:ctrlPr>
                            </m:funcPr>
                            <m:fName>
                              <m:r>
                                <m:rPr>
                                  <m:sty m:val="p"/>
                                </m:rPr>
                                <a:rPr lang="en-US" sz="1200" b="0" i="0" smtClean="0">
                                  <a:solidFill>
                                    <a:srgbClr val="002060"/>
                                  </a:solidFill>
                                  <a:latin typeface="Cambria Math" panose="02040503050406030204" pitchFamily="18" charset="0"/>
                                  <a:ea typeface="Cambria Math" panose="02040503050406030204" pitchFamily="18" charset="0"/>
                                </a:rPr>
                                <m:t>sin</m:t>
                              </m:r>
                            </m:fName>
                            <m:e>
                              <m:r>
                                <a:rPr lang="en-US" sz="1200" i="1" smtClean="0">
                                  <a:solidFill>
                                    <a:srgbClr val="002060"/>
                                  </a:solidFill>
                                  <a:latin typeface="Cambria Math" panose="02040503050406030204" pitchFamily="18" charset="0"/>
                                  <a:ea typeface="Cambria Math" panose="02040503050406030204" pitchFamily="18" charset="0"/>
                                </a:rPr>
                                <m:t>𝜑</m:t>
                              </m:r>
                              <m:r>
                                <a:rPr lang="en-US" sz="1200" b="0" i="1" smtClean="0">
                                  <a:solidFill>
                                    <a:srgbClr val="002060"/>
                                  </a:solidFill>
                                  <a:latin typeface="Cambria Math" panose="02040503050406030204" pitchFamily="18" charset="0"/>
                                  <a:ea typeface="Cambria Math" panose="02040503050406030204" pitchFamily="18" charset="0"/>
                                </a:rPr>
                                <m:t>, </m:t>
                              </m:r>
                            </m:e>
                          </m:func>
                        </m:e>
                      </m:func>
                    </m:oMath>
                  </m:oMathPara>
                </a14:m>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Since </a:t>
                </a:r>
                <a14:m>
                  <m:oMath xmlns:m="http://schemas.openxmlformats.org/officeDocument/2006/math">
                    <m:sSup>
                      <m:sSupPr>
                        <m:ctrlPr>
                          <a:rPr lang="en-US" sz="1200" b="0" i="1" smtClean="0">
                            <a:solidFill>
                              <a:srgbClr val="002060"/>
                            </a:solidFill>
                            <a:latin typeface="Cambria Math" panose="02040503050406030204" pitchFamily="18" charset="0"/>
                            <a:ea typeface="Cambria Math" panose="02040503050406030204" pitchFamily="18" charset="0"/>
                          </a:rPr>
                        </m:ctrlPr>
                      </m:sSupPr>
                      <m:e>
                        <m:r>
                          <a:rPr lang="en-US" sz="1200" b="0" i="1" smtClean="0">
                            <a:solidFill>
                              <a:srgbClr val="002060"/>
                            </a:solidFill>
                            <a:latin typeface="Cambria Math" panose="02040503050406030204" pitchFamily="18" charset="0"/>
                            <a:ea typeface="Cambria Math" panose="02040503050406030204" pitchFamily="18" charset="0"/>
                          </a:rPr>
                          <m:t>𝑧</m:t>
                        </m:r>
                      </m:e>
                      <m:sup>
                        <m:r>
                          <a:rPr lang="en-US" sz="1200" b="0" i="1" smtClean="0">
                            <a:solidFill>
                              <a:srgbClr val="002060"/>
                            </a:solidFill>
                            <a:latin typeface="Cambria Math" panose="02040503050406030204" pitchFamily="18" charset="0"/>
                            <a:ea typeface="Cambria Math" panose="02040503050406030204" pitchFamily="18" charset="0"/>
                          </a:rPr>
                          <m:t>′</m:t>
                        </m:r>
                      </m:sup>
                    </m:sSup>
                    <m:r>
                      <a:rPr lang="en-US" sz="1200" b="0" i="1" smtClean="0">
                        <a:solidFill>
                          <a:srgbClr val="002060"/>
                        </a:solidFill>
                        <a:latin typeface="Cambria Math" panose="02040503050406030204" pitchFamily="18" charset="0"/>
                        <a:ea typeface="Cambria Math" panose="02040503050406030204" pitchFamily="18" charset="0"/>
                      </a:rPr>
                      <m:t>=</m:t>
                    </m:r>
                    <m:func>
                      <m:funcPr>
                        <m:ctrlPr>
                          <a:rPr lang="en-US" sz="1200" b="0" i="1" smtClean="0">
                            <a:solidFill>
                              <a:srgbClr val="002060"/>
                            </a:solidFill>
                            <a:latin typeface="Cambria Math" panose="02040503050406030204" pitchFamily="18" charset="0"/>
                            <a:ea typeface="Cambria Math" panose="02040503050406030204" pitchFamily="18" charset="0"/>
                          </a:rPr>
                        </m:ctrlPr>
                      </m:funcPr>
                      <m:fName>
                        <m:r>
                          <m:rPr>
                            <m:sty m:val="p"/>
                          </m:rPr>
                          <a:rPr lang="en-US" sz="1200" b="0" i="0" smtClean="0">
                            <a:solidFill>
                              <a:srgbClr val="002060"/>
                            </a:solidFill>
                            <a:latin typeface="Cambria Math" panose="02040503050406030204" pitchFamily="18" charset="0"/>
                            <a:ea typeface="Cambria Math" panose="02040503050406030204" pitchFamily="18" charset="0"/>
                          </a:rPr>
                          <m:t>cos</m:t>
                        </m:r>
                      </m:fName>
                      <m:e>
                        <m:r>
                          <a:rPr lang="en-US" sz="1200" i="1" smtClean="0">
                            <a:solidFill>
                              <a:srgbClr val="002060"/>
                            </a:solidFill>
                            <a:latin typeface="Cambria Math" panose="02040503050406030204" pitchFamily="18" charset="0"/>
                            <a:ea typeface="Cambria Math" panose="02040503050406030204" pitchFamily="18" charset="0"/>
                          </a:rPr>
                          <m:t>𝜃</m:t>
                        </m:r>
                        <m:r>
                          <a:rPr lang="en-US" sz="1200" b="0" i="1" smtClean="0">
                            <a:solidFill>
                              <a:srgbClr val="002060"/>
                            </a:solidFill>
                            <a:latin typeface="Cambria Math" panose="02040503050406030204" pitchFamily="18" charset="0"/>
                            <a:ea typeface="Cambria Math" panose="02040503050406030204" pitchFamily="18" charset="0"/>
                          </a:rPr>
                          <m:t>′⇒</m:t>
                        </m:r>
                      </m:e>
                    </m:func>
                    <m:func>
                      <m:funcPr>
                        <m:ctrlPr>
                          <a:rPr lang="en-US" sz="1200" b="0" i="1" smtClean="0">
                            <a:solidFill>
                              <a:srgbClr val="002060"/>
                            </a:solidFill>
                            <a:latin typeface="Cambria Math" panose="02040503050406030204" pitchFamily="18" charset="0"/>
                            <a:ea typeface="Cambria Math" panose="02040503050406030204" pitchFamily="18" charset="0"/>
                          </a:rPr>
                        </m:ctrlPr>
                      </m:funcPr>
                      <m:fName>
                        <m:r>
                          <m:rPr>
                            <m:sty m:val="p"/>
                          </m:rPr>
                          <a:rPr lang="en-US" sz="1200" b="0" i="0" smtClean="0">
                            <a:solidFill>
                              <a:srgbClr val="002060"/>
                            </a:solidFill>
                            <a:latin typeface="Cambria Math" panose="02040503050406030204" pitchFamily="18" charset="0"/>
                            <a:ea typeface="Cambria Math" panose="02040503050406030204" pitchFamily="18" charset="0"/>
                          </a:rPr>
                          <m:t>cos</m:t>
                        </m:r>
                      </m:fName>
                      <m:e>
                        <m:sSup>
                          <m:sSupPr>
                            <m:ctrlPr>
                              <a:rPr lang="en-US" sz="1200" b="0" i="1" smtClean="0">
                                <a:solidFill>
                                  <a:srgbClr val="002060"/>
                                </a:solidFill>
                                <a:latin typeface="Cambria Math" panose="02040503050406030204" pitchFamily="18" charset="0"/>
                                <a:ea typeface="Cambria Math" panose="02040503050406030204" pitchFamily="18" charset="0"/>
                              </a:rPr>
                            </m:ctrlPr>
                          </m:sSupPr>
                          <m:e>
                            <m:r>
                              <a:rPr lang="en-US" sz="1200" i="1" smtClean="0">
                                <a:solidFill>
                                  <a:srgbClr val="002060"/>
                                </a:solidFill>
                                <a:latin typeface="Cambria Math" panose="02040503050406030204" pitchFamily="18" charset="0"/>
                                <a:ea typeface="Cambria Math" panose="02040503050406030204" pitchFamily="18" charset="0"/>
                              </a:rPr>
                              <m:t>𝜃</m:t>
                            </m:r>
                          </m:e>
                          <m:sup>
                            <m:r>
                              <a:rPr lang="en-US" sz="1200" b="0" i="1" smtClean="0">
                                <a:solidFill>
                                  <a:srgbClr val="002060"/>
                                </a:solidFill>
                                <a:latin typeface="Cambria Math" panose="02040503050406030204" pitchFamily="18" charset="0"/>
                                <a:ea typeface="Cambria Math" panose="02040503050406030204" pitchFamily="18" charset="0"/>
                              </a:rPr>
                              <m:t>′</m:t>
                            </m:r>
                          </m:sup>
                        </m:sSup>
                        <m:r>
                          <a:rPr lang="en-US" sz="1200" b="0" i="1" smtClean="0">
                            <a:solidFill>
                              <a:srgbClr val="002060"/>
                            </a:solidFill>
                            <a:latin typeface="Cambria Math" panose="02040503050406030204" pitchFamily="18" charset="0"/>
                            <a:ea typeface="Cambria Math" panose="02040503050406030204" pitchFamily="18" charset="0"/>
                          </a:rPr>
                          <m:t>=</m:t>
                        </m:r>
                      </m:e>
                    </m:func>
                    <m:func>
                      <m:funcPr>
                        <m:ctrlPr>
                          <a:rPr lang="en-US" sz="1200" b="0" i="1" smtClean="0">
                            <a:solidFill>
                              <a:srgbClr val="002060"/>
                            </a:solidFill>
                            <a:latin typeface="Cambria Math" panose="02040503050406030204" pitchFamily="18" charset="0"/>
                            <a:ea typeface="Cambria Math" panose="02040503050406030204" pitchFamily="18" charset="0"/>
                          </a:rPr>
                        </m:ctrlPr>
                      </m:funcPr>
                      <m:fName>
                        <m:r>
                          <m:rPr>
                            <m:sty m:val="p"/>
                          </m:rPr>
                          <a:rPr lang="en-US" sz="1200" b="0" i="0" smtClean="0">
                            <a:solidFill>
                              <a:srgbClr val="002060"/>
                            </a:solidFill>
                            <a:latin typeface="Cambria Math" panose="02040503050406030204" pitchFamily="18" charset="0"/>
                            <a:ea typeface="Cambria Math" panose="02040503050406030204" pitchFamily="18" charset="0"/>
                          </a:rPr>
                          <m:t>sin</m:t>
                        </m:r>
                      </m:fName>
                      <m:e>
                        <m:r>
                          <a:rPr lang="en-US" sz="1200" i="1" smtClean="0">
                            <a:solidFill>
                              <a:srgbClr val="002060"/>
                            </a:solidFill>
                            <a:latin typeface="Cambria Math" panose="02040503050406030204" pitchFamily="18" charset="0"/>
                            <a:ea typeface="Cambria Math" panose="02040503050406030204" pitchFamily="18" charset="0"/>
                          </a:rPr>
                          <m:t>𝜃</m:t>
                        </m:r>
                        <m:func>
                          <m:funcPr>
                            <m:ctrlPr>
                              <a:rPr lang="en-US" sz="1200" b="0" i="1" smtClean="0">
                                <a:solidFill>
                                  <a:srgbClr val="002060"/>
                                </a:solidFill>
                                <a:latin typeface="Cambria Math" panose="02040503050406030204" pitchFamily="18" charset="0"/>
                                <a:ea typeface="Cambria Math" panose="02040503050406030204" pitchFamily="18" charset="0"/>
                              </a:rPr>
                            </m:ctrlPr>
                          </m:funcPr>
                          <m:fName>
                            <m:r>
                              <m:rPr>
                                <m:sty m:val="p"/>
                              </m:rPr>
                              <a:rPr lang="en-US" sz="1200" b="0" i="0" smtClean="0">
                                <a:solidFill>
                                  <a:srgbClr val="002060"/>
                                </a:solidFill>
                                <a:latin typeface="Cambria Math" panose="02040503050406030204" pitchFamily="18" charset="0"/>
                                <a:ea typeface="Cambria Math" panose="02040503050406030204" pitchFamily="18" charset="0"/>
                              </a:rPr>
                              <m:t>sin</m:t>
                            </m:r>
                          </m:fName>
                          <m:e>
                            <m:r>
                              <a:rPr lang="en-US" sz="1200" i="1" smtClean="0">
                                <a:solidFill>
                                  <a:srgbClr val="002060"/>
                                </a:solidFill>
                                <a:latin typeface="Cambria Math" panose="02040503050406030204" pitchFamily="18" charset="0"/>
                                <a:ea typeface="Cambria Math" panose="02040503050406030204" pitchFamily="18" charset="0"/>
                              </a:rPr>
                              <m:t>𝜑</m:t>
                            </m:r>
                            <m:r>
                              <a:rPr lang="en-US" sz="1200" b="0" i="1" smtClean="0">
                                <a:solidFill>
                                  <a:srgbClr val="002060"/>
                                </a:solidFill>
                                <a:latin typeface="Cambria Math" panose="02040503050406030204" pitchFamily="18" charset="0"/>
                                <a:ea typeface="Cambria Math" panose="02040503050406030204" pitchFamily="18" charset="0"/>
                              </a:rPr>
                              <m:t> </m:t>
                            </m:r>
                          </m:e>
                        </m:func>
                      </m:e>
                    </m:func>
                  </m:oMath>
                </a14:m>
                <a:endParaRPr lang="en-ZA" b="0" dirty="0"/>
              </a:p>
              <a:p>
                <a:pPr algn="just"/>
                <a:endParaRPr lang="en-ZA" b="0" dirty="0"/>
              </a:p>
              <a:p>
                <a:pPr algn="just"/>
                <a:r>
                  <a:rPr lang="en-ZA" b="0" dirty="0"/>
                  <a:t>The S</a:t>
                </a:r>
                <a:r>
                  <a:rPr lang="en-ZA" b="0" baseline="30000" dirty="0"/>
                  <a:t>†</a:t>
                </a:r>
                <a:r>
                  <a:rPr lang="en-ZA" b="0" dirty="0"/>
                  <a:t> gate first rotates the Bloch vector by </a:t>
                </a:r>
                <a14:m>
                  <m:oMath xmlns:m="http://schemas.openxmlformats.org/officeDocument/2006/math">
                    <m:f>
                      <m:fPr>
                        <m:type m:val="lin"/>
                        <m:ctrlPr>
                          <a:rPr lang="en-US" sz="1200" i="1" dirty="0" smtClean="0">
                            <a:latin typeface="Cambria Math" panose="02040503050406030204" pitchFamily="18" charset="0"/>
                          </a:rPr>
                        </m:ctrlPr>
                      </m:fPr>
                      <m:num>
                        <m:r>
                          <a:rPr lang="en-US" sz="1200" b="0" i="1" dirty="0" smtClean="0">
                            <a:latin typeface="Cambria Math" panose="02040503050406030204" pitchFamily="18" charset="0"/>
                          </a:rPr>
                          <m:t>−</m:t>
                        </m:r>
                        <m:r>
                          <a:rPr lang="en-US" sz="1200" i="1">
                            <a:solidFill>
                              <a:srgbClr val="002060"/>
                            </a:solidFill>
                            <a:latin typeface="Cambria Math" panose="02040503050406030204" pitchFamily="18" charset="0"/>
                            <a:ea typeface="Cambria Math" panose="02040503050406030204" pitchFamily="18" charset="0"/>
                          </a:rPr>
                          <m:t>𝜋</m:t>
                        </m:r>
                      </m:num>
                      <m:den>
                        <m:r>
                          <a:rPr lang="en-US" sz="1200" b="0" i="1" dirty="0" smtClean="0">
                            <a:latin typeface="Cambria Math" panose="02040503050406030204" pitchFamily="18" charset="0"/>
                          </a:rPr>
                          <m:t>2</m:t>
                        </m:r>
                      </m:den>
                    </m:f>
                  </m:oMath>
                </a14:m>
                <a:r>
                  <a:rPr lang="el-GR" b="0" dirty="0"/>
                  <a:t> </a:t>
                </a:r>
                <a:r>
                  <a:rPr lang="en-ZA" b="0" dirty="0"/>
                  <a:t>around the z-axis. The phase angle therefore changes from </a:t>
                </a:r>
                <a14:m>
                  <m:oMath xmlns:m="http://schemas.openxmlformats.org/officeDocument/2006/math">
                    <m:r>
                      <a:rPr lang="en-US" sz="1200" i="1" smtClean="0">
                        <a:solidFill>
                          <a:srgbClr val="002060"/>
                        </a:solidFill>
                        <a:latin typeface="Cambria Math" panose="02040503050406030204" pitchFamily="18" charset="0"/>
                        <a:ea typeface="Cambria Math" panose="02040503050406030204" pitchFamily="18" charset="0"/>
                      </a:rPr>
                      <m:t>𝜑</m:t>
                    </m:r>
                    <m:r>
                      <m:rPr>
                        <m:nor/>
                      </m:rPr>
                      <a:rPr lang="en-US" sz="1200" dirty="0"/>
                      <m:t> </m:t>
                    </m:r>
                    <m:r>
                      <a:rPr lang="en-US" sz="1200" i="1" dirty="0">
                        <a:latin typeface="Cambria Math" panose="02040503050406030204" pitchFamily="18" charset="0"/>
                      </a:rPr>
                      <m:t>=</m:t>
                    </m:r>
                    <m:f>
                      <m:fPr>
                        <m:type m:val="lin"/>
                        <m:ctrlPr>
                          <a:rPr lang="en-US" sz="1200" i="1" dirty="0" smtClean="0">
                            <a:latin typeface="Cambria Math" panose="02040503050406030204" pitchFamily="18" charset="0"/>
                          </a:rPr>
                        </m:ctrlPr>
                      </m:fPr>
                      <m:num>
                        <m:r>
                          <a:rPr lang="en-US" sz="1200" i="1">
                            <a:solidFill>
                              <a:srgbClr val="002060"/>
                            </a:solidFill>
                            <a:latin typeface="Cambria Math" panose="02040503050406030204" pitchFamily="18" charset="0"/>
                            <a:ea typeface="Cambria Math" panose="02040503050406030204" pitchFamily="18" charset="0"/>
                          </a:rPr>
                          <m:t>𝜋</m:t>
                        </m:r>
                      </m:num>
                      <m:den>
                        <m:r>
                          <a:rPr lang="en-US" sz="1200" b="0" i="1" smtClean="0">
                            <a:solidFill>
                              <a:srgbClr val="002060"/>
                            </a:solidFill>
                            <a:latin typeface="Cambria Math" panose="02040503050406030204" pitchFamily="18" charset="0"/>
                            <a:ea typeface="Cambria Math" panose="02040503050406030204" pitchFamily="18" charset="0"/>
                          </a:rPr>
                          <m:t>3</m:t>
                        </m:r>
                      </m:den>
                    </m:f>
                  </m:oMath>
                </a14:m>
                <a:r>
                  <a:rPr lang="en-ZA" b="0" dirty="0"/>
                  <a:t> to </a:t>
                </a:r>
                <a14:m>
                  <m:oMath xmlns:m="http://schemas.openxmlformats.org/officeDocument/2006/math">
                    <m:r>
                      <a:rPr lang="en-US" sz="1200" i="1" smtClean="0">
                        <a:solidFill>
                          <a:srgbClr val="002060"/>
                        </a:solidFill>
                        <a:latin typeface="Cambria Math" panose="02040503050406030204" pitchFamily="18" charset="0"/>
                        <a:ea typeface="Cambria Math" panose="02040503050406030204" pitchFamily="18" charset="0"/>
                      </a:rPr>
                      <m:t>𝜑</m:t>
                    </m:r>
                    <m:r>
                      <m:rPr>
                        <m:nor/>
                      </m:rPr>
                      <a:rPr lang="en-US" sz="1200" dirty="0"/>
                      <m:t> </m:t>
                    </m:r>
                    <m:r>
                      <a:rPr lang="en-US" sz="1200" i="1" dirty="0">
                        <a:latin typeface="Cambria Math" panose="02040503050406030204" pitchFamily="18" charset="0"/>
                      </a:rPr>
                      <m:t>=</m:t>
                    </m:r>
                    <m:f>
                      <m:fPr>
                        <m:type m:val="lin"/>
                        <m:ctrlPr>
                          <a:rPr lang="en-US" sz="1200" i="1" dirty="0" smtClean="0">
                            <a:latin typeface="Cambria Math" panose="02040503050406030204" pitchFamily="18" charset="0"/>
                          </a:rPr>
                        </m:ctrlPr>
                      </m:fPr>
                      <m:num>
                        <m:r>
                          <a:rPr lang="en-US" sz="1200" b="0" i="1" dirty="0" smtClean="0">
                            <a:latin typeface="Cambria Math" panose="02040503050406030204" pitchFamily="18" charset="0"/>
                          </a:rPr>
                          <m:t>−</m:t>
                        </m:r>
                        <m:r>
                          <a:rPr lang="en-US" sz="1200" i="1">
                            <a:solidFill>
                              <a:srgbClr val="002060"/>
                            </a:solidFill>
                            <a:latin typeface="Cambria Math" panose="02040503050406030204" pitchFamily="18" charset="0"/>
                            <a:ea typeface="Cambria Math" panose="02040503050406030204" pitchFamily="18" charset="0"/>
                          </a:rPr>
                          <m:t>𝜋</m:t>
                        </m:r>
                      </m:num>
                      <m:den>
                        <m:r>
                          <a:rPr lang="en-US" sz="1200" b="0" i="1" smtClean="0">
                            <a:solidFill>
                              <a:srgbClr val="002060"/>
                            </a:solidFill>
                            <a:latin typeface="Cambria Math" panose="02040503050406030204" pitchFamily="18" charset="0"/>
                            <a:ea typeface="Cambria Math" panose="02040503050406030204" pitchFamily="18" charset="0"/>
                          </a:rPr>
                          <m:t>6</m:t>
                        </m:r>
                      </m:den>
                    </m:f>
                  </m:oMath>
                </a14:m>
                <a:r>
                  <a:rPr lang="el-GR" b="0" dirty="0"/>
                  <a:t>​, </a:t>
                </a:r>
                <a:r>
                  <a:rPr lang="en-ZA" b="0" dirty="0"/>
                  <a:t>while the vector remains on the equator. The Hadamard gate can then be viewed as a 180° rotation about an axis halfway between the positive x- and z-axes. In this example, it moves the vector from the </a:t>
                </a:r>
                <a:r>
                  <a:rPr lang="en-ZA" b="0" dirty="0" err="1"/>
                  <a:t>xy</a:t>
                </a:r>
                <a:r>
                  <a:rPr lang="en-ZA" b="0" dirty="0"/>
                  <a:t>-plane into the </a:t>
                </a:r>
                <a:r>
                  <a:rPr lang="en-ZA" b="0" dirty="0" err="1"/>
                  <a:t>yz</a:t>
                </a:r>
                <a:r>
                  <a:rPr lang="en-ZA" b="0" dirty="0"/>
                  <a:t>-plane.</a:t>
                </a:r>
              </a:p>
              <a:p>
                <a:pPr algn="just"/>
                <a:endParaRPr lang="en-ZA" b="0" dirty="0"/>
              </a:p>
              <a:p>
                <a:pPr algn="just"/>
                <a:r>
                  <a:rPr lang="en-ZA" b="0" dirty="0"/>
                  <a:t>After the S</a:t>
                </a:r>
                <a:r>
                  <a:rPr lang="en-ZA" b="0" baseline="30000" dirty="0"/>
                  <a:t>†</a:t>
                </a:r>
                <a:r>
                  <a:rPr lang="en-ZA" b="0" dirty="0"/>
                  <a:t>-H sequence, the state has </a:t>
                </a:r>
                <a14:m>
                  <m:oMath xmlns:m="http://schemas.openxmlformats.org/officeDocument/2006/math">
                    <m:r>
                      <a:rPr lang="en-US" sz="1200" i="1" smtClean="0">
                        <a:solidFill>
                          <a:srgbClr val="002060"/>
                        </a:solidFill>
                        <a:latin typeface="Cambria Math" panose="02040503050406030204" pitchFamily="18" charset="0"/>
                        <a:ea typeface="Cambria Math" panose="02040503050406030204" pitchFamily="18" charset="0"/>
                      </a:rPr>
                      <m:t>𝜃</m:t>
                    </m:r>
                    <m:r>
                      <a:rPr lang="en-US" sz="1200" b="0" i="1" smtClean="0">
                        <a:solidFill>
                          <a:srgbClr val="002060"/>
                        </a:solidFill>
                        <a:latin typeface="Cambria Math" panose="02040503050406030204" pitchFamily="18" charset="0"/>
                        <a:ea typeface="Cambria Math" panose="02040503050406030204" pitchFamily="18" charset="0"/>
                      </a:rPr>
                      <m:t>′</m:t>
                    </m:r>
                    <m:r>
                      <m:rPr>
                        <m:nor/>
                      </m:rPr>
                      <a:rPr lang="en-US" sz="1200" dirty="0"/>
                      <m:t> </m:t>
                    </m:r>
                    <m:r>
                      <a:rPr lang="en-US" sz="1200" i="1" dirty="0">
                        <a:latin typeface="Cambria Math" panose="02040503050406030204" pitchFamily="18" charset="0"/>
                      </a:rPr>
                      <m:t>=</m:t>
                    </m:r>
                    <m:f>
                      <m:fPr>
                        <m:type m:val="lin"/>
                        <m:ctrlPr>
                          <a:rPr lang="en-US" sz="1200" i="1" dirty="0" smtClean="0">
                            <a:latin typeface="Cambria Math" panose="02040503050406030204" pitchFamily="18" charset="0"/>
                          </a:rPr>
                        </m:ctrlPr>
                      </m:fPr>
                      <m:num>
                        <m:r>
                          <a:rPr lang="en-US" sz="1200" i="1">
                            <a:solidFill>
                              <a:srgbClr val="002060"/>
                            </a:solidFill>
                            <a:latin typeface="Cambria Math" panose="02040503050406030204" pitchFamily="18" charset="0"/>
                            <a:ea typeface="Cambria Math" panose="02040503050406030204" pitchFamily="18" charset="0"/>
                          </a:rPr>
                          <m:t>𝜋</m:t>
                        </m:r>
                      </m:num>
                      <m:den>
                        <m:r>
                          <a:rPr lang="en-US" sz="1200" b="0" i="1" smtClean="0">
                            <a:solidFill>
                              <a:srgbClr val="002060"/>
                            </a:solidFill>
                            <a:latin typeface="Cambria Math" panose="02040503050406030204" pitchFamily="18" charset="0"/>
                            <a:ea typeface="Cambria Math" panose="02040503050406030204" pitchFamily="18" charset="0"/>
                          </a:rPr>
                          <m:t>6</m:t>
                        </m:r>
                      </m:den>
                    </m:f>
                  </m:oMath>
                </a14:m>
                <a:r>
                  <a:rPr lang="en-ZA" b="0" dirty="0"/>
                  <a:t> and </a:t>
                </a:r>
                <a14:m>
                  <m:oMath xmlns:m="http://schemas.openxmlformats.org/officeDocument/2006/math">
                    <m:r>
                      <a:rPr lang="en-US" sz="1200" i="1" smtClean="0">
                        <a:solidFill>
                          <a:srgbClr val="002060"/>
                        </a:solidFill>
                        <a:latin typeface="Cambria Math" panose="02040503050406030204" pitchFamily="18" charset="0"/>
                        <a:ea typeface="Cambria Math" panose="02040503050406030204" pitchFamily="18" charset="0"/>
                      </a:rPr>
                      <m:t>𝜑</m:t>
                    </m:r>
                    <m:r>
                      <a:rPr lang="en-US" sz="1200" b="0" i="1" smtClean="0">
                        <a:solidFill>
                          <a:srgbClr val="002060"/>
                        </a:solidFill>
                        <a:latin typeface="Cambria Math" panose="02040503050406030204" pitchFamily="18" charset="0"/>
                        <a:ea typeface="Cambria Math" panose="02040503050406030204" pitchFamily="18" charset="0"/>
                      </a:rPr>
                      <m:t>′</m:t>
                    </m:r>
                    <m:r>
                      <a:rPr lang="en-US" sz="1200" i="1" dirty="0">
                        <a:latin typeface="Cambria Math" panose="02040503050406030204" pitchFamily="18" charset="0"/>
                      </a:rPr>
                      <m:t>=</m:t>
                    </m:r>
                    <m:f>
                      <m:fPr>
                        <m:type m:val="lin"/>
                        <m:ctrlPr>
                          <a:rPr lang="en-US" sz="1200" i="1" dirty="0" smtClean="0">
                            <a:latin typeface="Cambria Math" panose="02040503050406030204" pitchFamily="18" charset="0"/>
                          </a:rPr>
                        </m:ctrlPr>
                      </m:fPr>
                      <m:num>
                        <m:r>
                          <a:rPr lang="en-US" sz="1200" i="1">
                            <a:solidFill>
                              <a:srgbClr val="002060"/>
                            </a:solidFill>
                            <a:latin typeface="Cambria Math" panose="02040503050406030204" pitchFamily="18" charset="0"/>
                            <a:ea typeface="Cambria Math" panose="02040503050406030204" pitchFamily="18" charset="0"/>
                          </a:rPr>
                          <m:t>𝜋</m:t>
                        </m:r>
                      </m:num>
                      <m:den>
                        <m:r>
                          <a:rPr lang="en-US" sz="1200" b="0" i="1" smtClean="0">
                            <a:solidFill>
                              <a:srgbClr val="002060"/>
                            </a:solidFill>
                            <a:latin typeface="Cambria Math" panose="02040503050406030204" pitchFamily="18" charset="0"/>
                            <a:ea typeface="Cambria Math" panose="02040503050406030204" pitchFamily="18" charset="0"/>
                          </a:rPr>
                          <m:t>2</m:t>
                        </m:r>
                      </m:den>
                    </m:f>
                  </m:oMath>
                </a14:m>
                <a:r>
                  <a:rPr lang="en-ZA" b="0" dirty="0"/>
                  <a:t>. In this way, information about the original Y-component is converted into a z-component that can be detected by the standard measurement. The histogram therefore gives approximately 93% for 0 and 7% for 1.</a:t>
                </a:r>
              </a:p>
              <a:p>
                <a:pPr algn="just"/>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Although the physical measurement is performed in the Z basis, we interpret it as a Y-basis measurement of the original state. A measured 0 corresponds to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𝑖</m:t>
                        </m:r>
                      </m:e>
                    </m:d>
                  </m:oMath>
                </a14:m>
                <a:r>
                  <a:rPr lang="en-ZA" b="0" dirty="0"/>
                  <a:t>, while a measured 1 corresponds to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𝑖</m:t>
                        </m:r>
                      </m:e>
                    </m:d>
                  </m:oMath>
                </a14:m>
                <a:r>
                  <a:rPr lang="en-ZA" b="0" dirty="0"/>
                  <a:t>.</a:t>
                </a:r>
              </a:p>
            </p:txBody>
          </p:sp>
        </mc:Choice>
        <mc:Fallback xmlns="">
          <p:sp>
            <p:nvSpPr>
              <p:cNvPr id="3" name="Notes Placeholder 2"/>
              <p:cNvSpPr>
                <a:spLocks noGrp="1"/>
              </p:cNvSpPr>
              <p:nvPr>
                <p:ph type="body" idx="1"/>
              </p:nvPr>
            </p:nvSpPr>
            <p:spPr/>
            <p:txBody>
              <a:bodyPr/>
              <a:lstStyle/>
              <a:p>
                <a:r>
                  <a:rPr lang="en-US" sz="2000" dirty="0"/>
                  <a:t>A measurement gate performs a measurement in z-basis only but sometimes measurement relative to other basis would be useful.</a:t>
                </a:r>
              </a:p>
              <a:p>
                <a:pPr marL="457200" indent="-457200">
                  <a:buFont typeface="+mj-lt"/>
                  <a:buAutoNum type="arabicPeriod"/>
                </a:pPr>
                <a:r>
                  <a:rPr lang="en-US" sz="2000" dirty="0"/>
                  <a:t>To illustrate this, let’s have a circuit that puts a qubit into superposition and then rotate it for 45 degrees. If we apply a measurement gate there is 50/50 % chance to get 0 or 1 as a result. In other words, the phase shift information cannot be retrieved.</a:t>
                </a:r>
              </a:p>
              <a:p>
                <a:pPr marL="457200" indent="-457200">
                  <a:buFont typeface="+mj-lt"/>
                  <a:buAutoNum type="arabicPeriod"/>
                </a:pPr>
                <a:r>
                  <a:rPr lang="en-US" sz="2000" dirty="0"/>
                  <a:t>Let’s now add a H gate before the measurement. The measurement result now shows sensitivity  to qubit phase. By adding the H gate we in effect</a:t>
                </a:r>
                <a:r>
                  <a:rPr lang="en-US" sz="2000" baseline="0" dirty="0"/>
                  <a:t> performed measurement in </a:t>
                </a:r>
                <a:r>
                  <a:rPr lang="en-US" sz="2000" i="0">
                    <a:solidFill>
                      <a:srgbClr val="002060"/>
                    </a:solidFill>
                    <a:latin typeface="Cambria Math" panose="02040503050406030204" pitchFamily="18" charset="0"/>
                    <a:ea typeface="Cambria Math" panose="02040503050406030204" pitchFamily="18" charset="0"/>
                  </a:rPr>
                  <a:t>├ |+⟩</a:t>
                </a:r>
                <a:r>
                  <a:rPr lang="en-US" sz="2000" dirty="0"/>
                  <a:t>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a:t>
                </a:r>
                <a:r>
                  <a:rPr lang="en-US" sz="2000" dirty="0"/>
                  <a:t> basis where 0 indicates </a:t>
                </a:r>
                <a:r>
                  <a:rPr lang="en-US" sz="2000" i="0">
                    <a:solidFill>
                      <a:srgbClr val="002060"/>
                    </a:solidFill>
                    <a:latin typeface="Cambria Math" panose="02040503050406030204" pitchFamily="18" charset="0"/>
                    <a:ea typeface="Cambria Math" panose="02040503050406030204" pitchFamily="18" charset="0"/>
                  </a:rPr>
                  <a:t>├ |+⟩</a:t>
                </a:r>
                <a:r>
                  <a:rPr lang="en-US" sz="2000" dirty="0"/>
                  <a:t> and</a:t>
                </a:r>
                <a:r>
                  <a:rPr lang="en-US" sz="2000" baseline="0" dirty="0"/>
                  <a:t> 1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a:t>
                </a:r>
                <a:r>
                  <a:rPr lang="en-US" sz="2000" dirty="0"/>
                  <a:t>. The</a:t>
                </a:r>
                <a:r>
                  <a:rPr lang="en-US" sz="2000" baseline="0" dirty="0"/>
                  <a:t> type of measurement in which a H gate precedes the measurement is called a measurement in superposition basis.</a:t>
                </a: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45</a:t>
            </a:fld>
            <a:endParaRPr lang="en-US"/>
          </a:p>
        </p:txBody>
      </p:sp>
    </p:spTree>
    <p:extLst>
      <p:ext uri="{BB962C8B-B14F-4D97-AF65-F5344CB8AC3E}">
        <p14:creationId xmlns:p14="http://schemas.microsoft.com/office/powerpoint/2010/main" val="38586963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Implicit measurement means that a qubit that is no longer used in a computation can be treated as if it had been measured, with the measurement result ignored. This does not affect the measurement statistics of the remaining qubits.</a:t>
            </a:r>
          </a:p>
          <a:p>
            <a:pPr algn="just"/>
            <a:endParaRPr lang="en-ZA" b="0" dirty="0"/>
          </a:p>
          <a:p>
            <a:pPr algn="just"/>
            <a:r>
              <a:rPr lang="en-ZA" b="0" dirty="0"/>
              <a:t>In the example shown in the figure, the bottom qubit can therefore be considered implicitly measured. From a practical standpoint, we do not need to explicitly measure every qubit in a circuit. If we only care about the results of certain qubits, we can measure those and leave the others unmeasured.</a:t>
            </a:r>
          </a:p>
        </p:txBody>
      </p:sp>
      <p:sp>
        <p:nvSpPr>
          <p:cNvPr id="4" name="Slide Number Placeholder 3"/>
          <p:cNvSpPr>
            <a:spLocks noGrp="1"/>
          </p:cNvSpPr>
          <p:nvPr>
            <p:ph type="sldNum" sz="quarter" idx="5"/>
          </p:nvPr>
        </p:nvSpPr>
        <p:spPr/>
        <p:txBody>
          <a:bodyPr/>
          <a:lstStyle/>
          <a:p>
            <a:fld id="{1B2CE5E3-B8BD-D040-AC87-D640191DD8F1}" type="slidenum">
              <a:rPr lang="en-US" smtClean="0"/>
              <a:t>46</a:t>
            </a:fld>
            <a:endParaRPr lang="en-US"/>
          </a:p>
        </p:txBody>
      </p:sp>
    </p:spTree>
    <p:extLst>
      <p:ext uri="{BB962C8B-B14F-4D97-AF65-F5344CB8AC3E}">
        <p14:creationId xmlns:p14="http://schemas.microsoft.com/office/powerpoint/2010/main" val="306551280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The principle of deferred measurement states that, under appropriate conditions, measurements performed within a quantum circuit can be postponed until the end without changing the relevant measurement statistics.</a:t>
                </a:r>
              </a:p>
              <a:p>
                <a:pPr algn="just"/>
                <a:endParaRPr lang="en-ZA" b="0" dirty="0"/>
              </a:p>
              <a:p>
                <a:pPr algn="just"/>
                <a:r>
                  <a:rPr lang="en-ZA" b="0" dirty="0"/>
                  <a:t>For example, in the first circuit, qubit q[0] is measured, and the classical result determines whether a Hadamard gate is applied to qubit q[1]. The circuit then continues with the remaining operations, represented by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𝑓</m:t>
                    </m:r>
                  </m:oMath>
                </a14:m>
                <a:r>
                  <a:rPr lang="en-ZA" b="0" dirty="0"/>
                  <a:t>.</a:t>
                </a:r>
              </a:p>
              <a:p>
                <a:pPr algn="just"/>
                <a:endParaRPr lang="en-ZA" b="0" dirty="0"/>
              </a:p>
              <a:p>
                <a:pPr algn="just"/>
                <a:r>
                  <a:rPr lang="en-ZA" b="0" dirty="0"/>
                  <a:t>In the second circuit, the measurement and classically controlled Hadamard are replaced by a controlled-Hadamard gate, and the measurement of q[0] is postponed until the end. This keeps q[0] unmeasured during the computation, allowing it to participate in later quantum operations if needed.</a:t>
                </a:r>
              </a:p>
            </p:txBody>
          </p:sp>
        </mc:Choice>
        <mc:Fallback xmlns="">
          <p:sp>
            <p:nvSpPr>
              <p:cNvPr id="3" name="Notes Placeholder 2"/>
              <p:cNvSpPr>
                <a:spLocks noGrp="1"/>
              </p:cNvSpPr>
              <p:nvPr>
                <p:ph type="body" idx="1"/>
              </p:nvPr>
            </p:nvSpPr>
            <p:spPr/>
            <p:txBody>
              <a:bodyPr/>
              <a:lstStyle/>
              <a:p>
                <a:pPr algn="just"/>
                <a:r>
                  <a:rPr lang="en-ZA" b="0" dirty="0"/>
                  <a:t>The principle of deferred measurement states that measurements of qubits within a circuit can be postponed and replaced by equivalent measurements at the end of the circuit.</a:t>
                </a:r>
              </a:p>
              <a:p>
                <a:pPr algn="just"/>
                <a:r>
                  <a:rPr lang="en-ZA" b="0" dirty="0"/>
                  <a:t>In the example shown above, based on the measurement outcome of qubit q[0], a Hadamard gate is applied to qubit q[1], and the computation continues with the subsequent transformations represented by </a:t>
                </a:r>
                <a:r>
                  <a:rPr lang="en-US" sz="1200" b="0" i="0">
                    <a:latin typeface="Cambria Math" panose="02040503050406030204" pitchFamily="18" charset="0"/>
                  </a:rPr>
                  <a:t>𝑓</a:t>
                </a:r>
                <a:r>
                  <a:rPr lang="en-ZA" b="0" dirty="0"/>
                  <a:t>.</a:t>
                </a:r>
              </a:p>
              <a:p>
                <a:pPr algn="just"/>
                <a:endParaRPr lang="en-ZA" b="0" dirty="0"/>
              </a:p>
              <a:p>
                <a:pPr algn="just"/>
                <a:r>
                  <a:rPr lang="en-ZA" b="0" dirty="0"/>
                  <a:t>In the example below, the Hadamard gate is replaced by a controlled-Hadamard gate, and the measurement is deferred to the end of the circuit. The advantage of this approach is that the quantum state of qubit q[0] is preserved, allowing it to be used in further operations if necessary.</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47</a:t>
            </a:fld>
            <a:endParaRPr lang="en-US"/>
          </a:p>
        </p:txBody>
      </p:sp>
    </p:spTree>
    <p:extLst>
      <p:ext uri="{BB962C8B-B14F-4D97-AF65-F5344CB8AC3E}">
        <p14:creationId xmlns:p14="http://schemas.microsoft.com/office/powerpoint/2010/main" val="18855273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The Quantum Fourier Transform is a tool that reveals hidden phase information and patterns that are difficult to see directly in a quantum state.</a:t>
            </a:r>
          </a:p>
          <a:p>
            <a:pPr algn="just"/>
            <a:endParaRPr lang="en-ZA" b="0" dirty="0"/>
          </a:p>
          <a:p>
            <a:pPr algn="just"/>
            <a:r>
              <a:rPr lang="en-ZA" b="0" dirty="0"/>
              <a:t>The Fourier transform is named after the French mathematician Joseph Fourier, best known for his work on Fourier series, which represent periodic functions as sums of sine and cosine waves. His work laid the foundation for the later development of the Fourier transform.</a:t>
            </a:r>
          </a:p>
          <a:p>
            <a:pPr algn="just"/>
            <a:endParaRPr lang="en-ZA" b="0" dirty="0"/>
          </a:p>
          <a:p>
            <a:pPr algn="just"/>
            <a:r>
              <a:rPr lang="en-ZA" b="0" dirty="0"/>
              <a:t>Typically, the Quantum Fourier Transform (QFT) is used as a subroutine in more complex quantum algorithms.</a:t>
            </a:r>
          </a:p>
        </p:txBody>
      </p:sp>
      <p:sp>
        <p:nvSpPr>
          <p:cNvPr id="4" name="Slide Number Placeholder 3"/>
          <p:cNvSpPr>
            <a:spLocks noGrp="1"/>
          </p:cNvSpPr>
          <p:nvPr>
            <p:ph type="sldNum" sz="quarter" idx="5"/>
          </p:nvPr>
        </p:nvSpPr>
        <p:spPr/>
        <p:txBody>
          <a:bodyPr/>
          <a:lstStyle/>
          <a:p>
            <a:fld id="{1B2CE5E3-B8BD-D040-AC87-D640191DD8F1}" type="slidenum">
              <a:rPr lang="en-US" smtClean="0"/>
              <a:t>48</a:t>
            </a:fld>
            <a:endParaRPr lang="en-US"/>
          </a:p>
        </p:txBody>
      </p:sp>
    </p:spTree>
    <p:extLst>
      <p:ext uri="{BB962C8B-B14F-4D97-AF65-F5344CB8AC3E}">
        <p14:creationId xmlns:p14="http://schemas.microsoft.com/office/powerpoint/2010/main" val="177634833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The Fourier transform can be illustrated with a simple example using an audio signal. Imagine a pianist playing three notes at the same time. The sound we hear is a complex waveform that changes over time, so it is represented in the time domain. </a:t>
            </a:r>
          </a:p>
          <a:p>
            <a:pPr algn="just"/>
            <a:endParaRPr lang="en-ZA" b="0" dirty="0"/>
          </a:p>
          <a:p>
            <a:pPr marL="228600" indent="-228600" algn="just">
              <a:buFont typeface="+mj-lt"/>
              <a:buAutoNum type="arabicPeriod"/>
            </a:pPr>
            <a:r>
              <a:rPr lang="en-ZA" b="0" dirty="0"/>
              <a:t>To </a:t>
            </a:r>
            <a:r>
              <a:rPr lang="en-ZA" b="0" dirty="0" err="1"/>
              <a:t>analyze</a:t>
            </a:r>
            <a:r>
              <a:rPr lang="en-ZA" b="0" dirty="0"/>
              <a:t> this signal, samples are taken at regular intervals from the electrical signal produced by a microphone.</a:t>
            </a:r>
          </a:p>
          <a:p>
            <a:pPr marL="228600" indent="-228600" algn="just">
              <a:buFont typeface="+mj-lt"/>
              <a:buAutoNum type="arabicPeriod"/>
            </a:pPr>
            <a:r>
              <a:rPr lang="en-ZA" b="0" dirty="0"/>
              <a:t>When the Discrete Fourier Transform (DFT) is applied to these samples, the signal is transformed from the time domain to the frequency domain. Here, the horizontal axis represents frequency, which corresponds to pitch, while the vertical axis represents amplitude, which corresponds to the strength or loudness of each frequency component.</a:t>
            </a:r>
          </a:p>
          <a:p>
            <a:pPr marL="228600" indent="-228600" algn="just">
              <a:buFont typeface="+mj-lt"/>
              <a:buAutoNum type="arabicPeriod"/>
            </a:pPr>
            <a:r>
              <a:rPr lang="en-ZA" b="0" dirty="0"/>
              <a:t>This representation shows that the original signal can be expressed as a combination of sinusoidal components, each with its own frequency and amplitude. The inverse DFT (IDFT) performs the opposite transformation, reconstructing the time-domain signal from its frequency components.</a:t>
            </a:r>
          </a:p>
          <a:p>
            <a:pPr marL="228600" indent="-228600" algn="just">
              <a:buFont typeface="+mj-lt"/>
              <a:buAutoNum type="arabicPeriod"/>
            </a:pPr>
            <a:endParaRPr lang="en-ZA" b="0" dirty="0"/>
          </a:p>
          <a:p>
            <a:pPr algn="just"/>
            <a:r>
              <a:rPr lang="en-ZA" b="0" dirty="0"/>
              <a:t>More generally, the DFT transforms a sequence of data values into a set of Fourier coefficients, which reveal periodic patterns that may be hidden in the original data.</a:t>
            </a:r>
          </a:p>
        </p:txBody>
      </p:sp>
      <p:sp>
        <p:nvSpPr>
          <p:cNvPr id="4" name="Slide Number Placeholder 3"/>
          <p:cNvSpPr>
            <a:spLocks noGrp="1"/>
          </p:cNvSpPr>
          <p:nvPr>
            <p:ph type="sldNum" sz="quarter" idx="5"/>
          </p:nvPr>
        </p:nvSpPr>
        <p:spPr/>
        <p:txBody>
          <a:bodyPr/>
          <a:lstStyle/>
          <a:p>
            <a:fld id="{1B2CE5E3-B8BD-D040-AC87-D640191DD8F1}" type="slidenum">
              <a:rPr lang="en-US" smtClean="0"/>
              <a:t>49</a:t>
            </a:fld>
            <a:endParaRPr lang="en-US"/>
          </a:p>
        </p:txBody>
      </p:sp>
    </p:spTree>
    <p:extLst>
      <p:ext uri="{BB962C8B-B14F-4D97-AF65-F5344CB8AC3E}">
        <p14:creationId xmlns:p14="http://schemas.microsoft.com/office/powerpoint/2010/main" val="268854907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The applications of the Fourier transform are vast, appearing in areas such as digital signal processing, audio and video compression, number theory, cryptography, statistics, probability theory, and astrophysics.</a:t>
            </a:r>
          </a:p>
          <a:p>
            <a:pPr algn="just"/>
            <a:endParaRPr lang="en-ZA" b="0" dirty="0"/>
          </a:p>
          <a:p>
            <a:pPr algn="just"/>
            <a:r>
              <a:rPr lang="en-ZA" b="0" dirty="0"/>
              <a:t>One important application of the Discrete Fourier Transform (DFT) is in speech processing and recognition. Audio signals can be transformed into the frequency domain, where frequency patterns can be extracted and used by machine-learning models. </a:t>
            </a:r>
          </a:p>
          <a:p>
            <a:pPr algn="just"/>
            <a:endParaRPr lang="en-ZA" b="0" dirty="0"/>
          </a:p>
          <a:p>
            <a:pPr algn="just"/>
            <a:r>
              <a:rPr lang="en-ZA" b="0" dirty="0"/>
              <a:t>Fourier analysis can also be used to study activity in social networks. For example, the number of posts, messages, or interactions can be recorded over time. Applying the DFT can reveal periodic patterns, such as daily or weekly cycles in user activity.</a:t>
            </a:r>
          </a:p>
          <a:p>
            <a:pPr algn="just"/>
            <a:endParaRPr lang="en-ZA" b="0" dirty="0"/>
          </a:p>
          <a:p>
            <a:pPr algn="just"/>
            <a:r>
              <a:rPr lang="en-ZA" b="0" dirty="0"/>
              <a:t>Another major application is medical imaging. In magnetic resonance imaging (MRI), the measured data are collected in a spatial-frequency representation known as k-space. Fourier transformation is then used to reconstruct this data into an image that can be interpreted by doctors.</a:t>
            </a:r>
          </a:p>
          <a:p>
            <a:pPr algn="just"/>
            <a:endParaRPr lang="en-ZA" b="0" dirty="0"/>
          </a:p>
        </p:txBody>
      </p:sp>
      <p:sp>
        <p:nvSpPr>
          <p:cNvPr id="4" name="Slide Number Placeholder 3"/>
          <p:cNvSpPr>
            <a:spLocks noGrp="1"/>
          </p:cNvSpPr>
          <p:nvPr>
            <p:ph type="sldNum" sz="quarter" idx="5"/>
          </p:nvPr>
        </p:nvSpPr>
        <p:spPr/>
        <p:txBody>
          <a:bodyPr/>
          <a:lstStyle/>
          <a:p>
            <a:fld id="{1B2CE5E3-B8BD-D040-AC87-D640191DD8F1}" type="slidenum">
              <a:rPr lang="en-US" smtClean="0"/>
              <a:t>50</a:t>
            </a:fld>
            <a:endParaRPr lang="en-US"/>
          </a:p>
        </p:txBody>
      </p:sp>
    </p:spTree>
    <p:extLst>
      <p:ext uri="{BB962C8B-B14F-4D97-AF65-F5344CB8AC3E}">
        <p14:creationId xmlns:p14="http://schemas.microsoft.com/office/powerpoint/2010/main" val="46199904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0" dirty="0"/>
                  <a:t>A key concept in the Quantum Fourier Transform is the phase factor. </a:t>
                </a:r>
                <a:r>
                  <a:rPr lang="en-ZA" dirty="0"/>
                  <a:t>A phase factor is a complex number that lies on the unit circle and can be written using Euler’s formula:</a:t>
                </a:r>
              </a:p>
              <a:p>
                <a:pPr algn="just"/>
                <a:endParaRPr lang="en-US" sz="1200" b="0" i="1" dirty="0">
                  <a:latin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sSup>
                        <m:sSupPr>
                          <m:ctrlPr>
                            <a:rPr lang="en-ZA" sz="1200" b="0" i="1" smtClean="0">
                              <a:latin typeface="Cambria Math" panose="02040503050406030204" pitchFamily="18" charset="0"/>
                            </a:rPr>
                          </m:ctrlPr>
                        </m:sSupPr>
                        <m:e>
                          <m:r>
                            <a:rPr lang="sr-Latn-RS" sz="1200" b="0" i="1" smtClean="0">
                              <a:latin typeface="Cambria Math" panose="02040503050406030204" pitchFamily="18" charset="0"/>
                            </a:rPr>
                            <m:t>𝑒</m:t>
                          </m:r>
                        </m:e>
                        <m:sup>
                          <m:r>
                            <a:rPr lang="sr-Latn-RS" sz="1200" b="0" i="1" smtClean="0">
                              <a:latin typeface="Cambria Math" panose="02040503050406030204" pitchFamily="18" charset="0"/>
                            </a:rPr>
                            <m:t>𝑖</m:t>
                          </m:r>
                          <m:r>
                            <a:rPr lang="sr-Latn-RS" sz="1200" b="0" i="1" smtClean="0">
                              <a:latin typeface="Cambria Math" panose="02040503050406030204" pitchFamily="18" charset="0"/>
                              <a:ea typeface="Cambria Math" panose="02040503050406030204" pitchFamily="18" charset="0"/>
                            </a:rPr>
                            <m:t>𝜑</m:t>
                          </m:r>
                        </m:sup>
                      </m:sSup>
                      <m:r>
                        <a:rPr lang="sr-Latn-RS" sz="1200" b="0" i="1" smtClean="0">
                          <a:latin typeface="Cambria Math" panose="02040503050406030204" pitchFamily="18" charset="0"/>
                        </a:rPr>
                        <m:t>=</m:t>
                      </m:r>
                      <m:func>
                        <m:funcPr>
                          <m:ctrlPr>
                            <a:rPr lang="en-ZA" sz="1200" b="0" i="1">
                              <a:latin typeface="Cambria Math" panose="02040503050406030204" pitchFamily="18" charset="0"/>
                            </a:rPr>
                          </m:ctrlPr>
                        </m:funcPr>
                        <m:fName>
                          <m:r>
                            <a:rPr lang="sr-Latn-RS" sz="1200" b="0" i="1" smtClean="0">
                              <a:latin typeface="Cambria Math" panose="02040503050406030204" pitchFamily="18" charset="0"/>
                            </a:rPr>
                            <m:t>𝑐𝑜𝑠</m:t>
                          </m:r>
                        </m:fName>
                        <m:e>
                          <m:r>
                            <a:rPr lang="sr-Latn-RS" sz="1200" b="0" i="1" smtClean="0">
                              <a:latin typeface="Cambria Math" panose="02040503050406030204" pitchFamily="18" charset="0"/>
                              <a:ea typeface="Cambria Math" panose="02040503050406030204" pitchFamily="18" charset="0"/>
                            </a:rPr>
                            <m:t>𝜑</m:t>
                          </m:r>
                        </m:e>
                      </m:func>
                      <m:r>
                        <a:rPr lang="en-US" sz="1200" b="0" i="1" smtClean="0">
                          <a:latin typeface="Cambria Math" panose="02040503050406030204" pitchFamily="18" charset="0"/>
                          <a:ea typeface="Cambria Math" panose="02040503050406030204" pitchFamily="18" charset="0"/>
                        </a:rPr>
                        <m:t>+</m:t>
                      </m:r>
                      <m:r>
                        <a:rPr lang="sr-Latn-RS" sz="1200" b="0" i="1" smtClean="0">
                          <a:latin typeface="Cambria Math" panose="02040503050406030204" pitchFamily="18" charset="0"/>
                        </a:rPr>
                        <m:t>𝑖</m:t>
                      </m:r>
                      <m:func>
                        <m:funcPr>
                          <m:ctrlPr>
                            <a:rPr lang="en-ZA" sz="1200" b="0" i="1">
                              <a:latin typeface="Cambria Math" panose="02040503050406030204" pitchFamily="18" charset="0"/>
                            </a:rPr>
                          </m:ctrlPr>
                        </m:funcPr>
                        <m:fName>
                          <m:r>
                            <a:rPr lang="sr-Latn-RS" sz="1200" b="0" i="1" smtClean="0">
                              <a:latin typeface="Cambria Math" panose="02040503050406030204" pitchFamily="18" charset="0"/>
                            </a:rPr>
                            <m:t>𝑠𝑖𝑛</m:t>
                          </m:r>
                        </m:fName>
                        <m:e>
                          <m:r>
                            <a:rPr lang="sr-Latn-RS" sz="1200" b="0" i="1" smtClean="0">
                              <a:latin typeface="Cambria Math" panose="02040503050406030204" pitchFamily="18" charset="0"/>
                              <a:ea typeface="Cambria Math" panose="02040503050406030204" pitchFamily="18" charset="0"/>
                            </a:rPr>
                            <m:t>𝜑</m:t>
                          </m:r>
                        </m:e>
                      </m:func>
                    </m:oMath>
                  </m:oMathPara>
                </a14:m>
                <a:endParaRPr lang="en-US" sz="1200" b="0" dirty="0">
                  <a:ea typeface="Cambria Math" panose="02040503050406030204" pitchFamily="18" charset="0"/>
                </a:endParaRPr>
              </a:p>
              <a:p>
                <a:pPr algn="just"/>
                <a:endParaRPr lang="en-US" sz="1200" b="0" dirty="0">
                  <a:ea typeface="Cambria Math" panose="02040503050406030204" pitchFamily="18" charset="0"/>
                </a:endParaRPr>
              </a:p>
              <a:p>
                <a:pPr algn="just"/>
                <a:r>
                  <a:rPr lang="en-ZA" b="0" dirty="0"/>
                  <a:t>Here, </a:t>
                </a:r>
                <a14:m>
                  <m:oMath xmlns:m="http://schemas.openxmlformats.org/officeDocument/2006/math">
                    <m:func>
                      <m:funcPr>
                        <m:ctrlPr>
                          <a:rPr lang="en-ZA" sz="1200" b="0" i="1" smtClean="0">
                            <a:latin typeface="Cambria Math" panose="02040503050406030204" pitchFamily="18" charset="0"/>
                          </a:rPr>
                        </m:ctrlPr>
                      </m:funcPr>
                      <m:fName>
                        <m:r>
                          <a:rPr lang="sr-Latn-RS" sz="1200" b="0" i="1" smtClean="0">
                            <a:latin typeface="Cambria Math" panose="02040503050406030204" pitchFamily="18" charset="0"/>
                          </a:rPr>
                          <m:t>𝑐𝑜𝑠</m:t>
                        </m:r>
                      </m:fName>
                      <m:e>
                        <m:r>
                          <a:rPr lang="sr-Latn-RS" sz="1200" b="0" i="1" smtClean="0">
                            <a:latin typeface="Cambria Math" panose="02040503050406030204" pitchFamily="18" charset="0"/>
                            <a:ea typeface="Cambria Math" panose="02040503050406030204" pitchFamily="18" charset="0"/>
                          </a:rPr>
                          <m:t>𝜑</m:t>
                        </m:r>
                      </m:e>
                    </m:func>
                    <m:r>
                      <a:rPr lang="sr-Latn-RS" sz="1200" b="0" i="1" smtClean="0">
                        <a:latin typeface="Cambria Math" panose="02040503050406030204" pitchFamily="18" charset="0"/>
                        <a:ea typeface="Cambria Math" panose="02040503050406030204" pitchFamily="18" charset="0"/>
                      </a:rPr>
                      <m:t> </m:t>
                    </m:r>
                  </m:oMath>
                </a14:m>
                <a:r>
                  <a:rPr lang="en-ZA" b="0" dirty="0"/>
                  <a:t>gives the horizontal coordinate and </a:t>
                </a:r>
                <a14:m>
                  <m:oMath xmlns:m="http://schemas.openxmlformats.org/officeDocument/2006/math">
                    <m:func>
                      <m:funcPr>
                        <m:ctrlPr>
                          <a:rPr lang="en-ZA" sz="1200" b="0" i="1" smtClean="0">
                            <a:latin typeface="Cambria Math" panose="02040503050406030204" pitchFamily="18" charset="0"/>
                          </a:rPr>
                        </m:ctrlPr>
                      </m:funcPr>
                      <m:fName>
                        <m:r>
                          <a:rPr lang="sr-Latn-RS" sz="1200" b="0" i="1" smtClean="0">
                            <a:latin typeface="Cambria Math" panose="02040503050406030204" pitchFamily="18" charset="0"/>
                          </a:rPr>
                          <m:t>𝑠𝑖𝑛</m:t>
                        </m:r>
                      </m:fName>
                      <m:e>
                        <m:r>
                          <a:rPr lang="sr-Latn-RS" sz="1200" b="0" i="1" smtClean="0">
                            <a:latin typeface="Cambria Math" panose="02040503050406030204" pitchFamily="18" charset="0"/>
                            <a:ea typeface="Cambria Math" panose="02040503050406030204" pitchFamily="18" charset="0"/>
                          </a:rPr>
                          <m:t>𝜑</m:t>
                        </m:r>
                      </m:e>
                    </m:func>
                  </m:oMath>
                </a14:m>
                <a:r>
                  <a:rPr lang="en-ZA" b="0" dirty="0"/>
                  <a:t> gives the vertical coordinate in the complex plane. Since the magnitude of </a:t>
                </a:r>
                <a14:m>
                  <m:oMath xmlns:m="http://schemas.openxmlformats.org/officeDocument/2006/math">
                    <m:sSup>
                      <m:sSupPr>
                        <m:ctrlPr>
                          <a:rPr lang="en-ZA" sz="1200" b="0" i="1" smtClean="0">
                            <a:latin typeface="Cambria Math" panose="02040503050406030204" pitchFamily="18" charset="0"/>
                          </a:rPr>
                        </m:ctrlPr>
                      </m:sSupPr>
                      <m:e>
                        <m:r>
                          <a:rPr lang="sr-Latn-RS" sz="1200" b="0" i="1" smtClean="0">
                            <a:latin typeface="Cambria Math" panose="02040503050406030204" pitchFamily="18" charset="0"/>
                          </a:rPr>
                          <m:t>𝑒</m:t>
                        </m:r>
                      </m:e>
                      <m:sup>
                        <m:r>
                          <a:rPr lang="sr-Latn-RS" sz="1200" b="0" i="1" smtClean="0">
                            <a:latin typeface="Cambria Math" panose="02040503050406030204" pitchFamily="18" charset="0"/>
                          </a:rPr>
                          <m:t>𝑖</m:t>
                        </m:r>
                        <m:r>
                          <a:rPr lang="sr-Latn-RS" sz="1200" b="0" i="1" smtClean="0">
                            <a:latin typeface="Cambria Math" panose="02040503050406030204" pitchFamily="18" charset="0"/>
                            <a:ea typeface="Cambria Math" panose="02040503050406030204" pitchFamily="18" charset="0"/>
                          </a:rPr>
                          <m:t>𝜑</m:t>
                        </m:r>
                      </m:sup>
                    </m:sSup>
                  </m:oMath>
                </a14:m>
                <a:r>
                  <a:rPr lang="en-ZA" b="0" dirty="0"/>
                  <a:t> is always 1, multiplying a complex amplitude by a phase factor rotates it without changing its magnitude. The angle of rotation is </a:t>
                </a:r>
                <a14:m>
                  <m:oMath xmlns:m="http://schemas.openxmlformats.org/officeDocument/2006/math">
                    <m:r>
                      <a:rPr lang="sr-Latn-RS" sz="1200" b="0" i="1" smtClean="0">
                        <a:latin typeface="Cambria Math" panose="02040503050406030204" pitchFamily="18" charset="0"/>
                        <a:ea typeface="Cambria Math" panose="02040503050406030204" pitchFamily="18" charset="0"/>
                      </a:rPr>
                      <m:t>𝜑</m:t>
                    </m:r>
                  </m:oMath>
                </a14:m>
                <a:r>
                  <a:rPr lang="en-ZA" b="0" dirty="0"/>
                  <a:t>.</a:t>
                </a:r>
              </a:p>
              <a:p>
                <a:pPr algn="just"/>
                <a:endParaRPr lang="en-ZA" b="0" baseline="0" dirty="0"/>
              </a:p>
              <a:p>
                <a:pPr algn="just"/>
                <a:r>
                  <a:rPr lang="en-ZA" dirty="0"/>
                  <a:t>For example, multiplying by </a:t>
                </a:r>
                <a14:m>
                  <m:oMath xmlns:m="http://schemas.openxmlformats.org/officeDocument/2006/math">
                    <m:sSup>
                      <m:sSupPr>
                        <m:ctrlPr>
                          <a:rPr lang="en-ZA" sz="1200" i="1" smtClean="0">
                            <a:latin typeface="Cambria Math" panose="02040503050406030204" pitchFamily="18" charset="0"/>
                          </a:rPr>
                        </m:ctrlPr>
                      </m:sSupPr>
                      <m:e>
                        <m:r>
                          <a:rPr lang="sr-Latn-RS" sz="1200" i="1">
                            <a:latin typeface="Cambria Math" panose="02040503050406030204" pitchFamily="18" charset="0"/>
                          </a:rPr>
                          <m:t>𝑒</m:t>
                        </m:r>
                      </m:e>
                      <m:sup>
                        <m:r>
                          <a:rPr lang="sr-Latn-RS" sz="1200" i="1">
                            <a:latin typeface="Cambria Math" panose="02040503050406030204" pitchFamily="18" charset="0"/>
                          </a:rPr>
                          <m:t>𝑖</m:t>
                        </m:r>
                        <m:r>
                          <a:rPr lang="en-US" sz="1200" i="1" smtClean="0">
                            <a:latin typeface="Cambria Math" panose="02040503050406030204" pitchFamily="18" charset="0"/>
                            <a:ea typeface="Cambria Math" panose="02040503050406030204" pitchFamily="18" charset="0"/>
                          </a:rPr>
                          <m:t>𝜋</m:t>
                        </m:r>
                        <m:r>
                          <a:rPr lang="en-US" sz="1200" b="0" i="1" smtClean="0">
                            <a:latin typeface="Cambria Math" panose="02040503050406030204" pitchFamily="18" charset="0"/>
                            <a:ea typeface="Cambria Math" panose="02040503050406030204" pitchFamily="18" charset="0"/>
                          </a:rPr>
                          <m:t>/6</m:t>
                        </m:r>
                      </m:sup>
                    </m:sSup>
                  </m:oMath>
                </a14:m>
                <a:r>
                  <a:rPr lang="en-ZA" dirty="0"/>
                  <a:t> rotates a complex amplitude by </a:t>
                </a:r>
                <a14:m>
                  <m:oMath xmlns:m="http://schemas.openxmlformats.org/officeDocument/2006/math">
                    <m:r>
                      <a:rPr lang="en-US" sz="1200" i="1" smtClean="0">
                        <a:latin typeface="Cambria Math" panose="02040503050406030204" pitchFamily="18" charset="0"/>
                        <a:ea typeface="Cambria Math" panose="02040503050406030204" pitchFamily="18" charset="0"/>
                      </a:rPr>
                      <m:t>𝜋</m:t>
                    </m:r>
                    <m:r>
                      <a:rPr lang="en-US" sz="1200" b="0" i="1" smtClean="0">
                        <a:latin typeface="Cambria Math" panose="02040503050406030204" pitchFamily="18" charset="0"/>
                        <a:ea typeface="Cambria Math" panose="02040503050406030204" pitchFamily="18" charset="0"/>
                      </a:rPr>
                      <m:t>/6</m:t>
                    </m:r>
                  </m:oMath>
                </a14:m>
                <a:r>
                  <a:rPr lang="en-ZA" dirty="0"/>
                  <a:t>while keeping its magnitude unchanged.</a:t>
                </a:r>
              </a:p>
              <a:p>
                <a:pPr algn="just"/>
                <a:endParaRPr lang="en-ZA" b="0" dirty="0"/>
              </a:p>
              <a:p>
                <a:pPr algn="just"/>
                <a:r>
                  <a:rPr lang="en-ZA" b="0" dirty="0"/>
                  <a:t>In quantum computing, these phase relationships between amplitudes are important because they determine how amplitudes interfere. </a:t>
                </a:r>
              </a:p>
            </p:txBody>
          </p:sp>
        </mc:Choice>
        <mc:Fallback xmlns="">
          <p:sp>
            <p:nvSpPr>
              <p:cNvPr id="3" name="Notes Placeholder 2"/>
              <p:cNvSpPr>
                <a:spLocks noGrp="1"/>
              </p:cNvSpPr>
              <p:nvPr>
                <p:ph type="body" idx="1"/>
              </p:nvPr>
            </p:nvSpPr>
            <p:spPr/>
            <p:txBody>
              <a:bodyPr/>
              <a:lstStyle/>
              <a:p>
                <a:pPr algn="just"/>
                <a:r>
                  <a:rPr lang="en-ZA" b="0" dirty="0"/>
                  <a:t>Take a look at the geometric interpretation of a complex unit vector with length </a:t>
                </a:r>
                <a:r>
                  <a:rPr lang="en-US" b="0" i="0">
                    <a:latin typeface="Cambria Math" panose="02040503050406030204" pitchFamily="18" charset="0"/>
                  </a:rPr>
                  <a:t>|𝑧|=1</a:t>
                </a:r>
                <a:r>
                  <a:rPr lang="en-ZA" b="0" dirty="0"/>
                  <a:t>, making an angle </a:t>
                </a:r>
                <a:r>
                  <a:rPr lang="sr-Latn-RS" b="0" i="0">
                    <a:latin typeface="Cambria Math" panose="02040503050406030204" pitchFamily="18" charset="0"/>
                    <a:ea typeface="Cambria Math" panose="02040503050406030204" pitchFamily="18" charset="0"/>
                  </a:rPr>
                  <a:t>𝜑</a:t>
                </a:r>
                <a:r>
                  <a:rPr lang="el-GR" b="0" dirty="0"/>
                  <a:t> </a:t>
                </a:r>
                <a:r>
                  <a:rPr lang="en-ZA" b="0" dirty="0"/>
                  <a:t>with the real axis. </a:t>
                </a:r>
              </a:p>
              <a:p>
                <a:pPr algn="just"/>
                <a:endParaRPr lang="en-ZA" b="0" dirty="0"/>
              </a:p>
              <a:p>
                <a:pPr algn="just"/>
                <a:r>
                  <a:rPr lang="en-ZA" b="0" dirty="0"/>
                  <a:t>The horizontal component is </a:t>
                </a:r>
                <a:r>
                  <a:rPr lang="sr-Latn-RS" b="0" i="0">
                    <a:latin typeface="Cambria Math" panose="02040503050406030204" pitchFamily="18" charset="0"/>
                  </a:rPr>
                  <a:t>cos</a:t>
                </a:r>
                <a:r>
                  <a:rPr lang="en-ZA" b="0" i="0">
                    <a:latin typeface="Cambria Math" panose="02040503050406030204" pitchFamily="18" charset="0"/>
                  </a:rPr>
                  <a:t>⁡</a:t>
                </a:r>
                <a:r>
                  <a:rPr lang="sr-Latn-RS" b="0" i="0">
                    <a:latin typeface="Cambria Math" panose="02040503050406030204" pitchFamily="18" charset="0"/>
                    <a:ea typeface="Cambria Math" panose="02040503050406030204" pitchFamily="18" charset="0"/>
                  </a:rPr>
                  <a:t>𝜑</a:t>
                </a:r>
                <a:r>
                  <a:rPr lang="el-GR" b="0" dirty="0"/>
                  <a:t>, </a:t>
                </a:r>
                <a:r>
                  <a:rPr lang="en-ZA" b="0" dirty="0"/>
                  <a:t>and the vertical component is</a:t>
                </a:r>
                <a:r>
                  <a:rPr lang="en-ZA" b="0" baseline="0" dirty="0"/>
                  <a:t> </a:t>
                </a:r>
                <a:r>
                  <a:rPr lang="sr-Latn-RS" b="0" i="0">
                    <a:latin typeface="Cambria Math" panose="02040503050406030204" pitchFamily="18" charset="0"/>
                  </a:rPr>
                  <a:t>𝑖 sin</a:t>
                </a:r>
                <a:r>
                  <a:rPr lang="en-ZA" b="0" i="0">
                    <a:latin typeface="Cambria Math" panose="02040503050406030204" pitchFamily="18" charset="0"/>
                  </a:rPr>
                  <a:t>⁡</a:t>
                </a:r>
                <a:r>
                  <a:rPr lang="sr-Latn-RS" b="0" i="0">
                    <a:latin typeface="Cambria Math" panose="02040503050406030204" pitchFamily="18" charset="0"/>
                    <a:ea typeface="Cambria Math" panose="02040503050406030204" pitchFamily="18" charset="0"/>
                  </a:rPr>
                  <a:t>𝜑</a:t>
                </a:r>
                <a:r>
                  <a:rPr lang="en-US" b="0" dirty="0"/>
                  <a:t>.</a:t>
                </a:r>
                <a:r>
                  <a:rPr lang="el-GR" b="0" dirty="0"/>
                  <a:t> </a:t>
                </a:r>
                <a:r>
                  <a:rPr lang="en-ZA" b="0" dirty="0"/>
                  <a:t>According to Euler’s formula, their sum equals </a:t>
                </a:r>
                <a:r>
                  <a:rPr lang="sr-Latn-RS" sz="1200" b="0" i="0">
                    <a:latin typeface="Cambria Math" panose="02040503050406030204" pitchFamily="18" charset="0"/>
                  </a:rPr>
                  <a:t>𝑒</a:t>
                </a:r>
                <a:r>
                  <a:rPr lang="en-ZA" sz="1200" b="0" i="0">
                    <a:latin typeface="Cambria Math" panose="02040503050406030204" pitchFamily="18" charset="0"/>
                  </a:rPr>
                  <a:t>^</a:t>
                </a:r>
                <a:r>
                  <a:rPr lang="sr-Latn-RS" sz="1200" b="0" i="0">
                    <a:latin typeface="Cambria Math" panose="02040503050406030204" pitchFamily="18" charset="0"/>
                  </a:rPr>
                  <a:t>𝑖</a:t>
                </a:r>
                <a:r>
                  <a:rPr lang="sr-Latn-RS" sz="1200" b="0" i="0">
                    <a:latin typeface="Cambria Math" panose="02040503050406030204" pitchFamily="18" charset="0"/>
                    <a:ea typeface="Cambria Math" panose="02040503050406030204" pitchFamily="18" charset="0"/>
                  </a:rPr>
                  <a:t>𝜑</a:t>
                </a:r>
                <a:r>
                  <a:rPr lang="el-GR" b="0" dirty="0"/>
                  <a:t>, </a:t>
                </a:r>
                <a:r>
                  <a:rPr lang="en-ZA" b="0" dirty="0"/>
                  <a:t>where:</a:t>
                </a:r>
              </a:p>
              <a:p>
                <a:pPr algn="just"/>
                <a:endParaRPr lang="en-ZA" b="0" dirty="0"/>
              </a:p>
              <a:p>
                <a:pPr algn="just"/>
                <a:r>
                  <a:rPr lang="sr-Latn-RS" sz="1200" b="0" i="0">
                    <a:latin typeface="Cambria Math" panose="02040503050406030204" pitchFamily="18" charset="0"/>
                    <a:ea typeface="Cambria Math" panose="02040503050406030204" pitchFamily="18" charset="0"/>
                  </a:rPr>
                  <a:t>𝜑</a:t>
                </a:r>
                <a:r>
                  <a:rPr lang="el-GR" b="0" dirty="0"/>
                  <a:t> </a:t>
                </a:r>
                <a:r>
                  <a:rPr lang="en-ZA" b="0" dirty="0"/>
                  <a:t>is the phase angle,</a:t>
                </a:r>
              </a:p>
              <a:p>
                <a:pPr algn="just"/>
                <a:r>
                  <a:rPr lang="en-US" sz="1200" b="0" i="0">
                    <a:latin typeface="Cambria Math" panose="02040503050406030204" pitchFamily="18" charset="0"/>
                  </a:rPr>
                  <a:t>𝑒</a:t>
                </a:r>
                <a:r>
                  <a:rPr lang="en-US" sz="1200" b="0" i="0">
                    <a:latin typeface="Cambria Math" panose="02040503050406030204" pitchFamily="18" charset="0"/>
                    <a:ea typeface="Cambria Math" panose="02040503050406030204" pitchFamily="18" charset="0"/>
                  </a:rPr>
                  <a:t>≈2.71</a:t>
                </a:r>
                <a:r>
                  <a:rPr lang="en-ZA" b="0" dirty="0"/>
                  <a:t> is the Euler’s </a:t>
                </a:r>
                <a:r>
                  <a:rPr lang="en-ZA" b="0" dirty="0" err="1"/>
                  <a:t>num</a:t>
                </a:r>
                <a:r>
                  <a:rPr lang="en-ZA" b="0" dirty="0"/>
                  <a:t>      </a:t>
                </a:r>
                <a:r>
                  <a:rPr lang="en-ZA" b="0" dirty="0" err="1"/>
                  <a:t>ber</a:t>
                </a:r>
                <a:r>
                  <a:rPr lang="en-ZA" b="0" dirty="0"/>
                  <a:t>,</a:t>
                </a:r>
              </a:p>
              <a:p>
                <a:pPr algn="just"/>
                <a:r>
                  <a:rPr lang="sr-Latn-RS" sz="1200" b="0" i="0">
                    <a:latin typeface="Cambria Math" panose="02040503050406030204" pitchFamily="18" charset="0"/>
                  </a:rPr>
                  <a:t>𝑒</a:t>
                </a:r>
                <a:r>
                  <a:rPr lang="en-ZA" sz="1200" b="0" i="0">
                    <a:latin typeface="Cambria Math" panose="02040503050406030204" pitchFamily="18" charset="0"/>
                  </a:rPr>
                  <a:t>^</a:t>
                </a:r>
                <a:r>
                  <a:rPr lang="sr-Latn-RS" sz="1200" b="0" i="0">
                    <a:latin typeface="Cambria Math" panose="02040503050406030204" pitchFamily="18" charset="0"/>
                  </a:rPr>
                  <a:t>𝑖</a:t>
                </a:r>
                <a:r>
                  <a:rPr lang="sr-Latn-RS" sz="1200" b="0" i="0">
                    <a:latin typeface="Cambria Math" panose="02040503050406030204" pitchFamily="18" charset="0"/>
                    <a:ea typeface="Cambria Math" panose="02040503050406030204" pitchFamily="18" charset="0"/>
                  </a:rPr>
                  <a:t>𝜑</a:t>
                </a:r>
                <a:r>
                  <a:rPr lang="el-GR" b="0" dirty="0"/>
                  <a:t> </a:t>
                </a:r>
                <a:r>
                  <a:rPr lang="en-ZA" b="0" dirty="0"/>
                  <a:t>represents the phase.</a:t>
                </a:r>
              </a:p>
              <a:p>
                <a:pPr algn="just"/>
                <a:endParaRPr lang="en-ZA" b="0" dirty="0"/>
              </a:p>
              <a:p>
                <a:pPr algn="just"/>
                <a:r>
                  <a:rPr lang="en-ZA" b="0" dirty="0"/>
                  <a:t>This example illustrates the </a:t>
                </a:r>
                <a:r>
                  <a:rPr lang="en-ZA" b="0" dirty="0" err="1"/>
                  <a:t>counterclockwise</a:t>
                </a:r>
                <a:r>
                  <a:rPr lang="en-ZA" b="0" dirty="0"/>
                  <a:t> rotation of a complex vector around the origin as the phase angle </a:t>
                </a:r>
                <a:r>
                  <a:rPr lang="sr-Latn-RS" sz="1200" b="0" i="0">
                    <a:latin typeface="Cambria Math" panose="02040503050406030204" pitchFamily="18" charset="0"/>
                    <a:ea typeface="Cambria Math" panose="02040503050406030204" pitchFamily="18" charset="0"/>
                  </a:rPr>
                  <a:t>𝜑</a:t>
                </a:r>
                <a:r>
                  <a:rPr lang="en-ZA" b="0" dirty="0"/>
                  <a:t> increases. This rotation is encoded in the phase factor </a:t>
                </a:r>
                <a:r>
                  <a:rPr lang="sr-Latn-RS" sz="1200" b="0" i="0">
                    <a:latin typeface="Cambria Math" panose="02040503050406030204" pitchFamily="18" charset="0"/>
                  </a:rPr>
                  <a:t>𝑒</a:t>
                </a:r>
                <a:r>
                  <a:rPr lang="en-ZA" sz="1200" b="0" i="0">
                    <a:latin typeface="Cambria Math" panose="02040503050406030204" pitchFamily="18" charset="0"/>
                  </a:rPr>
                  <a:t>^</a:t>
                </a:r>
                <a:r>
                  <a:rPr lang="sr-Latn-RS" sz="1200" b="0" i="0">
                    <a:latin typeface="Cambria Math" panose="02040503050406030204" pitchFamily="18" charset="0"/>
                  </a:rPr>
                  <a:t>𝑖</a:t>
                </a:r>
                <a:r>
                  <a:rPr lang="sr-Latn-RS" sz="1200" b="0" i="0">
                    <a:latin typeface="Cambria Math" panose="02040503050406030204" pitchFamily="18" charset="0"/>
                    <a:ea typeface="Cambria Math" panose="02040503050406030204" pitchFamily="18" charset="0"/>
                  </a:rPr>
                  <a:t>𝜑</a:t>
                </a:r>
                <a:r>
                  <a:rPr lang="el-GR" b="0" dirty="0"/>
                  <a:t>: </a:t>
                </a:r>
                <a:r>
                  <a:rPr lang="en-ZA" b="0" dirty="0"/>
                  <a:t>multiplying a complex number by </a:t>
                </a:r>
                <a:r>
                  <a:rPr lang="sr-Latn-RS" sz="1200" b="0" i="0">
                    <a:latin typeface="Cambria Math" panose="02040503050406030204" pitchFamily="18" charset="0"/>
                  </a:rPr>
                  <a:t>𝑒</a:t>
                </a:r>
                <a:r>
                  <a:rPr lang="en-ZA" sz="1200" b="0" i="0">
                    <a:latin typeface="Cambria Math" panose="02040503050406030204" pitchFamily="18" charset="0"/>
                  </a:rPr>
                  <a:t>^</a:t>
                </a:r>
                <a:r>
                  <a:rPr lang="sr-Latn-RS" sz="1200" b="0" i="0">
                    <a:latin typeface="Cambria Math" panose="02040503050406030204" pitchFamily="18" charset="0"/>
                  </a:rPr>
                  <a:t>𝑖</a:t>
                </a:r>
                <a:r>
                  <a:rPr lang="sr-Latn-RS" sz="1200" b="0" i="0">
                    <a:latin typeface="Cambria Math" panose="02040503050406030204" pitchFamily="18" charset="0"/>
                    <a:ea typeface="Cambria Math" panose="02040503050406030204" pitchFamily="18" charset="0"/>
                  </a:rPr>
                  <a:t>𝜑</a:t>
                </a:r>
                <a:r>
                  <a:rPr lang="el-GR" b="0" dirty="0"/>
                  <a:t> </a:t>
                </a:r>
                <a:r>
                  <a:rPr lang="en-ZA" b="0" dirty="0"/>
                  <a:t>rotates it by angle </a:t>
                </a:r>
                <a:r>
                  <a:rPr lang="sr-Latn-RS" sz="1200" b="0" i="0">
                    <a:latin typeface="Cambria Math" panose="02040503050406030204" pitchFamily="18" charset="0"/>
                    <a:ea typeface="Cambria Math" panose="02040503050406030204" pitchFamily="18" charset="0"/>
                  </a:rPr>
                  <a:t>𝜑</a:t>
                </a:r>
                <a:r>
                  <a:rPr lang="el-GR" b="0" dirty="0"/>
                  <a:t> </a:t>
                </a:r>
                <a:r>
                  <a:rPr lang="en-ZA" b="0" dirty="0"/>
                  <a:t>around the origin.</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51</a:t>
            </a:fld>
            <a:endParaRPr lang="en-US"/>
          </a:p>
        </p:txBody>
      </p:sp>
    </p:spTree>
    <p:extLst>
      <p:ext uri="{BB962C8B-B14F-4D97-AF65-F5344CB8AC3E}">
        <p14:creationId xmlns:p14="http://schemas.microsoft.com/office/powerpoint/2010/main" val="421065039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0" dirty="0"/>
                  <a:t>The unit circle can be divided into any number of equal parts. If it is divided into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𝑛</m:t>
                    </m:r>
                  </m:oMath>
                </a14:m>
                <a:r>
                  <a:rPr lang="en-ZA" b="0" dirty="0"/>
                  <a:t> equal parts, the angle between two </a:t>
                </a:r>
                <a:r>
                  <a:rPr lang="en-ZA" b="0" dirty="0" err="1"/>
                  <a:t>neighboring</a:t>
                </a:r>
                <a:r>
                  <a:rPr lang="en-ZA" b="0" dirty="0"/>
                  <a:t> points is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2</m:t>
                    </m:r>
                    <m:r>
                      <a:rPr lang="en-US" sz="1200" b="0" i="1" smtClean="0">
                        <a:solidFill>
                          <a:schemeClr val="tx1"/>
                        </a:solidFill>
                        <a:latin typeface="Cambria Math" panose="02040503050406030204" pitchFamily="18" charset="0"/>
                        <a:ea typeface="Cambria Math" panose="02040503050406030204" pitchFamily="18" charset="0"/>
                      </a:rPr>
                      <m:t>𝜋</m:t>
                    </m:r>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𝑛</m:t>
                    </m:r>
                  </m:oMath>
                </a14:m>
                <a:r>
                  <a:rPr lang="en-ZA" b="0" dirty="0"/>
                  <a:t>. Starting from an angle of zero and moving around the circle in these equal steps gives the angles</a:t>
                </a: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r-Latn-RS" sz="1200" b="0" i="1" smtClean="0">
                          <a:latin typeface="Cambria Math" panose="02040503050406030204" pitchFamily="18" charset="0"/>
                          <a:ea typeface="Cambria Math" panose="02040503050406030204" pitchFamily="18" charset="0"/>
                        </a:rPr>
                        <m:t>𝜑</m:t>
                      </m:r>
                      <m:r>
                        <a:rPr lang="en-US" sz="1200" b="0" i="1" smtClean="0">
                          <a:latin typeface="Cambria Math" panose="02040503050406030204" pitchFamily="18" charset="0"/>
                          <a:ea typeface="Cambria Math" panose="02040503050406030204" pitchFamily="18" charset="0"/>
                        </a:rPr>
                        <m:t>=</m:t>
                      </m:r>
                      <m:f>
                        <m:fPr>
                          <m:type m:val="lin"/>
                          <m:ctrlPr>
                            <a:rPr lang="en-US" sz="1200" b="0" i="1" smtClean="0">
                              <a:solidFill>
                                <a:schemeClr val="tx1"/>
                              </a:solidFill>
                              <a:latin typeface="Cambria Math" panose="02040503050406030204" pitchFamily="18" charset="0"/>
                              <a:ea typeface="Cambria Math" panose="02040503050406030204" pitchFamily="18" charset="0"/>
                            </a:rPr>
                          </m:ctrlPr>
                        </m:fPr>
                        <m:num>
                          <m:r>
                            <a:rPr lang="en-US" sz="1200" b="0" i="1" smtClean="0">
                              <a:solidFill>
                                <a:schemeClr val="tx1"/>
                              </a:solidFill>
                              <a:latin typeface="Cambria Math" panose="02040503050406030204" pitchFamily="18" charset="0"/>
                              <a:ea typeface="Cambria Math" panose="02040503050406030204" pitchFamily="18" charset="0"/>
                            </a:rPr>
                            <m:t>2</m:t>
                          </m:r>
                          <m:r>
                            <a:rPr lang="en-US" sz="1200" b="0" i="1" smtClean="0">
                              <a:solidFill>
                                <a:schemeClr val="tx1"/>
                              </a:solidFill>
                              <a:latin typeface="Cambria Math" panose="02040503050406030204" pitchFamily="18" charset="0"/>
                              <a:ea typeface="Cambria Math" panose="02040503050406030204" pitchFamily="18" charset="0"/>
                            </a:rPr>
                            <m:t>𝜋</m:t>
                          </m:r>
                          <m:r>
                            <a:rPr lang="en-US" sz="1200" b="0" i="1" smtClean="0">
                              <a:solidFill>
                                <a:schemeClr val="tx1"/>
                              </a:solidFill>
                              <a:latin typeface="Cambria Math" panose="02040503050406030204" pitchFamily="18" charset="0"/>
                              <a:ea typeface="Cambria Math" panose="02040503050406030204" pitchFamily="18" charset="0"/>
                            </a:rPr>
                            <m:t>𝑘</m:t>
                          </m:r>
                        </m:num>
                        <m:den>
                          <m:r>
                            <a:rPr lang="en-US" sz="1200" b="0" i="1" smtClean="0">
                              <a:solidFill>
                                <a:schemeClr val="tx1"/>
                              </a:solidFill>
                              <a:latin typeface="Cambria Math" panose="02040503050406030204" pitchFamily="18" charset="0"/>
                              <a:ea typeface="Cambria Math" panose="02040503050406030204" pitchFamily="18" charset="0"/>
                            </a:rPr>
                            <m:t>𝑛</m:t>
                          </m:r>
                        </m:den>
                      </m:f>
                      <m:r>
                        <a:rPr lang="en-US" sz="1200" b="0" i="1" smtClean="0">
                          <a:latin typeface="Cambria Math" panose="02040503050406030204" pitchFamily="18" charset="0"/>
                          <a:ea typeface="Cambria Math" panose="02040503050406030204" pitchFamily="18" charset="0"/>
                        </a:rPr>
                        <m:t>,  </m:t>
                      </m:r>
                      <m:r>
                        <a:rPr lang="en-US" sz="1200" b="0" i="1" smtClean="0">
                          <a:solidFill>
                            <a:schemeClr val="tx1"/>
                          </a:solidFill>
                          <a:latin typeface="Cambria Math" panose="02040503050406030204" pitchFamily="18" charset="0"/>
                          <a:ea typeface="Cambria Math" panose="02040503050406030204" pitchFamily="18" charset="0"/>
                        </a:rPr>
                        <m:t>𝑘</m:t>
                      </m:r>
                      <m:r>
                        <a:rPr lang="en-US" sz="1200" b="0" i="1" smtClean="0">
                          <a:solidFill>
                            <a:schemeClr val="tx1"/>
                          </a:solidFill>
                          <a:latin typeface="Cambria Math" panose="02040503050406030204" pitchFamily="18" charset="0"/>
                          <a:ea typeface="Cambria Math" panose="02040503050406030204" pitchFamily="18" charset="0"/>
                        </a:rPr>
                        <m:t>=0,1,…,</m:t>
                      </m:r>
                      <m:r>
                        <a:rPr lang="en-US" sz="1200" b="0" i="1" smtClean="0">
                          <a:solidFill>
                            <a:schemeClr val="tx1"/>
                          </a:solidFill>
                          <a:latin typeface="Cambria Math" panose="02040503050406030204" pitchFamily="18" charset="0"/>
                          <a:ea typeface="Cambria Math" panose="02040503050406030204" pitchFamily="18" charset="0"/>
                        </a:rPr>
                        <m:t>𝑛</m:t>
                      </m:r>
                      <m:r>
                        <a:rPr lang="en-US" sz="1200" b="0" i="1" smtClean="0">
                          <a:solidFill>
                            <a:schemeClr val="tx1"/>
                          </a:solidFill>
                          <a:latin typeface="Cambria Math" panose="02040503050406030204" pitchFamily="18" charset="0"/>
                          <a:ea typeface="Cambria Math" panose="02040503050406030204" pitchFamily="18" charset="0"/>
                        </a:rPr>
                        <m:t>−1</m:t>
                      </m:r>
                    </m:oMath>
                  </m:oMathPara>
                </a14:m>
                <a:endParaRPr lang="en-ZA" dirty="0"/>
              </a:p>
              <a:p>
                <a:r>
                  <a:rPr lang="en-ZA" b="0" dirty="0"/>
                  <a:t>The corresponding phase factors are</a:t>
                </a: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US" sz="1200" b="0" i="1" smtClean="0">
                              <a:solidFill>
                                <a:schemeClr val="tx1">
                                  <a:lumMod val="50000"/>
                                  <a:lumOff val="50000"/>
                                </a:schemeClr>
                              </a:solidFill>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𝜔</m:t>
                          </m:r>
                        </m:e>
                        <m:sup>
                          <m:r>
                            <a:rPr lang="en-US" sz="1200" b="0" i="1" smtClean="0">
                              <a:solidFill>
                                <a:schemeClr val="tx1">
                                  <a:lumMod val="50000"/>
                                  <a:lumOff val="50000"/>
                                </a:schemeClr>
                              </a:solidFill>
                              <a:latin typeface="Cambria Math" panose="02040503050406030204" pitchFamily="18" charset="0"/>
                              <a:ea typeface="Cambria Math" panose="02040503050406030204" pitchFamily="18" charset="0"/>
                            </a:rPr>
                            <m:t>𝑘</m:t>
                          </m:r>
                        </m:sup>
                      </m:sSup>
                      <m:r>
                        <a:rPr lang="en-US" sz="1200" b="0" i="1" smtClean="0">
                          <a:solidFill>
                            <a:schemeClr val="tx1">
                              <a:lumMod val="50000"/>
                              <a:lumOff val="50000"/>
                            </a:schemeClr>
                          </a:solidFill>
                          <a:latin typeface="Cambria Math" panose="02040503050406030204" pitchFamily="18" charset="0"/>
                          <a:ea typeface="Cambria Math" panose="02040503050406030204" pitchFamily="18" charset="0"/>
                        </a:rPr>
                        <m:t>=</m:t>
                      </m:r>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𝑒</m:t>
                          </m:r>
                        </m:e>
                        <m:sup>
                          <m:f>
                            <m:fPr>
                              <m:type m:val="lin"/>
                              <m:ctrlPr>
                                <a:rPr lang="en-US" sz="1200" b="0" i="1" smtClean="0">
                                  <a:solidFill>
                                    <a:schemeClr val="tx1"/>
                                  </a:solidFill>
                                  <a:latin typeface="Cambria Math" panose="02040503050406030204" pitchFamily="18" charset="0"/>
                                  <a:ea typeface="Cambria Math" panose="02040503050406030204" pitchFamily="18" charset="0"/>
                                </a:rPr>
                              </m:ctrlPr>
                            </m:fPr>
                            <m:num>
                              <m:r>
                                <a:rPr lang="en-US" sz="1200" b="0" i="1" smtClean="0">
                                  <a:solidFill>
                                    <a:schemeClr val="tx1"/>
                                  </a:solidFill>
                                  <a:latin typeface="Cambria Math" panose="02040503050406030204" pitchFamily="18" charset="0"/>
                                  <a:ea typeface="Cambria Math" panose="02040503050406030204" pitchFamily="18" charset="0"/>
                                </a:rPr>
                                <m:t>2</m:t>
                              </m:r>
                              <m:r>
                                <a:rPr lang="en-US" sz="1200" b="0" i="1" smtClean="0">
                                  <a:solidFill>
                                    <a:schemeClr val="tx1"/>
                                  </a:solidFill>
                                  <a:latin typeface="Cambria Math" panose="02040503050406030204" pitchFamily="18" charset="0"/>
                                  <a:ea typeface="Cambria Math" panose="02040503050406030204" pitchFamily="18" charset="0"/>
                                </a:rPr>
                                <m:t>𝜋</m:t>
                              </m:r>
                              <m:r>
                                <a:rPr lang="en-US" sz="1200" b="0" i="1" smtClean="0">
                                  <a:solidFill>
                                    <a:schemeClr val="tx1"/>
                                  </a:solidFill>
                                  <a:latin typeface="Cambria Math" panose="02040503050406030204" pitchFamily="18" charset="0"/>
                                  <a:ea typeface="Cambria Math" panose="02040503050406030204" pitchFamily="18" charset="0"/>
                                </a:rPr>
                                <m:t>𝑖𝑘</m:t>
                              </m:r>
                            </m:num>
                            <m:den>
                              <m:r>
                                <a:rPr lang="en-US" sz="1200" b="0" i="1" smtClean="0">
                                  <a:solidFill>
                                    <a:schemeClr val="tx1"/>
                                  </a:solidFill>
                                  <a:latin typeface="Cambria Math" panose="02040503050406030204" pitchFamily="18" charset="0"/>
                                  <a:ea typeface="Cambria Math" panose="02040503050406030204" pitchFamily="18" charset="0"/>
                                </a:rPr>
                                <m:t>𝑛</m:t>
                              </m:r>
                            </m:den>
                          </m:f>
                        </m:sup>
                      </m:sSup>
                      <m:r>
                        <a:rPr lang="en-US" sz="1200" b="0" i="1" smtClean="0">
                          <a:solidFill>
                            <a:schemeClr val="tx1"/>
                          </a:solidFill>
                          <a:latin typeface="Cambria Math" panose="02040503050406030204" pitchFamily="18" charset="0"/>
                          <a:ea typeface="Cambria Math" panose="02040503050406030204" pitchFamily="18" charset="0"/>
                        </a:rPr>
                        <m:t>,  </m:t>
                      </m:r>
                      <m:r>
                        <a:rPr lang="en-US" sz="1200" b="0" i="1" smtClean="0">
                          <a:solidFill>
                            <a:schemeClr val="tx1"/>
                          </a:solidFill>
                          <a:latin typeface="Cambria Math" panose="02040503050406030204" pitchFamily="18" charset="0"/>
                          <a:ea typeface="Cambria Math" panose="02040503050406030204" pitchFamily="18" charset="0"/>
                        </a:rPr>
                        <m:t>𝑘</m:t>
                      </m:r>
                      <m:r>
                        <a:rPr lang="en-US" sz="1200" b="0" i="1" smtClean="0">
                          <a:solidFill>
                            <a:schemeClr val="tx1"/>
                          </a:solidFill>
                          <a:latin typeface="Cambria Math" panose="02040503050406030204" pitchFamily="18" charset="0"/>
                          <a:ea typeface="Cambria Math" panose="02040503050406030204" pitchFamily="18" charset="0"/>
                        </a:rPr>
                        <m:t>=0,1,…,</m:t>
                      </m:r>
                      <m:r>
                        <a:rPr lang="en-US" sz="1200" b="0" i="1" smtClean="0">
                          <a:solidFill>
                            <a:schemeClr val="tx1"/>
                          </a:solidFill>
                          <a:latin typeface="Cambria Math" panose="02040503050406030204" pitchFamily="18" charset="0"/>
                          <a:ea typeface="Cambria Math" panose="02040503050406030204" pitchFamily="18" charset="0"/>
                        </a:rPr>
                        <m:t>𝑛</m:t>
                      </m:r>
                      <m:r>
                        <a:rPr lang="en-US" sz="1200" b="0" i="1" smtClean="0">
                          <a:solidFill>
                            <a:schemeClr val="tx1"/>
                          </a:solidFill>
                          <a:latin typeface="Cambria Math" panose="02040503050406030204" pitchFamily="18" charset="0"/>
                          <a:ea typeface="Cambria Math" panose="02040503050406030204" pitchFamily="18" charset="0"/>
                        </a:rPr>
                        <m:t>−1</m:t>
                      </m:r>
                    </m:oMath>
                  </m:oMathPara>
                </a14:m>
                <a:endParaRPr lang="en-ZA" dirty="0"/>
              </a:p>
              <a:p>
                <a:r>
                  <a:rPr lang="en-ZA" b="0" dirty="0"/>
                  <a:t>These form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𝑛</m:t>
                    </m:r>
                  </m:oMath>
                </a14:m>
                <a:r>
                  <a:rPr lang="en-ZA" b="0" dirty="0"/>
                  <a:t> equally spaced points on the unit circle and are called the n-</a:t>
                </a:r>
                <a:r>
                  <a:rPr lang="en-ZA" b="0" dirty="0" err="1"/>
                  <a:t>th</a:t>
                </a:r>
                <a:r>
                  <a:rPr lang="en-ZA" b="0" dirty="0"/>
                  <a:t> roots of unity.</a:t>
                </a:r>
              </a:p>
              <a:p>
                <a:pPr algn="just"/>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In other words,</a:t>
                </a:r>
              </a:p>
              <a:p>
                <a:pPr marL="171450" indent="-171450" algn="just">
                  <a:buFont typeface="Arial" panose="020B0604020202020204" pitchFamily="34" charset="0"/>
                  <a:buChar char="•"/>
                </a:pPr>
                <a:r>
                  <a:rPr lang="en-ZA" dirty="0"/>
                  <a:t>Every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𝑛</m:t>
                    </m:r>
                  </m:oMath>
                </a14:m>
                <a:r>
                  <a:rPr lang="en-ZA" dirty="0"/>
                  <a:t>-</a:t>
                </a:r>
                <a:r>
                  <a:rPr lang="en-ZA" dirty="0" err="1"/>
                  <a:t>th</a:t>
                </a:r>
                <a:r>
                  <a:rPr lang="en-ZA" dirty="0"/>
                  <a:t> root of unity is a phase factor whose angle is a multiple of</a:t>
                </a:r>
                <a:r>
                  <a:rPr lang="en-ZA" b="0" dirty="0"/>
                  <a:t> </a:t>
                </a:r>
                <a14:m>
                  <m:oMath xmlns:m="http://schemas.openxmlformats.org/officeDocument/2006/math">
                    <m:f>
                      <m:fPr>
                        <m:type m:val="lin"/>
                        <m:ctrlPr>
                          <a:rPr lang="en-US" sz="1200" b="0" i="1" smtClean="0">
                            <a:solidFill>
                              <a:schemeClr val="tx1"/>
                            </a:solidFill>
                            <a:latin typeface="Cambria Math" panose="02040503050406030204" pitchFamily="18" charset="0"/>
                            <a:ea typeface="Cambria Math" panose="02040503050406030204" pitchFamily="18" charset="0"/>
                          </a:rPr>
                        </m:ctrlPr>
                      </m:fPr>
                      <m:num>
                        <m:r>
                          <a:rPr lang="en-US" sz="1200" b="0" i="1" smtClean="0">
                            <a:solidFill>
                              <a:schemeClr val="tx1"/>
                            </a:solidFill>
                            <a:latin typeface="Cambria Math" panose="02040503050406030204" pitchFamily="18" charset="0"/>
                            <a:ea typeface="Cambria Math" panose="02040503050406030204" pitchFamily="18" charset="0"/>
                          </a:rPr>
                          <m:t>2</m:t>
                        </m:r>
                        <m:r>
                          <a:rPr lang="en-US" sz="1200" b="0" i="1" smtClean="0">
                            <a:solidFill>
                              <a:schemeClr val="tx1"/>
                            </a:solidFill>
                            <a:latin typeface="Cambria Math" panose="02040503050406030204" pitchFamily="18" charset="0"/>
                            <a:ea typeface="Cambria Math" panose="02040503050406030204" pitchFamily="18" charset="0"/>
                          </a:rPr>
                          <m:t>𝜋</m:t>
                        </m:r>
                      </m:num>
                      <m:den>
                        <m:r>
                          <a:rPr lang="en-US" sz="1200" b="0" i="1" smtClean="0">
                            <a:solidFill>
                              <a:schemeClr val="tx1"/>
                            </a:solidFill>
                            <a:latin typeface="Cambria Math" panose="02040503050406030204" pitchFamily="18" charset="0"/>
                            <a:ea typeface="Cambria Math" panose="02040503050406030204" pitchFamily="18" charset="0"/>
                          </a:rPr>
                          <m:t>𝑛</m:t>
                        </m:r>
                      </m:den>
                    </m:f>
                  </m:oMath>
                </a14:m>
                <a:r>
                  <a:rPr lang="en-ZA" b="0" dirty="0"/>
                  <a:t>.</a:t>
                </a:r>
              </a:p>
              <a:p>
                <a:pPr marL="171450" indent="-171450" algn="just">
                  <a:buFont typeface="Arial" panose="020B0604020202020204" pitchFamily="34" charset="0"/>
                  <a:buChar char="•"/>
                </a:pPr>
                <a:r>
                  <a:rPr lang="en-ZA" dirty="0"/>
                  <a:t>The roots correspond to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𝑛</m:t>
                    </m:r>
                  </m:oMath>
                </a14:m>
                <a:r>
                  <a:rPr lang="en-ZA" dirty="0"/>
                  <a:t> equally spaced positions on the unit circle</a:t>
                </a:r>
                <a:r>
                  <a:rPr lang="en-ZA" b="0" dirty="0"/>
                  <a:t>:</a:t>
                </a:r>
              </a:p>
              <a:p>
                <a:pPr marL="628650" lvl="1" indent="-171450">
                  <a:buFont typeface="Arial" panose="020B0604020202020204" pitchFamily="34" charset="0"/>
                  <a:buChar char="•"/>
                </a:pPr>
                <a14:m>
                  <m:oMath xmlns:m="http://schemas.openxmlformats.org/officeDocument/2006/math">
                    <m:sSup>
                      <m:sSupPr>
                        <m:ctrlPr>
                          <a:rPr lang="en-US" sz="1200" b="0" i="1" smtClean="0">
                            <a:solidFill>
                              <a:schemeClr val="tx1">
                                <a:lumMod val="50000"/>
                                <a:lumOff val="50000"/>
                              </a:schemeClr>
                            </a:solidFill>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𝜔</m:t>
                        </m:r>
                      </m:e>
                      <m:sup>
                        <m:r>
                          <a:rPr lang="en-US" sz="1200" b="0" i="1" smtClean="0">
                            <a:latin typeface="Cambria Math" panose="02040503050406030204" pitchFamily="18" charset="0"/>
                            <a:ea typeface="Cambria Math" panose="02040503050406030204" pitchFamily="18" charset="0"/>
                          </a:rPr>
                          <m:t>0</m:t>
                        </m:r>
                      </m:sup>
                    </m:sSup>
                  </m:oMath>
                </a14:m>
                <a:r>
                  <a:rPr lang="el-GR" b="0" dirty="0"/>
                  <a:t> </a:t>
                </a:r>
                <a:r>
                  <a:rPr lang="en-ZA" dirty="0"/>
                  <a:t>starting position</a:t>
                </a:r>
                <a:r>
                  <a:rPr lang="en-ZA" b="0" dirty="0"/>
                  <a:t>.</a:t>
                </a:r>
              </a:p>
              <a:p>
                <a:pPr marL="628650" lvl="1" indent="-171450">
                  <a:buFont typeface="Arial" panose="020B0604020202020204" pitchFamily="34" charset="0"/>
                  <a:buChar char="•"/>
                </a:pPr>
                <a14:m>
                  <m:oMath xmlns:m="http://schemas.openxmlformats.org/officeDocument/2006/math">
                    <m:sSup>
                      <m:sSupPr>
                        <m:ctrlPr>
                          <a:rPr lang="en-US" sz="1200" b="0" i="1" smtClean="0">
                            <a:solidFill>
                              <a:schemeClr val="tx1">
                                <a:lumMod val="50000"/>
                                <a:lumOff val="50000"/>
                              </a:schemeClr>
                            </a:solidFill>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𝜔</m:t>
                        </m:r>
                      </m:e>
                      <m:sup>
                        <m:r>
                          <a:rPr lang="en-US" sz="1200" b="0" i="1" smtClean="0">
                            <a:latin typeface="Cambria Math" panose="02040503050406030204" pitchFamily="18" charset="0"/>
                            <a:ea typeface="Cambria Math" panose="02040503050406030204" pitchFamily="18" charset="0"/>
                          </a:rPr>
                          <m:t>1</m:t>
                        </m:r>
                      </m:sup>
                    </m:sSup>
                  </m:oMath>
                </a14:m>
                <a:r>
                  <a:rPr lang="el-GR" b="0" dirty="0"/>
                  <a:t> </a:t>
                </a:r>
                <a:r>
                  <a:rPr lang="en-ZA" dirty="0"/>
                  <a:t>one step of </a:t>
                </a:r>
                <a14:m>
                  <m:oMath xmlns:m="http://schemas.openxmlformats.org/officeDocument/2006/math">
                    <m:f>
                      <m:fPr>
                        <m:type m:val="lin"/>
                        <m:ctrlPr>
                          <a:rPr lang="en-US" sz="1200" b="0" i="1" smtClean="0">
                            <a:solidFill>
                              <a:schemeClr val="tx1"/>
                            </a:solidFill>
                            <a:latin typeface="Cambria Math" panose="02040503050406030204" pitchFamily="18" charset="0"/>
                            <a:ea typeface="Cambria Math" panose="02040503050406030204" pitchFamily="18" charset="0"/>
                          </a:rPr>
                        </m:ctrlPr>
                      </m:fPr>
                      <m:num>
                        <m:r>
                          <a:rPr lang="en-US" sz="1200" b="0" i="1" smtClean="0">
                            <a:solidFill>
                              <a:schemeClr val="tx1"/>
                            </a:solidFill>
                            <a:latin typeface="Cambria Math" panose="02040503050406030204" pitchFamily="18" charset="0"/>
                            <a:ea typeface="Cambria Math" panose="02040503050406030204" pitchFamily="18" charset="0"/>
                          </a:rPr>
                          <m:t>2</m:t>
                        </m:r>
                        <m:r>
                          <a:rPr lang="en-US" sz="1200" b="0" i="1" smtClean="0">
                            <a:solidFill>
                              <a:schemeClr val="tx1"/>
                            </a:solidFill>
                            <a:latin typeface="Cambria Math" panose="02040503050406030204" pitchFamily="18" charset="0"/>
                            <a:ea typeface="Cambria Math" panose="02040503050406030204" pitchFamily="18" charset="0"/>
                          </a:rPr>
                          <m:t>𝜋</m:t>
                        </m:r>
                      </m:num>
                      <m:den>
                        <m:r>
                          <a:rPr lang="en-US" sz="1200" b="0" i="1" smtClean="0">
                            <a:solidFill>
                              <a:schemeClr val="tx1"/>
                            </a:solidFill>
                            <a:latin typeface="Cambria Math" panose="02040503050406030204" pitchFamily="18" charset="0"/>
                            <a:ea typeface="Cambria Math" panose="02040503050406030204" pitchFamily="18" charset="0"/>
                          </a:rPr>
                          <m:t>𝑛</m:t>
                        </m:r>
                      </m:den>
                    </m:f>
                  </m:oMath>
                </a14:m>
                <a:r>
                  <a:rPr lang="en-ZA" b="0" dirty="0"/>
                  <a:t> </a:t>
                </a:r>
                <a:r>
                  <a:rPr lang="en-ZA" dirty="0"/>
                  <a:t>along the circle</a:t>
                </a:r>
                <a:r>
                  <a:rPr lang="en-ZA" b="0" dirty="0"/>
                  <a:t>.</a:t>
                </a:r>
              </a:p>
              <a:p>
                <a:pPr marL="628650" lvl="1" indent="-171450">
                  <a:buFont typeface="Arial" panose="020B0604020202020204" pitchFamily="34" charset="0"/>
                  <a:buChar char="•"/>
                </a:pPr>
                <a14:m>
                  <m:oMath xmlns:m="http://schemas.openxmlformats.org/officeDocument/2006/math">
                    <m:sSup>
                      <m:sSupPr>
                        <m:ctrlPr>
                          <a:rPr lang="en-US" sz="1200" b="0" i="1" smtClean="0">
                            <a:solidFill>
                              <a:schemeClr val="tx1">
                                <a:lumMod val="50000"/>
                                <a:lumOff val="50000"/>
                              </a:schemeClr>
                            </a:solidFill>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𝜔</m:t>
                        </m:r>
                      </m:e>
                      <m:sup>
                        <m:r>
                          <a:rPr lang="en-US" sz="1200" b="0" i="1" smtClean="0">
                            <a:latin typeface="Cambria Math" panose="02040503050406030204" pitchFamily="18" charset="0"/>
                            <a:ea typeface="Cambria Math" panose="02040503050406030204" pitchFamily="18" charset="0"/>
                          </a:rPr>
                          <m:t>2</m:t>
                        </m:r>
                      </m:sup>
                    </m:sSup>
                  </m:oMath>
                </a14:m>
                <a:r>
                  <a:rPr lang="el-GR" b="0" dirty="0"/>
                  <a:t> </a:t>
                </a:r>
                <a:r>
                  <a:rPr lang="en-ZA" dirty="0"/>
                  <a:t>two steps of </a:t>
                </a:r>
                <a14:m>
                  <m:oMath xmlns:m="http://schemas.openxmlformats.org/officeDocument/2006/math">
                    <m:f>
                      <m:fPr>
                        <m:type m:val="lin"/>
                        <m:ctrlPr>
                          <a:rPr lang="en-US" sz="1200" b="0" i="1" smtClean="0">
                            <a:solidFill>
                              <a:schemeClr val="tx1"/>
                            </a:solidFill>
                            <a:latin typeface="Cambria Math" panose="02040503050406030204" pitchFamily="18" charset="0"/>
                            <a:ea typeface="Cambria Math" panose="02040503050406030204" pitchFamily="18" charset="0"/>
                          </a:rPr>
                        </m:ctrlPr>
                      </m:fPr>
                      <m:num>
                        <m:r>
                          <a:rPr lang="en-US" sz="1200" b="0" i="1" smtClean="0">
                            <a:solidFill>
                              <a:schemeClr val="tx1"/>
                            </a:solidFill>
                            <a:latin typeface="Cambria Math" panose="02040503050406030204" pitchFamily="18" charset="0"/>
                            <a:ea typeface="Cambria Math" panose="02040503050406030204" pitchFamily="18" charset="0"/>
                          </a:rPr>
                          <m:t>2</m:t>
                        </m:r>
                        <m:r>
                          <a:rPr lang="en-US" sz="1200" b="0" i="1" smtClean="0">
                            <a:solidFill>
                              <a:schemeClr val="tx1"/>
                            </a:solidFill>
                            <a:latin typeface="Cambria Math" panose="02040503050406030204" pitchFamily="18" charset="0"/>
                            <a:ea typeface="Cambria Math" panose="02040503050406030204" pitchFamily="18" charset="0"/>
                          </a:rPr>
                          <m:t>𝜋</m:t>
                        </m:r>
                      </m:num>
                      <m:den>
                        <m:r>
                          <a:rPr lang="en-US" sz="1200" b="0" i="1" smtClean="0">
                            <a:solidFill>
                              <a:schemeClr val="tx1"/>
                            </a:solidFill>
                            <a:latin typeface="Cambria Math" panose="02040503050406030204" pitchFamily="18" charset="0"/>
                            <a:ea typeface="Cambria Math" panose="02040503050406030204" pitchFamily="18" charset="0"/>
                          </a:rPr>
                          <m:t>𝑛</m:t>
                        </m:r>
                      </m:den>
                    </m:f>
                  </m:oMath>
                </a14:m>
                <a:r>
                  <a:rPr lang="en-ZA" dirty="0"/>
                  <a:t>, along the circle</a:t>
                </a:r>
              </a:p>
              <a:p>
                <a:pPr marL="628650" lvl="1" indent="-171450">
                  <a:buFont typeface="Arial" panose="020B0604020202020204" pitchFamily="34" charset="0"/>
                  <a:buChar char="•"/>
                </a:pPr>
                <a:r>
                  <a:rPr lang="en-ZA" dirty="0"/>
                  <a:t>…</a:t>
                </a:r>
                <a:endParaRPr lang="en-US" sz="1200" b="0" i="1" dirty="0">
                  <a:solidFill>
                    <a:schemeClr val="tx1">
                      <a:lumMod val="50000"/>
                      <a:lumOff val="50000"/>
                    </a:schemeClr>
                  </a:solidFill>
                  <a:latin typeface="Cambria Math" panose="02040503050406030204" pitchFamily="18" charset="0"/>
                  <a:ea typeface="Cambria Math" panose="02040503050406030204" pitchFamily="18" charset="0"/>
                </a:endParaRPr>
              </a:p>
              <a:p>
                <a:pPr marL="628650" lvl="1" indent="-171450">
                  <a:buFont typeface="Arial" panose="020B0604020202020204" pitchFamily="34" charset="0"/>
                  <a:buChar char="•"/>
                </a:pPr>
                <a14:m>
                  <m:oMath xmlns:m="http://schemas.openxmlformats.org/officeDocument/2006/math">
                    <m:sSup>
                      <m:sSupPr>
                        <m:ctrlPr>
                          <a:rPr lang="en-US" sz="1200" b="0" i="1" smtClean="0">
                            <a:solidFill>
                              <a:schemeClr val="tx1">
                                <a:lumMod val="50000"/>
                                <a:lumOff val="50000"/>
                              </a:schemeClr>
                            </a:solidFill>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𝜔</m:t>
                        </m:r>
                      </m:e>
                      <m:sup>
                        <m:r>
                          <a:rPr lang="en-US" sz="1200" b="0" i="1" smtClean="0">
                            <a:latin typeface="Cambria Math" panose="02040503050406030204" pitchFamily="18" charset="0"/>
                            <a:ea typeface="Cambria Math" panose="02040503050406030204" pitchFamily="18" charset="0"/>
                          </a:rPr>
                          <m:t>𝑛</m:t>
                        </m:r>
                        <m:r>
                          <a:rPr lang="en-US" sz="1200" b="0" i="1" smtClean="0">
                            <a:latin typeface="Cambria Math" panose="02040503050406030204" pitchFamily="18" charset="0"/>
                            <a:ea typeface="Cambria Math" panose="02040503050406030204" pitchFamily="18" charset="0"/>
                          </a:rPr>
                          <m:t>−1</m:t>
                        </m:r>
                      </m:sup>
                    </m:sSup>
                  </m:oMath>
                </a14:m>
                <a:r>
                  <a:rPr lang="en-ZA" dirty="0"/>
                  <a:t> the final position before returning to the starting point.</a:t>
                </a:r>
                <a:br>
                  <a:rPr lang="en-ZA" b="0" dirty="0"/>
                </a:br>
                <a:r>
                  <a:rPr lang="en-ZA" b="0" dirty="0"/>
                  <a:t>where </a:t>
                </a:r>
                <a14:m>
                  <m:oMath xmlns:m="http://schemas.openxmlformats.org/officeDocument/2006/math">
                    <m:sSup>
                      <m:sSupPr>
                        <m:ctrlPr>
                          <a:rPr lang="en-US" sz="1200" b="0" i="1" smtClean="0">
                            <a:solidFill>
                              <a:schemeClr val="tx1">
                                <a:lumMod val="50000"/>
                                <a:lumOff val="50000"/>
                              </a:schemeClr>
                            </a:solidFill>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𝜔</m:t>
                        </m:r>
                      </m:e>
                      <m:sup>
                        <m:r>
                          <a:rPr lang="en-US" sz="1200" b="0" i="1" smtClean="0">
                            <a:latin typeface="Cambria Math" panose="02040503050406030204" pitchFamily="18" charset="0"/>
                            <a:ea typeface="Cambria Math" panose="02040503050406030204" pitchFamily="18" charset="0"/>
                          </a:rPr>
                          <m:t>𝑛</m:t>
                        </m:r>
                      </m:sup>
                    </m:sSup>
                    <m:r>
                      <a:rPr lang="en-US" sz="1200" b="0" i="1" smtClean="0">
                        <a:latin typeface="Cambria Math" panose="02040503050406030204" pitchFamily="18" charset="0"/>
                        <a:ea typeface="Cambria Math" panose="02040503050406030204" pitchFamily="18" charset="0"/>
                      </a:rPr>
                      <m:t>=</m:t>
                    </m:r>
                    <m:sSup>
                      <m:sSupPr>
                        <m:ctrlPr>
                          <a:rPr lang="en-US" sz="1200" b="0" i="1" smtClean="0">
                            <a:solidFill>
                              <a:schemeClr val="tx1">
                                <a:lumMod val="50000"/>
                                <a:lumOff val="50000"/>
                              </a:schemeClr>
                            </a:solidFill>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𝑒</m:t>
                        </m:r>
                      </m:e>
                      <m:sup>
                        <m:r>
                          <a:rPr lang="en-US" sz="1200" b="0" i="1" smtClean="0">
                            <a:solidFill>
                              <a:schemeClr val="tx1"/>
                            </a:solidFill>
                            <a:latin typeface="Cambria Math" panose="02040503050406030204" pitchFamily="18" charset="0"/>
                            <a:ea typeface="Cambria Math" panose="02040503050406030204" pitchFamily="18" charset="0"/>
                          </a:rPr>
                          <m:t>2</m:t>
                        </m:r>
                        <m:r>
                          <a:rPr lang="en-US" sz="1200" b="0" i="1" smtClean="0">
                            <a:solidFill>
                              <a:schemeClr val="tx1"/>
                            </a:solidFill>
                            <a:latin typeface="Cambria Math" panose="02040503050406030204" pitchFamily="18" charset="0"/>
                            <a:ea typeface="Cambria Math" panose="02040503050406030204" pitchFamily="18" charset="0"/>
                          </a:rPr>
                          <m:t>𝜋</m:t>
                        </m:r>
                        <m:r>
                          <a:rPr lang="en-US" sz="1200" b="0" i="1" smtClean="0">
                            <a:solidFill>
                              <a:schemeClr val="tx1"/>
                            </a:solidFill>
                            <a:latin typeface="Cambria Math" panose="02040503050406030204" pitchFamily="18" charset="0"/>
                            <a:ea typeface="Cambria Math" panose="02040503050406030204" pitchFamily="18" charset="0"/>
                          </a:rPr>
                          <m:t>𝑖</m:t>
                        </m:r>
                      </m:sup>
                    </m:sSup>
                    <m:r>
                      <a:rPr lang="en-US" sz="1200" b="0" i="1" smtClean="0">
                        <a:latin typeface="Cambria Math" panose="02040503050406030204" pitchFamily="18" charset="0"/>
                        <a:ea typeface="Cambria Math" panose="02040503050406030204" pitchFamily="18" charset="0"/>
                      </a:rPr>
                      <m:t>=1=</m:t>
                    </m:r>
                    <m:sSup>
                      <m:sSupPr>
                        <m:ctrlPr>
                          <a:rPr lang="en-US" sz="1200" b="0" i="1" smtClean="0">
                            <a:solidFill>
                              <a:schemeClr val="tx1">
                                <a:lumMod val="50000"/>
                                <a:lumOff val="50000"/>
                              </a:schemeClr>
                            </a:solidFill>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𝜔</m:t>
                        </m:r>
                      </m:e>
                      <m:sup>
                        <m:r>
                          <a:rPr lang="en-US" sz="1200" b="0" i="1" smtClean="0">
                            <a:solidFill>
                              <a:schemeClr val="tx1"/>
                            </a:solidFill>
                            <a:latin typeface="Cambria Math" panose="02040503050406030204" pitchFamily="18" charset="0"/>
                            <a:ea typeface="Cambria Math" panose="02040503050406030204" pitchFamily="18" charset="0"/>
                          </a:rPr>
                          <m:t>0</m:t>
                        </m:r>
                      </m:sup>
                    </m:sSup>
                  </m:oMath>
                </a14:m>
                <a:r>
                  <a:rPr lang="en-ZA" b="0" dirty="0"/>
                  <a:t> is the starting point.</a:t>
                </a:r>
              </a:p>
            </p:txBody>
          </p:sp>
        </mc:Choice>
        <mc:Fallback xmlns="">
          <p:sp>
            <p:nvSpPr>
              <p:cNvPr id="3" name="Notes Placeholder 2"/>
              <p:cNvSpPr>
                <a:spLocks noGrp="1"/>
              </p:cNvSpPr>
              <p:nvPr>
                <p:ph type="body" idx="1"/>
              </p:nvPr>
            </p:nvSpPr>
            <p:spPr/>
            <p:txBody>
              <a:bodyPr/>
              <a:lstStyle/>
              <a:p>
                <a:pPr marL="0" indent="0" algn="just">
                  <a:buFont typeface="Arial" panose="020B0604020202020204" pitchFamily="34" charset="0"/>
                  <a:buNone/>
                </a:pPr>
                <a:r>
                  <a:rPr lang="en-ZA" b="0" dirty="0"/>
                  <a:t>This </a:t>
                </a:r>
                <a:r>
                  <a:rPr lang="en-ZA" b="0" dirty="0" err="1"/>
                  <a:t>MathBox</a:t>
                </a:r>
                <a:r>
                  <a:rPr lang="en-ZA" b="0" dirty="0"/>
                  <a:t> provides a quick refresher on complex numbers.</a:t>
                </a:r>
              </a:p>
              <a:p>
                <a:pPr marL="0" indent="0" algn="just">
                  <a:buFont typeface="Arial" panose="020B0604020202020204" pitchFamily="34" charset="0"/>
                  <a:buNone/>
                </a:pPr>
                <a:endParaRPr lang="en-ZA" b="0" dirty="0"/>
              </a:p>
              <a:p>
                <a:pPr marL="171450" indent="-171450" algn="just">
                  <a:buFont typeface="Arial" panose="020B0604020202020204" pitchFamily="34" charset="0"/>
                  <a:buChar char="•"/>
                </a:pPr>
                <a:r>
                  <a:rPr lang="en-ZA" b="0" dirty="0"/>
                  <a:t>A complex number is an ordered pair of real numbers, for example, </a:t>
                </a:r>
                <a:r>
                  <a:rPr lang="en-US" sz="1200" i="0">
                    <a:latin typeface="Cambria Math" panose="02040503050406030204" pitchFamily="18" charset="0"/>
                  </a:rPr>
                  <a:t>𝑥</a:t>
                </a:r>
                <a:r>
                  <a:rPr lang="en-ZA" b="0" dirty="0"/>
                  <a:t> and </a:t>
                </a:r>
                <a:r>
                  <a:rPr lang="en-US" sz="1200" b="0" i="0">
                    <a:latin typeface="Cambria Math" panose="02040503050406030204" pitchFamily="18" charset="0"/>
                  </a:rPr>
                  <a:t>𝑦</a:t>
                </a:r>
                <a:r>
                  <a:rPr lang="en-ZA" b="0" dirty="0"/>
                  <a:t>, written in algebraic form as: </a:t>
                </a:r>
                <a:r>
                  <a:rPr lang="en-US" sz="1200" i="0">
                    <a:latin typeface="Cambria Math" panose="02040503050406030204" pitchFamily="18" charset="0"/>
                  </a:rPr>
                  <a:t>𝑧=𝑥+𝑖𝑦</a:t>
                </a:r>
                <a:r>
                  <a:rPr lang="en-ZA" b="0" dirty="0"/>
                  <a:t>.</a:t>
                </a:r>
                <a:r>
                  <a:rPr lang="en-ZA" b="0" baseline="0" dirty="0"/>
                  <a:t> </a:t>
                </a:r>
                <a:r>
                  <a:rPr lang="en-ZA" b="0" dirty="0"/>
                  <a:t>The set of all complex numbers is denoted by the double-struck letter </a:t>
                </a:r>
                <a:r>
                  <a:rPr lang="en-US" sz="1200" b="0" i="0">
                    <a:latin typeface="Cambria Math" panose="02040503050406030204" pitchFamily="18" charset="0"/>
                    <a:ea typeface="Cambria Math" panose="02040503050406030204" pitchFamily="18" charset="0"/>
                  </a:rPr>
                  <a:t>ℂ</a:t>
                </a:r>
                <a:r>
                  <a:rPr lang="en-ZA" b="0" dirty="0"/>
                  <a:t>.</a:t>
                </a:r>
              </a:p>
              <a:p>
                <a:pPr algn="just"/>
                <a:endParaRPr lang="en-ZA" b="0" dirty="0"/>
              </a:p>
              <a:p>
                <a:pPr marL="628650" lvl="1" indent="-171450" algn="just">
                  <a:buFont typeface="Arial" panose="020B0604020202020204" pitchFamily="34" charset="0"/>
                  <a:buChar char="•"/>
                </a:pPr>
                <a:r>
                  <a:rPr lang="en-ZA" b="0" dirty="0"/>
                  <a:t>    </a:t>
                </a:r>
                <a:r>
                  <a:rPr lang="en-US" sz="1200" i="0">
                    <a:latin typeface="Cambria Math" panose="02040503050406030204" pitchFamily="18" charset="0"/>
                  </a:rPr>
                  <a:t>𝑥</a:t>
                </a:r>
                <a:r>
                  <a:rPr lang="en-ZA" b="0" dirty="0"/>
                  <a:t> is the real part, and </a:t>
                </a:r>
                <a:r>
                  <a:rPr lang="en-US" sz="1200" b="0" i="0">
                    <a:latin typeface="Cambria Math" panose="02040503050406030204" pitchFamily="18" charset="0"/>
                  </a:rPr>
                  <a:t>𝑦</a:t>
                </a:r>
                <a:r>
                  <a:rPr lang="en-ZA" b="0" dirty="0"/>
                  <a:t> is the imaginary part of the complex number </a:t>
                </a:r>
                <a:r>
                  <a:rPr lang="en-US" sz="1200" b="0" i="0">
                    <a:latin typeface="Cambria Math" panose="02040503050406030204" pitchFamily="18" charset="0"/>
                  </a:rPr>
                  <a:t>𝑧</a:t>
                </a:r>
                <a:r>
                  <a:rPr lang="en-ZA" b="0" dirty="0"/>
                  <a:t>.</a:t>
                </a:r>
              </a:p>
              <a:p>
                <a:pPr marL="628650" lvl="1" indent="-171450" algn="just">
                  <a:buFont typeface="Arial" panose="020B0604020202020204" pitchFamily="34" charset="0"/>
                  <a:buChar char="•"/>
                </a:pPr>
                <a:r>
                  <a:rPr lang="en-ZA" b="0" dirty="0"/>
                  <a:t>    </a:t>
                </a:r>
                <a:r>
                  <a:rPr lang="en-US" sz="1200" b="0" i="0">
                    <a:latin typeface="Cambria Math" panose="02040503050406030204" pitchFamily="18" charset="0"/>
                  </a:rPr>
                  <a:t>𝑖</a:t>
                </a:r>
                <a:r>
                  <a:rPr lang="en-ZA" b="0" dirty="0"/>
                  <a:t> is the imaginary unit, defined as</a:t>
                </a:r>
                <a:r>
                  <a:rPr lang="en-ZA" b="0" baseline="0" dirty="0"/>
                  <a:t> </a:t>
                </a:r>
                <a:r>
                  <a:rPr lang="en-US" sz="1200" b="0" i="0">
                    <a:latin typeface="Cambria Math" panose="02040503050406030204" pitchFamily="18" charset="0"/>
                  </a:rPr>
                  <a:t>𝑖=</a:t>
                </a:r>
                <a:r>
                  <a:rPr lang="en-US" sz="1200" i="0">
                    <a:latin typeface="Cambria Math" panose="02040503050406030204" pitchFamily="18" charset="0"/>
                  </a:rPr>
                  <a:t>√(−1)</a:t>
                </a:r>
                <a:r>
                  <a:rPr lang="en-ZA" b="0" dirty="0"/>
                  <a:t>.    ​</a:t>
                </a:r>
              </a:p>
              <a:p>
                <a:pPr algn="just"/>
                <a:endParaRPr lang="en-ZA" b="0" dirty="0"/>
              </a:p>
              <a:p>
                <a:pPr marL="171450" indent="-171450" algn="just">
                  <a:buFont typeface="Arial" panose="020B0604020202020204" pitchFamily="34" charset="0"/>
                  <a:buChar char="•"/>
                </a:pPr>
                <a:r>
                  <a:rPr lang="en-ZA" b="0" dirty="0"/>
                  <a:t>The complex conjugate of a number flips the sign of its imaginary part. We denote it by a star superscript, for example </a:t>
                </a:r>
                <a:r>
                  <a:rPr lang="en-US" sz="1200" b="0" i="0">
                    <a:latin typeface="Cambria Math" panose="02040503050406030204" pitchFamily="18" charset="0"/>
                  </a:rPr>
                  <a:t>𝑧^∗</a:t>
                </a:r>
                <a:r>
                  <a:rPr lang="en-ZA" b="0" dirty="0"/>
                  <a:t>.</a:t>
                </a:r>
              </a:p>
              <a:p>
                <a:pPr algn="just"/>
                <a:endParaRPr lang="en-ZA" b="0" dirty="0"/>
              </a:p>
              <a:p>
                <a:pPr marL="171450" indent="-171450" algn="just">
                  <a:buFont typeface="Arial" panose="020B0604020202020204" pitchFamily="34" charset="0"/>
                  <a:buChar char="•"/>
                </a:pPr>
                <a:r>
                  <a:rPr lang="en-ZA" b="0" dirty="0"/>
                  <a:t>The absolute value (or modulus) of a complex number is the square root of the sum of its real part squared and imaginary part squared.</a:t>
                </a:r>
              </a:p>
              <a:p>
                <a:pPr algn="just"/>
                <a:endParaRPr lang="en-ZA" b="0" dirty="0"/>
              </a:p>
              <a:p>
                <a:pPr marL="171450" indent="-171450" algn="just">
                  <a:buFont typeface="Arial" panose="020B0604020202020204" pitchFamily="34" charset="0"/>
                  <a:buChar char="•"/>
                </a:pPr>
                <a:r>
                  <a:rPr lang="en-ZA" b="0" dirty="0"/>
                  <a:t>A complex number can be visually represented as a point in the complex plane, with coordinates </a:t>
                </a:r>
                <a:r>
                  <a:rPr lang="en-US" sz="1200" i="0">
                    <a:latin typeface="Cambria Math" panose="02040503050406030204" pitchFamily="18" charset="0"/>
                  </a:rPr>
                  <a:t>𝑥</a:t>
                </a:r>
                <a:r>
                  <a:rPr lang="en-ZA" b="0" dirty="0"/>
                  <a:t> and </a:t>
                </a:r>
                <a:r>
                  <a:rPr lang="en-US" sz="1200" b="0" i="0">
                    <a:latin typeface="Cambria Math" panose="02040503050406030204" pitchFamily="18" charset="0"/>
                  </a:rPr>
                  <a:t>𝑦</a:t>
                </a:r>
                <a:r>
                  <a:rPr lang="en-ZA" b="0" dirty="0"/>
                  <a:t>:</a:t>
                </a:r>
              </a:p>
              <a:p>
                <a:pPr marL="628650" lvl="1" indent="-171450" algn="just">
                  <a:buFont typeface="Arial" panose="020B0604020202020204" pitchFamily="34" charset="0"/>
                  <a:buChar char="•"/>
                </a:pPr>
                <a:r>
                  <a:rPr lang="en-US" sz="1200" i="0">
                    <a:latin typeface="Cambria Math" panose="02040503050406030204" pitchFamily="18" charset="0"/>
                  </a:rPr>
                  <a:t>𝑥</a:t>
                </a:r>
                <a:r>
                  <a:rPr lang="en-ZA" b="0" dirty="0"/>
                  <a:t> lies on the horizontal (real) axis.</a:t>
                </a:r>
              </a:p>
              <a:p>
                <a:pPr marL="628650" lvl="1" indent="-171450" algn="just">
                  <a:buFont typeface="Arial" panose="020B0604020202020204" pitchFamily="34" charset="0"/>
                  <a:buChar char="•"/>
                </a:pPr>
                <a:r>
                  <a:rPr lang="en-US" sz="1200" b="0" i="0">
                    <a:latin typeface="Cambria Math" panose="02040503050406030204" pitchFamily="18" charset="0"/>
                  </a:rPr>
                  <a:t>𝑦</a:t>
                </a:r>
                <a:r>
                  <a:rPr lang="en-ZA" b="0" dirty="0"/>
                  <a:t> lies on the vertical (imaginary) axis.</a:t>
                </a:r>
              </a:p>
              <a:p>
                <a:pPr algn="just"/>
                <a:endParaRPr lang="en-ZA" b="0" dirty="0"/>
              </a:p>
              <a:p>
                <a:pPr lvl="1" algn="just"/>
                <a:r>
                  <a:rPr lang="en-ZA" b="0" dirty="0"/>
                  <a:t>This point is connected to a vector, called the radius vector of the complex number. The length of this vector equals the modulus of the complex number.</a:t>
                </a:r>
              </a:p>
              <a:p>
                <a:pPr lvl="1" algn="just"/>
                <a:endParaRPr lang="en-ZA" b="0" dirty="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0" i="0" dirty="0"/>
                  <a:t>Here is a simple example of a complex number: </a:t>
                </a:r>
                <a:r>
                  <a:rPr lang="en-US" sz="1200" i="0">
                    <a:latin typeface="Cambria Math" panose="02040503050406030204" pitchFamily="18" charset="0"/>
                  </a:rPr>
                  <a:t>z=0.3+</a:t>
                </a:r>
                <a:r>
                  <a:rPr lang="en-US" sz="1200" b="0" i="0">
                    <a:latin typeface="Cambria Math" panose="02040503050406030204" pitchFamily="18" charset="0"/>
                  </a:rPr>
                  <a:t>i 0.2</a:t>
                </a:r>
                <a:r>
                  <a:rPr lang="en-ZA" sz="1200" b="0" i="0" dirty="0">
                    <a:latin typeface="Cambria Math" panose="02040503050406030204" pitchFamily="18" charset="0"/>
                  </a:rPr>
                  <a:t>, its conjugate </a:t>
                </a:r>
                <a:r>
                  <a:rPr lang="en-US" sz="1200" i="0">
                    <a:latin typeface="Cambria Math" panose="02040503050406030204" pitchFamily="18" charset="0"/>
                  </a:rPr>
                  <a:t>z^∗</a:t>
                </a:r>
                <a:r>
                  <a:rPr lang="en-US" sz="1200" b="1" i="0">
                    <a:latin typeface="Cambria Math" panose="02040503050406030204" pitchFamily="18" charset="0"/>
                  </a:rPr>
                  <a:t>  </a:t>
                </a:r>
                <a:r>
                  <a:rPr lang="en-US" sz="1200" i="0">
                    <a:latin typeface="Cambria Math" panose="02040503050406030204" pitchFamily="18" charset="0"/>
                  </a:rPr>
                  <a:t>=0.3</a:t>
                </a:r>
                <a:r>
                  <a:rPr lang="en-US" sz="1200" b="0" i="0">
                    <a:latin typeface="Cambria Math" panose="02040503050406030204" pitchFamily="18" charset="0"/>
                  </a:rPr>
                  <a:t>−</a:t>
                </a:r>
                <a:r>
                  <a:rPr lang="en-US" sz="1200" i="0">
                    <a:latin typeface="Cambria Math" panose="02040503050406030204" pitchFamily="18" charset="0"/>
                  </a:rPr>
                  <a:t>i 0.2</a:t>
                </a:r>
                <a:r>
                  <a:rPr lang="en-US" sz="1200" b="0" i="0" dirty="0">
                    <a:latin typeface="Cambria Math" panose="02040503050406030204" pitchFamily="18" charset="0"/>
                  </a:rPr>
                  <a:t> and it modulus.</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52</a:t>
            </a:fld>
            <a:endParaRPr lang="en-US"/>
          </a:p>
        </p:txBody>
      </p:sp>
    </p:spTree>
    <p:extLst>
      <p:ext uri="{BB962C8B-B14F-4D97-AF65-F5344CB8AC3E}">
        <p14:creationId xmlns:p14="http://schemas.microsoft.com/office/powerpoint/2010/main" val="77053548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The Discrete Fourier Transform (DFT) takes a vector</a:t>
                </a:r>
                <a:r>
                  <a:rPr lang="en-ZA" dirty="0"/>
                  <a:t> </a:t>
                </a:r>
                <a14:m>
                  <m:oMath xmlns:m="http://schemas.openxmlformats.org/officeDocument/2006/math">
                    <m:r>
                      <a:rPr lang="en-US" sz="1200" i="1" smtClean="0">
                        <a:solidFill>
                          <a:srgbClr val="002060"/>
                        </a:solidFill>
                        <a:latin typeface="Cambria Math" panose="02040503050406030204" pitchFamily="18" charset="0"/>
                        <a:ea typeface="Cambria Math" panose="02040503050406030204" pitchFamily="18" charset="0"/>
                      </a:rPr>
                      <m:t>𝑥</m:t>
                    </m:r>
                  </m:oMath>
                </a14:m>
                <a:r>
                  <a:rPr lang="en-ZA" dirty="0"/>
                  <a:t> of length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𝑛</m:t>
                    </m:r>
                  </m:oMath>
                </a14:m>
                <a:r>
                  <a:rPr lang="en-ZA" dirty="0"/>
                  <a:t> and transforms it into a new vector </a:t>
                </a:r>
                <a14:m>
                  <m:oMath xmlns:m="http://schemas.openxmlformats.org/officeDocument/2006/math">
                    <m:acc>
                      <m:accPr>
                        <m:chr m:val="̃"/>
                        <m:ctrlPr>
                          <a:rPr lang="en-US" sz="1200" i="1" smtClean="0">
                            <a:solidFill>
                              <a:srgbClr val="002060"/>
                            </a:solidFill>
                            <a:latin typeface="Cambria Math" panose="02040503050406030204" pitchFamily="18" charset="0"/>
                            <a:ea typeface="Cambria Math" panose="02040503050406030204" pitchFamily="18" charset="0"/>
                          </a:rPr>
                        </m:ctrlPr>
                      </m:accPr>
                      <m:e>
                        <m:r>
                          <a:rPr lang="en-US" sz="1200" i="1">
                            <a:solidFill>
                              <a:srgbClr val="002060"/>
                            </a:solidFill>
                            <a:latin typeface="Cambria Math" panose="02040503050406030204" pitchFamily="18" charset="0"/>
                            <a:ea typeface="Cambria Math" panose="02040503050406030204" pitchFamily="18" charset="0"/>
                          </a:rPr>
                          <m:t>𝑥</m:t>
                        </m:r>
                      </m:e>
                    </m:acc>
                  </m:oMath>
                </a14:m>
                <a:r>
                  <a:rPr lang="en-ZA" dirty="0"/>
                  <a:t>. Each component of the output vector is obtained by adding all components of the original vector, after each has been rotated in the complex plane by a phase determined by a root of unity</a:t>
                </a:r>
                <a:r>
                  <a:rPr lang="en-ZA" baseline="0" dirty="0"/>
                  <a:t> </a:t>
                </a:r>
                <a14:m>
                  <m:oMath xmlns:m="http://schemas.openxmlformats.org/officeDocument/2006/math">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𝜔</m:t>
                        </m:r>
                        <m:r>
                          <a:rPr lang="en-US" sz="1200" b="0" i="1" smtClean="0">
                            <a:solidFill>
                              <a:schemeClr val="tx1">
                                <a:lumMod val="50000"/>
                                <a:lumOff val="50000"/>
                              </a:schemeClr>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𝑒</m:t>
                        </m:r>
                      </m:e>
                      <m:sup>
                        <m:f>
                          <m:fPr>
                            <m:type m:val="lin"/>
                            <m:ctrlPr>
                              <a:rPr lang="en-US" sz="1200" b="0" i="1" smtClean="0">
                                <a:solidFill>
                                  <a:schemeClr val="tx1"/>
                                </a:solidFill>
                                <a:latin typeface="Cambria Math" panose="02040503050406030204" pitchFamily="18" charset="0"/>
                                <a:ea typeface="Cambria Math" panose="02040503050406030204" pitchFamily="18" charset="0"/>
                              </a:rPr>
                            </m:ctrlPr>
                          </m:fPr>
                          <m:num>
                            <m:r>
                              <a:rPr lang="en-US" sz="1200" b="0" i="1" smtClean="0">
                                <a:solidFill>
                                  <a:schemeClr val="tx1"/>
                                </a:solidFill>
                                <a:latin typeface="Cambria Math" panose="02040503050406030204" pitchFamily="18" charset="0"/>
                                <a:ea typeface="Cambria Math" panose="02040503050406030204" pitchFamily="18" charset="0"/>
                              </a:rPr>
                              <m:t>2</m:t>
                            </m:r>
                            <m:r>
                              <a:rPr lang="en-US" sz="1200" b="0" i="1" smtClean="0">
                                <a:solidFill>
                                  <a:schemeClr val="tx1"/>
                                </a:solidFill>
                                <a:latin typeface="Cambria Math" panose="02040503050406030204" pitchFamily="18" charset="0"/>
                                <a:ea typeface="Cambria Math" panose="02040503050406030204" pitchFamily="18" charset="0"/>
                              </a:rPr>
                              <m:t>𝜋</m:t>
                            </m:r>
                            <m:r>
                              <a:rPr lang="en-US" sz="1200" b="0" i="1" smtClean="0">
                                <a:solidFill>
                                  <a:schemeClr val="tx1"/>
                                </a:solidFill>
                                <a:latin typeface="Cambria Math" panose="02040503050406030204" pitchFamily="18" charset="0"/>
                                <a:ea typeface="Cambria Math" panose="02040503050406030204" pitchFamily="18" charset="0"/>
                              </a:rPr>
                              <m:t>𝑖</m:t>
                            </m:r>
                          </m:num>
                          <m:den>
                            <m:r>
                              <a:rPr lang="en-US" sz="1200" b="0" i="1" smtClean="0">
                                <a:solidFill>
                                  <a:schemeClr val="tx1"/>
                                </a:solidFill>
                                <a:latin typeface="Cambria Math" panose="02040503050406030204" pitchFamily="18" charset="0"/>
                                <a:ea typeface="Cambria Math" panose="02040503050406030204" pitchFamily="18" charset="0"/>
                              </a:rPr>
                              <m:t>𝑁</m:t>
                            </m:r>
                          </m:den>
                        </m:f>
                      </m:sup>
                    </m:sSup>
                  </m:oMath>
                </a14:m>
                <a:r>
                  <a:rPr lang="en-ZA" dirty="0"/>
                  <a:t>.</a:t>
                </a:r>
              </a:p>
              <a:p>
                <a:pPr algn="just"/>
                <a:endParaRPr lang="en-ZA" dirty="0"/>
              </a:p>
              <a:p>
                <a:pPr algn="just"/>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acc>
                            <m:accPr>
                              <m:chr m:val="̃"/>
                              <m:ctrlPr>
                                <a:rPr lang="en-US" sz="1200" i="1">
                                  <a:latin typeface="Cambria Math" panose="02040503050406030204" pitchFamily="18" charset="0"/>
                                  <a:ea typeface="Cambria Math" panose="02040503050406030204" pitchFamily="18" charset="0"/>
                                </a:rPr>
                              </m:ctrlPr>
                            </m:accPr>
                            <m:e>
                              <m:r>
                                <a:rPr lang="en-US" sz="1200" b="0" i="1" smtClean="0">
                                  <a:latin typeface="Cambria Math" panose="02040503050406030204" pitchFamily="18" charset="0"/>
                                  <a:ea typeface="Cambria Math" panose="02040503050406030204" pitchFamily="18" charset="0"/>
                                </a:rPr>
                                <m:t> </m:t>
                              </m:r>
                              <m:r>
                                <a:rPr lang="en-US" sz="1200" i="1">
                                  <a:latin typeface="Cambria Math" panose="02040503050406030204" pitchFamily="18" charset="0"/>
                                  <a:ea typeface="Cambria Math" panose="02040503050406030204" pitchFamily="18" charset="0"/>
                                </a:rPr>
                                <m:t>𝑥</m:t>
                              </m:r>
                            </m:e>
                          </m:acc>
                        </m:e>
                        <m:sub>
                          <m:r>
                            <a:rPr lang="en-US" sz="1200" i="1">
                              <a:latin typeface="Cambria Math" panose="02040503050406030204" pitchFamily="18" charset="0"/>
                              <a:ea typeface="Cambria Math" panose="02040503050406030204" pitchFamily="18" charset="0"/>
                            </a:rPr>
                            <m:t>𝑘</m:t>
                          </m:r>
                        </m:sub>
                      </m:sSub>
                      <m:r>
                        <a:rPr lang="en-US" sz="1200" i="1">
                          <a:latin typeface="Cambria Math" panose="02040503050406030204" pitchFamily="18" charset="0"/>
                          <a:ea typeface="Cambria Math" panose="02040503050406030204" pitchFamily="18" charset="0"/>
                        </a:rPr>
                        <m:t>=</m:t>
                      </m:r>
                      <m:nary>
                        <m:naryPr>
                          <m:chr m:val="∑"/>
                          <m:ctrlPr>
                            <a:rPr lang="en-US" sz="1200" i="1">
                              <a:latin typeface="Cambria Math" panose="02040503050406030204" pitchFamily="18" charset="0"/>
                              <a:ea typeface="Cambria Math" panose="02040503050406030204" pitchFamily="18" charset="0"/>
                            </a:rPr>
                          </m:ctrlPr>
                        </m:naryPr>
                        <m:sub>
                          <m:r>
                            <a:rPr lang="en-US" sz="1200" i="1">
                              <a:latin typeface="Cambria Math" panose="02040503050406030204" pitchFamily="18" charset="0"/>
                              <a:ea typeface="Cambria Math" panose="02040503050406030204" pitchFamily="18" charset="0"/>
                            </a:rPr>
                            <m:t>𝑗</m:t>
                          </m:r>
                          <m:r>
                            <a:rPr lang="en-US" sz="1200" i="1">
                              <a:latin typeface="Cambria Math" panose="02040503050406030204" pitchFamily="18" charset="0"/>
                              <a:ea typeface="Cambria Math" panose="02040503050406030204" pitchFamily="18" charset="0"/>
                            </a:rPr>
                            <m:t>=0</m:t>
                          </m:r>
                        </m:sub>
                        <m:sup>
                          <m:r>
                            <a:rPr lang="en-US" sz="1200" i="1">
                              <a:latin typeface="Cambria Math" panose="02040503050406030204" pitchFamily="18" charset="0"/>
                              <a:ea typeface="Cambria Math" panose="02040503050406030204" pitchFamily="18" charset="0"/>
                            </a:rPr>
                            <m:t>𝑛</m:t>
                          </m:r>
                          <m:r>
                            <a:rPr lang="en-US" sz="1200" i="1">
                              <a:latin typeface="Cambria Math" panose="02040503050406030204" pitchFamily="18" charset="0"/>
                              <a:ea typeface="Cambria Math" panose="02040503050406030204" pitchFamily="18" charset="0"/>
                            </a:rPr>
                            <m:t>−1</m:t>
                          </m:r>
                        </m:sup>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𝑥</m:t>
                              </m:r>
                            </m:e>
                            <m:sub>
                              <m:r>
                                <a:rPr lang="en-US" sz="1200" i="1">
                                  <a:latin typeface="Cambria Math" panose="02040503050406030204" pitchFamily="18" charset="0"/>
                                  <a:ea typeface="Cambria Math" panose="02040503050406030204" pitchFamily="18" charset="0"/>
                                </a:rPr>
                                <m:t>𝑗</m:t>
                              </m:r>
                            </m:sub>
                          </m:sSub>
                          <m:sSubSup>
                            <m:sSubSupPr>
                              <m:ctrlPr>
                                <a:rPr lang="en-US" sz="1200" i="1">
                                  <a:latin typeface="Cambria Math" panose="02040503050406030204" pitchFamily="18" charset="0"/>
                                  <a:ea typeface="Cambria Math" panose="02040503050406030204" pitchFamily="18" charset="0"/>
                                </a:rPr>
                              </m:ctrlPr>
                            </m:sSubSupPr>
                            <m:e>
                              <m:r>
                                <a:rPr lang="en-US" sz="1200" i="1">
                                  <a:latin typeface="Cambria Math" panose="02040503050406030204" pitchFamily="18" charset="0"/>
                                  <a:ea typeface="Cambria Math" panose="02040503050406030204" pitchFamily="18" charset="0"/>
                                </a:rPr>
                                <m:t>𝜔</m:t>
                              </m:r>
                            </m:e>
                            <m:sub/>
                            <m:sup>
                              <m:r>
                                <a:rPr lang="en-US" sz="1200" i="1">
                                  <a:latin typeface="Cambria Math" panose="02040503050406030204" pitchFamily="18" charset="0"/>
                                  <a:ea typeface="Cambria Math" panose="02040503050406030204" pitchFamily="18" charset="0"/>
                                </a:rPr>
                                <m:t>𝑗𝑘</m:t>
                              </m:r>
                            </m:sup>
                          </m:sSubSup>
                          <m:r>
                            <a:rPr lang="en-US" sz="1200" i="1">
                              <a:latin typeface="Cambria Math" panose="02040503050406030204" pitchFamily="18" charset="0"/>
                              <a:ea typeface="Cambria Math" panose="02040503050406030204" pitchFamily="18" charset="0"/>
                            </a:rPr>
                            <m:t> </m:t>
                          </m:r>
                        </m:e>
                      </m:nary>
                    </m:oMath>
                  </m:oMathPara>
                </a14:m>
                <a:endParaRPr lang="en-ZA" dirty="0"/>
              </a:p>
              <a:p>
                <a:pPr algn="just"/>
                <a:endParaRPr lang="en-ZA" dirty="0"/>
              </a:p>
              <a:p>
                <a:pPr algn="just"/>
                <a:r>
                  <a:rPr lang="en-ZA" dirty="0"/>
                  <a:t>The roots of unity act as phase factors, rotating the input components in the complex plane. Each successive power of </a:t>
                </a:r>
                <a14:m>
                  <m:oMath xmlns:m="http://schemas.openxmlformats.org/officeDocument/2006/math">
                    <m:r>
                      <a:rPr lang="en-US" sz="1200" b="0" i="1" smtClean="0">
                        <a:latin typeface="Cambria Math" panose="02040503050406030204" pitchFamily="18" charset="0"/>
                        <a:ea typeface="Cambria Math" panose="02040503050406030204" pitchFamily="18" charset="0"/>
                      </a:rPr>
                      <m:t>𝜔</m:t>
                    </m:r>
                  </m:oMath>
                </a14:m>
                <a:r>
                  <a:rPr lang="en-ZA" dirty="0"/>
                  <a:t> corresponds to an additional rotation of </a:t>
                </a:r>
                <a14:m>
                  <m:oMath xmlns:m="http://schemas.openxmlformats.org/officeDocument/2006/math">
                    <m:f>
                      <m:fPr>
                        <m:type m:val="lin"/>
                        <m:ctrlPr>
                          <a:rPr lang="en-US" sz="1200" b="0" i="1" smtClean="0">
                            <a:solidFill>
                              <a:schemeClr val="tx1"/>
                            </a:solidFill>
                            <a:latin typeface="Cambria Math" panose="02040503050406030204" pitchFamily="18" charset="0"/>
                            <a:ea typeface="Cambria Math" panose="02040503050406030204" pitchFamily="18" charset="0"/>
                          </a:rPr>
                        </m:ctrlPr>
                      </m:fPr>
                      <m:num>
                        <m:r>
                          <a:rPr lang="en-US" sz="1200" b="0" i="1" smtClean="0">
                            <a:solidFill>
                              <a:schemeClr val="tx1"/>
                            </a:solidFill>
                            <a:latin typeface="Cambria Math" panose="02040503050406030204" pitchFamily="18" charset="0"/>
                            <a:ea typeface="Cambria Math" panose="02040503050406030204" pitchFamily="18" charset="0"/>
                          </a:rPr>
                          <m:t>2</m:t>
                        </m:r>
                        <m:r>
                          <a:rPr lang="en-US" sz="1200" b="0" i="1" smtClean="0">
                            <a:solidFill>
                              <a:schemeClr val="tx1"/>
                            </a:solidFill>
                            <a:latin typeface="Cambria Math" panose="02040503050406030204" pitchFamily="18" charset="0"/>
                            <a:ea typeface="Cambria Math" panose="02040503050406030204" pitchFamily="18" charset="0"/>
                          </a:rPr>
                          <m:t>𝜋</m:t>
                        </m:r>
                      </m:num>
                      <m:den>
                        <m:r>
                          <a:rPr lang="en-US" sz="1200" b="0" i="1" smtClean="0">
                            <a:solidFill>
                              <a:schemeClr val="tx1"/>
                            </a:solidFill>
                            <a:latin typeface="Cambria Math" panose="02040503050406030204" pitchFamily="18" charset="0"/>
                            <a:ea typeface="Cambria Math" panose="02040503050406030204" pitchFamily="18" charset="0"/>
                          </a:rPr>
                          <m:t>𝑁</m:t>
                        </m:r>
                      </m:den>
                    </m:f>
                  </m:oMath>
                </a14:m>
                <a:r>
                  <a:rPr lang="en-ZA" dirty="0"/>
                  <a:t>. As the frequency index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𝑘</m:t>
                    </m:r>
                  </m:oMath>
                </a14:m>
                <a:r>
                  <a:rPr lang="en-ZA" dirty="0"/>
                  <a:t> increases, the phase changes more rapidly with the input index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𝑗</m:t>
                    </m:r>
                  </m:oMath>
                </a14:m>
                <a:r>
                  <a:rPr lang="en-ZA" dirty="0"/>
                  <a:t>, corresponding to higher frequencies.</a:t>
                </a:r>
              </a:p>
              <a:p>
                <a:pPr algn="just"/>
                <a:endParaRPr lang="en-ZA" dirty="0"/>
              </a:p>
              <a:p>
                <a:pPr algn="just"/>
                <a:r>
                  <a:rPr lang="en-ZA" b="0" dirty="0"/>
                  <a:t>For example, </a:t>
                </a:r>
              </a:p>
              <a:p>
                <a:pPr marL="171450" indent="-171450" algn="l">
                  <a:buFont typeface="Arial" panose="020B0604020202020204" pitchFamily="34" charset="0"/>
                  <a:buChar char="•"/>
                </a:pPr>
                <a:r>
                  <a:rPr lang="en-ZA" b="0" dirty="0"/>
                  <a:t>T</a:t>
                </a:r>
                <a:r>
                  <a:rPr lang="en-ZA" b="0" baseline="0" dirty="0"/>
                  <a:t>he first component </a:t>
                </a:r>
                <a14:m>
                  <m:oMath xmlns:m="http://schemas.openxmlformats.org/officeDocument/2006/math">
                    <m:sSub>
                      <m:sSubPr>
                        <m:ctrlPr>
                          <a:rPr lang="en-US" sz="1200" b="0" i="1" smtClean="0">
                            <a:solidFill>
                              <a:srgbClr val="002060"/>
                            </a:solidFill>
                            <a:latin typeface="Cambria Math" panose="02040503050406030204" pitchFamily="18" charset="0"/>
                            <a:ea typeface="Cambria Math" panose="02040503050406030204" pitchFamily="18" charset="0"/>
                          </a:rPr>
                        </m:ctrlPr>
                      </m:sSubPr>
                      <m:e>
                        <m:acc>
                          <m:accPr>
                            <m:chr m:val="̃"/>
                            <m:ctrlPr>
                              <a:rPr lang="en-US" sz="1200" b="0" i="1">
                                <a:solidFill>
                                  <a:srgbClr val="002060"/>
                                </a:solidFill>
                                <a:latin typeface="Cambria Math" panose="02040503050406030204" pitchFamily="18" charset="0"/>
                                <a:ea typeface="Cambria Math" panose="02040503050406030204" pitchFamily="18" charset="0"/>
                              </a:rPr>
                            </m:ctrlPr>
                          </m:accPr>
                          <m:e>
                            <m:r>
                              <a:rPr lang="en-US" sz="1200" b="0" i="1">
                                <a:solidFill>
                                  <a:srgbClr val="002060"/>
                                </a:solidFill>
                                <a:latin typeface="Cambria Math" panose="02040503050406030204" pitchFamily="18" charset="0"/>
                                <a:ea typeface="Cambria Math" panose="02040503050406030204" pitchFamily="18" charset="0"/>
                              </a:rPr>
                              <m:t>𝑥</m:t>
                            </m:r>
                          </m:e>
                        </m:acc>
                      </m:e>
                      <m:sub>
                        <m:r>
                          <a:rPr lang="en-US" sz="1200" b="0" i="1">
                            <a:solidFill>
                              <a:srgbClr val="002060"/>
                            </a:solidFill>
                            <a:latin typeface="Cambria Math" panose="02040503050406030204" pitchFamily="18" charset="0"/>
                            <a:ea typeface="Cambria Math" panose="02040503050406030204" pitchFamily="18" charset="0"/>
                          </a:rPr>
                          <m:t>0</m:t>
                        </m:r>
                      </m:sub>
                    </m:sSub>
                  </m:oMath>
                </a14:m>
                <a:r>
                  <a:rPr lang="en-ZA" b="0" baseline="0" dirty="0"/>
                  <a:t> </a:t>
                </a:r>
                <a:r>
                  <a:rPr lang="en-ZA" b="0" dirty="0"/>
                  <a:t>corresponds to</a:t>
                </a:r>
                <a:r>
                  <a:rPr lang="en-ZA" b="0" baseline="0" dirty="0"/>
                  <a:t>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𝑘</m:t>
                    </m:r>
                    <m:r>
                      <a:rPr lang="en-US" sz="1200" b="0" i="1" smtClean="0">
                        <a:solidFill>
                          <a:srgbClr val="002060"/>
                        </a:solidFill>
                        <a:latin typeface="Cambria Math" panose="02040503050406030204" pitchFamily="18" charset="0"/>
                        <a:ea typeface="Cambria Math" panose="02040503050406030204" pitchFamily="18" charset="0"/>
                      </a:rPr>
                      <m:t>=0</m:t>
                    </m:r>
                  </m:oMath>
                </a14:m>
                <a:r>
                  <a:rPr lang="en-ZA" b="0" baseline="0" dirty="0"/>
                  <a:t>. </a:t>
                </a:r>
                <a:r>
                  <a:rPr lang="en-ZA" b="0" dirty="0"/>
                  <a:t>It is a weighted sum of all components of the original vector, with each component </a:t>
                </a:r>
                <a14:m>
                  <m:oMath xmlns:m="http://schemas.openxmlformats.org/officeDocument/2006/math">
                    <m:sSub>
                      <m:sSubPr>
                        <m:ctrlPr>
                          <a:rPr lang="en-US" sz="1200" b="0" i="1" smtClean="0">
                            <a:solidFill>
                              <a:srgbClr val="002060"/>
                            </a:solidFill>
                            <a:latin typeface="Cambria Math" panose="02040503050406030204" pitchFamily="18" charset="0"/>
                            <a:ea typeface="Cambria Math" panose="02040503050406030204" pitchFamily="18" charset="0"/>
                          </a:rPr>
                        </m:ctrlPr>
                      </m:sSubPr>
                      <m:e>
                        <m:r>
                          <a:rPr lang="en-US" sz="1200" b="0" i="1">
                            <a:solidFill>
                              <a:srgbClr val="002060"/>
                            </a:solidFill>
                            <a:latin typeface="Cambria Math" panose="02040503050406030204" pitchFamily="18" charset="0"/>
                            <a:ea typeface="Cambria Math" panose="02040503050406030204" pitchFamily="18" charset="0"/>
                          </a:rPr>
                          <m:t>𝑥</m:t>
                        </m:r>
                      </m:e>
                      <m:sub>
                        <m:r>
                          <a:rPr lang="en-US" sz="1200" b="0" i="1" smtClean="0">
                            <a:solidFill>
                              <a:srgbClr val="002060"/>
                            </a:solidFill>
                            <a:latin typeface="Cambria Math" panose="02040503050406030204" pitchFamily="18" charset="0"/>
                            <a:ea typeface="Cambria Math" panose="02040503050406030204" pitchFamily="18" charset="0"/>
                          </a:rPr>
                          <m:t>𝑗</m:t>
                        </m:r>
                      </m:sub>
                    </m:sSub>
                  </m:oMath>
                </a14:m>
                <a:r>
                  <a:rPr lang="en-ZA" b="0" dirty="0"/>
                  <a:t> multiplied by</a:t>
                </a:r>
                <a:r>
                  <a:rPr lang="en-ZA" b="0" baseline="0" dirty="0"/>
                  <a:t> </a:t>
                </a:r>
                <a14:m>
                  <m:oMath xmlns:m="http://schemas.openxmlformats.org/officeDocument/2006/math">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𝑒</m:t>
                        </m:r>
                      </m:e>
                      <m:sup>
                        <m:f>
                          <m:fPr>
                            <m:type m:val="lin"/>
                            <m:ctrlPr>
                              <a:rPr lang="en-US" sz="1200" b="0" i="1" smtClean="0">
                                <a:solidFill>
                                  <a:schemeClr val="tx1"/>
                                </a:solidFill>
                                <a:latin typeface="Cambria Math" panose="02040503050406030204" pitchFamily="18" charset="0"/>
                                <a:ea typeface="Cambria Math" panose="02040503050406030204" pitchFamily="18" charset="0"/>
                              </a:rPr>
                            </m:ctrlPr>
                          </m:fPr>
                          <m:num>
                            <m:r>
                              <a:rPr lang="en-US" sz="1200" b="0" i="1" smtClean="0">
                                <a:solidFill>
                                  <a:schemeClr val="tx1"/>
                                </a:solidFill>
                                <a:latin typeface="Cambria Math" panose="02040503050406030204" pitchFamily="18" charset="0"/>
                                <a:ea typeface="Cambria Math" panose="02040503050406030204" pitchFamily="18" charset="0"/>
                              </a:rPr>
                              <m:t>(2</m:t>
                            </m:r>
                            <m:r>
                              <a:rPr lang="en-US" sz="1200" b="0" i="1" smtClean="0">
                                <a:solidFill>
                                  <a:schemeClr val="tx1"/>
                                </a:solidFill>
                                <a:latin typeface="Cambria Math" panose="02040503050406030204" pitchFamily="18" charset="0"/>
                                <a:ea typeface="Cambria Math" panose="02040503050406030204" pitchFamily="18" charset="0"/>
                              </a:rPr>
                              <m:t>𝜋</m:t>
                            </m:r>
                            <m:r>
                              <a:rPr lang="en-US" sz="1200" b="0" i="1" smtClean="0">
                                <a:solidFill>
                                  <a:schemeClr val="tx1"/>
                                </a:solidFill>
                                <a:latin typeface="Cambria Math" panose="02040503050406030204" pitchFamily="18" charset="0"/>
                                <a:ea typeface="Cambria Math" panose="02040503050406030204" pitchFamily="18" charset="0"/>
                              </a:rPr>
                              <m:t>𝑖</m:t>
                            </m:r>
                          </m:num>
                          <m:den>
                            <m:r>
                              <a:rPr lang="en-US" sz="1200" b="0" i="1" smtClean="0">
                                <a:solidFill>
                                  <a:schemeClr val="tx1"/>
                                </a:solidFill>
                                <a:latin typeface="Cambria Math" panose="02040503050406030204" pitchFamily="18" charset="0"/>
                                <a:ea typeface="Cambria Math" panose="02040503050406030204" pitchFamily="18" charset="0"/>
                              </a:rPr>
                              <m:t>𝑁</m:t>
                            </m:r>
                            <m:r>
                              <a:rPr lang="en-US" sz="1200" b="0" i="1" smtClean="0">
                                <a:solidFill>
                                  <a:schemeClr val="tx1"/>
                                </a:solidFill>
                                <a:latin typeface="Cambria Math" panose="02040503050406030204" pitchFamily="18" charset="0"/>
                                <a:ea typeface="Cambria Math" panose="02040503050406030204" pitchFamily="18" charset="0"/>
                              </a:rPr>
                              <m:t>) </m:t>
                            </m:r>
                            <m:r>
                              <a:rPr lang="en-US" sz="1200" b="0" i="1" smtClean="0">
                                <a:solidFill>
                                  <a:schemeClr val="tx1"/>
                                </a:solidFill>
                                <a:latin typeface="Cambria Math" panose="02040503050406030204" pitchFamily="18" charset="0"/>
                                <a:ea typeface="Cambria Math" panose="02040503050406030204" pitchFamily="18" charset="0"/>
                              </a:rPr>
                              <m:t>𝑗𝑘</m:t>
                            </m:r>
                          </m:den>
                        </m:f>
                      </m:sup>
                    </m:sSup>
                  </m:oMath>
                </a14:m>
                <a:r>
                  <a:rPr lang="en-ZA" b="0" dirty="0"/>
                  <a:t>, where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𝑗</m:t>
                    </m:r>
                  </m:oMath>
                </a14:m>
                <a:r>
                  <a:rPr lang="en-ZA" b="0" dirty="0"/>
                  <a:t> is</a:t>
                </a:r>
                <a:r>
                  <a:rPr lang="en-ZA" b="0" baseline="0" dirty="0"/>
                  <a:t> the index of the component. Since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𝑘</m:t>
                    </m:r>
                    <m:r>
                      <a:rPr lang="en-US" sz="1200" b="0" i="1" smtClean="0">
                        <a:solidFill>
                          <a:srgbClr val="002060"/>
                        </a:solidFill>
                        <a:latin typeface="Cambria Math" panose="02040503050406030204" pitchFamily="18" charset="0"/>
                        <a:ea typeface="Cambria Math" panose="02040503050406030204" pitchFamily="18" charset="0"/>
                      </a:rPr>
                      <m:t>=0</m:t>
                    </m:r>
                  </m:oMath>
                </a14:m>
                <a:r>
                  <a:rPr lang="en-ZA" b="0" dirty="0"/>
                  <a:t>, </a:t>
                </a:r>
                <a:r>
                  <a:rPr lang="en-ZA" dirty="0"/>
                  <a:t>the exponential term becomes </a:t>
                </a:r>
                <a14:m>
                  <m:oMath xmlns:m="http://schemas.openxmlformats.org/officeDocument/2006/math">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𝑒</m:t>
                        </m:r>
                      </m:e>
                      <m:sup>
                        <m:f>
                          <m:fPr>
                            <m:type m:val="lin"/>
                            <m:ctrlPr>
                              <a:rPr lang="en-US" sz="1200" b="0" i="1" smtClean="0">
                                <a:solidFill>
                                  <a:schemeClr val="tx1"/>
                                </a:solidFill>
                                <a:latin typeface="Cambria Math" panose="02040503050406030204" pitchFamily="18" charset="0"/>
                                <a:ea typeface="Cambria Math" panose="02040503050406030204" pitchFamily="18" charset="0"/>
                              </a:rPr>
                            </m:ctrlPr>
                          </m:fPr>
                          <m:num>
                            <m:r>
                              <a:rPr lang="en-US" sz="1200" b="0" i="1" smtClean="0">
                                <a:solidFill>
                                  <a:schemeClr val="tx1"/>
                                </a:solidFill>
                                <a:latin typeface="Cambria Math" panose="02040503050406030204" pitchFamily="18" charset="0"/>
                                <a:ea typeface="Cambria Math" panose="02040503050406030204" pitchFamily="18" charset="0"/>
                              </a:rPr>
                              <m:t>(2</m:t>
                            </m:r>
                            <m:r>
                              <a:rPr lang="en-US" sz="1200" b="0" i="1" smtClean="0">
                                <a:solidFill>
                                  <a:schemeClr val="tx1"/>
                                </a:solidFill>
                                <a:latin typeface="Cambria Math" panose="02040503050406030204" pitchFamily="18" charset="0"/>
                                <a:ea typeface="Cambria Math" panose="02040503050406030204" pitchFamily="18" charset="0"/>
                              </a:rPr>
                              <m:t>𝜋</m:t>
                            </m:r>
                            <m:r>
                              <a:rPr lang="en-US" sz="1200" b="0" i="1" smtClean="0">
                                <a:solidFill>
                                  <a:schemeClr val="tx1"/>
                                </a:solidFill>
                                <a:latin typeface="Cambria Math" panose="02040503050406030204" pitchFamily="18" charset="0"/>
                                <a:ea typeface="Cambria Math" panose="02040503050406030204" pitchFamily="18" charset="0"/>
                              </a:rPr>
                              <m:t>𝑖</m:t>
                            </m:r>
                          </m:num>
                          <m:den>
                            <m:r>
                              <a:rPr lang="en-US" sz="1200" b="0" i="1" smtClean="0">
                                <a:solidFill>
                                  <a:schemeClr val="tx1"/>
                                </a:solidFill>
                                <a:latin typeface="Cambria Math" panose="02040503050406030204" pitchFamily="18" charset="0"/>
                                <a:ea typeface="Cambria Math" panose="02040503050406030204" pitchFamily="18" charset="0"/>
                              </a:rPr>
                              <m:t>𝑁</m:t>
                            </m:r>
                            <m:r>
                              <a:rPr lang="en-US" sz="1200" b="0" i="1" smtClean="0">
                                <a:solidFill>
                                  <a:schemeClr val="tx1"/>
                                </a:solidFill>
                                <a:latin typeface="Cambria Math" panose="02040503050406030204" pitchFamily="18" charset="0"/>
                                <a:ea typeface="Cambria Math" panose="02040503050406030204" pitchFamily="18" charset="0"/>
                              </a:rPr>
                              <m:t>) </m:t>
                            </m:r>
                            <m:r>
                              <a:rPr lang="en-US" sz="1200" b="0" i="1" smtClean="0">
                                <a:solidFill>
                                  <a:schemeClr val="tx1"/>
                                </a:solidFill>
                                <a:latin typeface="Cambria Math" panose="02040503050406030204" pitchFamily="18" charset="0"/>
                                <a:ea typeface="Cambria Math" panose="02040503050406030204" pitchFamily="18" charset="0"/>
                              </a:rPr>
                              <m:t>𝑗</m:t>
                            </m:r>
                            <m:r>
                              <a:rPr lang="en-US" sz="1200" b="0" i="1" smtClean="0">
                                <a:solidFill>
                                  <a:schemeClr val="tx1"/>
                                </a:solidFill>
                                <a:latin typeface="Cambria Math" panose="02040503050406030204" pitchFamily="18" charset="0"/>
                                <a:ea typeface="Cambria Math" panose="02040503050406030204" pitchFamily="18" charset="0"/>
                              </a:rPr>
                              <m:t>∙0</m:t>
                            </m:r>
                          </m:den>
                        </m:f>
                      </m:sup>
                    </m:sSup>
                    <m:r>
                      <a:rPr lang="en-US" sz="1200" b="0" i="1" smtClean="0">
                        <a:solidFill>
                          <a:schemeClr val="tx1"/>
                        </a:solidFill>
                        <a:latin typeface="Cambria Math" panose="02040503050406030204" pitchFamily="18" charset="0"/>
                        <a:ea typeface="Cambria Math" panose="02040503050406030204" pitchFamily="18" charset="0"/>
                      </a:rPr>
                      <m:t>=1</m:t>
                    </m:r>
                  </m:oMath>
                </a14:m>
                <a:r>
                  <a:rPr lang="en-ZA" dirty="0"/>
                  <a:t> for every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𝑗</m:t>
                    </m:r>
                  </m:oMath>
                </a14:m>
                <a:r>
                  <a:rPr lang="en-ZA" dirty="0"/>
                  <a:t>.</a:t>
                </a:r>
                <a:r>
                  <a:rPr lang="en-ZA" b="0" baseline="0" dirty="0"/>
                  <a:t> Therefore, </a:t>
                </a:r>
                <a14:m>
                  <m:oMath xmlns:m="http://schemas.openxmlformats.org/officeDocument/2006/math">
                    <m:sSub>
                      <m:sSubPr>
                        <m:ctrlPr>
                          <a:rPr lang="en-US" sz="1200" b="0" i="1" smtClean="0">
                            <a:solidFill>
                              <a:srgbClr val="002060"/>
                            </a:solidFill>
                            <a:latin typeface="Cambria Math" panose="02040503050406030204" pitchFamily="18" charset="0"/>
                            <a:ea typeface="Cambria Math" panose="02040503050406030204" pitchFamily="18" charset="0"/>
                          </a:rPr>
                        </m:ctrlPr>
                      </m:sSubPr>
                      <m:e>
                        <m:acc>
                          <m:accPr>
                            <m:chr m:val="̃"/>
                            <m:ctrlPr>
                              <a:rPr lang="en-US" sz="1200" b="0" i="1">
                                <a:solidFill>
                                  <a:srgbClr val="002060"/>
                                </a:solidFill>
                                <a:latin typeface="Cambria Math" panose="02040503050406030204" pitchFamily="18" charset="0"/>
                                <a:ea typeface="Cambria Math" panose="02040503050406030204" pitchFamily="18" charset="0"/>
                              </a:rPr>
                            </m:ctrlPr>
                          </m:accPr>
                          <m:e>
                            <m:r>
                              <a:rPr lang="en-US" sz="1200" b="0" i="1">
                                <a:solidFill>
                                  <a:srgbClr val="002060"/>
                                </a:solidFill>
                                <a:latin typeface="Cambria Math" panose="02040503050406030204" pitchFamily="18" charset="0"/>
                                <a:ea typeface="Cambria Math" panose="02040503050406030204" pitchFamily="18" charset="0"/>
                              </a:rPr>
                              <m:t>𝑥</m:t>
                            </m:r>
                          </m:e>
                        </m:acc>
                      </m:e>
                      <m:sub>
                        <m:r>
                          <a:rPr lang="en-US" sz="1200" b="0" i="1">
                            <a:solidFill>
                              <a:srgbClr val="002060"/>
                            </a:solidFill>
                            <a:latin typeface="Cambria Math" panose="02040503050406030204" pitchFamily="18" charset="0"/>
                            <a:ea typeface="Cambria Math" panose="02040503050406030204" pitchFamily="18" charset="0"/>
                          </a:rPr>
                          <m:t>0</m:t>
                        </m:r>
                      </m:sub>
                    </m:sSub>
                    <m:r>
                      <a:rPr lang="en-US" sz="1200" b="0" i="0" smtClean="0">
                        <a:solidFill>
                          <a:srgbClr val="002060"/>
                        </a:solidFill>
                        <a:latin typeface="Cambria Math" panose="02040503050406030204" pitchFamily="18" charset="0"/>
                        <a:ea typeface="Cambria Math" panose="02040503050406030204" pitchFamily="18" charset="0"/>
                      </a:rPr>
                      <m:t>=</m:t>
                    </m:r>
                    <m:sSub>
                      <m:sSubPr>
                        <m:ctrlPr>
                          <a:rPr lang="en-US" sz="1200" b="0" i="1" smtClean="0">
                            <a:solidFill>
                              <a:srgbClr val="002060"/>
                            </a:solidFill>
                            <a:latin typeface="Cambria Math" panose="02040503050406030204" pitchFamily="18" charset="0"/>
                            <a:ea typeface="Cambria Math" panose="02040503050406030204" pitchFamily="18" charset="0"/>
                          </a:rPr>
                        </m:ctrlPr>
                      </m:sSubPr>
                      <m:e>
                        <m:r>
                          <a:rPr lang="en-US" sz="1200" b="0" i="1">
                            <a:solidFill>
                              <a:srgbClr val="002060"/>
                            </a:solidFill>
                            <a:latin typeface="Cambria Math" panose="02040503050406030204" pitchFamily="18" charset="0"/>
                            <a:ea typeface="Cambria Math" panose="02040503050406030204" pitchFamily="18" charset="0"/>
                          </a:rPr>
                          <m:t>𝑥</m:t>
                        </m:r>
                      </m:e>
                      <m:sub>
                        <m:r>
                          <a:rPr lang="en-US" sz="1200" b="0" i="1">
                            <a:solidFill>
                              <a:srgbClr val="002060"/>
                            </a:solidFill>
                            <a:latin typeface="Cambria Math" panose="02040503050406030204" pitchFamily="18" charset="0"/>
                            <a:ea typeface="Cambria Math" panose="02040503050406030204" pitchFamily="18" charset="0"/>
                          </a:rPr>
                          <m:t>0</m:t>
                        </m:r>
                      </m:sub>
                    </m:sSub>
                    <m:r>
                      <a:rPr lang="en-US" sz="1200" b="0" i="0" smtClean="0">
                        <a:solidFill>
                          <a:srgbClr val="002060"/>
                        </a:solidFill>
                        <a:latin typeface="Cambria Math" panose="02040503050406030204" pitchFamily="18" charset="0"/>
                        <a:ea typeface="Cambria Math" panose="02040503050406030204" pitchFamily="18" charset="0"/>
                      </a:rPr>
                      <m:t>+</m:t>
                    </m:r>
                    <m:sSub>
                      <m:sSubPr>
                        <m:ctrlPr>
                          <a:rPr lang="en-US" sz="1200" b="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m:t>
                        </m:r>
                        <m:r>
                          <a:rPr lang="en-US" sz="1200" b="0" i="1">
                            <a:solidFill>
                              <a:srgbClr val="002060"/>
                            </a:solidFill>
                            <a:latin typeface="Cambria Math" panose="02040503050406030204" pitchFamily="18" charset="0"/>
                            <a:ea typeface="Cambria Math" panose="02040503050406030204" pitchFamily="18" charset="0"/>
                          </a:rPr>
                          <m:t>𝑥</m:t>
                        </m:r>
                      </m:e>
                      <m:sub>
                        <m:r>
                          <a:rPr lang="en-US" sz="1200" b="0" i="1" smtClean="0">
                            <a:solidFill>
                              <a:srgbClr val="002060"/>
                            </a:solidFill>
                            <a:latin typeface="Cambria Math" panose="02040503050406030204" pitchFamily="18" charset="0"/>
                            <a:ea typeface="Cambria Math" panose="02040503050406030204" pitchFamily="18" charset="0"/>
                          </a:rPr>
                          <m:t>𝑁</m:t>
                        </m:r>
                        <m:r>
                          <a:rPr lang="en-US" sz="1200" b="0" i="1" smtClean="0">
                            <a:solidFill>
                              <a:srgbClr val="002060"/>
                            </a:solidFill>
                            <a:latin typeface="Cambria Math" panose="02040503050406030204" pitchFamily="18" charset="0"/>
                            <a:ea typeface="Cambria Math" panose="02040503050406030204" pitchFamily="18" charset="0"/>
                          </a:rPr>
                          <m:t>−1</m:t>
                        </m:r>
                      </m:sub>
                    </m:sSub>
                  </m:oMath>
                </a14:m>
                <a:r>
                  <a:rPr lang="en-ZA" b="0" dirty="0"/>
                  <a:t>. </a:t>
                </a:r>
                <a:r>
                  <a:rPr lang="en-ZA" dirty="0"/>
                  <a:t>So, </a:t>
                </a:r>
                <a14:m>
                  <m:oMath xmlns:m="http://schemas.openxmlformats.org/officeDocument/2006/math">
                    <m:sSub>
                      <m:sSubPr>
                        <m:ctrlPr>
                          <a:rPr lang="en-US" sz="1200" b="0" i="1" smtClean="0">
                            <a:solidFill>
                              <a:srgbClr val="002060"/>
                            </a:solidFill>
                            <a:latin typeface="Cambria Math" panose="02040503050406030204" pitchFamily="18" charset="0"/>
                            <a:ea typeface="Cambria Math" panose="02040503050406030204" pitchFamily="18" charset="0"/>
                          </a:rPr>
                        </m:ctrlPr>
                      </m:sSubPr>
                      <m:e>
                        <m:acc>
                          <m:accPr>
                            <m:chr m:val="̃"/>
                            <m:ctrlPr>
                              <a:rPr lang="en-US" sz="1200" b="0" i="1">
                                <a:solidFill>
                                  <a:srgbClr val="002060"/>
                                </a:solidFill>
                                <a:latin typeface="Cambria Math" panose="02040503050406030204" pitchFamily="18" charset="0"/>
                                <a:ea typeface="Cambria Math" panose="02040503050406030204" pitchFamily="18" charset="0"/>
                              </a:rPr>
                            </m:ctrlPr>
                          </m:accPr>
                          <m:e>
                            <m:r>
                              <a:rPr lang="en-US" sz="1200" b="0" i="1">
                                <a:solidFill>
                                  <a:srgbClr val="002060"/>
                                </a:solidFill>
                                <a:latin typeface="Cambria Math" panose="02040503050406030204" pitchFamily="18" charset="0"/>
                                <a:ea typeface="Cambria Math" panose="02040503050406030204" pitchFamily="18" charset="0"/>
                              </a:rPr>
                              <m:t>𝑥</m:t>
                            </m:r>
                          </m:e>
                        </m:acc>
                      </m:e>
                      <m:sub>
                        <m:r>
                          <a:rPr lang="en-US" sz="1200" b="0" i="1">
                            <a:solidFill>
                              <a:srgbClr val="002060"/>
                            </a:solidFill>
                            <a:latin typeface="Cambria Math" panose="02040503050406030204" pitchFamily="18" charset="0"/>
                            <a:ea typeface="Cambria Math" panose="02040503050406030204" pitchFamily="18" charset="0"/>
                          </a:rPr>
                          <m:t>0</m:t>
                        </m:r>
                      </m:sub>
                    </m:sSub>
                  </m:oMath>
                </a14:m>
                <a:r>
                  <a:rPr lang="en-ZA" dirty="0"/>
                  <a:t>​ is simply the sum of all components of the original vector.</a:t>
                </a:r>
                <a:endParaRPr lang="en-ZA" b="0" dirty="0"/>
              </a:p>
              <a:p>
                <a:pPr marL="171450" indent="-171450" algn="l">
                  <a:buFont typeface="Arial" panose="020B0604020202020204" pitchFamily="34" charset="0"/>
                  <a:buChar char="•"/>
                </a:pPr>
                <a:endParaRPr lang="en-ZA" b="0" dirty="0"/>
              </a:p>
              <a:p>
                <a:pPr marL="171450" indent="-171450" algn="l">
                  <a:buFont typeface="Arial" panose="020B0604020202020204" pitchFamily="34" charset="0"/>
                  <a:buChar char="•"/>
                </a:pPr>
                <a:r>
                  <a:rPr lang="en-ZA" b="0" dirty="0"/>
                  <a:t>The second component, </a:t>
                </a:r>
                <a14:m>
                  <m:oMath xmlns:m="http://schemas.openxmlformats.org/officeDocument/2006/math">
                    <m:sSub>
                      <m:sSubPr>
                        <m:ctrlPr>
                          <a:rPr lang="en-US" sz="1200" i="1" smtClean="0">
                            <a:solidFill>
                              <a:srgbClr val="002060"/>
                            </a:solidFill>
                            <a:latin typeface="Cambria Math" panose="02040503050406030204" pitchFamily="18" charset="0"/>
                            <a:ea typeface="Cambria Math" panose="02040503050406030204" pitchFamily="18" charset="0"/>
                          </a:rPr>
                        </m:ctrlPr>
                      </m:sSubPr>
                      <m:e>
                        <m:acc>
                          <m:accPr>
                            <m:chr m:val="̃"/>
                            <m:ctrlPr>
                              <a:rPr lang="en-US" sz="1200" i="1">
                                <a:solidFill>
                                  <a:srgbClr val="002060"/>
                                </a:solidFill>
                                <a:latin typeface="Cambria Math" panose="02040503050406030204" pitchFamily="18" charset="0"/>
                                <a:ea typeface="Cambria Math" panose="02040503050406030204" pitchFamily="18" charset="0"/>
                              </a:rPr>
                            </m:ctrlPr>
                          </m:accPr>
                          <m:e>
                            <m:r>
                              <a:rPr lang="en-US" sz="1200" i="1">
                                <a:solidFill>
                                  <a:srgbClr val="002060"/>
                                </a:solidFill>
                                <a:latin typeface="Cambria Math" panose="02040503050406030204" pitchFamily="18" charset="0"/>
                                <a:ea typeface="Cambria Math" panose="02040503050406030204" pitchFamily="18" charset="0"/>
                              </a:rPr>
                              <m:t>𝑥</m:t>
                            </m:r>
                          </m:e>
                        </m:acc>
                      </m:e>
                      <m:sub>
                        <m:r>
                          <a:rPr lang="en-US" sz="1200" b="0" i="1" smtClean="0">
                            <a:solidFill>
                              <a:srgbClr val="002060"/>
                            </a:solidFill>
                            <a:latin typeface="Cambria Math" panose="02040503050406030204" pitchFamily="18" charset="0"/>
                            <a:ea typeface="Cambria Math" panose="02040503050406030204" pitchFamily="18" charset="0"/>
                          </a:rPr>
                          <m:t>1</m:t>
                        </m:r>
                      </m:sub>
                    </m:sSub>
                  </m:oMath>
                </a14:m>
                <a:r>
                  <a:rPr lang="en-ZA" b="0" baseline="0" dirty="0"/>
                  <a:t> </a:t>
                </a:r>
                <a:r>
                  <a:rPr lang="en-ZA" dirty="0"/>
                  <a:t>corresponds to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𝑘</m:t>
                    </m:r>
                    <m:r>
                      <a:rPr lang="en-US" sz="1200" b="0" i="1" smtClean="0">
                        <a:solidFill>
                          <a:srgbClr val="002060"/>
                        </a:solidFill>
                        <a:latin typeface="Cambria Math" panose="02040503050406030204" pitchFamily="18" charset="0"/>
                        <a:ea typeface="Cambria Math" panose="02040503050406030204" pitchFamily="18" charset="0"/>
                      </a:rPr>
                      <m:t>=1</m:t>
                    </m:r>
                  </m:oMath>
                </a14:m>
                <a:r>
                  <a:rPr lang="en-ZA" b="0" baseline="0" dirty="0"/>
                  <a:t>. </a:t>
                </a:r>
                <a:r>
                  <a:rPr lang="en-ZA" dirty="0"/>
                  <a:t>Again, it is a weighted sum of all components of the original vector, but now the weights are </a:t>
                </a:r>
                <a14:m>
                  <m:oMath xmlns:m="http://schemas.openxmlformats.org/officeDocument/2006/math">
                    <m:r>
                      <a:rPr lang="en-US" sz="1200" b="0" i="0" smtClean="0">
                        <a:solidFill>
                          <a:schemeClr val="tx1"/>
                        </a:solidFill>
                        <a:latin typeface="Cambria Math" panose="02040503050406030204" pitchFamily="18" charset="0"/>
                        <a:ea typeface="Cambria Math" panose="02040503050406030204" pitchFamily="18" charset="0"/>
                      </a:rPr>
                      <m:t>1, </m:t>
                    </m:r>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𝑒</m:t>
                        </m:r>
                      </m:e>
                      <m:sup>
                        <m:f>
                          <m:fPr>
                            <m:type m:val="lin"/>
                            <m:ctrlPr>
                              <a:rPr lang="en-US" sz="1200" b="0" i="1" smtClean="0">
                                <a:solidFill>
                                  <a:schemeClr val="tx1"/>
                                </a:solidFill>
                                <a:latin typeface="Cambria Math" panose="02040503050406030204" pitchFamily="18" charset="0"/>
                                <a:ea typeface="Cambria Math" panose="02040503050406030204" pitchFamily="18" charset="0"/>
                              </a:rPr>
                            </m:ctrlPr>
                          </m:fPr>
                          <m:num>
                            <m:r>
                              <a:rPr lang="en-US" sz="1200" b="0" i="1" smtClean="0">
                                <a:solidFill>
                                  <a:schemeClr val="tx1"/>
                                </a:solidFill>
                                <a:latin typeface="Cambria Math" panose="02040503050406030204" pitchFamily="18" charset="0"/>
                                <a:ea typeface="Cambria Math" panose="02040503050406030204" pitchFamily="18" charset="0"/>
                              </a:rPr>
                              <m:t>(2</m:t>
                            </m:r>
                            <m:r>
                              <a:rPr lang="en-US" sz="1200" b="0" i="1" smtClean="0">
                                <a:solidFill>
                                  <a:schemeClr val="tx1"/>
                                </a:solidFill>
                                <a:latin typeface="Cambria Math" panose="02040503050406030204" pitchFamily="18" charset="0"/>
                                <a:ea typeface="Cambria Math" panose="02040503050406030204" pitchFamily="18" charset="0"/>
                              </a:rPr>
                              <m:t>𝜋</m:t>
                            </m:r>
                            <m:r>
                              <a:rPr lang="en-US" sz="1200" b="0" i="1" smtClean="0">
                                <a:solidFill>
                                  <a:schemeClr val="tx1"/>
                                </a:solidFill>
                                <a:latin typeface="Cambria Math" panose="02040503050406030204" pitchFamily="18" charset="0"/>
                                <a:ea typeface="Cambria Math" panose="02040503050406030204" pitchFamily="18" charset="0"/>
                              </a:rPr>
                              <m:t>𝑖</m:t>
                            </m:r>
                          </m:num>
                          <m:den>
                            <m:r>
                              <a:rPr lang="en-US" sz="1200" b="0" i="1" smtClean="0">
                                <a:solidFill>
                                  <a:schemeClr val="tx1"/>
                                </a:solidFill>
                                <a:latin typeface="Cambria Math" panose="02040503050406030204" pitchFamily="18" charset="0"/>
                                <a:ea typeface="Cambria Math" panose="02040503050406030204" pitchFamily="18" charset="0"/>
                              </a:rPr>
                              <m:t>𝑁</m:t>
                            </m:r>
                            <m:r>
                              <a:rPr lang="en-US" sz="1200" b="0" i="1" smtClean="0">
                                <a:solidFill>
                                  <a:schemeClr val="tx1"/>
                                </a:solidFill>
                                <a:latin typeface="Cambria Math" panose="02040503050406030204" pitchFamily="18" charset="0"/>
                                <a:ea typeface="Cambria Math" panose="02040503050406030204" pitchFamily="18" charset="0"/>
                              </a:rPr>
                              <m:t>) </m:t>
                            </m:r>
                          </m:den>
                        </m:f>
                      </m:sup>
                    </m:sSup>
                    <m:r>
                      <a:rPr lang="en-US" sz="1200" b="0" i="1" smtClean="0">
                        <a:solidFill>
                          <a:schemeClr val="tx1"/>
                        </a:solidFill>
                        <a:latin typeface="Cambria Math" panose="02040503050406030204" pitchFamily="18" charset="0"/>
                        <a:ea typeface="Cambria Math" panose="02040503050406030204" pitchFamily="18" charset="0"/>
                      </a:rPr>
                      <m:t>,</m:t>
                    </m:r>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𝑒</m:t>
                        </m:r>
                      </m:e>
                      <m:sup>
                        <m:r>
                          <a:rPr lang="en-US" sz="1200" b="0" i="1" smtClean="0">
                            <a:solidFill>
                              <a:schemeClr val="tx1"/>
                            </a:solidFill>
                            <a:latin typeface="Cambria Math" panose="02040503050406030204" pitchFamily="18" charset="0"/>
                            <a:ea typeface="Cambria Math" panose="02040503050406030204" pitchFamily="18" charset="0"/>
                          </a:rPr>
                          <m:t>2</m:t>
                        </m:r>
                        <m:f>
                          <m:fPr>
                            <m:type m:val="lin"/>
                            <m:ctrlPr>
                              <a:rPr lang="en-US" sz="1200" b="0" i="1" smtClean="0">
                                <a:solidFill>
                                  <a:schemeClr val="tx1"/>
                                </a:solidFill>
                                <a:latin typeface="Cambria Math" panose="02040503050406030204" pitchFamily="18" charset="0"/>
                                <a:ea typeface="Cambria Math" panose="02040503050406030204" pitchFamily="18" charset="0"/>
                              </a:rPr>
                            </m:ctrlPr>
                          </m:fPr>
                          <m:num>
                            <m:r>
                              <a:rPr lang="en-US" sz="1200" b="0" i="1" smtClean="0">
                                <a:solidFill>
                                  <a:schemeClr val="tx1"/>
                                </a:solidFill>
                                <a:latin typeface="Cambria Math" panose="02040503050406030204" pitchFamily="18" charset="0"/>
                                <a:ea typeface="Cambria Math" panose="02040503050406030204" pitchFamily="18" charset="0"/>
                              </a:rPr>
                              <m:t>(2</m:t>
                            </m:r>
                            <m:r>
                              <a:rPr lang="en-US" sz="1200" b="0" i="1" smtClean="0">
                                <a:solidFill>
                                  <a:schemeClr val="tx1"/>
                                </a:solidFill>
                                <a:latin typeface="Cambria Math" panose="02040503050406030204" pitchFamily="18" charset="0"/>
                                <a:ea typeface="Cambria Math" panose="02040503050406030204" pitchFamily="18" charset="0"/>
                              </a:rPr>
                              <m:t>𝜋</m:t>
                            </m:r>
                            <m:r>
                              <a:rPr lang="en-US" sz="1200" b="0" i="1" smtClean="0">
                                <a:solidFill>
                                  <a:schemeClr val="tx1"/>
                                </a:solidFill>
                                <a:latin typeface="Cambria Math" panose="02040503050406030204" pitchFamily="18" charset="0"/>
                                <a:ea typeface="Cambria Math" panose="02040503050406030204" pitchFamily="18" charset="0"/>
                              </a:rPr>
                              <m:t>𝑖</m:t>
                            </m:r>
                          </m:num>
                          <m:den>
                            <m:r>
                              <a:rPr lang="en-US" sz="1200" b="0" i="1" smtClean="0">
                                <a:solidFill>
                                  <a:schemeClr val="tx1"/>
                                </a:solidFill>
                                <a:latin typeface="Cambria Math" panose="02040503050406030204" pitchFamily="18" charset="0"/>
                                <a:ea typeface="Cambria Math" panose="02040503050406030204" pitchFamily="18" charset="0"/>
                              </a:rPr>
                              <m:t>𝑁</m:t>
                            </m:r>
                            <m:r>
                              <a:rPr lang="en-US" sz="1200" b="0" i="1" smtClean="0">
                                <a:solidFill>
                                  <a:schemeClr val="tx1"/>
                                </a:solidFill>
                                <a:latin typeface="Cambria Math" panose="02040503050406030204" pitchFamily="18" charset="0"/>
                                <a:ea typeface="Cambria Math" panose="02040503050406030204" pitchFamily="18" charset="0"/>
                              </a:rPr>
                              <m:t>) </m:t>
                            </m:r>
                          </m:den>
                        </m:f>
                      </m:sup>
                    </m:sSup>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m:t>
                    </m:r>
                  </m:oMath>
                </a14:m>
                <a:r>
                  <a:rPr lang="en-ZA" b="0" baseline="0" dirty="0"/>
                  <a:t> </a:t>
                </a:r>
                <a:r>
                  <a:rPr lang="en-ZA" dirty="0"/>
                  <a:t>Thus, </a:t>
                </a:r>
                <a14:m>
                  <m:oMath xmlns:m="http://schemas.openxmlformats.org/officeDocument/2006/math">
                    <m:sSub>
                      <m:sSubPr>
                        <m:ctrlPr>
                          <a:rPr lang="en-US" sz="1200" b="0" i="1" smtClean="0">
                            <a:solidFill>
                              <a:srgbClr val="002060"/>
                            </a:solidFill>
                            <a:latin typeface="Cambria Math" panose="02040503050406030204" pitchFamily="18" charset="0"/>
                            <a:ea typeface="Cambria Math" panose="02040503050406030204" pitchFamily="18" charset="0"/>
                          </a:rPr>
                        </m:ctrlPr>
                      </m:sSubPr>
                      <m:e>
                        <m:acc>
                          <m:accPr>
                            <m:chr m:val="̃"/>
                            <m:ctrlPr>
                              <a:rPr lang="en-US" sz="1200" b="0" i="1">
                                <a:solidFill>
                                  <a:srgbClr val="002060"/>
                                </a:solidFill>
                                <a:latin typeface="Cambria Math" panose="02040503050406030204" pitchFamily="18" charset="0"/>
                                <a:ea typeface="Cambria Math" panose="02040503050406030204" pitchFamily="18" charset="0"/>
                              </a:rPr>
                            </m:ctrlPr>
                          </m:accPr>
                          <m:e>
                            <m:r>
                              <a:rPr lang="en-US" sz="1200" b="0" i="1">
                                <a:solidFill>
                                  <a:srgbClr val="002060"/>
                                </a:solidFill>
                                <a:latin typeface="Cambria Math" panose="02040503050406030204" pitchFamily="18" charset="0"/>
                                <a:ea typeface="Cambria Math" panose="02040503050406030204" pitchFamily="18" charset="0"/>
                              </a:rPr>
                              <m:t>𝑥</m:t>
                            </m:r>
                          </m:e>
                        </m:acc>
                      </m:e>
                      <m:sub>
                        <m:r>
                          <a:rPr lang="en-US" sz="1200" b="0" i="1" smtClean="0">
                            <a:solidFill>
                              <a:srgbClr val="002060"/>
                            </a:solidFill>
                            <a:latin typeface="Cambria Math" panose="02040503050406030204" pitchFamily="18" charset="0"/>
                            <a:ea typeface="Cambria Math" panose="02040503050406030204" pitchFamily="18" charset="0"/>
                          </a:rPr>
                          <m:t>1</m:t>
                        </m:r>
                      </m:sub>
                    </m:sSub>
                    <m:r>
                      <a:rPr lang="en-US" sz="1200" b="0" i="0" smtClean="0">
                        <a:solidFill>
                          <a:srgbClr val="002060"/>
                        </a:solidFill>
                        <a:latin typeface="Cambria Math" panose="02040503050406030204" pitchFamily="18" charset="0"/>
                        <a:ea typeface="Cambria Math" panose="02040503050406030204" pitchFamily="18" charset="0"/>
                      </a:rPr>
                      <m:t>=</m:t>
                    </m:r>
                    <m:sSub>
                      <m:sSubPr>
                        <m:ctrlPr>
                          <a:rPr lang="en-US" sz="1200" b="0" i="1" smtClean="0">
                            <a:solidFill>
                              <a:srgbClr val="002060"/>
                            </a:solidFill>
                            <a:latin typeface="Cambria Math" panose="02040503050406030204" pitchFamily="18" charset="0"/>
                            <a:ea typeface="Cambria Math" panose="02040503050406030204" pitchFamily="18" charset="0"/>
                          </a:rPr>
                        </m:ctrlPr>
                      </m:sSubPr>
                      <m:e>
                        <m:r>
                          <a:rPr lang="en-US" sz="1200" b="0" i="1">
                            <a:solidFill>
                              <a:srgbClr val="002060"/>
                            </a:solidFill>
                            <a:latin typeface="Cambria Math" panose="02040503050406030204" pitchFamily="18" charset="0"/>
                            <a:ea typeface="Cambria Math" panose="02040503050406030204" pitchFamily="18" charset="0"/>
                          </a:rPr>
                          <m:t>𝑥</m:t>
                        </m:r>
                      </m:e>
                      <m:sub>
                        <m:r>
                          <a:rPr lang="en-US" sz="1200" b="0" i="1">
                            <a:solidFill>
                              <a:srgbClr val="002060"/>
                            </a:solidFill>
                            <a:latin typeface="Cambria Math" panose="02040503050406030204" pitchFamily="18" charset="0"/>
                            <a:ea typeface="Cambria Math" panose="02040503050406030204" pitchFamily="18" charset="0"/>
                          </a:rPr>
                          <m:t>0</m:t>
                        </m:r>
                      </m:sub>
                    </m:sSub>
                    <m:r>
                      <a:rPr lang="en-US" sz="1200" b="0" i="0" smtClean="0">
                        <a:solidFill>
                          <a:srgbClr val="002060"/>
                        </a:solidFill>
                        <a:latin typeface="Cambria Math" panose="02040503050406030204" pitchFamily="18" charset="0"/>
                        <a:ea typeface="Cambria Math" panose="02040503050406030204" pitchFamily="18" charset="0"/>
                      </a:rPr>
                      <m:t>+</m:t>
                    </m:r>
                    <m:sSub>
                      <m:sSubPr>
                        <m:ctrlPr>
                          <a:rPr lang="en-US" sz="1200" b="0" i="1" smtClean="0">
                            <a:solidFill>
                              <a:srgbClr val="002060"/>
                            </a:solidFill>
                            <a:latin typeface="Cambria Math" panose="02040503050406030204" pitchFamily="18" charset="0"/>
                            <a:ea typeface="Cambria Math" panose="02040503050406030204" pitchFamily="18" charset="0"/>
                          </a:rPr>
                        </m:ctrlPr>
                      </m:sSubPr>
                      <m:e>
                        <m:r>
                          <a:rPr lang="en-US" sz="1200" b="0" i="1">
                            <a:solidFill>
                              <a:srgbClr val="002060"/>
                            </a:solidFill>
                            <a:latin typeface="Cambria Math" panose="02040503050406030204" pitchFamily="18" charset="0"/>
                            <a:ea typeface="Cambria Math" panose="02040503050406030204" pitchFamily="18" charset="0"/>
                          </a:rPr>
                          <m:t>𝑥</m:t>
                        </m:r>
                      </m:e>
                      <m:sub>
                        <m:r>
                          <a:rPr lang="en-US" sz="1200" b="0" i="1" smtClean="0">
                            <a:solidFill>
                              <a:srgbClr val="002060"/>
                            </a:solidFill>
                            <a:latin typeface="Cambria Math" panose="02040503050406030204" pitchFamily="18" charset="0"/>
                            <a:ea typeface="Cambria Math" panose="02040503050406030204" pitchFamily="18" charset="0"/>
                          </a:rPr>
                          <m:t>1</m:t>
                        </m:r>
                      </m:sub>
                    </m:sSub>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𝑒</m:t>
                        </m:r>
                      </m:e>
                      <m:sup>
                        <m:f>
                          <m:fPr>
                            <m:type m:val="lin"/>
                            <m:ctrlPr>
                              <a:rPr lang="en-US" sz="1200" b="0" i="1" smtClean="0">
                                <a:solidFill>
                                  <a:schemeClr val="tx1"/>
                                </a:solidFill>
                                <a:latin typeface="Cambria Math" panose="02040503050406030204" pitchFamily="18" charset="0"/>
                                <a:ea typeface="Cambria Math" panose="02040503050406030204" pitchFamily="18" charset="0"/>
                              </a:rPr>
                            </m:ctrlPr>
                          </m:fPr>
                          <m:num>
                            <m:r>
                              <a:rPr lang="en-US" sz="1200" b="0" i="1" smtClean="0">
                                <a:solidFill>
                                  <a:schemeClr val="tx1"/>
                                </a:solidFill>
                                <a:latin typeface="Cambria Math" panose="02040503050406030204" pitchFamily="18" charset="0"/>
                                <a:ea typeface="Cambria Math" panose="02040503050406030204" pitchFamily="18" charset="0"/>
                              </a:rPr>
                              <m:t>(2</m:t>
                            </m:r>
                            <m:r>
                              <a:rPr lang="en-US" sz="1200" b="0" i="1" smtClean="0">
                                <a:solidFill>
                                  <a:schemeClr val="tx1"/>
                                </a:solidFill>
                                <a:latin typeface="Cambria Math" panose="02040503050406030204" pitchFamily="18" charset="0"/>
                                <a:ea typeface="Cambria Math" panose="02040503050406030204" pitchFamily="18" charset="0"/>
                              </a:rPr>
                              <m:t>𝜋</m:t>
                            </m:r>
                            <m:r>
                              <a:rPr lang="en-US" sz="1200" b="0" i="1" smtClean="0">
                                <a:solidFill>
                                  <a:schemeClr val="tx1"/>
                                </a:solidFill>
                                <a:latin typeface="Cambria Math" panose="02040503050406030204" pitchFamily="18" charset="0"/>
                                <a:ea typeface="Cambria Math" panose="02040503050406030204" pitchFamily="18" charset="0"/>
                              </a:rPr>
                              <m:t>𝑖</m:t>
                            </m:r>
                          </m:num>
                          <m:den>
                            <m:r>
                              <a:rPr lang="en-US" sz="1200" b="0" i="1" smtClean="0">
                                <a:solidFill>
                                  <a:schemeClr val="tx1"/>
                                </a:solidFill>
                                <a:latin typeface="Cambria Math" panose="02040503050406030204" pitchFamily="18" charset="0"/>
                                <a:ea typeface="Cambria Math" panose="02040503050406030204" pitchFamily="18" charset="0"/>
                              </a:rPr>
                              <m:t>𝑁</m:t>
                            </m:r>
                            <m:r>
                              <a:rPr lang="en-US" sz="1200" b="0" i="1" smtClean="0">
                                <a:solidFill>
                                  <a:schemeClr val="tx1"/>
                                </a:solidFill>
                                <a:latin typeface="Cambria Math" panose="02040503050406030204" pitchFamily="18" charset="0"/>
                                <a:ea typeface="Cambria Math" panose="02040503050406030204" pitchFamily="18" charset="0"/>
                              </a:rPr>
                              <m:t>) </m:t>
                            </m:r>
                          </m:den>
                        </m:f>
                      </m:sup>
                    </m:sSup>
                    <m:r>
                      <a:rPr lang="en-US" sz="1200" b="0" i="1" smtClean="0">
                        <a:solidFill>
                          <a:srgbClr val="002060"/>
                        </a:solidFill>
                        <a:latin typeface="Cambria Math" panose="02040503050406030204" pitchFamily="18" charset="0"/>
                        <a:ea typeface="Cambria Math" panose="02040503050406030204" pitchFamily="18" charset="0"/>
                      </a:rPr>
                      <m:t>+</m:t>
                    </m:r>
                    <m:sSub>
                      <m:sSubPr>
                        <m:ctrlPr>
                          <a:rPr lang="en-US" sz="1200" b="0" i="1" smtClean="0">
                            <a:solidFill>
                              <a:srgbClr val="002060"/>
                            </a:solidFill>
                            <a:latin typeface="Cambria Math" panose="02040503050406030204" pitchFamily="18" charset="0"/>
                            <a:ea typeface="Cambria Math" panose="02040503050406030204" pitchFamily="18" charset="0"/>
                          </a:rPr>
                        </m:ctrlPr>
                      </m:sSubPr>
                      <m:e>
                        <m:r>
                          <a:rPr lang="en-US" sz="1200" b="0" i="1">
                            <a:solidFill>
                              <a:srgbClr val="002060"/>
                            </a:solidFill>
                            <a:latin typeface="Cambria Math" panose="02040503050406030204" pitchFamily="18" charset="0"/>
                            <a:ea typeface="Cambria Math" panose="02040503050406030204" pitchFamily="18" charset="0"/>
                          </a:rPr>
                          <m:t>𝑥</m:t>
                        </m:r>
                      </m:e>
                      <m:sub>
                        <m:r>
                          <a:rPr lang="en-US" sz="1200" b="0" i="1" smtClean="0">
                            <a:solidFill>
                              <a:srgbClr val="002060"/>
                            </a:solidFill>
                            <a:latin typeface="Cambria Math" panose="02040503050406030204" pitchFamily="18" charset="0"/>
                            <a:ea typeface="Cambria Math" panose="02040503050406030204" pitchFamily="18" charset="0"/>
                          </a:rPr>
                          <m:t>2</m:t>
                        </m:r>
                      </m:sub>
                    </m:sSub>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𝑒</m:t>
                        </m:r>
                      </m:e>
                      <m:sup>
                        <m:r>
                          <a:rPr lang="en-US" sz="1200" b="0" i="1" smtClean="0">
                            <a:solidFill>
                              <a:schemeClr val="tx1"/>
                            </a:solidFill>
                            <a:latin typeface="Cambria Math" panose="02040503050406030204" pitchFamily="18" charset="0"/>
                            <a:ea typeface="Cambria Math" panose="02040503050406030204" pitchFamily="18" charset="0"/>
                          </a:rPr>
                          <m:t>2</m:t>
                        </m:r>
                        <m:f>
                          <m:fPr>
                            <m:type m:val="lin"/>
                            <m:ctrlPr>
                              <a:rPr lang="en-US" sz="1200" b="0" i="1" smtClean="0">
                                <a:solidFill>
                                  <a:schemeClr val="tx1"/>
                                </a:solidFill>
                                <a:latin typeface="Cambria Math" panose="02040503050406030204" pitchFamily="18" charset="0"/>
                                <a:ea typeface="Cambria Math" panose="02040503050406030204" pitchFamily="18" charset="0"/>
                              </a:rPr>
                            </m:ctrlPr>
                          </m:fPr>
                          <m:num>
                            <m:r>
                              <a:rPr lang="en-US" sz="1200" b="0" i="1" smtClean="0">
                                <a:solidFill>
                                  <a:schemeClr val="tx1"/>
                                </a:solidFill>
                                <a:latin typeface="Cambria Math" panose="02040503050406030204" pitchFamily="18" charset="0"/>
                                <a:ea typeface="Cambria Math" panose="02040503050406030204" pitchFamily="18" charset="0"/>
                              </a:rPr>
                              <m:t>(2</m:t>
                            </m:r>
                            <m:r>
                              <a:rPr lang="en-US" sz="1200" b="0" i="1" smtClean="0">
                                <a:solidFill>
                                  <a:schemeClr val="tx1"/>
                                </a:solidFill>
                                <a:latin typeface="Cambria Math" panose="02040503050406030204" pitchFamily="18" charset="0"/>
                                <a:ea typeface="Cambria Math" panose="02040503050406030204" pitchFamily="18" charset="0"/>
                              </a:rPr>
                              <m:t>𝜋</m:t>
                            </m:r>
                            <m:r>
                              <a:rPr lang="en-US" sz="1200" b="0" i="1" smtClean="0">
                                <a:solidFill>
                                  <a:schemeClr val="tx1"/>
                                </a:solidFill>
                                <a:latin typeface="Cambria Math" panose="02040503050406030204" pitchFamily="18" charset="0"/>
                                <a:ea typeface="Cambria Math" panose="02040503050406030204" pitchFamily="18" charset="0"/>
                              </a:rPr>
                              <m:t>𝑖</m:t>
                            </m:r>
                          </m:num>
                          <m:den>
                            <m:r>
                              <a:rPr lang="en-US" sz="1200" b="0" i="1" smtClean="0">
                                <a:solidFill>
                                  <a:schemeClr val="tx1"/>
                                </a:solidFill>
                                <a:latin typeface="Cambria Math" panose="02040503050406030204" pitchFamily="18" charset="0"/>
                                <a:ea typeface="Cambria Math" panose="02040503050406030204" pitchFamily="18" charset="0"/>
                              </a:rPr>
                              <m:t>𝑁</m:t>
                            </m:r>
                            <m:r>
                              <a:rPr lang="en-US" sz="1200" b="0" i="1" smtClean="0">
                                <a:solidFill>
                                  <a:schemeClr val="tx1"/>
                                </a:solidFill>
                                <a:latin typeface="Cambria Math" panose="02040503050406030204" pitchFamily="18" charset="0"/>
                                <a:ea typeface="Cambria Math" panose="02040503050406030204" pitchFamily="18" charset="0"/>
                              </a:rPr>
                              <m:t>) </m:t>
                            </m:r>
                          </m:den>
                        </m:f>
                      </m:sup>
                    </m:sSup>
                    <m:r>
                      <a:rPr lang="en-US" sz="1200" b="0" i="1" smtClean="0">
                        <a:solidFill>
                          <a:srgbClr val="002060"/>
                        </a:solidFill>
                        <a:latin typeface="Cambria Math" panose="02040503050406030204" pitchFamily="18" charset="0"/>
                        <a:ea typeface="Cambria Math" panose="02040503050406030204" pitchFamily="18" charset="0"/>
                      </a:rPr>
                      <m:t>+⋯</m:t>
                    </m:r>
                  </m:oMath>
                </a14:m>
                <a:r>
                  <a:rPr lang="en-ZA" b="0" baseline="0" dirty="0"/>
                  <a:t> In other words, </a:t>
                </a:r>
                <a14:m>
                  <m:oMath xmlns:m="http://schemas.openxmlformats.org/officeDocument/2006/math">
                    <m:sSub>
                      <m:sSubPr>
                        <m:ctrlPr>
                          <a:rPr lang="en-US" sz="1200" b="0" i="1" smtClean="0">
                            <a:solidFill>
                              <a:srgbClr val="002060"/>
                            </a:solidFill>
                            <a:latin typeface="Cambria Math" panose="02040503050406030204" pitchFamily="18" charset="0"/>
                            <a:ea typeface="Cambria Math" panose="02040503050406030204" pitchFamily="18" charset="0"/>
                          </a:rPr>
                        </m:ctrlPr>
                      </m:sSubPr>
                      <m:e>
                        <m:acc>
                          <m:accPr>
                            <m:chr m:val="̃"/>
                            <m:ctrlPr>
                              <a:rPr lang="en-US" sz="1200" b="0" i="1">
                                <a:solidFill>
                                  <a:srgbClr val="002060"/>
                                </a:solidFill>
                                <a:latin typeface="Cambria Math" panose="02040503050406030204" pitchFamily="18" charset="0"/>
                                <a:ea typeface="Cambria Math" panose="02040503050406030204" pitchFamily="18" charset="0"/>
                              </a:rPr>
                            </m:ctrlPr>
                          </m:accPr>
                          <m:e>
                            <m:r>
                              <a:rPr lang="en-US" sz="1200" b="0" i="1">
                                <a:solidFill>
                                  <a:srgbClr val="002060"/>
                                </a:solidFill>
                                <a:latin typeface="Cambria Math" panose="02040503050406030204" pitchFamily="18" charset="0"/>
                                <a:ea typeface="Cambria Math" panose="02040503050406030204" pitchFamily="18" charset="0"/>
                              </a:rPr>
                              <m:t>𝑥</m:t>
                            </m:r>
                          </m:e>
                        </m:acc>
                      </m:e>
                      <m:sub>
                        <m:r>
                          <a:rPr lang="en-US" sz="1200" b="0" i="1" smtClean="0">
                            <a:solidFill>
                              <a:srgbClr val="002060"/>
                            </a:solidFill>
                            <a:latin typeface="Cambria Math" panose="02040503050406030204" pitchFamily="18" charset="0"/>
                            <a:ea typeface="Cambria Math" panose="02040503050406030204" pitchFamily="18" charset="0"/>
                          </a:rPr>
                          <m:t>1</m:t>
                        </m:r>
                      </m:sub>
                    </m:sSub>
                  </m:oMath>
                </a14:m>
                <a:r>
                  <a:rPr lang="en-ZA" b="0" baseline="0" dirty="0"/>
                  <a:t> </a:t>
                </a:r>
                <a:r>
                  <a:rPr lang="en-ZA" dirty="0"/>
                  <a:t>is formed by summing the original vector components after each has been multiplied by a phase factor corresponding to successive rotations around the unit circle in increments of </a:t>
                </a:r>
                <a14:m>
                  <m:oMath xmlns:m="http://schemas.openxmlformats.org/officeDocument/2006/math">
                    <m:f>
                      <m:fPr>
                        <m:type m:val="lin"/>
                        <m:ctrlPr>
                          <a:rPr lang="en-US" sz="1200" b="0" i="1" smtClean="0">
                            <a:solidFill>
                              <a:schemeClr val="tx1"/>
                            </a:solidFill>
                            <a:latin typeface="Cambria Math" panose="02040503050406030204" pitchFamily="18" charset="0"/>
                            <a:ea typeface="Cambria Math" panose="02040503050406030204" pitchFamily="18" charset="0"/>
                          </a:rPr>
                        </m:ctrlPr>
                      </m:fPr>
                      <m:num>
                        <m:r>
                          <a:rPr lang="en-US" sz="1200" b="0" i="1" smtClean="0">
                            <a:solidFill>
                              <a:schemeClr val="tx1"/>
                            </a:solidFill>
                            <a:latin typeface="Cambria Math" panose="02040503050406030204" pitchFamily="18" charset="0"/>
                            <a:ea typeface="Cambria Math" panose="02040503050406030204" pitchFamily="18" charset="0"/>
                          </a:rPr>
                          <m:t>(2</m:t>
                        </m:r>
                        <m:r>
                          <a:rPr lang="en-US" sz="1200" b="0" i="1" smtClean="0">
                            <a:solidFill>
                              <a:schemeClr val="tx1"/>
                            </a:solidFill>
                            <a:latin typeface="Cambria Math" panose="02040503050406030204" pitchFamily="18" charset="0"/>
                            <a:ea typeface="Cambria Math" panose="02040503050406030204" pitchFamily="18" charset="0"/>
                          </a:rPr>
                          <m:t>𝜋</m:t>
                        </m:r>
                      </m:num>
                      <m:den>
                        <m:r>
                          <a:rPr lang="en-US" sz="1200" b="0" i="1" smtClean="0">
                            <a:solidFill>
                              <a:schemeClr val="tx1"/>
                            </a:solidFill>
                            <a:latin typeface="Cambria Math" panose="02040503050406030204" pitchFamily="18" charset="0"/>
                            <a:ea typeface="Cambria Math" panose="02040503050406030204" pitchFamily="18" charset="0"/>
                          </a:rPr>
                          <m:t>𝑁</m:t>
                        </m:r>
                        <m:r>
                          <a:rPr lang="en-US" sz="1200" b="0" i="1" smtClean="0">
                            <a:solidFill>
                              <a:schemeClr val="tx1"/>
                            </a:solidFill>
                            <a:latin typeface="Cambria Math" panose="02040503050406030204" pitchFamily="18" charset="0"/>
                            <a:ea typeface="Cambria Math" panose="02040503050406030204" pitchFamily="18" charset="0"/>
                          </a:rPr>
                          <m:t>) </m:t>
                        </m:r>
                      </m:den>
                    </m:f>
                  </m:oMath>
                </a14:m>
                <a:r>
                  <a:rPr lang="en-ZA" b="0" baseline="0" dirty="0"/>
                  <a:t>. </a:t>
                </a:r>
              </a:p>
              <a:p>
                <a:pPr algn="just"/>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By replacing the</a:t>
                </a:r>
                <a:r>
                  <a:rPr lang="en-ZA" b="0" dirty="0"/>
                  <a:t>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𝑁</m:t>
                    </m:r>
                  </m:oMath>
                </a14:m>
                <a:r>
                  <a:rPr lang="en-ZA" b="0" dirty="0"/>
                  <a:t>-</a:t>
                </a:r>
                <a:r>
                  <a:rPr lang="en-ZA" b="0" dirty="0" err="1"/>
                  <a:t>th</a:t>
                </a:r>
                <a:r>
                  <a:rPr lang="en-ZA" b="0" dirty="0"/>
                  <a:t> root of unity </a:t>
                </a:r>
                <a14:m>
                  <m:oMath xmlns:m="http://schemas.openxmlformats.org/officeDocument/2006/math">
                    <m:sSup>
                      <m:sSupPr>
                        <m:ctrlPr>
                          <a:rPr lang="en-US" sz="1200" i="1" smtClean="0">
                            <a:solidFill>
                              <a:srgbClr val="002060"/>
                            </a:solidFill>
                            <a:latin typeface="Cambria Math" panose="02040503050406030204" pitchFamily="18" charset="0"/>
                            <a:ea typeface="Cambria Math" panose="02040503050406030204" pitchFamily="18" charset="0"/>
                          </a:rPr>
                        </m:ctrlPr>
                      </m:sSupPr>
                      <m:e>
                        <m:r>
                          <a:rPr lang="en-US" sz="1200" b="0" i="1" smtClean="0">
                            <a:solidFill>
                              <a:srgbClr val="002060"/>
                            </a:solidFill>
                            <a:latin typeface="Cambria Math" panose="02040503050406030204" pitchFamily="18" charset="0"/>
                            <a:ea typeface="Cambria Math" panose="02040503050406030204" pitchFamily="18" charset="0"/>
                          </a:rPr>
                          <m:t>𝑒</m:t>
                        </m:r>
                      </m:e>
                      <m:sup>
                        <m:r>
                          <a:rPr lang="en-US" sz="1200" b="0" i="1" smtClean="0">
                            <a:solidFill>
                              <a:srgbClr val="002060"/>
                            </a:solidFill>
                            <a:latin typeface="Cambria Math" panose="02040503050406030204" pitchFamily="18" charset="0"/>
                            <a:ea typeface="Cambria Math" panose="02040503050406030204" pitchFamily="18" charset="0"/>
                          </a:rPr>
                          <m:t>2</m:t>
                        </m:r>
                        <m:r>
                          <a:rPr lang="en-US" sz="1200" b="0" i="1" smtClean="0">
                            <a:solidFill>
                              <a:srgbClr val="002060"/>
                            </a:solidFill>
                            <a:latin typeface="Cambria Math" panose="02040503050406030204" pitchFamily="18" charset="0"/>
                            <a:ea typeface="Cambria Math" panose="02040503050406030204" pitchFamily="18" charset="0"/>
                          </a:rPr>
                          <m:t>𝜋</m:t>
                        </m:r>
                        <m:r>
                          <a:rPr lang="en-US" sz="1200" b="0" i="1" smtClean="0">
                            <a:solidFill>
                              <a:srgbClr val="002060"/>
                            </a:solidFill>
                            <a:latin typeface="Cambria Math" panose="02040503050406030204" pitchFamily="18" charset="0"/>
                            <a:ea typeface="Cambria Math" panose="02040503050406030204" pitchFamily="18" charset="0"/>
                          </a:rPr>
                          <m:t>𝑖</m:t>
                        </m:r>
                        <m:r>
                          <a:rPr lang="en-US" sz="1200" b="0" i="1" smtClean="0">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𝑁</m:t>
                        </m:r>
                      </m:sup>
                    </m:sSup>
                  </m:oMath>
                </a14:m>
                <a:r>
                  <a:rPr lang="en-ZA" b="0" dirty="0"/>
                  <a:t> with the symbol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𝜔</m:t>
                    </m:r>
                  </m:oMath>
                </a14:m>
                <a:r>
                  <a:rPr lang="en-ZA" b="0" dirty="0"/>
                  <a:t>, </a:t>
                </a:r>
                <a:r>
                  <a:rPr lang="en-ZA" dirty="0"/>
                  <a:t>the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𝑘</m:t>
                    </m:r>
                  </m:oMath>
                </a14:m>
                <a:r>
                  <a:rPr lang="en-ZA" b="0" dirty="0"/>
                  <a:t>-</a:t>
                </a:r>
                <a:r>
                  <a:rPr lang="en-ZA" b="0" dirty="0" err="1"/>
                  <a:t>th</a:t>
                </a:r>
                <a:r>
                  <a:rPr lang="en-ZA" b="0" dirty="0"/>
                  <a:t> </a:t>
                </a:r>
                <a:r>
                  <a:rPr lang="en-ZA" dirty="0"/>
                  <a:t>component of the transformed vector can be written compactly as</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acc>
                            <m:accPr>
                              <m:chr m:val="̃"/>
                              <m:ctrlPr>
                                <a:rPr lang="en-US" sz="1200" i="1">
                                  <a:latin typeface="Cambria Math" panose="02040503050406030204" pitchFamily="18" charset="0"/>
                                  <a:ea typeface="Cambria Math" panose="02040503050406030204" pitchFamily="18" charset="0"/>
                                </a:rPr>
                              </m:ctrlPr>
                            </m:accPr>
                            <m:e>
                              <m:r>
                                <a:rPr lang="en-US" sz="1200" b="0" i="1" smtClean="0">
                                  <a:latin typeface="Cambria Math" panose="02040503050406030204" pitchFamily="18" charset="0"/>
                                  <a:ea typeface="Cambria Math" panose="02040503050406030204" pitchFamily="18" charset="0"/>
                                </a:rPr>
                                <m:t> </m:t>
                              </m:r>
                              <m:r>
                                <a:rPr lang="en-US" sz="1200" i="1">
                                  <a:latin typeface="Cambria Math" panose="02040503050406030204" pitchFamily="18" charset="0"/>
                                  <a:ea typeface="Cambria Math" panose="02040503050406030204" pitchFamily="18" charset="0"/>
                                </a:rPr>
                                <m:t>𝑥</m:t>
                              </m:r>
                            </m:e>
                          </m:acc>
                        </m:e>
                        <m:sub>
                          <m:r>
                            <a:rPr lang="en-US" sz="1200" i="1">
                              <a:latin typeface="Cambria Math" panose="02040503050406030204" pitchFamily="18" charset="0"/>
                              <a:ea typeface="Cambria Math" panose="02040503050406030204" pitchFamily="18" charset="0"/>
                            </a:rPr>
                            <m:t>𝑘</m:t>
                          </m:r>
                        </m:sub>
                      </m:sSub>
                      <m:r>
                        <a:rPr lang="en-US" sz="1200" i="1">
                          <a:latin typeface="Cambria Math" panose="02040503050406030204" pitchFamily="18" charset="0"/>
                          <a:ea typeface="Cambria Math" panose="02040503050406030204" pitchFamily="18" charset="0"/>
                        </a:rPr>
                        <m:t>=</m:t>
                      </m:r>
                      <m:nary>
                        <m:naryPr>
                          <m:chr m:val="∑"/>
                          <m:ctrlPr>
                            <a:rPr lang="en-US" sz="1200" i="1">
                              <a:latin typeface="Cambria Math" panose="02040503050406030204" pitchFamily="18" charset="0"/>
                              <a:ea typeface="Cambria Math" panose="02040503050406030204" pitchFamily="18" charset="0"/>
                            </a:rPr>
                          </m:ctrlPr>
                        </m:naryPr>
                        <m:sub>
                          <m:r>
                            <a:rPr lang="en-US" sz="1200" i="1">
                              <a:latin typeface="Cambria Math" panose="02040503050406030204" pitchFamily="18" charset="0"/>
                              <a:ea typeface="Cambria Math" panose="02040503050406030204" pitchFamily="18" charset="0"/>
                            </a:rPr>
                            <m:t>𝑗</m:t>
                          </m:r>
                          <m:r>
                            <a:rPr lang="en-US" sz="1200" i="1">
                              <a:latin typeface="Cambria Math" panose="02040503050406030204" pitchFamily="18" charset="0"/>
                              <a:ea typeface="Cambria Math" panose="02040503050406030204" pitchFamily="18" charset="0"/>
                            </a:rPr>
                            <m:t>=0</m:t>
                          </m:r>
                        </m:sub>
                        <m:sup>
                          <m:r>
                            <a:rPr lang="en-US" sz="1200" i="1">
                              <a:latin typeface="Cambria Math" panose="02040503050406030204" pitchFamily="18" charset="0"/>
                              <a:ea typeface="Cambria Math" panose="02040503050406030204" pitchFamily="18" charset="0"/>
                            </a:rPr>
                            <m:t>𝑛</m:t>
                          </m:r>
                          <m:r>
                            <a:rPr lang="en-US" sz="1200" i="1">
                              <a:latin typeface="Cambria Math" panose="02040503050406030204" pitchFamily="18" charset="0"/>
                              <a:ea typeface="Cambria Math" panose="02040503050406030204" pitchFamily="18" charset="0"/>
                            </a:rPr>
                            <m:t>−1</m:t>
                          </m:r>
                        </m:sup>
                        <m:e>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𝑥</m:t>
                              </m:r>
                            </m:e>
                            <m:sub>
                              <m:r>
                                <a:rPr lang="en-US" sz="1200" i="1">
                                  <a:latin typeface="Cambria Math" panose="02040503050406030204" pitchFamily="18" charset="0"/>
                                  <a:ea typeface="Cambria Math" panose="02040503050406030204" pitchFamily="18" charset="0"/>
                                </a:rPr>
                                <m:t>𝑗</m:t>
                              </m:r>
                            </m:sub>
                          </m:sSub>
                          <m:sSubSup>
                            <m:sSubSupPr>
                              <m:ctrlPr>
                                <a:rPr lang="en-US" sz="1200" i="1">
                                  <a:latin typeface="Cambria Math" panose="02040503050406030204" pitchFamily="18" charset="0"/>
                                  <a:ea typeface="Cambria Math" panose="02040503050406030204" pitchFamily="18" charset="0"/>
                                </a:rPr>
                              </m:ctrlPr>
                            </m:sSubSupPr>
                            <m:e>
                              <m:r>
                                <a:rPr lang="en-US" sz="1200" i="1">
                                  <a:latin typeface="Cambria Math" panose="02040503050406030204" pitchFamily="18" charset="0"/>
                                  <a:ea typeface="Cambria Math" panose="02040503050406030204" pitchFamily="18" charset="0"/>
                                </a:rPr>
                                <m:t>𝜔</m:t>
                              </m:r>
                            </m:e>
                            <m:sub/>
                            <m:sup>
                              <m:r>
                                <a:rPr lang="en-US" sz="1200" i="1">
                                  <a:latin typeface="Cambria Math" panose="02040503050406030204" pitchFamily="18" charset="0"/>
                                  <a:ea typeface="Cambria Math" panose="02040503050406030204" pitchFamily="18" charset="0"/>
                                </a:rPr>
                                <m:t>𝑗𝑘</m:t>
                              </m:r>
                            </m:sup>
                          </m:sSubSup>
                          <m:r>
                            <a:rPr lang="en-US" sz="1200" i="1">
                              <a:latin typeface="Cambria Math" panose="02040503050406030204" pitchFamily="18" charset="0"/>
                              <a:ea typeface="Cambria Math" panose="02040503050406030204" pitchFamily="18" charset="0"/>
                            </a:rPr>
                            <m:t>, </m:t>
                          </m:r>
                        </m:e>
                      </m:nary>
                      <m:r>
                        <a:rPr lang="en-US" sz="1200" b="0" i="1" smtClean="0">
                          <a:latin typeface="Cambria Math" panose="02040503050406030204" pitchFamily="18" charset="0"/>
                          <a:ea typeface="Cambria Math" panose="02040503050406030204" pitchFamily="18" charset="0"/>
                        </a:rPr>
                        <m:t>  </m:t>
                      </m:r>
                      <m:sSup>
                        <m:sSupPr>
                          <m:ctrlPr>
                            <a:rPr lang="en-US" sz="1200" i="1" smtClean="0">
                              <a:solidFill>
                                <a:srgbClr val="002060"/>
                              </a:solidFill>
                              <a:latin typeface="Cambria Math" panose="02040503050406030204" pitchFamily="18" charset="0"/>
                              <a:ea typeface="Cambria Math" panose="02040503050406030204" pitchFamily="18" charset="0"/>
                            </a:rPr>
                          </m:ctrlPr>
                        </m:sSupPr>
                        <m:e>
                          <m:r>
                            <a:rPr lang="en-US" sz="1200" b="0" i="1" smtClean="0">
                              <a:solidFill>
                                <a:srgbClr val="002060"/>
                              </a:solidFill>
                              <a:latin typeface="Cambria Math" panose="02040503050406030204" pitchFamily="18" charset="0"/>
                              <a:ea typeface="Cambria Math" panose="02040503050406030204" pitchFamily="18" charset="0"/>
                            </a:rPr>
                            <m:t>𝜔</m:t>
                          </m:r>
                          <m:r>
                            <a:rPr lang="en-US" sz="1200" b="0" i="1" smtClean="0">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𝑒</m:t>
                          </m:r>
                        </m:e>
                        <m:sup>
                          <m:r>
                            <a:rPr lang="en-US" sz="1200" b="0" i="1" smtClean="0">
                              <a:solidFill>
                                <a:srgbClr val="002060"/>
                              </a:solidFill>
                              <a:latin typeface="Cambria Math" panose="02040503050406030204" pitchFamily="18" charset="0"/>
                              <a:ea typeface="Cambria Math" panose="02040503050406030204" pitchFamily="18" charset="0"/>
                            </a:rPr>
                            <m:t>2</m:t>
                          </m:r>
                          <m:r>
                            <a:rPr lang="en-US" sz="1200" b="0" i="1" smtClean="0">
                              <a:solidFill>
                                <a:srgbClr val="002060"/>
                              </a:solidFill>
                              <a:latin typeface="Cambria Math" panose="02040503050406030204" pitchFamily="18" charset="0"/>
                              <a:ea typeface="Cambria Math" panose="02040503050406030204" pitchFamily="18" charset="0"/>
                            </a:rPr>
                            <m:t>𝜋</m:t>
                          </m:r>
                          <m:r>
                            <a:rPr lang="en-US" sz="1200" b="0" i="1" smtClean="0">
                              <a:solidFill>
                                <a:srgbClr val="002060"/>
                              </a:solidFill>
                              <a:latin typeface="Cambria Math" panose="02040503050406030204" pitchFamily="18" charset="0"/>
                              <a:ea typeface="Cambria Math" panose="02040503050406030204" pitchFamily="18" charset="0"/>
                            </a:rPr>
                            <m:t>𝑖</m:t>
                          </m:r>
                          <m:r>
                            <a:rPr lang="en-US" sz="1200" b="0" i="1" smtClean="0">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𝑁</m:t>
                          </m:r>
                        </m:sup>
                      </m:sSup>
                    </m:oMath>
                  </m:oMathPara>
                </a14:m>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Here </a:t>
                </a:r>
                <a14:m>
                  <m:oMath xmlns:m="http://schemas.openxmlformats.org/officeDocument/2006/math">
                    <m:r>
                      <a:rPr lang="en-US" sz="1200" i="1" smtClean="0">
                        <a:latin typeface="Cambria Math" panose="02040503050406030204" pitchFamily="18" charset="0"/>
                        <a:ea typeface="Cambria Math" panose="02040503050406030204" pitchFamily="18" charset="0"/>
                      </a:rPr>
                      <m:t>𝜔</m:t>
                    </m:r>
                  </m:oMath>
                </a14:m>
                <a:r>
                  <a:rPr lang="en-ZA" b="0" dirty="0"/>
                  <a:t> </a:t>
                </a:r>
                <a:r>
                  <a:rPr lang="en-ZA" dirty="0"/>
                  <a:t>represents a fixed rotation step around the unit circle, while its powers determine the phase factor applied to each component.</a:t>
                </a:r>
                <a:endParaRPr lang="en-ZA" b="0" dirty="0"/>
              </a:p>
              <a:p>
                <a:pPr algn="just"/>
                <a:endParaRPr lang="en-ZA" b="0" dirty="0"/>
              </a:p>
              <a:p>
                <a:pPr algn="just"/>
                <a:endParaRPr lang="en-ZA" b="0" dirty="0"/>
              </a:p>
            </p:txBody>
          </p:sp>
        </mc:Choice>
        <mc:Fallback xmlns="">
          <p:sp>
            <p:nvSpPr>
              <p:cNvPr id="3" name="Notes Placeholder 2"/>
              <p:cNvSpPr>
                <a:spLocks noGrp="1"/>
              </p:cNvSpPr>
              <p:nvPr>
                <p:ph type="body" idx="1"/>
              </p:nvPr>
            </p:nvSpPr>
            <p:spPr/>
            <p:txBody>
              <a:bodyPr/>
              <a:lstStyle/>
              <a:p>
                <a:r>
                  <a:rPr lang="en-US" sz="2000" dirty="0"/>
                  <a:t>Kao </a:t>
                </a:r>
                <a:r>
                  <a:rPr lang="en-US" sz="2000" dirty="0" err="1"/>
                  <a:t>sto</a:t>
                </a:r>
                <a:r>
                  <a:rPr lang="en-US" sz="2000" dirty="0"/>
                  <a:t> </a:t>
                </a:r>
                <a:r>
                  <a:rPr lang="en-US" sz="2000" dirty="0" err="1"/>
                  <a:t>smo</a:t>
                </a:r>
                <a:r>
                  <a:rPr lang="en-US" sz="2000" dirty="0"/>
                  <a:t> </a:t>
                </a:r>
                <a:r>
                  <a:rPr lang="en-US" sz="2000" dirty="0" err="1"/>
                  <a:t>videli</a:t>
                </a:r>
                <a:r>
                  <a:rPr lang="en-US" sz="2000" dirty="0"/>
                  <a:t>, DFT </a:t>
                </a:r>
                <a:r>
                  <a:rPr lang="en-US" sz="2000" dirty="0" err="1"/>
                  <a:t>je</a:t>
                </a:r>
                <a:r>
                  <a:rPr lang="en-US" sz="2000" dirty="0"/>
                  <a:t> </a:t>
                </a:r>
                <a:r>
                  <a:rPr lang="en-US" sz="2000" dirty="0" err="1"/>
                  <a:t>preslikavanje</a:t>
                </a:r>
                <a:r>
                  <a:rPr lang="en-US" sz="2000" dirty="0"/>
                  <a:t> </a:t>
                </a:r>
                <a:r>
                  <a:rPr lang="en-US" sz="2000" dirty="0" err="1"/>
                  <a:t>tacaka</a:t>
                </a:r>
                <a:r>
                  <a:rPr lang="en-US" sz="2000" dirty="0"/>
                  <a:t> </a:t>
                </a:r>
                <a:r>
                  <a:rPr lang="en-US" sz="2000" dirty="0" err="1"/>
                  <a:t>nekog</a:t>
                </a:r>
                <a:r>
                  <a:rPr lang="en-US" sz="2000" dirty="0"/>
                  <a:t> </a:t>
                </a:r>
                <a:r>
                  <a:rPr lang="en-US" sz="2000" dirty="0" err="1"/>
                  <a:t>vektora</a:t>
                </a:r>
                <a:r>
                  <a:rPr lang="en-US" sz="2000" dirty="0"/>
                  <a:t> </a:t>
                </a:r>
                <a:r>
                  <a:rPr lang="en-US" sz="2000" b="0" i="0">
                    <a:solidFill>
                      <a:srgbClr val="002060"/>
                    </a:solidFill>
                    <a:latin typeface="Cambria Math" panose="02040503050406030204" pitchFamily="18" charset="0"/>
                    <a:ea typeface="Cambria Math" panose="02040503050406030204" pitchFamily="18" charset="0"/>
                  </a:rPr>
                  <a:t>𝑥</a:t>
                </a:r>
                <a:r>
                  <a:rPr lang="en-US" sz="2000" dirty="0"/>
                  <a:t> u vector </a:t>
                </a:r>
                <a:r>
                  <a:rPr lang="en-US" sz="2000" b="0" i="0">
                    <a:solidFill>
                      <a:srgbClr val="002060"/>
                    </a:solidFill>
                    <a:latin typeface="Cambria Math" panose="02040503050406030204" pitchFamily="18" charset="0"/>
                    <a:ea typeface="Cambria Math" panose="02040503050406030204" pitchFamily="18" charset="0"/>
                  </a:rPr>
                  <a:t>𝑥 ̃</a:t>
                </a:r>
                <a:r>
                  <a:rPr lang="en-US" sz="2000" dirty="0"/>
                  <a:t>. Pri tome </a:t>
                </a:r>
                <a:r>
                  <a:rPr lang="en-US" sz="2000" dirty="0" err="1"/>
                  <a:t>je</a:t>
                </a:r>
                <a:r>
                  <a:rPr lang="en-US" sz="2000" dirty="0"/>
                  <a:t> </a:t>
                </a:r>
                <a:r>
                  <a:rPr lang="en-US" sz="2000" dirty="0" err="1"/>
                  <a:t>svaka</a:t>
                </a:r>
                <a:r>
                  <a:rPr lang="en-US" sz="2000" dirty="0"/>
                  <a:t> </a:t>
                </a:r>
                <a:r>
                  <a:rPr lang="en-US" sz="2000" dirty="0" err="1"/>
                  <a:t>koorinata</a:t>
                </a:r>
                <a:r>
                  <a:rPr lang="en-US" sz="2000" dirty="0"/>
                  <a:t> </a:t>
                </a:r>
                <a:r>
                  <a:rPr lang="en-US" sz="2000" dirty="0" err="1"/>
                  <a:t>novog</a:t>
                </a:r>
                <a:r>
                  <a:rPr lang="en-US" sz="2000" dirty="0"/>
                  <a:t> </a:t>
                </a:r>
                <a:r>
                  <a:rPr lang="en-US" sz="2000" dirty="0" err="1"/>
                  <a:t>vektora</a:t>
                </a:r>
                <a:r>
                  <a:rPr lang="en-US" sz="2000" dirty="0"/>
                  <a:t> </a:t>
                </a:r>
                <a:r>
                  <a:rPr lang="en-US" sz="2000" dirty="0" err="1"/>
                  <a:t>linearna</a:t>
                </a:r>
                <a:r>
                  <a:rPr lang="en-US" sz="2000" dirty="0"/>
                  <a:t> </a:t>
                </a:r>
                <a:r>
                  <a:rPr lang="en-US" sz="2000" dirty="0" err="1"/>
                  <a:t>kombinacija</a:t>
                </a:r>
                <a:r>
                  <a:rPr lang="en-US" sz="2000" dirty="0"/>
                  <a:t> </a:t>
                </a:r>
                <a:r>
                  <a:rPr lang="en-US" sz="2000" dirty="0" err="1"/>
                  <a:t>koordinata</a:t>
                </a:r>
                <a:r>
                  <a:rPr lang="en-US" sz="2000" dirty="0"/>
                  <a:t> </a:t>
                </a:r>
                <a:r>
                  <a:rPr lang="en-US" sz="2000" dirty="0" err="1"/>
                  <a:t>originalnog</a:t>
                </a:r>
                <a:r>
                  <a:rPr lang="en-US" sz="2000" dirty="0"/>
                  <a:t> </a:t>
                </a:r>
                <a:r>
                  <a:rPr lang="en-US" sz="2000" dirty="0" err="1"/>
                  <a:t>vektora</a:t>
                </a:r>
                <a:r>
                  <a:rPr lang="en-US" sz="2000" dirty="0"/>
                  <a:t> </a:t>
                </a:r>
                <a:r>
                  <a:rPr lang="en-US" sz="2000" dirty="0" err="1"/>
                  <a:t>i</a:t>
                </a:r>
                <a:r>
                  <a:rPr lang="en-US" sz="2000" dirty="0"/>
                  <a:t> </a:t>
                </a:r>
                <a:r>
                  <a:rPr lang="en-US" sz="2000" dirty="0" err="1"/>
                  <a:t>ntih</a:t>
                </a:r>
                <a:r>
                  <a:rPr lang="en-US" sz="2000" dirty="0"/>
                  <a:t> </a:t>
                </a:r>
                <a:r>
                  <a:rPr lang="en-US" sz="2000" dirty="0" err="1"/>
                  <a:t>korena</a:t>
                </a:r>
                <a:r>
                  <a:rPr lang="en-US" sz="2000" dirty="0"/>
                  <a:t> </a:t>
                </a:r>
                <a:r>
                  <a:rPr lang="en-US" sz="2000" dirty="0" err="1"/>
                  <a:t>jedinice</a:t>
                </a:r>
                <a:r>
                  <a:rPr lang="en-US" sz="2000" dirty="0"/>
                  <a:t> </a:t>
                </a:r>
                <a:r>
                  <a:rPr lang="en-US" sz="2000" dirty="0" err="1"/>
                  <a:t>kojima</a:t>
                </a:r>
                <a:r>
                  <a:rPr lang="en-US" sz="2000" dirty="0"/>
                  <a:t> </a:t>
                </a:r>
                <a:r>
                  <a:rPr lang="en-US" sz="2000" dirty="0" err="1"/>
                  <a:t>smo</a:t>
                </a:r>
                <a:r>
                  <a:rPr lang="en-US" sz="2000" dirty="0"/>
                  <a:t> se </a:t>
                </a:r>
                <a:r>
                  <a:rPr lang="en-US" sz="2000" dirty="0" err="1"/>
                  <a:t>bavili</a:t>
                </a:r>
                <a:r>
                  <a:rPr lang="en-US" sz="2000" dirty="0"/>
                  <a:t> u </a:t>
                </a:r>
                <a:r>
                  <a:rPr lang="en-US" sz="2000" dirty="0" err="1"/>
                  <a:t>ranijem</a:t>
                </a:r>
                <a:r>
                  <a:rPr lang="en-US" sz="2000" dirty="0"/>
                  <a:t> </a:t>
                </a:r>
                <a:r>
                  <a:rPr lang="en-US" sz="2000" dirty="0" err="1"/>
                  <a:t>predavanju</a:t>
                </a:r>
                <a:r>
                  <a:rPr lang="en-US" sz="2000" dirty="0"/>
                  <a:t>. Na</a:t>
                </a:r>
                <a:r>
                  <a:rPr lang="en-US" sz="2000" baseline="0" dirty="0"/>
                  <a:t> </a:t>
                </a:r>
                <a:r>
                  <a:rPr lang="en-US" sz="2000" baseline="0" dirty="0" err="1"/>
                  <a:t>slici</a:t>
                </a:r>
                <a:r>
                  <a:rPr lang="en-US" sz="2000" baseline="0" dirty="0"/>
                  <a:t> </a:t>
                </a:r>
                <a:r>
                  <a:rPr lang="en-US" sz="2000" baseline="0" dirty="0" err="1"/>
                  <a:t>je</a:t>
                </a:r>
                <a:r>
                  <a:rPr lang="en-US" sz="2000" baseline="0" dirty="0"/>
                  <a:t> </a:t>
                </a:r>
                <a:r>
                  <a:rPr lang="en-US" sz="2000" baseline="0" dirty="0" err="1"/>
                  <a:t>prikazan</a:t>
                </a:r>
                <a:r>
                  <a:rPr lang="en-US" sz="2000" baseline="0" dirty="0"/>
                  <a:t> </a:t>
                </a:r>
                <a:r>
                  <a:rPr lang="en-US" sz="2000" baseline="0" dirty="0" err="1"/>
                  <a:t>krug</a:t>
                </a:r>
                <a:r>
                  <a:rPr lang="en-US" sz="2000" baseline="0" dirty="0"/>
                  <a:t> </a:t>
                </a:r>
                <a:r>
                  <a:rPr lang="en-US" sz="2000" baseline="0" dirty="0" err="1"/>
                  <a:t>sa</a:t>
                </a:r>
                <a:r>
                  <a:rPr lang="en-US" sz="2000" baseline="0" dirty="0"/>
                  <a:t> 8 </a:t>
                </a:r>
                <a:r>
                  <a:rPr lang="en-US" sz="2000" baseline="0" dirty="0" err="1"/>
                  <a:t>korena</a:t>
                </a:r>
                <a:r>
                  <a:rPr lang="en-US" sz="2000" baseline="0" dirty="0"/>
                  <a:t> </a:t>
                </a:r>
                <a:r>
                  <a:rPr lang="en-US" sz="2000" baseline="0" dirty="0" err="1"/>
                  <a:t>jedinice</a:t>
                </a:r>
                <a:r>
                  <a:rPr lang="en-US" sz="2000" baseline="0" dirty="0"/>
                  <a:t>.</a:t>
                </a:r>
                <a:endParaRPr lang="en-US" sz="2000" dirty="0"/>
              </a:p>
              <a:p>
                <a:endParaRPr lang="en-US" sz="2000" dirty="0"/>
              </a:p>
              <a:p>
                <a:pPr marL="457200" indent="-457200">
                  <a:buFont typeface="+mj-lt"/>
                  <a:buAutoNum type="arabicPeriod"/>
                </a:pPr>
                <a:r>
                  <a:rPr lang="en-US" sz="2000" dirty="0" err="1"/>
                  <a:t>Posto</a:t>
                </a:r>
                <a:r>
                  <a:rPr lang="en-US" sz="2000" dirty="0"/>
                  <a:t> </a:t>
                </a:r>
                <a:r>
                  <a:rPr lang="en-US" sz="2000" dirty="0" err="1"/>
                  <a:t>je</a:t>
                </a:r>
                <a:r>
                  <a:rPr lang="en-US" sz="2000" dirty="0"/>
                  <a:t> rec o </a:t>
                </a:r>
                <a:r>
                  <a:rPr lang="en-US" sz="2000" dirty="0" err="1"/>
                  <a:t>linearnoj</a:t>
                </a:r>
                <a:r>
                  <a:rPr lang="en-US" sz="2000" dirty="0"/>
                  <a:t> </a:t>
                </a:r>
                <a:r>
                  <a:rPr lang="en-US" sz="2000" dirty="0" err="1"/>
                  <a:t>kombinaciji</a:t>
                </a:r>
                <a:r>
                  <a:rPr lang="en-US" sz="2000" dirty="0"/>
                  <a:t>, </a:t>
                </a:r>
                <a:r>
                  <a:rPr lang="en-US" sz="2000" dirty="0" err="1"/>
                  <a:t>mozemo</a:t>
                </a:r>
                <a:r>
                  <a:rPr lang="en-US" sz="2000" dirty="0"/>
                  <a:t> </a:t>
                </a:r>
                <a:r>
                  <a:rPr lang="en-US" sz="2000" dirty="0" err="1"/>
                  <a:t>izdvojit</a:t>
                </a:r>
                <a:r>
                  <a:rPr lang="en-US" sz="2000" baseline="0" dirty="0"/>
                  <a:t> </a:t>
                </a:r>
                <a:r>
                  <a:rPr lang="en-US" sz="2000" dirty="0"/>
                  <a:t> </a:t>
                </a:r>
                <a:r>
                  <a:rPr lang="en-US" sz="2000" dirty="0" err="1"/>
                  <a:t>koordinate</a:t>
                </a:r>
                <a:r>
                  <a:rPr lang="en-US" sz="2000" dirty="0"/>
                  <a:t> </a:t>
                </a:r>
                <a:r>
                  <a:rPr lang="en-US" sz="2000" dirty="0" err="1"/>
                  <a:t>originalnog</a:t>
                </a:r>
                <a:r>
                  <a:rPr lang="en-US" sz="2000" dirty="0"/>
                  <a:t> </a:t>
                </a:r>
                <a:r>
                  <a:rPr lang="en-US" sz="2000" dirty="0" err="1"/>
                  <a:t>vektora</a:t>
                </a:r>
                <a:r>
                  <a:rPr lang="en-US" sz="2000" dirty="0"/>
                  <a:t>, I</a:t>
                </a:r>
                <a:r>
                  <a:rPr lang="en-US" sz="2000" baseline="0" dirty="0"/>
                  <a:t> </a:t>
                </a:r>
                <a:r>
                  <a:rPr lang="en-US" sz="2000" dirty="0" err="1"/>
                  <a:t>izvesti</a:t>
                </a:r>
                <a:r>
                  <a:rPr lang="en-US" sz="2000" dirty="0"/>
                  <a:t> DFT </a:t>
                </a:r>
                <a:r>
                  <a:rPr lang="en-US" sz="2000" dirty="0" err="1"/>
                  <a:t>matricu</a:t>
                </a:r>
                <a:r>
                  <a:rPr lang="en-US" sz="2000" dirty="0"/>
                  <a:t> </a:t>
                </a:r>
                <a:r>
                  <a:rPr lang="en-US" sz="2000" dirty="0" err="1"/>
                  <a:t>ciji</a:t>
                </a:r>
                <a:r>
                  <a:rPr lang="en-US" sz="2000" baseline="0" dirty="0"/>
                  <a:t> </a:t>
                </a:r>
                <a:r>
                  <a:rPr lang="en-US" sz="2000" baseline="0" dirty="0" err="1"/>
                  <a:t>ce</a:t>
                </a:r>
                <a:r>
                  <a:rPr lang="en-US" sz="2000" baseline="0" dirty="0"/>
                  <a:t> </a:t>
                </a:r>
                <a:r>
                  <a:rPr lang="en-US" sz="2000" dirty="0" err="1"/>
                  <a:t>elementi</a:t>
                </a:r>
                <a:r>
                  <a:rPr lang="en-US" sz="2000" baseline="0" dirty="0"/>
                  <a:t> </a:t>
                </a:r>
                <a:r>
                  <a:rPr lang="en-US" sz="2000" baseline="0" dirty="0" err="1"/>
                  <a:t>biti</a:t>
                </a:r>
                <a:r>
                  <a:rPr lang="en-US" sz="2000" dirty="0"/>
                  <a:t> </a:t>
                </a:r>
                <a:r>
                  <a:rPr lang="en-US" sz="2000" dirty="0" err="1"/>
                  <a:t>nti</a:t>
                </a:r>
                <a:r>
                  <a:rPr lang="en-US" sz="2000" baseline="0" dirty="0"/>
                  <a:t> </a:t>
                </a:r>
                <a:r>
                  <a:rPr lang="en-US" sz="2000" baseline="0" dirty="0" err="1"/>
                  <a:t>koreni</a:t>
                </a:r>
                <a:r>
                  <a:rPr lang="en-US" sz="2000" baseline="0" dirty="0"/>
                  <a:t> </a:t>
                </a:r>
                <a:r>
                  <a:rPr lang="en-US" sz="2000" baseline="0" dirty="0" err="1"/>
                  <a:t>jedinice</a:t>
                </a:r>
                <a:r>
                  <a:rPr lang="en-US" sz="2000" dirty="0"/>
                  <a:t> </a:t>
                </a:r>
                <a:r>
                  <a:rPr lang="en-US" sz="2000" i="0">
                    <a:solidFill>
                      <a:schemeClr val="tx1"/>
                    </a:solidFill>
                    <a:latin typeface="Cambria Math" panose="02040503050406030204" pitchFamily="18" charset="0"/>
                    <a:ea typeface="Cambria Math" panose="02040503050406030204" pitchFamily="18" charset="0"/>
                  </a:rPr>
                  <a:t>𝜔</a:t>
                </a:r>
                <a:r>
                  <a:rPr lang="en-US" sz="2000" dirty="0"/>
                  <a:t>. </a:t>
                </a:r>
                <a:r>
                  <a:rPr lang="en-US" sz="2000" dirty="0" err="1"/>
                  <a:t>Sada</a:t>
                </a:r>
                <a:r>
                  <a:rPr lang="en-US" sz="2000" dirty="0"/>
                  <a:t> se</a:t>
                </a:r>
                <a:r>
                  <a:rPr lang="en-US" sz="2000" baseline="0" dirty="0"/>
                  <a:t> DFT </a:t>
                </a:r>
                <a:r>
                  <a:rPr lang="en-US" sz="2000" baseline="0" dirty="0" err="1"/>
                  <a:t>moze</a:t>
                </a:r>
                <a:r>
                  <a:rPr lang="en-US" sz="2000" baseline="0" dirty="0"/>
                  <a:t> </a:t>
                </a:r>
                <a:r>
                  <a:rPr lang="en-US" sz="2000" baseline="0" dirty="0" err="1"/>
                  <a:t>napisati</a:t>
                </a:r>
                <a:r>
                  <a:rPr lang="en-US" sz="2000" baseline="0" dirty="0"/>
                  <a:t> </a:t>
                </a:r>
                <a:r>
                  <a:rPr lang="en-US" sz="2000" baseline="0" dirty="0" err="1"/>
                  <a:t>kao</a:t>
                </a:r>
                <a:r>
                  <a:rPr lang="en-US" sz="2000" baseline="0" dirty="0"/>
                  <a:t> </a:t>
                </a:r>
                <a:r>
                  <a:rPr lang="en-US" sz="2000" baseline="0" dirty="0" err="1"/>
                  <a:t>proizvod</a:t>
                </a:r>
                <a:r>
                  <a:rPr lang="en-US" sz="2000" baseline="0" dirty="0"/>
                  <a:t> </a:t>
                </a:r>
                <a:r>
                  <a:rPr lang="en-US" sz="2000" baseline="0" dirty="0" err="1"/>
                  <a:t>vektora</a:t>
                </a:r>
                <a:r>
                  <a:rPr lang="en-US" sz="2000" baseline="0" dirty="0"/>
                  <a:t> I </a:t>
                </a:r>
                <a:r>
                  <a:rPr lang="en-US" sz="2000" baseline="0" dirty="0" err="1"/>
                  <a:t>matrice</a:t>
                </a:r>
                <a:r>
                  <a:rPr lang="en-US" sz="2000" baseline="0" dirty="0"/>
                  <a:t>. </a:t>
                </a:r>
                <a:r>
                  <a:rPr lang="en-US" sz="2000" baseline="0" dirty="0" err="1"/>
                  <a:t>Primeticete</a:t>
                </a:r>
                <a:r>
                  <a:rPr lang="en-US" sz="2000" baseline="0" dirty="0"/>
                  <a:t> </a:t>
                </a:r>
                <a:r>
                  <a:rPr lang="en-US" sz="2000" b="0" i="0">
                    <a:solidFill>
                      <a:schemeClr val="tx1"/>
                    </a:solidFill>
                    <a:latin typeface="Cambria Math" panose="02040503050406030204" pitchFamily="18" charset="0"/>
                    <a:ea typeface="Cambria Math" panose="02040503050406030204" pitchFamily="18" charset="0"/>
                  </a:rPr>
                  <a:t>1/√𝑛</a:t>
                </a:r>
                <a:r>
                  <a:rPr lang="en-US" sz="2000" dirty="0"/>
                  <a:t> </a:t>
                </a:r>
                <a:r>
                  <a:rPr lang="en-US" sz="2000" dirty="0" err="1"/>
                  <a:t>ispred</a:t>
                </a:r>
                <a:r>
                  <a:rPr lang="en-US" sz="2000" dirty="0"/>
                  <a:t> </a:t>
                </a:r>
                <a:r>
                  <a:rPr lang="en-US" sz="2000" dirty="0" err="1"/>
                  <a:t>matrice</a:t>
                </a:r>
                <a:r>
                  <a:rPr lang="en-US" sz="2000" baseline="0" dirty="0"/>
                  <a:t> </a:t>
                </a:r>
                <a:r>
                  <a:rPr lang="en-US" sz="2000" baseline="0" dirty="0" err="1"/>
                  <a:t>koji</a:t>
                </a:r>
                <a:r>
                  <a:rPr lang="en-US" sz="2000" baseline="0" dirty="0"/>
                  <a:t> se </a:t>
                </a:r>
                <a:r>
                  <a:rPr lang="en-US" sz="2000" baseline="0" dirty="0" err="1"/>
                  <a:t>koristi</a:t>
                </a:r>
                <a:r>
                  <a:rPr lang="en-US" sz="2000" baseline="0" dirty="0"/>
                  <a:t> </a:t>
                </a:r>
                <a:r>
                  <a:rPr lang="en-US" sz="2000" baseline="0" dirty="0" err="1"/>
                  <a:t>kao</a:t>
                </a:r>
                <a:r>
                  <a:rPr lang="en-US" sz="2000" baseline="0" dirty="0"/>
                  <a:t> factor </a:t>
                </a:r>
                <a:r>
                  <a:rPr lang="en-US" sz="2000" baseline="0" dirty="0" err="1"/>
                  <a:t>normalizacije</a:t>
                </a:r>
                <a:r>
                  <a:rPr lang="en-US" sz="2000" baseline="0" dirty="0"/>
                  <a:t>, </a:t>
                </a:r>
                <a:r>
                  <a:rPr lang="en-US" sz="2000" baseline="0" dirty="0" err="1"/>
                  <a:t>sto</a:t>
                </a:r>
                <a:r>
                  <a:rPr lang="en-US" sz="2000" baseline="0" dirty="0"/>
                  <a:t> </a:t>
                </a:r>
                <a:r>
                  <a:rPr lang="en-US" sz="2000" baseline="0" dirty="0" err="1"/>
                  <a:t>je</a:t>
                </a:r>
                <a:r>
                  <a:rPr lang="en-US" sz="2000" baseline="0" dirty="0"/>
                  <a:t> </a:t>
                </a:r>
                <a:r>
                  <a:rPr lang="en-US" sz="2000" baseline="0" dirty="0" err="1"/>
                  <a:t>stvar</a:t>
                </a:r>
                <a:r>
                  <a:rPr lang="en-US" sz="2000" baseline="0" dirty="0"/>
                  <a:t> </a:t>
                </a:r>
                <a:r>
                  <a:rPr lang="en-US" sz="2000" baseline="0" dirty="0" err="1"/>
                  <a:t>konvencije</a:t>
                </a:r>
                <a:r>
                  <a:rPr lang="en-US" sz="2000" baseline="0" dirty="0"/>
                  <a:t>, </a:t>
                </a:r>
                <a:r>
                  <a:rPr lang="en-US" sz="2000" baseline="0" dirty="0" err="1"/>
                  <a:t>ali</a:t>
                </a:r>
                <a:r>
                  <a:rPr lang="en-US" sz="2000" baseline="0" dirty="0"/>
                  <a:t> </a:t>
                </a:r>
                <a:r>
                  <a:rPr lang="en-US" sz="2000" baseline="0" dirty="0" err="1"/>
                  <a:t>za</a:t>
                </a:r>
                <a:r>
                  <a:rPr lang="en-US" sz="2000" baseline="0" dirty="0"/>
                  <a:t> </a:t>
                </a:r>
                <a:r>
                  <a:rPr lang="en-US" sz="2000" baseline="0" dirty="0" err="1"/>
                  <a:t>nas</a:t>
                </a:r>
                <a:r>
                  <a:rPr lang="en-US" sz="2000" baseline="0" dirty="0"/>
                  <a:t> </a:t>
                </a:r>
                <a:r>
                  <a:rPr lang="en-US" sz="2000" baseline="0" dirty="0" err="1"/>
                  <a:t>je</a:t>
                </a:r>
                <a:r>
                  <a:rPr lang="en-US" sz="2000" baseline="0" dirty="0"/>
                  <a:t> </a:t>
                </a:r>
                <a:r>
                  <a:rPr lang="en-US" sz="2000" baseline="0" dirty="0" err="1"/>
                  <a:t>znacajno</a:t>
                </a:r>
                <a:r>
                  <a:rPr lang="en-US" sz="2000" baseline="0" dirty="0"/>
                  <a:t> </a:t>
                </a:r>
                <a:r>
                  <a:rPr lang="en-US" sz="2000" baseline="0" dirty="0" err="1"/>
                  <a:t>jer</a:t>
                </a:r>
                <a:r>
                  <a:rPr lang="en-US" sz="2000" baseline="0" dirty="0"/>
                  <a:t> </a:t>
                </a:r>
                <a:r>
                  <a:rPr lang="en-US" sz="2000" baseline="0" dirty="0" err="1"/>
                  <a:t>kvantna</a:t>
                </a:r>
                <a:r>
                  <a:rPr lang="en-US" sz="2000" baseline="0" dirty="0"/>
                  <a:t> </a:t>
                </a:r>
                <a:r>
                  <a:rPr lang="en-US" sz="2000" baseline="0" dirty="0" err="1"/>
                  <a:t>stanja</a:t>
                </a:r>
                <a:r>
                  <a:rPr lang="en-US" sz="2000" baseline="0" dirty="0"/>
                  <a:t> </a:t>
                </a:r>
                <a:r>
                  <a:rPr lang="en-US" sz="2000" baseline="0" dirty="0" err="1"/>
                  <a:t>moraju</a:t>
                </a:r>
                <a:r>
                  <a:rPr lang="en-US" sz="2000" baseline="0" dirty="0"/>
                  <a:t> </a:t>
                </a:r>
                <a:r>
                  <a:rPr lang="en-US" sz="2000" baseline="0" dirty="0" err="1"/>
                  <a:t>biti</a:t>
                </a:r>
                <a:r>
                  <a:rPr lang="en-US" sz="2000" baseline="0" dirty="0"/>
                  <a:t> </a:t>
                </a:r>
                <a:r>
                  <a:rPr lang="en-US" sz="2000" baseline="0" dirty="0" err="1"/>
                  <a:t>normalizovana</a:t>
                </a:r>
                <a:r>
                  <a:rPr lang="en-US" sz="2000" baseline="0" dirty="0"/>
                  <a:t>.</a:t>
                </a: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53</a:t>
            </a:fld>
            <a:endParaRPr lang="en-US"/>
          </a:p>
        </p:txBody>
      </p:sp>
    </p:spTree>
    <p:extLst>
      <p:ext uri="{BB962C8B-B14F-4D97-AF65-F5344CB8AC3E}">
        <p14:creationId xmlns:p14="http://schemas.microsoft.com/office/powerpoint/2010/main" val="59705748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The Discrete Fourier Transform (DFT) can be represented as a matrix. This matrix is built from the N-</a:t>
                </a:r>
                <a:r>
                  <a:rPr lang="en-ZA" b="0" dirty="0" err="1"/>
                  <a:t>th</a:t>
                </a:r>
                <a:r>
                  <a:rPr lang="en-ZA" b="0" dirty="0"/>
                  <a:t> root of </a:t>
                </a:r>
                <a:r>
                  <a:rPr lang="en-ZA" b="0"/>
                  <a:t>unity,</a:t>
                </a:r>
                <a:r>
                  <a:rPr lang="en-ZA"/>
                  <a:t> </a:t>
                </a:r>
                <a14:m>
                  <m:oMath xmlns:m="http://schemas.openxmlformats.org/officeDocument/2006/math">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𝜔</m:t>
                        </m:r>
                        <m:r>
                          <a:rPr lang="en-US" sz="1200" b="0" i="1" smtClean="0">
                            <a:solidFill>
                              <a:schemeClr val="tx1">
                                <a:lumMod val="50000"/>
                                <a:lumOff val="50000"/>
                              </a:schemeClr>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𝑒</m:t>
                        </m:r>
                      </m:e>
                      <m:sup>
                        <m:f>
                          <m:fPr>
                            <m:type m:val="lin"/>
                            <m:ctrlPr>
                              <a:rPr lang="en-US" sz="1200" b="0" i="1" smtClean="0">
                                <a:solidFill>
                                  <a:schemeClr val="tx1"/>
                                </a:solidFill>
                                <a:latin typeface="Cambria Math" panose="02040503050406030204" pitchFamily="18" charset="0"/>
                                <a:ea typeface="Cambria Math" panose="02040503050406030204" pitchFamily="18" charset="0"/>
                              </a:rPr>
                            </m:ctrlPr>
                          </m:fPr>
                          <m:num>
                            <m:r>
                              <a:rPr lang="en-US" sz="1200" b="0" i="1" smtClean="0">
                                <a:solidFill>
                                  <a:schemeClr val="tx1"/>
                                </a:solidFill>
                                <a:latin typeface="Cambria Math" panose="02040503050406030204" pitchFamily="18" charset="0"/>
                                <a:ea typeface="Cambria Math" panose="02040503050406030204" pitchFamily="18" charset="0"/>
                              </a:rPr>
                              <m:t>2</m:t>
                            </m:r>
                            <m:r>
                              <a:rPr lang="en-US" sz="1200" b="0" i="1" smtClean="0">
                                <a:solidFill>
                                  <a:schemeClr val="tx1"/>
                                </a:solidFill>
                                <a:latin typeface="Cambria Math" panose="02040503050406030204" pitchFamily="18" charset="0"/>
                                <a:ea typeface="Cambria Math" panose="02040503050406030204" pitchFamily="18" charset="0"/>
                              </a:rPr>
                              <m:t>𝜋</m:t>
                            </m:r>
                            <m:r>
                              <a:rPr lang="en-US" sz="1200" b="0" i="1" smtClean="0">
                                <a:solidFill>
                                  <a:schemeClr val="tx1"/>
                                </a:solidFill>
                                <a:latin typeface="Cambria Math" panose="02040503050406030204" pitchFamily="18" charset="0"/>
                                <a:ea typeface="Cambria Math" panose="02040503050406030204" pitchFamily="18" charset="0"/>
                              </a:rPr>
                              <m:t>𝑖</m:t>
                            </m:r>
                          </m:num>
                          <m:den>
                            <m:r>
                              <a:rPr lang="en-US" sz="1200" b="0" i="1" smtClean="0">
                                <a:solidFill>
                                  <a:schemeClr val="tx1"/>
                                </a:solidFill>
                                <a:latin typeface="Cambria Math" panose="02040503050406030204" pitchFamily="18" charset="0"/>
                                <a:ea typeface="Cambria Math" panose="02040503050406030204" pitchFamily="18" charset="0"/>
                              </a:rPr>
                              <m:t>𝑁</m:t>
                            </m:r>
                          </m:den>
                        </m:f>
                      </m:sup>
                    </m:sSup>
                  </m:oMath>
                </a14:m>
                <a:r>
                  <a:rPr lang="en-ZA" b="0" dirty="0"/>
                  <a:t>. </a:t>
                </a:r>
                <a:r>
                  <a:rPr lang="en-ZA" dirty="0"/>
                  <a:t>Each entry of the matrix is a power of </a:t>
                </a:r>
                <a14:m>
                  <m:oMath xmlns:m="http://schemas.openxmlformats.org/officeDocument/2006/math">
                    <m:r>
                      <a:rPr lang="en-US" sz="1200" b="0" i="1" smtClean="0">
                        <a:latin typeface="Cambria Math" panose="02040503050406030204" pitchFamily="18" charset="0"/>
                        <a:ea typeface="Cambria Math" panose="02040503050406030204" pitchFamily="18" charset="0"/>
                      </a:rPr>
                      <m:t>𝜔</m:t>
                    </m:r>
                  </m:oMath>
                </a14:m>
                <a:r>
                  <a:rPr lang="en-ZA" b="0" dirty="0"/>
                  <a:t>. </a:t>
                </a:r>
                <a:r>
                  <a:rPr lang="en-ZA" dirty="0"/>
                  <a:t>The element in </a:t>
                </a:r>
                <a:r>
                  <a:rPr lang="en-ZA" b="0" dirty="0"/>
                  <a:t>column </a:t>
                </a:r>
                <a14:m>
                  <m:oMath xmlns:m="http://schemas.openxmlformats.org/officeDocument/2006/math">
                    <m:r>
                      <a:rPr lang="en-US" sz="1200" b="0" i="1" smtClean="0">
                        <a:latin typeface="Cambria Math" panose="02040503050406030204" pitchFamily="18" charset="0"/>
                        <a:ea typeface="Cambria Math" panose="02040503050406030204" pitchFamily="18" charset="0"/>
                      </a:rPr>
                      <m:t>𝑗</m:t>
                    </m:r>
                  </m:oMath>
                </a14:m>
                <a:r>
                  <a:rPr lang="en-ZA" b="0" dirty="0"/>
                  <a:t> and </a:t>
                </a:r>
                <a:r>
                  <a:rPr lang="en-ZA" dirty="0"/>
                  <a:t>row </a:t>
                </a:r>
                <a14:m>
                  <m:oMath xmlns:m="http://schemas.openxmlformats.org/officeDocument/2006/math">
                    <m:r>
                      <a:rPr lang="en-US" sz="1200" b="0" i="1" smtClean="0">
                        <a:latin typeface="Cambria Math" panose="02040503050406030204" pitchFamily="18" charset="0"/>
                        <a:ea typeface="Cambria Math" panose="02040503050406030204" pitchFamily="18" charset="0"/>
                      </a:rPr>
                      <m:t>𝑘</m:t>
                    </m:r>
                  </m:oMath>
                </a14:m>
                <a:r>
                  <a:rPr lang="en-ZA" b="0" dirty="0"/>
                  <a:t> is </a:t>
                </a:r>
                <a14:m>
                  <m:oMath xmlns:m="http://schemas.openxmlformats.org/officeDocument/2006/math">
                    <m:sSup>
                      <m:sSupPr>
                        <m:ctrlPr>
                          <a:rPr lang="en-US" sz="1200" b="0" i="1" smtClean="0">
                            <a:solidFill>
                              <a:schemeClr val="tx1">
                                <a:lumMod val="50000"/>
                                <a:lumOff val="50000"/>
                              </a:schemeClr>
                            </a:solidFill>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𝜔</m:t>
                        </m:r>
                      </m:e>
                      <m:sup>
                        <m:r>
                          <a:rPr lang="en-US" sz="1200" b="0" i="1" smtClean="0">
                            <a:latin typeface="Cambria Math" panose="02040503050406030204" pitchFamily="18" charset="0"/>
                            <a:ea typeface="Cambria Math" panose="02040503050406030204" pitchFamily="18" charset="0"/>
                          </a:rPr>
                          <m:t>𝑗</m:t>
                        </m:r>
                        <m:r>
                          <a:rPr lang="en-US" sz="1200" b="0" i="1" smtClean="0">
                            <a:solidFill>
                              <a:schemeClr val="tx1">
                                <a:lumMod val="50000"/>
                                <a:lumOff val="50000"/>
                              </a:schemeClr>
                            </a:solidFill>
                            <a:latin typeface="Cambria Math" panose="02040503050406030204" pitchFamily="18" charset="0"/>
                            <a:ea typeface="Cambria Math" panose="02040503050406030204" pitchFamily="18" charset="0"/>
                          </a:rPr>
                          <m:t>𝑘</m:t>
                        </m:r>
                      </m:sup>
                    </m:sSup>
                  </m:oMath>
                </a14:m>
                <a:r>
                  <a:rPr lang="en-ZA" b="0" dirty="0"/>
                  <a:t> </a:t>
                </a:r>
                <a:r>
                  <a:rPr lang="en-ZA" dirty="0"/>
                  <a:t>, where </a:t>
                </a:r>
                <a14:m>
                  <m:oMath xmlns:m="http://schemas.openxmlformats.org/officeDocument/2006/math">
                    <m:r>
                      <a:rPr lang="en-US" sz="1200" b="0" i="1" smtClean="0">
                        <a:solidFill>
                          <a:schemeClr val="tx1">
                            <a:lumMod val="50000"/>
                            <a:lumOff val="50000"/>
                          </a:schemeClr>
                        </a:solidFill>
                        <a:latin typeface="Cambria Math" panose="02040503050406030204" pitchFamily="18" charset="0"/>
                        <a:ea typeface="Cambria Math" panose="02040503050406030204" pitchFamily="18" charset="0"/>
                      </a:rPr>
                      <m:t>𝑗</m:t>
                    </m:r>
                  </m:oMath>
                </a14:m>
                <a:r>
                  <a:rPr lang="en-ZA" dirty="0"/>
                  <a:t> and </a:t>
                </a:r>
                <a14:m>
                  <m:oMath xmlns:m="http://schemas.openxmlformats.org/officeDocument/2006/math">
                    <m:r>
                      <a:rPr lang="en-US" sz="1200" b="0" i="1" smtClean="0">
                        <a:solidFill>
                          <a:schemeClr val="tx1">
                            <a:lumMod val="50000"/>
                            <a:lumOff val="50000"/>
                          </a:schemeClr>
                        </a:solidFill>
                        <a:latin typeface="Cambria Math" panose="02040503050406030204" pitchFamily="18" charset="0"/>
                        <a:ea typeface="Cambria Math" panose="02040503050406030204" pitchFamily="18" charset="0"/>
                      </a:rPr>
                      <m:t>𝑘</m:t>
                    </m:r>
                  </m:oMath>
                </a14:m>
                <a:r>
                  <a:rPr lang="en-ZA" dirty="0"/>
                  <a:t> start from 0.</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The factor </a:t>
                </a:r>
                <a14:m>
                  <m:oMath xmlns:m="http://schemas.openxmlformats.org/officeDocument/2006/math">
                    <m:r>
                      <a:rPr lang="en-US" sz="1200" b="0" i="0" smtClean="0">
                        <a:solidFill>
                          <a:schemeClr val="tx1"/>
                        </a:solidFill>
                        <a:latin typeface="Cambria Math" panose="02040503050406030204" pitchFamily="18" charset="0"/>
                        <a:ea typeface="Cambria Math" panose="02040503050406030204" pitchFamily="18" charset="0"/>
                      </a:rPr>
                      <m:t>1/</m:t>
                    </m:r>
                    <m:rad>
                      <m:radPr>
                        <m:degHide m:val="on"/>
                        <m:ctrlPr>
                          <a:rPr lang="en-US" sz="1200" b="0" i="1" smtClean="0">
                            <a:solidFill>
                              <a:schemeClr val="tx1"/>
                            </a:solidFill>
                            <a:latin typeface="Cambria Math" panose="02040503050406030204" pitchFamily="18" charset="0"/>
                            <a:ea typeface="Cambria Math" panose="02040503050406030204" pitchFamily="18" charset="0"/>
                          </a:rPr>
                        </m:ctrlPr>
                      </m:radPr>
                      <m:deg/>
                      <m:e>
                        <m:r>
                          <a:rPr lang="en-US" sz="1200" b="0" i="1" smtClean="0">
                            <a:solidFill>
                              <a:schemeClr val="tx1"/>
                            </a:solidFill>
                            <a:latin typeface="Cambria Math" panose="02040503050406030204" pitchFamily="18" charset="0"/>
                            <a:ea typeface="Cambria Math" panose="02040503050406030204" pitchFamily="18" charset="0"/>
                          </a:rPr>
                          <m:t>𝑁</m:t>
                        </m:r>
                      </m:e>
                    </m:rad>
                  </m:oMath>
                </a14:m>
                <a:r>
                  <a:rPr lang="en-ZA" b="0" dirty="0"/>
                  <a:t>, </a:t>
                </a:r>
                <a:r>
                  <a:rPr lang="en-ZA" dirty="0"/>
                  <a:t>is included to make the DFT matrix unitary, meaning that it preserves the length of the vector. The DFT of a vector is then calculated simply by multiplying the DFT matrix by the original vector: </a:t>
                </a:r>
                <a14:m>
                  <m:oMath xmlns:m="http://schemas.openxmlformats.org/officeDocument/2006/math">
                    <m:acc>
                      <m:accPr>
                        <m:chr m:val="̃"/>
                        <m:ctrlPr>
                          <a:rPr lang="en-US" sz="1200" b="0" i="1" smtClean="0">
                            <a:solidFill>
                              <a:srgbClr val="002060"/>
                            </a:solidFill>
                            <a:latin typeface="Cambria Math" panose="02040503050406030204" pitchFamily="18" charset="0"/>
                            <a:ea typeface="Cambria Math" panose="02040503050406030204" pitchFamily="18" charset="0"/>
                          </a:rPr>
                        </m:ctrlPr>
                      </m:accPr>
                      <m:e>
                        <m:r>
                          <a:rPr lang="en-US" sz="1200" b="0" i="1">
                            <a:solidFill>
                              <a:srgbClr val="002060"/>
                            </a:solidFill>
                            <a:latin typeface="Cambria Math" panose="02040503050406030204" pitchFamily="18" charset="0"/>
                            <a:ea typeface="Cambria Math" panose="02040503050406030204" pitchFamily="18" charset="0"/>
                          </a:rPr>
                          <m:t>𝑥</m:t>
                        </m:r>
                      </m:e>
                    </m:acc>
                    <m:r>
                      <a:rPr lang="en-US" sz="1200" b="0" i="1" smtClean="0">
                        <a:solidFill>
                          <a:srgbClr val="002060"/>
                        </a:solidFill>
                        <a:latin typeface="Cambria Math" panose="02040503050406030204" pitchFamily="18" charset="0"/>
                        <a:ea typeface="Cambria Math" panose="02040503050406030204" pitchFamily="18" charset="0"/>
                      </a:rPr>
                      <m:t>=</m:t>
                    </m:r>
                    <m:sSub>
                      <m:sSubPr>
                        <m:ctrlPr>
                          <a:rPr lang="en-US" sz="1200" i="1" smtClean="0">
                            <a:solidFill>
                              <a:schemeClr val="tx1"/>
                            </a:solidFill>
                            <a:latin typeface="Cambria Math" panose="02040503050406030204" pitchFamily="18" charset="0"/>
                            <a:ea typeface="Cambria Math" panose="02040503050406030204" pitchFamily="18" charset="0"/>
                          </a:rPr>
                        </m:ctrlPr>
                      </m:sSubPr>
                      <m:e>
                        <m:r>
                          <a:rPr lang="en-US" sz="1200" b="0" i="1" smtClean="0">
                            <a:solidFill>
                              <a:schemeClr val="tx1"/>
                            </a:solidFill>
                            <a:latin typeface="Cambria Math" panose="02040503050406030204" pitchFamily="18" charset="0"/>
                            <a:ea typeface="Cambria Math" panose="02040503050406030204" pitchFamily="18" charset="0"/>
                          </a:rPr>
                          <m:t>𝐹</m:t>
                        </m:r>
                      </m:e>
                      <m:sub>
                        <m:r>
                          <a:rPr lang="en-US" sz="1200" b="0" i="1" smtClean="0">
                            <a:solidFill>
                              <a:schemeClr val="tx1"/>
                            </a:solidFill>
                            <a:latin typeface="Cambria Math" panose="02040503050406030204" pitchFamily="18" charset="0"/>
                            <a:ea typeface="Cambria Math" panose="02040503050406030204" pitchFamily="18" charset="0"/>
                          </a:rPr>
                          <m:t>𝑁</m:t>
                        </m:r>
                      </m:sub>
                    </m:sSub>
                    <m:r>
                      <a:rPr lang="en-US" sz="1200" i="1" smtClean="0">
                        <a:solidFill>
                          <a:schemeClr val="tx1"/>
                        </a:solidFill>
                        <a:latin typeface="Cambria Math" panose="02040503050406030204" pitchFamily="18" charset="0"/>
                        <a:ea typeface="Cambria Math" panose="02040503050406030204" pitchFamily="18" charset="0"/>
                      </a:rPr>
                      <m:t>𝑥</m:t>
                    </m:r>
                  </m:oMath>
                </a14:m>
                <a:r>
                  <a:rPr lang="en-ZA" b="0" dirty="0"/>
                  <a:t>. </a:t>
                </a:r>
              </a:p>
              <a:p>
                <a:pPr algn="just"/>
                <a:endParaRPr lang="en-ZA" dirty="0"/>
              </a:p>
              <a:p>
                <a:pPr algn="just"/>
                <a:r>
                  <a:rPr lang="en-ZA" dirty="0"/>
                  <a:t>For example, if the vector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𝑥</m:t>
                    </m:r>
                  </m:oMath>
                </a14:m>
                <a:r>
                  <a:rPr lang="en-ZA" dirty="0"/>
                  <a:t> has four elements, we use a 4×4 DFT matrix. In this case,</a:t>
                </a:r>
                <a:r>
                  <a:rPr lang="en-ZA" baseline="0" dirty="0"/>
                  <a:t> </a:t>
                </a:r>
                <a14:m>
                  <m:oMath xmlns:m="http://schemas.openxmlformats.org/officeDocument/2006/math">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𝜔</m:t>
                        </m:r>
                        <m:r>
                          <a:rPr lang="en-US" sz="1200" b="0" i="1" smtClean="0">
                            <a:solidFill>
                              <a:schemeClr val="tx1">
                                <a:lumMod val="50000"/>
                                <a:lumOff val="50000"/>
                              </a:schemeClr>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𝑒</m:t>
                        </m:r>
                      </m:e>
                      <m:sup>
                        <m:f>
                          <m:fPr>
                            <m:type m:val="lin"/>
                            <m:ctrlPr>
                              <a:rPr lang="en-US" sz="1200" b="0" i="1" smtClean="0">
                                <a:solidFill>
                                  <a:schemeClr val="tx1"/>
                                </a:solidFill>
                                <a:latin typeface="Cambria Math" panose="02040503050406030204" pitchFamily="18" charset="0"/>
                                <a:ea typeface="Cambria Math" panose="02040503050406030204" pitchFamily="18" charset="0"/>
                              </a:rPr>
                            </m:ctrlPr>
                          </m:fPr>
                          <m:num>
                            <m:r>
                              <a:rPr lang="en-US" sz="1200" b="0" i="1" smtClean="0">
                                <a:solidFill>
                                  <a:schemeClr val="tx1"/>
                                </a:solidFill>
                                <a:latin typeface="Cambria Math" panose="02040503050406030204" pitchFamily="18" charset="0"/>
                                <a:ea typeface="Cambria Math" panose="02040503050406030204" pitchFamily="18" charset="0"/>
                              </a:rPr>
                              <m:t>2</m:t>
                            </m:r>
                            <m:r>
                              <a:rPr lang="en-US" sz="1200" b="0" i="1" smtClean="0">
                                <a:solidFill>
                                  <a:schemeClr val="tx1"/>
                                </a:solidFill>
                                <a:latin typeface="Cambria Math" panose="02040503050406030204" pitchFamily="18" charset="0"/>
                                <a:ea typeface="Cambria Math" panose="02040503050406030204" pitchFamily="18" charset="0"/>
                              </a:rPr>
                              <m:t>𝜋</m:t>
                            </m:r>
                            <m:r>
                              <a:rPr lang="en-US" sz="1200" b="0" i="1" smtClean="0">
                                <a:solidFill>
                                  <a:schemeClr val="tx1"/>
                                </a:solidFill>
                                <a:latin typeface="Cambria Math" panose="02040503050406030204" pitchFamily="18" charset="0"/>
                                <a:ea typeface="Cambria Math" panose="02040503050406030204" pitchFamily="18" charset="0"/>
                              </a:rPr>
                              <m:t>𝑖</m:t>
                            </m:r>
                          </m:num>
                          <m:den>
                            <m:r>
                              <a:rPr lang="en-US" sz="1200" b="0" i="1" smtClean="0">
                                <a:solidFill>
                                  <a:schemeClr val="tx1"/>
                                </a:solidFill>
                                <a:latin typeface="Cambria Math" panose="02040503050406030204" pitchFamily="18" charset="0"/>
                                <a:ea typeface="Cambria Math" panose="02040503050406030204" pitchFamily="18" charset="0"/>
                              </a:rPr>
                              <m:t>4</m:t>
                            </m:r>
                          </m:den>
                        </m:f>
                      </m:sup>
                    </m:sSup>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𝑖</m:t>
                    </m:r>
                  </m:oMath>
                </a14:m>
                <a:r>
                  <a:rPr lang="en-ZA" dirty="0"/>
                  <a:t> and</a:t>
                </a:r>
              </a:p>
              <a:p>
                <a:pPr algn="just"/>
                <a:endParaRPr lang="en-ZA" dirty="0"/>
              </a:p>
              <a:p>
                <a:pPr algn="just"/>
                <a14:m>
                  <m:oMathPara xmlns:m="http://schemas.openxmlformats.org/officeDocument/2006/math">
                    <m:oMathParaPr>
                      <m:jc m:val="centerGroup"/>
                    </m:oMathParaPr>
                    <m:oMath xmlns:m="http://schemas.openxmlformats.org/officeDocument/2006/math">
                      <m:sSub>
                        <m:sSubPr>
                          <m:ctrlPr>
                            <a:rPr lang="en-US" sz="1200" i="1" smtClean="0">
                              <a:solidFill>
                                <a:schemeClr val="tx1"/>
                              </a:solidFill>
                              <a:latin typeface="Cambria Math" panose="02040503050406030204" pitchFamily="18" charset="0"/>
                              <a:ea typeface="Cambria Math" panose="02040503050406030204" pitchFamily="18" charset="0"/>
                            </a:rPr>
                          </m:ctrlPr>
                        </m:sSubPr>
                        <m:e>
                          <m:r>
                            <a:rPr lang="en-US" sz="1200" b="0" i="1" smtClean="0">
                              <a:solidFill>
                                <a:schemeClr val="tx1"/>
                              </a:solidFill>
                              <a:latin typeface="Cambria Math" panose="02040503050406030204" pitchFamily="18" charset="0"/>
                              <a:ea typeface="Cambria Math" panose="02040503050406030204" pitchFamily="18" charset="0"/>
                            </a:rPr>
                            <m:t>𝐹</m:t>
                          </m:r>
                        </m:e>
                        <m:sub>
                          <m:r>
                            <a:rPr lang="en-US" sz="1200" b="0" i="1" smtClean="0">
                              <a:solidFill>
                                <a:schemeClr val="tx1"/>
                              </a:solidFill>
                              <a:latin typeface="Cambria Math" panose="02040503050406030204" pitchFamily="18" charset="0"/>
                              <a:ea typeface="Cambria Math" panose="02040503050406030204" pitchFamily="18" charset="0"/>
                            </a:rPr>
                            <m:t>4</m:t>
                          </m:r>
                        </m:sub>
                      </m:sSub>
                      <m:r>
                        <a:rPr lang="en-US" sz="1200" b="0" i="1" smtClean="0">
                          <a:solidFill>
                            <a:schemeClr val="tx1"/>
                          </a:solidFill>
                          <a:latin typeface="Cambria Math" panose="02040503050406030204" pitchFamily="18" charset="0"/>
                          <a:ea typeface="Cambria Math" panose="02040503050406030204" pitchFamily="18" charset="0"/>
                        </a:rPr>
                        <m:t>=</m:t>
                      </m:r>
                      <m:f>
                        <m:fPr>
                          <m:ctrlPr>
                            <a:rPr lang="en-US" sz="1200" b="0" i="1" smtClean="0">
                              <a:solidFill>
                                <a:schemeClr val="tx1"/>
                              </a:solidFill>
                              <a:latin typeface="Cambria Math" panose="02040503050406030204" pitchFamily="18" charset="0"/>
                              <a:ea typeface="Cambria Math" panose="02040503050406030204" pitchFamily="18" charset="0"/>
                            </a:rPr>
                          </m:ctrlPr>
                        </m:fPr>
                        <m:num>
                          <m:r>
                            <a:rPr lang="en-US" sz="1200" b="0" i="1" smtClean="0">
                              <a:solidFill>
                                <a:schemeClr val="tx1"/>
                              </a:solidFill>
                              <a:latin typeface="Cambria Math" panose="02040503050406030204" pitchFamily="18" charset="0"/>
                              <a:ea typeface="Cambria Math" panose="02040503050406030204" pitchFamily="18" charset="0"/>
                            </a:rPr>
                            <m:t>1</m:t>
                          </m:r>
                        </m:num>
                        <m:den>
                          <m:rad>
                            <m:radPr>
                              <m:degHide m:val="on"/>
                              <m:ctrlPr>
                                <a:rPr lang="en-US" sz="1200" b="0" i="1" smtClean="0">
                                  <a:solidFill>
                                    <a:schemeClr val="tx1"/>
                                  </a:solidFill>
                                  <a:latin typeface="Cambria Math" panose="02040503050406030204" pitchFamily="18" charset="0"/>
                                  <a:ea typeface="Cambria Math" panose="02040503050406030204" pitchFamily="18" charset="0"/>
                                </a:rPr>
                              </m:ctrlPr>
                            </m:radPr>
                            <m:deg/>
                            <m:e>
                              <m:r>
                                <a:rPr lang="en-US" sz="1200" b="0" i="1" smtClean="0">
                                  <a:solidFill>
                                    <a:schemeClr val="tx1"/>
                                  </a:solidFill>
                                  <a:latin typeface="Cambria Math" panose="02040503050406030204" pitchFamily="18" charset="0"/>
                                  <a:ea typeface="Cambria Math" panose="02040503050406030204" pitchFamily="18" charset="0"/>
                                </a:rPr>
                                <m:t>𝑁</m:t>
                              </m:r>
                            </m:e>
                          </m:rad>
                        </m:den>
                      </m:f>
                      <m:d>
                        <m:dPr>
                          <m:ctrlPr>
                            <a:rPr lang="en-US" sz="1200" i="1" smtClean="0">
                              <a:latin typeface="Cambria Math" panose="02040503050406030204" pitchFamily="18" charset="0"/>
                              <a:ea typeface="Cambria Math" panose="02040503050406030204" pitchFamily="18" charset="0"/>
                            </a:rPr>
                          </m:ctrlPr>
                        </m:dPr>
                        <m:e>
                          <m:m>
                            <m:mPr>
                              <m:mcs>
                                <m:mc>
                                  <m:mcPr>
                                    <m:count m:val="4"/>
                                    <m:mcJc m:val="center"/>
                                  </m:mcPr>
                                </m:mc>
                              </m:mcs>
                              <m:ctrlPr>
                                <a:rPr lang="en-US" sz="1200" i="1">
                                  <a:latin typeface="Cambria Math" panose="02040503050406030204" pitchFamily="18" charset="0"/>
                                  <a:ea typeface="Cambria Math" panose="02040503050406030204" pitchFamily="18" charset="0"/>
                                </a:rPr>
                              </m:ctrlPr>
                            </m:mPr>
                            <m:mr>
                              <m:e>
                                <m:r>
                                  <m:rPr>
                                    <m:brk m:alnAt="7"/>
                                  </m:rPr>
                                  <a:rPr lang="en-US" sz="1200" i="1">
                                    <a:latin typeface="Cambria Math" panose="02040503050406030204" pitchFamily="18" charset="0"/>
                                    <a:ea typeface="Cambria Math" panose="02040503050406030204" pitchFamily="18" charset="0"/>
                                  </a:rPr>
                                  <m:t>1</m:t>
                                </m:r>
                              </m:e>
                              <m:e>
                                <m:r>
                                  <a:rPr lang="en-US" sz="1200" i="1">
                                    <a:latin typeface="Cambria Math" panose="02040503050406030204" pitchFamily="18" charset="0"/>
                                    <a:ea typeface="Cambria Math" panose="02040503050406030204" pitchFamily="18" charset="0"/>
                                  </a:rPr>
                                  <m:t>1</m:t>
                                </m:r>
                              </m:e>
                              <m:e>
                                <m:r>
                                  <a:rPr lang="en-US" sz="1200" i="1">
                                    <a:latin typeface="Cambria Math" panose="02040503050406030204" pitchFamily="18" charset="0"/>
                                    <a:ea typeface="Cambria Math" panose="02040503050406030204" pitchFamily="18" charset="0"/>
                                  </a:rPr>
                                  <m:t>1</m:t>
                                </m:r>
                              </m:e>
                              <m:e>
                                <m:r>
                                  <a:rPr lang="en-US" sz="1200" i="1">
                                    <a:latin typeface="Cambria Math" panose="02040503050406030204" pitchFamily="18" charset="0"/>
                                    <a:ea typeface="Cambria Math" panose="02040503050406030204" pitchFamily="18" charset="0"/>
                                  </a:rPr>
                                  <m:t>1</m:t>
                                </m:r>
                              </m:e>
                            </m:mr>
                            <m:mr>
                              <m:e>
                                <m:r>
                                  <a:rPr lang="en-US" sz="1200" i="1">
                                    <a:latin typeface="Cambria Math" panose="02040503050406030204" pitchFamily="18" charset="0"/>
                                    <a:ea typeface="Cambria Math" panose="02040503050406030204" pitchFamily="18" charset="0"/>
                                  </a:rPr>
                                  <m:t>1</m:t>
                                </m:r>
                              </m:e>
                              <m:e>
                                <m:r>
                                  <a:rPr lang="en-US" sz="1200" i="1">
                                    <a:latin typeface="Cambria Math" panose="02040503050406030204" pitchFamily="18" charset="0"/>
                                    <a:ea typeface="Cambria Math" panose="02040503050406030204" pitchFamily="18" charset="0"/>
                                  </a:rPr>
                                  <m:t>𝜔</m:t>
                                </m:r>
                              </m:e>
                              <m:e>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𝜔</m:t>
                                    </m:r>
                                  </m:e>
                                  <m:sup>
                                    <m:r>
                                      <a:rPr lang="en-US" sz="1200" i="1">
                                        <a:latin typeface="Cambria Math" panose="02040503050406030204" pitchFamily="18" charset="0"/>
                                        <a:ea typeface="Cambria Math" panose="02040503050406030204" pitchFamily="18" charset="0"/>
                                      </a:rPr>
                                      <m:t>2</m:t>
                                    </m:r>
                                  </m:sup>
                                </m:sSup>
                              </m:e>
                              <m:e>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𝜔</m:t>
                                    </m:r>
                                  </m:e>
                                  <m:sup>
                                    <m:r>
                                      <a:rPr lang="en-US" sz="1200" i="1">
                                        <a:latin typeface="Cambria Math" panose="02040503050406030204" pitchFamily="18" charset="0"/>
                                        <a:ea typeface="Cambria Math" panose="02040503050406030204" pitchFamily="18" charset="0"/>
                                      </a:rPr>
                                      <m:t>3</m:t>
                                    </m:r>
                                  </m:sup>
                                </m:sSup>
                              </m:e>
                            </m:mr>
                            <m:mr>
                              <m:e>
                                <m:r>
                                  <a:rPr lang="en-US" sz="1200" i="1">
                                    <a:latin typeface="Cambria Math" panose="02040503050406030204" pitchFamily="18" charset="0"/>
                                    <a:ea typeface="Cambria Math" panose="02040503050406030204" pitchFamily="18" charset="0"/>
                                  </a:rPr>
                                  <m:t>1</m:t>
                                </m:r>
                              </m:e>
                              <m:e>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𝜔</m:t>
                                    </m:r>
                                  </m:e>
                                  <m:sup>
                                    <m:r>
                                      <a:rPr lang="en-US" sz="1200" i="1">
                                        <a:latin typeface="Cambria Math" panose="02040503050406030204" pitchFamily="18" charset="0"/>
                                        <a:ea typeface="Cambria Math" panose="02040503050406030204" pitchFamily="18" charset="0"/>
                                      </a:rPr>
                                      <m:t>2</m:t>
                                    </m:r>
                                  </m:sup>
                                </m:sSup>
                              </m:e>
                              <m:e>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𝜔</m:t>
                                    </m:r>
                                  </m:e>
                                  <m:sup>
                                    <m:r>
                                      <a:rPr lang="en-US" sz="1200" i="1">
                                        <a:latin typeface="Cambria Math" panose="02040503050406030204" pitchFamily="18" charset="0"/>
                                        <a:ea typeface="Cambria Math" panose="02040503050406030204" pitchFamily="18" charset="0"/>
                                      </a:rPr>
                                      <m:t>4</m:t>
                                    </m:r>
                                  </m:sup>
                                </m:sSup>
                              </m:e>
                              <m:e>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𝜔</m:t>
                                    </m:r>
                                  </m:e>
                                  <m:sup>
                                    <m:r>
                                      <a:rPr lang="en-US" sz="1200" i="1">
                                        <a:latin typeface="Cambria Math" panose="02040503050406030204" pitchFamily="18" charset="0"/>
                                        <a:ea typeface="Cambria Math" panose="02040503050406030204" pitchFamily="18" charset="0"/>
                                      </a:rPr>
                                      <m:t>6</m:t>
                                    </m:r>
                                  </m:sup>
                                </m:sSup>
                              </m:e>
                            </m:mr>
                            <m:mr>
                              <m:e>
                                <m:r>
                                  <a:rPr lang="en-US" sz="1200" i="1">
                                    <a:latin typeface="Cambria Math" panose="02040503050406030204" pitchFamily="18" charset="0"/>
                                    <a:ea typeface="Cambria Math" panose="02040503050406030204" pitchFamily="18" charset="0"/>
                                  </a:rPr>
                                  <m:t>1</m:t>
                                </m:r>
                              </m:e>
                              <m:e>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𝜔</m:t>
                                    </m:r>
                                  </m:e>
                                  <m:sup>
                                    <m:r>
                                      <a:rPr lang="en-US" sz="1200" i="1">
                                        <a:latin typeface="Cambria Math" panose="02040503050406030204" pitchFamily="18" charset="0"/>
                                        <a:ea typeface="Cambria Math" panose="02040503050406030204" pitchFamily="18" charset="0"/>
                                      </a:rPr>
                                      <m:t>3</m:t>
                                    </m:r>
                                  </m:sup>
                                </m:sSup>
                              </m:e>
                              <m:e>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𝜔</m:t>
                                    </m:r>
                                  </m:e>
                                  <m:sup>
                                    <m:r>
                                      <a:rPr lang="en-US" sz="1200" i="1">
                                        <a:latin typeface="Cambria Math" panose="02040503050406030204" pitchFamily="18" charset="0"/>
                                        <a:ea typeface="Cambria Math" panose="02040503050406030204" pitchFamily="18" charset="0"/>
                                      </a:rPr>
                                      <m:t>6</m:t>
                                    </m:r>
                                  </m:sup>
                                </m:sSup>
                              </m:e>
                              <m:e>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𝜔</m:t>
                                    </m:r>
                                  </m:e>
                                  <m:sup>
                                    <m:r>
                                      <a:rPr lang="en-US" sz="1200" i="1">
                                        <a:latin typeface="Cambria Math" panose="02040503050406030204" pitchFamily="18" charset="0"/>
                                        <a:ea typeface="Cambria Math" panose="02040503050406030204" pitchFamily="18" charset="0"/>
                                      </a:rPr>
                                      <m:t>9</m:t>
                                    </m:r>
                                  </m:sup>
                                </m:sSup>
                              </m:e>
                            </m:mr>
                          </m:m>
                        </m:e>
                      </m:d>
                      <m:r>
                        <a:rPr lang="en-US" sz="1200" b="0" i="1" smtClean="0">
                          <a:latin typeface="Cambria Math" panose="02040503050406030204" pitchFamily="18" charset="0"/>
                          <a:ea typeface="Cambria Math" panose="02040503050406030204" pitchFamily="18" charset="0"/>
                        </a:rPr>
                        <m:t>=</m:t>
                      </m:r>
                      <m:f>
                        <m:fPr>
                          <m:ctrlPr>
                            <a:rPr lang="en-US" sz="1200" b="0" i="1" smtClean="0">
                              <a:solidFill>
                                <a:schemeClr val="tx1"/>
                              </a:solidFill>
                              <a:latin typeface="Cambria Math" panose="02040503050406030204" pitchFamily="18" charset="0"/>
                              <a:ea typeface="Cambria Math" panose="02040503050406030204" pitchFamily="18" charset="0"/>
                            </a:rPr>
                          </m:ctrlPr>
                        </m:fPr>
                        <m:num>
                          <m:r>
                            <a:rPr lang="en-US" sz="1200" b="0" i="1" smtClean="0">
                              <a:solidFill>
                                <a:schemeClr val="tx1"/>
                              </a:solidFill>
                              <a:latin typeface="Cambria Math" panose="02040503050406030204" pitchFamily="18" charset="0"/>
                              <a:ea typeface="Cambria Math" panose="02040503050406030204" pitchFamily="18" charset="0"/>
                            </a:rPr>
                            <m:t>1</m:t>
                          </m:r>
                        </m:num>
                        <m:den>
                          <m:r>
                            <a:rPr lang="en-US" sz="1200" b="0" i="1" smtClean="0">
                              <a:solidFill>
                                <a:schemeClr val="tx1"/>
                              </a:solidFill>
                              <a:latin typeface="Cambria Math" panose="02040503050406030204" pitchFamily="18" charset="0"/>
                              <a:ea typeface="Cambria Math" panose="02040503050406030204" pitchFamily="18" charset="0"/>
                            </a:rPr>
                            <m:t>2</m:t>
                          </m:r>
                        </m:den>
                      </m:f>
                      <m:d>
                        <m:dPr>
                          <m:ctrlPr>
                            <a:rPr lang="en-US" sz="1200" i="1" smtClean="0">
                              <a:latin typeface="Cambria Math" panose="02040503050406030204" pitchFamily="18" charset="0"/>
                              <a:ea typeface="Cambria Math" panose="02040503050406030204" pitchFamily="18" charset="0"/>
                            </a:rPr>
                          </m:ctrlPr>
                        </m:dPr>
                        <m:e>
                          <m:m>
                            <m:mPr>
                              <m:mcs>
                                <m:mc>
                                  <m:mcPr>
                                    <m:count m:val="4"/>
                                    <m:mcJc m:val="center"/>
                                  </m:mcPr>
                                </m:mc>
                              </m:mcs>
                              <m:ctrlPr>
                                <a:rPr lang="en-US" sz="1200" i="1">
                                  <a:latin typeface="Cambria Math" panose="02040503050406030204" pitchFamily="18" charset="0"/>
                                  <a:ea typeface="Cambria Math" panose="02040503050406030204" pitchFamily="18" charset="0"/>
                                </a:rPr>
                              </m:ctrlPr>
                            </m:mPr>
                            <m:mr>
                              <m:e>
                                <m:r>
                                  <m:rPr>
                                    <m:brk m:alnAt="7"/>
                                  </m:rPr>
                                  <a:rPr lang="en-US" sz="1200" i="1">
                                    <a:latin typeface="Cambria Math" panose="02040503050406030204" pitchFamily="18" charset="0"/>
                                    <a:ea typeface="Cambria Math" panose="02040503050406030204" pitchFamily="18" charset="0"/>
                                  </a:rPr>
                                  <m:t>1</m:t>
                                </m:r>
                              </m:e>
                              <m:e>
                                <m:r>
                                  <a:rPr lang="en-US" sz="1200" i="1">
                                    <a:latin typeface="Cambria Math" panose="02040503050406030204" pitchFamily="18" charset="0"/>
                                    <a:ea typeface="Cambria Math" panose="02040503050406030204" pitchFamily="18" charset="0"/>
                                  </a:rPr>
                                  <m:t>1</m:t>
                                </m:r>
                              </m:e>
                              <m:e>
                                <m:r>
                                  <a:rPr lang="en-US" sz="1200" i="1">
                                    <a:latin typeface="Cambria Math" panose="02040503050406030204" pitchFamily="18" charset="0"/>
                                    <a:ea typeface="Cambria Math" panose="02040503050406030204" pitchFamily="18" charset="0"/>
                                  </a:rPr>
                                  <m:t>1</m:t>
                                </m:r>
                              </m:e>
                              <m:e>
                                <m:r>
                                  <a:rPr lang="en-US" sz="1200" i="1">
                                    <a:latin typeface="Cambria Math" panose="02040503050406030204" pitchFamily="18" charset="0"/>
                                    <a:ea typeface="Cambria Math" panose="02040503050406030204" pitchFamily="18" charset="0"/>
                                  </a:rPr>
                                  <m:t>1</m:t>
                                </m:r>
                              </m:e>
                            </m:mr>
                            <m:mr>
                              <m:e>
                                <m:r>
                                  <a:rPr lang="en-US" sz="1200" i="1">
                                    <a:latin typeface="Cambria Math" panose="02040503050406030204" pitchFamily="18" charset="0"/>
                                    <a:ea typeface="Cambria Math" panose="02040503050406030204" pitchFamily="18" charset="0"/>
                                  </a:rPr>
                                  <m:t>1</m:t>
                                </m:r>
                              </m:e>
                              <m:e>
                                <m:r>
                                  <a:rPr lang="en-US" sz="1200" b="0" i="1" smtClean="0">
                                    <a:latin typeface="Cambria Math" panose="02040503050406030204" pitchFamily="18" charset="0"/>
                                    <a:ea typeface="Cambria Math" panose="02040503050406030204" pitchFamily="18" charset="0"/>
                                  </a:rPr>
                                  <m:t>𝑖</m:t>
                                </m:r>
                              </m:e>
                              <m:e>
                                <m:r>
                                  <a:rPr lang="en-US" sz="1200" b="0" i="1" smtClean="0">
                                    <a:latin typeface="Cambria Math" panose="02040503050406030204" pitchFamily="18" charset="0"/>
                                    <a:ea typeface="Cambria Math" panose="02040503050406030204" pitchFamily="18" charset="0"/>
                                  </a:rPr>
                                  <m:t>−1</m:t>
                                </m:r>
                              </m:e>
                              <m:e>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𝑖</m:t>
                                </m:r>
                              </m:e>
                            </m:mr>
                            <m:mr>
                              <m:e>
                                <m:r>
                                  <a:rPr lang="en-US" sz="1200" i="1">
                                    <a:latin typeface="Cambria Math" panose="02040503050406030204" pitchFamily="18" charset="0"/>
                                    <a:ea typeface="Cambria Math" panose="02040503050406030204" pitchFamily="18" charset="0"/>
                                  </a:rPr>
                                  <m:t>1</m:t>
                                </m:r>
                              </m:e>
                              <m:e>
                                <m:r>
                                  <a:rPr lang="en-US" sz="1200" b="0" i="1" smtClean="0">
                                    <a:latin typeface="Cambria Math" panose="02040503050406030204" pitchFamily="18" charset="0"/>
                                    <a:ea typeface="Cambria Math" panose="02040503050406030204" pitchFamily="18" charset="0"/>
                                  </a:rPr>
                                  <m:t>−1</m:t>
                                </m:r>
                              </m:e>
                              <m:e>
                                <m:r>
                                  <a:rPr lang="en-US" sz="1200" b="0" i="1" smtClean="0">
                                    <a:latin typeface="Cambria Math" panose="02040503050406030204" pitchFamily="18" charset="0"/>
                                    <a:ea typeface="Cambria Math" panose="02040503050406030204" pitchFamily="18" charset="0"/>
                                  </a:rPr>
                                  <m:t>1</m:t>
                                </m:r>
                              </m:e>
                              <m:e>
                                <m:r>
                                  <a:rPr lang="en-US" sz="1200" b="0" i="1" smtClean="0">
                                    <a:latin typeface="Cambria Math" panose="02040503050406030204" pitchFamily="18" charset="0"/>
                                    <a:ea typeface="Cambria Math" panose="02040503050406030204" pitchFamily="18" charset="0"/>
                                  </a:rPr>
                                  <m:t>−1</m:t>
                                </m:r>
                              </m:e>
                            </m:mr>
                            <m:mr>
                              <m:e>
                                <m:r>
                                  <a:rPr lang="en-US" sz="1200" i="1">
                                    <a:latin typeface="Cambria Math" panose="02040503050406030204" pitchFamily="18" charset="0"/>
                                    <a:ea typeface="Cambria Math" panose="02040503050406030204" pitchFamily="18" charset="0"/>
                                  </a:rPr>
                                  <m:t>1</m:t>
                                </m:r>
                              </m:e>
                              <m:e>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𝑖</m:t>
                                </m:r>
                              </m:e>
                              <m:e>
                                <m:r>
                                  <a:rPr lang="en-US" sz="1200" b="0" i="1" smtClean="0">
                                    <a:latin typeface="Cambria Math" panose="02040503050406030204" pitchFamily="18" charset="0"/>
                                    <a:ea typeface="Cambria Math" panose="02040503050406030204" pitchFamily="18" charset="0"/>
                                  </a:rPr>
                                  <m:t>−1</m:t>
                                </m:r>
                              </m:e>
                              <m:e>
                                <m:r>
                                  <a:rPr lang="en-US" sz="1200" b="0" i="1" smtClean="0">
                                    <a:latin typeface="Cambria Math" panose="02040503050406030204" pitchFamily="18" charset="0"/>
                                    <a:ea typeface="Cambria Math" panose="02040503050406030204" pitchFamily="18" charset="0"/>
                                  </a:rPr>
                                  <m:t>𝑖</m:t>
                                </m:r>
                              </m:e>
                            </m:mr>
                          </m:m>
                        </m:e>
                      </m:d>
                    </m:oMath>
                  </m:oMathPara>
                </a14:m>
                <a:endParaRPr lang="en-ZA" dirty="0"/>
              </a:p>
              <a:p>
                <a:pPr algn="just"/>
                <a:endParaRPr lang="en-ZA" dirty="0"/>
              </a:p>
              <a:p>
                <a:pPr algn="just"/>
                <a:r>
                  <a:rPr lang="en-ZA" dirty="0"/>
                  <a:t>Multiplying this matrix by the original vector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𝑥</m:t>
                    </m:r>
                  </m:oMath>
                </a14:m>
                <a:r>
                  <a:rPr lang="en-ZA" dirty="0"/>
                  <a:t> gives the transformed vector </a:t>
                </a:r>
                <a14:m>
                  <m:oMath xmlns:m="http://schemas.openxmlformats.org/officeDocument/2006/math">
                    <m:acc>
                      <m:accPr>
                        <m:chr m:val="̃"/>
                        <m:ctrlPr>
                          <a:rPr lang="en-US" sz="1200" b="0" i="1" smtClean="0">
                            <a:solidFill>
                              <a:srgbClr val="002060"/>
                            </a:solidFill>
                            <a:latin typeface="Cambria Math" panose="02040503050406030204" pitchFamily="18" charset="0"/>
                            <a:ea typeface="Cambria Math" panose="02040503050406030204" pitchFamily="18" charset="0"/>
                          </a:rPr>
                        </m:ctrlPr>
                      </m:accPr>
                      <m:e>
                        <m:r>
                          <a:rPr lang="en-US" sz="1200" b="0" i="1">
                            <a:solidFill>
                              <a:srgbClr val="002060"/>
                            </a:solidFill>
                            <a:latin typeface="Cambria Math" panose="02040503050406030204" pitchFamily="18" charset="0"/>
                            <a:ea typeface="Cambria Math" panose="02040503050406030204" pitchFamily="18" charset="0"/>
                          </a:rPr>
                          <m:t>𝑥</m:t>
                        </m:r>
                      </m:e>
                    </m:acc>
                    <m:r>
                      <a:rPr lang="en-US" sz="1200" b="0" i="1" smtClean="0">
                        <a:solidFill>
                          <a:srgbClr val="002060"/>
                        </a:solidFill>
                        <a:latin typeface="Cambria Math" panose="02040503050406030204" pitchFamily="18" charset="0"/>
                        <a:ea typeface="Cambria Math" panose="02040503050406030204" pitchFamily="18" charset="0"/>
                      </a:rPr>
                      <m:t>=</m:t>
                    </m:r>
                    <m:sSub>
                      <m:sSubPr>
                        <m:ctrlPr>
                          <a:rPr lang="en-US" sz="1200" i="1" smtClean="0">
                            <a:solidFill>
                              <a:schemeClr val="tx1"/>
                            </a:solidFill>
                            <a:latin typeface="Cambria Math" panose="02040503050406030204" pitchFamily="18" charset="0"/>
                            <a:ea typeface="Cambria Math" panose="02040503050406030204" pitchFamily="18" charset="0"/>
                          </a:rPr>
                        </m:ctrlPr>
                      </m:sSubPr>
                      <m:e>
                        <m:r>
                          <a:rPr lang="en-US" sz="1200" b="0" i="1" smtClean="0">
                            <a:solidFill>
                              <a:schemeClr val="tx1"/>
                            </a:solidFill>
                            <a:latin typeface="Cambria Math" panose="02040503050406030204" pitchFamily="18" charset="0"/>
                            <a:ea typeface="Cambria Math" panose="02040503050406030204" pitchFamily="18" charset="0"/>
                          </a:rPr>
                          <m:t>𝐹</m:t>
                        </m:r>
                      </m:e>
                      <m:sub>
                        <m:r>
                          <a:rPr lang="en-US" sz="1200" b="0" i="1" smtClean="0">
                            <a:solidFill>
                              <a:schemeClr val="tx1"/>
                            </a:solidFill>
                            <a:latin typeface="Cambria Math" panose="02040503050406030204" pitchFamily="18" charset="0"/>
                            <a:ea typeface="Cambria Math" panose="02040503050406030204" pitchFamily="18" charset="0"/>
                          </a:rPr>
                          <m:t>4</m:t>
                        </m:r>
                      </m:sub>
                    </m:sSub>
                    <m:r>
                      <a:rPr lang="en-US" sz="1200" i="1" smtClean="0">
                        <a:solidFill>
                          <a:schemeClr val="tx1"/>
                        </a:solidFill>
                        <a:latin typeface="Cambria Math" panose="02040503050406030204" pitchFamily="18" charset="0"/>
                        <a:ea typeface="Cambria Math" panose="02040503050406030204" pitchFamily="18" charset="0"/>
                      </a:rPr>
                      <m:t>𝑥</m:t>
                    </m:r>
                  </m:oMath>
                </a14:m>
                <a:r>
                  <a:rPr lang="en-ZA" dirty="0"/>
                  <a:t>.</a:t>
                </a:r>
              </a:p>
              <a:p>
                <a:pPr algn="just"/>
                <a:endParaRPr lang="en-ZA" dirty="0"/>
              </a:p>
            </p:txBody>
          </p:sp>
        </mc:Choice>
        <mc:Fallback xmlns="">
          <p:sp>
            <p:nvSpPr>
              <p:cNvPr id="3" name="Notes Placeholder 2"/>
              <p:cNvSpPr>
                <a:spLocks noGrp="1"/>
              </p:cNvSpPr>
              <p:nvPr>
                <p:ph type="body" idx="1"/>
              </p:nvPr>
            </p:nvSpPr>
            <p:spPr/>
            <p:txBody>
              <a:bodyPr/>
              <a:lstStyle/>
              <a:p>
                <a:r>
                  <a:rPr lang="en-US" sz="2000" dirty="0"/>
                  <a:t>Kao </a:t>
                </a:r>
                <a:r>
                  <a:rPr lang="en-US" sz="2000" dirty="0" err="1"/>
                  <a:t>sto</a:t>
                </a:r>
                <a:r>
                  <a:rPr lang="en-US" sz="2000" dirty="0"/>
                  <a:t> </a:t>
                </a:r>
                <a:r>
                  <a:rPr lang="en-US" sz="2000" dirty="0" err="1"/>
                  <a:t>smo</a:t>
                </a:r>
                <a:r>
                  <a:rPr lang="en-US" sz="2000" dirty="0"/>
                  <a:t> </a:t>
                </a:r>
                <a:r>
                  <a:rPr lang="en-US" sz="2000" dirty="0" err="1"/>
                  <a:t>videli</a:t>
                </a:r>
                <a:r>
                  <a:rPr lang="en-US" sz="2000" dirty="0"/>
                  <a:t>, DFT </a:t>
                </a:r>
                <a:r>
                  <a:rPr lang="en-US" sz="2000" dirty="0" err="1"/>
                  <a:t>je</a:t>
                </a:r>
                <a:r>
                  <a:rPr lang="en-US" sz="2000" dirty="0"/>
                  <a:t> </a:t>
                </a:r>
                <a:r>
                  <a:rPr lang="en-US" sz="2000" dirty="0" err="1"/>
                  <a:t>preslikavanje</a:t>
                </a:r>
                <a:r>
                  <a:rPr lang="en-US" sz="2000" dirty="0"/>
                  <a:t> </a:t>
                </a:r>
                <a:r>
                  <a:rPr lang="en-US" sz="2000" dirty="0" err="1"/>
                  <a:t>tacaka</a:t>
                </a:r>
                <a:r>
                  <a:rPr lang="en-US" sz="2000" dirty="0"/>
                  <a:t> </a:t>
                </a:r>
                <a:r>
                  <a:rPr lang="en-US" sz="2000" dirty="0" err="1"/>
                  <a:t>nekog</a:t>
                </a:r>
                <a:r>
                  <a:rPr lang="en-US" sz="2000" dirty="0"/>
                  <a:t> </a:t>
                </a:r>
                <a:r>
                  <a:rPr lang="en-US" sz="2000" dirty="0" err="1"/>
                  <a:t>vektora</a:t>
                </a:r>
                <a:r>
                  <a:rPr lang="en-US" sz="2000" dirty="0"/>
                  <a:t> </a:t>
                </a:r>
                <a:r>
                  <a:rPr lang="en-US" sz="2000" b="0" i="0">
                    <a:solidFill>
                      <a:srgbClr val="002060"/>
                    </a:solidFill>
                    <a:latin typeface="Cambria Math" panose="02040503050406030204" pitchFamily="18" charset="0"/>
                    <a:ea typeface="Cambria Math" panose="02040503050406030204" pitchFamily="18" charset="0"/>
                  </a:rPr>
                  <a:t>𝑥</a:t>
                </a:r>
                <a:r>
                  <a:rPr lang="en-US" sz="2000" dirty="0"/>
                  <a:t> u vector </a:t>
                </a:r>
                <a:r>
                  <a:rPr lang="en-US" sz="2000" b="0" i="0">
                    <a:solidFill>
                      <a:srgbClr val="002060"/>
                    </a:solidFill>
                    <a:latin typeface="Cambria Math" panose="02040503050406030204" pitchFamily="18" charset="0"/>
                    <a:ea typeface="Cambria Math" panose="02040503050406030204" pitchFamily="18" charset="0"/>
                  </a:rPr>
                  <a:t>𝑥 ̃</a:t>
                </a:r>
                <a:r>
                  <a:rPr lang="en-US" sz="2000" dirty="0"/>
                  <a:t>. Pri tome </a:t>
                </a:r>
                <a:r>
                  <a:rPr lang="en-US" sz="2000" dirty="0" err="1"/>
                  <a:t>je</a:t>
                </a:r>
                <a:r>
                  <a:rPr lang="en-US" sz="2000" dirty="0"/>
                  <a:t> </a:t>
                </a:r>
                <a:r>
                  <a:rPr lang="en-US" sz="2000" dirty="0" err="1"/>
                  <a:t>svaka</a:t>
                </a:r>
                <a:r>
                  <a:rPr lang="en-US" sz="2000" dirty="0"/>
                  <a:t> </a:t>
                </a:r>
                <a:r>
                  <a:rPr lang="en-US" sz="2000" dirty="0" err="1"/>
                  <a:t>koorinata</a:t>
                </a:r>
                <a:r>
                  <a:rPr lang="en-US" sz="2000" dirty="0"/>
                  <a:t> </a:t>
                </a:r>
                <a:r>
                  <a:rPr lang="en-US" sz="2000" dirty="0" err="1"/>
                  <a:t>novog</a:t>
                </a:r>
                <a:r>
                  <a:rPr lang="en-US" sz="2000" dirty="0"/>
                  <a:t> </a:t>
                </a:r>
                <a:r>
                  <a:rPr lang="en-US" sz="2000" dirty="0" err="1"/>
                  <a:t>vektora</a:t>
                </a:r>
                <a:r>
                  <a:rPr lang="en-US" sz="2000" dirty="0"/>
                  <a:t> </a:t>
                </a:r>
                <a:r>
                  <a:rPr lang="en-US" sz="2000" dirty="0" err="1"/>
                  <a:t>linearna</a:t>
                </a:r>
                <a:r>
                  <a:rPr lang="en-US" sz="2000" dirty="0"/>
                  <a:t> </a:t>
                </a:r>
                <a:r>
                  <a:rPr lang="en-US" sz="2000" dirty="0" err="1"/>
                  <a:t>kombinacija</a:t>
                </a:r>
                <a:r>
                  <a:rPr lang="en-US" sz="2000" dirty="0"/>
                  <a:t> </a:t>
                </a:r>
                <a:r>
                  <a:rPr lang="en-US" sz="2000" dirty="0" err="1"/>
                  <a:t>koordinata</a:t>
                </a:r>
                <a:r>
                  <a:rPr lang="en-US" sz="2000" dirty="0"/>
                  <a:t> </a:t>
                </a:r>
                <a:r>
                  <a:rPr lang="en-US" sz="2000" dirty="0" err="1"/>
                  <a:t>originalnog</a:t>
                </a:r>
                <a:r>
                  <a:rPr lang="en-US" sz="2000" dirty="0"/>
                  <a:t> </a:t>
                </a:r>
                <a:r>
                  <a:rPr lang="en-US" sz="2000" dirty="0" err="1"/>
                  <a:t>vektora</a:t>
                </a:r>
                <a:r>
                  <a:rPr lang="en-US" sz="2000" dirty="0"/>
                  <a:t> </a:t>
                </a:r>
                <a:r>
                  <a:rPr lang="en-US" sz="2000" dirty="0" err="1"/>
                  <a:t>i</a:t>
                </a:r>
                <a:r>
                  <a:rPr lang="en-US" sz="2000" dirty="0"/>
                  <a:t> </a:t>
                </a:r>
                <a:r>
                  <a:rPr lang="en-US" sz="2000" dirty="0" err="1"/>
                  <a:t>ntih</a:t>
                </a:r>
                <a:r>
                  <a:rPr lang="en-US" sz="2000" dirty="0"/>
                  <a:t> </a:t>
                </a:r>
                <a:r>
                  <a:rPr lang="en-US" sz="2000" dirty="0" err="1"/>
                  <a:t>korena</a:t>
                </a:r>
                <a:r>
                  <a:rPr lang="en-US" sz="2000" dirty="0"/>
                  <a:t> </a:t>
                </a:r>
                <a:r>
                  <a:rPr lang="en-US" sz="2000" dirty="0" err="1"/>
                  <a:t>jedinice</a:t>
                </a:r>
                <a:r>
                  <a:rPr lang="en-US" sz="2000" dirty="0"/>
                  <a:t> </a:t>
                </a:r>
                <a:r>
                  <a:rPr lang="en-US" sz="2000" dirty="0" err="1"/>
                  <a:t>kojima</a:t>
                </a:r>
                <a:r>
                  <a:rPr lang="en-US" sz="2000" dirty="0"/>
                  <a:t> </a:t>
                </a:r>
                <a:r>
                  <a:rPr lang="en-US" sz="2000" dirty="0" err="1"/>
                  <a:t>smo</a:t>
                </a:r>
                <a:r>
                  <a:rPr lang="en-US" sz="2000" dirty="0"/>
                  <a:t> se </a:t>
                </a:r>
                <a:r>
                  <a:rPr lang="en-US" sz="2000" dirty="0" err="1"/>
                  <a:t>bavili</a:t>
                </a:r>
                <a:r>
                  <a:rPr lang="en-US" sz="2000" dirty="0"/>
                  <a:t> u </a:t>
                </a:r>
                <a:r>
                  <a:rPr lang="en-US" sz="2000" dirty="0" err="1"/>
                  <a:t>ranijem</a:t>
                </a:r>
                <a:r>
                  <a:rPr lang="en-US" sz="2000" dirty="0"/>
                  <a:t> </a:t>
                </a:r>
                <a:r>
                  <a:rPr lang="en-US" sz="2000" dirty="0" err="1"/>
                  <a:t>predavanju</a:t>
                </a:r>
                <a:r>
                  <a:rPr lang="en-US" sz="2000" dirty="0"/>
                  <a:t>. Na</a:t>
                </a:r>
                <a:r>
                  <a:rPr lang="en-US" sz="2000" baseline="0" dirty="0"/>
                  <a:t> </a:t>
                </a:r>
                <a:r>
                  <a:rPr lang="en-US" sz="2000" baseline="0" dirty="0" err="1"/>
                  <a:t>slici</a:t>
                </a:r>
                <a:r>
                  <a:rPr lang="en-US" sz="2000" baseline="0" dirty="0"/>
                  <a:t> </a:t>
                </a:r>
                <a:r>
                  <a:rPr lang="en-US" sz="2000" baseline="0" dirty="0" err="1"/>
                  <a:t>je</a:t>
                </a:r>
                <a:r>
                  <a:rPr lang="en-US" sz="2000" baseline="0" dirty="0"/>
                  <a:t> </a:t>
                </a:r>
                <a:r>
                  <a:rPr lang="en-US" sz="2000" baseline="0" dirty="0" err="1"/>
                  <a:t>prikazan</a:t>
                </a:r>
                <a:r>
                  <a:rPr lang="en-US" sz="2000" baseline="0" dirty="0"/>
                  <a:t> </a:t>
                </a:r>
                <a:r>
                  <a:rPr lang="en-US" sz="2000" baseline="0" dirty="0" err="1"/>
                  <a:t>krug</a:t>
                </a:r>
                <a:r>
                  <a:rPr lang="en-US" sz="2000" baseline="0" dirty="0"/>
                  <a:t> </a:t>
                </a:r>
                <a:r>
                  <a:rPr lang="en-US" sz="2000" baseline="0" dirty="0" err="1"/>
                  <a:t>sa</a:t>
                </a:r>
                <a:r>
                  <a:rPr lang="en-US" sz="2000" baseline="0" dirty="0"/>
                  <a:t> 8 </a:t>
                </a:r>
                <a:r>
                  <a:rPr lang="en-US" sz="2000" baseline="0" dirty="0" err="1"/>
                  <a:t>korena</a:t>
                </a:r>
                <a:r>
                  <a:rPr lang="en-US" sz="2000" baseline="0" dirty="0"/>
                  <a:t> </a:t>
                </a:r>
                <a:r>
                  <a:rPr lang="en-US" sz="2000" baseline="0" dirty="0" err="1"/>
                  <a:t>jedinice</a:t>
                </a:r>
                <a:r>
                  <a:rPr lang="en-US" sz="2000" baseline="0" dirty="0"/>
                  <a:t>.</a:t>
                </a:r>
                <a:endParaRPr lang="en-US" sz="2000" dirty="0"/>
              </a:p>
              <a:p>
                <a:endParaRPr lang="en-US" sz="2000" dirty="0"/>
              </a:p>
              <a:p>
                <a:pPr marL="457200" indent="-457200">
                  <a:buFont typeface="+mj-lt"/>
                  <a:buAutoNum type="arabicPeriod"/>
                </a:pPr>
                <a:r>
                  <a:rPr lang="en-US" sz="2000" dirty="0" err="1"/>
                  <a:t>Posto</a:t>
                </a:r>
                <a:r>
                  <a:rPr lang="en-US" sz="2000" dirty="0"/>
                  <a:t> </a:t>
                </a:r>
                <a:r>
                  <a:rPr lang="en-US" sz="2000" dirty="0" err="1"/>
                  <a:t>je</a:t>
                </a:r>
                <a:r>
                  <a:rPr lang="en-US" sz="2000" dirty="0"/>
                  <a:t> rec o </a:t>
                </a:r>
                <a:r>
                  <a:rPr lang="en-US" sz="2000" dirty="0" err="1"/>
                  <a:t>linearnoj</a:t>
                </a:r>
                <a:r>
                  <a:rPr lang="en-US" sz="2000" dirty="0"/>
                  <a:t> </a:t>
                </a:r>
                <a:r>
                  <a:rPr lang="en-US" sz="2000" dirty="0" err="1"/>
                  <a:t>kombinaciji</a:t>
                </a:r>
                <a:r>
                  <a:rPr lang="en-US" sz="2000" dirty="0"/>
                  <a:t>, </a:t>
                </a:r>
                <a:r>
                  <a:rPr lang="en-US" sz="2000" dirty="0" err="1"/>
                  <a:t>mozemo</a:t>
                </a:r>
                <a:r>
                  <a:rPr lang="en-US" sz="2000" dirty="0"/>
                  <a:t> </a:t>
                </a:r>
                <a:r>
                  <a:rPr lang="en-US" sz="2000" dirty="0" err="1"/>
                  <a:t>izdvojit</a:t>
                </a:r>
                <a:r>
                  <a:rPr lang="en-US" sz="2000" baseline="0" dirty="0"/>
                  <a:t> </a:t>
                </a:r>
                <a:r>
                  <a:rPr lang="en-US" sz="2000" dirty="0"/>
                  <a:t> </a:t>
                </a:r>
                <a:r>
                  <a:rPr lang="en-US" sz="2000" dirty="0" err="1"/>
                  <a:t>koordinate</a:t>
                </a:r>
                <a:r>
                  <a:rPr lang="en-US" sz="2000" dirty="0"/>
                  <a:t> </a:t>
                </a:r>
                <a:r>
                  <a:rPr lang="en-US" sz="2000" dirty="0" err="1"/>
                  <a:t>originalnog</a:t>
                </a:r>
                <a:r>
                  <a:rPr lang="en-US" sz="2000" dirty="0"/>
                  <a:t> </a:t>
                </a:r>
                <a:r>
                  <a:rPr lang="en-US" sz="2000" dirty="0" err="1"/>
                  <a:t>vektora</a:t>
                </a:r>
                <a:r>
                  <a:rPr lang="en-US" sz="2000" dirty="0"/>
                  <a:t>, I</a:t>
                </a:r>
                <a:r>
                  <a:rPr lang="en-US" sz="2000" baseline="0" dirty="0"/>
                  <a:t> </a:t>
                </a:r>
                <a:r>
                  <a:rPr lang="en-US" sz="2000" dirty="0" err="1"/>
                  <a:t>izvesti</a:t>
                </a:r>
                <a:r>
                  <a:rPr lang="en-US" sz="2000" dirty="0"/>
                  <a:t> DFT </a:t>
                </a:r>
                <a:r>
                  <a:rPr lang="en-US" sz="2000" dirty="0" err="1"/>
                  <a:t>matricu</a:t>
                </a:r>
                <a:r>
                  <a:rPr lang="en-US" sz="2000" dirty="0"/>
                  <a:t> </a:t>
                </a:r>
                <a:r>
                  <a:rPr lang="en-US" sz="2000" dirty="0" err="1"/>
                  <a:t>ciji</a:t>
                </a:r>
                <a:r>
                  <a:rPr lang="en-US" sz="2000" baseline="0" dirty="0"/>
                  <a:t> </a:t>
                </a:r>
                <a:r>
                  <a:rPr lang="en-US" sz="2000" baseline="0" dirty="0" err="1"/>
                  <a:t>ce</a:t>
                </a:r>
                <a:r>
                  <a:rPr lang="en-US" sz="2000" baseline="0" dirty="0"/>
                  <a:t> </a:t>
                </a:r>
                <a:r>
                  <a:rPr lang="en-US" sz="2000" dirty="0" err="1"/>
                  <a:t>elementi</a:t>
                </a:r>
                <a:r>
                  <a:rPr lang="en-US" sz="2000" baseline="0" dirty="0"/>
                  <a:t> </a:t>
                </a:r>
                <a:r>
                  <a:rPr lang="en-US" sz="2000" baseline="0" dirty="0" err="1"/>
                  <a:t>biti</a:t>
                </a:r>
                <a:r>
                  <a:rPr lang="en-US" sz="2000" dirty="0"/>
                  <a:t> </a:t>
                </a:r>
                <a:r>
                  <a:rPr lang="en-US" sz="2000" dirty="0" err="1"/>
                  <a:t>nti</a:t>
                </a:r>
                <a:r>
                  <a:rPr lang="en-US" sz="2000" baseline="0" dirty="0"/>
                  <a:t> </a:t>
                </a:r>
                <a:r>
                  <a:rPr lang="en-US" sz="2000" baseline="0" dirty="0" err="1"/>
                  <a:t>koreni</a:t>
                </a:r>
                <a:r>
                  <a:rPr lang="en-US" sz="2000" baseline="0" dirty="0"/>
                  <a:t> </a:t>
                </a:r>
                <a:r>
                  <a:rPr lang="en-US" sz="2000" baseline="0" dirty="0" err="1"/>
                  <a:t>jedinice</a:t>
                </a:r>
                <a:r>
                  <a:rPr lang="en-US" sz="2000" dirty="0"/>
                  <a:t> </a:t>
                </a:r>
                <a:r>
                  <a:rPr lang="en-US" sz="2000" i="0">
                    <a:solidFill>
                      <a:schemeClr val="tx1"/>
                    </a:solidFill>
                    <a:latin typeface="Cambria Math" panose="02040503050406030204" pitchFamily="18" charset="0"/>
                    <a:ea typeface="Cambria Math" panose="02040503050406030204" pitchFamily="18" charset="0"/>
                  </a:rPr>
                  <a:t>𝜔</a:t>
                </a:r>
                <a:r>
                  <a:rPr lang="en-US" sz="2000" dirty="0"/>
                  <a:t>. </a:t>
                </a:r>
                <a:r>
                  <a:rPr lang="en-US" sz="2000" dirty="0" err="1"/>
                  <a:t>Sada</a:t>
                </a:r>
                <a:r>
                  <a:rPr lang="en-US" sz="2000" dirty="0"/>
                  <a:t> se</a:t>
                </a:r>
                <a:r>
                  <a:rPr lang="en-US" sz="2000" baseline="0" dirty="0"/>
                  <a:t> DFT </a:t>
                </a:r>
                <a:r>
                  <a:rPr lang="en-US" sz="2000" baseline="0" dirty="0" err="1"/>
                  <a:t>moze</a:t>
                </a:r>
                <a:r>
                  <a:rPr lang="en-US" sz="2000" baseline="0" dirty="0"/>
                  <a:t> </a:t>
                </a:r>
                <a:r>
                  <a:rPr lang="en-US" sz="2000" baseline="0" dirty="0" err="1"/>
                  <a:t>napisati</a:t>
                </a:r>
                <a:r>
                  <a:rPr lang="en-US" sz="2000" baseline="0" dirty="0"/>
                  <a:t> </a:t>
                </a:r>
                <a:r>
                  <a:rPr lang="en-US" sz="2000" baseline="0" dirty="0" err="1"/>
                  <a:t>kao</a:t>
                </a:r>
                <a:r>
                  <a:rPr lang="en-US" sz="2000" baseline="0" dirty="0"/>
                  <a:t> </a:t>
                </a:r>
                <a:r>
                  <a:rPr lang="en-US" sz="2000" baseline="0" dirty="0" err="1"/>
                  <a:t>proizvod</a:t>
                </a:r>
                <a:r>
                  <a:rPr lang="en-US" sz="2000" baseline="0" dirty="0"/>
                  <a:t> </a:t>
                </a:r>
                <a:r>
                  <a:rPr lang="en-US" sz="2000" baseline="0" dirty="0" err="1"/>
                  <a:t>vektora</a:t>
                </a:r>
                <a:r>
                  <a:rPr lang="en-US" sz="2000" baseline="0" dirty="0"/>
                  <a:t> I </a:t>
                </a:r>
                <a:r>
                  <a:rPr lang="en-US" sz="2000" baseline="0" dirty="0" err="1"/>
                  <a:t>matrice</a:t>
                </a:r>
                <a:r>
                  <a:rPr lang="en-US" sz="2000" baseline="0" dirty="0"/>
                  <a:t>. </a:t>
                </a:r>
                <a:r>
                  <a:rPr lang="en-US" sz="2000" baseline="0" dirty="0" err="1"/>
                  <a:t>Primeticete</a:t>
                </a:r>
                <a:r>
                  <a:rPr lang="en-US" sz="2000" baseline="0" dirty="0"/>
                  <a:t> </a:t>
                </a:r>
                <a:r>
                  <a:rPr lang="en-US" sz="2000" b="0" i="0">
                    <a:solidFill>
                      <a:schemeClr val="tx1"/>
                    </a:solidFill>
                    <a:latin typeface="Cambria Math" panose="02040503050406030204" pitchFamily="18" charset="0"/>
                    <a:ea typeface="Cambria Math" panose="02040503050406030204" pitchFamily="18" charset="0"/>
                  </a:rPr>
                  <a:t>1/√𝑛</a:t>
                </a:r>
                <a:r>
                  <a:rPr lang="en-US" sz="2000" dirty="0"/>
                  <a:t> </a:t>
                </a:r>
                <a:r>
                  <a:rPr lang="en-US" sz="2000" dirty="0" err="1"/>
                  <a:t>ispred</a:t>
                </a:r>
                <a:r>
                  <a:rPr lang="en-US" sz="2000" dirty="0"/>
                  <a:t> </a:t>
                </a:r>
                <a:r>
                  <a:rPr lang="en-US" sz="2000" dirty="0" err="1"/>
                  <a:t>matrice</a:t>
                </a:r>
                <a:r>
                  <a:rPr lang="en-US" sz="2000" baseline="0" dirty="0"/>
                  <a:t> </a:t>
                </a:r>
                <a:r>
                  <a:rPr lang="en-US" sz="2000" baseline="0" dirty="0" err="1"/>
                  <a:t>koji</a:t>
                </a:r>
                <a:r>
                  <a:rPr lang="en-US" sz="2000" baseline="0" dirty="0"/>
                  <a:t> se </a:t>
                </a:r>
                <a:r>
                  <a:rPr lang="en-US" sz="2000" baseline="0" dirty="0" err="1"/>
                  <a:t>koristi</a:t>
                </a:r>
                <a:r>
                  <a:rPr lang="en-US" sz="2000" baseline="0" dirty="0"/>
                  <a:t> </a:t>
                </a:r>
                <a:r>
                  <a:rPr lang="en-US" sz="2000" baseline="0" dirty="0" err="1"/>
                  <a:t>kao</a:t>
                </a:r>
                <a:r>
                  <a:rPr lang="en-US" sz="2000" baseline="0" dirty="0"/>
                  <a:t> factor </a:t>
                </a:r>
                <a:r>
                  <a:rPr lang="en-US" sz="2000" baseline="0" dirty="0" err="1"/>
                  <a:t>normalizacije</a:t>
                </a:r>
                <a:r>
                  <a:rPr lang="en-US" sz="2000" baseline="0" dirty="0"/>
                  <a:t>, </a:t>
                </a:r>
                <a:r>
                  <a:rPr lang="en-US" sz="2000" baseline="0" dirty="0" err="1"/>
                  <a:t>sto</a:t>
                </a:r>
                <a:r>
                  <a:rPr lang="en-US" sz="2000" baseline="0" dirty="0"/>
                  <a:t> </a:t>
                </a:r>
                <a:r>
                  <a:rPr lang="en-US" sz="2000" baseline="0" dirty="0" err="1"/>
                  <a:t>je</a:t>
                </a:r>
                <a:r>
                  <a:rPr lang="en-US" sz="2000" baseline="0" dirty="0"/>
                  <a:t> </a:t>
                </a:r>
                <a:r>
                  <a:rPr lang="en-US" sz="2000" baseline="0" dirty="0" err="1"/>
                  <a:t>stvar</a:t>
                </a:r>
                <a:r>
                  <a:rPr lang="en-US" sz="2000" baseline="0" dirty="0"/>
                  <a:t> </a:t>
                </a:r>
                <a:r>
                  <a:rPr lang="en-US" sz="2000" baseline="0" dirty="0" err="1"/>
                  <a:t>konvencije</a:t>
                </a:r>
                <a:r>
                  <a:rPr lang="en-US" sz="2000" baseline="0" dirty="0"/>
                  <a:t>, </a:t>
                </a:r>
                <a:r>
                  <a:rPr lang="en-US" sz="2000" baseline="0" dirty="0" err="1"/>
                  <a:t>ali</a:t>
                </a:r>
                <a:r>
                  <a:rPr lang="en-US" sz="2000" baseline="0" dirty="0"/>
                  <a:t> </a:t>
                </a:r>
                <a:r>
                  <a:rPr lang="en-US" sz="2000" baseline="0" dirty="0" err="1"/>
                  <a:t>za</a:t>
                </a:r>
                <a:r>
                  <a:rPr lang="en-US" sz="2000" baseline="0" dirty="0"/>
                  <a:t> </a:t>
                </a:r>
                <a:r>
                  <a:rPr lang="en-US" sz="2000" baseline="0" dirty="0" err="1"/>
                  <a:t>nas</a:t>
                </a:r>
                <a:r>
                  <a:rPr lang="en-US" sz="2000" baseline="0" dirty="0"/>
                  <a:t> </a:t>
                </a:r>
                <a:r>
                  <a:rPr lang="en-US" sz="2000" baseline="0" dirty="0" err="1"/>
                  <a:t>je</a:t>
                </a:r>
                <a:r>
                  <a:rPr lang="en-US" sz="2000" baseline="0" dirty="0"/>
                  <a:t> </a:t>
                </a:r>
                <a:r>
                  <a:rPr lang="en-US" sz="2000" baseline="0" dirty="0" err="1"/>
                  <a:t>znacajno</a:t>
                </a:r>
                <a:r>
                  <a:rPr lang="en-US" sz="2000" baseline="0" dirty="0"/>
                  <a:t> </a:t>
                </a:r>
                <a:r>
                  <a:rPr lang="en-US" sz="2000" baseline="0" dirty="0" err="1"/>
                  <a:t>jer</a:t>
                </a:r>
                <a:r>
                  <a:rPr lang="en-US" sz="2000" baseline="0" dirty="0"/>
                  <a:t> </a:t>
                </a:r>
                <a:r>
                  <a:rPr lang="en-US" sz="2000" baseline="0" dirty="0" err="1"/>
                  <a:t>kvantna</a:t>
                </a:r>
                <a:r>
                  <a:rPr lang="en-US" sz="2000" baseline="0" dirty="0"/>
                  <a:t> </a:t>
                </a:r>
                <a:r>
                  <a:rPr lang="en-US" sz="2000" baseline="0" dirty="0" err="1"/>
                  <a:t>stanja</a:t>
                </a:r>
                <a:r>
                  <a:rPr lang="en-US" sz="2000" baseline="0" dirty="0"/>
                  <a:t> </a:t>
                </a:r>
                <a:r>
                  <a:rPr lang="en-US" sz="2000" baseline="0" dirty="0" err="1"/>
                  <a:t>moraju</a:t>
                </a:r>
                <a:r>
                  <a:rPr lang="en-US" sz="2000" baseline="0" dirty="0"/>
                  <a:t> </a:t>
                </a:r>
                <a:r>
                  <a:rPr lang="en-US" sz="2000" baseline="0" dirty="0" err="1"/>
                  <a:t>biti</a:t>
                </a:r>
                <a:r>
                  <a:rPr lang="en-US" sz="2000" baseline="0" dirty="0"/>
                  <a:t> </a:t>
                </a:r>
                <a:r>
                  <a:rPr lang="en-US" sz="2000" baseline="0" dirty="0" err="1"/>
                  <a:t>normalizovana</a:t>
                </a:r>
                <a:r>
                  <a:rPr lang="en-US" sz="2000" baseline="0" dirty="0"/>
                  <a:t>.</a:t>
                </a: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54</a:t>
            </a:fld>
            <a:endParaRPr lang="en-US"/>
          </a:p>
        </p:txBody>
      </p:sp>
    </p:spTree>
    <p:extLst>
      <p:ext uri="{BB962C8B-B14F-4D97-AF65-F5344CB8AC3E}">
        <p14:creationId xmlns:p14="http://schemas.microsoft.com/office/powerpoint/2010/main" val="34553325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228600" marR="0" lvl="0" indent="-228600" algn="just" defTabSz="914400" rtl="0" eaLnBrk="1" fontAlgn="auto" latinLnBrk="0" hangingPunct="1">
                  <a:lnSpc>
                    <a:spcPct val="100000"/>
                  </a:lnSpc>
                  <a:spcBef>
                    <a:spcPts val="0"/>
                  </a:spcBef>
                  <a:spcAft>
                    <a:spcPts val="0"/>
                  </a:spcAft>
                  <a:buClrTx/>
                  <a:buSzTx/>
                  <a:buFontTx/>
                  <a:buAutoNum type="arabicParenBoth"/>
                  <a:tabLst/>
                  <a:defRPr/>
                </a:pPr>
                <a:r>
                  <a:rPr lang="en-ZA" dirty="0"/>
                  <a:t>The Quantum Fourier Transform (QFT) is defined using formulas that mirror the structure of the classical Discrete Fourier Transform (DFT). It starts with a vector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𝑥</m:t>
                    </m:r>
                  </m:oMath>
                </a14:m>
                <a:r>
                  <a:rPr lang="en-ZA" b="0" dirty="0"/>
                  <a:t>, </a:t>
                </a:r>
                <a:r>
                  <a:rPr lang="en-ZA" dirty="0"/>
                  <a:t>whose components are encoded as the amplitudes of a quantum state</a:t>
                </a:r>
                <a:r>
                  <a:rPr lang="en-ZA" baseline="0" dirty="0"/>
                  <a:t> </a:t>
                </a:r>
                <a14:m>
                  <m:oMath xmlns:m="http://schemas.openxmlformats.org/officeDocument/2006/math">
                    <m:r>
                      <a:rPr lang="en-US" sz="12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b="0" i="1" smtClean="0">
                            <a:solidFill>
                              <a:srgbClr val="002060"/>
                            </a:solidFill>
                            <a:latin typeface="Cambria Math" panose="02040503050406030204" pitchFamily="18" charset="0"/>
                            <a:ea typeface="Cambria Math" panose="02040503050406030204" pitchFamily="18" charset="0"/>
                          </a:rPr>
                          <m:t>𝑥</m:t>
                        </m:r>
                      </m:e>
                    </m:d>
                  </m:oMath>
                </a14:m>
                <a:endParaRPr lang="en-ZA" b="0" dirty="0"/>
              </a:p>
              <a:p>
                <a:pPr marL="228600" indent="-228600" algn="just">
                  <a:buAutoNum type="arabicParenBoth"/>
                </a:pPr>
                <a:endParaRPr lang="en-ZA" b="0" dirty="0"/>
              </a:p>
              <a:p>
                <a:pPr algn="just"/>
                <a14:m>
                  <m:oMathPara xmlns:m="http://schemas.openxmlformats.org/officeDocument/2006/math">
                    <m:oMathParaPr>
                      <m:jc m:val="centerGroup"/>
                    </m:oMathParaPr>
                    <m:oMath xmlns:m="http://schemas.openxmlformats.org/officeDocument/2006/math">
                      <m:r>
                        <a:rPr lang="en-US" sz="12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en-US" sz="1200" b="0" i="1" smtClean="0">
                              <a:solidFill>
                                <a:srgbClr val="002060"/>
                              </a:solidFill>
                              <a:latin typeface="Cambria Math" panose="02040503050406030204" pitchFamily="18" charset="0"/>
                              <a:ea typeface="Cambria Math" panose="02040503050406030204" pitchFamily="18" charset="0"/>
                            </a:rPr>
                            <m:t>𝑥</m:t>
                          </m:r>
                        </m:e>
                      </m:d>
                      <m:r>
                        <a:rPr lang="sr-Latn-RS" sz="1200" b="0" i="1" smtClean="0">
                          <a:solidFill>
                            <a:srgbClr val="002060"/>
                          </a:solidFill>
                          <a:latin typeface="Cambria Math" panose="02040503050406030204" pitchFamily="18" charset="0"/>
                          <a:ea typeface="Cambria Math" panose="02040503050406030204" pitchFamily="18" charset="0"/>
                        </a:rPr>
                        <m:t>=</m:t>
                      </m:r>
                      <m:nary>
                        <m:naryPr>
                          <m:chr m:val="∑"/>
                          <m:ctrlPr>
                            <a:rPr lang="en-US" sz="1200" i="1">
                              <a:solidFill>
                                <a:srgbClr val="002060"/>
                              </a:solidFill>
                              <a:latin typeface="Cambria Math" panose="02040503050406030204" pitchFamily="18" charset="0"/>
                              <a:ea typeface="Cambria Math" panose="02040503050406030204" pitchFamily="18" charset="0"/>
                            </a:rPr>
                          </m:ctrlPr>
                        </m:naryPr>
                        <m:sub>
                          <m:r>
                            <a:rPr lang="sr-Latn-RS" sz="1200" b="0" i="1" smtClean="0">
                              <a:solidFill>
                                <a:srgbClr val="002060"/>
                              </a:solidFill>
                              <a:latin typeface="Cambria Math" panose="02040503050406030204" pitchFamily="18" charset="0"/>
                              <a:ea typeface="Cambria Math" panose="02040503050406030204" pitchFamily="18" charset="0"/>
                            </a:rPr>
                            <m:t>𝑘</m:t>
                          </m:r>
                          <m:r>
                            <a:rPr lang="en-US" sz="1200" i="1">
                              <a:solidFill>
                                <a:srgbClr val="002060"/>
                              </a:solidFill>
                              <a:latin typeface="Cambria Math" panose="02040503050406030204" pitchFamily="18" charset="0"/>
                              <a:ea typeface="Cambria Math" panose="02040503050406030204" pitchFamily="18" charset="0"/>
                            </a:rPr>
                            <m:t>=0</m:t>
                          </m:r>
                        </m:sub>
                        <m:sup>
                          <m:r>
                            <a:rPr lang="en-US" sz="1200" i="1">
                              <a:solidFill>
                                <a:srgbClr val="002060"/>
                              </a:solidFill>
                              <a:latin typeface="Cambria Math" panose="02040503050406030204" pitchFamily="18" charset="0"/>
                              <a:ea typeface="Cambria Math" panose="02040503050406030204" pitchFamily="18" charset="0"/>
                            </a:rPr>
                            <m:t>𝑁</m:t>
                          </m:r>
                          <m:r>
                            <a:rPr lang="en-US" sz="1200" i="1">
                              <a:solidFill>
                                <a:srgbClr val="002060"/>
                              </a:solidFill>
                              <a:latin typeface="Cambria Math" panose="02040503050406030204" pitchFamily="18" charset="0"/>
                              <a:ea typeface="Cambria Math" panose="02040503050406030204" pitchFamily="18" charset="0"/>
                            </a:rPr>
                            <m:t>−1</m:t>
                          </m:r>
                        </m:sup>
                        <m:e>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𝑥</m:t>
                              </m:r>
                            </m:e>
                            <m:sub>
                              <m:r>
                                <a:rPr lang="sr-Latn-RS" sz="1200" b="0" i="1" smtClean="0">
                                  <a:solidFill>
                                    <a:srgbClr val="002060"/>
                                  </a:solidFill>
                                  <a:latin typeface="Cambria Math" panose="02040503050406030204" pitchFamily="18" charset="0"/>
                                  <a:ea typeface="Cambria Math" panose="02040503050406030204" pitchFamily="18" charset="0"/>
                                </a:rPr>
                                <m:t>𝑘</m:t>
                              </m:r>
                            </m:sub>
                          </m:sSub>
                          <m:r>
                            <a:rPr lang="en-US" sz="1200" i="1">
                              <a:solidFill>
                                <a:srgbClr val="002060"/>
                              </a:solidFill>
                              <a:latin typeface="Cambria Math" panose="02040503050406030204" pitchFamily="18" charset="0"/>
                              <a:ea typeface="Cambria Math" panose="02040503050406030204" pitchFamily="18" charset="0"/>
                            </a:rPr>
                            <m:t>|</m:t>
                          </m:r>
                          <m:d>
                            <m:dPr>
                              <m:begChr m:val=""/>
                              <m:endChr m:val="⟩"/>
                              <m:ctrlPr>
                                <a:rPr lang="en-US" sz="1200" i="1">
                                  <a:solidFill>
                                    <a:srgbClr val="002060"/>
                                  </a:solidFill>
                                  <a:latin typeface="Cambria Math" panose="02040503050406030204" pitchFamily="18" charset="0"/>
                                  <a:ea typeface="Cambria Math" panose="02040503050406030204" pitchFamily="18" charset="0"/>
                                </a:rPr>
                              </m:ctrlPr>
                            </m:dPr>
                            <m:e>
                              <m:r>
                                <a:rPr lang="sr-Latn-RS" sz="1200" b="0" i="1" smtClean="0">
                                  <a:solidFill>
                                    <a:srgbClr val="002060"/>
                                  </a:solidFill>
                                  <a:latin typeface="Cambria Math" panose="02040503050406030204" pitchFamily="18" charset="0"/>
                                  <a:ea typeface="Cambria Math" panose="02040503050406030204" pitchFamily="18" charset="0"/>
                                </a:rPr>
                                <m:t>𝑘</m:t>
                              </m:r>
                            </m:e>
                          </m:d>
                        </m:e>
                      </m:nary>
                    </m:oMath>
                  </m:oMathPara>
                </a14:m>
                <a:endParaRPr lang="en-ZA" b="0" dirty="0"/>
              </a:p>
              <a:p>
                <a:pPr algn="just"/>
                <a:endParaRPr lang="en-ZA" b="0" dirty="0"/>
              </a:p>
              <a:p>
                <a:pPr algn="just"/>
                <a:r>
                  <a:rPr lang="en-ZA" dirty="0"/>
                  <a:t>If the vector represents classical data, it must first be normalized so that its components can serve as valid quantum amplitudes. The QFT is then applied to this quantum state.</a:t>
                </a:r>
              </a:p>
              <a:p>
                <a:pPr algn="just"/>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According to the formula, each new amplitude </a:t>
                </a:r>
                <a14:m>
                  <m:oMath xmlns:m="http://schemas.openxmlformats.org/officeDocument/2006/math">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𝑦</m:t>
                        </m:r>
                      </m:e>
                      <m:sub>
                        <m:r>
                          <a:rPr lang="en-US" sz="1200" i="1">
                            <a:solidFill>
                              <a:srgbClr val="002060"/>
                            </a:solidFill>
                            <a:latin typeface="Cambria Math" panose="02040503050406030204" pitchFamily="18" charset="0"/>
                            <a:ea typeface="Cambria Math" panose="02040503050406030204" pitchFamily="18" charset="0"/>
                          </a:rPr>
                          <m:t>𝑘</m:t>
                        </m:r>
                      </m:sub>
                    </m:sSub>
                  </m:oMath>
                </a14:m>
                <a:r>
                  <a:rPr lang="en-ZA" dirty="0"/>
                  <a:t>, called a Fourier coefficient, is obtained by summing the original amplitudes </a:t>
                </a:r>
                <a14:m>
                  <m:oMath xmlns:m="http://schemas.openxmlformats.org/officeDocument/2006/math">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𝑥</m:t>
                        </m:r>
                      </m:e>
                      <m:sub>
                        <m:r>
                          <a:rPr lang="en-US" sz="1200" i="1">
                            <a:solidFill>
                              <a:srgbClr val="002060"/>
                            </a:solidFill>
                            <a:latin typeface="Cambria Math" panose="02040503050406030204" pitchFamily="18" charset="0"/>
                            <a:ea typeface="Cambria Math" panose="02040503050406030204" pitchFamily="18" charset="0"/>
                          </a:rPr>
                          <m:t>𝑛</m:t>
                        </m:r>
                      </m:sub>
                    </m:sSub>
                  </m:oMath>
                </a14:m>
                <a:r>
                  <a:rPr lang="en-ZA" dirty="0"/>
                  <a:t>​, each multiplied by a power of the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𝑁</m:t>
                    </m:r>
                  </m:oMath>
                </a14:m>
                <a:r>
                  <a:rPr lang="en-ZA" dirty="0"/>
                  <a:t>-</a:t>
                </a:r>
                <a:r>
                  <a:rPr lang="en-ZA" dirty="0" err="1"/>
                  <a:t>th</a:t>
                </a:r>
                <a:r>
                  <a:rPr lang="en-ZA" dirty="0"/>
                  <a:t> root of unity:</a:t>
                </a:r>
              </a:p>
              <a:p>
                <a:pPr algn="just"/>
                <a14:m>
                  <m:oMathPara xmlns:m="http://schemas.openxmlformats.org/officeDocument/2006/math">
                    <m:oMathParaPr>
                      <m:jc m:val="centerGroup"/>
                    </m:oMathParaPr>
                    <m:oMath xmlns:m="http://schemas.openxmlformats.org/officeDocument/2006/math">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sr-Latn-RS" sz="1200" b="0" i="1" smtClean="0">
                              <a:solidFill>
                                <a:srgbClr val="002060"/>
                              </a:solidFill>
                              <a:latin typeface="Cambria Math" panose="02040503050406030204" pitchFamily="18" charset="0"/>
                              <a:ea typeface="Cambria Math" panose="02040503050406030204" pitchFamily="18" charset="0"/>
                            </a:rPr>
                            <m:t>   </m:t>
                          </m:r>
                          <m:r>
                            <a:rPr lang="en-US" sz="1200" i="1">
                              <a:solidFill>
                                <a:srgbClr val="002060"/>
                              </a:solidFill>
                              <a:latin typeface="Cambria Math" panose="02040503050406030204" pitchFamily="18" charset="0"/>
                              <a:ea typeface="Cambria Math" panose="02040503050406030204" pitchFamily="18" charset="0"/>
                            </a:rPr>
                            <m:t>𝑦</m:t>
                          </m:r>
                        </m:e>
                        <m:sub>
                          <m:r>
                            <a:rPr lang="en-US" sz="1200" i="1">
                              <a:solidFill>
                                <a:srgbClr val="002060"/>
                              </a:solidFill>
                              <a:latin typeface="Cambria Math" panose="02040503050406030204" pitchFamily="18" charset="0"/>
                              <a:ea typeface="Cambria Math" panose="02040503050406030204" pitchFamily="18" charset="0"/>
                            </a:rPr>
                            <m:t>𝑘</m:t>
                          </m:r>
                        </m:sub>
                      </m:sSub>
                      <m:r>
                        <a:rPr lang="en-US" sz="1200" i="1">
                          <a:solidFill>
                            <a:srgbClr val="002060"/>
                          </a:solidFill>
                          <a:latin typeface="Cambria Math" panose="02040503050406030204" pitchFamily="18" charset="0"/>
                          <a:ea typeface="Cambria Math" panose="02040503050406030204" pitchFamily="18" charset="0"/>
                        </a:rPr>
                        <m:t>=</m:t>
                      </m:r>
                      <m:f>
                        <m:fPr>
                          <m:ctrlPr>
                            <a:rPr lang="en-US" sz="1200" i="1">
                              <a:solidFill>
                                <a:srgbClr val="002060"/>
                              </a:solidFill>
                              <a:latin typeface="Cambria Math" panose="02040503050406030204" pitchFamily="18" charset="0"/>
                              <a:ea typeface="Cambria Math" panose="02040503050406030204" pitchFamily="18" charset="0"/>
                            </a:rPr>
                          </m:ctrlPr>
                        </m:fPr>
                        <m:num>
                          <m:r>
                            <a:rPr lang="en-US" sz="1200" i="1">
                              <a:solidFill>
                                <a:srgbClr val="002060"/>
                              </a:solidFill>
                              <a:latin typeface="Cambria Math" panose="02040503050406030204" pitchFamily="18" charset="0"/>
                              <a:ea typeface="Cambria Math" panose="02040503050406030204" pitchFamily="18" charset="0"/>
                            </a:rPr>
                            <m:t>1</m:t>
                          </m:r>
                        </m:num>
                        <m:den>
                          <m:rad>
                            <m:radPr>
                              <m:degHide m:val="on"/>
                              <m:ctrlPr>
                                <a:rPr lang="en-US" sz="1200" i="1">
                                  <a:solidFill>
                                    <a:srgbClr val="002060"/>
                                  </a:solidFill>
                                  <a:latin typeface="Cambria Math" panose="02040503050406030204" pitchFamily="18" charset="0"/>
                                  <a:ea typeface="Cambria Math" panose="02040503050406030204" pitchFamily="18" charset="0"/>
                                </a:rPr>
                              </m:ctrlPr>
                            </m:radPr>
                            <m:deg/>
                            <m:e>
                              <m:r>
                                <a:rPr lang="en-US" sz="1200" i="1">
                                  <a:solidFill>
                                    <a:srgbClr val="002060"/>
                                  </a:solidFill>
                                  <a:latin typeface="Cambria Math" panose="02040503050406030204" pitchFamily="18" charset="0"/>
                                  <a:ea typeface="Cambria Math" panose="02040503050406030204" pitchFamily="18" charset="0"/>
                                </a:rPr>
                                <m:t>𝑁</m:t>
                              </m:r>
                            </m:e>
                          </m:rad>
                        </m:den>
                      </m:f>
                      <m:nary>
                        <m:naryPr>
                          <m:chr m:val="∑"/>
                          <m:ctrlPr>
                            <a:rPr lang="en-US" sz="1200" i="1">
                              <a:solidFill>
                                <a:srgbClr val="002060"/>
                              </a:solidFill>
                              <a:latin typeface="Cambria Math" panose="02040503050406030204" pitchFamily="18" charset="0"/>
                              <a:ea typeface="Cambria Math" panose="02040503050406030204" pitchFamily="18" charset="0"/>
                            </a:rPr>
                          </m:ctrlPr>
                        </m:naryPr>
                        <m:sub>
                          <m:r>
                            <a:rPr lang="en-US" sz="1200" i="1">
                              <a:solidFill>
                                <a:srgbClr val="002060"/>
                              </a:solidFill>
                              <a:latin typeface="Cambria Math" panose="02040503050406030204" pitchFamily="18" charset="0"/>
                              <a:ea typeface="Cambria Math" panose="02040503050406030204" pitchFamily="18" charset="0"/>
                            </a:rPr>
                            <m:t>𝑛</m:t>
                          </m:r>
                          <m:r>
                            <a:rPr lang="en-US" sz="1200" i="1">
                              <a:solidFill>
                                <a:srgbClr val="002060"/>
                              </a:solidFill>
                              <a:latin typeface="Cambria Math" panose="02040503050406030204" pitchFamily="18" charset="0"/>
                              <a:ea typeface="Cambria Math" panose="02040503050406030204" pitchFamily="18" charset="0"/>
                            </a:rPr>
                            <m:t>=0</m:t>
                          </m:r>
                        </m:sub>
                        <m:sup>
                          <m:r>
                            <a:rPr lang="en-US" sz="1200" i="1">
                              <a:solidFill>
                                <a:srgbClr val="002060"/>
                              </a:solidFill>
                              <a:latin typeface="Cambria Math" panose="02040503050406030204" pitchFamily="18" charset="0"/>
                              <a:ea typeface="Cambria Math" panose="02040503050406030204" pitchFamily="18" charset="0"/>
                            </a:rPr>
                            <m:t>𝑁</m:t>
                          </m:r>
                          <m:r>
                            <a:rPr lang="en-US" sz="1200" i="1">
                              <a:solidFill>
                                <a:srgbClr val="002060"/>
                              </a:solidFill>
                              <a:latin typeface="Cambria Math" panose="02040503050406030204" pitchFamily="18" charset="0"/>
                              <a:ea typeface="Cambria Math" panose="02040503050406030204" pitchFamily="18" charset="0"/>
                            </a:rPr>
                            <m:t>−1</m:t>
                          </m:r>
                        </m:sup>
                        <m:e>
                          <m:sSub>
                            <m:sSubPr>
                              <m:ctrlPr>
                                <a:rPr lang="en-US" sz="1200" i="1">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𝑥</m:t>
                              </m:r>
                            </m:e>
                            <m:sub>
                              <m:r>
                                <a:rPr lang="en-US" sz="1200" i="1">
                                  <a:solidFill>
                                    <a:srgbClr val="002060"/>
                                  </a:solidFill>
                                  <a:latin typeface="Cambria Math" panose="02040503050406030204" pitchFamily="18" charset="0"/>
                                  <a:ea typeface="Cambria Math" panose="02040503050406030204" pitchFamily="18" charset="0"/>
                                </a:rPr>
                                <m:t>𝑛</m:t>
                              </m:r>
                            </m:sub>
                          </m:sSub>
                          <m:sSup>
                            <m:sSupPr>
                              <m:ctrlPr>
                                <a:rPr lang="en-US" sz="1200" i="1">
                                  <a:solidFill>
                                    <a:srgbClr val="002060"/>
                                  </a:solidFill>
                                  <a:latin typeface="Cambria Math" panose="02040503050406030204" pitchFamily="18" charset="0"/>
                                  <a:ea typeface="Cambria Math" panose="02040503050406030204" pitchFamily="18" charset="0"/>
                                </a:rPr>
                              </m:ctrlPr>
                            </m:sSupPr>
                            <m:e>
                              <m:r>
                                <a:rPr lang="en-US" sz="1200" i="1">
                                  <a:solidFill>
                                    <a:srgbClr val="002060"/>
                                  </a:solidFill>
                                  <a:latin typeface="Cambria Math" panose="02040503050406030204" pitchFamily="18" charset="0"/>
                                  <a:ea typeface="Cambria Math" panose="02040503050406030204" pitchFamily="18" charset="0"/>
                                </a:rPr>
                                <m:t>𝜔</m:t>
                              </m:r>
                            </m:e>
                            <m:sup>
                              <m:r>
                                <a:rPr lang="en-US" sz="1200" i="1">
                                  <a:solidFill>
                                    <a:srgbClr val="002060"/>
                                  </a:solidFill>
                                  <a:latin typeface="Cambria Math" panose="02040503050406030204" pitchFamily="18" charset="0"/>
                                  <a:ea typeface="Cambria Math" panose="02040503050406030204" pitchFamily="18" charset="0"/>
                                </a:rPr>
                                <m:t>𝑛𝑘</m:t>
                              </m:r>
                            </m:sup>
                          </m:sSup>
                        </m:e>
                      </m:nary>
                    </m:oMath>
                  </m:oMathPara>
                </a14:m>
                <a:endParaRPr lang="en-ZA" dirty="0"/>
              </a:p>
              <a:p>
                <a:pPr algn="just"/>
                <a:endParaRPr lang="en-ZA" dirty="0"/>
              </a:p>
              <a:p>
                <a:pPr algn="just"/>
                <a:r>
                  <a:rPr lang="en-ZA" dirty="0"/>
                  <a:t>(2). Just like the DFT, the QFT can be written in matrix form, with entries constructed from the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𝑁</m:t>
                    </m:r>
                  </m:oMath>
                </a14:m>
                <a:r>
                  <a:rPr lang="en-ZA" dirty="0"/>
                  <a:t>-</a:t>
                </a:r>
                <a:r>
                  <a:rPr lang="en-ZA" dirty="0" err="1"/>
                  <a:t>th</a:t>
                </a:r>
                <a:r>
                  <a:rPr lang="en-ZA" dirty="0"/>
                  <a:t> roots of unity. The QFT matrix is </a:t>
                </a:r>
                <a:r>
                  <a:rPr lang="en-ZA" b="0" dirty="0"/>
                  <a:t>unitary</a:t>
                </a:r>
                <a:r>
                  <a:rPr lang="en-ZA" dirty="0"/>
                  <a:t>, which means that the transformation is fully reversible.</a:t>
                </a:r>
              </a:p>
              <a:p>
                <a:pPr algn="just"/>
                <a:endParaRPr lang="en-ZA" b="0" dirty="0"/>
              </a:p>
              <a:p>
                <a:pPr algn="just"/>
                <a:r>
                  <a:rPr lang="en-ZA" b="0" dirty="0"/>
                  <a:t>(3). </a:t>
                </a:r>
                <a:r>
                  <a:rPr lang="en-ZA" dirty="0"/>
                  <a:t>Because of this property, the </a:t>
                </a:r>
                <a:r>
                  <a:rPr lang="en-ZA" b="1" dirty="0"/>
                  <a:t>Inverse Quantum Fourier Transform (IQFT)</a:t>
                </a:r>
                <a:r>
                  <a:rPr lang="en-ZA" dirty="0"/>
                  <a:t> has almost the same form as the QFT. The main difference is that the exponent has the opposite sign:</a:t>
                </a:r>
              </a:p>
              <a:p>
                <a:pPr algn="just"/>
                <a:endParaRPr lang="en-ZA" dirty="0"/>
              </a:p>
              <a:p>
                <a:pPr algn="just"/>
                <a14:m>
                  <m:oMathPara xmlns:m="http://schemas.openxmlformats.org/officeDocument/2006/math">
                    <m:oMathParaPr>
                      <m:jc m:val="centerGroup"/>
                    </m:oMathParaPr>
                    <m:oMath xmlns:m="http://schemas.openxmlformats.org/officeDocument/2006/math">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𝑥</m:t>
                          </m:r>
                        </m:e>
                        <m:sub>
                          <m:r>
                            <a:rPr lang="en-US" sz="1200" b="0" i="1" smtClean="0">
                              <a:solidFill>
                                <a:srgbClr val="002060"/>
                              </a:solidFill>
                              <a:latin typeface="Cambria Math" panose="02040503050406030204" pitchFamily="18" charset="0"/>
                              <a:ea typeface="Cambria Math" panose="02040503050406030204" pitchFamily="18" charset="0"/>
                            </a:rPr>
                            <m:t>𝑛</m:t>
                          </m:r>
                        </m:sub>
                      </m:sSub>
                      <m:r>
                        <a:rPr lang="en-US" sz="1200" b="0" i="1" smtClean="0">
                          <a:solidFill>
                            <a:srgbClr val="002060"/>
                          </a:solidFill>
                          <a:latin typeface="Cambria Math" panose="02040503050406030204" pitchFamily="18" charset="0"/>
                          <a:ea typeface="Cambria Math" panose="02040503050406030204" pitchFamily="18" charset="0"/>
                        </a:rPr>
                        <m:t>=</m:t>
                      </m:r>
                      <m:f>
                        <m:fPr>
                          <m:ctrlPr>
                            <a:rPr lang="en-US" sz="1200" i="1">
                              <a:solidFill>
                                <a:srgbClr val="002060"/>
                              </a:solidFill>
                              <a:latin typeface="Cambria Math" panose="02040503050406030204" pitchFamily="18" charset="0"/>
                              <a:ea typeface="Cambria Math" panose="02040503050406030204" pitchFamily="18" charset="0"/>
                            </a:rPr>
                          </m:ctrlPr>
                        </m:fPr>
                        <m:num>
                          <m:r>
                            <a:rPr lang="en-US" sz="1200" i="1">
                              <a:solidFill>
                                <a:srgbClr val="002060"/>
                              </a:solidFill>
                              <a:latin typeface="Cambria Math" panose="02040503050406030204" pitchFamily="18" charset="0"/>
                              <a:ea typeface="Cambria Math" panose="02040503050406030204" pitchFamily="18" charset="0"/>
                            </a:rPr>
                            <m:t>1</m:t>
                          </m:r>
                        </m:num>
                        <m:den>
                          <m:rad>
                            <m:radPr>
                              <m:degHide m:val="on"/>
                              <m:ctrlPr>
                                <a:rPr lang="en-US" sz="1200" i="1">
                                  <a:solidFill>
                                    <a:srgbClr val="002060"/>
                                  </a:solidFill>
                                  <a:latin typeface="Cambria Math" panose="02040503050406030204" pitchFamily="18" charset="0"/>
                                  <a:ea typeface="Cambria Math" panose="02040503050406030204" pitchFamily="18" charset="0"/>
                                </a:rPr>
                              </m:ctrlPr>
                            </m:radPr>
                            <m:deg/>
                            <m:e>
                              <m:r>
                                <a:rPr lang="en-US" sz="1200" i="1">
                                  <a:solidFill>
                                    <a:srgbClr val="002060"/>
                                  </a:solidFill>
                                  <a:latin typeface="Cambria Math" panose="02040503050406030204" pitchFamily="18" charset="0"/>
                                  <a:ea typeface="Cambria Math" panose="02040503050406030204" pitchFamily="18" charset="0"/>
                                </a:rPr>
                                <m:t>𝑁</m:t>
                              </m:r>
                            </m:e>
                          </m:rad>
                        </m:den>
                      </m:f>
                      <m:nary>
                        <m:naryPr>
                          <m:chr m:val="∑"/>
                          <m:ctrlPr>
                            <a:rPr lang="en-US" sz="1200" i="1" smtClean="0">
                              <a:solidFill>
                                <a:srgbClr val="002060"/>
                              </a:solidFill>
                              <a:latin typeface="Cambria Math" panose="02040503050406030204" pitchFamily="18" charset="0"/>
                              <a:ea typeface="Cambria Math" panose="02040503050406030204" pitchFamily="18" charset="0"/>
                            </a:rPr>
                          </m:ctrlPr>
                        </m:naryPr>
                        <m:sub>
                          <m:r>
                            <a:rPr lang="en-US" sz="1200" b="0" i="1" smtClean="0">
                              <a:solidFill>
                                <a:srgbClr val="002060"/>
                              </a:solidFill>
                              <a:latin typeface="Cambria Math" panose="02040503050406030204" pitchFamily="18" charset="0"/>
                              <a:ea typeface="Cambria Math" panose="02040503050406030204" pitchFamily="18" charset="0"/>
                            </a:rPr>
                            <m:t>𝑘</m:t>
                          </m:r>
                          <m:r>
                            <a:rPr lang="en-US" sz="1200" i="1">
                              <a:solidFill>
                                <a:srgbClr val="002060"/>
                              </a:solidFill>
                              <a:latin typeface="Cambria Math" panose="02040503050406030204" pitchFamily="18" charset="0"/>
                              <a:ea typeface="Cambria Math" panose="02040503050406030204" pitchFamily="18" charset="0"/>
                            </a:rPr>
                            <m:t>=0</m:t>
                          </m:r>
                        </m:sub>
                        <m:sup>
                          <m:r>
                            <a:rPr lang="en-US" sz="1200" i="1">
                              <a:solidFill>
                                <a:srgbClr val="002060"/>
                              </a:solidFill>
                              <a:latin typeface="Cambria Math" panose="02040503050406030204" pitchFamily="18" charset="0"/>
                              <a:ea typeface="Cambria Math" panose="02040503050406030204" pitchFamily="18" charset="0"/>
                            </a:rPr>
                            <m:t>𝑁</m:t>
                          </m:r>
                          <m:r>
                            <a:rPr lang="en-US" sz="1200" i="1">
                              <a:solidFill>
                                <a:srgbClr val="002060"/>
                              </a:solidFill>
                              <a:latin typeface="Cambria Math" panose="02040503050406030204" pitchFamily="18" charset="0"/>
                              <a:ea typeface="Cambria Math" panose="02040503050406030204" pitchFamily="18" charset="0"/>
                            </a:rPr>
                            <m:t>−1</m:t>
                          </m:r>
                        </m:sup>
                        <m:e>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b="0" i="1" smtClean="0">
                                  <a:solidFill>
                                    <a:srgbClr val="002060"/>
                                  </a:solidFill>
                                  <a:latin typeface="Cambria Math" panose="02040503050406030204" pitchFamily="18" charset="0"/>
                                  <a:ea typeface="Cambria Math" panose="02040503050406030204" pitchFamily="18" charset="0"/>
                                </a:rPr>
                                <m:t>𝑦</m:t>
                              </m:r>
                            </m:e>
                            <m:sub>
                              <m:r>
                                <a:rPr lang="en-US" sz="1200" b="0" i="1" smtClean="0">
                                  <a:solidFill>
                                    <a:srgbClr val="002060"/>
                                  </a:solidFill>
                                  <a:latin typeface="Cambria Math" panose="02040503050406030204" pitchFamily="18" charset="0"/>
                                  <a:ea typeface="Cambria Math" panose="02040503050406030204" pitchFamily="18" charset="0"/>
                                </a:rPr>
                                <m:t>𝑘</m:t>
                              </m:r>
                            </m:sub>
                          </m:sSub>
                          <m:sSup>
                            <m:sSupPr>
                              <m:ctrlPr>
                                <a:rPr lang="en-US" sz="1200" i="1" smtClean="0">
                                  <a:solidFill>
                                    <a:srgbClr val="002060"/>
                                  </a:solidFill>
                                  <a:latin typeface="Cambria Math" panose="02040503050406030204" pitchFamily="18" charset="0"/>
                                  <a:ea typeface="Cambria Math" panose="02040503050406030204" pitchFamily="18" charset="0"/>
                                </a:rPr>
                              </m:ctrlPr>
                            </m:sSupPr>
                            <m:e>
                              <m:r>
                                <a:rPr lang="en-US" sz="1200" i="1">
                                  <a:solidFill>
                                    <a:srgbClr val="002060"/>
                                  </a:solidFill>
                                  <a:latin typeface="Cambria Math" panose="02040503050406030204" pitchFamily="18" charset="0"/>
                                  <a:ea typeface="Cambria Math" panose="02040503050406030204" pitchFamily="18" charset="0"/>
                                </a:rPr>
                                <m:t>𝜔</m:t>
                              </m:r>
                            </m:e>
                            <m:sup>
                              <m:r>
                                <a:rPr lang="en-US" sz="1200" b="0" i="1" smtClean="0">
                                  <a:solidFill>
                                    <a:srgbClr val="FF000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𝑛𝑘</m:t>
                              </m:r>
                            </m:sup>
                          </m:sSup>
                        </m:e>
                      </m:nary>
                    </m:oMath>
                  </m:oMathPara>
                </a14:m>
                <a:endParaRPr lang="en-ZA" b="0" dirty="0"/>
              </a:p>
              <a:p>
                <a:pPr algn="just"/>
                <a:endParaRPr lang="en-ZA" b="0" dirty="0"/>
              </a:p>
            </p:txBody>
          </p:sp>
        </mc:Choice>
        <mc:Fallback xmlns="">
          <p:sp>
            <p:nvSpPr>
              <p:cNvPr id="3" name="Notes Placeholder 2"/>
              <p:cNvSpPr>
                <a:spLocks noGrp="1"/>
              </p:cNvSpPr>
              <p:nvPr>
                <p:ph type="body" idx="1"/>
              </p:nvPr>
            </p:nvSpPr>
            <p:spPr/>
            <p:txBody>
              <a:bodyPr/>
              <a:lstStyle/>
              <a:p>
                <a:r>
                  <a:rPr lang="en-US" sz="2000" dirty="0"/>
                  <a:t>To generalize, the QFT operator act on a quantum state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𝑆⟩</a:t>
                </a:r>
                <a:r>
                  <a:rPr lang="en-US" sz="2000" dirty="0"/>
                  <a:t> transforming it to state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𝑆 ̃ ⟩</a:t>
                </a:r>
                <a:r>
                  <a:rPr lang="en-US" sz="2000" dirty="0"/>
                  <a:t> by using these two formulas. </a:t>
                </a:r>
              </a:p>
              <a:p>
                <a:pPr marL="457200" indent="-457200">
                  <a:buFont typeface="+mj-lt"/>
                  <a:buAutoNum type="arabicPeriod"/>
                </a:pPr>
                <a:r>
                  <a:rPr lang="en-US" sz="2000" dirty="0"/>
                  <a:t>Since QFT is an unitary transformation, it can be written as a matrix and implemented as a quantum gate. This is a general form of such a matrix. It looks complicated, but it is easily calculated as shown </a:t>
                </a:r>
                <a:r>
                  <a:rPr lang="en-US" sz="2000" baseline="0" dirty="0"/>
                  <a:t>in previous example for the H matrix.</a:t>
                </a:r>
                <a:endParaRPr lang="en-US" sz="2000" dirty="0"/>
              </a:p>
              <a:p>
                <a:pPr marL="457200" indent="-457200">
                  <a:buFont typeface="+mj-lt"/>
                  <a:buAutoNum type="arabicPeriod"/>
                </a:pPr>
                <a:r>
                  <a:rPr lang="en-US" sz="2000" dirty="0"/>
                  <a:t>The inverse transformation, IQFT has the same form as QFT, but with different arguments and the</a:t>
                </a:r>
                <a:r>
                  <a:rPr lang="en-US" sz="2000" baseline="0" dirty="0"/>
                  <a:t> minus sign in the exponent.</a:t>
                </a:r>
              </a:p>
              <a:p>
                <a:pPr marL="457200" indent="-457200">
                  <a:buFont typeface="+mj-lt"/>
                  <a:buAutoNum type="arabicPeriod"/>
                </a:pP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55</a:t>
            </a:fld>
            <a:endParaRPr lang="en-US"/>
          </a:p>
        </p:txBody>
      </p:sp>
    </p:spTree>
    <p:extLst>
      <p:ext uri="{BB962C8B-B14F-4D97-AF65-F5344CB8AC3E}">
        <p14:creationId xmlns:p14="http://schemas.microsoft.com/office/powerpoint/2010/main" val="118950679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As an example, consider </a:t>
                </a:r>
                <a:r>
                  <a:rPr lang="en-ZA" b="0" dirty="0"/>
                  <a:t>a 4-qubit counting register</a:t>
                </a:r>
                <a:r>
                  <a:rPr lang="en-ZA" dirty="0"/>
                  <a:t>, representing the numbers from 0 to 15.</a:t>
                </a:r>
              </a:p>
              <a:p>
                <a:pPr algn="just"/>
                <a:endParaRPr lang="en-ZA" dirty="0"/>
              </a:p>
              <a:p>
                <a:pPr marL="171450" indent="-171450">
                  <a:buFont typeface="Arial" panose="020B0604020202020204" pitchFamily="34" charset="0"/>
                  <a:buChar char="•"/>
                </a:pPr>
                <a:r>
                  <a:rPr lang="en-ZA" dirty="0"/>
                  <a:t>Qubit 0 (the least significant qubit) flips with every increment.</a:t>
                </a:r>
              </a:p>
              <a:p>
                <a:pPr marL="171450" indent="-171450">
                  <a:buFont typeface="Arial" panose="020B0604020202020204" pitchFamily="34" charset="0"/>
                  <a:buChar char="•"/>
                </a:pPr>
                <a:r>
                  <a:rPr lang="en-ZA" dirty="0"/>
                  <a:t>Qubit 1 flips every 2 increments.</a:t>
                </a:r>
              </a:p>
              <a:p>
                <a:pPr marL="171450" indent="-171450">
                  <a:buFont typeface="Arial" panose="020B0604020202020204" pitchFamily="34" charset="0"/>
                  <a:buChar char="•"/>
                </a:pPr>
                <a:r>
                  <a:rPr lang="en-ZA" dirty="0"/>
                  <a:t>Qubit 2 flips every 4 increments.</a:t>
                </a:r>
              </a:p>
              <a:p>
                <a:pPr marL="171450" indent="-171450">
                  <a:buFont typeface="Arial" panose="020B0604020202020204" pitchFamily="34" charset="0"/>
                  <a:buChar char="•"/>
                </a:pPr>
                <a:r>
                  <a:rPr lang="en-ZA" dirty="0"/>
                  <a:t>Qubit 3 (the most significant qubit) flips every 8 increments.</a:t>
                </a:r>
              </a:p>
              <a:p>
                <a:pPr marL="171450" indent="-171450">
                  <a:buFont typeface="Arial" panose="020B0604020202020204" pitchFamily="34" charset="0"/>
                  <a:buChar char="•"/>
                </a:pPr>
                <a:endParaRPr lang="en-ZA" dirty="0"/>
              </a:p>
              <a:p>
                <a:pPr algn="just"/>
                <a:r>
                  <a:rPr lang="en-ZA" dirty="0"/>
                  <a:t>In the language of oscillations, Qubit 0 changes state at the highest frequency, while Qubit 3 changes at the lowest frequency.</a:t>
                </a:r>
              </a:p>
              <a:p>
                <a:pPr algn="just"/>
                <a:endParaRPr lang="en-ZA" dirty="0"/>
              </a:p>
              <a:p>
                <a:pPr algn="just"/>
                <a:r>
                  <a:rPr lang="en-ZA" dirty="0"/>
                  <a:t>When the QFT is applied, this binary pattern of changes between ∣0⟩ and ∣1⟩ is transformed into phase information. The resulting qubit states can be visualized as vectors rotating around the equator of the Bloch sphere, where different phases correspond to different rotation angles.</a:t>
                </a:r>
                <a:r>
                  <a:rPr lang="en-ZA" b="0" dirty="0"/>
                  <a:t> </a:t>
                </a:r>
                <a:r>
                  <a:rPr lang="en-ZA" dirty="0"/>
                  <a:t>For a 4-qubit register, the possible phase increments are based on fractions of a full 2</a:t>
                </a:r>
                <a:r>
                  <a:rPr lang="el-GR" dirty="0"/>
                  <a:t>π </a:t>
                </a:r>
                <a:r>
                  <a:rPr lang="en-ZA" dirty="0"/>
                  <a:t>rotation:</a:t>
                </a:r>
              </a:p>
              <a:p>
                <a:pPr algn="just"/>
                <a:endParaRPr lang="en-ZA" dirty="0"/>
              </a:p>
              <a:p>
                <a:pPr marL="171450" indent="-171450">
                  <a:buFont typeface="Arial" panose="020B0604020202020204" pitchFamily="34" charset="0"/>
                  <a:buChar char="•"/>
                </a:pPr>
                <a:r>
                  <a:rPr lang="en-ZA" dirty="0"/>
                  <a:t>Qubit 0 rotates by steps of 2</a:t>
                </a:r>
                <a:r>
                  <a:rPr lang="el-GR" dirty="0"/>
                  <a:t>π/16.</a:t>
                </a:r>
              </a:p>
              <a:p>
                <a:pPr marL="171450" indent="-171450">
                  <a:buFont typeface="Arial" panose="020B0604020202020204" pitchFamily="34" charset="0"/>
                  <a:buChar char="•"/>
                </a:pPr>
                <a:r>
                  <a:rPr lang="en-ZA" dirty="0"/>
                  <a:t>Qubit 1 rotates by steps of 2</a:t>
                </a:r>
                <a:r>
                  <a:rPr lang="el-GR" dirty="0"/>
                  <a:t>π/8.</a:t>
                </a:r>
              </a:p>
              <a:p>
                <a:pPr marL="171450" indent="-171450">
                  <a:buFont typeface="Arial" panose="020B0604020202020204" pitchFamily="34" charset="0"/>
                  <a:buChar char="•"/>
                </a:pPr>
                <a:r>
                  <a:rPr lang="en-ZA" dirty="0"/>
                  <a:t>Qubit 2 rotates by steps of 2</a:t>
                </a:r>
                <a:r>
                  <a:rPr lang="el-GR" dirty="0"/>
                  <a:t>π/4.</a:t>
                </a:r>
              </a:p>
              <a:p>
                <a:pPr marL="171450" indent="-171450">
                  <a:buFont typeface="Arial" panose="020B0604020202020204" pitchFamily="34" charset="0"/>
                  <a:buChar char="•"/>
                </a:pPr>
                <a:r>
                  <a:rPr lang="en-ZA" dirty="0"/>
                  <a:t>Qubit 3 rotates by steps of 2</a:t>
                </a:r>
                <a:r>
                  <a:rPr lang="el-GR" dirty="0"/>
                  <a:t>π/2 (</a:t>
                </a:r>
                <a:r>
                  <a:rPr lang="en-ZA" dirty="0"/>
                  <a:t>between 0 and </a:t>
                </a:r>
                <a:r>
                  <a:rPr lang="el-GR" dirty="0"/>
                  <a:t>π).</a:t>
                </a:r>
                <a:endParaRPr lang="en-US" dirty="0"/>
              </a:p>
              <a:p>
                <a:endParaRPr lang="el-GR" dirty="0"/>
              </a:p>
              <a:p>
                <a:pPr algn="just"/>
                <a:r>
                  <a:rPr lang="en-ZA" b="0" dirty="0"/>
                  <a:t>Thus, the QFT transforms information represented by binary counting patterns into information represented by relative phases. These phases capture the frequency structure of the original quantum state.</a:t>
                </a:r>
              </a:p>
            </p:txBody>
          </p:sp>
        </mc:Choice>
        <mc:Fallback xmlns="">
          <p:sp>
            <p:nvSpPr>
              <p:cNvPr id="3" name="Notes Placeholder 2"/>
              <p:cNvSpPr>
                <a:spLocks noGrp="1"/>
              </p:cNvSpPr>
              <p:nvPr>
                <p:ph type="body" idx="1"/>
              </p:nvPr>
            </p:nvSpPr>
            <p:spPr/>
            <p:txBody>
              <a:bodyPr/>
              <a:lstStyle/>
              <a:p>
                <a:r>
                  <a:rPr lang="en-US" sz="2200" dirty="0"/>
                  <a:t>We can say that QFT transforms standard basis to QFT basis. </a:t>
                </a:r>
                <a:r>
                  <a:rPr lang="en-US" sz="2400" dirty="0"/>
                  <a:t>States in the Fourier basis are often notes by using the tilde. For standard basis {</a:t>
                </a:r>
                <a:r>
                  <a:rPr lang="en-US" sz="2400" i="0">
                    <a:solidFill>
                      <a:srgbClr val="002060"/>
                    </a:solidFill>
                    <a:latin typeface="Cambria Math" panose="02040503050406030204" pitchFamily="18" charset="0"/>
                    <a:ea typeface="Cambria Math" panose="02040503050406030204" pitchFamily="18" charset="0"/>
                  </a:rPr>
                  <a:t>|├ </a:t>
                </a:r>
                <a:r>
                  <a:rPr lang="en-US" sz="2400" b="0" i="0">
                    <a:solidFill>
                      <a:srgbClr val="002060"/>
                    </a:solidFill>
                    <a:latin typeface="Cambria Math" panose="02040503050406030204" pitchFamily="18" charset="0"/>
                    <a:ea typeface="Cambria Math" panose="02040503050406030204" pitchFamily="18" charset="0"/>
                  </a:rPr>
                  <a:t>0⟩</a:t>
                </a:r>
                <a:r>
                  <a:rPr lang="en-US" sz="2400" dirty="0"/>
                  <a:t>,</a:t>
                </a:r>
                <a:r>
                  <a:rPr lang="en-US" sz="2400" dirty="0">
                    <a:solidFill>
                      <a:srgbClr val="002060"/>
                    </a:solidFill>
                    <a:ea typeface="Cambria Math" panose="02040503050406030204" pitchFamily="18" charset="0"/>
                  </a:rPr>
                  <a:t> </a:t>
                </a:r>
                <a:r>
                  <a:rPr lang="en-US" sz="2400" i="0">
                    <a:solidFill>
                      <a:srgbClr val="002060"/>
                    </a:solidFill>
                    <a:latin typeface="Cambria Math" panose="02040503050406030204" pitchFamily="18" charset="0"/>
                    <a:ea typeface="Cambria Math" panose="02040503050406030204" pitchFamily="18" charset="0"/>
                  </a:rPr>
                  <a:t>|├ </a:t>
                </a:r>
                <a:r>
                  <a:rPr lang="en-US" sz="2400" b="0" i="0">
                    <a:solidFill>
                      <a:srgbClr val="002060"/>
                    </a:solidFill>
                    <a:latin typeface="Cambria Math" panose="02040503050406030204" pitchFamily="18" charset="0"/>
                    <a:ea typeface="Cambria Math" panose="02040503050406030204" pitchFamily="18" charset="0"/>
                  </a:rPr>
                  <a:t>1⟩</a:t>
                </a:r>
                <a:r>
                  <a:rPr lang="en-US" sz="2400" dirty="0"/>
                  <a:t>}</a:t>
                </a:r>
                <a:r>
                  <a:rPr lang="en-US" sz="2400" dirty="0">
                    <a:solidFill>
                      <a:srgbClr val="002060"/>
                    </a:solidFill>
                    <a:ea typeface="Cambria Math" panose="02040503050406030204" pitchFamily="18" charset="0"/>
                  </a:rPr>
                  <a:t>  this means transformation to </a:t>
                </a:r>
                <a:r>
                  <a:rPr lang="en-US" sz="2400" dirty="0"/>
                  <a:t>{</a:t>
                </a:r>
                <a:r>
                  <a:rPr lang="en-US" sz="2400" i="0">
                    <a:solidFill>
                      <a:srgbClr val="002060"/>
                    </a:solidFill>
                    <a:latin typeface="Cambria Math" panose="02040503050406030204" pitchFamily="18" charset="0"/>
                    <a:ea typeface="Cambria Math" panose="02040503050406030204" pitchFamily="18" charset="0"/>
                  </a:rPr>
                  <a:t>|├ </a:t>
                </a:r>
                <a:r>
                  <a:rPr lang="en-US" sz="2400" b="0" i="0">
                    <a:solidFill>
                      <a:srgbClr val="002060"/>
                    </a:solidFill>
                    <a:latin typeface="Cambria Math" panose="02040503050406030204" pitchFamily="18" charset="0"/>
                    <a:ea typeface="Cambria Math" panose="02040503050406030204" pitchFamily="18" charset="0"/>
                  </a:rPr>
                  <a:t>+⟩</a:t>
                </a:r>
                <a:r>
                  <a:rPr lang="en-US" sz="2400" dirty="0"/>
                  <a:t>,</a:t>
                </a:r>
                <a:r>
                  <a:rPr lang="en-US" sz="2400" dirty="0">
                    <a:solidFill>
                      <a:srgbClr val="002060"/>
                    </a:solidFill>
                    <a:ea typeface="Cambria Math" panose="02040503050406030204" pitchFamily="18" charset="0"/>
                  </a:rPr>
                  <a:t> </a:t>
                </a:r>
                <a:r>
                  <a:rPr lang="en-US" sz="2400" i="0">
                    <a:solidFill>
                      <a:srgbClr val="002060"/>
                    </a:solidFill>
                    <a:latin typeface="Cambria Math" panose="02040503050406030204" pitchFamily="18" charset="0"/>
                    <a:ea typeface="Cambria Math" panose="02040503050406030204" pitchFamily="18" charset="0"/>
                  </a:rPr>
                  <a:t>|├ </a:t>
                </a:r>
                <a:r>
                  <a:rPr lang="en-US" sz="2400" b="0" i="0">
                    <a:solidFill>
                      <a:srgbClr val="002060"/>
                    </a:solidFill>
                    <a:latin typeface="Cambria Math" panose="02040503050406030204" pitchFamily="18" charset="0"/>
                    <a:ea typeface="Cambria Math" panose="02040503050406030204" pitchFamily="18" charset="0"/>
                  </a:rPr>
                  <a:t>−⟩</a:t>
                </a:r>
                <a:r>
                  <a:rPr lang="en-US" sz="2400" dirty="0"/>
                  <a:t>} basis.</a:t>
                </a:r>
                <a:r>
                  <a:rPr lang="en-US" sz="2400" dirty="0">
                    <a:solidFill>
                      <a:srgbClr val="002060"/>
                    </a:solidFill>
                    <a:ea typeface="Cambria Math" panose="02040503050406030204" pitchFamily="18" charset="0"/>
                  </a:rPr>
                  <a:t> </a:t>
                </a:r>
                <a:endParaRPr lang="en-US" sz="2400" dirty="0"/>
              </a:p>
              <a:p>
                <a:endParaRPr lang="en-US" sz="2400" dirty="0"/>
              </a:p>
              <a:p>
                <a:r>
                  <a:rPr lang="en-US" sz="2200" dirty="0"/>
                  <a:t>This animation illustrates how the transformation works. On the top there are four qubits counting from 0 to 15 in standard basis. Note that the least significant bit is on the left. So, each time the LSB qubit resets, qubit 1 flips. When qubit 1 resets qubit 2 flips, and so on as we know from binary counting. In this process the rightmost qubit has the highest frequency.</a:t>
                </a:r>
              </a:p>
              <a:p>
                <a:endParaRPr lang="en-US" sz="2200" dirty="0"/>
              </a:p>
              <a:p>
                <a:r>
                  <a:rPr lang="en-US" sz="2200" dirty="0"/>
                  <a:t>After the QFT is applied to those 4 qubits we get </a:t>
                </a:r>
                <a:r>
                  <a:rPr lang="en-US" sz="2400" dirty="0"/>
                  <a:t>the Fourier basis, which store numbers using different rotations around the Z-axis. We start from the state </a:t>
                </a:r>
                <a:r>
                  <a:rPr lang="en-US" sz="2400" dirty="0">
                    <a:effectLst/>
                  </a:rPr>
                  <a:t>|+⟩ and qubits now rotate around z. Each count rotates the leftmost qubit by </a:t>
                </a:r>
                <a:r>
                  <a:rPr lang="el-GR" sz="2400" dirty="0">
                    <a:effectLst/>
                  </a:rPr>
                  <a:t>π</a:t>
                </a:r>
                <a:r>
                  <a:rPr lang="en-US" sz="2400" dirty="0">
                    <a:effectLst/>
                  </a:rPr>
                  <a:t>/16</a:t>
                </a:r>
                <a:r>
                  <a:rPr lang="el-GR" sz="2400" dirty="0"/>
                  <a:t> </a:t>
                </a:r>
                <a:r>
                  <a:rPr lang="en-US" sz="2400" dirty="0"/>
                  <a:t>radians, the next one turns double this, or </a:t>
                </a:r>
                <a:r>
                  <a:rPr lang="el-GR" sz="2400" dirty="0">
                    <a:effectLst/>
                  </a:rPr>
                  <a:t>π</a:t>
                </a:r>
                <a:r>
                  <a:rPr lang="en-US" sz="2400" dirty="0">
                    <a:effectLst/>
                  </a:rPr>
                  <a:t>/8,</a:t>
                </a:r>
                <a:r>
                  <a:rPr lang="el-GR" sz="2400" dirty="0"/>
                  <a:t> </a:t>
                </a:r>
                <a:r>
                  <a:rPr lang="en-US" sz="2400" dirty="0"/>
                  <a:t>followed by </a:t>
                </a:r>
                <a:r>
                  <a:rPr lang="el-GR" sz="2400" dirty="0">
                    <a:effectLst/>
                  </a:rPr>
                  <a:t>π</a:t>
                </a:r>
                <a:r>
                  <a:rPr lang="en-US" sz="2400" dirty="0">
                    <a:effectLst/>
                  </a:rPr>
                  <a:t>/4 and finally by </a:t>
                </a:r>
                <a:r>
                  <a:rPr lang="el-GR" sz="2400" dirty="0">
                    <a:effectLst/>
                  </a:rPr>
                  <a:t>π</a:t>
                </a:r>
                <a:r>
                  <a:rPr lang="en-US" sz="2400" dirty="0">
                    <a:effectLst/>
                  </a:rPr>
                  <a:t>/2</a:t>
                </a:r>
                <a:r>
                  <a:rPr lang="el-GR" sz="2400" dirty="0"/>
                  <a:t> </a:t>
                </a:r>
                <a:r>
                  <a:rPr lang="en-US" sz="2400" dirty="0"/>
                  <a:t>radians. The leftmost qubit (qubit 0) in this case has the lowest frequency, and the rightmost the highest.</a:t>
                </a:r>
                <a:endParaRPr lang="en-US" sz="22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56</a:t>
            </a:fld>
            <a:endParaRPr lang="en-US"/>
          </a:p>
        </p:txBody>
      </p:sp>
    </p:spTree>
    <p:extLst>
      <p:ext uri="{BB962C8B-B14F-4D97-AF65-F5344CB8AC3E}">
        <p14:creationId xmlns:p14="http://schemas.microsoft.com/office/powerpoint/2010/main" val="252656506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In this example, the number of qubits is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𝑛</m:t>
                    </m:r>
                    <m:r>
                      <a:rPr lang="en-US" sz="1200" b="0" i="1" smtClean="0">
                        <a:solidFill>
                          <a:srgbClr val="002060"/>
                        </a:solidFill>
                        <a:latin typeface="Cambria Math" panose="02040503050406030204" pitchFamily="18" charset="0"/>
                        <a:ea typeface="Cambria Math" panose="02040503050406030204" pitchFamily="18" charset="0"/>
                      </a:rPr>
                      <m:t>=4</m:t>
                    </m:r>
                  </m:oMath>
                </a14:m>
                <a:r>
                  <a:rPr lang="en-ZA" b="0" dirty="0"/>
                  <a:t>, </a:t>
                </a:r>
                <a:r>
                  <a:rPr lang="en-ZA" dirty="0"/>
                  <a:t>so the size of the register is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𝑁</m:t>
                    </m:r>
                    <m:r>
                      <a:rPr lang="en-US" sz="1200" b="0" i="1" smtClean="0">
                        <a:solidFill>
                          <a:srgbClr val="002060"/>
                        </a:solidFill>
                        <a:latin typeface="Cambria Math" panose="02040503050406030204" pitchFamily="18" charset="0"/>
                        <a:ea typeface="Cambria Math" panose="02040503050406030204" pitchFamily="18" charset="0"/>
                      </a:rPr>
                      <m:t>=16</m:t>
                    </m:r>
                  </m:oMath>
                </a14:m>
                <a:r>
                  <a:rPr lang="en-ZA" dirty="0"/>
                  <a:t>, so the smallest phase increment is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2</m:t>
                    </m:r>
                    <m:r>
                      <a:rPr lang="en-US" sz="1200" b="0" i="1" smtClean="0">
                        <a:solidFill>
                          <a:schemeClr val="tx1"/>
                        </a:solidFill>
                        <a:latin typeface="Cambria Math" panose="02040503050406030204" pitchFamily="18" charset="0"/>
                        <a:ea typeface="Cambria Math" panose="02040503050406030204" pitchFamily="18" charset="0"/>
                      </a:rPr>
                      <m:t>𝜋</m:t>
                    </m:r>
                    <m:r>
                      <a:rPr lang="en-US" sz="1200" b="0" i="1" smtClean="0">
                        <a:solidFill>
                          <a:schemeClr val="tx1"/>
                        </a:solidFill>
                        <a:latin typeface="Cambria Math" panose="02040503050406030204" pitchFamily="18" charset="0"/>
                        <a:ea typeface="Cambria Math" panose="02040503050406030204" pitchFamily="18" charset="0"/>
                      </a:rPr>
                      <m:t>/16</m:t>
                    </m:r>
                  </m:oMath>
                </a14:m>
                <a:r>
                  <a:rPr lang="en-ZA" b="0" dirty="0"/>
                  <a:t>.</a:t>
                </a:r>
              </a:p>
              <a:p>
                <a:pPr algn="just"/>
                <a:endParaRPr lang="en-ZA" b="0" dirty="0"/>
              </a:p>
              <a:p>
                <a:pPr algn="just"/>
                <a:r>
                  <a:rPr lang="en-ZA" dirty="0"/>
                  <a:t>If we freeze the animation after 5 steps, we can see the following:</a:t>
                </a:r>
              </a:p>
              <a:p>
                <a:pPr algn="just"/>
                <a:endParaRPr lang="en-ZA" b="0" dirty="0"/>
              </a:p>
              <a:p>
                <a:pPr algn="just"/>
                <a:r>
                  <a:rPr lang="en-ZA" dirty="0"/>
                  <a:t>Qubit 0 advances by one phase increment per step. After 5 steps, its phase angle is</a:t>
                </a:r>
                <a:r>
                  <a:rPr lang="en-ZA" b="0" dirty="0"/>
                  <a:t> </a:t>
                </a:r>
                <a14:m>
                  <m:oMath xmlns:m="http://schemas.openxmlformats.org/officeDocument/2006/math">
                    <m:d>
                      <m:dPr>
                        <m:ctrlPr>
                          <a:rPr lang="en-ZA" b="0" i="1" smtClean="0">
                            <a:latin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2</m:t>
                        </m:r>
                        <m:r>
                          <a:rPr lang="en-US" sz="1200" b="0" i="1" smtClean="0">
                            <a:solidFill>
                              <a:schemeClr val="tx1"/>
                            </a:solidFill>
                            <a:latin typeface="Cambria Math" panose="02040503050406030204" pitchFamily="18" charset="0"/>
                            <a:ea typeface="Cambria Math" panose="02040503050406030204" pitchFamily="18" charset="0"/>
                          </a:rPr>
                          <m:t>𝜋</m:t>
                        </m:r>
                        <m:r>
                          <a:rPr lang="en-US" sz="1200" b="0" i="1" smtClean="0">
                            <a:solidFill>
                              <a:schemeClr val="tx1"/>
                            </a:solidFill>
                            <a:latin typeface="Cambria Math" panose="02040503050406030204" pitchFamily="18" charset="0"/>
                            <a:ea typeface="Cambria Math" panose="02040503050406030204" pitchFamily="18" charset="0"/>
                          </a:rPr>
                          <m:t>/16</m:t>
                        </m:r>
                      </m:e>
                    </m:d>
                    <m:r>
                      <a:rPr lang="en-US" sz="1200" b="0" i="1" smtClean="0">
                        <a:solidFill>
                          <a:schemeClr val="tx1"/>
                        </a:solidFill>
                        <a:latin typeface="Cambria Math" panose="02040503050406030204" pitchFamily="18" charset="0"/>
                        <a:ea typeface="Cambria Math" panose="02040503050406030204" pitchFamily="18" charset="0"/>
                      </a:rPr>
                      <m:t>×5</m:t>
                    </m:r>
                  </m:oMath>
                </a14:m>
                <a:r>
                  <a:rPr lang="en-ZA" b="0" dirty="0"/>
                  <a:t>. </a:t>
                </a:r>
                <a:r>
                  <a:rPr lang="el-GR" b="0" dirty="0"/>
                  <a:t> </a:t>
                </a:r>
              </a:p>
              <a:p>
                <a:pPr algn="just"/>
                <a:r>
                  <a:rPr lang="en-ZA" dirty="0"/>
                  <a:t>Qubit 1 advances twice as fast. After 5 steps, its phase angle is</a:t>
                </a:r>
                <a:r>
                  <a:rPr lang="en-ZA" b="0" dirty="0"/>
                  <a:t> </a:t>
                </a:r>
                <a14:m>
                  <m:oMath xmlns:m="http://schemas.openxmlformats.org/officeDocument/2006/math">
                    <m:r>
                      <a:rPr lang="en-US" b="0" i="0" smtClean="0">
                        <a:latin typeface="Cambria Math" panose="02040503050406030204" pitchFamily="18" charset="0"/>
                      </a:rPr>
                      <m:t>2</m:t>
                    </m:r>
                    <m:r>
                      <a:rPr lang="en-US" sz="1200" b="0" i="1" smtClean="0">
                        <a:solidFill>
                          <a:schemeClr val="tx1"/>
                        </a:solidFill>
                        <a:latin typeface="Cambria Math" panose="02040503050406030204" pitchFamily="18" charset="0"/>
                        <a:ea typeface="Cambria Math" panose="02040503050406030204" pitchFamily="18" charset="0"/>
                      </a:rPr>
                      <m:t>×</m:t>
                    </m:r>
                    <m:d>
                      <m:dPr>
                        <m:ctrlPr>
                          <a:rPr lang="en-ZA" b="0" i="1" smtClean="0">
                            <a:latin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2</m:t>
                        </m:r>
                        <m:r>
                          <a:rPr lang="en-US" sz="1200" b="0" i="1" smtClean="0">
                            <a:solidFill>
                              <a:schemeClr val="tx1"/>
                            </a:solidFill>
                            <a:latin typeface="Cambria Math" panose="02040503050406030204" pitchFamily="18" charset="0"/>
                            <a:ea typeface="Cambria Math" panose="02040503050406030204" pitchFamily="18" charset="0"/>
                          </a:rPr>
                          <m:t>𝜋</m:t>
                        </m:r>
                        <m:r>
                          <a:rPr lang="en-US" sz="1200" b="0" i="1" smtClean="0">
                            <a:solidFill>
                              <a:schemeClr val="tx1"/>
                            </a:solidFill>
                            <a:latin typeface="Cambria Math" panose="02040503050406030204" pitchFamily="18" charset="0"/>
                            <a:ea typeface="Cambria Math" panose="02040503050406030204" pitchFamily="18" charset="0"/>
                          </a:rPr>
                          <m:t>/16</m:t>
                        </m:r>
                      </m:e>
                    </m:d>
                    <m:r>
                      <a:rPr lang="en-US" sz="1200" b="0" i="1" smtClean="0">
                        <a:solidFill>
                          <a:schemeClr val="tx1"/>
                        </a:solidFill>
                        <a:latin typeface="Cambria Math" panose="02040503050406030204" pitchFamily="18" charset="0"/>
                        <a:ea typeface="Cambria Math" panose="02040503050406030204" pitchFamily="18" charset="0"/>
                      </a:rPr>
                      <m:t>×5</m:t>
                    </m:r>
                  </m:oMath>
                </a14:m>
                <a:r>
                  <a:rPr lang="el-GR" b="0" dirty="0"/>
                  <a:t>. </a:t>
                </a:r>
              </a:p>
              <a:p>
                <a:pPr algn="just"/>
                <a:r>
                  <a:rPr lang="en-ZA" dirty="0"/>
                  <a:t>Each subsequent qubit rotates twice as fast as the previous one. In general, for qubit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𝑗</m:t>
                    </m:r>
                  </m:oMath>
                </a14:m>
                <a:r>
                  <a:rPr lang="en-ZA" b="0" dirty="0"/>
                  <a:t>, </a:t>
                </a:r>
                <a:r>
                  <a:rPr lang="en-ZA" dirty="0"/>
                  <a:t>the phase angle after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𝑘</m:t>
                    </m:r>
                  </m:oMath>
                </a14:m>
                <a:r>
                  <a:rPr lang="en-ZA" b="0" dirty="0"/>
                  <a:t> steps is </a:t>
                </a:r>
              </a:p>
              <a:p>
                <a:pPr algn="just"/>
                <a14:m>
                  <m:oMathPara xmlns:m="http://schemas.openxmlformats.org/officeDocument/2006/math">
                    <m:oMathParaPr>
                      <m:jc m:val="centerGroup"/>
                    </m:oMathParaPr>
                    <m:oMath xmlns:m="http://schemas.openxmlformats.org/officeDocument/2006/math">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i="1" smtClean="0">
                              <a:solidFill>
                                <a:srgbClr val="002060"/>
                              </a:solidFill>
                              <a:latin typeface="Cambria Math" panose="02040503050406030204" pitchFamily="18" charset="0"/>
                              <a:ea typeface="Cambria Math" panose="02040503050406030204" pitchFamily="18" charset="0"/>
                            </a:rPr>
                            <m:t>𝜑</m:t>
                          </m:r>
                        </m:e>
                        <m:sub>
                          <m:r>
                            <a:rPr lang="en-US" sz="1200" b="0" i="1" smtClean="0">
                              <a:solidFill>
                                <a:srgbClr val="002060"/>
                              </a:solidFill>
                              <a:latin typeface="Cambria Math" panose="02040503050406030204" pitchFamily="18" charset="0"/>
                              <a:ea typeface="Cambria Math" panose="02040503050406030204" pitchFamily="18" charset="0"/>
                            </a:rPr>
                            <m:t>𝑗</m:t>
                          </m:r>
                        </m:sub>
                      </m:sSub>
                      <m:d>
                        <m:dPr>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b="0" i="1" smtClean="0">
                              <a:solidFill>
                                <a:srgbClr val="002060"/>
                              </a:solidFill>
                              <a:latin typeface="Cambria Math" panose="02040503050406030204" pitchFamily="18" charset="0"/>
                              <a:ea typeface="Cambria Math" panose="02040503050406030204" pitchFamily="18" charset="0"/>
                            </a:rPr>
                            <m:t>𝑘</m:t>
                          </m:r>
                        </m:e>
                      </m:d>
                      <m:r>
                        <a:rPr lang="en-US" sz="1200" b="0" i="1" smtClean="0">
                          <a:solidFill>
                            <a:srgbClr val="002060"/>
                          </a:solidFill>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𝑗</m:t>
                          </m:r>
                        </m:sup>
                      </m:sSup>
                      <m:f>
                        <m:fPr>
                          <m:ctrlPr>
                            <a:rPr lang="en-US" sz="1200" i="1" smtClean="0">
                              <a:solidFill>
                                <a:srgbClr val="002060"/>
                              </a:solidFill>
                              <a:latin typeface="Cambria Math" panose="02040503050406030204" pitchFamily="18" charset="0"/>
                              <a:ea typeface="Cambria Math" panose="02040503050406030204" pitchFamily="18" charset="0"/>
                            </a:rPr>
                          </m:ctrlPr>
                        </m:fPr>
                        <m:num>
                          <m:r>
                            <a:rPr lang="en-US" sz="1200" i="1">
                              <a:solidFill>
                                <a:srgbClr val="002060"/>
                              </a:solidFill>
                              <a:latin typeface="Cambria Math" panose="02040503050406030204" pitchFamily="18" charset="0"/>
                              <a:ea typeface="Cambria Math" panose="02040503050406030204" pitchFamily="18" charset="0"/>
                            </a:rPr>
                            <m:t>2</m:t>
                          </m:r>
                          <m:r>
                            <a:rPr lang="en-US" sz="1200" i="1">
                              <a:solidFill>
                                <a:srgbClr val="002060"/>
                              </a:solidFill>
                              <a:latin typeface="Cambria Math" panose="02040503050406030204" pitchFamily="18" charset="0"/>
                              <a:ea typeface="Cambria Math" panose="02040503050406030204" pitchFamily="18" charset="0"/>
                            </a:rPr>
                            <m:t>𝜋</m:t>
                          </m:r>
                        </m:num>
                        <m:den>
                          <m:r>
                            <a:rPr lang="en-US" sz="1200" b="0" i="1" smtClean="0">
                              <a:solidFill>
                                <a:srgbClr val="002060"/>
                              </a:solidFill>
                              <a:latin typeface="Cambria Math" panose="02040503050406030204" pitchFamily="18" charset="0"/>
                              <a:ea typeface="Cambria Math" panose="02040503050406030204" pitchFamily="18" charset="0"/>
                            </a:rPr>
                            <m:t>16</m:t>
                          </m:r>
                        </m:den>
                      </m:f>
                      <m:r>
                        <a:rPr lang="en-US" sz="1200" b="0" i="1" smtClean="0">
                          <a:solidFill>
                            <a:srgbClr val="002060"/>
                          </a:solidFill>
                          <a:latin typeface="Cambria Math" panose="02040503050406030204" pitchFamily="18" charset="0"/>
                          <a:ea typeface="Cambria Math" panose="02040503050406030204" pitchFamily="18" charset="0"/>
                        </a:rPr>
                        <m:t>𝑘</m:t>
                      </m:r>
                    </m:oMath>
                  </m:oMathPara>
                </a14:m>
                <a:endParaRPr lang="en-ZA" b="0" dirty="0"/>
              </a:p>
              <a:p>
                <a:pPr algn="just"/>
                <a:r>
                  <a:rPr lang="en-ZA" dirty="0"/>
                  <a:t>For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𝑘</m:t>
                    </m:r>
                    <m:r>
                      <a:rPr lang="en-US" sz="1200" b="0" i="1" smtClean="0">
                        <a:solidFill>
                          <a:srgbClr val="002060"/>
                        </a:solidFill>
                        <a:latin typeface="Cambria Math" panose="02040503050406030204" pitchFamily="18" charset="0"/>
                        <a:ea typeface="Cambria Math" panose="02040503050406030204" pitchFamily="18" charset="0"/>
                      </a:rPr>
                      <m:t>=5</m:t>
                    </m:r>
                  </m:oMath>
                </a14:m>
                <a:r>
                  <a:rPr lang="en-ZA" dirty="0"/>
                  <a:t>,</a:t>
                </a:r>
                <a14:m>
                  <m:oMath xmlns:m="http://schemas.openxmlformats.org/officeDocument/2006/math">
                    <m:r>
                      <a:rPr lang="en-US" b="0" i="0" smtClean="0">
                        <a:latin typeface="Cambria Math" panose="02040503050406030204" pitchFamily="18" charset="0"/>
                      </a:rPr>
                      <m:t> </m:t>
                    </m:r>
                  </m:oMath>
                </a14:m>
                <a:endParaRPr lang="en-US" b="0" i="0" dirty="0">
                  <a:latin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i="1" smtClean="0">
                                  <a:solidFill>
                                    <a:srgbClr val="002060"/>
                                  </a:solidFill>
                                  <a:latin typeface="Cambria Math" panose="02040503050406030204" pitchFamily="18" charset="0"/>
                                  <a:ea typeface="Cambria Math" panose="02040503050406030204" pitchFamily="18" charset="0"/>
                                </a:rPr>
                                <m:t>𝜑</m:t>
                              </m:r>
                            </m:e>
                            <m:sub>
                              <m:r>
                                <a:rPr lang="en-US" sz="1200" b="0" i="1" smtClean="0">
                                  <a:solidFill>
                                    <a:srgbClr val="002060"/>
                                  </a:solidFill>
                                  <a:latin typeface="Cambria Math" panose="02040503050406030204" pitchFamily="18" charset="0"/>
                                  <a:ea typeface="Cambria Math" panose="02040503050406030204" pitchFamily="18" charset="0"/>
                                </a:rPr>
                                <m:t>𝑗</m:t>
                              </m:r>
                            </m:sub>
                          </m:sSub>
                          <m:d>
                            <m:dPr>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b="0" i="1" smtClean="0">
                                  <a:solidFill>
                                    <a:srgbClr val="002060"/>
                                  </a:solidFill>
                                  <a:latin typeface="Cambria Math" panose="02040503050406030204" pitchFamily="18" charset="0"/>
                                  <a:ea typeface="Cambria Math" panose="02040503050406030204" pitchFamily="18" charset="0"/>
                                </a:rPr>
                                <m:t>5</m:t>
                              </m:r>
                            </m:e>
                          </m:d>
                          <m:r>
                            <a:rPr lang="en-US" sz="1200" b="0" i="1" smtClean="0">
                              <a:solidFill>
                                <a:srgbClr val="002060"/>
                              </a:solidFill>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2</m:t>
                          </m:r>
                        </m:e>
                        <m:sup>
                          <m:r>
                            <a:rPr lang="en-US" b="0" i="1" smtClean="0">
                              <a:latin typeface="Cambria Math" panose="02040503050406030204" pitchFamily="18" charset="0"/>
                            </a:rPr>
                            <m:t>𝑗</m:t>
                          </m:r>
                        </m:sup>
                      </m:sSup>
                      <m:f>
                        <m:fPr>
                          <m:ctrlPr>
                            <a:rPr lang="en-US" sz="1200" i="1" smtClean="0">
                              <a:solidFill>
                                <a:srgbClr val="002060"/>
                              </a:solidFill>
                              <a:latin typeface="Cambria Math" panose="02040503050406030204" pitchFamily="18" charset="0"/>
                              <a:ea typeface="Cambria Math" panose="02040503050406030204" pitchFamily="18" charset="0"/>
                            </a:rPr>
                          </m:ctrlPr>
                        </m:fPr>
                        <m:num>
                          <m:r>
                            <a:rPr lang="en-US" sz="1200" i="1">
                              <a:solidFill>
                                <a:srgbClr val="002060"/>
                              </a:solidFill>
                              <a:latin typeface="Cambria Math" panose="02040503050406030204" pitchFamily="18" charset="0"/>
                              <a:ea typeface="Cambria Math" panose="02040503050406030204" pitchFamily="18" charset="0"/>
                            </a:rPr>
                            <m:t>2</m:t>
                          </m:r>
                          <m:r>
                            <a:rPr lang="en-US" sz="1200" i="1">
                              <a:solidFill>
                                <a:srgbClr val="002060"/>
                              </a:solidFill>
                              <a:latin typeface="Cambria Math" panose="02040503050406030204" pitchFamily="18" charset="0"/>
                              <a:ea typeface="Cambria Math" panose="02040503050406030204" pitchFamily="18" charset="0"/>
                            </a:rPr>
                            <m:t>𝜋</m:t>
                          </m:r>
                        </m:num>
                        <m:den>
                          <m:r>
                            <a:rPr lang="en-US" sz="1200" b="0" i="1" smtClean="0">
                              <a:solidFill>
                                <a:srgbClr val="002060"/>
                              </a:solidFill>
                              <a:latin typeface="Cambria Math" panose="02040503050406030204" pitchFamily="18" charset="0"/>
                              <a:ea typeface="Cambria Math" panose="02040503050406030204" pitchFamily="18" charset="0"/>
                            </a:rPr>
                            <m:t>16</m:t>
                          </m:r>
                        </m:den>
                      </m:f>
                      <m:r>
                        <a:rPr lang="en-US" sz="1200" b="0" i="1" smtClean="0">
                          <a:solidFill>
                            <a:srgbClr val="002060"/>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5</m:t>
                      </m:r>
                    </m:oMath>
                  </m:oMathPara>
                </a14:m>
                <a:endParaRPr lang="en-ZA" b="0" dirty="0"/>
              </a:p>
              <a:p>
                <a:pPr algn="just"/>
                <a:r>
                  <a:rPr lang="en-ZA" b="0" dirty="0"/>
                  <a:t>This makes the progression systematic: each qubit’s phase advances twice as fast as that of the previous qubit.</a:t>
                </a:r>
              </a:p>
            </p:txBody>
          </p:sp>
        </mc:Choice>
        <mc:Fallback xmlns="">
          <p:sp>
            <p:nvSpPr>
              <p:cNvPr id="3" name="Notes Placeholder 2"/>
              <p:cNvSpPr>
                <a:spLocks noGrp="1"/>
              </p:cNvSpPr>
              <p:nvPr>
                <p:ph type="body" idx="1"/>
              </p:nvPr>
            </p:nvSpPr>
            <p:spPr/>
            <p:txBody>
              <a:bodyPr/>
              <a:lstStyle/>
              <a:p>
                <a:r>
                  <a:rPr lang="en-US" sz="2000" dirty="0"/>
                  <a:t>This is an example of encoding number 5 in a Fourier basis. The leftmost qubit is rotated by 5/16 full turns or for 5/16 of  </a:t>
                </a:r>
                <a:r>
                  <a:rPr lang="en-US" sz="2000" i="0">
                    <a:solidFill>
                      <a:srgbClr val="002060"/>
                    </a:solidFill>
                    <a:latin typeface="Cambria Math" panose="02040503050406030204" pitchFamily="18" charset="0"/>
                    <a:ea typeface="Cambria Math" panose="02040503050406030204" pitchFamily="18" charset="0"/>
                  </a:rPr>
                  <a:t>2𝜋</a:t>
                </a:r>
                <a:r>
                  <a:rPr lang="en-US" sz="2000" dirty="0"/>
                  <a:t> radians.  The second one by 10/16</a:t>
                </a:r>
                <a:r>
                  <a:rPr lang="en-US" sz="2000" baseline="0" dirty="0"/>
                  <a:t> of full circle, the third one by 20/16 and the fourth one by 40/16 of a full circle. In effect, 3</a:t>
                </a:r>
                <a:r>
                  <a:rPr lang="en-US" sz="2000" baseline="30000" dirty="0"/>
                  <a:t>rd</a:t>
                </a:r>
                <a:r>
                  <a:rPr lang="en-US" sz="2000" baseline="0" dirty="0"/>
                  <a:t> qubit turned for one and a quarter of the circle and the fourth one by two and a half circles. </a:t>
                </a: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57</a:t>
            </a:fld>
            <a:endParaRPr lang="en-US"/>
          </a:p>
        </p:txBody>
      </p:sp>
    </p:spTree>
    <p:extLst>
      <p:ext uri="{BB962C8B-B14F-4D97-AF65-F5344CB8AC3E}">
        <p14:creationId xmlns:p14="http://schemas.microsoft.com/office/powerpoint/2010/main" val="192598786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The simplest example of the QFT is its application to a single qubit. In this case:</a:t>
                </a:r>
              </a:p>
              <a:p>
                <a:pPr algn="just"/>
                <a:endParaRPr lang="en-ZA" b="0" dirty="0"/>
              </a:p>
              <a:p>
                <a:pPr marL="171450" indent="-171450" algn="just">
                  <a:buFont typeface="Arial" panose="020B0604020202020204" pitchFamily="34" charset="0"/>
                  <a:buChar char="•"/>
                </a:pPr>
                <a:r>
                  <a:rPr lang="en-ZA" b="0" dirty="0"/>
                  <a:t>The number of qubits is </a:t>
                </a:r>
                <a14:m>
                  <m:oMath xmlns:m="http://schemas.openxmlformats.org/officeDocument/2006/math">
                    <m:r>
                      <a:rPr lang="en-US" sz="1200" i="1" smtClean="0">
                        <a:solidFill>
                          <a:srgbClr val="002060"/>
                        </a:solidFill>
                        <a:latin typeface="Cambria Math" panose="02040503050406030204" pitchFamily="18" charset="0"/>
                        <a:ea typeface="Cambria Math" panose="02040503050406030204" pitchFamily="18" charset="0"/>
                      </a:rPr>
                      <m:t>𝑛</m:t>
                    </m:r>
                    <m:r>
                      <a:rPr lang="en-US" sz="1200" i="1" smtClean="0">
                        <a:solidFill>
                          <a:srgbClr val="002060"/>
                        </a:solidFill>
                        <a:latin typeface="Cambria Math" panose="02040503050406030204" pitchFamily="18" charset="0"/>
                        <a:ea typeface="Cambria Math" panose="02040503050406030204" pitchFamily="18" charset="0"/>
                      </a:rPr>
                      <m:t>=1</m:t>
                    </m:r>
                  </m:oMath>
                </a14:m>
                <a:r>
                  <a:rPr lang="en-ZA" b="0" dirty="0"/>
                  <a:t>.</a:t>
                </a:r>
              </a:p>
              <a:p>
                <a:pPr marL="171450" indent="-171450" algn="just">
                  <a:buFont typeface="Arial" panose="020B0604020202020204" pitchFamily="34" charset="0"/>
                  <a:buChar char="•"/>
                </a:pPr>
                <a:r>
                  <a:rPr lang="en-ZA" b="0" dirty="0"/>
                  <a:t>The vector dimension is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𝑁</m:t>
                    </m:r>
                    <m:r>
                      <a:rPr lang="en-US" sz="1200" b="0" i="1" smtClean="0">
                        <a:solidFill>
                          <a:srgbClr val="002060"/>
                        </a:solidFill>
                        <a:latin typeface="Cambria Math" panose="02040503050406030204" pitchFamily="18" charset="0"/>
                        <a:ea typeface="Cambria Math" panose="02040503050406030204" pitchFamily="18" charset="0"/>
                      </a:rPr>
                      <m:t>=</m:t>
                    </m:r>
                    <m:sSup>
                      <m:sSupPr>
                        <m:ctrlPr>
                          <a:rPr lang="en-US" sz="1200" b="0" i="1" smtClean="0">
                            <a:solidFill>
                              <a:srgbClr val="002060"/>
                            </a:solidFill>
                            <a:latin typeface="Cambria Math" panose="02040503050406030204" pitchFamily="18" charset="0"/>
                            <a:ea typeface="Cambria Math" panose="02040503050406030204" pitchFamily="18" charset="0"/>
                          </a:rPr>
                        </m:ctrlPr>
                      </m:sSupPr>
                      <m:e>
                        <m:r>
                          <a:rPr lang="en-US" sz="1200" b="0" i="1" smtClean="0">
                            <a:solidFill>
                              <a:srgbClr val="002060"/>
                            </a:solidFill>
                            <a:latin typeface="Cambria Math" panose="02040503050406030204" pitchFamily="18" charset="0"/>
                            <a:ea typeface="Cambria Math" panose="02040503050406030204" pitchFamily="18" charset="0"/>
                          </a:rPr>
                          <m:t>2</m:t>
                        </m:r>
                      </m:e>
                      <m:sup>
                        <m:r>
                          <a:rPr lang="en-US" sz="1200" b="0" i="1" smtClean="0">
                            <a:solidFill>
                              <a:srgbClr val="002060"/>
                            </a:solidFill>
                            <a:latin typeface="Cambria Math" panose="02040503050406030204" pitchFamily="18" charset="0"/>
                            <a:ea typeface="Cambria Math" panose="02040503050406030204" pitchFamily="18" charset="0"/>
                          </a:rPr>
                          <m:t>𝑛</m:t>
                        </m:r>
                      </m:sup>
                    </m:sSup>
                    <m:r>
                      <a:rPr lang="en-US" sz="1200" b="0" i="1" smtClean="0">
                        <a:solidFill>
                          <a:srgbClr val="002060"/>
                        </a:solidFill>
                        <a:latin typeface="Cambria Math" panose="02040503050406030204" pitchFamily="18" charset="0"/>
                        <a:ea typeface="Cambria Math" panose="02040503050406030204" pitchFamily="18" charset="0"/>
                      </a:rPr>
                      <m:t>=2</m:t>
                    </m:r>
                  </m:oMath>
                </a14:m>
                <a:r>
                  <a:rPr lang="en-ZA" b="0" dirty="0"/>
                  <a:t>.</a:t>
                </a:r>
              </a:p>
              <a:p>
                <a:pPr marL="171450" indent="-171450" algn="just">
                  <a:buFont typeface="Arial" panose="020B0604020202020204" pitchFamily="34" charset="0"/>
                  <a:buChar char="•"/>
                </a:pPr>
                <a:r>
                  <a:rPr lang="en-ZA" b="0" dirty="0"/>
                  <a:t>The </a:t>
                </a:r>
                <a14:m>
                  <m:oMath xmlns:m="http://schemas.openxmlformats.org/officeDocument/2006/math">
                    <m:r>
                      <a:rPr lang="en-US" sz="1200" i="1" smtClean="0">
                        <a:solidFill>
                          <a:srgbClr val="002060"/>
                        </a:solidFill>
                        <a:latin typeface="Cambria Math" panose="02040503050406030204" pitchFamily="18" charset="0"/>
                        <a:ea typeface="Cambria Math" panose="02040503050406030204" pitchFamily="18" charset="0"/>
                      </a:rPr>
                      <m:t>𝑛</m:t>
                    </m:r>
                  </m:oMath>
                </a14:m>
                <a:r>
                  <a:rPr lang="en-ZA" b="0" dirty="0"/>
                  <a:t>-</a:t>
                </a:r>
                <a:r>
                  <a:rPr lang="en-ZA" b="0" dirty="0" err="1"/>
                  <a:t>th</a:t>
                </a:r>
                <a:r>
                  <a:rPr lang="en-ZA" b="0" dirty="0"/>
                  <a:t> root of unity is </a:t>
                </a:r>
                <a14:m>
                  <m:oMath xmlns:m="http://schemas.openxmlformats.org/officeDocument/2006/math">
                    <m:r>
                      <a:rPr lang="en-US" sz="1200" i="1" smtClean="0">
                        <a:solidFill>
                          <a:srgbClr val="002060"/>
                        </a:solidFill>
                        <a:latin typeface="Cambria Math" panose="02040503050406030204" pitchFamily="18" charset="0"/>
                        <a:ea typeface="Cambria Math" panose="02040503050406030204" pitchFamily="18" charset="0"/>
                      </a:rPr>
                      <m:t>𝜔</m:t>
                    </m:r>
                    <m:r>
                      <a:rPr lang="en-US" sz="1200" i="1" smtClean="0">
                        <a:solidFill>
                          <a:srgbClr val="002060"/>
                        </a:solidFill>
                        <a:latin typeface="Cambria Math" panose="02040503050406030204" pitchFamily="18" charset="0"/>
                        <a:ea typeface="Cambria Math" panose="02040503050406030204" pitchFamily="18" charset="0"/>
                      </a:rPr>
                      <m:t>=</m:t>
                    </m:r>
                    <m:sSup>
                      <m:sSupPr>
                        <m:ctrlPr>
                          <a:rPr lang="en-US" sz="1200" i="1">
                            <a:solidFill>
                              <a:srgbClr val="002060"/>
                            </a:solidFill>
                            <a:latin typeface="Cambria Math" panose="02040503050406030204" pitchFamily="18" charset="0"/>
                            <a:ea typeface="Cambria Math" panose="02040503050406030204" pitchFamily="18" charset="0"/>
                          </a:rPr>
                        </m:ctrlPr>
                      </m:sSupPr>
                      <m:e>
                        <m:r>
                          <a:rPr lang="en-US" sz="1200" i="1">
                            <a:solidFill>
                              <a:srgbClr val="002060"/>
                            </a:solidFill>
                            <a:latin typeface="Cambria Math" panose="02040503050406030204" pitchFamily="18" charset="0"/>
                            <a:ea typeface="Cambria Math" panose="02040503050406030204" pitchFamily="18" charset="0"/>
                          </a:rPr>
                          <m:t>𝑒</m:t>
                        </m:r>
                      </m:e>
                      <m:sup>
                        <m:r>
                          <a:rPr lang="en-US" sz="1200" i="1" smtClean="0">
                            <a:solidFill>
                              <a:srgbClr val="002060"/>
                            </a:solidFill>
                            <a:latin typeface="Cambria Math" panose="02040503050406030204" pitchFamily="18" charset="0"/>
                            <a:ea typeface="Cambria Math" panose="02040503050406030204" pitchFamily="18" charset="0"/>
                          </a:rPr>
                          <m:t>2</m:t>
                        </m:r>
                        <m:r>
                          <a:rPr lang="en-US" sz="1200" i="1" smtClean="0">
                            <a:solidFill>
                              <a:srgbClr val="002060"/>
                            </a:solidFill>
                            <a:latin typeface="Cambria Math" panose="02040503050406030204" pitchFamily="18" charset="0"/>
                            <a:ea typeface="Cambria Math" panose="02040503050406030204" pitchFamily="18" charset="0"/>
                          </a:rPr>
                          <m:t>𝜋</m:t>
                        </m:r>
                        <m:r>
                          <a:rPr lang="en-US" sz="1200" i="1" smtClean="0">
                            <a:solidFill>
                              <a:srgbClr val="002060"/>
                            </a:solidFill>
                            <a:latin typeface="Cambria Math" panose="02040503050406030204" pitchFamily="18" charset="0"/>
                            <a:ea typeface="Cambria Math" panose="02040503050406030204" pitchFamily="18" charset="0"/>
                          </a:rPr>
                          <m:t>𝑖</m:t>
                        </m:r>
                        <m:r>
                          <a:rPr lang="en-US" sz="1200" b="0" i="1" smtClean="0">
                            <a:solidFill>
                              <a:srgbClr val="002060"/>
                            </a:solidFill>
                            <a:latin typeface="Cambria Math" panose="02040503050406030204" pitchFamily="18" charset="0"/>
                            <a:ea typeface="Cambria Math" panose="02040503050406030204" pitchFamily="18" charset="0"/>
                          </a:rPr>
                          <m:t>/2</m:t>
                        </m:r>
                      </m:sup>
                    </m:sSup>
                    <m:r>
                      <a:rPr lang="en-US" sz="1200" b="0" i="1" smtClean="0">
                        <a:solidFill>
                          <a:srgbClr val="002060"/>
                        </a:solidFill>
                        <a:latin typeface="Cambria Math" panose="02040503050406030204" pitchFamily="18" charset="0"/>
                        <a:ea typeface="Cambria Math" panose="02040503050406030204" pitchFamily="18" charset="0"/>
                      </a:rPr>
                      <m:t>=</m:t>
                    </m:r>
                    <m:r>
                      <a:rPr lang="en-US" sz="1200" i="1">
                        <a:solidFill>
                          <a:srgbClr val="002060"/>
                        </a:solidFill>
                        <a:latin typeface="Cambria Math" panose="02040503050406030204" pitchFamily="18" charset="0"/>
                        <a:ea typeface="Cambria Math" panose="02040503050406030204" pitchFamily="18" charset="0"/>
                      </a:rPr>
                      <m:t>−1</m:t>
                    </m:r>
                  </m:oMath>
                </a14:m>
                <a:r>
                  <a:rPr lang="el-GR" b="0" dirty="0"/>
                  <a:t>.</a:t>
                </a:r>
                <a:endParaRPr lang="en-US" b="0" dirty="0"/>
              </a:p>
              <a:p>
                <a:pPr algn="just"/>
                <a:endParaRPr lang="el-GR" b="0" dirty="0"/>
              </a:p>
              <a:p>
                <a:pPr algn="just"/>
                <a:r>
                  <a:rPr lang="en-ZA" dirty="0"/>
                  <a:t>For a single qubit, the QFT matrix reduces to a</a:t>
                </a:r>
                <a:r>
                  <a:rPr lang="en-ZA" b="0" dirty="0"/>
                  <a:t> 2x2 matrix. </a:t>
                </a:r>
                <a:r>
                  <a:rPr lang="en-ZA" dirty="0"/>
                  <a:t>Substituting </a:t>
                </a:r>
                <a14:m>
                  <m:oMath xmlns:m="http://schemas.openxmlformats.org/officeDocument/2006/math">
                    <m:r>
                      <a:rPr lang="en-US" sz="1200" i="1" smtClean="0">
                        <a:solidFill>
                          <a:srgbClr val="002060"/>
                        </a:solidFill>
                        <a:latin typeface="Cambria Math" panose="02040503050406030204" pitchFamily="18" charset="0"/>
                        <a:ea typeface="Cambria Math" panose="02040503050406030204" pitchFamily="18" charset="0"/>
                      </a:rPr>
                      <m:t>𝜔</m:t>
                    </m:r>
                    <m:r>
                      <a:rPr lang="en-US" sz="1200" b="0" i="1" smtClean="0">
                        <a:solidFill>
                          <a:srgbClr val="002060"/>
                        </a:solidFill>
                        <a:latin typeface="Cambria Math" panose="02040503050406030204" pitchFamily="18" charset="0"/>
                        <a:ea typeface="Cambria Math" panose="02040503050406030204" pitchFamily="18" charset="0"/>
                      </a:rPr>
                      <m:t>=−1</m:t>
                    </m:r>
                  </m:oMath>
                </a14:m>
                <a:r>
                  <a:rPr lang="en-ZA" b="0" dirty="0"/>
                  <a:t>, we obtain</a:t>
                </a:r>
              </a:p>
              <a:p>
                <a:pPr algn="just"/>
                <a:endParaRPr lang="en-ZA" b="0" dirty="0"/>
              </a:p>
              <a:p>
                <a:pPr algn="just"/>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𝐹</m:t>
                          </m:r>
                        </m:e>
                        <m:sub>
                          <m:r>
                            <a:rPr lang="en-US" sz="1200" b="0" i="1" smtClean="0">
                              <a:latin typeface="Cambria Math" panose="02040503050406030204" pitchFamily="18" charset="0"/>
                              <a:ea typeface="Cambria Math" panose="02040503050406030204" pitchFamily="18" charset="0"/>
                            </a:rPr>
                            <m:t>2</m:t>
                          </m:r>
                        </m:sub>
                      </m:sSub>
                      <m:r>
                        <a:rPr lang="en-US" sz="1200" b="0" i="1" smtClean="0">
                          <a:latin typeface="Cambria Math" panose="02040503050406030204" pitchFamily="18" charset="0"/>
                          <a:ea typeface="Cambria Math" panose="02040503050406030204" pitchFamily="18" charset="0"/>
                        </a:rPr>
                        <m:t>=</m:t>
                      </m:r>
                      <m:f>
                        <m:fPr>
                          <m:ctrlPr>
                            <a:rPr lang="en-US" sz="1200" b="0" i="1" smtClean="0">
                              <a:latin typeface="Cambria Math" panose="02040503050406030204" pitchFamily="18" charset="0"/>
                              <a:ea typeface="Cambria Math" panose="02040503050406030204" pitchFamily="18" charset="0"/>
                            </a:rPr>
                          </m:ctrlPr>
                        </m:fPr>
                        <m:num>
                          <m:r>
                            <a:rPr lang="en-US" sz="1200" b="0" i="1" smtClean="0">
                              <a:latin typeface="Cambria Math" panose="02040503050406030204" pitchFamily="18" charset="0"/>
                              <a:ea typeface="Cambria Math" panose="02040503050406030204" pitchFamily="18" charset="0"/>
                            </a:rPr>
                            <m:t>1</m:t>
                          </m:r>
                        </m:num>
                        <m:den>
                          <m:rad>
                            <m:radPr>
                              <m:degHide m:val="on"/>
                              <m:ctrlPr>
                                <a:rPr lang="en-US" sz="1200" b="0" i="1" smtClean="0">
                                  <a:latin typeface="Cambria Math" panose="02040503050406030204" pitchFamily="18" charset="0"/>
                                  <a:ea typeface="Cambria Math" panose="02040503050406030204" pitchFamily="18" charset="0"/>
                                </a:rPr>
                              </m:ctrlPr>
                            </m:radPr>
                            <m:deg/>
                            <m:e>
                              <m:r>
                                <a:rPr lang="en-US" sz="1200" b="0" i="1" smtClean="0">
                                  <a:latin typeface="Cambria Math" panose="02040503050406030204" pitchFamily="18" charset="0"/>
                                  <a:ea typeface="Cambria Math" panose="02040503050406030204" pitchFamily="18" charset="0"/>
                                </a:rPr>
                                <m:t>2</m:t>
                              </m:r>
                            </m:e>
                          </m:rad>
                        </m:den>
                      </m:f>
                      <m:d>
                        <m:dPr>
                          <m:ctrlPr>
                            <a:rPr lang="en-US" sz="1200" b="0" i="1" smtClean="0">
                              <a:latin typeface="Cambria Math" panose="02040503050406030204" pitchFamily="18" charset="0"/>
                              <a:ea typeface="Cambria Math" panose="02040503050406030204" pitchFamily="18" charset="0"/>
                            </a:rPr>
                          </m:ctrlPr>
                        </m:dPr>
                        <m:e>
                          <m:m>
                            <m:mPr>
                              <m:mcs>
                                <m:mc>
                                  <m:mcPr>
                                    <m:count m:val="2"/>
                                    <m:mcJc m:val="center"/>
                                  </m:mcPr>
                                </m:mc>
                              </m:mcs>
                              <m:ctrlPr>
                                <a:rPr lang="en-US" sz="1200" b="0" i="1" smtClean="0">
                                  <a:latin typeface="Cambria Math" panose="02040503050406030204" pitchFamily="18" charset="0"/>
                                  <a:ea typeface="Cambria Math" panose="02040503050406030204" pitchFamily="18" charset="0"/>
                                </a:rPr>
                              </m:ctrlPr>
                            </m:mPr>
                            <m:mr>
                              <m:e>
                                <m:r>
                                  <m:rPr>
                                    <m:brk m:alnAt="7"/>
                                  </m:rPr>
                                  <a:rPr lang="en-US" sz="1200" b="0" i="1" smtClean="0">
                                    <a:latin typeface="Cambria Math" panose="02040503050406030204" pitchFamily="18" charset="0"/>
                                    <a:ea typeface="Cambria Math" panose="02040503050406030204" pitchFamily="18" charset="0"/>
                                  </a:rPr>
                                  <m:t>1</m:t>
                                </m:r>
                              </m:e>
                              <m:e>
                                <m:r>
                                  <a:rPr lang="en-US" sz="1200" b="0" i="1" smtClean="0">
                                    <a:latin typeface="Cambria Math" panose="02040503050406030204" pitchFamily="18" charset="0"/>
                                    <a:ea typeface="Cambria Math" panose="02040503050406030204" pitchFamily="18" charset="0"/>
                                  </a:rPr>
                                  <m:t>1</m:t>
                                </m:r>
                              </m:e>
                            </m:mr>
                            <m:mr>
                              <m:e>
                                <m:r>
                                  <a:rPr lang="en-US" sz="1200" b="0" i="1" smtClean="0">
                                    <a:latin typeface="Cambria Math" panose="02040503050406030204" pitchFamily="18" charset="0"/>
                                    <a:ea typeface="Cambria Math" panose="02040503050406030204" pitchFamily="18" charset="0"/>
                                  </a:rPr>
                                  <m:t>1</m:t>
                                </m:r>
                              </m:e>
                              <m:e>
                                <m:r>
                                  <a:rPr lang="en-US" sz="1200" b="0" i="1" smtClean="0">
                                    <a:solidFill>
                                      <a:srgbClr val="002060"/>
                                    </a:solidFill>
                                    <a:latin typeface="Cambria Math" panose="02040503050406030204" pitchFamily="18" charset="0"/>
                                    <a:ea typeface="Cambria Math" panose="02040503050406030204" pitchFamily="18" charset="0"/>
                                  </a:rPr>
                                  <m:t>−1</m:t>
                                </m:r>
                              </m:e>
                            </m:mr>
                          </m:m>
                        </m:e>
                      </m:d>
                    </m:oMath>
                  </m:oMathPara>
                </a14:m>
                <a:endParaRPr lang="en-ZA" b="0" dirty="0"/>
              </a:p>
              <a:p>
                <a:pPr algn="just"/>
                <a:endParaRPr lang="en-ZA" b="0" dirty="0"/>
              </a:p>
              <a:p>
                <a:pPr algn="just"/>
                <a:r>
                  <a:rPr lang="en-ZA" b="0" dirty="0"/>
                  <a:t>which is identical to the Hadamard operator. In other words, the Hadamard transform is the single-qubit case of the Quantum Fourier Transform.</a:t>
                </a:r>
              </a:p>
              <a:p>
                <a:pPr algn="just"/>
                <a:endParaRPr lang="en-ZA" b="0" dirty="0"/>
              </a:p>
              <a:p>
                <a:pPr marL="228600" indent="-228600" algn="just">
                  <a:buFont typeface="+mj-lt"/>
                  <a:buAutoNum type="arabicPeriod"/>
                </a:pPr>
                <a:r>
                  <a:rPr lang="en-ZA" dirty="0"/>
                  <a:t>In a practical implementation, the QFT on a single qubit is therefore performed using the Hadamard gate.</a:t>
                </a:r>
                <a:endParaRPr lang="en-ZA" b="0" dirty="0"/>
              </a:p>
              <a:p>
                <a:pPr marL="228600" indent="-228600" algn="just">
                  <a:buFont typeface="+mj-lt"/>
                  <a:buAutoNum type="arabicPeriod"/>
                </a:pPr>
                <a:endParaRPr lang="en-ZA" b="0" dirty="0"/>
              </a:p>
              <a:p>
                <a:pPr marL="228600" indent="-228600" algn="l">
                  <a:buFont typeface="+mj-lt"/>
                  <a:buAutoNum type="arabicPeriod"/>
                </a:pPr>
                <a:r>
                  <a:rPr lang="en-ZA" dirty="0"/>
                  <a:t>The QFT can also be applied to a general single-qubit state with amplitudes </a:t>
                </a:r>
                <a14:m>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𝑥</m:t>
                        </m:r>
                      </m:e>
                      <m:sub>
                        <m:r>
                          <a:rPr lang="en-US" sz="1200" i="1">
                            <a:latin typeface="Cambria Math" panose="02040503050406030204" pitchFamily="18" charset="0"/>
                            <a:ea typeface="Cambria Math" panose="02040503050406030204" pitchFamily="18" charset="0"/>
                          </a:rPr>
                          <m:t>0</m:t>
                        </m:r>
                      </m:sub>
                    </m:sSub>
                  </m:oMath>
                </a14:m>
                <a:r>
                  <a:rPr lang="en-ZA" dirty="0"/>
                  <a:t>​ and </a:t>
                </a:r>
                <a14:m>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𝑥</m:t>
                        </m:r>
                      </m:e>
                      <m:sub>
                        <m:r>
                          <a:rPr lang="en-US" sz="1200" b="0" i="1" smtClean="0">
                            <a:latin typeface="Cambria Math" panose="02040503050406030204" pitchFamily="18" charset="0"/>
                            <a:ea typeface="Cambria Math" panose="02040503050406030204" pitchFamily="18" charset="0"/>
                          </a:rPr>
                          <m:t>1</m:t>
                        </m:r>
                      </m:sub>
                    </m:sSub>
                  </m:oMath>
                </a14:m>
                <a:r>
                  <a:rPr lang="en-ZA" dirty="0"/>
                  <a:t>. Substituting </a:t>
                </a:r>
                <a14:m>
                  <m:oMath xmlns:m="http://schemas.openxmlformats.org/officeDocument/2006/math">
                    <m:r>
                      <a:rPr lang="en-US" sz="1200" i="1" smtClean="0">
                        <a:solidFill>
                          <a:srgbClr val="002060"/>
                        </a:solidFill>
                        <a:latin typeface="Cambria Math" panose="02040503050406030204" pitchFamily="18" charset="0"/>
                        <a:ea typeface="Cambria Math" panose="02040503050406030204" pitchFamily="18" charset="0"/>
                      </a:rPr>
                      <m:t>𝑁</m:t>
                    </m:r>
                    <m:r>
                      <a:rPr lang="en-US" sz="1200" b="0" i="1" smtClean="0">
                        <a:solidFill>
                          <a:srgbClr val="002060"/>
                        </a:solidFill>
                        <a:latin typeface="Cambria Math" panose="02040503050406030204" pitchFamily="18" charset="0"/>
                        <a:ea typeface="Cambria Math" panose="02040503050406030204" pitchFamily="18" charset="0"/>
                      </a:rPr>
                      <m:t>=2</m:t>
                    </m:r>
                  </m:oMath>
                </a14:m>
                <a:r>
                  <a:rPr lang="en-ZA" dirty="0"/>
                  <a:t> and </a:t>
                </a:r>
                <a14:m>
                  <m:oMath xmlns:m="http://schemas.openxmlformats.org/officeDocument/2006/math">
                    <m:r>
                      <a:rPr lang="en-US" sz="1200" i="1" smtClean="0">
                        <a:solidFill>
                          <a:srgbClr val="002060"/>
                        </a:solidFill>
                        <a:latin typeface="Cambria Math" panose="02040503050406030204" pitchFamily="18" charset="0"/>
                        <a:ea typeface="Cambria Math" panose="02040503050406030204" pitchFamily="18" charset="0"/>
                      </a:rPr>
                      <m:t>𝜔</m:t>
                    </m:r>
                    <m:r>
                      <a:rPr lang="en-US" sz="1200" b="0" i="1" smtClean="0">
                        <a:solidFill>
                          <a:srgbClr val="002060"/>
                        </a:solidFill>
                        <a:latin typeface="Cambria Math" panose="02040503050406030204" pitchFamily="18" charset="0"/>
                        <a:ea typeface="Cambria Math" panose="02040503050406030204" pitchFamily="18" charset="0"/>
                      </a:rPr>
                      <m:t>=−1</m:t>
                    </m:r>
                  </m:oMath>
                </a14:m>
                <a:r>
                  <a:rPr lang="el-GR" dirty="0"/>
                  <a:t> </a:t>
                </a:r>
                <a:r>
                  <a:rPr lang="en-ZA" dirty="0"/>
                  <a:t>into the QFT formula, the new amplitudes are obtained by combining the original amplitudes as a sum and a difference. This gives</a:t>
                </a:r>
                <a:br>
                  <a:rPr lang="en-ZA" dirty="0"/>
                </a:br>
                <a:br>
                  <a:rPr lang="en-ZA" dirty="0"/>
                </a:br>
                <a14:m>
                  <m:oMath xmlns:m="http://schemas.openxmlformats.org/officeDocument/2006/math">
                    <m:r>
                      <a:rPr lang="en-US" sz="1200" i="1" smtClean="0">
                        <a:latin typeface="Cambria Math" panose="02040503050406030204" pitchFamily="18" charset="0"/>
                        <a:ea typeface="Cambria Math" panose="02040503050406030204" pitchFamily="18" charset="0"/>
                      </a:rPr>
                      <m:t>𝑄𝐹𝑇</m:t>
                    </m:r>
                    <m:r>
                      <a:rPr lang="en-US" sz="1200" i="1" smtClean="0">
                        <a:latin typeface="Cambria Math" panose="02040503050406030204" pitchFamily="18" charset="0"/>
                        <a:ea typeface="Cambria Math" panose="02040503050406030204" pitchFamily="18" charset="0"/>
                      </a:rPr>
                      <m:t>|</m:t>
                    </m:r>
                    <m:d>
                      <m:dPr>
                        <m:begChr m:val=""/>
                        <m:endChr m:val="⟩"/>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𝑥</m:t>
                        </m:r>
                      </m:e>
                    </m:d>
                    <m:r>
                      <a:rPr lang="en-US" sz="1200" b="0" i="1" smtClean="0">
                        <a:latin typeface="Cambria Math" panose="02040503050406030204" pitchFamily="18" charset="0"/>
                        <a:ea typeface="Cambria Math" panose="02040503050406030204" pitchFamily="18" charset="0"/>
                      </a:rPr>
                      <m:t>=</m:t>
                    </m:r>
                    <m:f>
                      <m:fPr>
                        <m:ctrlPr>
                          <a:rPr lang="en-US" sz="1200" i="1" smtClean="0">
                            <a:solidFill>
                              <a:srgbClr val="002060"/>
                            </a:solidFill>
                            <a:latin typeface="Cambria Math" panose="02040503050406030204" pitchFamily="18" charset="0"/>
                            <a:ea typeface="Cambria Math" panose="02040503050406030204" pitchFamily="18" charset="0"/>
                          </a:rPr>
                        </m:ctrlPr>
                      </m:fPr>
                      <m:num>
                        <m:sSub>
                          <m:sSubPr>
                            <m:ctrlPr>
                              <a:rPr lang="en-US" sz="1200" i="1">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𝑥</m:t>
                            </m:r>
                          </m:e>
                          <m:sub>
                            <m:r>
                              <a:rPr lang="en-US" sz="1200" i="1">
                                <a:solidFill>
                                  <a:srgbClr val="002060"/>
                                </a:solidFill>
                                <a:latin typeface="Cambria Math" panose="02040503050406030204" pitchFamily="18" charset="0"/>
                                <a:ea typeface="Cambria Math" panose="02040503050406030204" pitchFamily="18" charset="0"/>
                              </a:rPr>
                              <m:t>0</m:t>
                            </m:r>
                          </m:sub>
                        </m:sSub>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𝑥</m:t>
                            </m:r>
                          </m:e>
                          <m:sub>
                            <m:r>
                              <a:rPr lang="en-US" sz="1200" i="1">
                                <a:solidFill>
                                  <a:srgbClr val="002060"/>
                                </a:solidFill>
                                <a:latin typeface="Cambria Math" panose="02040503050406030204" pitchFamily="18" charset="0"/>
                                <a:ea typeface="Cambria Math" panose="02040503050406030204" pitchFamily="18" charset="0"/>
                              </a:rPr>
                              <m:t>1</m:t>
                            </m:r>
                          </m:sub>
                        </m:sSub>
                      </m:num>
                      <m:den>
                        <m:rad>
                          <m:radPr>
                            <m:degHide m:val="on"/>
                            <m:ctrlPr>
                              <a:rPr lang="en-US" sz="1200" i="1">
                                <a:solidFill>
                                  <a:srgbClr val="002060"/>
                                </a:solidFill>
                                <a:latin typeface="Cambria Math" panose="02040503050406030204" pitchFamily="18" charset="0"/>
                                <a:ea typeface="Cambria Math" panose="02040503050406030204" pitchFamily="18" charset="0"/>
                              </a:rPr>
                            </m:ctrlPr>
                          </m:radPr>
                          <m:deg/>
                          <m:e>
                            <m:r>
                              <a:rPr lang="en-US" sz="1200" i="1">
                                <a:solidFill>
                                  <a:srgbClr val="002060"/>
                                </a:solidFill>
                                <a:latin typeface="Cambria Math" panose="02040503050406030204" pitchFamily="18" charset="0"/>
                                <a:ea typeface="Cambria Math" panose="02040503050406030204" pitchFamily="18" charset="0"/>
                              </a:rPr>
                              <m:t>2</m:t>
                            </m:r>
                          </m:e>
                        </m:rad>
                      </m:den>
                    </m:f>
                    <m:r>
                      <a:rPr lang="en-US" sz="1200" i="1">
                        <a:latin typeface="Cambria Math" panose="02040503050406030204" pitchFamily="18" charset="0"/>
                        <a:ea typeface="Cambria Math" panose="02040503050406030204" pitchFamily="18" charset="0"/>
                      </a:rPr>
                      <m:t>|</m:t>
                    </m:r>
                    <m:d>
                      <m:dPr>
                        <m:begChr m:val=""/>
                        <m:endChr m:val="⟩"/>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0</m:t>
                        </m:r>
                      </m:e>
                    </m:d>
                    <m:r>
                      <a:rPr lang="en-US" sz="1200" b="0" i="1" smtClean="0">
                        <a:latin typeface="Cambria Math" panose="02040503050406030204" pitchFamily="18" charset="0"/>
                        <a:ea typeface="Cambria Math" panose="02040503050406030204" pitchFamily="18" charset="0"/>
                      </a:rPr>
                      <m:t>+</m:t>
                    </m:r>
                    <m:f>
                      <m:fPr>
                        <m:ctrlPr>
                          <a:rPr lang="en-US" sz="1200" i="1">
                            <a:solidFill>
                              <a:srgbClr val="002060"/>
                            </a:solidFill>
                            <a:latin typeface="Cambria Math" panose="02040503050406030204" pitchFamily="18" charset="0"/>
                            <a:ea typeface="Cambria Math" panose="02040503050406030204" pitchFamily="18" charset="0"/>
                          </a:rPr>
                        </m:ctrlPr>
                      </m:fPr>
                      <m:num>
                        <m:sSub>
                          <m:sSubPr>
                            <m:ctrlPr>
                              <a:rPr lang="en-US" sz="1200" i="1">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𝑥</m:t>
                            </m:r>
                          </m:e>
                          <m:sub>
                            <m:r>
                              <a:rPr lang="en-US" sz="1200" i="1">
                                <a:solidFill>
                                  <a:srgbClr val="002060"/>
                                </a:solidFill>
                                <a:latin typeface="Cambria Math" panose="02040503050406030204" pitchFamily="18" charset="0"/>
                                <a:ea typeface="Cambria Math" panose="02040503050406030204" pitchFamily="18" charset="0"/>
                              </a:rPr>
                              <m:t>0</m:t>
                            </m:r>
                          </m:sub>
                        </m:sSub>
                        <m:r>
                          <a:rPr lang="en-US" sz="1200" b="0" i="1" smtClean="0">
                            <a:solidFill>
                              <a:srgbClr val="002060"/>
                            </a:solidFill>
                            <a:latin typeface="Cambria Math" panose="02040503050406030204" pitchFamily="18" charset="0"/>
                            <a:ea typeface="Cambria Math" panose="02040503050406030204" pitchFamily="18" charset="0"/>
                          </a:rPr>
                          <m:t>−</m:t>
                        </m:r>
                        <m:sSub>
                          <m:sSubPr>
                            <m:ctrlPr>
                              <a:rPr lang="en-US" sz="1200" i="1">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𝑥</m:t>
                            </m:r>
                          </m:e>
                          <m:sub>
                            <m:r>
                              <a:rPr lang="en-US" sz="1200" i="1">
                                <a:solidFill>
                                  <a:srgbClr val="002060"/>
                                </a:solidFill>
                                <a:latin typeface="Cambria Math" panose="02040503050406030204" pitchFamily="18" charset="0"/>
                                <a:ea typeface="Cambria Math" panose="02040503050406030204" pitchFamily="18" charset="0"/>
                              </a:rPr>
                              <m:t>1</m:t>
                            </m:r>
                          </m:sub>
                        </m:sSub>
                      </m:num>
                      <m:den>
                        <m:rad>
                          <m:radPr>
                            <m:degHide m:val="on"/>
                            <m:ctrlPr>
                              <a:rPr lang="en-US" sz="1200" i="1">
                                <a:solidFill>
                                  <a:srgbClr val="002060"/>
                                </a:solidFill>
                                <a:latin typeface="Cambria Math" panose="02040503050406030204" pitchFamily="18" charset="0"/>
                                <a:ea typeface="Cambria Math" panose="02040503050406030204" pitchFamily="18" charset="0"/>
                              </a:rPr>
                            </m:ctrlPr>
                          </m:radPr>
                          <m:deg/>
                          <m:e>
                            <m:r>
                              <a:rPr lang="en-US" sz="1200" i="1">
                                <a:solidFill>
                                  <a:srgbClr val="002060"/>
                                </a:solidFill>
                                <a:latin typeface="Cambria Math" panose="02040503050406030204" pitchFamily="18" charset="0"/>
                                <a:ea typeface="Cambria Math" panose="02040503050406030204" pitchFamily="18" charset="0"/>
                              </a:rPr>
                              <m:t>2</m:t>
                            </m:r>
                          </m:e>
                        </m:rad>
                      </m:den>
                    </m:f>
                    <m:r>
                      <a:rPr lang="en-US" sz="1200" i="1">
                        <a:latin typeface="Cambria Math" panose="02040503050406030204" pitchFamily="18" charset="0"/>
                        <a:ea typeface="Cambria Math" panose="02040503050406030204" pitchFamily="18" charset="0"/>
                      </a:rPr>
                      <m:t>|</m:t>
                    </m:r>
                    <m:d>
                      <m:dPr>
                        <m:begChr m:val=""/>
                        <m:endChr m:val="⟩"/>
                        <m:ctrlPr>
                          <a:rPr lang="en-US" sz="1200" i="1">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1</m:t>
                        </m:r>
                      </m:e>
                    </m:d>
                  </m:oMath>
                </a14:m>
                <a:br>
                  <a:rPr lang="en-US" dirty="0"/>
                </a:br>
                <a:br>
                  <a:rPr lang="en-US" dirty="0"/>
                </a:br>
                <a:r>
                  <a:rPr lang="en-ZA" dirty="0"/>
                  <a:t>This is exactly the transformation produced by the Hadamard gate.</a:t>
                </a:r>
              </a:p>
              <a:p>
                <a:pPr marL="228600" indent="-228600" algn="l">
                  <a:buFont typeface="+mj-lt"/>
                  <a:buAutoNum type="arabicPeriod"/>
                </a:pPr>
                <a:endParaRPr lang="en-ZA" b="0" dirty="0"/>
              </a:p>
              <a:p>
                <a:pPr marL="228600" lvl="0" indent="-228600" algn="just">
                  <a:buFont typeface="+mj-lt"/>
                  <a:buAutoNum type="arabicPeriod"/>
                </a:pPr>
                <a:r>
                  <a:rPr lang="en-ZA" dirty="0"/>
                  <a:t>This can be verified directly for the two computational basis states. For ∣0⟩, the amplitudes are </a:t>
                </a:r>
                <a14:m>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𝑥</m:t>
                        </m:r>
                      </m:e>
                      <m:sub>
                        <m:r>
                          <a:rPr lang="en-US" sz="1200" i="1">
                            <a:latin typeface="Cambria Math" panose="02040503050406030204" pitchFamily="18" charset="0"/>
                            <a:ea typeface="Cambria Math" panose="02040503050406030204" pitchFamily="18" charset="0"/>
                          </a:rPr>
                          <m:t>0</m:t>
                        </m:r>
                      </m:sub>
                    </m:sSub>
                    <m:r>
                      <a:rPr lang="en-US" sz="1200" i="1">
                        <a:latin typeface="Cambria Math" panose="02040503050406030204" pitchFamily="18" charset="0"/>
                        <a:ea typeface="Cambria Math" panose="02040503050406030204" pitchFamily="18" charset="0"/>
                      </a:rPr>
                      <m:t>=1</m:t>
                    </m:r>
                  </m:oMath>
                </a14:m>
                <a:r>
                  <a:rPr lang="en-ZA" dirty="0"/>
                  <a:t> and </a:t>
                </a:r>
                <a14:m>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𝑥</m:t>
                        </m:r>
                      </m:e>
                      <m:sub>
                        <m:r>
                          <a:rPr lang="sr-Latn-RS" sz="1200" b="0" i="1" smtClean="0">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r>
                      <a:rPr lang="sr-Latn-RS" sz="1200" b="0" i="1" smtClean="0">
                        <a:latin typeface="Cambria Math" panose="02040503050406030204" pitchFamily="18" charset="0"/>
                        <a:ea typeface="Cambria Math" panose="02040503050406030204" pitchFamily="18" charset="0"/>
                      </a:rPr>
                      <m:t>0</m:t>
                    </m:r>
                  </m:oMath>
                </a14:m>
                <a:r>
                  <a:rPr lang="en-ZA" dirty="0"/>
                  <a:t>, while for ∣1⟩, they are </a:t>
                </a:r>
                <a14:m>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𝑥</m:t>
                        </m:r>
                      </m:e>
                      <m:sub>
                        <m:r>
                          <a:rPr lang="en-US" sz="1200" i="1">
                            <a:latin typeface="Cambria Math" panose="02040503050406030204" pitchFamily="18" charset="0"/>
                            <a:ea typeface="Cambria Math" panose="02040503050406030204" pitchFamily="18" charset="0"/>
                          </a:rPr>
                          <m:t>0</m:t>
                        </m:r>
                      </m:sub>
                    </m:sSub>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0</m:t>
                    </m:r>
                  </m:oMath>
                </a14:m>
                <a:r>
                  <a:rPr lang="en-ZA" dirty="0"/>
                  <a:t> and </a:t>
                </a:r>
                <a14:m>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𝑥</m:t>
                        </m:r>
                      </m:e>
                      <m:sub>
                        <m:r>
                          <a:rPr lang="sr-Latn-RS" sz="1200" b="0" i="1" smtClean="0">
                            <a:latin typeface="Cambria Math" panose="02040503050406030204" pitchFamily="18" charset="0"/>
                            <a:ea typeface="Cambria Math" panose="02040503050406030204" pitchFamily="18" charset="0"/>
                          </a:rPr>
                          <m:t>1</m:t>
                        </m:r>
                      </m:sub>
                    </m:sSub>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1</m:t>
                    </m:r>
                  </m:oMath>
                </a14:m>
                <a:r>
                  <a:rPr lang="en-ZA" dirty="0"/>
                  <a:t>. This gives </a:t>
                </a:r>
                <a14:m>
                  <m:oMath xmlns:m="http://schemas.openxmlformats.org/officeDocument/2006/math">
                    <m:r>
                      <a:rPr lang="en-US" sz="1200" i="1" smtClean="0">
                        <a:latin typeface="Cambria Math" panose="02040503050406030204" pitchFamily="18" charset="0"/>
                        <a:ea typeface="Cambria Math" panose="02040503050406030204" pitchFamily="18" charset="0"/>
                      </a:rPr>
                      <m:t>𝑄𝐹𝑇</m:t>
                    </m:r>
                    <m:r>
                      <a:rPr lang="en-US" sz="1200" i="1" smtClean="0">
                        <a:latin typeface="Cambria Math" panose="02040503050406030204" pitchFamily="18" charset="0"/>
                        <a:ea typeface="Cambria Math" panose="02040503050406030204" pitchFamily="18" charset="0"/>
                      </a:rPr>
                      <m:t>|</m:t>
                    </m:r>
                    <m:d>
                      <m:dPr>
                        <m:begChr m:val=""/>
                        <m:endChr m:val="⟩"/>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0</m:t>
                        </m:r>
                      </m:e>
                    </m:d>
                    <m:r>
                      <a:rPr lang="en-US" sz="1200" i="1">
                        <a:latin typeface="Cambria Math" panose="02040503050406030204" pitchFamily="18" charset="0"/>
                        <a:ea typeface="Cambria Math" panose="02040503050406030204" pitchFamily="18" charset="0"/>
                      </a:rPr>
                      <m:t>=</m:t>
                    </m:r>
                    <m:r>
                      <a:rPr lang="en-US" sz="1200" i="1" smtClean="0">
                        <a:latin typeface="Cambria Math" panose="02040503050406030204" pitchFamily="18" charset="0"/>
                        <a:ea typeface="Cambria Math" panose="02040503050406030204" pitchFamily="18" charset="0"/>
                      </a:rPr>
                      <m:t>|</m:t>
                    </m:r>
                    <m:d>
                      <m:dPr>
                        <m:begChr m:val=""/>
                        <m:endChr m:val="⟩"/>
                        <m:ctrlPr>
                          <a:rPr lang="en-US" sz="1200" i="1">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m:t>
                        </m:r>
                      </m:e>
                    </m:d>
                  </m:oMath>
                </a14:m>
                <a:r>
                  <a:rPr lang="en-ZA" dirty="0"/>
                  <a:t> and </a:t>
                </a:r>
                <a14:m>
                  <m:oMath xmlns:m="http://schemas.openxmlformats.org/officeDocument/2006/math">
                    <m:r>
                      <a:rPr lang="en-US" sz="1200" i="1" smtClean="0">
                        <a:latin typeface="Cambria Math" panose="02040503050406030204" pitchFamily="18" charset="0"/>
                        <a:ea typeface="Cambria Math" panose="02040503050406030204" pitchFamily="18" charset="0"/>
                      </a:rPr>
                      <m:t>𝑄𝐹𝑇</m:t>
                    </m:r>
                    <m:r>
                      <a:rPr lang="en-US" sz="1200" i="1" smtClean="0">
                        <a:latin typeface="Cambria Math" panose="02040503050406030204" pitchFamily="18" charset="0"/>
                        <a:ea typeface="Cambria Math" panose="02040503050406030204" pitchFamily="18" charset="0"/>
                      </a:rPr>
                      <m:t>|</m:t>
                    </m:r>
                    <m:d>
                      <m:dPr>
                        <m:begChr m:val=""/>
                        <m:endChr m:val="⟩"/>
                        <m:ctrlPr>
                          <a:rPr lang="en-US" sz="1200" i="1">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1</m:t>
                        </m:r>
                      </m:e>
                    </m:d>
                    <m:r>
                      <a:rPr lang="en-US" sz="1200" i="1">
                        <a:latin typeface="Cambria Math" panose="02040503050406030204" pitchFamily="18" charset="0"/>
                        <a:ea typeface="Cambria Math" panose="02040503050406030204" pitchFamily="18" charset="0"/>
                      </a:rPr>
                      <m:t>=</m:t>
                    </m:r>
                    <m:r>
                      <a:rPr lang="en-US" sz="1200" i="1" smtClean="0">
                        <a:latin typeface="Cambria Math" panose="02040503050406030204" pitchFamily="18" charset="0"/>
                        <a:ea typeface="Cambria Math" panose="02040503050406030204" pitchFamily="18" charset="0"/>
                      </a:rPr>
                      <m:t>|</m:t>
                    </m:r>
                    <m:d>
                      <m:dPr>
                        <m:begChr m:val=""/>
                        <m:endChr m:val="⟩"/>
                        <m:ctrlPr>
                          <a:rPr lang="en-US" sz="1200" i="1">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m:t>
                        </m:r>
                      </m:e>
                    </m:d>
                  </m:oMath>
                </a14:m>
                <a:r>
                  <a:rPr lang="en-ZA" dirty="0"/>
                  <a:t>.</a:t>
                </a:r>
              </a:p>
              <a:p>
                <a:pPr marL="228600" lvl="0" indent="-228600" algn="just">
                  <a:buFont typeface="+mj-lt"/>
                  <a:buAutoNum type="arabicPeriod"/>
                </a:pPr>
                <a:endParaRPr lang="en-ZA" dirty="0"/>
              </a:p>
              <a:p>
                <a:pPr marL="228600" lvl="0" indent="-228600" algn="just">
                  <a:buFont typeface="+mj-lt"/>
                  <a:buAutoNum type="arabicPeriod"/>
                </a:pPr>
                <a:endParaRPr lang="en-ZA" dirty="0"/>
              </a:p>
            </p:txBody>
          </p:sp>
        </mc:Choice>
        <mc:Fallback xmlns="">
          <p:sp>
            <p:nvSpPr>
              <p:cNvPr id="3" name="Notes Placeholder 2"/>
              <p:cNvSpPr>
                <a:spLocks noGrp="1"/>
              </p:cNvSpPr>
              <p:nvPr>
                <p:ph type="body" idx="1"/>
              </p:nvPr>
            </p:nvSpPr>
            <p:spPr/>
            <p:txBody>
              <a:bodyPr/>
              <a:lstStyle/>
              <a:p>
                <a:r>
                  <a:rPr lang="en-US" sz="2000" dirty="0">
                    <a:latin typeface="+mn-lt"/>
                  </a:rPr>
                  <a:t>Let’s now calculate the QFT matrix for</a:t>
                </a:r>
                <a:r>
                  <a:rPr lang="en-US" sz="2000" baseline="0" dirty="0">
                    <a:latin typeface="+mn-lt"/>
                  </a:rPr>
                  <a:t> </a:t>
                </a:r>
                <a:r>
                  <a:rPr lang="en-US" sz="2000" dirty="0">
                    <a:latin typeface="+mn-lt"/>
                  </a:rPr>
                  <a:t>one qubit. In this case, </a:t>
                </a:r>
                <a:r>
                  <a:rPr lang="en-US" sz="2000" i="0">
                    <a:solidFill>
                      <a:srgbClr val="002060"/>
                    </a:solidFill>
                    <a:latin typeface="+mn-lt"/>
                    <a:ea typeface="Cambria Math" panose="02040503050406030204" pitchFamily="18" charset="0"/>
                  </a:rPr>
                  <a:t>𝜔</a:t>
                </a:r>
                <a:r>
                  <a:rPr lang="en-US" sz="2000" dirty="0">
                    <a:latin typeface="+mn-lt"/>
                  </a:rPr>
                  <a:t> is -1. By putting it into the general form of</a:t>
                </a:r>
                <a:r>
                  <a:rPr lang="en-US" sz="2000" baseline="0" dirty="0">
                    <a:latin typeface="+mn-lt"/>
                  </a:rPr>
                  <a:t> the </a:t>
                </a:r>
                <a:r>
                  <a:rPr lang="en-US" sz="2000" dirty="0">
                    <a:latin typeface="+mn-lt"/>
                  </a:rPr>
                  <a:t>QFT matrix we get the </a:t>
                </a:r>
                <a:r>
                  <a:rPr lang="en-US" sz="2000" baseline="0" dirty="0">
                    <a:latin typeface="+mn-lt"/>
                  </a:rPr>
                  <a:t>Hadamard operator showing that the Hadamard transform is a special case of Fourier transform. </a:t>
                </a:r>
                <a:r>
                  <a:rPr lang="en-ZA" sz="2000" kern="1200" dirty="0">
                    <a:solidFill>
                      <a:schemeClr val="tx1"/>
                    </a:solidFill>
                    <a:effectLst/>
                    <a:latin typeface="+mn-lt"/>
                    <a:ea typeface="+mn-ea"/>
                    <a:cs typeface="+mn-cs"/>
                  </a:rPr>
                  <a:t>In fact, we can say that the QFT is a generalization of the Hadamard transform. </a:t>
                </a:r>
                <a:endParaRPr lang="en-US" sz="2000" baseline="0" dirty="0">
                  <a:latin typeface="+mn-lt"/>
                </a:endParaRPr>
              </a:p>
              <a:p>
                <a:pPr marL="457200" indent="-457200">
                  <a:buFont typeface="+mj-lt"/>
                  <a:buAutoNum type="arabicPeriod"/>
                </a:pPr>
                <a:r>
                  <a:rPr lang="en-US" sz="2000" baseline="0" dirty="0">
                    <a:latin typeface="+mn-lt"/>
                  </a:rPr>
                  <a:t>To get the two-qubit state, we can multiply this matrix by an initial probability amplitude vector, let’s say </a:t>
                </a:r>
                <a:r>
                  <a:rPr lang="en-US" sz="2000" i="0">
                    <a:solidFill>
                      <a:srgbClr val="002060"/>
                    </a:solidFill>
                    <a:latin typeface="Cambria Math" panose="02040503050406030204" pitchFamily="18" charset="0"/>
                    <a:ea typeface="Cambria Math" panose="02040503050406030204" pitchFamily="18" charset="0"/>
                  </a:rPr>
                  <a:t>𝑥_0</a:t>
                </a:r>
                <a:r>
                  <a:rPr lang="en-US" sz="2000" dirty="0">
                    <a:latin typeface="+mn-lt"/>
                  </a:rPr>
                  <a:t> and </a:t>
                </a:r>
                <a:r>
                  <a:rPr lang="en-US" sz="2000" i="0">
                    <a:solidFill>
                      <a:srgbClr val="002060"/>
                    </a:solidFill>
                    <a:latin typeface="Cambria Math" panose="02040503050406030204" pitchFamily="18" charset="0"/>
                    <a:ea typeface="Cambria Math" panose="02040503050406030204" pitchFamily="18" charset="0"/>
                  </a:rPr>
                  <a:t>𝑥_</a:t>
                </a:r>
                <a:r>
                  <a:rPr lang="en-US" sz="2000" b="0" i="0">
                    <a:solidFill>
                      <a:srgbClr val="002060"/>
                    </a:solidFill>
                    <a:latin typeface="Cambria Math" panose="02040503050406030204" pitchFamily="18" charset="0"/>
                    <a:ea typeface="Cambria Math" panose="02040503050406030204" pitchFamily="18" charset="0"/>
                  </a:rPr>
                  <a:t>1</a:t>
                </a:r>
                <a:r>
                  <a:rPr lang="en-US" sz="2000" baseline="0" dirty="0">
                    <a:latin typeface="+mn-lt"/>
                  </a:rPr>
                  <a:t>.  The other way to get the state is by using the formula to calculate the Fourier coefficients </a:t>
                </a:r>
                <a:r>
                  <a:rPr lang="en-US" sz="2000" b="0" i="0">
                    <a:solidFill>
                      <a:srgbClr val="002060"/>
                    </a:solidFill>
                    <a:latin typeface="Cambria Math" panose="02040503050406030204" pitchFamily="18" charset="0"/>
                    <a:ea typeface="Cambria Math" panose="02040503050406030204" pitchFamily="18" charset="0"/>
                  </a:rPr>
                  <a:t>𝑦_</a:t>
                </a:r>
                <a:r>
                  <a:rPr lang="en-US" sz="2000" i="0">
                    <a:solidFill>
                      <a:srgbClr val="002060"/>
                    </a:solidFill>
                    <a:latin typeface="Cambria Math" panose="02040503050406030204" pitchFamily="18" charset="0"/>
                    <a:ea typeface="Cambria Math" panose="02040503050406030204" pitchFamily="18" charset="0"/>
                  </a:rPr>
                  <a:t>0</a:t>
                </a:r>
                <a:r>
                  <a:rPr lang="en-US" sz="2000" dirty="0">
                    <a:latin typeface="+mn-lt"/>
                  </a:rPr>
                  <a:t> and </a:t>
                </a:r>
                <a:r>
                  <a:rPr lang="en-US" sz="2000" b="0" i="0">
                    <a:solidFill>
                      <a:srgbClr val="002060"/>
                    </a:solidFill>
                    <a:latin typeface="Cambria Math" panose="02040503050406030204" pitchFamily="18" charset="0"/>
                    <a:ea typeface="Cambria Math" panose="02040503050406030204" pitchFamily="18" charset="0"/>
                  </a:rPr>
                  <a:t>𝑦_1</a:t>
                </a:r>
                <a:r>
                  <a:rPr lang="en-US" sz="2000" baseline="0" dirty="0">
                    <a:latin typeface="+mn-lt"/>
                  </a:rPr>
                  <a:t> from the initial probability amplitudes </a:t>
                </a:r>
                <a:r>
                  <a:rPr lang="en-US" sz="2000" i="0">
                    <a:solidFill>
                      <a:srgbClr val="002060"/>
                    </a:solidFill>
                    <a:latin typeface="Cambria Math" panose="02040503050406030204" pitchFamily="18" charset="0"/>
                    <a:ea typeface="Cambria Math" panose="02040503050406030204" pitchFamily="18" charset="0"/>
                  </a:rPr>
                  <a:t>𝑥_0</a:t>
                </a:r>
                <a:r>
                  <a:rPr lang="en-US" sz="2000" dirty="0">
                    <a:latin typeface="+mn-lt"/>
                  </a:rPr>
                  <a:t> and </a:t>
                </a:r>
                <a:r>
                  <a:rPr lang="en-US" sz="2000" i="0">
                    <a:solidFill>
                      <a:srgbClr val="002060"/>
                    </a:solidFill>
                    <a:latin typeface="Cambria Math" panose="02040503050406030204" pitchFamily="18" charset="0"/>
                    <a:ea typeface="Cambria Math" panose="02040503050406030204" pitchFamily="18" charset="0"/>
                  </a:rPr>
                  <a:t>𝑥_</a:t>
                </a:r>
                <a:r>
                  <a:rPr lang="en-US" sz="2000" b="0" i="0">
                    <a:solidFill>
                      <a:srgbClr val="002060"/>
                    </a:solidFill>
                    <a:latin typeface="Cambria Math" panose="02040503050406030204" pitchFamily="18" charset="0"/>
                    <a:ea typeface="Cambria Math" panose="02040503050406030204" pitchFamily="18" charset="0"/>
                  </a:rPr>
                  <a:t>1</a:t>
                </a:r>
                <a:r>
                  <a:rPr lang="en-US" sz="2000" baseline="0" dirty="0">
                    <a:latin typeface="+mn-lt"/>
                  </a:rPr>
                  <a:t>. </a:t>
                </a:r>
                <a:br>
                  <a:rPr lang="en-US" sz="2000" baseline="0" dirty="0">
                    <a:latin typeface="+mn-lt"/>
                  </a:rPr>
                </a:br>
                <a:r>
                  <a:rPr lang="en-US" sz="2000" dirty="0">
                    <a:latin typeface="+mn-lt"/>
                  </a:rPr>
                  <a:t>We can see </a:t>
                </a:r>
                <a:r>
                  <a:rPr lang="en-US" sz="2000" baseline="0" dirty="0">
                    <a:latin typeface="+mn-lt"/>
                  </a:rPr>
                  <a:t>that for </a:t>
                </a:r>
                <a:r>
                  <a:rPr lang="en-US" sz="2000" i="0">
                    <a:latin typeface="Cambria Math" panose="02040503050406030204" pitchFamily="18" charset="0"/>
                    <a:ea typeface="Cambria Math" panose="02040503050406030204" pitchFamily="18" charset="0"/>
                  </a:rPr>
                  <a:t>𝑥_0=1</a:t>
                </a:r>
                <a:r>
                  <a:rPr lang="en-US" sz="2000" b="0" i="0">
                    <a:latin typeface="Cambria Math" panose="02040503050406030204" pitchFamily="18" charset="0"/>
                    <a:ea typeface="Cambria Math" panose="02040503050406030204" pitchFamily="18" charset="0"/>
                  </a:rPr>
                  <a:t> 𝑎𝑛𝑑 </a:t>
                </a:r>
                <a:r>
                  <a:rPr lang="en-US" sz="2000" i="0">
                    <a:latin typeface="Cambria Math" panose="02040503050406030204" pitchFamily="18" charset="0"/>
                    <a:ea typeface="Cambria Math" panose="02040503050406030204" pitchFamily="18" charset="0"/>
                  </a:rPr>
                  <a:t>𝑥_1=0</a:t>
                </a:r>
                <a:r>
                  <a:rPr lang="en-US" sz="2000" baseline="0" dirty="0">
                    <a:latin typeface="+mn-lt"/>
                  </a:rPr>
                  <a:t> the QFT </a:t>
                </a:r>
                <a:r>
                  <a:rPr lang="en-US" sz="2000" dirty="0">
                    <a:latin typeface="+mn-lt"/>
                  </a:rPr>
                  <a:t>changes the computational Z-basis  state</a:t>
                </a:r>
                <a:r>
                  <a:rPr lang="en-US" sz="2000" baseline="0" dirty="0">
                    <a:latin typeface="+mn-lt"/>
                  </a:rPr>
                  <a:t>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0⟩</a:t>
                </a:r>
                <a:r>
                  <a:rPr lang="en-US" sz="2000" baseline="0" dirty="0">
                    <a:latin typeface="+mn-lt"/>
                  </a:rPr>
                  <a:t>  to X-basis state </a:t>
                </a:r>
                <a:r>
                  <a:rPr lang="en-US" sz="2000" i="0">
                    <a:solidFill>
                      <a:srgbClr val="002060"/>
                    </a:solidFill>
                    <a:latin typeface="+mn-lt"/>
                    <a:ea typeface="Cambria Math" panose="02040503050406030204" pitchFamily="18" charset="0"/>
                  </a:rPr>
                  <a:t>|├ </a:t>
                </a:r>
                <a:r>
                  <a:rPr lang="en-US" sz="2000" b="0" i="0">
                    <a:solidFill>
                      <a:srgbClr val="002060"/>
                    </a:solidFill>
                    <a:latin typeface="+mn-lt"/>
                    <a:ea typeface="Cambria Math" panose="02040503050406030204" pitchFamily="18" charset="0"/>
                  </a:rPr>
                  <a:t>+⟩</a:t>
                </a:r>
                <a:r>
                  <a:rPr lang="en-US" sz="2000" dirty="0">
                    <a:latin typeface="+mn-lt"/>
                  </a:rPr>
                  <a:t> .</a:t>
                </a:r>
                <a:r>
                  <a:rPr lang="en-US" sz="2000" baseline="0" dirty="0">
                    <a:latin typeface="+mn-lt"/>
                  </a:rPr>
                  <a:t> For </a:t>
                </a:r>
                <a:r>
                  <a:rPr lang="en-US" sz="2000" i="0">
                    <a:latin typeface="Cambria Math" panose="02040503050406030204" pitchFamily="18" charset="0"/>
                    <a:ea typeface="Cambria Math" panose="02040503050406030204" pitchFamily="18" charset="0"/>
                  </a:rPr>
                  <a:t>𝑥_0=</a:t>
                </a:r>
                <a:r>
                  <a:rPr lang="en-US" sz="2000" b="0" i="0">
                    <a:latin typeface="Cambria Math" panose="02040503050406030204" pitchFamily="18" charset="0"/>
                    <a:ea typeface="Cambria Math" panose="02040503050406030204" pitchFamily="18" charset="0"/>
                  </a:rPr>
                  <a:t>0 𝑎𝑛𝑑 </a:t>
                </a:r>
                <a:r>
                  <a:rPr lang="en-US" sz="2000" i="0">
                    <a:latin typeface="Cambria Math" panose="02040503050406030204" pitchFamily="18" charset="0"/>
                    <a:ea typeface="Cambria Math" panose="02040503050406030204" pitchFamily="18" charset="0"/>
                  </a:rPr>
                  <a:t>𝑥_1=</a:t>
                </a:r>
                <a:r>
                  <a:rPr lang="en-US" sz="2000" b="0" i="0">
                    <a:latin typeface="Cambria Math" panose="02040503050406030204" pitchFamily="18" charset="0"/>
                    <a:ea typeface="Cambria Math" panose="02040503050406030204" pitchFamily="18" charset="0"/>
                  </a:rPr>
                  <a:t>1</a:t>
                </a:r>
                <a:r>
                  <a:rPr lang="en-US" sz="2000" baseline="0" dirty="0">
                    <a:latin typeface="+mn-lt"/>
                  </a:rPr>
                  <a:t> QFT transforms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1⟩</a:t>
                </a:r>
                <a:r>
                  <a:rPr lang="en-US" sz="2000" baseline="0" dirty="0">
                    <a:latin typeface="+mn-lt"/>
                  </a:rPr>
                  <a:t> to </a:t>
                </a:r>
                <a:r>
                  <a:rPr lang="en-US" sz="2000" i="0">
                    <a:solidFill>
                      <a:srgbClr val="002060"/>
                    </a:solidFill>
                    <a:latin typeface="+mn-lt"/>
                    <a:ea typeface="Cambria Math" panose="02040503050406030204" pitchFamily="18" charset="0"/>
                  </a:rPr>
                  <a:t>|├ </a:t>
                </a:r>
                <a:r>
                  <a:rPr lang="en-US" sz="2000" b="0" i="0">
                    <a:solidFill>
                      <a:srgbClr val="002060"/>
                    </a:solidFill>
                    <a:latin typeface="+mn-lt"/>
                    <a:ea typeface="Cambria Math" panose="02040503050406030204" pitchFamily="18" charset="0"/>
                  </a:rPr>
                  <a:t>−⟩</a:t>
                </a:r>
                <a:r>
                  <a:rPr lang="en-US" sz="2000" baseline="0" dirty="0">
                    <a:latin typeface="+mn-lt"/>
                  </a:rPr>
                  <a:t>. </a:t>
                </a:r>
              </a:p>
              <a:p>
                <a:pPr marL="0" indent="0">
                  <a:buFont typeface="+mj-lt"/>
                  <a:buNone/>
                </a:pPr>
                <a:endParaRPr lang="en-US" sz="2000" baseline="0" dirty="0">
                  <a:latin typeface="+mn-lt"/>
                </a:endParaRP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58</a:t>
            </a:fld>
            <a:endParaRPr lang="en-US"/>
          </a:p>
        </p:txBody>
      </p:sp>
    </p:spTree>
    <p:extLst>
      <p:ext uri="{BB962C8B-B14F-4D97-AF65-F5344CB8AC3E}">
        <p14:creationId xmlns:p14="http://schemas.microsoft.com/office/powerpoint/2010/main" val="14418604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For two qubits, </a:t>
                </a:r>
                <a14:m>
                  <m:oMath xmlns:m="http://schemas.openxmlformats.org/officeDocument/2006/math">
                    <m:r>
                      <a:rPr lang="en-US" sz="1200" i="1" smtClean="0">
                        <a:solidFill>
                          <a:srgbClr val="002060"/>
                        </a:solidFill>
                        <a:latin typeface="Cambria Math" panose="02040503050406030204" pitchFamily="18" charset="0"/>
                        <a:ea typeface="Cambria Math" panose="02040503050406030204" pitchFamily="18" charset="0"/>
                      </a:rPr>
                      <m:t>𝑛</m:t>
                    </m:r>
                    <m:r>
                      <a:rPr lang="en-US" sz="1200" i="1" smtClean="0">
                        <a:solidFill>
                          <a:srgbClr val="002060"/>
                        </a:solidFill>
                        <a:latin typeface="Cambria Math" panose="02040503050406030204" pitchFamily="18" charset="0"/>
                        <a:ea typeface="Cambria Math" panose="02040503050406030204" pitchFamily="18" charset="0"/>
                      </a:rPr>
                      <m:t>=2</m:t>
                    </m:r>
                    <m:r>
                      <a:rPr lang="en-US" sz="1200" b="0" i="0" smtClean="0">
                        <a:solidFill>
                          <a:srgbClr val="002060"/>
                        </a:solidFill>
                        <a:latin typeface="Cambria Math" panose="02040503050406030204" pitchFamily="18" charset="0"/>
                        <a:ea typeface="Cambria Math" panose="02040503050406030204" pitchFamily="18" charset="0"/>
                      </a:rPr>
                      <m:t> </m:t>
                    </m:r>
                    <m:r>
                      <a:rPr lang="en-US" sz="1200" b="0" i="1" smtClean="0">
                        <a:solidFill>
                          <a:srgbClr val="002060"/>
                        </a:solidFill>
                        <a:latin typeface="Cambria Math" panose="02040503050406030204" pitchFamily="18" charset="0"/>
                        <a:ea typeface="Cambria Math" panose="02040503050406030204" pitchFamily="18" charset="0"/>
                      </a:rPr>
                      <m:t>, </m:t>
                    </m:r>
                    <m:r>
                      <a:rPr lang="en-US" sz="1200" i="1" smtClean="0">
                        <a:solidFill>
                          <a:srgbClr val="002060"/>
                        </a:solidFill>
                        <a:latin typeface="Cambria Math" panose="02040503050406030204" pitchFamily="18" charset="0"/>
                        <a:ea typeface="Cambria Math" panose="02040503050406030204" pitchFamily="18" charset="0"/>
                      </a:rPr>
                      <m:t>𝑁</m:t>
                    </m:r>
                    <m:r>
                      <a:rPr lang="en-US" sz="1200" i="1" smtClean="0">
                        <a:solidFill>
                          <a:srgbClr val="002060"/>
                        </a:solidFill>
                        <a:latin typeface="Cambria Math" panose="02040503050406030204" pitchFamily="18" charset="0"/>
                        <a:ea typeface="Cambria Math" panose="02040503050406030204" pitchFamily="18" charset="0"/>
                      </a:rPr>
                      <m:t>=4</m:t>
                    </m:r>
                  </m:oMath>
                </a14:m>
                <a:r>
                  <a:rPr lang="en-ZA" b="0" dirty="0"/>
                  <a:t> and the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𝑁</m:t>
                    </m:r>
                  </m:oMath>
                </a14:m>
                <a:r>
                  <a:rPr lang="en-ZA" b="0" dirty="0"/>
                  <a:t>-th root of unity is </a:t>
                </a:r>
                <a14:m>
                  <m:oMath xmlns:m="http://schemas.openxmlformats.org/officeDocument/2006/math">
                    <m:r>
                      <a:rPr lang="en-US" sz="1200" i="1" smtClean="0">
                        <a:solidFill>
                          <a:srgbClr val="002060"/>
                        </a:solidFill>
                        <a:latin typeface="Cambria Math" panose="02040503050406030204" pitchFamily="18" charset="0"/>
                        <a:ea typeface="Cambria Math" panose="02040503050406030204" pitchFamily="18" charset="0"/>
                      </a:rPr>
                      <m:t>𝜔</m:t>
                    </m:r>
                    <m:r>
                      <a:rPr lang="en-US" sz="1200" b="0" i="0" smtClean="0">
                        <a:solidFill>
                          <a:srgbClr val="002060"/>
                        </a:solidFill>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𝑒</m:t>
                        </m:r>
                      </m:e>
                      <m:sup>
                        <m:r>
                          <a:rPr lang="en-US" sz="1200" i="1" smtClean="0">
                            <a:latin typeface="Cambria Math" panose="02040503050406030204" pitchFamily="18" charset="0"/>
                            <a:ea typeface="Cambria Math" panose="02040503050406030204" pitchFamily="18" charset="0"/>
                          </a:rPr>
                          <m:t>𝜋</m:t>
                        </m:r>
                        <m:r>
                          <a:rPr lang="en-US" sz="1200" i="1" smtClean="0">
                            <a:latin typeface="Cambria Math" panose="02040503050406030204" pitchFamily="18" charset="0"/>
                            <a:ea typeface="Cambria Math" panose="02040503050406030204" pitchFamily="18" charset="0"/>
                          </a:rPr>
                          <m:t>𝑖</m:t>
                        </m:r>
                        <m:r>
                          <a:rPr lang="en-US" sz="1200" b="0" i="1" smtClean="0">
                            <a:latin typeface="Cambria Math" panose="02040503050406030204" pitchFamily="18" charset="0"/>
                            <a:ea typeface="Cambria Math" panose="02040503050406030204" pitchFamily="18" charset="0"/>
                          </a:rPr>
                          <m:t>/2</m:t>
                        </m:r>
                      </m:sup>
                    </m:sSup>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𝑖</m:t>
                    </m:r>
                  </m:oMath>
                </a14:m>
                <a:r>
                  <a:rPr lang="en-ZA" b="0" dirty="0"/>
                  <a:t>.</a:t>
                </a:r>
              </a:p>
              <a:p>
                <a:pPr marL="171450" indent="-171450" algn="just">
                  <a:buFont typeface="Arial" panose="020B0604020202020204" pitchFamily="34" charset="0"/>
                  <a:buChar char="•"/>
                </a:pPr>
                <a:endParaRPr lang="en-ZA" b="0" dirty="0"/>
              </a:p>
              <a:p>
                <a:pPr marL="228600" indent="-228600" algn="just">
                  <a:buFont typeface="Arial" panose="020B0604020202020204" pitchFamily="34" charset="0"/>
                  <a:buChar char="•"/>
                </a:pPr>
                <a:r>
                  <a:rPr lang="en-ZA" dirty="0"/>
                  <a:t>The QFT matrix is therefore a </a:t>
                </a:r>
                <a:r>
                  <a:rPr lang="en-ZA" b="0" dirty="0"/>
                  <a:t>4x4 matrix.</a:t>
                </a:r>
              </a:p>
              <a:p>
                <a:pPr marL="228600" indent="-228600" algn="just">
                  <a:buFont typeface="Arial" panose="020B0604020202020204" pitchFamily="34" charset="0"/>
                  <a:buChar char="•"/>
                </a:pPr>
                <a:endParaRPr lang="en-ZA" b="0" dirty="0"/>
              </a:p>
              <a:p>
                <a:pPr marL="228600" indent="-228600" algn="just">
                  <a:buFont typeface="Arial" panose="020B0604020202020204" pitchFamily="34" charset="0"/>
                  <a:buChar char="•"/>
                </a:pPr>
                <a:r>
                  <a:rPr lang="en-ZA" dirty="0"/>
                  <a:t>By computing the matrix elements as</a:t>
                </a:r>
                <a:r>
                  <a:rPr lang="en-ZA" b="0" baseline="0" dirty="0"/>
                  <a:t> </a:t>
                </a:r>
                <a14:m>
                  <m:oMath xmlns:m="http://schemas.openxmlformats.org/officeDocument/2006/math">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𝜔</m:t>
                        </m:r>
                      </m:e>
                      <m:sup>
                        <m:r>
                          <a:rPr lang="en-US" sz="1200" b="0" i="1" smtClean="0">
                            <a:solidFill>
                              <a:schemeClr val="tx1"/>
                            </a:solidFill>
                            <a:latin typeface="Cambria Math" panose="02040503050406030204" pitchFamily="18" charset="0"/>
                            <a:ea typeface="Cambria Math" panose="02040503050406030204" pitchFamily="18" charset="0"/>
                          </a:rPr>
                          <m:t>𝑗𝑘</m:t>
                        </m:r>
                      </m:sup>
                    </m:sSup>
                  </m:oMath>
                </a14:m>
                <a:r>
                  <a:rPr lang="en-ZA" dirty="0"/>
                  <a:t>, where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𝑗</m:t>
                    </m:r>
                  </m:oMath>
                </a14:m>
                <a:r>
                  <a:rPr lang="en-ZA" dirty="0"/>
                  <a:t> is the zero-based column index and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𝑘</m:t>
                    </m:r>
                  </m:oMath>
                </a14:m>
                <a:r>
                  <a:rPr lang="en-ZA" b="0" dirty="0"/>
                  <a:t> </a:t>
                </a:r>
                <a:r>
                  <a:rPr lang="en-ZA" dirty="0"/>
                  <a:t>s the zero-based row index, we obtain the QFT matrix for</a:t>
                </a:r>
                <a:r>
                  <a:rPr lang="en-ZA" b="0" dirty="0"/>
                  <a:t> </a:t>
                </a:r>
                <a14:m>
                  <m:oMath xmlns:m="http://schemas.openxmlformats.org/officeDocument/2006/math">
                    <m:r>
                      <a:rPr lang="en-US" sz="1200" i="1" smtClean="0">
                        <a:solidFill>
                          <a:srgbClr val="002060"/>
                        </a:solidFill>
                        <a:latin typeface="Cambria Math" panose="02040503050406030204" pitchFamily="18" charset="0"/>
                        <a:ea typeface="Cambria Math" panose="02040503050406030204" pitchFamily="18" charset="0"/>
                      </a:rPr>
                      <m:t>𝑁</m:t>
                    </m:r>
                    <m:r>
                      <a:rPr lang="en-US" sz="1200" b="0" i="1" smtClean="0">
                        <a:solidFill>
                          <a:srgbClr val="002060"/>
                        </a:solidFill>
                        <a:latin typeface="Cambria Math" panose="02040503050406030204" pitchFamily="18" charset="0"/>
                        <a:ea typeface="Cambria Math" panose="02040503050406030204" pitchFamily="18" charset="0"/>
                      </a:rPr>
                      <m:t>=4</m:t>
                    </m:r>
                  </m:oMath>
                </a14:m>
                <a:r>
                  <a:rPr lang="en-ZA" b="0" dirty="0"/>
                  <a:t>. </a:t>
                </a:r>
              </a:p>
              <a:p>
                <a:pPr marL="228600" indent="-22860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dirty="0"/>
                  <a:t>The QFT of a quantum state is then obtained by multiplying the QFT matrix by the state vector. In this way, the QFT matrix acts as a linear operator that transforms the amplitudes of the quantum state.</a:t>
                </a:r>
                <a:endParaRPr lang="en-ZA" b="0"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mn-lt"/>
                  </a:rPr>
                  <a:t>Izracunajmo </a:t>
                </a:r>
                <a:r>
                  <a:rPr lang="en-US" sz="2000" dirty="0" err="1">
                    <a:latin typeface="+mn-lt"/>
                  </a:rPr>
                  <a:t>sada</a:t>
                </a:r>
                <a:r>
                  <a:rPr lang="en-US" sz="2000" dirty="0">
                    <a:latin typeface="+mn-lt"/>
                  </a:rPr>
                  <a:t> QFT </a:t>
                </a:r>
                <a:r>
                  <a:rPr lang="en-US" sz="2000" dirty="0" err="1">
                    <a:latin typeface="+mn-lt"/>
                  </a:rPr>
                  <a:t>za</a:t>
                </a:r>
                <a:r>
                  <a:rPr lang="en-US" sz="2000" dirty="0">
                    <a:latin typeface="+mn-lt"/>
                  </a:rPr>
                  <a:t> </a:t>
                </a:r>
                <a:r>
                  <a:rPr lang="en-US" sz="2000" dirty="0" err="1">
                    <a:latin typeface="+mn-lt"/>
                  </a:rPr>
                  <a:t>dva</a:t>
                </a:r>
                <a:r>
                  <a:rPr lang="en-US" sz="2000" dirty="0">
                    <a:latin typeface="+mn-lt"/>
                  </a:rPr>
                  <a:t> </a:t>
                </a:r>
                <a:r>
                  <a:rPr lang="en-US" sz="2000" dirty="0" err="1">
                    <a:latin typeface="+mn-lt"/>
                  </a:rPr>
                  <a:t>kubit</a:t>
                </a:r>
                <a:r>
                  <a:rPr lang="en-US" sz="2000" dirty="0">
                    <a:latin typeface="+mn-lt"/>
                  </a:rPr>
                  <a:t>. U </a:t>
                </a:r>
                <a:r>
                  <a:rPr lang="en-US" sz="2000" dirty="0" err="1">
                    <a:latin typeface="+mn-lt"/>
                  </a:rPr>
                  <a:t>ovom</a:t>
                </a:r>
                <a:r>
                  <a:rPr lang="en-US" sz="2000" dirty="0">
                    <a:latin typeface="+mn-lt"/>
                  </a:rPr>
                  <a:t> </a:t>
                </a:r>
                <a:r>
                  <a:rPr lang="en-US" sz="2000" dirty="0" err="1">
                    <a:latin typeface="+mn-lt"/>
                  </a:rPr>
                  <a:t>slucajum</a:t>
                </a:r>
                <a:r>
                  <a:rPr lang="en-US" sz="2000" dirty="0">
                    <a:latin typeface="+mn-lt"/>
                  </a:rPr>
                  <a:t> </a:t>
                </a:r>
                <a:r>
                  <a:rPr lang="en-US" sz="2000" dirty="0" err="1">
                    <a:latin typeface="+mn-lt"/>
                  </a:rPr>
                  <a:t>malo</a:t>
                </a:r>
                <a:r>
                  <a:rPr lang="en-US" sz="2000" dirty="0">
                    <a:latin typeface="+mn-lt"/>
                  </a:rPr>
                  <a:t> n=2, </a:t>
                </a:r>
                <a:r>
                  <a:rPr lang="en-US" sz="2000" dirty="0" err="1">
                    <a:latin typeface="+mn-lt"/>
                  </a:rPr>
                  <a:t>veliko</a:t>
                </a:r>
                <a:r>
                  <a:rPr lang="en-US" sz="2000" dirty="0">
                    <a:latin typeface="+mn-lt"/>
                  </a:rPr>
                  <a:t> N=4</a:t>
                </a:r>
                <a:r>
                  <a:rPr lang="en-US" sz="2000" baseline="0" dirty="0">
                    <a:latin typeface="+mn-lt"/>
                  </a:rPr>
                  <a:t> </a:t>
                </a:r>
                <a:r>
                  <a:rPr lang="en-US" sz="2000" baseline="0" dirty="0" err="1">
                    <a:latin typeface="+mn-lt"/>
                  </a:rPr>
                  <a:t>i</a:t>
                </a:r>
                <a:r>
                  <a:rPr lang="en-US" sz="2000" dirty="0">
                    <a:latin typeface="+mn-lt"/>
                  </a:rPr>
                  <a:t> </a:t>
                </a:r>
                <a:r>
                  <a:rPr lang="en-US" sz="2000" i="0">
                    <a:solidFill>
                      <a:srgbClr val="002060"/>
                    </a:solidFill>
                    <a:latin typeface="Cambria Math" panose="02040503050406030204" pitchFamily="18" charset="0"/>
                    <a:ea typeface="Cambria Math" panose="02040503050406030204" pitchFamily="18" charset="0"/>
                  </a:rPr>
                  <a:t>𝜔</a:t>
                </a:r>
                <a:r>
                  <a:rPr lang="en-US" sz="2000" b="0" i="0">
                    <a:solidFill>
                      <a:srgbClr val="002060"/>
                    </a:solidFill>
                    <a:latin typeface="Cambria Math" panose="02040503050406030204" pitchFamily="18" charset="0"/>
                    <a:ea typeface="Cambria Math" panose="02040503050406030204" pitchFamily="18" charset="0"/>
                  </a:rPr>
                  <a:t>=</a:t>
                </a:r>
                <a:r>
                  <a:rPr lang="en-US" sz="2000" i="0">
                    <a:latin typeface="Cambria Math" panose="02040503050406030204" pitchFamily="18" charset="0"/>
                    <a:ea typeface="Cambria Math" panose="02040503050406030204" pitchFamily="18" charset="0"/>
                  </a:rPr>
                  <a:t>𝑒^(𝜋𝑖/</a:t>
                </a:r>
                <a:r>
                  <a:rPr lang="en-US" sz="2000" b="0" i="0">
                    <a:latin typeface="Cambria Math" panose="02040503050406030204" pitchFamily="18" charset="0"/>
                    <a:ea typeface="Cambria Math" panose="02040503050406030204" pitchFamily="18" charset="0"/>
                  </a:rPr>
                  <a:t>2)</a:t>
                </a:r>
                <a:r>
                  <a:rPr lang="en-US" sz="2000" dirty="0">
                    <a:latin typeface="+mn-lt"/>
                  </a:rPr>
                  <a:t>, </a:t>
                </a:r>
                <a:r>
                  <a:rPr lang="en-US" sz="2000" dirty="0" err="1">
                    <a:latin typeface="+mn-lt"/>
                  </a:rPr>
                  <a:t>kako</a:t>
                </a:r>
                <a:r>
                  <a:rPr lang="en-US" sz="2000" baseline="0" dirty="0">
                    <a:latin typeface="+mn-lt"/>
                  </a:rPr>
                  <a:t> </a:t>
                </a:r>
                <a:r>
                  <a:rPr lang="en-US" sz="2000" baseline="0" dirty="0" err="1">
                    <a:latin typeface="+mn-lt"/>
                  </a:rPr>
                  <a:t>je</a:t>
                </a:r>
                <a:r>
                  <a:rPr lang="en-US" sz="2000" baseline="0" dirty="0">
                    <a:latin typeface="+mn-lt"/>
                  </a:rPr>
                  <a:t> </a:t>
                </a:r>
                <a:r>
                  <a:rPr lang="en-US" sz="2000" baseline="0" dirty="0" err="1">
                    <a:latin typeface="+mn-lt"/>
                  </a:rPr>
                  <a:t>prikazano</a:t>
                </a:r>
                <a:r>
                  <a:rPr lang="en-US" sz="2000" baseline="0" dirty="0">
                    <a:latin typeface="+mn-lt"/>
                  </a:rPr>
                  <a:t> u </a:t>
                </a:r>
                <a:r>
                  <a:rPr lang="en-US" sz="2000" baseline="0" dirty="0" err="1">
                    <a:latin typeface="+mn-lt"/>
                  </a:rPr>
                  <a:t>sivom</a:t>
                </a:r>
                <a:r>
                  <a:rPr lang="en-US" sz="2000" baseline="0" dirty="0">
                    <a:latin typeface="+mn-lt"/>
                  </a:rPr>
                  <a:t> </a:t>
                </a:r>
                <a:r>
                  <a:rPr lang="en-US" sz="2000" baseline="0" dirty="0" err="1">
                    <a:latin typeface="+mn-lt"/>
                  </a:rPr>
                  <a:t>polju</a:t>
                </a:r>
                <a:r>
                  <a:rPr lang="en-US" sz="2000" baseline="0" dirty="0">
                    <a:latin typeface="+mn-lt"/>
                  </a:rPr>
                  <a:t>.</a:t>
                </a:r>
              </a:p>
              <a:p>
                <a:r>
                  <a:rPr lang="en-US" sz="2000" dirty="0" err="1"/>
                  <a:t>Unosenjem</a:t>
                </a:r>
                <a:r>
                  <a:rPr lang="en-US" sz="2000" dirty="0"/>
                  <a:t> </a:t>
                </a:r>
                <a:r>
                  <a:rPr lang="en-US" sz="2000" dirty="0" err="1"/>
                  <a:t>vrednosti</a:t>
                </a:r>
                <a:r>
                  <a:rPr lang="en-US" sz="2000" dirty="0"/>
                  <a:t> u 4x4 </a:t>
                </a:r>
                <a:r>
                  <a:rPr lang="en-US" sz="2000" dirty="0" err="1"/>
                  <a:t>matricu</a:t>
                </a:r>
                <a:r>
                  <a:rPr lang="en-US" sz="2000" dirty="0"/>
                  <a:t> </a:t>
                </a:r>
                <a:r>
                  <a:rPr lang="en-US" sz="2000" dirty="0" err="1"/>
                  <a:t>transformacije</a:t>
                </a:r>
                <a:r>
                  <a:rPr lang="en-US" sz="2000" dirty="0"/>
                  <a:t> I </a:t>
                </a:r>
                <a:r>
                  <a:rPr lang="en-US" sz="2000" dirty="0" err="1"/>
                  <a:t>izracunavanjem</a:t>
                </a:r>
                <a:r>
                  <a:rPr lang="en-US" sz="2000" dirty="0"/>
                  <a:t> </a:t>
                </a:r>
                <a:r>
                  <a:rPr lang="en-US" sz="2000" dirty="0" err="1"/>
                  <a:t>vrednosi</a:t>
                </a:r>
                <a:r>
                  <a:rPr lang="en-US" sz="2000" dirty="0"/>
                  <a:t> </a:t>
                </a:r>
                <a:r>
                  <a:rPr lang="en-US" sz="2000" i="0">
                    <a:solidFill>
                      <a:srgbClr val="002060"/>
                    </a:solidFill>
                    <a:latin typeface="Cambria Math" panose="02040503050406030204" pitchFamily="18" charset="0"/>
                    <a:ea typeface="Cambria Math" panose="02040503050406030204" pitchFamily="18" charset="0"/>
                  </a:rPr>
                  <a:t>𝜔</a:t>
                </a:r>
                <a:r>
                  <a:rPr lang="en-US" sz="2000" dirty="0"/>
                  <a:t>, </a:t>
                </a:r>
                <a:r>
                  <a:rPr lang="en-US" sz="2000" dirty="0" err="1"/>
                  <a:t>dobijamo</a:t>
                </a:r>
                <a:r>
                  <a:rPr lang="en-US" sz="2000" dirty="0"/>
                  <a:t> QFT</a:t>
                </a:r>
                <a:r>
                  <a:rPr lang="en-US" sz="2000" baseline="0" dirty="0"/>
                  <a:t> </a:t>
                </a:r>
                <a:r>
                  <a:rPr lang="en-US" sz="2000" baseline="0" dirty="0" err="1"/>
                  <a:t>matricu</a:t>
                </a:r>
                <a:r>
                  <a:rPr lang="en-US" sz="2000" baseline="0" dirty="0"/>
                  <a:t> </a:t>
                </a:r>
                <a:r>
                  <a:rPr lang="en-US" sz="2000" baseline="0" dirty="0" err="1"/>
                  <a:t>za</a:t>
                </a:r>
                <a:r>
                  <a:rPr lang="en-US" sz="2000" baseline="0" dirty="0"/>
                  <a:t> </a:t>
                </a:r>
                <a:r>
                  <a:rPr lang="en-US" sz="2000" baseline="0" dirty="0" err="1"/>
                  <a:t>dva</a:t>
                </a:r>
                <a:r>
                  <a:rPr lang="en-US" sz="2000" baseline="0" dirty="0"/>
                  <a:t> </a:t>
                </a:r>
                <a:r>
                  <a:rPr lang="en-US" sz="2000" baseline="0" dirty="0" err="1"/>
                  <a:t>kubita</a:t>
                </a:r>
                <a:r>
                  <a:rPr lang="en-US" sz="2000" baseline="0" dirty="0"/>
                  <a:t> </a:t>
                </a:r>
                <a:r>
                  <a:rPr lang="en-US" sz="2000" baseline="0" dirty="0" err="1"/>
                  <a:t>prikazanu</a:t>
                </a:r>
                <a:r>
                  <a:rPr lang="en-US" sz="2000" baseline="0" dirty="0"/>
                  <a:t> u </a:t>
                </a:r>
                <a:r>
                  <a:rPr lang="en-US" sz="2000" baseline="0" dirty="0" err="1"/>
                  <a:t>plavoj</a:t>
                </a:r>
                <a:r>
                  <a:rPr lang="en-US" sz="2000" baseline="0" dirty="0"/>
                  <a:t> </a:t>
                </a:r>
                <a:r>
                  <a:rPr lang="en-US" sz="2000" baseline="0" dirty="0" err="1"/>
                  <a:t>boji</a:t>
                </a:r>
                <a:r>
                  <a:rPr lang="en-US" sz="2000" baseline="0" dirty="0"/>
                  <a:t>.</a:t>
                </a: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59</a:t>
            </a:fld>
            <a:endParaRPr lang="en-US"/>
          </a:p>
        </p:txBody>
      </p:sp>
    </p:spTree>
    <p:extLst>
      <p:ext uri="{BB962C8B-B14F-4D97-AF65-F5344CB8AC3E}">
        <p14:creationId xmlns:p14="http://schemas.microsoft.com/office/powerpoint/2010/main" val="359777768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The same result can also be obtained directly from the QFT formula with some additional calculations.</a:t>
                </a:r>
                <a:endParaRPr lang="en-ZA" b="0" dirty="0"/>
              </a:p>
              <a:p>
                <a:pPr algn="just"/>
                <a:endParaRPr lang="en-ZA" b="0" dirty="0"/>
              </a:p>
              <a:p>
                <a:pPr marL="228600" indent="-228600" algn="just">
                  <a:buFont typeface="+mj-lt"/>
                  <a:buAutoNum type="arabicPeriod"/>
                </a:pPr>
                <a:r>
                  <a:rPr lang="en-ZA" dirty="0"/>
                  <a:t>By computing the QFT for each computational basis state and collecting the resulting coefficients corresponding to ∣00⟩, ∣01⟩, ∣10⟩, and ∣11⟩ into columns, we construct the QFT matrix for two qubits. This follows the same method used to construct the matrix representation of any unitary operator.</a:t>
                </a:r>
                <a:endParaRPr lang="en-ZA" b="0" dirty="0"/>
              </a:p>
              <a:p>
                <a:pPr marL="228600" indent="-228600" algn="just">
                  <a:buFont typeface="+mj-lt"/>
                  <a:buAutoNum type="arabicPeriod"/>
                </a:pPr>
                <a:r>
                  <a:rPr lang="en-ZA" dirty="0"/>
                  <a:t>The figure shows the unit circle and illustrates how the Fourier coefficients are distributed around it.</a:t>
                </a:r>
                <a:endParaRPr lang="en-ZA" b="0" dirty="0"/>
              </a:p>
              <a:p>
                <a:pPr marL="628650" lvl="1" indent="-171450" algn="just">
                  <a:buFont typeface="Arial" panose="020B0604020202020204" pitchFamily="34" charset="0"/>
                  <a:buChar char="•"/>
                </a:pPr>
                <a:r>
                  <a:rPr lang="en-ZA" dirty="0"/>
                  <a:t>For the state ∣00⟩, all Fourier coefficients remain at 1.</a:t>
                </a:r>
                <a:endParaRPr lang="en-ZA" b="0" dirty="0"/>
              </a:p>
              <a:p>
                <a:pPr marL="628650" lvl="1" indent="-171450" algn="just">
                  <a:buFont typeface="Arial" panose="020B0604020202020204" pitchFamily="34" charset="0"/>
                  <a:buChar char="•"/>
                </a:pPr>
                <a:r>
                  <a:rPr lang="en-ZA" dirty="0"/>
                  <a:t>For the state ∣01⟩, the coefficients progress </a:t>
                </a:r>
                <a:r>
                  <a:rPr lang="en-ZA" dirty="0" err="1"/>
                  <a:t>counterclockwise</a:t>
                </a:r>
                <a:r>
                  <a:rPr lang="en-ZA" dirty="0"/>
                  <a:t> around the unit circle through</a:t>
                </a:r>
                <a:r>
                  <a:rPr lang="en-ZA" b="0" baseline="0" dirty="0"/>
                  <a:t> </a:t>
                </a:r>
                <a14:m>
                  <m:oMath xmlns:m="http://schemas.openxmlformats.org/officeDocument/2006/math">
                    <m:r>
                      <a:rPr lang="en-US" b="0" i="1" smtClean="0">
                        <a:solidFill>
                          <a:schemeClr val="tx1"/>
                        </a:solidFill>
                        <a:latin typeface="Cambria Math" panose="02040503050406030204" pitchFamily="18" charset="0"/>
                        <a:ea typeface="Cambria Math" panose="02040503050406030204" pitchFamily="18" charset="0"/>
                      </a:rPr>
                      <m:t>1,</m:t>
                    </m:r>
                    <m:r>
                      <a:rPr lang="en-US" b="0" i="1" smtClean="0">
                        <a:solidFill>
                          <a:schemeClr val="tx1"/>
                        </a:solidFill>
                        <a:latin typeface="Cambria Math" panose="02040503050406030204" pitchFamily="18" charset="0"/>
                        <a:ea typeface="Cambria Math" panose="02040503050406030204" pitchFamily="18" charset="0"/>
                      </a:rPr>
                      <m:t>𝑖</m:t>
                    </m:r>
                    <m:r>
                      <a:rPr lang="en-US" b="0" i="1" smtClean="0">
                        <a:solidFill>
                          <a:schemeClr val="tx1"/>
                        </a:solidFill>
                        <a:latin typeface="Cambria Math" panose="02040503050406030204" pitchFamily="18" charset="0"/>
                        <a:ea typeface="Cambria Math" panose="02040503050406030204" pitchFamily="18" charset="0"/>
                      </a:rPr>
                      <m:t>,−1,,−</m:t>
                    </m:r>
                    <m:r>
                      <a:rPr lang="en-US" b="0" i="1" smtClean="0">
                        <a:solidFill>
                          <a:schemeClr val="tx1"/>
                        </a:solidFill>
                        <a:latin typeface="Cambria Math" panose="02040503050406030204" pitchFamily="18" charset="0"/>
                        <a:ea typeface="Cambria Math" panose="02040503050406030204" pitchFamily="18" charset="0"/>
                      </a:rPr>
                      <m:t>𝑖</m:t>
                    </m:r>
                  </m:oMath>
                </a14:m>
                <a:r>
                  <a:rPr lang="en-ZA" b="0" dirty="0"/>
                  <a:t>, </a:t>
                </a:r>
                <a:r>
                  <a:rPr lang="en-ZA" dirty="0"/>
                  <a:t>with angular steps of </a:t>
                </a:r>
                <a14:m>
                  <m:oMath xmlns:m="http://schemas.openxmlformats.org/officeDocument/2006/math">
                    <m:r>
                      <a:rPr lang="en-US" b="0" i="1" smtClean="0">
                        <a:solidFill>
                          <a:schemeClr val="tx1"/>
                        </a:solidFill>
                        <a:latin typeface="Cambria Math" panose="02040503050406030204" pitchFamily="18" charset="0"/>
                        <a:ea typeface="Cambria Math" panose="02040503050406030204" pitchFamily="18" charset="0"/>
                      </a:rPr>
                      <m:t>1×2</m:t>
                    </m:r>
                    <m:r>
                      <a:rPr lang="en-US" b="0" i="1" smtClean="0">
                        <a:solidFill>
                          <a:schemeClr val="tx1"/>
                        </a:solidFill>
                        <a:latin typeface="Cambria Math" panose="02040503050406030204" pitchFamily="18" charset="0"/>
                        <a:ea typeface="Cambria Math" panose="02040503050406030204" pitchFamily="18" charset="0"/>
                      </a:rPr>
                      <m:t>𝜋</m:t>
                    </m:r>
                    <m:r>
                      <a:rPr lang="en-US" b="0" i="1" smtClean="0">
                        <a:solidFill>
                          <a:schemeClr val="tx1"/>
                        </a:solidFill>
                        <a:latin typeface="Cambria Math" panose="02040503050406030204" pitchFamily="18" charset="0"/>
                        <a:ea typeface="Cambria Math" panose="02040503050406030204" pitchFamily="18" charset="0"/>
                      </a:rPr>
                      <m:t>/4=</m:t>
                    </m:r>
                    <m:r>
                      <a:rPr lang="en-US" b="0" i="1" smtClean="0">
                        <a:solidFill>
                          <a:schemeClr val="tx1"/>
                        </a:solidFill>
                        <a:latin typeface="Cambria Math" panose="02040503050406030204" pitchFamily="18" charset="0"/>
                        <a:ea typeface="Cambria Math" panose="02040503050406030204" pitchFamily="18" charset="0"/>
                      </a:rPr>
                      <m:t>𝜋</m:t>
                    </m:r>
                    <m:r>
                      <a:rPr lang="en-US" b="0" i="1" smtClean="0">
                        <a:solidFill>
                          <a:schemeClr val="tx1"/>
                        </a:solidFill>
                        <a:latin typeface="Cambria Math" panose="02040503050406030204" pitchFamily="18" charset="0"/>
                        <a:ea typeface="Cambria Math" panose="02040503050406030204" pitchFamily="18" charset="0"/>
                      </a:rPr>
                      <m:t>/2</m:t>
                    </m:r>
                  </m:oMath>
                </a14:m>
                <a:r>
                  <a:rPr lang="el-GR" b="0" dirty="0"/>
                  <a:t>.</a:t>
                </a:r>
              </a:p>
              <a:p>
                <a:pPr marL="628650" lvl="1" indent="-171450" algn="just">
                  <a:buFont typeface="Arial" panose="020B0604020202020204" pitchFamily="34" charset="0"/>
                  <a:buChar char="•"/>
                </a:pPr>
                <a:r>
                  <a:rPr lang="en-ZA" dirty="0"/>
                  <a:t>For the state ∣10⟩, the coefficients alternate between 1 and −1:</a:t>
                </a:r>
                <a:r>
                  <a:rPr lang="en-ZA" baseline="0" dirty="0"/>
                  <a:t> </a:t>
                </a:r>
                <a14:m>
                  <m:oMath xmlns:m="http://schemas.openxmlformats.org/officeDocument/2006/math">
                    <m:r>
                      <a:rPr lang="en-US" b="0" i="1" smtClean="0">
                        <a:solidFill>
                          <a:schemeClr val="tx1"/>
                        </a:solidFill>
                        <a:latin typeface="Cambria Math" panose="02040503050406030204" pitchFamily="18" charset="0"/>
                        <a:ea typeface="Cambria Math" panose="02040503050406030204" pitchFamily="18" charset="0"/>
                      </a:rPr>
                      <m:t>1,−1,1.−1</m:t>
                    </m:r>
                  </m:oMath>
                </a14:m>
                <a:r>
                  <a:rPr lang="en-ZA" b="0" dirty="0"/>
                  <a:t>, </a:t>
                </a:r>
                <a:r>
                  <a:rPr lang="en-ZA" dirty="0"/>
                  <a:t>with angular steps of </a:t>
                </a:r>
                <a14:m>
                  <m:oMath xmlns:m="http://schemas.openxmlformats.org/officeDocument/2006/math">
                    <m:r>
                      <a:rPr lang="en-US" b="0" i="1" smtClean="0">
                        <a:solidFill>
                          <a:schemeClr val="tx1"/>
                        </a:solidFill>
                        <a:latin typeface="Cambria Math" panose="02040503050406030204" pitchFamily="18" charset="0"/>
                        <a:ea typeface="Cambria Math" panose="02040503050406030204" pitchFamily="18" charset="0"/>
                      </a:rPr>
                      <m:t>2×2</m:t>
                    </m:r>
                    <m:r>
                      <a:rPr lang="en-US" b="0" i="1" smtClean="0">
                        <a:solidFill>
                          <a:schemeClr val="tx1"/>
                        </a:solidFill>
                        <a:latin typeface="Cambria Math" panose="02040503050406030204" pitchFamily="18" charset="0"/>
                        <a:ea typeface="Cambria Math" panose="02040503050406030204" pitchFamily="18" charset="0"/>
                      </a:rPr>
                      <m:t>𝜋</m:t>
                    </m:r>
                    <m:r>
                      <a:rPr lang="en-US" b="0" i="1" smtClean="0">
                        <a:solidFill>
                          <a:schemeClr val="tx1"/>
                        </a:solidFill>
                        <a:latin typeface="Cambria Math" panose="02040503050406030204" pitchFamily="18" charset="0"/>
                        <a:ea typeface="Cambria Math" panose="02040503050406030204" pitchFamily="18" charset="0"/>
                      </a:rPr>
                      <m:t>/4=</m:t>
                    </m:r>
                    <m:r>
                      <a:rPr lang="en-US" b="0" i="1" smtClean="0">
                        <a:solidFill>
                          <a:schemeClr val="tx1"/>
                        </a:solidFill>
                        <a:latin typeface="Cambria Math" panose="02040503050406030204" pitchFamily="18" charset="0"/>
                        <a:ea typeface="Cambria Math" panose="02040503050406030204" pitchFamily="18" charset="0"/>
                      </a:rPr>
                      <m:t>𝜋</m:t>
                    </m:r>
                  </m:oMath>
                </a14:m>
                <a:r>
                  <a:rPr lang="el-GR" b="0" dirty="0"/>
                  <a:t>.</a:t>
                </a:r>
              </a:p>
              <a:p>
                <a:pPr marL="628650" lvl="1" indent="-171450" algn="just">
                  <a:buFont typeface="Arial" panose="020B0604020202020204" pitchFamily="34" charset="0"/>
                  <a:buChar char="•"/>
                </a:pPr>
                <a:r>
                  <a:rPr lang="en-ZA" dirty="0"/>
                  <a:t>For the state ∣11⟩, the coefficients progress through</a:t>
                </a:r>
                <a:r>
                  <a:rPr lang="en-ZA" b="0" dirty="0"/>
                  <a:t> </a:t>
                </a:r>
                <a14:m>
                  <m:oMath xmlns:m="http://schemas.openxmlformats.org/officeDocument/2006/math">
                    <m:r>
                      <a:rPr lang="en-US" b="0" i="1" smtClean="0">
                        <a:solidFill>
                          <a:schemeClr val="tx1"/>
                        </a:solidFill>
                        <a:latin typeface="Cambria Math" panose="02040503050406030204" pitchFamily="18" charset="0"/>
                        <a:ea typeface="Cambria Math" panose="02040503050406030204" pitchFamily="18" charset="0"/>
                      </a:rPr>
                      <m:t>1,−</m:t>
                    </m:r>
                    <m:r>
                      <a:rPr lang="en-US" b="0" i="1" smtClean="0">
                        <a:solidFill>
                          <a:schemeClr val="tx1"/>
                        </a:solidFill>
                        <a:latin typeface="Cambria Math" panose="02040503050406030204" pitchFamily="18" charset="0"/>
                        <a:ea typeface="Cambria Math" panose="02040503050406030204" pitchFamily="18" charset="0"/>
                      </a:rPr>
                      <m:t>𝑖</m:t>
                    </m:r>
                    <m:r>
                      <a:rPr lang="en-US" b="0" i="1" smtClean="0">
                        <a:solidFill>
                          <a:schemeClr val="tx1"/>
                        </a:solidFill>
                        <a:latin typeface="Cambria Math" panose="02040503050406030204" pitchFamily="18" charset="0"/>
                        <a:ea typeface="Cambria Math" panose="02040503050406030204" pitchFamily="18" charset="0"/>
                      </a:rPr>
                      <m:t>,−1,</m:t>
                    </m:r>
                    <m:r>
                      <a:rPr lang="en-US" b="0" i="1" smtClean="0">
                        <a:solidFill>
                          <a:schemeClr val="tx1"/>
                        </a:solidFill>
                        <a:latin typeface="Cambria Math" panose="02040503050406030204" pitchFamily="18" charset="0"/>
                        <a:ea typeface="Cambria Math" panose="02040503050406030204" pitchFamily="18" charset="0"/>
                      </a:rPr>
                      <m:t>𝑖</m:t>
                    </m:r>
                  </m:oMath>
                </a14:m>
                <a:r>
                  <a:rPr lang="en-ZA" b="0" dirty="0"/>
                  <a:t>, </a:t>
                </a:r>
                <a:r>
                  <a:rPr lang="en-ZA" dirty="0"/>
                  <a:t>with angular steps of </a:t>
                </a:r>
                <a14:m>
                  <m:oMath xmlns:m="http://schemas.openxmlformats.org/officeDocument/2006/math">
                    <m:r>
                      <a:rPr lang="en-US" b="0" i="1" smtClean="0">
                        <a:solidFill>
                          <a:schemeClr val="tx1"/>
                        </a:solidFill>
                        <a:latin typeface="Cambria Math" panose="02040503050406030204" pitchFamily="18" charset="0"/>
                        <a:ea typeface="Cambria Math" panose="02040503050406030204" pitchFamily="18" charset="0"/>
                      </a:rPr>
                      <m:t>3×2</m:t>
                    </m:r>
                    <m:r>
                      <a:rPr lang="en-US" b="0" i="1" smtClean="0">
                        <a:solidFill>
                          <a:schemeClr val="tx1"/>
                        </a:solidFill>
                        <a:latin typeface="Cambria Math" panose="02040503050406030204" pitchFamily="18" charset="0"/>
                        <a:ea typeface="Cambria Math" panose="02040503050406030204" pitchFamily="18" charset="0"/>
                      </a:rPr>
                      <m:t>𝜋</m:t>
                    </m:r>
                    <m:r>
                      <a:rPr lang="en-US" b="0" i="1" smtClean="0">
                        <a:solidFill>
                          <a:schemeClr val="tx1"/>
                        </a:solidFill>
                        <a:latin typeface="Cambria Math" panose="02040503050406030204" pitchFamily="18" charset="0"/>
                        <a:ea typeface="Cambria Math" panose="02040503050406030204" pitchFamily="18" charset="0"/>
                      </a:rPr>
                      <m:t>/4=3</m:t>
                    </m:r>
                    <m:r>
                      <a:rPr lang="en-US" b="0" i="1" smtClean="0">
                        <a:solidFill>
                          <a:schemeClr val="tx1"/>
                        </a:solidFill>
                        <a:latin typeface="Cambria Math" panose="02040503050406030204" pitchFamily="18" charset="0"/>
                        <a:ea typeface="Cambria Math" panose="02040503050406030204" pitchFamily="18" charset="0"/>
                      </a:rPr>
                      <m:t>𝜋</m:t>
                    </m:r>
                    <m:r>
                      <a:rPr lang="en-US" b="0" i="1" smtClean="0">
                        <a:solidFill>
                          <a:schemeClr val="tx1"/>
                        </a:solidFill>
                        <a:latin typeface="Cambria Math" panose="02040503050406030204" pitchFamily="18" charset="0"/>
                        <a:ea typeface="Cambria Math" panose="02040503050406030204" pitchFamily="18" charset="0"/>
                      </a:rPr>
                      <m:t>/2</m:t>
                    </m:r>
                  </m:oMath>
                </a14:m>
                <a:endParaRPr lang="en-US" b="0" dirty="0"/>
              </a:p>
              <a:p>
                <a:pPr marL="171450" indent="-171450" algn="just">
                  <a:buFont typeface="Arial" panose="020B0604020202020204" pitchFamily="34" charset="0"/>
                  <a:buChar char="•"/>
                </a:pPr>
                <a:endParaRPr lang="el-GR" b="0" dirty="0"/>
              </a:p>
              <a:p>
                <a:pPr algn="just"/>
                <a:r>
                  <a:rPr lang="en-ZA" b="0" dirty="0"/>
                  <a:t>This behaviour illustrates how different computational basis states are transformed into different phase patterns by the QFT.</a:t>
                </a:r>
              </a:p>
            </p:txBody>
          </p:sp>
        </mc:Choice>
        <mc:Fallback xmlns="">
          <p:sp>
            <p:nvSpPr>
              <p:cNvPr id="3" name="Notes Placeholder 2"/>
              <p:cNvSpPr>
                <a:spLocks noGrp="1"/>
              </p:cNvSpPr>
              <p:nvPr>
                <p:ph type="body" idx="1"/>
              </p:nvPr>
            </p:nvSpPr>
            <p:spPr/>
            <p:txBody>
              <a:bodyPr/>
              <a:lstStyle/>
              <a:p>
                <a:r>
                  <a:rPr lang="en-US" sz="2200" dirty="0"/>
                  <a:t>The Quantum Fourier Transform has the same form as the classical DTF. By using the same formula instead of a data points It maps a quantum state to another quantum state.</a:t>
                </a:r>
              </a:p>
              <a:p>
                <a:pPr marL="457200" indent="-457200">
                  <a:buFont typeface="+mj-lt"/>
                  <a:buAutoNum type="arabicPeriod"/>
                </a:pPr>
                <a:r>
                  <a:rPr lang="en-US" sz="2200" dirty="0"/>
                  <a:t>Let’s calculate QFT for 1 qubit. One qubit has two states, so N=2. According to formula, by calculating summation for y=0 and y =1, we get the formula at the end of the first lane. From here we can get an interesting result. </a:t>
                </a:r>
              </a:p>
              <a:p>
                <a:pPr marL="457200" indent="-457200">
                  <a:buFont typeface="+mj-lt"/>
                  <a:buAutoNum type="arabicPeriod"/>
                </a:pPr>
                <a:r>
                  <a:rPr lang="en-US" sz="2200" dirty="0"/>
                  <a:t>Having in mind that ‘I to the power</a:t>
                </a:r>
                <a:r>
                  <a:rPr lang="en-US" sz="2200" baseline="0" dirty="0"/>
                  <a:t> of </a:t>
                </a:r>
                <a:r>
                  <a:rPr lang="en-US" sz="2000" i="0">
                    <a:solidFill>
                      <a:srgbClr val="002060"/>
                    </a:solidFill>
                    <a:latin typeface="Cambria Math" panose="02040503050406030204" pitchFamily="18" charset="0"/>
                    <a:ea typeface="Cambria Math" panose="02040503050406030204" pitchFamily="18" charset="0"/>
                  </a:rPr>
                  <a:t>±𝑖𝜋</a:t>
                </a:r>
                <a:r>
                  <a:rPr lang="en-US" sz="2200" baseline="0" dirty="0"/>
                  <a:t>’ is </a:t>
                </a:r>
                <a:r>
                  <a:rPr lang="en-US" sz="2400" i="0">
                    <a:solidFill>
                      <a:srgbClr val="002060"/>
                    </a:solidFill>
                    <a:latin typeface="Cambria Math" panose="02040503050406030204" pitchFamily="18" charset="0"/>
                    <a:ea typeface="Cambria Math" panose="02040503050406030204" pitchFamily="18" charset="0"/>
                  </a:rPr>
                  <a:t>±</a:t>
                </a:r>
                <a:r>
                  <a:rPr lang="en-US" sz="2400" b="0" i="0">
                    <a:solidFill>
                      <a:srgbClr val="002060"/>
                    </a:solidFill>
                    <a:latin typeface="Cambria Math" panose="02040503050406030204" pitchFamily="18" charset="0"/>
                    <a:ea typeface="Cambria Math" panose="02040503050406030204" pitchFamily="18" charset="0"/>
                  </a:rPr>
                  <a:t>1</a:t>
                </a:r>
                <a:r>
                  <a:rPr lang="en-US" sz="2200" baseline="0" dirty="0"/>
                  <a:t>, we get that the </a:t>
                </a:r>
                <a:r>
                  <a:rPr lang="en-US" sz="2200" dirty="0"/>
                  <a:t>QFT of </a:t>
                </a:r>
                <a:r>
                  <a:rPr lang="en-US" sz="2000" i="0">
                    <a:solidFill>
                      <a:srgbClr val="002060"/>
                    </a:solidFill>
                    <a:latin typeface="Cambria Math" panose="02040503050406030204" pitchFamily="18" charset="0"/>
                    <a:ea typeface="Cambria Math" panose="02040503050406030204" pitchFamily="18" charset="0"/>
                  </a:rPr>
                  <a:t>|├ 0⟩</a:t>
                </a:r>
                <a:r>
                  <a:rPr lang="en-US" sz="2200" dirty="0"/>
                  <a:t> is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a:t>
                </a:r>
                <a:r>
                  <a:rPr lang="en-US" sz="2200" dirty="0"/>
                  <a:t> and QFT of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1⟩</a:t>
                </a:r>
                <a:r>
                  <a:rPr lang="en-US" sz="2200" dirty="0"/>
                  <a:t> is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a:t>
                </a:r>
                <a:r>
                  <a:rPr lang="en-US" sz="2200" dirty="0"/>
                  <a:t>.</a:t>
                </a:r>
                <a:r>
                  <a:rPr lang="en-US" sz="2200" baseline="0" dirty="0"/>
                  <a:t> In other words, </a:t>
                </a:r>
                <a:r>
                  <a:rPr lang="en-US" sz="2400" baseline="0" dirty="0"/>
                  <a:t>t</a:t>
                </a:r>
                <a:r>
                  <a:rPr lang="en-US" sz="2400" dirty="0"/>
                  <a:t>he H-gate is the single-qubit QFT</a:t>
                </a:r>
                <a:r>
                  <a:rPr lang="en-US" sz="2200" baseline="0" dirty="0"/>
                  <a:t>.</a:t>
                </a:r>
              </a:p>
              <a:p>
                <a:r>
                  <a:rPr lang="en-US" sz="2200" baseline="0" dirty="0"/>
                  <a:t>But, we must be careful here as this is not the general case as we’ll see in the moment.</a:t>
                </a:r>
              </a:p>
              <a:p>
                <a:endParaRPr lang="en-US" sz="2200" baseline="0" dirty="0"/>
              </a:p>
              <a:p>
                <a:r>
                  <a:rPr lang="en-US" sz="2200" baseline="0" dirty="0"/>
                  <a:t>https://</a:t>
                </a:r>
                <a:r>
                  <a:rPr lang="en-US" sz="2200" baseline="0" dirty="0" err="1"/>
                  <a:t>qiskit.org</a:t>
                </a:r>
                <a:r>
                  <a:rPr lang="en-US" sz="2200" baseline="0" dirty="0"/>
                  <a:t>/textbook/</a:t>
                </a:r>
                <a:r>
                  <a:rPr lang="en-US" sz="2200" baseline="0" dirty="0" err="1"/>
                  <a:t>ch</a:t>
                </a:r>
                <a:r>
                  <a:rPr lang="en-US" sz="2200" baseline="0" dirty="0"/>
                  <a:t>-algorithms/quantum-</a:t>
                </a:r>
                <a:r>
                  <a:rPr lang="en-US" sz="2200" baseline="0" dirty="0" err="1"/>
                  <a:t>fourier</a:t>
                </a:r>
                <a:r>
                  <a:rPr lang="en-US" sz="2200" baseline="0" dirty="0"/>
                  <a:t>-</a:t>
                </a:r>
                <a:r>
                  <a:rPr lang="en-US" sz="2200" baseline="0" dirty="0" err="1"/>
                  <a:t>transform.html</a:t>
                </a:r>
                <a:endParaRPr lang="en-US" sz="2200" baseline="0" dirty="0"/>
              </a:p>
              <a:p>
                <a:r>
                  <a:rPr lang="en-US" sz="2200" baseline="0" dirty="0"/>
                  <a:t>Note: https://</a:t>
                </a:r>
                <a:r>
                  <a:rPr lang="en-US" sz="2200" baseline="0" dirty="0" err="1"/>
                  <a:t>youtu.be</a:t>
                </a:r>
                <a:r>
                  <a:rPr lang="en-US" sz="2200" baseline="0" dirty="0"/>
                  <a:t>/pq2jkfJlLmY</a:t>
                </a:r>
                <a:endParaRPr lang="en-US" sz="22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60</a:t>
            </a:fld>
            <a:endParaRPr lang="en-US"/>
          </a:p>
        </p:txBody>
      </p:sp>
    </p:spTree>
    <p:extLst>
      <p:ext uri="{BB962C8B-B14F-4D97-AF65-F5344CB8AC3E}">
        <p14:creationId xmlns:p14="http://schemas.microsoft.com/office/powerpoint/2010/main" val="356498008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To implement the QFT on a quantum computer, this mathematical transformation must be expressed as a sequence of quantum gates</a:t>
                </a:r>
                <a:r>
                  <a:rPr lang="en-ZA" b="0" dirty="0"/>
                  <a:t>. Don Coppersmith showed how the QFT can be efficiently decomposed using Hadamard gates and controlled phase rotations. He also described an approximate version in which very small phase rotations can be omitted, reducing the complexity of the circuit while introducing only a small approximation error.</a:t>
                </a:r>
              </a:p>
              <a:p>
                <a:pPr algn="just"/>
                <a:endParaRPr lang="en-ZA" b="0" dirty="0"/>
              </a:p>
              <a:p>
                <a:pPr algn="just"/>
                <a:r>
                  <a:rPr lang="en-ZA" b="0" dirty="0"/>
                  <a:t>The formula shows that each output qubit is placed into a superposition, with its relative phase determined by a binary fraction formed from the input bits. This binary fraction is written as</a:t>
                </a:r>
              </a:p>
              <a:p>
                <a:pPr algn="just"/>
                <a:endParaRPr lang="en-ZA" dirty="0">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 </m:t>
                      </m:r>
                      <m:r>
                        <a:rPr lang="en-ZA" sz="1200" i="1">
                          <a:latin typeface="Cambria Math" panose="02040503050406030204" pitchFamily="18" charset="0"/>
                        </a:rPr>
                        <m:t>0.</m:t>
                      </m:r>
                      <m:sSub>
                        <m:sSubPr>
                          <m:ctrlPr>
                            <a:rPr lang="en-ZA" sz="1200" i="1">
                              <a:latin typeface="Cambria Math" panose="02040503050406030204" pitchFamily="18" charset="0"/>
                            </a:rPr>
                          </m:ctrlPr>
                        </m:sSubPr>
                        <m:e>
                          <m:r>
                            <a:rPr lang="en-ZA" sz="1200" i="1">
                              <a:latin typeface="Cambria Math" panose="02040503050406030204" pitchFamily="18" charset="0"/>
                            </a:rPr>
                            <m:t>𝑥</m:t>
                          </m:r>
                        </m:e>
                        <m:sub>
                          <m:r>
                            <a:rPr lang="en-US" sz="1200" b="0" i="1" smtClean="0">
                              <a:latin typeface="Cambria Math" panose="02040503050406030204" pitchFamily="18" charset="0"/>
                            </a:rPr>
                            <m:t>𝑘</m:t>
                          </m:r>
                        </m:sub>
                      </m:sSub>
                      <m:sSub>
                        <m:sSubPr>
                          <m:ctrlPr>
                            <a:rPr lang="en-ZA" sz="1200" i="1">
                              <a:latin typeface="Cambria Math" panose="02040503050406030204" pitchFamily="18" charset="0"/>
                            </a:rPr>
                          </m:ctrlPr>
                        </m:sSubPr>
                        <m:e>
                          <m:r>
                            <a:rPr lang="en-ZA" sz="1200" i="1">
                              <a:latin typeface="Cambria Math" panose="02040503050406030204" pitchFamily="18" charset="0"/>
                            </a:rPr>
                            <m:t>𝑥</m:t>
                          </m:r>
                        </m:e>
                        <m:sub>
                          <m:r>
                            <a:rPr lang="en-US" sz="1200" b="0" i="1" smtClean="0">
                              <a:latin typeface="Cambria Math" panose="02040503050406030204" pitchFamily="18" charset="0"/>
                            </a:rPr>
                            <m:t>𝑘</m:t>
                          </m:r>
                          <m:r>
                            <a:rPr lang="en-US" sz="1200" b="0" i="1" smtClean="0">
                              <a:latin typeface="Cambria Math" panose="02040503050406030204" pitchFamily="18" charset="0"/>
                            </a:rPr>
                            <m:t>+1</m:t>
                          </m:r>
                        </m:sub>
                      </m:sSub>
                      <m:r>
                        <a:rPr lang="en-ZA" sz="1200" i="1">
                          <a:latin typeface="Cambria Math" panose="02040503050406030204" pitchFamily="18" charset="0"/>
                        </a:rPr>
                        <m:t>⋯</m:t>
                      </m:r>
                      <m:sSub>
                        <m:sSubPr>
                          <m:ctrlPr>
                            <a:rPr lang="en-ZA" sz="1200" i="1">
                              <a:latin typeface="Cambria Math" panose="02040503050406030204" pitchFamily="18" charset="0"/>
                            </a:rPr>
                          </m:ctrlPr>
                        </m:sSubPr>
                        <m:e>
                          <m:r>
                            <a:rPr lang="en-ZA" sz="1200" i="1">
                              <a:latin typeface="Cambria Math" panose="02040503050406030204" pitchFamily="18" charset="0"/>
                            </a:rPr>
                            <m:t>𝑥</m:t>
                          </m:r>
                        </m:e>
                        <m:sub>
                          <m:r>
                            <a:rPr lang="en-US" sz="1200" i="1">
                              <a:latin typeface="Cambria Math" panose="02040503050406030204" pitchFamily="18" charset="0"/>
                            </a:rPr>
                            <m:t>𝑛</m:t>
                          </m:r>
                        </m:sub>
                      </m:sSub>
                      <m:r>
                        <a:rPr lang="en-ZA" sz="1200" i="1">
                          <a:latin typeface="Cambria Math" panose="02040503050406030204" pitchFamily="18" charset="0"/>
                        </a:rPr>
                        <m:t>=</m:t>
                      </m:r>
                      <m:f>
                        <m:fPr>
                          <m:ctrlPr>
                            <a:rPr lang="en-ZA" sz="1200" i="1">
                              <a:latin typeface="Cambria Math" panose="02040503050406030204" pitchFamily="18" charset="0"/>
                            </a:rPr>
                          </m:ctrlPr>
                        </m:fPr>
                        <m:num>
                          <m:sSub>
                            <m:sSubPr>
                              <m:ctrlPr>
                                <a:rPr lang="en-ZA" sz="1200" i="1">
                                  <a:latin typeface="Cambria Math" panose="02040503050406030204" pitchFamily="18" charset="0"/>
                                </a:rPr>
                              </m:ctrlPr>
                            </m:sSubPr>
                            <m:e>
                              <m:r>
                                <a:rPr lang="en-ZA" sz="1200" i="1">
                                  <a:latin typeface="Cambria Math" panose="02040503050406030204" pitchFamily="18" charset="0"/>
                                </a:rPr>
                                <m:t>𝑥</m:t>
                              </m:r>
                            </m:e>
                            <m:sub>
                              <m:r>
                                <a:rPr lang="en-US" sz="1200" b="0" i="1" smtClean="0">
                                  <a:latin typeface="Cambria Math" panose="02040503050406030204" pitchFamily="18" charset="0"/>
                                </a:rPr>
                                <m:t>𝑘</m:t>
                              </m:r>
                            </m:sub>
                          </m:sSub>
                        </m:num>
                        <m:den>
                          <m:r>
                            <a:rPr lang="en-ZA" sz="1200" i="1">
                              <a:latin typeface="Cambria Math" panose="02040503050406030204" pitchFamily="18" charset="0"/>
                            </a:rPr>
                            <m:t>2</m:t>
                          </m:r>
                        </m:den>
                      </m:f>
                      <m:r>
                        <a:rPr lang="en-ZA" sz="1200" i="1">
                          <a:latin typeface="Cambria Math" panose="02040503050406030204" pitchFamily="18" charset="0"/>
                        </a:rPr>
                        <m:t>+</m:t>
                      </m:r>
                      <m:f>
                        <m:fPr>
                          <m:ctrlPr>
                            <a:rPr lang="en-ZA" sz="1200" i="1">
                              <a:latin typeface="Cambria Math" panose="02040503050406030204" pitchFamily="18" charset="0"/>
                            </a:rPr>
                          </m:ctrlPr>
                        </m:fPr>
                        <m:num>
                          <m:sSub>
                            <m:sSubPr>
                              <m:ctrlPr>
                                <a:rPr lang="en-ZA" sz="1200" i="1">
                                  <a:latin typeface="Cambria Math" panose="02040503050406030204" pitchFamily="18" charset="0"/>
                                </a:rPr>
                              </m:ctrlPr>
                            </m:sSubPr>
                            <m:e>
                              <m:r>
                                <a:rPr lang="en-ZA" sz="1200" i="1">
                                  <a:latin typeface="Cambria Math" panose="02040503050406030204" pitchFamily="18" charset="0"/>
                                </a:rPr>
                                <m:t>𝑥</m:t>
                              </m:r>
                            </m:e>
                            <m:sub>
                              <m:r>
                                <a:rPr lang="en-US" sz="1200" b="0" i="1" smtClean="0">
                                  <a:latin typeface="Cambria Math" panose="02040503050406030204" pitchFamily="18" charset="0"/>
                                </a:rPr>
                                <m:t>𝑘</m:t>
                              </m:r>
                              <m:r>
                                <a:rPr lang="en-US" sz="1200" b="0" i="1" smtClean="0">
                                  <a:latin typeface="Cambria Math" panose="02040503050406030204" pitchFamily="18" charset="0"/>
                                </a:rPr>
                                <m:t>+1</m:t>
                              </m:r>
                            </m:sub>
                          </m:sSub>
                        </m:num>
                        <m:den>
                          <m:r>
                            <a:rPr lang="en-ZA" sz="1200" i="1">
                              <a:latin typeface="Cambria Math" panose="02040503050406030204" pitchFamily="18" charset="0"/>
                            </a:rPr>
                            <m:t>4</m:t>
                          </m:r>
                        </m:den>
                      </m:f>
                      <m:r>
                        <a:rPr lang="en-ZA" sz="1200" i="1">
                          <a:latin typeface="Cambria Math" panose="02040503050406030204" pitchFamily="18" charset="0"/>
                        </a:rPr>
                        <m:t>+⋯</m:t>
                      </m:r>
                      <m:r>
                        <a:rPr lang="en-US" sz="1200" b="0" i="1" smtClean="0">
                          <a:latin typeface="Cambria Math" panose="02040503050406030204" pitchFamily="18" charset="0"/>
                        </a:rPr>
                        <m:t>+</m:t>
                      </m:r>
                      <m:f>
                        <m:fPr>
                          <m:ctrlPr>
                            <a:rPr lang="en-ZA" sz="1200" i="1">
                              <a:latin typeface="Cambria Math" panose="02040503050406030204" pitchFamily="18" charset="0"/>
                            </a:rPr>
                          </m:ctrlPr>
                        </m:fPr>
                        <m:num>
                          <m:sSub>
                            <m:sSubPr>
                              <m:ctrlPr>
                                <a:rPr lang="en-ZA" sz="1200" i="1">
                                  <a:latin typeface="Cambria Math" panose="02040503050406030204" pitchFamily="18" charset="0"/>
                                </a:rPr>
                              </m:ctrlPr>
                            </m:sSubPr>
                            <m:e>
                              <m:r>
                                <a:rPr lang="en-ZA" sz="1200" i="1">
                                  <a:latin typeface="Cambria Math" panose="02040503050406030204" pitchFamily="18" charset="0"/>
                                </a:rPr>
                                <m:t>𝑥</m:t>
                              </m:r>
                            </m:e>
                            <m:sub>
                              <m:r>
                                <a:rPr lang="en-US" sz="1200" b="0" i="1" smtClean="0">
                                  <a:latin typeface="Cambria Math" panose="02040503050406030204" pitchFamily="18" charset="0"/>
                                </a:rPr>
                                <m:t>𝑛</m:t>
                              </m:r>
                            </m:sub>
                          </m:sSub>
                        </m:num>
                        <m:den>
                          <m:sSup>
                            <m:sSupPr>
                              <m:ctrlPr>
                                <a:rPr lang="en-ZA" sz="1200" i="1" smtClean="0">
                                  <a:latin typeface="Cambria Math" panose="02040503050406030204" pitchFamily="18" charset="0"/>
                                </a:rPr>
                              </m:ctrlPr>
                            </m:sSupPr>
                            <m:e>
                              <m:r>
                                <a:rPr lang="en-US" sz="1200" b="0" i="1" smtClean="0">
                                  <a:latin typeface="Cambria Math" panose="02040503050406030204" pitchFamily="18" charset="0"/>
                                </a:rPr>
                                <m:t>2</m:t>
                              </m:r>
                            </m:e>
                            <m:sup>
                              <m:r>
                                <a:rPr lang="en-US" sz="1200" b="0" i="1" smtClean="0">
                                  <a:latin typeface="Cambria Math" panose="02040503050406030204" pitchFamily="18" charset="0"/>
                                </a:rPr>
                                <m:t>𝑛</m:t>
                              </m:r>
                              <m:r>
                                <a:rPr lang="en-US" sz="1200" b="0" i="1" smtClean="0">
                                  <a:latin typeface="Cambria Math" panose="02040503050406030204" pitchFamily="18" charset="0"/>
                                </a:rPr>
                                <m:t>−</m:t>
                              </m:r>
                              <m:r>
                                <a:rPr lang="en-US" sz="1200" b="0" i="1" smtClean="0">
                                  <a:latin typeface="Cambria Math" panose="02040503050406030204" pitchFamily="18" charset="0"/>
                                </a:rPr>
                                <m:t>𝑘</m:t>
                              </m:r>
                              <m:r>
                                <a:rPr lang="en-US" sz="1200" b="0" i="1" smtClean="0">
                                  <a:latin typeface="Cambria Math" panose="02040503050406030204" pitchFamily="18" charset="0"/>
                                </a:rPr>
                                <m:t>+1</m:t>
                              </m:r>
                            </m:sup>
                          </m:sSup>
                        </m:den>
                      </m:f>
                    </m:oMath>
                  </m:oMathPara>
                </a14:m>
                <a:endParaRPr lang="en-ZA" dirty="0">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ZA" dirty="0">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The first output qubit depends on all the input bits, with the phase factor</a:t>
                </a:r>
                <a:br>
                  <a:rPr lang="en-ZA" dirty="0"/>
                </a:br>
                <a14:m>
                  <m:oMath xmlns:m="http://schemas.openxmlformats.org/officeDocument/2006/math">
                    <m:sSup>
                      <m:sSupPr>
                        <m:ctrlPr>
                          <a:rPr lang="en-ZA" sz="1200" i="1" smtClean="0">
                            <a:latin typeface="Cambria Math" panose="02040503050406030204" pitchFamily="18" charset="0"/>
                          </a:rPr>
                        </m:ctrlPr>
                      </m:sSupPr>
                      <m:e>
                        <m:r>
                          <a:rPr lang="en-ZA" sz="1200" i="1">
                            <a:latin typeface="Cambria Math" panose="02040503050406030204" pitchFamily="18" charset="0"/>
                          </a:rPr>
                          <m:t>𝑒</m:t>
                        </m:r>
                      </m:e>
                      <m:sup>
                        <m:r>
                          <a:rPr lang="en-ZA" sz="1200" i="1">
                            <a:latin typeface="Cambria Math" panose="02040503050406030204" pitchFamily="18" charset="0"/>
                          </a:rPr>
                          <m:t>2</m:t>
                        </m:r>
                        <m:r>
                          <a:rPr lang="en-ZA" sz="1200" i="1">
                            <a:latin typeface="Cambria Math" panose="02040503050406030204" pitchFamily="18" charset="0"/>
                          </a:rPr>
                          <m:t>𝜋</m:t>
                        </m:r>
                        <m:r>
                          <a:rPr lang="en-ZA" sz="1200" i="1">
                            <a:latin typeface="Cambria Math" panose="02040503050406030204" pitchFamily="18" charset="0"/>
                          </a:rPr>
                          <m:t>𝑖</m:t>
                        </m:r>
                        <m:sSub>
                          <m:sSubPr>
                            <m:ctrlPr>
                              <a:rPr lang="en-ZA" sz="1200" i="1" smtClean="0">
                                <a:latin typeface="Cambria Math" panose="02040503050406030204" pitchFamily="18" charset="0"/>
                              </a:rPr>
                            </m:ctrlPr>
                          </m:sSubPr>
                          <m:e>
                            <m:r>
                              <a:rPr lang="en-US" sz="1200" b="0" i="1" smtClean="0">
                                <a:latin typeface="Cambria Math" panose="02040503050406030204" pitchFamily="18" charset="0"/>
                              </a:rPr>
                              <m:t>(</m:t>
                            </m:r>
                            <m:r>
                              <a:rPr lang="en-ZA" sz="1200" i="1">
                                <a:latin typeface="Cambria Math" panose="02040503050406030204" pitchFamily="18" charset="0"/>
                              </a:rPr>
                              <m:t>𝑥</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/2</m:t>
                        </m:r>
                        <m:sSub>
                          <m:sSubPr>
                            <m:ctrlPr>
                              <a:rPr lang="en-ZA" sz="1200" i="1" smtClean="0">
                                <a:latin typeface="Cambria Math" panose="02040503050406030204" pitchFamily="18" charset="0"/>
                              </a:rPr>
                            </m:ctrlPr>
                          </m:sSubPr>
                          <m:e>
                            <m:r>
                              <a:rPr lang="en-US" sz="1200" b="0" i="1" smtClean="0">
                                <a:latin typeface="Cambria Math" panose="02040503050406030204" pitchFamily="18" charset="0"/>
                              </a:rPr>
                              <m:t>+</m:t>
                            </m:r>
                            <m:r>
                              <a:rPr lang="en-ZA" sz="1200" i="1">
                                <a:latin typeface="Cambria Math" panose="02040503050406030204" pitchFamily="18" charset="0"/>
                              </a:rPr>
                              <m:t>𝑥</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/4</m:t>
                        </m:r>
                        <m:sSub>
                          <m:sSubPr>
                            <m:ctrlPr>
                              <a:rPr lang="en-ZA" sz="1200" i="1" smtClean="0">
                                <a:latin typeface="Cambria Math" panose="02040503050406030204" pitchFamily="18" charset="0"/>
                              </a:rPr>
                            </m:ctrlPr>
                          </m:sSubPr>
                          <m:e>
                            <m:r>
                              <a:rPr lang="en-US" sz="1200" b="0" i="1" smtClean="0">
                                <a:latin typeface="Cambria Math" panose="02040503050406030204" pitchFamily="18" charset="0"/>
                              </a:rPr>
                              <m:t>+</m:t>
                            </m:r>
                            <m:r>
                              <a:rPr lang="en-ZA" sz="1200" i="1">
                                <a:latin typeface="Cambria Math" panose="02040503050406030204" pitchFamily="18" charset="0"/>
                              </a:rPr>
                              <m:t>𝑥</m:t>
                            </m:r>
                          </m:e>
                          <m:sub>
                            <m:r>
                              <a:rPr lang="en-US" sz="1200" b="0" i="1" smtClean="0">
                                <a:latin typeface="Cambria Math" panose="02040503050406030204" pitchFamily="18" charset="0"/>
                              </a:rPr>
                              <m:t>3</m:t>
                            </m:r>
                          </m:sub>
                        </m:sSub>
                        <m:r>
                          <a:rPr lang="en-US" sz="1200" b="0" i="1" smtClean="0">
                            <a:latin typeface="Cambria Math" panose="02040503050406030204" pitchFamily="18" charset="0"/>
                          </a:rPr>
                          <m:t>/8+</m:t>
                        </m:r>
                        <m:r>
                          <a:rPr lang="en-ZA" sz="1200" i="1" smtClean="0">
                            <a:latin typeface="Cambria Math" panose="02040503050406030204" pitchFamily="18" charset="0"/>
                          </a:rPr>
                          <m:t>⋯</m:t>
                        </m:r>
                        <m:sSub>
                          <m:sSubPr>
                            <m:ctrlPr>
                              <a:rPr lang="en-ZA" sz="1200" i="1" smtClean="0">
                                <a:latin typeface="Cambria Math" panose="02040503050406030204" pitchFamily="18" charset="0"/>
                              </a:rPr>
                            </m:ctrlPr>
                          </m:sSubPr>
                          <m:e>
                            <m:r>
                              <a:rPr lang="en-US" sz="1200" b="0" i="1" smtClean="0">
                                <a:latin typeface="Cambria Math" panose="02040503050406030204" pitchFamily="18" charset="0"/>
                              </a:rPr>
                              <m:t>+</m:t>
                            </m:r>
                            <m:r>
                              <a:rPr lang="en-ZA" sz="1200" i="1">
                                <a:latin typeface="Cambria Math" panose="02040503050406030204" pitchFamily="18" charset="0"/>
                              </a:rPr>
                              <m:t>𝑥</m:t>
                            </m:r>
                          </m:e>
                          <m:sub>
                            <m:r>
                              <a:rPr lang="en-US" sz="1200" b="0" i="1" smtClean="0">
                                <a:latin typeface="Cambria Math" panose="02040503050406030204" pitchFamily="18" charset="0"/>
                              </a:rPr>
                              <m:t>𝑛</m:t>
                            </m:r>
                          </m:sub>
                        </m:sSub>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2</m:t>
                            </m:r>
                          </m:e>
                          <m:sup>
                            <m:r>
                              <a:rPr lang="en-US" sz="1200" b="0" i="1" smtClean="0">
                                <a:latin typeface="Cambria Math" panose="02040503050406030204" pitchFamily="18" charset="0"/>
                              </a:rPr>
                              <m:t>𝑛</m:t>
                            </m:r>
                          </m:sup>
                        </m:sSup>
                        <m:r>
                          <a:rPr lang="en-US" sz="1200" b="0" i="1" smtClean="0">
                            <a:latin typeface="Cambria Math" panose="02040503050406030204" pitchFamily="18" charset="0"/>
                          </a:rPr>
                          <m:t>)</m:t>
                        </m:r>
                      </m:sup>
                    </m:sSup>
                  </m:oMath>
                </a14:m>
                <a:endParaRPr lang="en-ZA" b="0" baseline="0" dirty="0">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The second output qubit depends on one bit less:</a:t>
                </a:r>
                <a:br>
                  <a:rPr lang="en-ZA" dirty="0"/>
                </a:br>
                <a14:m>
                  <m:oMath xmlns:m="http://schemas.openxmlformats.org/officeDocument/2006/math">
                    <m:sSup>
                      <m:sSupPr>
                        <m:ctrlPr>
                          <a:rPr lang="en-ZA" sz="1200" i="1" smtClean="0">
                            <a:latin typeface="Cambria Math" panose="02040503050406030204" pitchFamily="18" charset="0"/>
                          </a:rPr>
                        </m:ctrlPr>
                      </m:sSupPr>
                      <m:e>
                        <m:r>
                          <a:rPr lang="en-ZA" sz="1200" i="1">
                            <a:latin typeface="Cambria Math" panose="02040503050406030204" pitchFamily="18" charset="0"/>
                          </a:rPr>
                          <m:t>𝑒</m:t>
                        </m:r>
                      </m:e>
                      <m:sup>
                        <m:r>
                          <a:rPr lang="en-ZA" sz="1200" i="1">
                            <a:latin typeface="Cambria Math" panose="02040503050406030204" pitchFamily="18" charset="0"/>
                          </a:rPr>
                          <m:t>2</m:t>
                        </m:r>
                        <m:r>
                          <a:rPr lang="en-ZA" sz="1200" i="1">
                            <a:latin typeface="Cambria Math" panose="02040503050406030204" pitchFamily="18" charset="0"/>
                          </a:rPr>
                          <m:t>𝜋</m:t>
                        </m:r>
                        <m:r>
                          <a:rPr lang="en-ZA" sz="1200" i="1">
                            <a:latin typeface="Cambria Math" panose="02040503050406030204" pitchFamily="18" charset="0"/>
                          </a:rPr>
                          <m:t>𝑖</m:t>
                        </m:r>
                        <m:sSub>
                          <m:sSubPr>
                            <m:ctrlPr>
                              <a:rPr lang="en-ZA" sz="1200" i="1" smtClean="0">
                                <a:latin typeface="Cambria Math" panose="02040503050406030204" pitchFamily="18" charset="0"/>
                              </a:rPr>
                            </m:ctrlPr>
                          </m:sSubPr>
                          <m:e>
                            <m:r>
                              <a:rPr lang="en-US" sz="1200" b="0" i="1" smtClean="0">
                                <a:latin typeface="Cambria Math" panose="02040503050406030204" pitchFamily="18" charset="0"/>
                              </a:rPr>
                              <m:t>(</m:t>
                            </m:r>
                            <m:r>
                              <a:rPr lang="en-ZA" sz="1200" i="1">
                                <a:latin typeface="Cambria Math" panose="02040503050406030204" pitchFamily="18" charset="0"/>
                              </a:rPr>
                              <m:t>𝑥</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/2</m:t>
                        </m:r>
                        <m:sSub>
                          <m:sSubPr>
                            <m:ctrlPr>
                              <a:rPr lang="en-ZA" sz="1200" i="1" smtClean="0">
                                <a:latin typeface="Cambria Math" panose="02040503050406030204" pitchFamily="18" charset="0"/>
                              </a:rPr>
                            </m:ctrlPr>
                          </m:sSubPr>
                          <m:e>
                            <m:r>
                              <a:rPr lang="en-US" sz="1200" b="0" i="1" smtClean="0">
                                <a:latin typeface="Cambria Math" panose="02040503050406030204" pitchFamily="18" charset="0"/>
                              </a:rPr>
                              <m:t>+</m:t>
                            </m:r>
                            <m:r>
                              <a:rPr lang="en-ZA" sz="1200" i="1">
                                <a:latin typeface="Cambria Math" panose="02040503050406030204" pitchFamily="18" charset="0"/>
                              </a:rPr>
                              <m:t>𝑥</m:t>
                            </m:r>
                          </m:e>
                          <m:sub>
                            <m:r>
                              <a:rPr lang="en-US" sz="1200" b="0" i="1" smtClean="0">
                                <a:latin typeface="Cambria Math" panose="02040503050406030204" pitchFamily="18" charset="0"/>
                              </a:rPr>
                              <m:t>3</m:t>
                            </m:r>
                          </m:sub>
                        </m:sSub>
                        <m:r>
                          <a:rPr lang="en-US" sz="1200" b="0" i="1" smtClean="0">
                            <a:latin typeface="Cambria Math" panose="02040503050406030204" pitchFamily="18" charset="0"/>
                          </a:rPr>
                          <m:t>/4+</m:t>
                        </m:r>
                        <m:r>
                          <a:rPr lang="en-ZA" sz="1200" i="1" smtClean="0">
                            <a:latin typeface="Cambria Math" panose="02040503050406030204" pitchFamily="18" charset="0"/>
                          </a:rPr>
                          <m:t>⋯</m:t>
                        </m:r>
                        <m:sSub>
                          <m:sSubPr>
                            <m:ctrlPr>
                              <a:rPr lang="en-ZA" sz="1200" i="1" smtClean="0">
                                <a:latin typeface="Cambria Math" panose="02040503050406030204" pitchFamily="18" charset="0"/>
                              </a:rPr>
                            </m:ctrlPr>
                          </m:sSubPr>
                          <m:e>
                            <m:r>
                              <a:rPr lang="en-US" sz="1200" b="0" i="1" smtClean="0">
                                <a:latin typeface="Cambria Math" panose="02040503050406030204" pitchFamily="18" charset="0"/>
                              </a:rPr>
                              <m:t>+</m:t>
                            </m:r>
                            <m:r>
                              <a:rPr lang="en-ZA" sz="1200" i="1">
                                <a:latin typeface="Cambria Math" panose="02040503050406030204" pitchFamily="18" charset="0"/>
                              </a:rPr>
                              <m:t>𝑥</m:t>
                            </m:r>
                          </m:e>
                          <m:sub>
                            <m:r>
                              <a:rPr lang="en-US" sz="1200" b="0" i="1" smtClean="0">
                                <a:latin typeface="Cambria Math" panose="02040503050406030204" pitchFamily="18" charset="0"/>
                              </a:rPr>
                              <m:t>𝑛</m:t>
                            </m:r>
                            <m:r>
                              <a:rPr lang="en-US" sz="1200" b="0" i="1" smtClean="0">
                                <a:latin typeface="Cambria Math" panose="02040503050406030204" pitchFamily="18" charset="0"/>
                              </a:rPr>
                              <m:t>−1</m:t>
                            </m:r>
                          </m:sub>
                        </m:sSub>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2</m:t>
                            </m:r>
                          </m:e>
                          <m:sup>
                            <m:r>
                              <a:rPr lang="en-US" sz="1200" b="0" i="1" smtClean="0">
                                <a:latin typeface="Cambria Math" panose="02040503050406030204" pitchFamily="18" charset="0"/>
                              </a:rPr>
                              <m:t>𝑛</m:t>
                            </m:r>
                            <m:r>
                              <a:rPr lang="en-US" sz="1200" b="0" i="1" smtClean="0">
                                <a:latin typeface="Cambria Math" panose="02040503050406030204" pitchFamily="18" charset="0"/>
                              </a:rPr>
                              <m:t>−1</m:t>
                            </m:r>
                          </m:sup>
                        </m:sSup>
                        <m:r>
                          <a:rPr lang="en-US" sz="1200" b="0" i="1" smtClean="0">
                            <a:latin typeface="Cambria Math" panose="02040503050406030204" pitchFamily="18" charset="0"/>
                          </a:rPr>
                          <m:t>)</m:t>
                        </m:r>
                      </m:sup>
                    </m:sSup>
                  </m:oMath>
                </a14:m>
                <a:endParaRPr lang="en-ZA" b="0" baseline="0" dirty="0">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As we continue, each successive output qubit depends on fewer input bits, until the last output qubit depends only on</a:t>
                </a:r>
                <a14:m>
                  <m:oMath xmlns:m="http://schemas.openxmlformats.org/officeDocument/2006/math">
                    <m:r>
                      <a:rPr lang="en-US" sz="1200" b="0" i="0" smtClean="0">
                        <a:latin typeface="Cambria Math" panose="02040503050406030204" pitchFamily="18" charset="0"/>
                      </a:rPr>
                      <m:t> </m:t>
                    </m:r>
                    <m:sSup>
                      <m:sSupPr>
                        <m:ctrlPr>
                          <a:rPr lang="en-ZA" sz="1200" i="1" smtClean="0">
                            <a:latin typeface="Cambria Math" panose="02040503050406030204" pitchFamily="18" charset="0"/>
                          </a:rPr>
                        </m:ctrlPr>
                      </m:sSupPr>
                      <m:e>
                        <m:r>
                          <a:rPr lang="en-ZA" sz="1200" i="1">
                            <a:latin typeface="Cambria Math" panose="02040503050406030204" pitchFamily="18" charset="0"/>
                          </a:rPr>
                          <m:t>𝑒</m:t>
                        </m:r>
                      </m:e>
                      <m:sup>
                        <m:r>
                          <a:rPr lang="en-ZA" sz="1200" i="1">
                            <a:latin typeface="Cambria Math" panose="02040503050406030204" pitchFamily="18" charset="0"/>
                          </a:rPr>
                          <m:t>2</m:t>
                        </m:r>
                        <m:r>
                          <a:rPr lang="en-ZA" sz="1200" i="1">
                            <a:latin typeface="Cambria Math" panose="02040503050406030204" pitchFamily="18" charset="0"/>
                          </a:rPr>
                          <m:t>𝜋</m:t>
                        </m:r>
                        <m:r>
                          <a:rPr lang="en-ZA" sz="1200" i="1">
                            <a:latin typeface="Cambria Math" panose="02040503050406030204" pitchFamily="18" charset="0"/>
                          </a:rPr>
                          <m:t>𝑖</m:t>
                        </m:r>
                        <m:sSub>
                          <m:sSubPr>
                            <m:ctrlPr>
                              <a:rPr lang="en-ZA" sz="1200" i="1" smtClean="0">
                                <a:latin typeface="Cambria Math" panose="02040503050406030204" pitchFamily="18" charset="0"/>
                              </a:rPr>
                            </m:ctrlPr>
                          </m:sSubPr>
                          <m:e>
                            <m:r>
                              <a:rPr lang="en-US" sz="1200" b="0" i="1" smtClean="0">
                                <a:latin typeface="Cambria Math" panose="02040503050406030204" pitchFamily="18" charset="0"/>
                              </a:rPr>
                              <m:t>(</m:t>
                            </m:r>
                            <m:r>
                              <a:rPr lang="en-ZA" sz="1200" i="1">
                                <a:latin typeface="Cambria Math" panose="02040503050406030204" pitchFamily="18" charset="0"/>
                              </a:rPr>
                              <m:t>𝑥</m:t>
                            </m:r>
                          </m:e>
                          <m:sub>
                            <m:r>
                              <a:rPr lang="en-US" sz="1200" b="0" i="1" smtClean="0">
                                <a:latin typeface="Cambria Math" panose="02040503050406030204" pitchFamily="18" charset="0"/>
                              </a:rPr>
                              <m:t>𝑛</m:t>
                            </m:r>
                          </m:sub>
                        </m:sSub>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ZA" sz="1200" i="1" smtClean="0">
                            <a:latin typeface="Cambria Math" panose="02040503050406030204" pitchFamily="18" charset="0"/>
                          </a:rPr>
                        </m:ctrlPr>
                      </m:sSupPr>
                      <m:e>
                        <m:r>
                          <a:rPr lang="en-ZA" sz="1200" i="1">
                            <a:latin typeface="Cambria Math" panose="02040503050406030204" pitchFamily="18" charset="0"/>
                          </a:rPr>
                          <m:t>𝑒</m:t>
                        </m:r>
                      </m:e>
                      <m:sup>
                        <m:r>
                          <a:rPr lang="en-ZA" sz="1200" i="1">
                            <a:latin typeface="Cambria Math" panose="02040503050406030204" pitchFamily="18" charset="0"/>
                          </a:rPr>
                          <m:t>𝜋</m:t>
                        </m:r>
                        <m:r>
                          <a:rPr lang="en-ZA" sz="1200" i="1">
                            <a:latin typeface="Cambria Math" panose="02040503050406030204" pitchFamily="18" charset="0"/>
                          </a:rPr>
                          <m:t>𝑖</m:t>
                        </m:r>
                        <m:sSub>
                          <m:sSubPr>
                            <m:ctrlPr>
                              <a:rPr lang="en-ZA" sz="1200" i="1" smtClean="0">
                                <a:latin typeface="Cambria Math" panose="02040503050406030204" pitchFamily="18" charset="0"/>
                              </a:rPr>
                            </m:ctrlPr>
                          </m:sSubPr>
                          <m:e>
                            <m:r>
                              <a:rPr lang="en-ZA" sz="1200" i="1">
                                <a:latin typeface="Cambria Math" panose="02040503050406030204" pitchFamily="18" charset="0"/>
                              </a:rPr>
                              <m:t>𝑥</m:t>
                            </m:r>
                          </m:e>
                          <m:sub>
                            <m:r>
                              <a:rPr lang="en-US" sz="1200" b="0" i="1" smtClean="0">
                                <a:latin typeface="Cambria Math" panose="02040503050406030204" pitchFamily="18" charset="0"/>
                              </a:rPr>
                              <m:t>𝑛</m:t>
                            </m:r>
                          </m:sub>
                        </m:sSub>
                      </m:sup>
                    </m:sSup>
                  </m:oMath>
                </a14:m>
                <a:r>
                  <a:rPr lang="en-ZA" b="0" dirty="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ZA" b="0" baseline="0" dirty="0">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ZA" dirty="0"/>
                  <a:t>Thus, the QFT distributes the phase information encoded by these binary fractions across the output qubits.</a:t>
                </a:r>
                <a:endParaRPr lang="en-ZA" i="0" dirty="0">
                  <a:effectLst/>
                </a:endParaRPr>
              </a:p>
            </p:txBody>
          </p:sp>
        </mc:Choice>
        <mc:Fallback xmlns="">
          <p:sp>
            <p:nvSpPr>
              <p:cNvPr id="3" name="Notes Placeholder 2"/>
              <p:cNvSpPr>
                <a:spLocks noGrp="1"/>
              </p:cNvSpPr>
              <p:nvPr>
                <p:ph type="body" idx="1"/>
              </p:nvPr>
            </p:nvSpPr>
            <p:spPr/>
            <p:txBody>
              <a:bodyPr/>
              <a:lstStyle/>
              <a:p>
                <a:r>
                  <a:rPr lang="en-US" sz="2000" dirty="0"/>
                  <a:t>To make the QFT implementation easier, it is possible to express QFT in term of rotations.</a:t>
                </a:r>
              </a:p>
              <a:p>
                <a:pPr marL="457200" indent="-457200">
                  <a:buFont typeface="Arial" panose="020B0604020202020204" pitchFamily="34" charset="0"/>
                  <a:buChar char="•"/>
                </a:pPr>
                <a:r>
                  <a:rPr lang="en-US" sz="2000" dirty="0"/>
                  <a:t>For 1 qubit, we express the Hadamard transform in terms of relative phase. This expression is derived directly from the QFT formula. </a:t>
                </a:r>
              </a:p>
              <a:p>
                <a:pPr marL="457200" indent="-457200">
                  <a:buFont typeface="+mj-lt"/>
                  <a:buAutoNum type="arabicPeriod"/>
                </a:pPr>
                <a:r>
                  <a:rPr lang="en-US" sz="2000" dirty="0"/>
                  <a:t>For two qubits </a:t>
                </a:r>
                <a:r>
                  <a:rPr lang="en-US" sz="2000" i="0">
                    <a:latin typeface="Cambria Math" panose="02040503050406030204" pitchFamily="18" charset="0"/>
                    <a:ea typeface="Cambria Math" panose="02040503050406030204" pitchFamily="18" charset="0"/>
                  </a:rPr>
                  <a:t>𝑥_0 𝑥_</a:t>
                </a:r>
                <a:r>
                  <a:rPr lang="en-US" sz="2000" b="0" i="0">
                    <a:latin typeface="Cambria Math" panose="02040503050406030204" pitchFamily="18" charset="0"/>
                    <a:ea typeface="Cambria Math" panose="02040503050406030204" pitchFamily="18" charset="0"/>
                  </a:rPr>
                  <a:t>1</a:t>
                </a:r>
                <a:r>
                  <a:rPr lang="en-US" sz="2000" dirty="0"/>
                  <a:t> where </a:t>
                </a:r>
                <a:r>
                  <a:rPr lang="en-US" sz="2000" i="0">
                    <a:latin typeface="Cambria Math" panose="02040503050406030204" pitchFamily="18" charset="0"/>
                    <a:ea typeface="Cambria Math" panose="02040503050406030204" pitchFamily="18" charset="0"/>
                  </a:rPr>
                  <a:t>𝑥_0</a:t>
                </a:r>
                <a:r>
                  <a:rPr lang="en-US" sz="2000" dirty="0"/>
                  <a:t> and </a:t>
                </a:r>
                <a:r>
                  <a:rPr lang="en-US" sz="2000" i="0">
                    <a:latin typeface="Cambria Math" panose="02040503050406030204" pitchFamily="18" charset="0"/>
                    <a:ea typeface="Cambria Math" panose="02040503050406030204" pitchFamily="18" charset="0"/>
                  </a:rPr>
                  <a:t>𝑥_</a:t>
                </a:r>
                <a:r>
                  <a:rPr lang="en-US" sz="2000" b="0" i="0">
                    <a:latin typeface="Cambria Math" panose="02040503050406030204" pitchFamily="18" charset="0"/>
                    <a:ea typeface="Cambria Math" panose="02040503050406030204" pitchFamily="18" charset="0"/>
                  </a:rPr>
                  <a:t>1</a:t>
                </a:r>
                <a:r>
                  <a:rPr lang="en-US" sz="2000" dirty="0"/>
                  <a:t> can each be ether 0 or 1, we </a:t>
                </a:r>
                <a:r>
                  <a:rPr lang="en-US" sz="2000" baseline="0" dirty="0"/>
                  <a:t> apply a rotation by  roots of unity and find the combined state via the Kronecker product. Unlike the previous expression this one is not obvious, but it is not so difficult to  derive it from tensor product of  individual QFTs.</a:t>
                </a:r>
              </a:p>
              <a:p>
                <a:pPr marL="457200" indent="-457200">
                  <a:buFont typeface="+mj-lt"/>
                  <a:buAutoNum type="arabicPeriod"/>
                </a:pPr>
                <a:r>
                  <a:rPr lang="en-US" sz="2000" baseline="0" dirty="0"/>
                  <a:t>The same pattern is applied for 3 qubits. </a:t>
                </a:r>
              </a:p>
              <a:p>
                <a:pPr marL="457200" indent="-457200">
                  <a:buFont typeface="+mj-lt"/>
                  <a:buAutoNum type="arabicPeriod"/>
                </a:pPr>
                <a:r>
                  <a:rPr lang="en-US" sz="2000" baseline="0" dirty="0"/>
                  <a:t>And finally for n-qubits. After all transformations are applied, the output qubits will be in reverse order of input qubits.</a:t>
                </a:r>
              </a:p>
              <a:p>
                <a:pPr marL="457200" indent="-457200">
                  <a:buFont typeface="+mj-lt"/>
                  <a:buAutoNum type="arabicPeriod"/>
                </a:pPr>
                <a:endParaRPr lang="en-US" sz="2000" baseline="0" dirty="0"/>
              </a:p>
              <a:p>
                <a:pPr marL="0" indent="0">
                  <a:buFont typeface="+mj-lt"/>
                  <a:buNone/>
                </a:pPr>
                <a:r>
                  <a:rPr lang="en-US" sz="2000" dirty="0"/>
                  <a:t>https://</a:t>
                </a:r>
                <a:r>
                  <a:rPr lang="en-US" sz="2000" dirty="0" err="1"/>
                  <a:t>demonstrations.wolfram.com</a:t>
                </a:r>
                <a:r>
                  <a:rPr lang="en-US" sz="2000" dirty="0"/>
                  <a:t>/</a:t>
                </a:r>
                <a:r>
                  <a:rPr lang="en-US" sz="2000" dirty="0" err="1"/>
                  <a:t>QuantumFourierTransformCircuit</a:t>
                </a:r>
                <a:r>
                  <a:rPr lang="en-US" sz="2000" dirty="0"/>
                  <a:t>/#more</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61</a:t>
            </a:fld>
            <a:endParaRPr lang="en-US"/>
          </a:p>
        </p:txBody>
      </p:sp>
    </p:spTree>
    <p:extLst>
      <p:ext uri="{BB962C8B-B14F-4D97-AF65-F5344CB8AC3E}">
        <p14:creationId xmlns:p14="http://schemas.microsoft.com/office/powerpoint/2010/main" val="183450827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228600" indent="-228600" algn="l">
                  <a:buFont typeface="+mj-lt"/>
                  <a:buAutoNum type="arabicPeriod"/>
                </a:pPr>
                <a:r>
                  <a:rPr lang="en-ZA" b="0" dirty="0"/>
                  <a:t>For a single qubit</a:t>
                </a:r>
                <a:r>
                  <a:rPr lang="en-ZA" dirty="0"/>
                  <a:t>, the QFT is simply a Hadamard transform: it creates a superposition with a relative phase of</a:t>
                </a:r>
                <a14:m>
                  <m:oMath xmlns:m="http://schemas.openxmlformats.org/officeDocument/2006/math">
                    <m:r>
                      <a:rPr lang="en-US" sz="1200" b="0" i="0" smtClean="0">
                        <a:latin typeface="Cambria Math" panose="02040503050406030204" pitchFamily="18" charset="0"/>
                        <a:ea typeface="Cambria Math" panose="02040503050406030204" pitchFamily="18" charset="0"/>
                      </a:rPr>
                      <m:t> </m:t>
                    </m:r>
                    <m:sSup>
                      <m:sSupPr>
                        <m:ctrlPr>
                          <a:rPr lang="en-US" sz="1200" i="1" smtClean="0">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𝑒</m:t>
                        </m:r>
                      </m:e>
                      <m:sup>
                        <m:r>
                          <a:rPr lang="en-US" sz="1200" b="0" i="1" smtClean="0">
                            <a:latin typeface="Cambria Math" panose="02040503050406030204" pitchFamily="18" charset="0"/>
                            <a:ea typeface="Cambria Math" panose="02040503050406030204" pitchFamily="18" charset="0"/>
                          </a:rPr>
                          <m:t>0</m:t>
                        </m:r>
                      </m:sup>
                    </m:sSup>
                    <m:r>
                      <a:rPr lang="en-US" sz="1200" b="0" i="1" smtClean="0">
                        <a:latin typeface="Cambria Math" panose="02040503050406030204" pitchFamily="18" charset="0"/>
                        <a:ea typeface="Cambria Math" panose="02040503050406030204" pitchFamily="18" charset="0"/>
                      </a:rPr>
                      <m:t>=1</m:t>
                    </m:r>
                  </m:oMath>
                </a14:m>
                <a:r>
                  <a:rPr lang="en-ZA" b="0" dirty="0"/>
                  <a:t> when </a:t>
                </a:r>
                <a14:m>
                  <m:oMath xmlns:m="http://schemas.openxmlformats.org/officeDocument/2006/math">
                    <m:r>
                      <a:rPr lang="en-US" sz="1200" b="0" i="1" smtClean="0">
                        <a:latin typeface="Cambria Math" panose="02040503050406030204" pitchFamily="18" charset="0"/>
                        <a:ea typeface="Cambria Math" panose="02040503050406030204" pitchFamily="18" charset="0"/>
                      </a:rPr>
                      <m:t>𝑥</m:t>
                    </m:r>
                    <m:r>
                      <a:rPr lang="en-US" sz="1200" b="0" i="1" smtClean="0">
                        <a:latin typeface="Cambria Math" panose="02040503050406030204" pitchFamily="18" charset="0"/>
                        <a:ea typeface="Cambria Math" panose="02040503050406030204" pitchFamily="18" charset="0"/>
                      </a:rPr>
                      <m:t>=0</m:t>
                    </m:r>
                  </m:oMath>
                </a14:m>
                <a:r>
                  <a:rPr lang="en-ZA" dirty="0"/>
                  <a:t> and </a:t>
                </a:r>
                <a14:m>
                  <m:oMath xmlns:m="http://schemas.openxmlformats.org/officeDocument/2006/math">
                    <m:sSup>
                      <m:sSupPr>
                        <m:ctrlPr>
                          <a:rPr lang="en-US" sz="1200" i="1" smtClean="0">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𝑒</m:t>
                        </m:r>
                      </m:e>
                      <m:sup>
                        <m:r>
                          <a:rPr lang="en-US" sz="1200" i="1">
                            <a:latin typeface="Cambria Math" panose="02040503050406030204" pitchFamily="18" charset="0"/>
                            <a:ea typeface="Cambria Math" panose="02040503050406030204" pitchFamily="18" charset="0"/>
                          </a:rPr>
                          <m:t>𝜋</m:t>
                        </m:r>
                        <m:r>
                          <a:rPr lang="en-US" sz="1200" i="1">
                            <a:latin typeface="Cambria Math" panose="02040503050406030204" pitchFamily="18" charset="0"/>
                            <a:ea typeface="Cambria Math" panose="02040503050406030204" pitchFamily="18" charset="0"/>
                          </a:rPr>
                          <m:t>𝑖</m:t>
                        </m:r>
                      </m:sup>
                    </m:sSup>
                    <m:r>
                      <a:rPr lang="en-US" sz="1200" b="0" i="1" smtClean="0">
                        <a:latin typeface="Cambria Math" panose="02040503050406030204" pitchFamily="18" charset="0"/>
                        <a:ea typeface="Cambria Math" panose="02040503050406030204" pitchFamily="18" charset="0"/>
                      </a:rPr>
                      <m:t>=−1</m:t>
                    </m:r>
                  </m:oMath>
                </a14:m>
                <a:r>
                  <a:rPr lang="en-ZA" b="0" dirty="0"/>
                  <a:t> when </a:t>
                </a:r>
                <a14:m>
                  <m:oMath xmlns:m="http://schemas.openxmlformats.org/officeDocument/2006/math">
                    <m:r>
                      <a:rPr lang="en-US" sz="1200" b="0" i="1" smtClean="0">
                        <a:latin typeface="Cambria Math" panose="02040503050406030204" pitchFamily="18" charset="0"/>
                        <a:ea typeface="Cambria Math" panose="02040503050406030204" pitchFamily="18" charset="0"/>
                      </a:rPr>
                      <m:t>𝑥</m:t>
                    </m:r>
                    <m:r>
                      <a:rPr lang="en-US" sz="1200" b="0" i="1" smtClean="0">
                        <a:latin typeface="Cambria Math" panose="02040503050406030204" pitchFamily="18" charset="0"/>
                        <a:ea typeface="Cambria Math" panose="02040503050406030204" pitchFamily="18" charset="0"/>
                      </a:rPr>
                      <m:t>=1</m:t>
                    </m:r>
                  </m:oMath>
                </a14:m>
                <a:r>
                  <a:rPr lang="en-ZA" b="0" dirty="0"/>
                  <a:t>.</a:t>
                </a:r>
              </a:p>
              <a:p>
                <a:pPr marL="228600" indent="-228600" algn="l">
                  <a:buFont typeface="+mj-lt"/>
                  <a:buAutoNum type="arabicPeriod"/>
                </a:pPr>
                <a:r>
                  <a:rPr lang="en-ZA" b="0" dirty="0"/>
                  <a:t>For two qubits</a:t>
                </a:r>
                <a:r>
                  <a:rPr lang="en-ZA" dirty="0"/>
                  <a:t>, the QFT creates a product of two superpositions.</a:t>
                </a:r>
              </a:p>
              <a:p>
                <a:pPr marL="685800" lvl="1" indent="-228600" algn="l">
                  <a:buFont typeface="Arial" panose="020B0604020202020204" pitchFamily="34" charset="0"/>
                  <a:buChar char="•"/>
                </a:pPr>
                <a:r>
                  <a:rPr lang="en-ZA" dirty="0"/>
                  <a:t>The first output qubit depends on both input bits, with </a:t>
                </a:r>
                <a:r>
                  <a:rPr lang="en-ZA" dirty="0" err="1"/>
                  <a:t>phase</a:t>
                </a:r>
                <a:r>
                  <a:rPr lang="en-ZA" dirty="0"/>
                  <a:t> </a:t>
                </a:r>
                <a14:m>
                  <m:oMath xmlns:m="http://schemas.openxmlformats.org/officeDocument/2006/math">
                    <m:sSup>
                      <m:sSupPr>
                        <m:ctrlPr>
                          <a:rPr lang="en-ZA" sz="1200" i="1" smtClean="0">
                            <a:latin typeface="Cambria Math" panose="02040503050406030204" pitchFamily="18" charset="0"/>
                          </a:rPr>
                        </m:ctrlPr>
                      </m:sSupPr>
                      <m:e>
                        <m:r>
                          <a:rPr lang="en-ZA" sz="1200" i="1">
                            <a:latin typeface="Cambria Math" panose="02040503050406030204" pitchFamily="18" charset="0"/>
                          </a:rPr>
                          <m:t>𝑒</m:t>
                        </m:r>
                      </m:e>
                      <m:sup>
                        <m:r>
                          <a:rPr lang="en-ZA" sz="1200" i="1">
                            <a:latin typeface="Cambria Math" panose="02040503050406030204" pitchFamily="18" charset="0"/>
                          </a:rPr>
                          <m:t>2</m:t>
                        </m:r>
                        <m:r>
                          <a:rPr lang="en-ZA" sz="1200" i="1">
                            <a:latin typeface="Cambria Math" panose="02040503050406030204" pitchFamily="18" charset="0"/>
                          </a:rPr>
                          <m:t>𝜋</m:t>
                        </m:r>
                        <m:r>
                          <a:rPr lang="en-ZA" sz="1200" i="1">
                            <a:latin typeface="Cambria Math" panose="02040503050406030204" pitchFamily="18" charset="0"/>
                          </a:rPr>
                          <m:t>𝑖</m:t>
                        </m:r>
                        <m:sSub>
                          <m:sSubPr>
                            <m:ctrlPr>
                              <a:rPr lang="en-ZA" sz="1200" i="1" smtClean="0">
                                <a:latin typeface="Cambria Math" panose="02040503050406030204" pitchFamily="18" charset="0"/>
                              </a:rPr>
                            </m:ctrlPr>
                          </m:sSubPr>
                          <m:e>
                            <m:r>
                              <a:rPr lang="en-US" sz="1200" b="0" i="1" smtClean="0">
                                <a:latin typeface="Cambria Math" panose="02040503050406030204" pitchFamily="18" charset="0"/>
                              </a:rPr>
                              <m:t>(</m:t>
                            </m:r>
                            <m:r>
                              <a:rPr lang="en-ZA" sz="1200" i="1">
                                <a:latin typeface="Cambria Math" panose="02040503050406030204" pitchFamily="18" charset="0"/>
                              </a:rPr>
                              <m:t>𝑥</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/2</m:t>
                        </m:r>
                        <m:sSub>
                          <m:sSubPr>
                            <m:ctrlPr>
                              <a:rPr lang="en-ZA" sz="1200" i="1" smtClean="0">
                                <a:latin typeface="Cambria Math" panose="02040503050406030204" pitchFamily="18" charset="0"/>
                              </a:rPr>
                            </m:ctrlPr>
                          </m:sSubPr>
                          <m:e>
                            <m:r>
                              <a:rPr lang="en-US" sz="1200" b="0" i="1" smtClean="0">
                                <a:latin typeface="Cambria Math" panose="02040503050406030204" pitchFamily="18" charset="0"/>
                              </a:rPr>
                              <m:t>+</m:t>
                            </m:r>
                            <m:r>
                              <a:rPr lang="en-ZA" sz="1200" i="1">
                                <a:latin typeface="Cambria Math" panose="02040503050406030204" pitchFamily="18" charset="0"/>
                              </a:rPr>
                              <m:t>𝑥</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/4)</m:t>
                        </m:r>
                      </m:sup>
                    </m:sSup>
                  </m:oMath>
                </a14:m>
                <a:r>
                  <a:rPr lang="en-ZA" dirty="0"/>
                  <a:t>.</a:t>
                </a:r>
              </a:p>
              <a:p>
                <a:pPr marL="685800" lvl="1" indent="-228600" algn="l">
                  <a:buFont typeface="Arial" panose="020B0604020202020204" pitchFamily="34" charset="0"/>
                  <a:buChar char="•"/>
                </a:pPr>
                <a:r>
                  <a:rPr lang="en-ZA" dirty="0"/>
                  <a:t>The second output qubit depends only on the last bit​, with a phase </a:t>
                </a:r>
                <a14:m>
                  <m:oMath xmlns:m="http://schemas.openxmlformats.org/officeDocument/2006/math">
                    <m:sSup>
                      <m:sSupPr>
                        <m:ctrlPr>
                          <a:rPr lang="en-ZA" sz="1200" i="1" smtClean="0">
                            <a:latin typeface="Cambria Math" panose="02040503050406030204" pitchFamily="18" charset="0"/>
                          </a:rPr>
                        </m:ctrlPr>
                      </m:sSupPr>
                      <m:e>
                        <m:r>
                          <a:rPr lang="en-ZA" sz="1200" i="1">
                            <a:latin typeface="Cambria Math" panose="02040503050406030204" pitchFamily="18" charset="0"/>
                          </a:rPr>
                          <m:t>𝑒</m:t>
                        </m:r>
                      </m:e>
                      <m:sup>
                        <m:r>
                          <a:rPr lang="en-ZA" sz="1200" i="1">
                            <a:latin typeface="Cambria Math" panose="02040503050406030204" pitchFamily="18" charset="0"/>
                          </a:rPr>
                          <m:t>2</m:t>
                        </m:r>
                        <m:r>
                          <a:rPr lang="en-ZA" sz="1200" i="1">
                            <a:latin typeface="Cambria Math" panose="02040503050406030204" pitchFamily="18" charset="0"/>
                          </a:rPr>
                          <m:t>𝜋</m:t>
                        </m:r>
                        <m:r>
                          <a:rPr lang="en-ZA" sz="1200" i="1">
                            <a:latin typeface="Cambria Math" panose="02040503050406030204" pitchFamily="18" charset="0"/>
                          </a:rPr>
                          <m:t>𝑖</m:t>
                        </m:r>
                        <m:sSub>
                          <m:sSubPr>
                            <m:ctrlPr>
                              <a:rPr lang="en-ZA" sz="1200" i="1" smtClean="0">
                                <a:latin typeface="Cambria Math" panose="02040503050406030204" pitchFamily="18" charset="0"/>
                              </a:rPr>
                            </m:ctrlPr>
                          </m:sSubPr>
                          <m:e>
                            <m:r>
                              <a:rPr lang="en-US" sz="1200" b="0" i="1" smtClean="0">
                                <a:latin typeface="Cambria Math" panose="02040503050406030204" pitchFamily="18" charset="0"/>
                              </a:rPr>
                              <m:t>(</m:t>
                            </m:r>
                            <m:r>
                              <a:rPr lang="en-ZA" sz="1200" i="1">
                                <a:latin typeface="Cambria Math" panose="02040503050406030204" pitchFamily="18" charset="0"/>
                              </a:rPr>
                              <m:t>𝑥</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/2)</m:t>
                        </m:r>
                      </m:sup>
                    </m:sSup>
                  </m:oMath>
                </a14:m>
                <a:r>
                  <a:rPr lang="en-ZA" dirty="0"/>
                  <a:t>.</a:t>
                </a:r>
              </a:p>
              <a:p>
                <a:pPr marL="685800" lvl="1" indent="-228600" algn="l">
                  <a:buFont typeface="Arial" panose="020B0604020202020204" pitchFamily="34" charset="0"/>
                  <a:buChar char="•"/>
                </a:pPr>
                <a:r>
                  <a:rPr lang="en-ZA" dirty="0"/>
                  <a:t>As we move from the first to the last output qubit, each successive qubit depends on fewer input bits.</a:t>
                </a:r>
              </a:p>
              <a:p>
                <a:pPr marL="228600" indent="-228600" algn="l">
                  <a:buFont typeface="+mj-lt"/>
                  <a:buAutoNum type="arabicPeriod"/>
                </a:pPr>
                <a:r>
                  <a:rPr lang="en-ZA" dirty="0"/>
                  <a:t>For three qubits, the pattern continues.</a:t>
                </a:r>
              </a:p>
              <a:p>
                <a:pPr marL="628650" lvl="1" indent="-171450" algn="l">
                  <a:buFont typeface="Arial" panose="020B0604020202020204" pitchFamily="34" charset="0"/>
                  <a:buChar char="•"/>
                </a:pPr>
                <a:r>
                  <a:rPr lang="en-ZA" dirty="0"/>
                  <a:t>The first output qubit depends on all three input bits, </a:t>
                </a:r>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1</m:t>
                        </m:r>
                      </m:sub>
                    </m:sSub>
                  </m:oMath>
                </a14:m>
                <a:r>
                  <a:rPr lang="en-ZA" dirty="0"/>
                  <a:t>, </a:t>
                </a:r>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2</m:t>
                        </m:r>
                      </m:sub>
                    </m:sSub>
                  </m:oMath>
                </a14:m>
                <a:r>
                  <a:rPr lang="en-ZA" dirty="0"/>
                  <a:t>​, and </a:t>
                </a:r>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3</m:t>
                        </m:r>
                      </m:sub>
                    </m:sSub>
                  </m:oMath>
                </a14:m>
                <a:r>
                  <a:rPr lang="en-ZA" dirty="0"/>
                  <a:t>​, with a phase </a:t>
                </a:r>
                <a14:m>
                  <m:oMath xmlns:m="http://schemas.openxmlformats.org/officeDocument/2006/math">
                    <m:sSup>
                      <m:sSupPr>
                        <m:ctrlPr>
                          <a:rPr lang="en-ZA" sz="1200" i="1" smtClean="0">
                            <a:latin typeface="Cambria Math" panose="02040503050406030204" pitchFamily="18" charset="0"/>
                          </a:rPr>
                        </m:ctrlPr>
                      </m:sSupPr>
                      <m:e>
                        <m:r>
                          <a:rPr lang="en-ZA" sz="1200" i="1">
                            <a:latin typeface="Cambria Math" panose="02040503050406030204" pitchFamily="18" charset="0"/>
                          </a:rPr>
                          <m:t>𝑒</m:t>
                        </m:r>
                      </m:e>
                      <m:sup>
                        <m:r>
                          <a:rPr lang="en-ZA" sz="1200" i="1">
                            <a:latin typeface="Cambria Math" panose="02040503050406030204" pitchFamily="18" charset="0"/>
                          </a:rPr>
                          <m:t>2</m:t>
                        </m:r>
                        <m:r>
                          <a:rPr lang="en-ZA" sz="1200" i="1">
                            <a:latin typeface="Cambria Math" panose="02040503050406030204" pitchFamily="18" charset="0"/>
                          </a:rPr>
                          <m:t>𝜋</m:t>
                        </m:r>
                        <m:r>
                          <a:rPr lang="en-ZA" sz="1200" i="1">
                            <a:latin typeface="Cambria Math" panose="02040503050406030204" pitchFamily="18" charset="0"/>
                          </a:rPr>
                          <m:t>𝑖</m:t>
                        </m:r>
                        <m:sSub>
                          <m:sSubPr>
                            <m:ctrlPr>
                              <a:rPr lang="en-ZA" sz="1200" i="1" smtClean="0">
                                <a:latin typeface="Cambria Math" panose="02040503050406030204" pitchFamily="18" charset="0"/>
                              </a:rPr>
                            </m:ctrlPr>
                          </m:sSubPr>
                          <m:e>
                            <m:r>
                              <a:rPr lang="en-US" sz="1200" b="0" i="1" smtClean="0">
                                <a:latin typeface="Cambria Math" panose="02040503050406030204" pitchFamily="18" charset="0"/>
                              </a:rPr>
                              <m:t>(</m:t>
                            </m:r>
                            <m:r>
                              <a:rPr lang="en-ZA" sz="1200" i="1">
                                <a:latin typeface="Cambria Math" panose="02040503050406030204" pitchFamily="18" charset="0"/>
                              </a:rPr>
                              <m:t>𝑥</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/2</m:t>
                        </m:r>
                        <m:sSub>
                          <m:sSubPr>
                            <m:ctrlPr>
                              <a:rPr lang="en-ZA" sz="1200" i="1" smtClean="0">
                                <a:latin typeface="Cambria Math" panose="02040503050406030204" pitchFamily="18" charset="0"/>
                              </a:rPr>
                            </m:ctrlPr>
                          </m:sSubPr>
                          <m:e>
                            <m:r>
                              <a:rPr lang="en-US" sz="1200" b="0" i="1" smtClean="0">
                                <a:latin typeface="Cambria Math" panose="02040503050406030204" pitchFamily="18" charset="0"/>
                              </a:rPr>
                              <m:t>+</m:t>
                            </m:r>
                            <m:r>
                              <a:rPr lang="en-ZA" sz="1200" i="1">
                                <a:latin typeface="Cambria Math" panose="02040503050406030204" pitchFamily="18" charset="0"/>
                              </a:rPr>
                              <m:t>𝑥</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/4</m:t>
                        </m:r>
                        <m:sSub>
                          <m:sSubPr>
                            <m:ctrlPr>
                              <a:rPr lang="en-ZA" sz="1200" i="1" smtClean="0">
                                <a:latin typeface="Cambria Math" panose="02040503050406030204" pitchFamily="18" charset="0"/>
                              </a:rPr>
                            </m:ctrlPr>
                          </m:sSubPr>
                          <m:e>
                            <m:r>
                              <a:rPr lang="en-US" sz="1200" b="0" i="1" smtClean="0">
                                <a:latin typeface="Cambria Math" panose="02040503050406030204" pitchFamily="18" charset="0"/>
                              </a:rPr>
                              <m:t>+</m:t>
                            </m:r>
                            <m:r>
                              <a:rPr lang="en-ZA" sz="1200" i="1">
                                <a:latin typeface="Cambria Math" panose="02040503050406030204" pitchFamily="18" charset="0"/>
                              </a:rPr>
                              <m:t>𝑥</m:t>
                            </m:r>
                          </m:e>
                          <m:sub>
                            <m:r>
                              <a:rPr lang="en-US" sz="1200" b="0" i="1" smtClean="0">
                                <a:latin typeface="Cambria Math" panose="02040503050406030204" pitchFamily="18" charset="0"/>
                              </a:rPr>
                              <m:t>3</m:t>
                            </m:r>
                          </m:sub>
                        </m:sSub>
                        <m:r>
                          <a:rPr lang="en-US" sz="1200" b="0" i="1" smtClean="0">
                            <a:latin typeface="Cambria Math" panose="02040503050406030204" pitchFamily="18" charset="0"/>
                          </a:rPr>
                          <m:t>/8)</m:t>
                        </m:r>
                      </m:sup>
                    </m:sSup>
                  </m:oMath>
                </a14:m>
                <a:endParaRPr lang="en-US" sz="1200" b="0" dirty="0"/>
              </a:p>
              <a:p>
                <a:pPr marL="628650" lvl="1" indent="-171450" algn="l">
                  <a:buFont typeface="Arial" panose="020B0604020202020204" pitchFamily="34" charset="0"/>
                  <a:buChar char="•"/>
                </a:pPr>
                <a:r>
                  <a:rPr lang="en-ZA" dirty="0"/>
                  <a:t>The second output qubit depends on the last two bits, </a:t>
                </a:r>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2</m:t>
                        </m:r>
                      </m:sub>
                    </m:sSub>
                  </m:oMath>
                </a14:m>
                <a:r>
                  <a:rPr lang="en-ZA" dirty="0"/>
                  <a:t>​ and </a:t>
                </a:r>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3</m:t>
                        </m:r>
                      </m:sub>
                    </m:sSub>
                  </m:oMath>
                </a14:m>
                <a:r>
                  <a:rPr lang="en-ZA" dirty="0"/>
                  <a:t>​, with a phase </a:t>
                </a:r>
                <a14:m>
                  <m:oMath xmlns:m="http://schemas.openxmlformats.org/officeDocument/2006/math">
                    <m:sSup>
                      <m:sSupPr>
                        <m:ctrlPr>
                          <a:rPr lang="en-ZA" sz="1200" i="1" smtClean="0">
                            <a:latin typeface="Cambria Math" panose="02040503050406030204" pitchFamily="18" charset="0"/>
                          </a:rPr>
                        </m:ctrlPr>
                      </m:sSupPr>
                      <m:e>
                        <m:r>
                          <a:rPr lang="en-ZA" sz="1200" i="1">
                            <a:latin typeface="Cambria Math" panose="02040503050406030204" pitchFamily="18" charset="0"/>
                          </a:rPr>
                          <m:t>𝑒</m:t>
                        </m:r>
                      </m:e>
                      <m:sup>
                        <m:r>
                          <a:rPr lang="en-ZA" sz="1200" i="1">
                            <a:latin typeface="Cambria Math" panose="02040503050406030204" pitchFamily="18" charset="0"/>
                          </a:rPr>
                          <m:t>2</m:t>
                        </m:r>
                        <m:r>
                          <a:rPr lang="en-ZA" sz="1200" i="1">
                            <a:latin typeface="Cambria Math" panose="02040503050406030204" pitchFamily="18" charset="0"/>
                          </a:rPr>
                          <m:t>𝜋</m:t>
                        </m:r>
                        <m:r>
                          <a:rPr lang="en-ZA" sz="1200" i="1">
                            <a:latin typeface="Cambria Math" panose="02040503050406030204" pitchFamily="18" charset="0"/>
                          </a:rPr>
                          <m:t>𝑖</m:t>
                        </m:r>
                        <m:sSub>
                          <m:sSubPr>
                            <m:ctrlPr>
                              <a:rPr lang="en-ZA" sz="1200" i="1" smtClean="0">
                                <a:latin typeface="Cambria Math" panose="02040503050406030204" pitchFamily="18" charset="0"/>
                              </a:rPr>
                            </m:ctrlPr>
                          </m:sSubPr>
                          <m:e>
                            <m:r>
                              <a:rPr lang="en-US" sz="1200" b="0" i="1" smtClean="0">
                                <a:latin typeface="Cambria Math" panose="02040503050406030204" pitchFamily="18" charset="0"/>
                              </a:rPr>
                              <m:t>(</m:t>
                            </m:r>
                            <m:r>
                              <a:rPr lang="en-ZA" sz="1200" i="1">
                                <a:latin typeface="Cambria Math" panose="02040503050406030204" pitchFamily="18" charset="0"/>
                              </a:rPr>
                              <m:t>𝑥</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/2</m:t>
                        </m:r>
                        <m:sSub>
                          <m:sSubPr>
                            <m:ctrlPr>
                              <a:rPr lang="en-ZA" sz="1200" i="1" smtClean="0">
                                <a:latin typeface="Cambria Math" panose="02040503050406030204" pitchFamily="18" charset="0"/>
                              </a:rPr>
                            </m:ctrlPr>
                          </m:sSubPr>
                          <m:e>
                            <m:r>
                              <a:rPr lang="en-US" sz="1200" b="0" i="1" smtClean="0">
                                <a:latin typeface="Cambria Math" panose="02040503050406030204" pitchFamily="18" charset="0"/>
                              </a:rPr>
                              <m:t>+</m:t>
                            </m:r>
                            <m:r>
                              <a:rPr lang="en-ZA" sz="1200" i="1">
                                <a:latin typeface="Cambria Math" panose="02040503050406030204" pitchFamily="18" charset="0"/>
                              </a:rPr>
                              <m:t>𝑥</m:t>
                            </m:r>
                          </m:e>
                          <m:sub>
                            <m:r>
                              <a:rPr lang="en-US" sz="1200" b="0" i="1" smtClean="0">
                                <a:latin typeface="Cambria Math" panose="02040503050406030204" pitchFamily="18" charset="0"/>
                              </a:rPr>
                              <m:t>3</m:t>
                            </m:r>
                          </m:sub>
                        </m:sSub>
                        <m:r>
                          <a:rPr lang="en-US" sz="1200" b="0" i="1" smtClean="0">
                            <a:latin typeface="Cambria Math" panose="02040503050406030204" pitchFamily="18" charset="0"/>
                          </a:rPr>
                          <m:t>/4)</m:t>
                        </m:r>
                      </m:sup>
                    </m:sSup>
                  </m:oMath>
                </a14:m>
                <a:r>
                  <a:rPr lang="en-ZA" dirty="0"/>
                  <a:t>.</a:t>
                </a:r>
              </a:p>
              <a:p>
                <a:pPr marL="628650" lvl="1" indent="-171450" algn="l">
                  <a:buFont typeface="Arial" panose="020B0604020202020204" pitchFamily="34" charset="0"/>
                  <a:buChar char="•"/>
                </a:pPr>
                <a:r>
                  <a:rPr lang="en-ZA" dirty="0"/>
                  <a:t>The third output qubit depends only on the final bit</a:t>
                </a:r>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3</m:t>
                        </m:r>
                      </m:sub>
                    </m:sSub>
                  </m:oMath>
                </a14:m>
                <a:r>
                  <a:rPr lang="en-ZA" dirty="0"/>
                  <a:t>​, with a phase </a:t>
                </a:r>
                <a14:m>
                  <m:oMath xmlns:m="http://schemas.openxmlformats.org/officeDocument/2006/math">
                    <m:sSup>
                      <m:sSupPr>
                        <m:ctrlPr>
                          <a:rPr lang="en-US" sz="1200" i="1" smtClean="0">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𝑒</m:t>
                        </m:r>
                      </m:e>
                      <m:sup>
                        <m:r>
                          <a:rPr lang="en-US" sz="1200" b="0" i="1" smtClean="0">
                            <a:latin typeface="Cambria Math" panose="02040503050406030204" pitchFamily="18" charset="0"/>
                            <a:ea typeface="Cambria Math" panose="02040503050406030204" pitchFamily="18" charset="0"/>
                          </a:rPr>
                          <m:t>2</m:t>
                        </m:r>
                        <m:r>
                          <a:rPr lang="en-US" sz="1200" i="1">
                            <a:latin typeface="Cambria Math" panose="02040503050406030204" pitchFamily="18" charset="0"/>
                            <a:ea typeface="Cambria Math" panose="02040503050406030204" pitchFamily="18" charset="0"/>
                          </a:rPr>
                          <m:t>𝜋</m:t>
                        </m:r>
                        <m:r>
                          <a:rPr lang="en-US" sz="1200" i="1">
                            <a:latin typeface="Cambria Math" panose="02040503050406030204" pitchFamily="18" charset="0"/>
                            <a:ea typeface="Cambria Math" panose="02040503050406030204" pitchFamily="18" charset="0"/>
                          </a:rPr>
                          <m:t>𝑖</m:t>
                        </m:r>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/2</m:t>
                        </m:r>
                      </m:sup>
                    </m:sSup>
                  </m:oMath>
                </a14:m>
                <a:r>
                  <a:rPr lang="en-ZA" dirty="0"/>
                  <a:t>.</a:t>
                </a:r>
              </a:p>
              <a:p>
                <a:pPr marL="0" lvl="0" indent="0" algn="l">
                  <a:buFont typeface="Arial" panose="020B0604020202020204" pitchFamily="34" charset="0"/>
                  <a:buNone/>
                </a:pPr>
                <a:endParaRPr lang="en-ZA" dirty="0"/>
              </a:p>
              <a:p>
                <a:pPr marL="0" lvl="0" indent="0" algn="just">
                  <a:buFont typeface="Arial" panose="020B0604020202020204" pitchFamily="34" charset="0"/>
                  <a:buNone/>
                </a:pPr>
                <a:r>
                  <a:rPr lang="en-ZA" dirty="0"/>
                  <a:t>Notice that the output qubits appear in reverse order: the first output qubit contains phase information from all input bits, while the last depends only on the final input bit. This reversed ordering is a natural consequence of the QFT decomposition and will later be corrected using SWAP gates.</a:t>
                </a:r>
              </a:p>
            </p:txBody>
          </p:sp>
        </mc:Choice>
        <mc:Fallback xmlns="">
          <p:sp>
            <p:nvSpPr>
              <p:cNvPr id="3" name="Notes Placeholder 2"/>
              <p:cNvSpPr>
                <a:spLocks noGrp="1"/>
              </p:cNvSpPr>
              <p:nvPr>
                <p:ph type="body" idx="1"/>
              </p:nvPr>
            </p:nvSpPr>
            <p:spPr/>
            <p:txBody>
              <a:bodyPr/>
              <a:lstStyle/>
              <a:p>
                <a:r>
                  <a:rPr lang="en-US" sz="2000" dirty="0"/>
                  <a:t>To make the QFT implementation easier, it is possible to express QFT in term of rotations.</a:t>
                </a:r>
              </a:p>
              <a:p>
                <a:pPr marL="457200" indent="-457200">
                  <a:buFont typeface="Arial" panose="020B0604020202020204" pitchFamily="34" charset="0"/>
                  <a:buChar char="•"/>
                </a:pPr>
                <a:r>
                  <a:rPr lang="en-US" sz="2000" dirty="0"/>
                  <a:t>For 1 qubit, we express the Hadamard transform in terms of relative phase. This expression is derived directly from the QFT formula. </a:t>
                </a:r>
              </a:p>
              <a:p>
                <a:pPr marL="457200" indent="-457200">
                  <a:buFont typeface="+mj-lt"/>
                  <a:buAutoNum type="arabicPeriod"/>
                </a:pPr>
                <a:r>
                  <a:rPr lang="en-US" sz="2000" dirty="0"/>
                  <a:t>For two qubits </a:t>
                </a:r>
                <a:r>
                  <a:rPr lang="en-US" sz="2000" i="0">
                    <a:latin typeface="Cambria Math" panose="02040503050406030204" pitchFamily="18" charset="0"/>
                    <a:ea typeface="Cambria Math" panose="02040503050406030204" pitchFamily="18" charset="0"/>
                  </a:rPr>
                  <a:t>𝑥_0 𝑥_</a:t>
                </a:r>
                <a:r>
                  <a:rPr lang="en-US" sz="2000" b="0" i="0">
                    <a:latin typeface="Cambria Math" panose="02040503050406030204" pitchFamily="18" charset="0"/>
                    <a:ea typeface="Cambria Math" panose="02040503050406030204" pitchFamily="18" charset="0"/>
                  </a:rPr>
                  <a:t>1</a:t>
                </a:r>
                <a:r>
                  <a:rPr lang="en-US" sz="2000" dirty="0"/>
                  <a:t> where </a:t>
                </a:r>
                <a:r>
                  <a:rPr lang="en-US" sz="2000" i="0">
                    <a:latin typeface="Cambria Math" panose="02040503050406030204" pitchFamily="18" charset="0"/>
                    <a:ea typeface="Cambria Math" panose="02040503050406030204" pitchFamily="18" charset="0"/>
                  </a:rPr>
                  <a:t>𝑥_0</a:t>
                </a:r>
                <a:r>
                  <a:rPr lang="en-US" sz="2000" dirty="0"/>
                  <a:t> and </a:t>
                </a:r>
                <a:r>
                  <a:rPr lang="en-US" sz="2000" i="0">
                    <a:latin typeface="Cambria Math" panose="02040503050406030204" pitchFamily="18" charset="0"/>
                    <a:ea typeface="Cambria Math" panose="02040503050406030204" pitchFamily="18" charset="0"/>
                  </a:rPr>
                  <a:t>𝑥_</a:t>
                </a:r>
                <a:r>
                  <a:rPr lang="en-US" sz="2000" b="0" i="0">
                    <a:latin typeface="Cambria Math" panose="02040503050406030204" pitchFamily="18" charset="0"/>
                    <a:ea typeface="Cambria Math" panose="02040503050406030204" pitchFamily="18" charset="0"/>
                  </a:rPr>
                  <a:t>1</a:t>
                </a:r>
                <a:r>
                  <a:rPr lang="en-US" sz="2000" dirty="0"/>
                  <a:t> can each be ether 0 or 1, we </a:t>
                </a:r>
                <a:r>
                  <a:rPr lang="en-US" sz="2000" baseline="0" dirty="0"/>
                  <a:t> apply a rotation by  roots of unity and find the combined state via the Kronecker product. Unlike the previous expression this one is not obvious, but it is not so difficult to  derive it from tensor product of  individual QFTs.</a:t>
                </a:r>
              </a:p>
              <a:p>
                <a:pPr marL="457200" indent="-457200">
                  <a:buFont typeface="+mj-lt"/>
                  <a:buAutoNum type="arabicPeriod"/>
                </a:pPr>
                <a:r>
                  <a:rPr lang="en-US" sz="2000" baseline="0" dirty="0"/>
                  <a:t>The same pattern is applied for 3 qubits. </a:t>
                </a:r>
              </a:p>
              <a:p>
                <a:pPr marL="457200" indent="-457200">
                  <a:buFont typeface="+mj-lt"/>
                  <a:buAutoNum type="arabicPeriod"/>
                </a:pPr>
                <a:r>
                  <a:rPr lang="en-US" sz="2000" baseline="0" dirty="0"/>
                  <a:t>And finally for n-qubits. After all transformations are applied, the output qubits will be in reverse order of input qubits.</a:t>
                </a:r>
              </a:p>
              <a:p>
                <a:pPr marL="457200" indent="-457200">
                  <a:buFont typeface="+mj-lt"/>
                  <a:buAutoNum type="arabicPeriod"/>
                </a:pPr>
                <a:endParaRPr lang="en-US" sz="2000" baseline="0" dirty="0"/>
              </a:p>
              <a:p>
                <a:pPr marL="0" indent="0">
                  <a:buFont typeface="+mj-lt"/>
                  <a:buNone/>
                </a:pPr>
                <a:r>
                  <a:rPr lang="en-US" sz="2000" dirty="0"/>
                  <a:t>https://</a:t>
                </a:r>
                <a:r>
                  <a:rPr lang="en-US" sz="2000" dirty="0" err="1"/>
                  <a:t>demonstrations.wolfram.com</a:t>
                </a:r>
                <a:r>
                  <a:rPr lang="en-US" sz="2000" dirty="0"/>
                  <a:t>/</a:t>
                </a:r>
                <a:r>
                  <a:rPr lang="en-US" sz="2000" dirty="0" err="1"/>
                  <a:t>QuantumFourierTransformCircuit</a:t>
                </a:r>
                <a:r>
                  <a:rPr lang="en-US" sz="2000" dirty="0"/>
                  <a:t>/#more</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62</a:t>
            </a:fld>
            <a:endParaRPr lang="en-US"/>
          </a:p>
        </p:txBody>
      </p:sp>
    </p:spTree>
    <p:extLst>
      <p:ext uri="{BB962C8B-B14F-4D97-AF65-F5344CB8AC3E}">
        <p14:creationId xmlns:p14="http://schemas.microsoft.com/office/powerpoint/2010/main" val="228574043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The formula shows how the QFT transforms each qubit into a superposition with a specific relative phase. To realize this transformation in a quantum circuit, these superpositions and phase relationships must be created using quantum gates. This is achieved using Hadamard gates to create the superpositions and controlled phase gates to introduce the required phases.</a:t>
                </a:r>
              </a:p>
              <a:p>
                <a:pPr algn="just"/>
                <a:endParaRPr lang="en-ZA" b="0" dirty="0"/>
              </a:p>
              <a:p>
                <a:pPr algn="just"/>
                <a:r>
                  <a:rPr lang="en-ZA" b="0" dirty="0"/>
                  <a:t>To build the complete QFT, these gates are applied in a specific sequence. At the end, SWAP gates reverse the qubit order so that the output matches the usual convention.</a:t>
                </a:r>
              </a:p>
            </p:txBody>
          </p:sp>
        </mc:Choice>
        <mc:Fallback xmlns="">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sz="2000" dirty="0"/>
                  <a:t>As the previous equation shows, to implement the QFT we would need the H gate, a phase shift gate and the swap gate.</a:t>
                </a:r>
              </a:p>
              <a:p>
                <a:pPr marL="342900" indent="-342900">
                  <a:buFont typeface="Arial" panose="020B0604020202020204" pitchFamily="34" charset="0"/>
                  <a:buChar char="•"/>
                </a:pPr>
                <a:r>
                  <a:rPr lang="en-US" sz="2000" dirty="0"/>
                  <a:t>The H gate puts qubit in  equal superposition</a:t>
                </a:r>
                <a:r>
                  <a:rPr lang="en-US" sz="2000" baseline="0" dirty="0"/>
                  <a:t> and apply a phase shift of </a:t>
                </a:r>
                <a:r>
                  <a:rPr lang="en-US" sz="2000" i="0">
                    <a:latin typeface="Cambria Math" panose="02040503050406030204" pitchFamily="18" charset="0"/>
                    <a:ea typeface="Cambria Math" panose="02040503050406030204" pitchFamily="18" charset="0"/>
                  </a:rPr>
                  <a:t>𝑒^𝑖𝜋𝑥</a:t>
                </a:r>
                <a:r>
                  <a:rPr lang="en-US" sz="2000" baseline="0" dirty="0"/>
                  <a:t> to qubit </a:t>
                </a:r>
                <a:r>
                  <a:rPr lang="en-US" sz="2000" i="0">
                    <a:latin typeface="Cambria Math" panose="02040503050406030204" pitchFamily="18" charset="0"/>
                    <a:ea typeface="Cambria Math" panose="02040503050406030204" pitchFamily="18" charset="0"/>
                  </a:rPr>
                  <a:t>├ |</a:t>
                </a:r>
                <a:r>
                  <a:rPr lang="en-US" sz="2000" b="0" i="0">
                    <a:latin typeface="Cambria Math" panose="02040503050406030204" pitchFamily="18" charset="0"/>
                    <a:ea typeface="Cambria Math" panose="02040503050406030204" pitchFamily="18" charset="0"/>
                  </a:rPr>
                  <a:t>1⟩</a:t>
                </a:r>
                <a:r>
                  <a:rPr lang="en-US" sz="2000" baseline="0" dirty="0"/>
                  <a:t>, which is +1 for input </a:t>
                </a:r>
                <a:r>
                  <a:rPr lang="en-US" sz="2000" i="0">
                    <a:latin typeface="Cambria Math" panose="02040503050406030204" pitchFamily="18" charset="0"/>
                    <a:ea typeface="Cambria Math" panose="02040503050406030204" pitchFamily="18" charset="0"/>
                  </a:rPr>
                  <a:t>├ |</a:t>
                </a:r>
                <a:r>
                  <a:rPr lang="en-US" sz="2000" b="0" i="0">
                    <a:latin typeface="Cambria Math" panose="02040503050406030204" pitchFamily="18" charset="0"/>
                    <a:ea typeface="Cambria Math" panose="02040503050406030204" pitchFamily="18" charset="0"/>
                  </a:rPr>
                  <a:t>0⟩</a:t>
                </a:r>
                <a:r>
                  <a:rPr lang="en-US" sz="2000" baseline="0" dirty="0"/>
                  <a:t>  and -1, for input  </a:t>
                </a:r>
                <a:r>
                  <a:rPr lang="en-US" sz="2000" i="0">
                    <a:latin typeface="Cambria Math" panose="02040503050406030204" pitchFamily="18" charset="0"/>
                    <a:ea typeface="Cambria Math" panose="02040503050406030204" pitchFamily="18" charset="0"/>
                  </a:rPr>
                  <a:t>├ |</a:t>
                </a:r>
                <a:r>
                  <a:rPr lang="en-US" sz="2000" b="0" i="0">
                    <a:latin typeface="Cambria Math" panose="02040503050406030204" pitchFamily="18" charset="0"/>
                    <a:ea typeface="Cambria Math" panose="02040503050406030204" pitchFamily="18" charset="0"/>
                  </a:rPr>
                  <a:t>1⟩</a:t>
                </a:r>
                <a:r>
                  <a:rPr lang="en-US" sz="2000" dirty="0"/>
                  <a: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t>A</a:t>
                </a:r>
                <a:r>
                  <a:rPr lang="en-US" sz="2000" baseline="0" dirty="0"/>
                  <a:t> phase shift gate, or CP gate, rotates </a:t>
                </a:r>
                <a:r>
                  <a:rPr lang="en-US" sz="2000" i="0">
                    <a:latin typeface="Cambria Math" panose="02040503050406030204" pitchFamily="18" charset="0"/>
                    <a:ea typeface="Cambria Math" panose="02040503050406030204" pitchFamily="18" charset="0"/>
                  </a:rPr>
                  <a:t>├ |</a:t>
                </a:r>
                <a:r>
                  <a:rPr lang="en-US" sz="2000" b="0" i="0">
                    <a:latin typeface="Cambria Math" panose="02040503050406030204" pitchFamily="18" charset="0"/>
                    <a:ea typeface="Cambria Math" panose="02040503050406030204" pitchFamily="18" charset="0"/>
                  </a:rPr>
                  <a:t>1⟩</a:t>
                </a:r>
                <a:r>
                  <a:rPr lang="en-US" sz="2000" baseline="0" dirty="0"/>
                  <a:t>  qubits through roots of unity, depending of qubits values</a:t>
                </a:r>
                <a:r>
                  <a:rPr lang="en-US" sz="2000" dirty="0"/>
                  <a:t>.</a:t>
                </a:r>
                <a:r>
                  <a:rPr lang="en-US" sz="2000" baseline="0" dirty="0"/>
                  <a:t> </a:t>
                </a:r>
                <a:r>
                  <a:rPr lang="en-US" sz="2000" dirty="0"/>
                  <a:t> As common for controlled gates, this</a:t>
                </a:r>
                <a:r>
                  <a:rPr lang="en-US" sz="2000" baseline="0" dirty="0"/>
                  <a:t> gate</a:t>
                </a:r>
                <a:r>
                  <a:rPr lang="en-US" sz="2000" dirty="0"/>
                  <a:t> operator has in the main diagonal </a:t>
                </a:r>
                <a:r>
                  <a:rPr lang="en-US" sz="2000" b="0" i="0">
                    <a:latin typeface="Cambria Math" panose="02040503050406030204" pitchFamily="18" charset="0"/>
                  </a:rPr>
                  <a:t>𝐼</a:t>
                </a:r>
                <a:r>
                  <a:rPr lang="en-US" sz="2000" dirty="0"/>
                  <a:t> matrix</a:t>
                </a:r>
                <a:r>
                  <a:rPr lang="en-US" sz="2000" baseline="0" dirty="0"/>
                  <a:t> </a:t>
                </a:r>
                <a:r>
                  <a:rPr lang="en-US" sz="2000" dirty="0"/>
                  <a:t> and a</a:t>
                </a:r>
                <a:r>
                  <a:rPr lang="en-US" sz="2000" baseline="0" dirty="0"/>
                  <a:t> single qubit gate that we wish to control. If the control qubit is 0, the target qubit remains unchanged, and if control qubit is 1, a phase shift is applied. This is diagonal and symmetric gate, so the gate can be mirrored vertically.</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2000" dirty="0"/>
                  <a:t>The SWAP gate is needed to swap output qubits to match the input. </a:t>
                </a:r>
                <a:endParaRPr lang="en-US" sz="2000" dirty="0"/>
              </a:p>
              <a:p>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63</a:t>
            </a:fld>
            <a:endParaRPr lang="en-US"/>
          </a:p>
        </p:txBody>
      </p:sp>
    </p:spTree>
    <p:extLst>
      <p:ext uri="{BB962C8B-B14F-4D97-AF65-F5344CB8AC3E}">
        <p14:creationId xmlns:p14="http://schemas.microsoft.com/office/powerpoint/2010/main" val="84903693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dirty="0"/>
                  <a:t>Translating the mathematical expression of the QFT for two qubits into a quantum circuit results in the configuration shown in the figure</a:t>
                </a:r>
                <a:r>
                  <a:rPr lang="en-ZA" b="0" dirty="0"/>
                  <a:t>.</a:t>
                </a:r>
              </a:p>
              <a:p>
                <a:endParaRPr lang="en-ZA" b="0" dirty="0"/>
              </a:p>
              <a:p>
                <a:pPr marL="171450" indent="-171450">
                  <a:buFont typeface="Arial" panose="020B0604020202020204" pitchFamily="34" charset="0"/>
                  <a:buChar char="•"/>
                </a:pPr>
                <a:r>
                  <a:rPr lang="en-ZA" b="0" dirty="0"/>
                  <a:t>Following Coppersmith’s equation, we start from the last (bottom) qubit, </a:t>
                </a:r>
                <a14:m>
                  <m:oMath xmlns:m="http://schemas.openxmlformats.org/officeDocument/2006/math">
                    <m:sSub>
                      <m:sSubPr>
                        <m:ctrlPr>
                          <a:rPr lang="en-US" sz="1200" b="0" i="1" smtClean="0">
                            <a:latin typeface="Cambria Math" panose="02040503050406030204" pitchFamily="18" charset="0"/>
                            <a:ea typeface="Cambria Math" panose="02040503050406030204" pitchFamily="18" charset="0"/>
                          </a:rPr>
                        </m:ctrlPr>
                      </m:sSubPr>
                      <m:e>
                        <m:r>
                          <a:rPr lang="en-US" sz="1200" b="0" i="1">
                            <a:latin typeface="Cambria Math" panose="02040503050406030204" pitchFamily="18" charset="0"/>
                            <a:ea typeface="Cambria Math" panose="02040503050406030204" pitchFamily="18" charset="0"/>
                          </a:rPr>
                          <m:t>𝑥</m:t>
                        </m:r>
                      </m:e>
                      <m:sub>
                        <m:r>
                          <a:rPr lang="en-US" sz="1200" b="0" i="1">
                            <a:latin typeface="Cambria Math" panose="02040503050406030204" pitchFamily="18" charset="0"/>
                            <a:ea typeface="Cambria Math" panose="02040503050406030204" pitchFamily="18" charset="0"/>
                          </a:rPr>
                          <m:t>2</m:t>
                        </m:r>
                      </m:sub>
                    </m:sSub>
                  </m:oMath>
                </a14:m>
                <a:r>
                  <a:rPr lang="en-ZA" b="0" dirty="0"/>
                  <a:t>​, </a:t>
                </a:r>
                <a:r>
                  <a:rPr lang="en-ZA" dirty="0"/>
                  <a:t>to which only the Hadamard gate is applied</a:t>
                </a:r>
                <a:r>
                  <a:rPr lang="en-ZA" b="0" dirty="0"/>
                  <a:t>.</a:t>
                </a:r>
                <a:r>
                  <a:rPr lang="en-ZA" b="0" baseline="0" dirty="0"/>
                  <a:t> </a:t>
                </a:r>
                <a:r>
                  <a:rPr lang="en-ZA" b="0" dirty="0"/>
                  <a:t>The term </a:t>
                </a:r>
                <a14:m>
                  <m:oMath xmlns:m="http://schemas.openxmlformats.org/officeDocument/2006/math">
                    <m:sSup>
                      <m:sSupPr>
                        <m:ctrlPr>
                          <a:rPr lang="en-US" sz="1200" b="0" i="1" smtClean="0">
                            <a:latin typeface="Cambria Math" panose="02040503050406030204" pitchFamily="18" charset="0"/>
                            <a:ea typeface="Cambria Math" panose="02040503050406030204" pitchFamily="18" charset="0"/>
                          </a:rPr>
                        </m:ctrlPr>
                      </m:sSupPr>
                      <m:e>
                        <m:r>
                          <a:rPr lang="en-US" sz="1200" b="0" i="1">
                            <a:latin typeface="Cambria Math" panose="02040503050406030204" pitchFamily="18" charset="0"/>
                            <a:ea typeface="Cambria Math" panose="02040503050406030204" pitchFamily="18" charset="0"/>
                          </a:rPr>
                          <m:t>𝑒</m:t>
                        </m:r>
                      </m:e>
                      <m:sup>
                        <m:r>
                          <a:rPr lang="en-US" sz="1200" b="0" i="1" smtClean="0">
                            <a:latin typeface="Cambria Math" panose="02040503050406030204" pitchFamily="18" charset="0"/>
                            <a:ea typeface="Cambria Math" panose="02040503050406030204" pitchFamily="18" charset="0"/>
                          </a:rPr>
                          <m:t>2</m:t>
                        </m:r>
                        <m:r>
                          <a:rPr lang="en-US" sz="1200" b="0" i="1">
                            <a:latin typeface="Cambria Math" panose="02040503050406030204" pitchFamily="18" charset="0"/>
                            <a:ea typeface="Cambria Math" panose="02040503050406030204" pitchFamily="18" charset="0"/>
                          </a:rPr>
                          <m:t>𝜋</m:t>
                        </m:r>
                        <m:r>
                          <a:rPr lang="en-US" sz="1200" b="0" i="1">
                            <a:latin typeface="Cambria Math" panose="02040503050406030204" pitchFamily="18" charset="0"/>
                            <a:ea typeface="Cambria Math" panose="02040503050406030204" pitchFamily="18" charset="0"/>
                          </a:rPr>
                          <m:t>𝑖</m:t>
                        </m:r>
                        <m:r>
                          <a:rPr lang="en-US" sz="1200" b="0" i="1" smtClean="0">
                            <a:latin typeface="Cambria Math" panose="02040503050406030204" pitchFamily="18" charset="0"/>
                            <a:ea typeface="Cambria Math" panose="02040503050406030204" pitchFamily="18" charset="0"/>
                          </a:rPr>
                          <m:t>[0.</m:t>
                        </m:r>
                        <m:sSub>
                          <m:sSubPr>
                            <m:ctrlPr>
                              <a:rPr lang="en-US" sz="1200" b="0" i="1">
                                <a:latin typeface="Cambria Math" panose="02040503050406030204" pitchFamily="18" charset="0"/>
                                <a:ea typeface="Cambria Math" panose="02040503050406030204" pitchFamily="18" charset="0"/>
                              </a:rPr>
                            </m:ctrlPr>
                          </m:sSubPr>
                          <m:e>
                            <m:r>
                              <a:rPr lang="en-US" sz="1200" b="0" i="1">
                                <a:latin typeface="Cambria Math" panose="02040503050406030204" pitchFamily="18" charset="0"/>
                                <a:ea typeface="Cambria Math" panose="02040503050406030204" pitchFamily="18" charset="0"/>
                              </a:rPr>
                              <m:t>𝑥</m:t>
                            </m:r>
                          </m:e>
                          <m:sub>
                            <m:r>
                              <a:rPr lang="en-US" sz="1200" b="0" i="1">
                                <a:latin typeface="Cambria Math" panose="02040503050406030204" pitchFamily="18" charset="0"/>
                                <a:ea typeface="Cambria Math" panose="02040503050406030204" pitchFamily="18" charset="0"/>
                              </a:rPr>
                              <m:t>2</m:t>
                            </m:r>
                          </m:sub>
                        </m:sSub>
                        <m:r>
                          <a:rPr lang="en-US" sz="1200" b="0" i="1" smtClean="0">
                            <a:latin typeface="Cambria Math" panose="02040503050406030204" pitchFamily="18" charset="0"/>
                            <a:ea typeface="Cambria Math" panose="02040503050406030204" pitchFamily="18" charset="0"/>
                          </a:rPr>
                          <m:t>]</m:t>
                        </m:r>
                      </m:sup>
                    </m:sSup>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ea typeface="Cambria Math" panose="02040503050406030204" pitchFamily="18" charset="0"/>
                          </a:rPr>
                        </m:ctrlPr>
                      </m:sSupPr>
                      <m:e>
                        <m:r>
                          <a:rPr lang="en-US" sz="1200" b="0" i="1">
                            <a:latin typeface="Cambria Math" panose="02040503050406030204" pitchFamily="18" charset="0"/>
                            <a:ea typeface="Cambria Math" panose="02040503050406030204" pitchFamily="18" charset="0"/>
                          </a:rPr>
                          <m:t>𝑒</m:t>
                        </m:r>
                      </m:e>
                      <m:sup>
                        <m:r>
                          <a:rPr lang="en-US" sz="1200" b="0" i="1">
                            <a:latin typeface="Cambria Math" panose="02040503050406030204" pitchFamily="18" charset="0"/>
                            <a:ea typeface="Cambria Math" panose="02040503050406030204" pitchFamily="18" charset="0"/>
                          </a:rPr>
                          <m:t>𝜋</m:t>
                        </m:r>
                        <m:r>
                          <a:rPr lang="en-US" sz="1200" b="0" i="1">
                            <a:latin typeface="Cambria Math" panose="02040503050406030204" pitchFamily="18" charset="0"/>
                            <a:ea typeface="Cambria Math" panose="02040503050406030204" pitchFamily="18" charset="0"/>
                          </a:rPr>
                          <m:t>𝑖</m:t>
                        </m:r>
                        <m:sSub>
                          <m:sSubPr>
                            <m:ctrlPr>
                              <a:rPr lang="en-US" sz="1200" b="0" i="1" smtClean="0">
                                <a:latin typeface="Cambria Math" panose="02040503050406030204" pitchFamily="18" charset="0"/>
                                <a:ea typeface="Cambria Math" panose="02040503050406030204" pitchFamily="18" charset="0"/>
                              </a:rPr>
                            </m:ctrlPr>
                          </m:sSubPr>
                          <m:e>
                            <m:r>
                              <a:rPr lang="en-US" sz="1200" b="0" i="1">
                                <a:latin typeface="Cambria Math" panose="02040503050406030204" pitchFamily="18" charset="0"/>
                                <a:ea typeface="Cambria Math" panose="02040503050406030204" pitchFamily="18" charset="0"/>
                              </a:rPr>
                              <m:t>𝑥</m:t>
                            </m:r>
                          </m:e>
                          <m:sub>
                            <m:r>
                              <a:rPr lang="en-US" sz="1200" b="0" i="1">
                                <a:latin typeface="Cambria Math" panose="02040503050406030204" pitchFamily="18" charset="0"/>
                                <a:ea typeface="Cambria Math" panose="02040503050406030204" pitchFamily="18" charset="0"/>
                              </a:rPr>
                              <m:t>2</m:t>
                            </m:r>
                          </m:sub>
                        </m:sSub>
                      </m:sup>
                    </m:sSup>
                  </m:oMath>
                </a14:m>
                <a:r>
                  <a:rPr lang="en-ZA" b="0" dirty="0"/>
                  <a:t> </a:t>
                </a:r>
                <a:r>
                  <a:rPr lang="en-ZA" dirty="0"/>
                  <a:t>determines the relative phase of the resulting superposition</a:t>
                </a:r>
                <a:r>
                  <a:rPr lang="en-ZA" b="0" dirty="0"/>
                  <a: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0" dirty="0"/>
                  <a:t>If </a:t>
                </a:r>
                <a14:m>
                  <m:oMath xmlns:m="http://schemas.openxmlformats.org/officeDocument/2006/math">
                    <m:sSub>
                      <m:sSubPr>
                        <m:ctrlPr>
                          <a:rPr lang="en-US" sz="1200" b="0" i="1" smtClean="0">
                            <a:latin typeface="Cambria Math" panose="02040503050406030204" pitchFamily="18" charset="0"/>
                            <a:ea typeface="Cambria Math" panose="02040503050406030204" pitchFamily="18" charset="0"/>
                          </a:rPr>
                        </m:ctrlPr>
                      </m:sSubPr>
                      <m:e>
                        <m:r>
                          <a:rPr lang="en-US" sz="1200" b="0" i="1">
                            <a:latin typeface="Cambria Math" panose="02040503050406030204" pitchFamily="18" charset="0"/>
                            <a:ea typeface="Cambria Math" panose="02040503050406030204" pitchFamily="18" charset="0"/>
                          </a:rPr>
                          <m:t>𝑥</m:t>
                        </m:r>
                      </m:e>
                      <m:sub>
                        <m:r>
                          <a:rPr lang="en-US" sz="1200" b="0" i="1">
                            <a:latin typeface="Cambria Math" panose="02040503050406030204" pitchFamily="18" charset="0"/>
                            <a:ea typeface="Cambria Math" panose="02040503050406030204" pitchFamily="18" charset="0"/>
                          </a:rPr>
                          <m:t>2</m:t>
                        </m:r>
                      </m:sub>
                    </m:sSub>
                    <m:r>
                      <a:rPr lang="en-US" sz="1200" b="0" i="1" smtClean="0">
                        <a:latin typeface="Cambria Math" panose="02040503050406030204" pitchFamily="18" charset="0"/>
                        <a:ea typeface="Cambria Math" panose="02040503050406030204" pitchFamily="18" charset="0"/>
                      </a:rPr>
                      <m:t>=0</m:t>
                    </m:r>
                  </m:oMath>
                </a14:m>
                <a:r>
                  <a:rPr lang="en-ZA" b="0" dirty="0"/>
                  <a:t>, </a:t>
                </a:r>
                <a:r>
                  <a:rPr lang="en-ZA" dirty="0"/>
                  <a:t>the relative phase is </a:t>
                </a:r>
                <a14:m>
                  <m:oMath xmlns:m="http://schemas.openxmlformats.org/officeDocument/2006/math">
                    <m:sSup>
                      <m:sSupPr>
                        <m:ctrlPr>
                          <a:rPr lang="en-US" sz="1200" b="0" i="1" smtClean="0">
                            <a:latin typeface="Cambria Math" panose="02040503050406030204" pitchFamily="18" charset="0"/>
                            <a:ea typeface="Cambria Math" panose="02040503050406030204" pitchFamily="18" charset="0"/>
                          </a:rPr>
                        </m:ctrlPr>
                      </m:sSupPr>
                      <m:e>
                        <m:r>
                          <a:rPr lang="en-US" sz="1200" b="0" i="1">
                            <a:latin typeface="Cambria Math" panose="02040503050406030204" pitchFamily="18" charset="0"/>
                            <a:ea typeface="Cambria Math" panose="02040503050406030204" pitchFamily="18" charset="0"/>
                          </a:rPr>
                          <m:t>𝑒</m:t>
                        </m:r>
                      </m:e>
                      <m:sup>
                        <m:r>
                          <a:rPr lang="en-US" sz="1200" b="0" i="1" smtClean="0">
                            <a:latin typeface="Cambria Math" panose="02040503050406030204" pitchFamily="18" charset="0"/>
                            <a:ea typeface="Cambria Math" panose="02040503050406030204" pitchFamily="18" charset="0"/>
                          </a:rPr>
                          <m:t>0</m:t>
                        </m:r>
                      </m:sup>
                    </m:sSup>
                    <m:r>
                      <a:rPr lang="en-US" sz="1200" b="0" i="1" smtClean="0">
                        <a:latin typeface="Cambria Math" panose="02040503050406030204" pitchFamily="18" charset="0"/>
                        <a:ea typeface="Cambria Math" panose="02040503050406030204" pitchFamily="18" charset="0"/>
                      </a:rPr>
                      <m:t>=1</m:t>
                    </m:r>
                  </m:oMath>
                </a14:m>
                <a:r>
                  <a:rPr lang="en-ZA" dirty="0"/>
                  <a:t> giving, </a:t>
                </a:r>
                <a14:m>
                  <m:oMath xmlns:m="http://schemas.openxmlformats.org/officeDocument/2006/math">
                    <m:f>
                      <m:fPr>
                        <m:type m:val="lin"/>
                        <m:ctrlPr>
                          <a:rPr lang="en-US" sz="1200" b="0" i="1" smtClean="0">
                            <a:latin typeface="Cambria Math" panose="02040503050406030204" pitchFamily="18" charset="0"/>
                            <a:ea typeface="Cambria Math" panose="02040503050406030204" pitchFamily="18" charset="0"/>
                          </a:rPr>
                        </m:ctrlPr>
                      </m:fPr>
                      <m:num>
                        <m:r>
                          <a:rPr lang="en-US" sz="1200" b="0" i="1" smtClean="0">
                            <a:latin typeface="Cambria Math" panose="02040503050406030204" pitchFamily="18" charset="0"/>
                            <a:ea typeface="Cambria Math" panose="02040503050406030204" pitchFamily="18" charset="0"/>
                          </a:rPr>
                          <m:t>(</m:t>
                        </m:r>
                        <m:d>
                          <m:dPr>
                            <m:begChr m:val=""/>
                            <m:endChr m:val="⟩"/>
                            <m:ctrlPr>
                              <a:rPr lang="en-US" sz="1200" i="1" smtClean="0">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|0</m:t>
                            </m:r>
                          </m:e>
                        </m:d>
                        <m:r>
                          <a:rPr lang="en-US" sz="1200" b="0" i="1" smtClean="0">
                            <a:latin typeface="Cambria Math" panose="02040503050406030204" pitchFamily="18" charset="0"/>
                            <a:ea typeface="Cambria Math" panose="02040503050406030204" pitchFamily="18" charset="0"/>
                          </a:rPr>
                          <m:t>+</m:t>
                        </m:r>
                        <m:d>
                          <m:dPr>
                            <m:begChr m:val=""/>
                            <m:endChr m:val="⟩"/>
                            <m:ctrlPr>
                              <a:rPr lang="en-US" sz="1200" i="1" smtClean="0">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1</m:t>
                            </m:r>
                          </m:e>
                        </m:d>
                        <m:r>
                          <a:rPr lang="en-US" sz="1200" b="0" i="1" smtClean="0">
                            <a:latin typeface="Cambria Math" panose="02040503050406030204" pitchFamily="18" charset="0"/>
                            <a:ea typeface="Cambria Math" panose="02040503050406030204" pitchFamily="18" charset="0"/>
                          </a:rPr>
                          <m:t>)</m:t>
                        </m:r>
                      </m:num>
                      <m:den>
                        <m:rad>
                          <m:radPr>
                            <m:degHide m:val="on"/>
                            <m:ctrlPr>
                              <a:rPr lang="en-US" sz="1200" b="0" i="1" smtClean="0">
                                <a:latin typeface="Cambria Math" panose="02040503050406030204" pitchFamily="18" charset="0"/>
                                <a:ea typeface="Cambria Math" panose="02040503050406030204" pitchFamily="18" charset="0"/>
                              </a:rPr>
                            </m:ctrlPr>
                          </m:radPr>
                          <m:deg/>
                          <m:e>
                            <m:r>
                              <a:rPr lang="en-US" sz="1200" b="0" i="1" smtClean="0">
                                <a:latin typeface="Cambria Math" panose="02040503050406030204" pitchFamily="18" charset="0"/>
                                <a:ea typeface="Cambria Math" panose="02040503050406030204" pitchFamily="18" charset="0"/>
                              </a:rPr>
                              <m:t>2</m:t>
                            </m:r>
                          </m:e>
                        </m:rad>
                      </m:den>
                    </m:f>
                  </m:oMath>
                </a14:m>
                <a:endParaRPr lang="en-ZA" b="0" dirty="0"/>
              </a:p>
              <a:p>
                <a:pPr marL="628650" lvl="1" indent="-171450">
                  <a:buFont typeface="Arial" panose="020B0604020202020204" pitchFamily="34" charset="0"/>
                  <a:buChar char="•"/>
                </a:pPr>
                <a:r>
                  <a:rPr lang="en-ZA" b="0" dirty="0"/>
                  <a:t>If </a:t>
                </a:r>
                <a14:m>
                  <m:oMath xmlns:m="http://schemas.openxmlformats.org/officeDocument/2006/math">
                    <m:sSub>
                      <m:sSubPr>
                        <m:ctrlPr>
                          <a:rPr lang="en-US" sz="1200" b="0" i="1" smtClean="0">
                            <a:latin typeface="Cambria Math" panose="02040503050406030204" pitchFamily="18" charset="0"/>
                            <a:ea typeface="Cambria Math" panose="02040503050406030204" pitchFamily="18" charset="0"/>
                          </a:rPr>
                        </m:ctrlPr>
                      </m:sSubPr>
                      <m:e>
                        <m:r>
                          <a:rPr lang="en-US" sz="1200" b="0" i="1">
                            <a:latin typeface="Cambria Math" panose="02040503050406030204" pitchFamily="18" charset="0"/>
                            <a:ea typeface="Cambria Math" panose="02040503050406030204" pitchFamily="18" charset="0"/>
                          </a:rPr>
                          <m:t>𝑥</m:t>
                        </m:r>
                      </m:e>
                      <m:sub>
                        <m:r>
                          <a:rPr lang="en-US" sz="1200" b="0" i="1">
                            <a:latin typeface="Cambria Math" panose="02040503050406030204" pitchFamily="18" charset="0"/>
                            <a:ea typeface="Cambria Math" panose="02040503050406030204" pitchFamily="18" charset="0"/>
                          </a:rPr>
                          <m:t>2</m:t>
                        </m:r>
                      </m:sub>
                    </m:sSub>
                    <m:r>
                      <a:rPr lang="en-US" sz="1200" b="0" i="1" smtClean="0">
                        <a:latin typeface="Cambria Math" panose="02040503050406030204" pitchFamily="18" charset="0"/>
                        <a:ea typeface="Cambria Math" panose="02040503050406030204" pitchFamily="18" charset="0"/>
                      </a:rPr>
                      <m:t>=1</m:t>
                    </m:r>
                  </m:oMath>
                </a14:m>
                <a:r>
                  <a:rPr lang="en-ZA" b="0" dirty="0"/>
                  <a:t>, the relative phase is </a:t>
                </a:r>
                <a14:m>
                  <m:oMath xmlns:m="http://schemas.openxmlformats.org/officeDocument/2006/math">
                    <m:sSup>
                      <m:sSupPr>
                        <m:ctrlPr>
                          <a:rPr lang="en-US" sz="1200" b="0" i="1" smtClean="0">
                            <a:latin typeface="Cambria Math" panose="02040503050406030204" pitchFamily="18" charset="0"/>
                            <a:ea typeface="Cambria Math" panose="02040503050406030204" pitchFamily="18" charset="0"/>
                          </a:rPr>
                        </m:ctrlPr>
                      </m:sSupPr>
                      <m:e>
                        <m:r>
                          <a:rPr lang="en-US" sz="1200" b="0" i="1">
                            <a:latin typeface="Cambria Math" panose="02040503050406030204" pitchFamily="18" charset="0"/>
                            <a:ea typeface="Cambria Math" panose="02040503050406030204" pitchFamily="18" charset="0"/>
                          </a:rPr>
                          <m:t>𝑒</m:t>
                        </m:r>
                      </m:e>
                      <m:sup>
                        <m:r>
                          <a:rPr lang="en-US" sz="1200" b="0" i="1">
                            <a:latin typeface="Cambria Math" panose="02040503050406030204" pitchFamily="18" charset="0"/>
                            <a:ea typeface="Cambria Math" panose="02040503050406030204" pitchFamily="18" charset="0"/>
                          </a:rPr>
                          <m:t>𝜋</m:t>
                        </m:r>
                        <m:r>
                          <a:rPr lang="en-US" sz="1200" b="0" i="1">
                            <a:latin typeface="Cambria Math" panose="02040503050406030204" pitchFamily="18" charset="0"/>
                            <a:ea typeface="Cambria Math" panose="02040503050406030204" pitchFamily="18" charset="0"/>
                          </a:rPr>
                          <m:t>𝑖</m:t>
                        </m:r>
                      </m:sup>
                    </m:sSup>
                    <m:r>
                      <a:rPr lang="en-US" sz="1200" b="0" i="1" smtClean="0">
                        <a:latin typeface="Cambria Math" panose="02040503050406030204" pitchFamily="18" charset="0"/>
                        <a:ea typeface="Cambria Math" panose="02040503050406030204" pitchFamily="18" charset="0"/>
                      </a:rPr>
                      <m:t>=−1</m:t>
                    </m:r>
                  </m:oMath>
                </a14:m>
                <a:r>
                  <a:rPr lang="en-ZA" b="0" dirty="0"/>
                  <a:t>, </a:t>
                </a:r>
                <a:r>
                  <a:rPr lang="en-ZA" dirty="0"/>
                  <a:t>giving</a:t>
                </a:r>
                <a14:m>
                  <m:oMath xmlns:m="http://schemas.openxmlformats.org/officeDocument/2006/math">
                    <m:r>
                      <a:rPr lang="en-US" sz="1200" b="0" i="0" smtClean="0">
                        <a:latin typeface="Cambria Math" panose="02040503050406030204" pitchFamily="18" charset="0"/>
                        <a:ea typeface="Cambria Math" panose="02040503050406030204" pitchFamily="18" charset="0"/>
                      </a:rPr>
                      <m:t> </m:t>
                    </m:r>
                    <m:f>
                      <m:fPr>
                        <m:type m:val="lin"/>
                        <m:ctrlPr>
                          <a:rPr lang="en-US" sz="1200" b="0" i="1" smtClean="0">
                            <a:latin typeface="Cambria Math" panose="02040503050406030204" pitchFamily="18" charset="0"/>
                            <a:ea typeface="Cambria Math" panose="02040503050406030204" pitchFamily="18" charset="0"/>
                          </a:rPr>
                        </m:ctrlPr>
                      </m:fPr>
                      <m:num>
                        <m:r>
                          <a:rPr lang="en-US" sz="1200" b="0" i="1" smtClean="0">
                            <a:latin typeface="Cambria Math" panose="02040503050406030204" pitchFamily="18" charset="0"/>
                            <a:ea typeface="Cambria Math" panose="02040503050406030204" pitchFamily="18" charset="0"/>
                          </a:rPr>
                          <m:t>(</m:t>
                        </m:r>
                        <m:d>
                          <m:dPr>
                            <m:begChr m:val=""/>
                            <m:endChr m:val="⟩"/>
                            <m:ctrlPr>
                              <a:rPr lang="en-US" sz="1200" i="1" smtClean="0">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|0</m:t>
                            </m:r>
                          </m:e>
                        </m:d>
                        <m:r>
                          <a:rPr lang="en-US" sz="1200" b="0" i="1" smtClean="0">
                            <a:latin typeface="Cambria Math" panose="02040503050406030204" pitchFamily="18" charset="0"/>
                            <a:ea typeface="Cambria Math" panose="02040503050406030204" pitchFamily="18" charset="0"/>
                          </a:rPr>
                          <m:t>−</m:t>
                        </m:r>
                        <m:d>
                          <m:dPr>
                            <m:begChr m:val=""/>
                            <m:endChr m:val="⟩"/>
                            <m:ctrlPr>
                              <a:rPr lang="en-US" sz="1200" i="1" smtClean="0">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1</m:t>
                            </m:r>
                          </m:e>
                        </m:d>
                        <m:r>
                          <a:rPr lang="en-US" sz="1200" b="0" i="1" smtClean="0">
                            <a:latin typeface="Cambria Math" panose="02040503050406030204" pitchFamily="18" charset="0"/>
                            <a:ea typeface="Cambria Math" panose="02040503050406030204" pitchFamily="18" charset="0"/>
                          </a:rPr>
                          <m:t>)</m:t>
                        </m:r>
                      </m:num>
                      <m:den>
                        <m:rad>
                          <m:radPr>
                            <m:degHide m:val="on"/>
                            <m:ctrlPr>
                              <a:rPr lang="en-US" sz="1200" b="0" i="1" smtClean="0">
                                <a:latin typeface="Cambria Math" panose="02040503050406030204" pitchFamily="18" charset="0"/>
                                <a:ea typeface="Cambria Math" panose="02040503050406030204" pitchFamily="18" charset="0"/>
                              </a:rPr>
                            </m:ctrlPr>
                          </m:radPr>
                          <m:deg/>
                          <m:e>
                            <m:r>
                              <a:rPr lang="en-US" sz="1200" b="0" i="1" smtClean="0">
                                <a:latin typeface="Cambria Math" panose="02040503050406030204" pitchFamily="18" charset="0"/>
                                <a:ea typeface="Cambria Math" panose="02040503050406030204" pitchFamily="18" charset="0"/>
                              </a:rPr>
                              <m:t>2</m:t>
                            </m:r>
                          </m:e>
                        </m:rad>
                      </m:den>
                    </m:f>
                  </m:oMath>
                </a14:m>
                <a:r>
                  <a:rPr lang="en-ZA" b="0" dirty="0"/>
                  <a:t>.</a:t>
                </a:r>
                <a:endParaRPr lang="en-US" b="0" dirty="0"/>
              </a:p>
              <a:p>
                <a:pPr marL="628650" lvl="1" indent="-171450">
                  <a:buFont typeface="Arial" panose="020B0604020202020204" pitchFamily="34" charset="0"/>
                  <a:buChar char="•"/>
                </a:pPr>
                <a:endParaRPr lang="en-ZA" b="0" dirty="0"/>
              </a:p>
              <a:p>
                <a:pPr marL="171450" indent="-171450">
                  <a:buFont typeface="Arial" panose="020B0604020202020204" pitchFamily="34" charset="0"/>
                  <a:buChar char="•"/>
                </a:pPr>
                <a:r>
                  <a:rPr lang="en-ZA" dirty="0"/>
                  <a:t>Moving to the first (top) qubit,</a:t>
                </a:r>
                <a14:m>
                  <m:oMath xmlns:m="http://schemas.openxmlformats.org/officeDocument/2006/math">
                    <m:r>
                      <a:rPr lang="en-US" sz="1200" b="0" i="0" smtClean="0">
                        <a:latin typeface="Cambria Math" panose="02040503050406030204" pitchFamily="18" charset="0"/>
                        <a:ea typeface="Cambria Math" panose="02040503050406030204" pitchFamily="18" charset="0"/>
                      </a:rPr>
                      <m:t>   </m:t>
                    </m:r>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𝑥</m:t>
                        </m:r>
                      </m:e>
                      <m:sub>
                        <m:r>
                          <a:rPr lang="en-US" sz="1200" b="0" i="1" smtClean="0">
                            <a:latin typeface="Cambria Math" panose="02040503050406030204" pitchFamily="18" charset="0"/>
                            <a:ea typeface="Cambria Math" panose="02040503050406030204" pitchFamily="18" charset="0"/>
                          </a:rPr>
                          <m:t>1</m:t>
                        </m:r>
                      </m:sub>
                    </m:sSub>
                  </m:oMath>
                </a14:m>
                <a:r>
                  <a:rPr lang="en-ZA" dirty="0"/>
                  <a:t>, whose phase depends on both </a:t>
                </a:r>
                <a14:m>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𝑥</m:t>
                        </m:r>
                      </m:e>
                      <m:sub>
                        <m:r>
                          <a:rPr lang="en-US" sz="1200" b="0" i="1" smtClean="0">
                            <a:latin typeface="Cambria Math" panose="02040503050406030204" pitchFamily="18" charset="0"/>
                            <a:ea typeface="Cambria Math" panose="02040503050406030204" pitchFamily="18" charset="0"/>
                          </a:rPr>
                          <m:t>1</m:t>
                        </m:r>
                      </m:sub>
                    </m:sSub>
                  </m:oMath>
                </a14:m>
                <a:r>
                  <a:rPr lang="en-ZA" b="1" dirty="0"/>
                  <a:t>​</a:t>
                </a:r>
                <a:r>
                  <a:rPr lang="en-ZA" dirty="0"/>
                  <a:t> and </a:t>
                </a:r>
                <a14:m>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𝑥</m:t>
                        </m:r>
                      </m:e>
                      <m:sub>
                        <m:r>
                          <a:rPr lang="en-US" sz="1200" b="0" i="1" smtClean="0">
                            <a:latin typeface="Cambria Math" panose="02040503050406030204" pitchFamily="18" charset="0"/>
                            <a:ea typeface="Cambria Math" panose="02040503050406030204" pitchFamily="18" charset="0"/>
                          </a:rPr>
                          <m:t>2</m:t>
                        </m:r>
                      </m:sub>
                    </m:sSub>
                  </m:oMath>
                </a14:m>
                <a:br>
                  <a:rPr lang="en-US" b="0" baseline="0" dirty="0"/>
                </a:br>
                <a:endParaRPr lang="en-ZA" b="0" baseline="0" dirty="0"/>
              </a:p>
              <a:p>
                <a:pPr/>
                <a14:m>
                  <m:oMathPara xmlns:m="http://schemas.openxmlformats.org/officeDocument/2006/math">
                    <m:oMathParaPr>
                      <m:jc m:val="centerGroup"/>
                    </m:oMathParaPr>
                    <m:oMath xmlns:m="http://schemas.openxmlformats.org/officeDocument/2006/math">
                      <m:sSup>
                        <m:sSupPr>
                          <m:ctrlPr>
                            <a:rPr lang="en-US" sz="1200" b="0" i="1" smtClean="0">
                              <a:latin typeface="Cambria Math" panose="02040503050406030204" pitchFamily="18" charset="0"/>
                              <a:ea typeface="Cambria Math" panose="02040503050406030204" pitchFamily="18" charset="0"/>
                            </a:rPr>
                          </m:ctrlPr>
                        </m:sSupPr>
                        <m:e>
                          <m:r>
                            <a:rPr lang="en-US" sz="1200" b="0" i="1">
                              <a:latin typeface="Cambria Math" panose="02040503050406030204" pitchFamily="18" charset="0"/>
                              <a:ea typeface="Cambria Math" panose="02040503050406030204" pitchFamily="18" charset="0"/>
                            </a:rPr>
                            <m:t>𝑒</m:t>
                          </m:r>
                        </m:e>
                        <m:sup>
                          <m:r>
                            <a:rPr lang="en-US" sz="1200" b="0" i="1" smtClean="0">
                              <a:latin typeface="Cambria Math" panose="02040503050406030204" pitchFamily="18" charset="0"/>
                              <a:ea typeface="Cambria Math" panose="02040503050406030204" pitchFamily="18" charset="0"/>
                            </a:rPr>
                            <m:t>2</m:t>
                          </m:r>
                          <m:r>
                            <a:rPr lang="en-US" sz="1200" b="0" i="1">
                              <a:latin typeface="Cambria Math" panose="02040503050406030204" pitchFamily="18" charset="0"/>
                              <a:ea typeface="Cambria Math" panose="02040503050406030204" pitchFamily="18" charset="0"/>
                            </a:rPr>
                            <m:t>𝜋</m:t>
                          </m:r>
                          <m:r>
                            <a:rPr lang="en-US" sz="1200" b="0" i="1">
                              <a:latin typeface="Cambria Math" panose="02040503050406030204" pitchFamily="18" charset="0"/>
                              <a:ea typeface="Cambria Math" panose="02040503050406030204" pitchFamily="18" charset="0"/>
                            </a:rPr>
                            <m:t>𝑖</m:t>
                          </m:r>
                          <m:r>
                            <a:rPr lang="en-US" sz="1200" b="0" i="1" smtClean="0">
                              <a:latin typeface="Cambria Math" panose="02040503050406030204" pitchFamily="18" charset="0"/>
                              <a:ea typeface="Cambria Math" panose="02040503050406030204" pitchFamily="18" charset="0"/>
                            </a:rPr>
                            <m:t>[0.</m:t>
                          </m:r>
                          <m:sSub>
                            <m:sSubPr>
                              <m:ctrlPr>
                                <a:rPr lang="en-US" sz="1200" b="0" i="1" smtClean="0">
                                  <a:latin typeface="Cambria Math" panose="02040503050406030204" pitchFamily="18" charset="0"/>
                                  <a:ea typeface="Cambria Math" panose="02040503050406030204" pitchFamily="18" charset="0"/>
                                </a:rPr>
                              </m:ctrlPr>
                            </m:sSubPr>
                            <m:e>
                              <m:r>
                                <a:rPr lang="en-US" sz="1200" b="0" i="1">
                                  <a:latin typeface="Cambria Math" panose="02040503050406030204" pitchFamily="18" charset="0"/>
                                  <a:ea typeface="Cambria Math" panose="02040503050406030204" pitchFamily="18" charset="0"/>
                                </a:rPr>
                                <m:t>𝑥</m:t>
                              </m:r>
                            </m:e>
                            <m:sub>
                              <m:r>
                                <a:rPr lang="en-US" sz="1200" b="0" i="1" smtClean="0">
                                  <a:latin typeface="Cambria Math" panose="02040503050406030204" pitchFamily="18" charset="0"/>
                                  <a:ea typeface="Cambria Math" panose="02040503050406030204" pitchFamily="18" charset="0"/>
                                </a:rPr>
                                <m:t>1</m:t>
                              </m:r>
                            </m:sub>
                          </m:sSub>
                          <m:sSub>
                            <m:sSubPr>
                              <m:ctrlPr>
                                <a:rPr lang="en-US" sz="1200" b="0" i="1">
                                  <a:latin typeface="Cambria Math" panose="02040503050406030204" pitchFamily="18" charset="0"/>
                                  <a:ea typeface="Cambria Math" panose="02040503050406030204" pitchFamily="18" charset="0"/>
                                </a:rPr>
                              </m:ctrlPr>
                            </m:sSubPr>
                            <m:e>
                              <m:r>
                                <a:rPr lang="en-US" sz="1200" b="0" i="1">
                                  <a:latin typeface="Cambria Math" panose="02040503050406030204" pitchFamily="18" charset="0"/>
                                  <a:ea typeface="Cambria Math" panose="02040503050406030204" pitchFamily="18" charset="0"/>
                                </a:rPr>
                                <m:t>𝑥</m:t>
                              </m:r>
                            </m:e>
                            <m:sub>
                              <m:r>
                                <a:rPr lang="en-US" sz="1200" b="0" i="1">
                                  <a:latin typeface="Cambria Math" panose="02040503050406030204" pitchFamily="18" charset="0"/>
                                  <a:ea typeface="Cambria Math" panose="02040503050406030204" pitchFamily="18" charset="0"/>
                                </a:rPr>
                                <m:t>2</m:t>
                              </m:r>
                            </m:sub>
                          </m:sSub>
                          <m:r>
                            <a:rPr lang="en-US" sz="1200" b="0" i="1" smtClean="0">
                              <a:latin typeface="Cambria Math" panose="02040503050406030204" pitchFamily="18" charset="0"/>
                              <a:ea typeface="Cambria Math" panose="02040503050406030204" pitchFamily="18" charset="0"/>
                            </a:rPr>
                            <m:t>]</m:t>
                          </m:r>
                        </m:sup>
                      </m:sSup>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𝑒</m:t>
                          </m:r>
                        </m:e>
                        <m:sup>
                          <m:r>
                            <a:rPr lang="en-US" sz="1200" i="1">
                              <a:latin typeface="Cambria Math" panose="02040503050406030204" pitchFamily="18" charset="0"/>
                              <a:ea typeface="Cambria Math" panose="02040503050406030204" pitchFamily="18" charset="0"/>
                            </a:rPr>
                            <m:t>2</m:t>
                          </m:r>
                          <m:r>
                            <a:rPr lang="en-US" sz="1200" i="1">
                              <a:latin typeface="Cambria Math" panose="02040503050406030204" pitchFamily="18" charset="0"/>
                              <a:ea typeface="Cambria Math" panose="02040503050406030204" pitchFamily="18" charset="0"/>
                            </a:rPr>
                            <m:t>𝜋</m:t>
                          </m:r>
                          <m:r>
                            <a:rPr lang="en-US" sz="1200" i="1">
                              <a:latin typeface="Cambria Math" panose="02040503050406030204" pitchFamily="18" charset="0"/>
                              <a:ea typeface="Cambria Math" panose="02040503050406030204" pitchFamily="18" charset="0"/>
                            </a:rPr>
                            <m:t>𝑖</m:t>
                          </m:r>
                          <m:r>
                            <a:rPr lang="en-US" sz="1200" b="0" i="1" smtClean="0">
                              <a:latin typeface="Cambria Math" panose="02040503050406030204" pitchFamily="18" charset="0"/>
                              <a:ea typeface="Cambria Math" panose="02040503050406030204" pitchFamily="18" charset="0"/>
                            </a:rPr>
                            <m:t>(</m:t>
                          </m:r>
                          <m:f>
                            <m:fPr>
                              <m:ctrlPr>
                                <a:rPr lang="en-US" sz="1200" b="0" i="1" smtClean="0">
                                  <a:latin typeface="Cambria Math" panose="02040503050406030204" pitchFamily="18" charset="0"/>
                                  <a:ea typeface="Cambria Math" panose="02040503050406030204" pitchFamily="18" charset="0"/>
                                </a:rPr>
                              </m:ctrlPr>
                            </m:fPr>
                            <m:num>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𝑥</m:t>
                                  </m:r>
                                </m:e>
                                <m:sub>
                                  <m:r>
                                    <a:rPr lang="en-US" sz="1200" b="0" i="1" smtClean="0">
                                      <a:latin typeface="Cambria Math" panose="02040503050406030204" pitchFamily="18" charset="0"/>
                                      <a:ea typeface="Cambria Math" panose="02040503050406030204" pitchFamily="18" charset="0"/>
                                    </a:rPr>
                                    <m:t>1</m:t>
                                  </m:r>
                                </m:sub>
                              </m:sSub>
                            </m:num>
                            <m:den>
                              <m:r>
                                <a:rPr lang="en-US" sz="1200" b="0" i="1" smtClean="0">
                                  <a:latin typeface="Cambria Math" panose="02040503050406030204" pitchFamily="18" charset="0"/>
                                  <a:ea typeface="Cambria Math" panose="02040503050406030204" pitchFamily="18" charset="0"/>
                                </a:rPr>
                                <m:t>2</m:t>
                              </m:r>
                            </m:den>
                          </m:f>
                          <m:r>
                            <a:rPr lang="en-US" sz="1200" b="0" i="1" smtClean="0">
                              <a:latin typeface="Cambria Math" panose="02040503050406030204" pitchFamily="18" charset="0"/>
                              <a:ea typeface="Cambria Math" panose="02040503050406030204" pitchFamily="18" charset="0"/>
                            </a:rPr>
                            <m:t>+</m:t>
                          </m:r>
                          <m:f>
                            <m:fPr>
                              <m:ctrlPr>
                                <a:rPr lang="en-US" sz="1200" b="0" i="1" smtClean="0">
                                  <a:latin typeface="Cambria Math" panose="02040503050406030204" pitchFamily="18" charset="0"/>
                                  <a:ea typeface="Cambria Math" panose="02040503050406030204" pitchFamily="18" charset="0"/>
                                </a:rPr>
                              </m:ctrlPr>
                            </m:fPr>
                            <m:num>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𝑥</m:t>
                                  </m:r>
                                </m:e>
                                <m:sub>
                                  <m:r>
                                    <a:rPr lang="en-US" sz="1200" b="0" i="1" smtClean="0">
                                      <a:latin typeface="Cambria Math" panose="02040503050406030204" pitchFamily="18" charset="0"/>
                                      <a:ea typeface="Cambria Math" panose="02040503050406030204" pitchFamily="18" charset="0"/>
                                    </a:rPr>
                                    <m:t>2</m:t>
                                  </m:r>
                                </m:sub>
                              </m:sSub>
                            </m:num>
                            <m:den>
                              <m:r>
                                <a:rPr lang="en-US" sz="1200" b="0" i="1" smtClean="0">
                                  <a:latin typeface="Cambria Math" panose="02040503050406030204" pitchFamily="18" charset="0"/>
                                  <a:ea typeface="Cambria Math" panose="02040503050406030204" pitchFamily="18" charset="0"/>
                                </a:rPr>
                                <m:t>4</m:t>
                              </m:r>
                            </m:den>
                          </m:f>
                          <m:r>
                            <a:rPr lang="en-US" sz="1200" b="0" i="1" smtClean="0">
                              <a:latin typeface="Cambria Math" panose="02040503050406030204" pitchFamily="18" charset="0"/>
                              <a:ea typeface="Cambria Math" panose="02040503050406030204" pitchFamily="18" charset="0"/>
                            </a:rPr>
                            <m:t>)</m:t>
                          </m:r>
                        </m:sup>
                      </m:sSup>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𝑒</m:t>
                          </m:r>
                        </m:e>
                        <m:sup>
                          <m:r>
                            <a:rPr lang="en-US" sz="1200" i="1">
                              <a:latin typeface="Cambria Math" panose="02040503050406030204" pitchFamily="18" charset="0"/>
                              <a:ea typeface="Cambria Math" panose="02040503050406030204" pitchFamily="18" charset="0"/>
                            </a:rPr>
                            <m:t>2</m:t>
                          </m:r>
                          <m:r>
                            <a:rPr lang="en-US" sz="1200" i="1">
                              <a:latin typeface="Cambria Math" panose="02040503050406030204" pitchFamily="18" charset="0"/>
                              <a:ea typeface="Cambria Math" panose="02040503050406030204" pitchFamily="18" charset="0"/>
                            </a:rPr>
                            <m:t>𝜋</m:t>
                          </m:r>
                          <m:r>
                            <a:rPr lang="en-US" sz="1200" i="1">
                              <a:latin typeface="Cambria Math" panose="02040503050406030204" pitchFamily="18" charset="0"/>
                              <a:ea typeface="Cambria Math" panose="02040503050406030204" pitchFamily="18" charset="0"/>
                            </a:rPr>
                            <m:t>𝑖</m:t>
                          </m:r>
                          <m:d>
                            <m:dPr>
                              <m:ctrlPr>
                                <a:rPr lang="en-US" sz="1200" b="0" i="1" smtClean="0">
                                  <a:latin typeface="Cambria Math" panose="02040503050406030204" pitchFamily="18" charset="0"/>
                                  <a:ea typeface="Cambria Math" panose="02040503050406030204" pitchFamily="18" charset="0"/>
                                </a:rPr>
                              </m:ctrlPr>
                            </m:dPr>
                            <m:e>
                              <m:f>
                                <m:fPr>
                                  <m:ctrlPr>
                                    <a:rPr lang="en-US" sz="1200" b="0" i="1" smtClean="0">
                                      <a:latin typeface="Cambria Math" panose="02040503050406030204" pitchFamily="18" charset="0"/>
                                      <a:ea typeface="Cambria Math" panose="02040503050406030204" pitchFamily="18" charset="0"/>
                                    </a:rPr>
                                  </m:ctrlPr>
                                </m:fPr>
                                <m:num>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𝑥</m:t>
                                      </m:r>
                                    </m:e>
                                    <m:sub>
                                      <m:r>
                                        <a:rPr lang="en-US" sz="1200" b="0" i="1" smtClean="0">
                                          <a:latin typeface="Cambria Math" panose="02040503050406030204" pitchFamily="18" charset="0"/>
                                          <a:ea typeface="Cambria Math" panose="02040503050406030204" pitchFamily="18" charset="0"/>
                                        </a:rPr>
                                        <m:t>1</m:t>
                                      </m:r>
                                    </m:sub>
                                  </m:sSub>
                                </m:num>
                                <m:den>
                                  <m:r>
                                    <a:rPr lang="en-US" sz="1200" b="0" i="1" smtClean="0">
                                      <a:latin typeface="Cambria Math" panose="02040503050406030204" pitchFamily="18" charset="0"/>
                                      <a:ea typeface="Cambria Math" panose="02040503050406030204" pitchFamily="18" charset="0"/>
                                    </a:rPr>
                                    <m:t>2</m:t>
                                  </m:r>
                                </m:den>
                              </m:f>
                              <m:r>
                                <a:rPr lang="en-US" sz="1200" b="0" i="1" smtClean="0">
                                  <a:latin typeface="Cambria Math" panose="02040503050406030204" pitchFamily="18" charset="0"/>
                                  <a:ea typeface="Cambria Math" panose="02040503050406030204" pitchFamily="18" charset="0"/>
                                </a:rPr>
                                <m:t>+</m:t>
                              </m:r>
                              <m:f>
                                <m:fPr>
                                  <m:ctrlPr>
                                    <a:rPr lang="en-US" sz="1200" b="0" i="1" smtClean="0">
                                      <a:latin typeface="Cambria Math" panose="02040503050406030204" pitchFamily="18" charset="0"/>
                                      <a:ea typeface="Cambria Math" panose="02040503050406030204" pitchFamily="18" charset="0"/>
                                    </a:rPr>
                                  </m:ctrlPr>
                                </m:fPr>
                                <m:num>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𝑥</m:t>
                                      </m:r>
                                    </m:e>
                                    <m:sub>
                                      <m:r>
                                        <a:rPr lang="en-US" sz="1200" b="0" i="1" smtClean="0">
                                          <a:latin typeface="Cambria Math" panose="02040503050406030204" pitchFamily="18" charset="0"/>
                                          <a:ea typeface="Cambria Math" panose="02040503050406030204" pitchFamily="18" charset="0"/>
                                        </a:rPr>
                                        <m:t>2</m:t>
                                      </m:r>
                                    </m:sub>
                                  </m:sSub>
                                </m:num>
                                <m:den>
                                  <m:r>
                                    <a:rPr lang="en-US" sz="1200" b="0" i="1" smtClean="0">
                                      <a:latin typeface="Cambria Math" panose="02040503050406030204" pitchFamily="18" charset="0"/>
                                      <a:ea typeface="Cambria Math" panose="02040503050406030204" pitchFamily="18" charset="0"/>
                                    </a:rPr>
                                    <m:t>4</m:t>
                                  </m:r>
                                </m:den>
                              </m:f>
                            </m:e>
                          </m:d>
                        </m:sup>
                      </m:sSup>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𝑒</m:t>
                          </m:r>
                        </m:e>
                        <m:sup>
                          <m:r>
                            <a:rPr lang="en-US" sz="1200" i="1">
                              <a:latin typeface="Cambria Math" panose="02040503050406030204" pitchFamily="18" charset="0"/>
                              <a:ea typeface="Cambria Math" panose="02040503050406030204" pitchFamily="18" charset="0"/>
                            </a:rPr>
                            <m:t>𝜋</m:t>
                          </m:r>
                          <m:r>
                            <a:rPr lang="en-US" sz="1200" i="1">
                              <a:latin typeface="Cambria Math" panose="02040503050406030204" pitchFamily="18" charset="0"/>
                              <a:ea typeface="Cambria Math" panose="02040503050406030204" pitchFamily="18" charset="0"/>
                            </a:rPr>
                            <m:t>𝑖</m:t>
                          </m:r>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𝑥</m:t>
                              </m:r>
                            </m:e>
                            <m:sub>
                              <m:r>
                                <a:rPr lang="en-US" sz="1200" b="0" i="1" smtClean="0">
                                  <a:latin typeface="Cambria Math" panose="02040503050406030204" pitchFamily="18" charset="0"/>
                                  <a:ea typeface="Cambria Math" panose="02040503050406030204" pitchFamily="18" charset="0"/>
                                </a:rPr>
                                <m:t>1</m:t>
                              </m:r>
                            </m:sub>
                          </m:sSub>
                        </m:sup>
                      </m:sSup>
                      <m:sSup>
                        <m:sSupPr>
                          <m:ctrlPr>
                            <a:rPr lang="en-US" sz="1200" i="1" smtClean="0">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𝑒</m:t>
                          </m:r>
                        </m:e>
                        <m:sup>
                          <m:r>
                            <a:rPr lang="en-US" sz="1200" i="1">
                              <a:latin typeface="Cambria Math" panose="02040503050406030204" pitchFamily="18" charset="0"/>
                              <a:ea typeface="Cambria Math" panose="02040503050406030204" pitchFamily="18" charset="0"/>
                            </a:rPr>
                            <m:t>𝜋</m:t>
                          </m:r>
                          <m:r>
                            <a:rPr lang="en-US" sz="1200" b="0" i="1" smtClean="0">
                              <a:latin typeface="Cambria Math" panose="02040503050406030204" pitchFamily="18" charset="0"/>
                              <a:ea typeface="Cambria Math" panose="02040503050406030204" pitchFamily="18" charset="0"/>
                            </a:rPr>
                            <m:t>𝑖</m:t>
                          </m:r>
                          <m:f>
                            <m:fPr>
                              <m:ctrlPr>
                                <a:rPr lang="en-US" sz="1200" b="0" i="1" smtClean="0">
                                  <a:latin typeface="Cambria Math" panose="02040503050406030204" pitchFamily="18" charset="0"/>
                                  <a:ea typeface="Cambria Math" panose="02040503050406030204" pitchFamily="18" charset="0"/>
                                </a:rPr>
                              </m:ctrlPr>
                            </m:fPr>
                            <m:num>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𝑥</m:t>
                                  </m:r>
                                </m:e>
                                <m:sub>
                                  <m:r>
                                    <a:rPr lang="en-US" sz="1200" b="0" i="1" smtClean="0">
                                      <a:latin typeface="Cambria Math" panose="02040503050406030204" pitchFamily="18" charset="0"/>
                                      <a:ea typeface="Cambria Math" panose="02040503050406030204" pitchFamily="18" charset="0"/>
                                    </a:rPr>
                                    <m:t>2</m:t>
                                  </m:r>
                                </m:sub>
                              </m:sSub>
                            </m:num>
                            <m:den>
                              <m:r>
                                <a:rPr lang="en-US" sz="1200" b="0" i="1" smtClean="0">
                                  <a:latin typeface="Cambria Math" panose="02040503050406030204" pitchFamily="18" charset="0"/>
                                  <a:ea typeface="Cambria Math" panose="02040503050406030204" pitchFamily="18" charset="0"/>
                                </a:rPr>
                                <m:t>2</m:t>
                              </m:r>
                            </m:den>
                          </m:f>
                        </m:sup>
                      </m:sSup>
                    </m:oMath>
                  </m:oMathPara>
                </a14:m>
                <a:endParaRPr lang="en-ZA" b="0" dirty="0"/>
              </a:p>
              <a:p>
                <a:endParaRPr lang="en-ZA" b="0" dirty="0"/>
              </a:p>
              <a:p>
                <a:pPr marL="628650" lvl="1" indent="-171450">
                  <a:buFont typeface="Arial" panose="020B0604020202020204" pitchFamily="34" charset="0"/>
                  <a:buChar char="•"/>
                </a:pPr>
                <a:r>
                  <a:rPr lang="en-ZA" dirty="0"/>
                  <a:t>The first factor, </a:t>
                </a:r>
                <a14:m>
                  <m:oMath xmlns:m="http://schemas.openxmlformats.org/officeDocument/2006/math">
                    <m:sSup>
                      <m:sSupPr>
                        <m:ctrlPr>
                          <a:rPr lang="en-US" sz="1200" i="1" smtClean="0">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𝑒</m:t>
                        </m:r>
                      </m:e>
                      <m:sup>
                        <m:r>
                          <a:rPr lang="en-US" sz="1200" i="1">
                            <a:latin typeface="Cambria Math" panose="02040503050406030204" pitchFamily="18" charset="0"/>
                            <a:ea typeface="Cambria Math" panose="02040503050406030204" pitchFamily="18" charset="0"/>
                          </a:rPr>
                          <m:t>𝜋</m:t>
                        </m:r>
                        <m:r>
                          <a:rPr lang="en-US" sz="1200" i="1">
                            <a:latin typeface="Cambria Math" panose="02040503050406030204" pitchFamily="18" charset="0"/>
                            <a:ea typeface="Cambria Math" panose="02040503050406030204" pitchFamily="18" charset="0"/>
                          </a:rPr>
                          <m:t>𝑖</m:t>
                        </m:r>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𝑥</m:t>
                            </m:r>
                          </m:e>
                          <m:sub>
                            <m:r>
                              <a:rPr lang="en-US" sz="1200" b="0" i="1" smtClean="0">
                                <a:latin typeface="Cambria Math" panose="02040503050406030204" pitchFamily="18" charset="0"/>
                                <a:ea typeface="Cambria Math" panose="02040503050406030204" pitchFamily="18" charset="0"/>
                              </a:rPr>
                              <m:t>1</m:t>
                            </m:r>
                          </m:sub>
                        </m:sSub>
                      </m:sup>
                    </m:sSup>
                  </m:oMath>
                </a14:m>
                <a:r>
                  <a:rPr lang="en-ZA" dirty="0"/>
                  <a:t>, is produced by the Hadamard transformation. If </a:t>
                </a:r>
                <a14:m>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𝑥</m:t>
                        </m:r>
                      </m:e>
                      <m:sub>
                        <m:r>
                          <a:rPr lang="en-US" sz="1200" b="0" i="1" smtClean="0">
                            <a:latin typeface="Cambria Math" panose="02040503050406030204" pitchFamily="18" charset="0"/>
                            <a:ea typeface="Cambria Math" panose="02040503050406030204" pitchFamily="18" charset="0"/>
                          </a:rPr>
                          <m:t>1</m:t>
                        </m:r>
                      </m:sub>
                    </m:sSub>
                    <m:r>
                      <a:rPr lang="en-US" sz="1200" b="0" i="1" smtClean="0">
                        <a:latin typeface="Cambria Math" panose="02040503050406030204" pitchFamily="18" charset="0"/>
                        <a:ea typeface="Cambria Math" panose="02040503050406030204" pitchFamily="18" charset="0"/>
                      </a:rPr>
                      <m:t>=0</m:t>
                    </m:r>
                  </m:oMath>
                </a14:m>
                <a:r>
                  <a:rPr lang="en-ZA" dirty="0"/>
                  <a:t>, it gives a relative phase of </a:t>
                </a:r>
                <a14:m>
                  <m:oMath xmlns:m="http://schemas.openxmlformats.org/officeDocument/2006/math">
                    <m:r>
                      <a:rPr lang="en-US" sz="1200" b="0" i="1" smtClean="0">
                        <a:latin typeface="Cambria Math" panose="02040503050406030204" pitchFamily="18" charset="0"/>
                        <a:ea typeface="Cambria Math" panose="02040503050406030204" pitchFamily="18" charset="0"/>
                      </a:rPr>
                      <m:t>+1</m:t>
                    </m:r>
                  </m:oMath>
                </a14:m>
                <a:r>
                  <a:rPr lang="en-ZA" b="0" dirty="0"/>
                  <a:t>; i</a:t>
                </a:r>
                <a:r>
                  <a:rPr lang="en-ZA" dirty="0"/>
                  <a:t>f </a:t>
                </a:r>
                <a14:m>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𝑥</m:t>
                        </m:r>
                      </m:e>
                      <m:sub>
                        <m:r>
                          <a:rPr lang="en-US" sz="1200" b="0" i="1" smtClean="0">
                            <a:latin typeface="Cambria Math" panose="02040503050406030204" pitchFamily="18" charset="0"/>
                            <a:ea typeface="Cambria Math" panose="02040503050406030204" pitchFamily="18" charset="0"/>
                          </a:rPr>
                          <m:t>1</m:t>
                        </m:r>
                      </m:sub>
                    </m:sSub>
                    <m:r>
                      <a:rPr lang="en-US" sz="1200" b="0" i="1" smtClean="0">
                        <a:latin typeface="Cambria Math" panose="02040503050406030204" pitchFamily="18" charset="0"/>
                        <a:ea typeface="Cambria Math" panose="02040503050406030204" pitchFamily="18" charset="0"/>
                      </a:rPr>
                      <m:t>=1</m:t>
                    </m:r>
                  </m:oMath>
                </a14:m>
                <a:r>
                  <a:rPr lang="en-ZA" dirty="0"/>
                  <a:t>, it gives a relative phase of </a:t>
                </a:r>
                <a14:m>
                  <m:oMath xmlns:m="http://schemas.openxmlformats.org/officeDocument/2006/math">
                    <m:r>
                      <a:rPr lang="en-US" sz="1200" b="0" i="0"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1</m:t>
                    </m:r>
                    <m:r>
                      <a:rPr lang="en-US" sz="1200" b="0" i="0" smtClean="0">
                        <a:latin typeface="Cambria Math" panose="02040503050406030204" pitchFamily="18" charset="0"/>
                        <a:ea typeface="Cambria Math" panose="02040503050406030204" pitchFamily="18" charset="0"/>
                      </a:rPr>
                      <m:t>.</m:t>
                    </m:r>
                  </m:oMath>
                </a14:m>
                <a:endParaRPr lang="en-US" sz="1200" b="0" dirty="0">
                  <a:ea typeface="Cambria Math" panose="02040503050406030204" pitchFamily="18" charset="0"/>
                </a:endParaRPr>
              </a:p>
              <a:p>
                <a:pPr marL="628650" lvl="1" indent="-171450">
                  <a:buFont typeface="Arial" panose="020B0604020202020204" pitchFamily="34" charset="0"/>
                  <a:buChar char="•"/>
                </a:pPr>
                <a:r>
                  <a:rPr lang="en-ZA" dirty="0"/>
                  <a:t>The second factor, </a:t>
                </a:r>
                <a14:m>
                  <m:oMath xmlns:m="http://schemas.openxmlformats.org/officeDocument/2006/math">
                    <m:sSup>
                      <m:sSupPr>
                        <m:ctrlPr>
                          <a:rPr lang="en-US" sz="1200" i="1" smtClean="0">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𝑒</m:t>
                        </m:r>
                      </m:e>
                      <m:sup>
                        <m:r>
                          <a:rPr lang="en-US" sz="1200" i="1">
                            <a:latin typeface="Cambria Math" panose="02040503050406030204" pitchFamily="18" charset="0"/>
                            <a:ea typeface="Cambria Math" panose="02040503050406030204" pitchFamily="18" charset="0"/>
                          </a:rPr>
                          <m:t>𝜋</m:t>
                        </m:r>
                        <m:r>
                          <a:rPr lang="en-US" sz="1200" b="0" i="1" smtClean="0">
                            <a:latin typeface="Cambria Math" panose="02040503050406030204" pitchFamily="18" charset="0"/>
                            <a:ea typeface="Cambria Math" panose="02040503050406030204" pitchFamily="18" charset="0"/>
                          </a:rPr>
                          <m:t>𝑖</m:t>
                        </m:r>
                        <m:f>
                          <m:fPr>
                            <m:ctrlPr>
                              <a:rPr lang="en-US" sz="1200" b="0" i="1" smtClean="0">
                                <a:latin typeface="Cambria Math" panose="02040503050406030204" pitchFamily="18" charset="0"/>
                                <a:ea typeface="Cambria Math" panose="02040503050406030204" pitchFamily="18" charset="0"/>
                              </a:rPr>
                            </m:ctrlPr>
                          </m:fPr>
                          <m:num>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𝑥</m:t>
                                </m:r>
                              </m:e>
                              <m:sub>
                                <m:r>
                                  <a:rPr lang="en-US" sz="1200" b="0" i="1" smtClean="0">
                                    <a:latin typeface="Cambria Math" panose="02040503050406030204" pitchFamily="18" charset="0"/>
                                    <a:ea typeface="Cambria Math" panose="02040503050406030204" pitchFamily="18" charset="0"/>
                                  </a:rPr>
                                  <m:t>2</m:t>
                                </m:r>
                              </m:sub>
                            </m:sSub>
                          </m:num>
                          <m:den>
                            <m:r>
                              <a:rPr lang="en-US" sz="1200" b="0" i="1" smtClean="0">
                                <a:latin typeface="Cambria Math" panose="02040503050406030204" pitchFamily="18" charset="0"/>
                                <a:ea typeface="Cambria Math" panose="02040503050406030204" pitchFamily="18" charset="0"/>
                              </a:rPr>
                              <m:t>2</m:t>
                            </m:r>
                          </m:den>
                        </m:f>
                      </m:sup>
                    </m:sSup>
                  </m:oMath>
                </a14:m>
                <a:r>
                  <a:rPr lang="en-ZA" b="0" dirty="0"/>
                  <a:t> </a:t>
                </a:r>
                <a:r>
                  <a:rPr lang="en-ZA" dirty="0"/>
                  <a:t>is produced by the controlled phase (P) gate with angle </a:t>
                </a:r>
                <a14:m>
                  <m:oMath xmlns:m="http://schemas.openxmlformats.org/officeDocument/2006/math">
                    <m:r>
                      <a:rPr lang="en-US" sz="1200" i="1" smtClean="0">
                        <a:latin typeface="Cambria Math" panose="02040503050406030204" pitchFamily="18" charset="0"/>
                        <a:ea typeface="Cambria Math" panose="02040503050406030204" pitchFamily="18" charset="0"/>
                      </a:rPr>
                      <m:t>𝜋</m:t>
                    </m:r>
                    <m:r>
                      <a:rPr lang="en-US" sz="1200" b="0" i="1" smtClean="0">
                        <a:latin typeface="Cambria Math" panose="02040503050406030204" pitchFamily="18" charset="0"/>
                        <a:ea typeface="Cambria Math" panose="02040503050406030204" pitchFamily="18" charset="0"/>
                      </a:rPr>
                      <m:t>/2</m:t>
                    </m:r>
                  </m:oMath>
                </a14:m>
                <a:r>
                  <a:rPr lang="en-ZA" b="0" dirty="0"/>
                  <a:t>. </a:t>
                </a:r>
                <a:r>
                  <a:rPr lang="en-ZA" dirty="0"/>
                  <a:t>If </a:t>
                </a:r>
                <a14:m>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𝑥</m:t>
                        </m:r>
                      </m:e>
                      <m:sub>
                        <m:r>
                          <a:rPr lang="en-US" sz="1200" b="0" i="1" smtClean="0">
                            <a:latin typeface="Cambria Math" panose="02040503050406030204" pitchFamily="18" charset="0"/>
                            <a:ea typeface="Cambria Math" panose="02040503050406030204" pitchFamily="18" charset="0"/>
                          </a:rPr>
                          <m:t>2</m:t>
                        </m:r>
                      </m:sub>
                    </m:sSub>
                    <m:r>
                      <a:rPr lang="en-US" sz="1200" b="0" i="1" smtClean="0">
                        <a:latin typeface="Cambria Math" panose="02040503050406030204" pitchFamily="18" charset="0"/>
                        <a:ea typeface="Cambria Math" panose="02040503050406030204" pitchFamily="18" charset="0"/>
                      </a:rPr>
                      <m:t>=0</m:t>
                    </m:r>
                  </m:oMath>
                </a14:m>
                <a:r>
                  <a:rPr lang="en-ZA" dirty="0"/>
                  <a:t>, no additional phase is introduced. If </a:t>
                </a:r>
                <a14:m>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𝑥</m:t>
                        </m:r>
                      </m:e>
                      <m:sub>
                        <m:r>
                          <a:rPr lang="en-US" sz="1200" b="0" i="1" smtClean="0">
                            <a:latin typeface="Cambria Math" panose="02040503050406030204" pitchFamily="18" charset="0"/>
                            <a:ea typeface="Cambria Math" panose="02040503050406030204" pitchFamily="18" charset="0"/>
                          </a:rPr>
                          <m:t>2</m:t>
                        </m:r>
                      </m:sub>
                    </m:sSub>
                    <m:r>
                      <a:rPr lang="en-US" sz="1200" b="0" i="1" smtClean="0">
                        <a:latin typeface="Cambria Math" panose="02040503050406030204" pitchFamily="18" charset="0"/>
                        <a:ea typeface="Cambria Math" panose="02040503050406030204" pitchFamily="18" charset="0"/>
                      </a:rPr>
                      <m:t>=1</m:t>
                    </m:r>
                  </m:oMath>
                </a14:m>
                <a:r>
                  <a:rPr lang="en-ZA" b="0" dirty="0"/>
                  <a:t>, </a:t>
                </a:r>
                <a:r>
                  <a:rPr lang="en-ZA" dirty="0"/>
                  <a:t>an additional phase factor </a:t>
                </a:r>
                <a14:m>
                  <m:oMath xmlns:m="http://schemas.openxmlformats.org/officeDocument/2006/math">
                    <m:sSup>
                      <m:sSupPr>
                        <m:ctrlPr>
                          <a:rPr lang="en-US" sz="1200" i="1" smtClean="0">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𝑒</m:t>
                        </m:r>
                      </m:e>
                      <m:sup>
                        <m:r>
                          <a:rPr lang="en-US" sz="1200" i="1" smtClean="0">
                            <a:latin typeface="Cambria Math" panose="02040503050406030204" pitchFamily="18" charset="0"/>
                            <a:ea typeface="Cambria Math" panose="02040503050406030204" pitchFamily="18" charset="0"/>
                          </a:rPr>
                          <m:t>𝜋</m:t>
                        </m:r>
                        <m:r>
                          <a:rPr lang="en-US" sz="1200" i="1" smtClean="0">
                            <a:latin typeface="Cambria Math" panose="02040503050406030204" pitchFamily="18" charset="0"/>
                            <a:ea typeface="Cambria Math" panose="02040503050406030204" pitchFamily="18" charset="0"/>
                          </a:rPr>
                          <m:t>𝑖</m:t>
                        </m:r>
                        <m:r>
                          <a:rPr lang="en-US" sz="1200" b="0" i="1" smtClean="0">
                            <a:latin typeface="Cambria Math" panose="02040503050406030204" pitchFamily="18" charset="0"/>
                            <a:ea typeface="Cambria Math" panose="02040503050406030204" pitchFamily="18" charset="0"/>
                          </a:rPr>
                          <m:t>/2</m:t>
                        </m:r>
                      </m:sup>
                    </m:sSup>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𝑖</m:t>
                    </m:r>
                  </m:oMath>
                </a14:m>
                <a:r>
                  <a:rPr lang="en-ZA" b="0" dirty="0"/>
                  <a:t> </a:t>
                </a:r>
                <a:r>
                  <a:rPr lang="en-ZA" dirty="0"/>
                  <a:t>is introduced.</a:t>
                </a:r>
                <a:endParaRPr lang="en-ZA" b="0" dirty="0"/>
              </a:p>
              <a:p>
                <a:endParaRPr lang="en-ZA" b="0" dirty="0"/>
              </a:p>
              <a:p>
                <a:r>
                  <a:rPr lang="en-ZA" dirty="0"/>
                  <a:t>Finally, a SWAP gate reverses the order of the two output qubits so that the circuit output follows the conventional QFT ordering.</a:t>
                </a:r>
                <a:endParaRPr lang="en-ZA" b="0" dirty="0"/>
              </a:p>
            </p:txBody>
          </p:sp>
        </mc:Choice>
        <mc:Fallback xmlns="">
          <p:sp>
            <p:nvSpPr>
              <p:cNvPr id="3" name="Notes Placeholder 2"/>
              <p:cNvSpPr>
                <a:spLocks noGrp="1"/>
              </p:cNvSpPr>
              <p:nvPr>
                <p:ph type="body" idx="1"/>
              </p:nvPr>
            </p:nvSpPr>
            <p:spPr/>
            <p:txBody>
              <a:bodyPr/>
              <a:lstStyle/>
              <a:p>
                <a:r>
                  <a:rPr lang="en-US" sz="2000" dirty="0"/>
                  <a:t>Having all the elements, we can now construct 1-qubit QFT circuit directly from the equation.</a:t>
                </a:r>
                <a:r>
                  <a:rPr lang="en-US" sz="2000" baseline="0" dirty="0"/>
                  <a:t> </a:t>
                </a:r>
                <a:r>
                  <a:rPr lang="en-US" sz="2000" dirty="0"/>
                  <a:t>On the first qubit line, the H gate introduces a relative phase shift of </a:t>
                </a:r>
                <a:r>
                  <a:rPr lang="en-US" sz="2000" i="0">
                    <a:latin typeface="Cambria Math" panose="02040503050406030204" pitchFamily="18" charset="0"/>
                    <a:ea typeface="Cambria Math" panose="02040503050406030204" pitchFamily="18" charset="0"/>
                  </a:rPr>
                  <a:t>𝜋𝑖</a:t>
                </a:r>
                <a:r>
                  <a:rPr lang="en-US" sz="2000" dirty="0"/>
                  <a:t> if qubits to qubit </a:t>
                </a:r>
                <a:r>
                  <a:rPr lang="en-US" sz="2000" i="0">
                    <a:latin typeface="Cambria Math" panose="02040503050406030204" pitchFamily="18" charset="0"/>
                    <a:ea typeface="Cambria Math" panose="02040503050406030204" pitchFamily="18" charset="0"/>
                  </a:rPr>
                  <a:t>𝑥_0</a:t>
                </a:r>
                <a:r>
                  <a:rPr lang="en-US" sz="2000" dirty="0"/>
                  <a:t> is 1</a:t>
                </a:r>
                <a:r>
                  <a:rPr lang="en-US" sz="2000" baseline="0" dirty="0"/>
                  <a:t>. I</a:t>
                </a:r>
                <a:r>
                  <a:rPr lang="en-US" sz="2000" dirty="0"/>
                  <a:t>f the second qubit is also 1,</a:t>
                </a:r>
                <a:r>
                  <a:rPr lang="en-US" sz="2000" baseline="0" dirty="0"/>
                  <a:t> it adds </a:t>
                </a:r>
                <a:r>
                  <a:rPr lang="en-US" sz="2000" dirty="0"/>
                  <a:t>additional relative phase shift o </a:t>
                </a:r>
                <a:r>
                  <a:rPr lang="en-US" sz="2000" i="0">
                    <a:latin typeface="Cambria Math" panose="02040503050406030204" pitchFamily="18" charset="0"/>
                    <a:ea typeface="Cambria Math" panose="02040503050406030204" pitchFamily="18" charset="0"/>
                  </a:rPr>
                  <a:t>𝜋𝑖</a:t>
                </a:r>
                <a:r>
                  <a:rPr lang="en-US" sz="2000" b="0" i="0">
                    <a:latin typeface="Cambria Math" panose="02040503050406030204" pitchFamily="18" charset="0"/>
                    <a:ea typeface="Cambria Math" panose="02040503050406030204" pitchFamily="18" charset="0"/>
                  </a:rPr>
                  <a:t>/2</a:t>
                </a:r>
                <a:r>
                  <a:rPr lang="en-US" sz="2000" dirty="0"/>
                  <a:t>. You can check correctness for all combination of qubits,</a:t>
                </a:r>
                <a:r>
                  <a:rPr lang="en-US" sz="2000" baseline="0" dirty="0"/>
                  <a:t> </a:t>
                </a:r>
                <a:r>
                  <a:rPr lang="en-US" sz="2000" dirty="0"/>
                  <a:t>if you</a:t>
                </a:r>
                <a:r>
                  <a:rPr lang="en-US" sz="2000" baseline="0" dirty="0"/>
                  <a:t> go back to the slide in which we calculated 1-qubits QFT.</a:t>
                </a:r>
              </a:p>
              <a:p>
                <a:endParaRPr lang="en-US" sz="2000" baseline="0" dirty="0"/>
              </a:p>
              <a:p>
                <a:r>
                  <a:rPr lang="en-US" sz="2000" baseline="0" dirty="0"/>
                  <a:t>The correctness can be also checked by multiplying transformation matrices. The product must be equal to the QFT matrix. </a:t>
                </a:r>
                <a:r>
                  <a:rPr lang="en-US" sz="2000" dirty="0"/>
                  <a:t>Take note that multiplication of matrices is performed in reverse order they appear in the circuit.  Also, for the calculation clarity two I gate are added to the circuit.</a:t>
                </a:r>
              </a:p>
              <a:p>
                <a:endParaRPr lang="en-US" sz="2000" dirty="0"/>
              </a:p>
              <a:p>
                <a:r>
                  <a:rPr lang="en-US" sz="2000" dirty="0"/>
                  <a:t>https://</a:t>
                </a:r>
                <a:r>
                  <a:rPr lang="en-US" sz="2000" dirty="0" err="1"/>
                  <a:t>demonstrations.wolfram.com</a:t>
                </a:r>
                <a:r>
                  <a:rPr lang="en-US" sz="2000" dirty="0"/>
                  <a:t>/</a:t>
                </a:r>
                <a:r>
                  <a:rPr lang="en-US" sz="2000" dirty="0" err="1"/>
                  <a:t>QuantumFourierTransformCircuit</a:t>
                </a:r>
                <a:r>
                  <a:rPr lang="en-US" sz="2000" dirty="0"/>
                  <a:t>/</a:t>
                </a:r>
              </a:p>
              <a:p>
                <a:r>
                  <a:rPr lang="en-US" sz="2000" dirty="0"/>
                  <a:t>https://</a:t>
                </a:r>
                <a:r>
                  <a:rPr lang="en-US" sz="2000" dirty="0" err="1"/>
                  <a:t>www.youtube.com</a:t>
                </a:r>
                <a:r>
                  <a:rPr lang="en-US" sz="2000" dirty="0"/>
                  <a:t>/</a:t>
                </a:r>
                <a:r>
                  <a:rPr lang="en-US" sz="2000" dirty="0" err="1"/>
                  <a:t>watch?v</a:t>
                </a:r>
                <a:r>
                  <a:rPr lang="en-US" sz="2000" dirty="0"/>
                  <a:t>=rRblvBZkz7A</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64</a:t>
            </a:fld>
            <a:endParaRPr lang="en-US"/>
          </a:p>
        </p:txBody>
      </p:sp>
    </p:spTree>
    <p:extLst>
      <p:ext uri="{BB962C8B-B14F-4D97-AF65-F5344CB8AC3E}">
        <p14:creationId xmlns:p14="http://schemas.microsoft.com/office/powerpoint/2010/main" val="152834889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Applying the same principle, the quantum circuit shown in the figure is constructed directly from the mathematical expression of the QFT for three qubits.</a:t>
                </a:r>
              </a:p>
              <a:p>
                <a:endParaRPr lang="en-ZA" dirty="0"/>
              </a:p>
              <a:p>
                <a:r>
                  <a:rPr lang="en-ZA" dirty="0"/>
                  <a:t>From this and the previous QFT circuit, a clear pattern emerges:</a:t>
                </a:r>
              </a:p>
              <a:p>
                <a:endParaRPr lang="en-ZA" dirty="0"/>
              </a:p>
              <a:p>
                <a:pPr marL="171450" indent="-171450">
                  <a:buFont typeface="Arial" panose="020B0604020202020204" pitchFamily="34" charset="0"/>
                  <a:buChar char="•"/>
                </a:pPr>
                <a:r>
                  <a:rPr lang="en-ZA" dirty="0"/>
                  <a:t>The last qubit line contains only a Hadamard gate. </a:t>
                </a:r>
              </a:p>
              <a:p>
                <a:pPr marL="171450" indent="-171450">
                  <a:buFont typeface="Arial" panose="020B0604020202020204" pitchFamily="34" charset="0"/>
                  <a:buChar char="•"/>
                </a:pPr>
                <a:r>
                  <a:rPr lang="en-ZA" dirty="0"/>
                  <a:t>Each preceding qubit line contains a Hadamard gate and an increasing number of controlled phase gates, which introduce the required phase shifts according to the binary fractional representation. </a:t>
                </a:r>
              </a:p>
              <a:p>
                <a:pPr marL="171450" indent="-171450">
                  <a:buFont typeface="Arial" panose="020B0604020202020204" pitchFamily="34" charset="0"/>
                  <a:buChar char="•"/>
                </a:pPr>
                <a:r>
                  <a:rPr lang="en-ZA" dirty="0"/>
                  <a:t>In this case, qubit </a:t>
                </a:r>
                <a14:m>
                  <m:oMath xmlns:m="http://schemas.openxmlformats.org/officeDocument/2006/math">
                    <m:sSub>
                      <m:sSubPr>
                        <m:ctrlPr>
                          <a:rPr lang="en-US" sz="1200" b="0" i="1" smtClean="0">
                            <a:latin typeface="Cambria Math" panose="02040503050406030204" pitchFamily="18" charset="0"/>
                            <a:ea typeface="Cambria Math" panose="02040503050406030204" pitchFamily="18" charset="0"/>
                          </a:rPr>
                        </m:ctrlPr>
                      </m:sSubPr>
                      <m:e>
                        <m:r>
                          <a:rPr lang="en-US" sz="1200" b="0" i="1">
                            <a:latin typeface="Cambria Math" panose="02040503050406030204" pitchFamily="18" charset="0"/>
                            <a:ea typeface="Cambria Math" panose="02040503050406030204" pitchFamily="18" charset="0"/>
                          </a:rPr>
                          <m:t>𝑥</m:t>
                        </m:r>
                      </m:e>
                      <m:sub>
                        <m:r>
                          <a:rPr lang="en-US" sz="1200" b="0" i="1">
                            <a:latin typeface="Cambria Math" panose="02040503050406030204" pitchFamily="18" charset="0"/>
                            <a:ea typeface="Cambria Math" panose="02040503050406030204" pitchFamily="18" charset="0"/>
                          </a:rPr>
                          <m:t>2</m:t>
                        </m:r>
                      </m:sub>
                    </m:sSub>
                  </m:oMath>
                </a14:m>
                <a:r>
                  <a:rPr lang="en-ZA" dirty="0"/>
                  <a:t>​ receives an additional controlled phase shift of </a:t>
                </a:r>
                <a14:m>
                  <m:oMath xmlns:m="http://schemas.openxmlformats.org/officeDocument/2006/math">
                    <m:r>
                      <a:rPr lang="en-US" sz="1200" i="1" smtClean="0">
                        <a:latin typeface="Cambria Math" panose="02040503050406030204" pitchFamily="18" charset="0"/>
                        <a:ea typeface="Cambria Math" panose="02040503050406030204" pitchFamily="18" charset="0"/>
                      </a:rPr>
                      <m:t>𝜋</m:t>
                    </m:r>
                    <m:r>
                      <a:rPr lang="en-US" sz="1200" b="0" i="1" smtClean="0">
                        <a:latin typeface="Cambria Math" panose="02040503050406030204" pitchFamily="18" charset="0"/>
                        <a:ea typeface="Cambria Math" panose="02040503050406030204" pitchFamily="18" charset="0"/>
                      </a:rPr>
                      <m:t>/2</m:t>
                    </m:r>
                  </m:oMath>
                </a14:m>
                <a:r>
                  <a:rPr lang="el-GR" dirty="0"/>
                  <a:t>, </a:t>
                </a:r>
                <a:r>
                  <a:rPr lang="en-ZA" dirty="0"/>
                  <a:t>while qubit </a:t>
                </a:r>
                <a14:m>
                  <m:oMath xmlns:m="http://schemas.openxmlformats.org/officeDocument/2006/math">
                    <m:sSub>
                      <m:sSubPr>
                        <m:ctrlPr>
                          <a:rPr lang="en-US" sz="1200" b="0" i="1" smtClean="0">
                            <a:latin typeface="Cambria Math" panose="02040503050406030204" pitchFamily="18" charset="0"/>
                            <a:ea typeface="Cambria Math" panose="02040503050406030204" pitchFamily="18" charset="0"/>
                          </a:rPr>
                        </m:ctrlPr>
                      </m:sSubPr>
                      <m:e>
                        <m:r>
                          <a:rPr lang="en-US" sz="1200" b="0" i="1">
                            <a:latin typeface="Cambria Math" panose="02040503050406030204" pitchFamily="18" charset="0"/>
                            <a:ea typeface="Cambria Math" panose="02040503050406030204" pitchFamily="18" charset="0"/>
                          </a:rPr>
                          <m:t>𝑥</m:t>
                        </m:r>
                      </m:e>
                      <m:sub>
                        <m:r>
                          <a:rPr lang="en-US" sz="1200" b="0" i="1" smtClean="0">
                            <a:latin typeface="Cambria Math" panose="02040503050406030204" pitchFamily="18" charset="0"/>
                            <a:ea typeface="Cambria Math" panose="02040503050406030204" pitchFamily="18" charset="0"/>
                          </a:rPr>
                          <m:t>2</m:t>
                        </m:r>
                      </m:sub>
                    </m:sSub>
                  </m:oMath>
                </a14:m>
                <a:r>
                  <a:rPr lang="en-ZA" dirty="0"/>
                  <a:t>​ receives controlled phase shifts of </a:t>
                </a:r>
                <a14:m>
                  <m:oMath xmlns:m="http://schemas.openxmlformats.org/officeDocument/2006/math">
                    <m:r>
                      <a:rPr lang="en-US" sz="1200" i="1" smtClean="0">
                        <a:latin typeface="Cambria Math" panose="02040503050406030204" pitchFamily="18" charset="0"/>
                        <a:ea typeface="Cambria Math" panose="02040503050406030204" pitchFamily="18" charset="0"/>
                      </a:rPr>
                      <m:t>𝜋</m:t>
                    </m:r>
                    <m:r>
                      <a:rPr lang="en-US" sz="1200" b="0" i="1" smtClean="0">
                        <a:latin typeface="Cambria Math" panose="02040503050406030204" pitchFamily="18" charset="0"/>
                        <a:ea typeface="Cambria Math" panose="02040503050406030204" pitchFamily="18" charset="0"/>
                      </a:rPr>
                      <m:t>/2</m:t>
                    </m:r>
                  </m:oMath>
                </a14:m>
                <a:r>
                  <a:rPr lang="el-GR" dirty="0"/>
                  <a:t> </a:t>
                </a:r>
                <a:r>
                  <a:rPr lang="en-ZA" dirty="0"/>
                  <a:t>and </a:t>
                </a:r>
                <a14:m>
                  <m:oMath xmlns:m="http://schemas.openxmlformats.org/officeDocument/2006/math">
                    <m:r>
                      <a:rPr lang="en-US" sz="1200" i="1" smtClean="0">
                        <a:latin typeface="Cambria Math" panose="02040503050406030204" pitchFamily="18" charset="0"/>
                        <a:ea typeface="Cambria Math" panose="02040503050406030204" pitchFamily="18" charset="0"/>
                      </a:rPr>
                      <m:t>𝜋</m:t>
                    </m:r>
                    <m:r>
                      <a:rPr lang="en-US" sz="1200" b="0" i="1" smtClean="0">
                        <a:latin typeface="Cambria Math" panose="02040503050406030204" pitchFamily="18" charset="0"/>
                        <a:ea typeface="Cambria Math" panose="02040503050406030204" pitchFamily="18" charset="0"/>
                      </a:rPr>
                      <m:t>/4</m:t>
                    </m:r>
                  </m:oMath>
                </a14:m>
                <a:r>
                  <a:rPr lang="el-GR" dirty="0"/>
                  <a:t>. </a:t>
                </a:r>
              </a:p>
              <a:p>
                <a:pPr marL="171450" indent="-171450">
                  <a:buFont typeface="Arial" panose="020B0604020202020204" pitchFamily="34" charset="0"/>
                  <a:buChar char="•"/>
                </a:pPr>
                <a:r>
                  <a:rPr lang="en-ZA" dirty="0"/>
                  <a:t>At the end of the circuit, SWAP gates reverse the qubit order to restore the conventional output ordering.</a:t>
                </a:r>
              </a:p>
            </p:txBody>
          </p:sp>
        </mc:Choice>
        <mc:Fallback xmlns="">
          <p:sp>
            <p:nvSpPr>
              <p:cNvPr id="3" name="Notes Placeholder 2"/>
              <p:cNvSpPr>
                <a:spLocks noGrp="1"/>
              </p:cNvSpPr>
              <p:nvPr>
                <p:ph type="body" idx="1"/>
              </p:nvPr>
            </p:nvSpPr>
            <p:spPr/>
            <p:txBody>
              <a:bodyPr/>
              <a:lstStyle/>
              <a:p>
                <a:r>
                  <a:rPr lang="en-US" sz="2000" dirty="0"/>
                  <a:t>We follow the same pattern for 3-qubits circuit. Qubit’s </a:t>
                </a:r>
                <a:r>
                  <a:rPr lang="en-US" sz="2000" i="0">
                    <a:latin typeface="Cambria Math" panose="02040503050406030204" pitchFamily="18" charset="0"/>
                    <a:ea typeface="Cambria Math" panose="02040503050406030204" pitchFamily="18" charset="0"/>
                  </a:rPr>
                  <a:t>𝑥_0</a:t>
                </a:r>
                <a:r>
                  <a:rPr lang="en-US" sz="2000" dirty="0"/>
                  <a:t> </a:t>
                </a:r>
                <a:r>
                  <a:rPr lang="en-US" sz="2000" i="0">
                    <a:latin typeface="Cambria Math" panose="02040503050406030204" pitchFamily="18" charset="0"/>
                    <a:ea typeface="Cambria Math" panose="02040503050406030204" pitchFamily="18" charset="0"/>
                  </a:rPr>
                  <a:t>├ |1⟩</a:t>
                </a:r>
                <a:r>
                  <a:rPr lang="en-US" sz="2000" dirty="0"/>
                  <a:t> coefficient is shifted for </a:t>
                </a:r>
                <a:r>
                  <a:rPr lang="en-US" sz="2000" i="0">
                    <a:latin typeface="Cambria Math" panose="02040503050406030204" pitchFamily="18" charset="0"/>
                    <a:ea typeface="Cambria Math" panose="02040503050406030204" pitchFamily="18" charset="0"/>
                  </a:rPr>
                  <a:t>𝜋𝑖</a:t>
                </a:r>
                <a:r>
                  <a:rPr lang="en-US" sz="2000" dirty="0"/>
                  <a:t>, </a:t>
                </a:r>
                <a:r>
                  <a:rPr lang="en-US" sz="2000" i="0">
                    <a:latin typeface="Cambria Math" panose="02040503050406030204" pitchFamily="18" charset="0"/>
                    <a:ea typeface="Cambria Math" panose="02040503050406030204" pitchFamily="18" charset="0"/>
                  </a:rPr>
                  <a:t>𝜋𝑖</a:t>
                </a:r>
                <a:r>
                  <a:rPr lang="en-US" sz="2000" b="0" i="0">
                    <a:latin typeface="Cambria Math" panose="02040503050406030204" pitchFamily="18" charset="0"/>
                    <a:ea typeface="Cambria Math" panose="02040503050406030204" pitchFamily="18" charset="0"/>
                  </a:rPr>
                  <a:t>/2</a:t>
                </a:r>
                <a:r>
                  <a:rPr lang="en-US" sz="2000" dirty="0"/>
                  <a:t> and </a:t>
                </a:r>
                <a:r>
                  <a:rPr lang="en-US" sz="2000" i="0">
                    <a:latin typeface="Cambria Math" panose="02040503050406030204" pitchFamily="18" charset="0"/>
                    <a:ea typeface="Cambria Math" panose="02040503050406030204" pitchFamily="18" charset="0"/>
                  </a:rPr>
                  <a:t>𝜋𝑖</a:t>
                </a:r>
                <a:r>
                  <a:rPr lang="en-US" sz="2000" b="0" i="0">
                    <a:latin typeface="Cambria Math" panose="02040503050406030204" pitchFamily="18" charset="0"/>
                    <a:ea typeface="Cambria Math" panose="02040503050406030204" pitchFamily="18" charset="0"/>
                  </a:rPr>
                  <a:t>/4</a:t>
                </a:r>
                <a:r>
                  <a:rPr lang="en-US" sz="2000" dirty="0"/>
                  <a:t> depending on all three qubits value. The same</a:t>
                </a:r>
                <a:r>
                  <a:rPr lang="en-US" sz="2000" baseline="0" dirty="0"/>
                  <a:t> pattern is applied to the second qubit, but now depending on the second and the third qubit. Finally, only the H gate is applied to the third qubit.</a:t>
                </a: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65</a:t>
            </a:fld>
            <a:endParaRPr lang="en-US"/>
          </a:p>
        </p:txBody>
      </p:sp>
    </p:spTree>
    <p:extLst>
      <p:ext uri="{BB962C8B-B14F-4D97-AF65-F5344CB8AC3E}">
        <p14:creationId xmlns:p14="http://schemas.microsoft.com/office/powerpoint/2010/main" val="9911726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dirty="0"/>
                  <a:t>The established pattern extends naturally to a circuit with </a:t>
                </a:r>
                <a14:m>
                  <m:oMath xmlns:m="http://schemas.openxmlformats.org/officeDocument/2006/math">
                    <m:r>
                      <a:rPr lang="en-US" sz="1200" b="0" i="1" smtClean="0">
                        <a:latin typeface="Cambria Math" panose="02040503050406030204" pitchFamily="18" charset="0"/>
                        <a:ea typeface="Cambria Math" panose="02040503050406030204" pitchFamily="18" charset="0"/>
                      </a:rPr>
                      <m:t>𝑛</m:t>
                    </m:r>
                  </m:oMath>
                </a14:m>
                <a:r>
                  <a:rPr lang="en-ZA" dirty="0"/>
                  <a:t> qubits, as shown in the figure. The circuit construction proceeds from the last qubit upward:</a:t>
                </a:r>
              </a:p>
              <a:p>
                <a:endParaRPr lang="en-ZA" dirty="0"/>
              </a:p>
              <a:p>
                <a:pPr marL="171450" indent="-171450">
                  <a:buFont typeface="Arial" panose="020B0604020202020204" pitchFamily="34" charset="0"/>
                  <a:buChar char="•"/>
                </a:pPr>
                <a:r>
                  <a:rPr lang="en-ZA" dirty="0"/>
                  <a:t>A Hadamard gate is applied to the last qubit. </a:t>
                </a:r>
              </a:p>
              <a:p>
                <a:pPr marL="171450" indent="-171450">
                  <a:buFont typeface="Arial" panose="020B0604020202020204" pitchFamily="34" charset="0"/>
                  <a:buChar char="•"/>
                </a:pPr>
                <a:r>
                  <a:rPr lang="en-ZA" dirty="0"/>
                  <a:t>For each qubit above it, a Hadamard gate is applied, together with controlled phase gates involving the lower qubits. </a:t>
                </a:r>
              </a:p>
              <a:p>
                <a:pPr marL="171450" indent="-171450">
                  <a:buFont typeface="Arial" panose="020B0604020202020204" pitchFamily="34" charset="0"/>
                  <a:buChar char="•"/>
                </a:pPr>
                <a:r>
                  <a:rPr lang="en-ZA" dirty="0"/>
                  <a:t>Each controlled phase gate introduces a rotation with an angle of the form </a:t>
                </a:r>
                <a14:m>
                  <m:oMath xmlns:m="http://schemas.openxmlformats.org/officeDocument/2006/math">
                    <m:r>
                      <a:rPr lang="en-US" sz="1200" b="0" i="1" smtClean="0">
                        <a:latin typeface="Cambria Math" panose="02040503050406030204" pitchFamily="18" charset="0"/>
                        <a:ea typeface="Cambria Math" panose="02040503050406030204" pitchFamily="18" charset="0"/>
                      </a:rPr>
                      <m:t>2</m:t>
                    </m:r>
                    <m:r>
                      <a:rPr lang="en-US" sz="1200" i="1">
                        <a:latin typeface="Cambria Math" panose="02040503050406030204" pitchFamily="18" charset="0"/>
                        <a:ea typeface="Cambria Math" panose="02040503050406030204" pitchFamily="18" charset="0"/>
                      </a:rPr>
                      <m:t>𝜋</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2</m:t>
                        </m:r>
                      </m:e>
                      <m:sup>
                        <m:r>
                          <a:rPr lang="en-US" sz="1200" b="0" i="1" smtClean="0">
                            <a:latin typeface="Cambria Math" panose="02040503050406030204" pitchFamily="18" charset="0"/>
                            <a:ea typeface="Cambria Math" panose="02040503050406030204" pitchFamily="18" charset="0"/>
                          </a:rPr>
                          <m:t>𝑘</m:t>
                        </m:r>
                      </m:sup>
                    </m:sSup>
                  </m:oMath>
                </a14:m>
                <a:r>
                  <a:rPr lang="en-ZA" dirty="0"/>
                  <a:t>, where </a:t>
                </a:r>
                <a14:m>
                  <m:oMath xmlns:m="http://schemas.openxmlformats.org/officeDocument/2006/math">
                    <m:r>
                      <a:rPr lang="en-US" sz="1200" b="0" i="1" smtClean="0">
                        <a:latin typeface="Cambria Math" panose="02040503050406030204" pitchFamily="18" charset="0"/>
                        <a:ea typeface="Cambria Math" panose="02040503050406030204" pitchFamily="18" charset="0"/>
                      </a:rPr>
                      <m:t>𝑘</m:t>
                    </m:r>
                  </m:oMath>
                </a14:m>
                <a:r>
                  <a:rPr lang="en-ZA" dirty="0"/>
                  <a:t> increases with the distance between the qubits.</a:t>
                </a:r>
              </a:p>
              <a:p>
                <a:pPr marL="171450" indent="-171450">
                  <a:buFont typeface="Arial" panose="020B0604020202020204" pitchFamily="34" charset="0"/>
                  <a:buChar char="•"/>
                </a:pPr>
                <a:r>
                  <a:rPr lang="en-ZA" dirty="0"/>
                  <a:t>Finally, pairs of qubits are swapped symmetrically around the middle to restore the conventional output order.</a:t>
                </a:r>
              </a:p>
              <a:p>
                <a:endParaRPr lang="en-ZA" dirty="0"/>
              </a:p>
            </p:txBody>
          </p:sp>
        </mc:Choice>
        <mc:Fallback xmlns="">
          <p:sp>
            <p:nvSpPr>
              <p:cNvPr id="3" name="Notes Placeholder 2"/>
              <p:cNvSpPr>
                <a:spLocks noGrp="1"/>
              </p:cNvSpPr>
              <p:nvPr>
                <p:ph type="body" idx="1"/>
              </p:nvPr>
            </p:nvSpPr>
            <p:spPr/>
            <p:txBody>
              <a:bodyPr/>
              <a:lstStyle/>
              <a:p>
                <a:r>
                  <a:rPr lang="en-US" sz="2200" dirty="0"/>
                  <a:t>Given these two gates, a circuit that implements n-qubit QFT is shown on the slide. The circuit operates as follows.</a:t>
                </a:r>
              </a:p>
              <a:p>
                <a:pPr marL="457200" indent="-457200">
                  <a:buFont typeface="+mj-lt"/>
                  <a:buAutoNum type="arabicPeriod"/>
                </a:pPr>
                <a:r>
                  <a:rPr lang="en-US" sz="2400" dirty="0"/>
                  <a:t>We start with an n-qubit input state </a:t>
                </a:r>
                <a:r>
                  <a:rPr lang="en-US" sz="2400" dirty="0">
                    <a:effectLst/>
                  </a:rPr>
                  <a:t>|x1x2…</a:t>
                </a:r>
                <a:r>
                  <a:rPr lang="en-US" sz="2400" dirty="0" err="1">
                    <a:effectLst/>
                  </a:rPr>
                  <a:t>xn</a:t>
                </a:r>
                <a:r>
                  <a:rPr lang="en-US" sz="2400" dirty="0">
                    <a:effectLst/>
                  </a:rPr>
                  <a:t>⟩ shown by red line as section 1.</a:t>
                </a:r>
                <a:endParaRPr lang="en-US" sz="2400" dirty="0"/>
              </a:p>
              <a:p>
                <a:pPr marL="457200" indent="-457200">
                  <a:buFont typeface="+mj-lt"/>
                  <a:buAutoNum type="arabicPeriod"/>
                </a:pPr>
                <a:r>
                  <a:rPr lang="en-US" sz="2400" dirty="0"/>
                  <a:t>After the first Hadamard gate on qubit 1 the state in section 2 is shifted by </a:t>
                </a:r>
                <a:r>
                  <a:rPr lang="en-US" sz="2400" i="0">
                    <a:solidFill>
                      <a:srgbClr val="002060"/>
                    </a:solidFill>
                    <a:latin typeface="Cambria Math" panose="02040503050406030204" pitchFamily="18" charset="0"/>
                    <a:ea typeface="Cambria Math" panose="02040503050406030204" pitchFamily="18" charset="0"/>
                  </a:rPr>
                  <a:t>𝑖𝜋𝑥</a:t>
                </a:r>
                <a:r>
                  <a:rPr lang="en-US" sz="2400" dirty="0"/>
                  <a:t>.</a:t>
                </a:r>
              </a:p>
              <a:p>
                <a:pPr marL="457200" indent="-457200">
                  <a:buFont typeface="+mj-lt"/>
                  <a:buAutoNum type="arabicPeriod"/>
                </a:pPr>
                <a:r>
                  <a:rPr lang="en-US" sz="2400" dirty="0"/>
                  <a:t>After the </a:t>
                </a:r>
                <a:r>
                  <a:rPr lang="en-US" sz="2400" dirty="0">
                    <a:effectLst/>
                  </a:rPr>
                  <a:t>UROT2</a:t>
                </a:r>
                <a:r>
                  <a:rPr lang="en-US" sz="2400" dirty="0"/>
                  <a:t> gate on qubit 1 controlled by qubit 2, the state in section 3 get another phase shift.</a:t>
                </a:r>
              </a:p>
              <a:p>
                <a:pPr marL="457200" indent="-457200">
                  <a:buFont typeface="+mj-lt"/>
                  <a:buAutoNum type="arabicPeriod"/>
                </a:pPr>
                <a:r>
                  <a:rPr lang="en-US" sz="2400" dirty="0"/>
                  <a:t>After series of UROT application we add all phase shifts together. If we use shortcut in blue, this can be expressed in more compact form. Note that </a:t>
                </a:r>
                <a:r>
                  <a:rPr lang="en-US" sz="2400" i="0">
                    <a:solidFill>
                      <a:srgbClr val="0000FF"/>
                    </a:solidFill>
                    <a:latin typeface="Cambria Math" panose="02040503050406030204" pitchFamily="18" charset="0"/>
                    <a:ea typeface="Cambria Math" panose="02040503050406030204" pitchFamily="18" charset="0"/>
                  </a:rPr>
                  <a:t>𝑥_1</a:t>
                </a:r>
                <a:r>
                  <a:rPr lang="en-US" sz="2400" dirty="0"/>
                  <a:t> to </a:t>
                </a:r>
                <a:r>
                  <a:rPr lang="en-US" sz="2400" i="0">
                    <a:solidFill>
                      <a:srgbClr val="0000FF"/>
                    </a:solidFill>
                    <a:latin typeface="Cambria Math" panose="02040503050406030204" pitchFamily="18" charset="0"/>
                    <a:ea typeface="Cambria Math" panose="02040503050406030204" pitchFamily="18" charset="0"/>
                  </a:rPr>
                  <a:t>𝑥_</a:t>
                </a:r>
                <a:r>
                  <a:rPr lang="en-US" sz="2400" b="0" i="0">
                    <a:solidFill>
                      <a:srgbClr val="0000FF"/>
                    </a:solidFill>
                    <a:latin typeface="Cambria Math" panose="02040503050406030204" pitchFamily="18" charset="0"/>
                    <a:ea typeface="Cambria Math" panose="02040503050406030204" pitchFamily="18" charset="0"/>
                  </a:rPr>
                  <a:t>𝑛</a:t>
                </a:r>
                <a:r>
                  <a:rPr lang="en-US" sz="2400" dirty="0"/>
                  <a:t> represent binary state of the input given above the circuit,</a:t>
                </a:r>
                <a:r>
                  <a:rPr lang="en-US" sz="2400" baseline="0" dirty="0"/>
                  <a:t> where some bits can be 0 and some 1 and powers of 2 are simply bit-weights, 1,2, 2-squred, etc.</a:t>
                </a:r>
                <a:endParaRPr lang="en-US" sz="2400" dirty="0"/>
              </a:p>
              <a:p>
                <a:pPr marL="457200" indent="-457200">
                  <a:buFont typeface="+mj-lt"/>
                  <a:buAutoNum type="arabicPeriod"/>
                </a:pPr>
                <a:r>
                  <a:rPr lang="en-US" sz="2400" dirty="0"/>
                  <a:t>After the application of a similar sequence of gates for qubits </a:t>
                </a:r>
                <a:r>
                  <a:rPr lang="en-US" sz="2400" dirty="0">
                    <a:effectLst/>
                  </a:rPr>
                  <a:t>2 to n we get the state shown on the slide.</a:t>
                </a:r>
              </a:p>
              <a:p>
                <a:pPr marL="457200" indent="-457200">
                  <a:buFont typeface="+mj-lt"/>
                  <a:buAutoNum type="arabicPeriod"/>
                </a:pPr>
                <a:r>
                  <a:rPr lang="en-US" sz="2400" dirty="0">
                    <a:effectLst/>
                  </a:rPr>
                  <a:t>Finally, in IBM-Q the order of qubit is reversed, so we add two swop gates to exchange qubit states.</a:t>
                </a:r>
              </a:p>
              <a:p>
                <a:pPr marL="0" indent="0">
                  <a:buFont typeface="+mj-lt"/>
                  <a:buNone/>
                </a:pPr>
                <a:endParaRPr lang="en-US" sz="2400" dirty="0">
                  <a:effectLst/>
                </a:endParaRPr>
              </a:p>
              <a:p>
                <a:pPr marL="0" indent="0">
                  <a:buFont typeface="+mj-lt"/>
                  <a:buNone/>
                </a:pPr>
                <a:r>
                  <a:rPr lang="en-US" sz="2400" dirty="0"/>
                  <a:t>https://</a:t>
                </a:r>
                <a:r>
                  <a:rPr lang="en-US" sz="2400" dirty="0" err="1"/>
                  <a:t>benjaminwhiteside.com</a:t>
                </a:r>
                <a:r>
                  <a:rPr lang="en-US" sz="2400" dirty="0"/>
                  <a:t>/2019/11/29/quantum-computing-</a:t>
                </a:r>
                <a:r>
                  <a:rPr lang="en-US" sz="2400" dirty="0" err="1"/>
                  <a:t>qiskit</a:t>
                </a:r>
                <a:r>
                  <a:rPr lang="en-US" sz="2400"/>
                  <a:t>-circuit-building/</a:t>
                </a:r>
                <a:endParaRPr lang="en-US" sz="2400" dirty="0"/>
              </a:p>
              <a:p>
                <a:pPr marL="457200" indent="-457200">
                  <a:buFont typeface="+mj-lt"/>
                  <a:buAutoNum type="arabicPeriod"/>
                </a:pPr>
                <a:endParaRPr lang="en-US" sz="2400" dirty="0"/>
              </a:p>
              <a:p>
                <a:pPr marL="457200" indent="-457200">
                  <a:buFont typeface="+mj-lt"/>
                  <a:buAutoNum type="arabicPeriod"/>
                </a:pPr>
                <a:endParaRPr lang="en-US" sz="22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66</a:t>
            </a:fld>
            <a:endParaRPr lang="en-US"/>
          </a:p>
        </p:txBody>
      </p:sp>
    </p:spTree>
    <p:extLst>
      <p:ext uri="{BB962C8B-B14F-4D97-AF65-F5344CB8AC3E}">
        <p14:creationId xmlns:p14="http://schemas.microsoft.com/office/powerpoint/2010/main" val="131126056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Another important quantum algorithm is Quantum Phase Estimation (QPE), introduced by Russian-American scientist Alexei </a:t>
            </a:r>
            <a:r>
              <a:rPr lang="en-ZA" b="0" dirty="0" err="1"/>
              <a:t>Kitaev</a:t>
            </a:r>
            <a:r>
              <a:rPr lang="en-ZA" b="0" dirty="0"/>
              <a:t>.</a:t>
            </a:r>
          </a:p>
          <a:p>
            <a:pPr algn="just"/>
            <a:endParaRPr lang="en-ZA" b="0" dirty="0"/>
          </a:p>
          <a:p>
            <a:pPr algn="just"/>
            <a:r>
              <a:rPr lang="en-ZA" b="0" dirty="0"/>
              <a:t>QPE is not typically used on its own but, like the Quantum Fourier Transform (QFT), serves as an essential component of more complex quantum algorithms. It plays an important role in:</a:t>
            </a:r>
          </a:p>
          <a:p>
            <a:pPr algn="just"/>
            <a:endParaRPr lang="en-ZA" b="0" dirty="0"/>
          </a:p>
          <a:p>
            <a:pPr marL="171450" indent="-171450" algn="just">
              <a:buFont typeface="Arial" panose="020B0604020202020204" pitchFamily="34" charset="0"/>
              <a:buChar char="•"/>
            </a:pPr>
            <a:r>
              <a:rPr lang="en-ZA" b="0" dirty="0"/>
              <a:t>Quantum chemistry and simulation, for estimating energy levels of molecules and other quantum systems. </a:t>
            </a:r>
          </a:p>
          <a:p>
            <a:pPr marL="171450" indent="-171450" algn="just">
              <a:buFont typeface="Arial" panose="020B0604020202020204" pitchFamily="34" charset="0"/>
              <a:buChar char="•"/>
            </a:pPr>
            <a:r>
              <a:rPr lang="en-ZA" b="0" dirty="0"/>
              <a:t>Factoring and order finding, as a key component of Shor’s algorithm. </a:t>
            </a:r>
          </a:p>
          <a:p>
            <a:pPr marL="171450" indent="-171450" algn="just">
              <a:buFont typeface="Arial" panose="020B0604020202020204" pitchFamily="34" charset="0"/>
              <a:buChar char="•"/>
            </a:pPr>
            <a:r>
              <a:rPr lang="en-ZA" b="0" dirty="0"/>
              <a:t>Solving systems of linear equations, as a component of algorithms such as HHL. </a:t>
            </a:r>
          </a:p>
          <a:p>
            <a:pPr marL="171450" indent="-171450" algn="just">
              <a:buFont typeface="Arial" panose="020B0604020202020204" pitchFamily="34" charset="0"/>
              <a:buChar char="•"/>
            </a:pPr>
            <a:r>
              <a:rPr lang="en-ZA" b="0" dirty="0"/>
              <a:t>Quantum machine learning, where phase or eigenvalue estimation can be used within certain algorithms.</a:t>
            </a:r>
          </a:p>
        </p:txBody>
      </p:sp>
      <p:sp>
        <p:nvSpPr>
          <p:cNvPr id="4" name="Slide Number Placeholder 3"/>
          <p:cNvSpPr>
            <a:spLocks noGrp="1"/>
          </p:cNvSpPr>
          <p:nvPr>
            <p:ph type="sldNum" sz="quarter" idx="5"/>
          </p:nvPr>
        </p:nvSpPr>
        <p:spPr/>
        <p:txBody>
          <a:bodyPr/>
          <a:lstStyle/>
          <a:p>
            <a:fld id="{1B2CE5E3-B8BD-D040-AC87-D640191DD8F1}" type="slidenum">
              <a:rPr lang="en-US" smtClean="0"/>
              <a:t>67</a:t>
            </a:fld>
            <a:endParaRPr lang="en-US"/>
          </a:p>
        </p:txBody>
      </p:sp>
    </p:spTree>
    <p:extLst>
      <p:ext uri="{BB962C8B-B14F-4D97-AF65-F5344CB8AC3E}">
        <p14:creationId xmlns:p14="http://schemas.microsoft.com/office/powerpoint/2010/main" val="286428053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0" dirty="0">
                    <a:solidFill>
                      <a:schemeClr val="tx1"/>
                    </a:solidFill>
                  </a:rPr>
                  <a:t>As its name suggests, the Quantum Phase Estimation (QPE) algorithm estimates the phase associated with an eigenvalue of a unitary operator.</a:t>
                </a:r>
              </a:p>
              <a:p>
                <a:endParaRPr lang="en-ZA" b="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ZA" b="0" dirty="0">
                    <a:solidFill>
                      <a:schemeClr val="tx1"/>
                    </a:solidFill>
                  </a:rPr>
                  <a:t>For a unitary operator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𝑈</m:t>
                    </m:r>
                  </m:oMath>
                </a14:m>
                <a:r>
                  <a:rPr lang="en-ZA" b="0" dirty="0">
                    <a:solidFill>
                      <a:schemeClr val="tx1"/>
                    </a:solidFill>
                  </a:rPr>
                  <a:t> and one of its eigenvectors </a:t>
                </a:r>
                <a14:m>
                  <m:oMath xmlns:m="http://schemas.openxmlformats.org/officeDocument/2006/math">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𝑢</m:t>
                        </m:r>
                      </m:e>
                    </m:d>
                  </m:oMath>
                </a14:m>
                <a:r>
                  <a:rPr lang="en-ZA" b="0" dirty="0">
                    <a:solidFill>
                      <a:schemeClr val="tx1"/>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ZA" b="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𝑈</m:t>
                          </m:r>
                          <m:r>
                            <a:rPr lang="en-US" sz="1200" i="1">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𝑢</m:t>
                          </m:r>
                        </m:e>
                      </m:d>
                      <m:r>
                        <a:rPr lang="en-US" sz="1200" b="0" i="1" smtClean="0">
                          <a:solidFill>
                            <a:schemeClr val="tx1"/>
                          </a:solidFill>
                          <a:latin typeface="Cambria Math" panose="02040503050406030204" pitchFamily="18" charset="0"/>
                          <a:ea typeface="Cambria Math" panose="02040503050406030204" pitchFamily="18" charset="0"/>
                        </a:rPr>
                        <m:t>=</m:t>
                      </m:r>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𝑒</m:t>
                          </m:r>
                        </m:e>
                        <m:sup>
                          <m:r>
                            <a:rPr lang="en-US" sz="1200" b="0" i="1" smtClean="0">
                              <a:solidFill>
                                <a:schemeClr val="tx1"/>
                              </a:solidFill>
                              <a:latin typeface="Cambria Math" panose="02040503050406030204" pitchFamily="18" charset="0"/>
                              <a:ea typeface="Cambria Math" panose="02040503050406030204" pitchFamily="18" charset="0"/>
                            </a:rPr>
                            <m:t>2</m:t>
                          </m:r>
                          <m:r>
                            <a:rPr lang="en-US" sz="1200" b="0" i="1" smtClean="0">
                              <a:solidFill>
                                <a:schemeClr val="tx1"/>
                              </a:solidFill>
                              <a:latin typeface="Cambria Math" panose="02040503050406030204" pitchFamily="18" charset="0"/>
                              <a:ea typeface="Cambria Math" panose="02040503050406030204" pitchFamily="18" charset="0"/>
                            </a:rPr>
                            <m:t>𝜋</m:t>
                          </m:r>
                          <m:r>
                            <a:rPr lang="en-US" sz="1200" b="0" i="1" smtClean="0">
                              <a:solidFill>
                                <a:schemeClr val="tx1"/>
                              </a:solidFill>
                              <a:latin typeface="Cambria Math" panose="02040503050406030204" pitchFamily="18" charset="0"/>
                              <a:ea typeface="Cambria Math" panose="02040503050406030204" pitchFamily="18" charset="0"/>
                            </a:rPr>
                            <m:t>𝑖</m:t>
                          </m:r>
                          <m:r>
                            <a:rPr lang="en-US" sz="1200" b="0" i="1" smtClean="0">
                              <a:solidFill>
                                <a:schemeClr val="tx1"/>
                              </a:solidFill>
                              <a:latin typeface="Cambria Math" panose="02040503050406030204" pitchFamily="18" charset="0"/>
                              <a:ea typeface="Cambria Math" panose="02040503050406030204" pitchFamily="18" charset="0"/>
                            </a:rPr>
                            <m:t>𝜑</m:t>
                          </m:r>
                        </m:sup>
                      </m:sSup>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𝑢</m:t>
                          </m:r>
                        </m:e>
                      </m:d>
                    </m:oMath>
                  </m:oMathPara>
                </a14:m>
                <a:endParaRPr lang="en-US" sz="12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p>
                <a:r>
                  <a:rPr lang="en-ZA" b="0" dirty="0">
                    <a:solidFill>
                      <a:schemeClr val="tx1"/>
                    </a:solidFill>
                  </a:rPr>
                  <a:t>the goal is to estimate the phase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𝜑</m:t>
                    </m:r>
                  </m:oMath>
                </a14:m>
                <a:r>
                  <a:rPr lang="el-GR" b="0" dirty="0">
                    <a:solidFill>
                      <a:schemeClr val="tx1"/>
                    </a:solidFill>
                  </a:rPr>
                  <a:t>. </a:t>
                </a:r>
                <a:r>
                  <a:rPr lang="en-ZA" b="0" dirty="0">
                    <a:solidFill>
                      <a:schemeClr val="tx1"/>
                    </a:solidFill>
                  </a:rPr>
                  <a:t>Since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𝑈</m:t>
                    </m:r>
                  </m:oMath>
                </a14:m>
                <a:r>
                  <a:rPr lang="en-ZA" b="0" dirty="0">
                    <a:solidFill>
                      <a:schemeClr val="tx1"/>
                    </a:solidFill>
                  </a:rPr>
                  <a:t> is unitary, its eigenvalues lie on the unit circle in the complex plane and can therefore be written in the form </a:t>
                </a:r>
                <a14:m>
                  <m:oMath xmlns:m="http://schemas.openxmlformats.org/officeDocument/2006/math">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𝑒</m:t>
                        </m:r>
                      </m:e>
                      <m:sup>
                        <m:r>
                          <a:rPr lang="en-US" sz="1200" b="0" i="1" smtClean="0">
                            <a:solidFill>
                              <a:schemeClr val="tx1"/>
                            </a:solidFill>
                            <a:latin typeface="Cambria Math" panose="02040503050406030204" pitchFamily="18" charset="0"/>
                            <a:ea typeface="Cambria Math" panose="02040503050406030204" pitchFamily="18" charset="0"/>
                          </a:rPr>
                          <m:t>2</m:t>
                        </m:r>
                        <m:r>
                          <a:rPr lang="en-US" sz="1200" b="0" i="1" smtClean="0">
                            <a:solidFill>
                              <a:schemeClr val="tx1"/>
                            </a:solidFill>
                            <a:latin typeface="Cambria Math" panose="02040503050406030204" pitchFamily="18" charset="0"/>
                            <a:ea typeface="Cambria Math" panose="02040503050406030204" pitchFamily="18" charset="0"/>
                          </a:rPr>
                          <m:t>𝜋</m:t>
                        </m:r>
                        <m:r>
                          <a:rPr lang="en-US" sz="1200" b="0" i="1" smtClean="0">
                            <a:solidFill>
                              <a:schemeClr val="tx1"/>
                            </a:solidFill>
                            <a:latin typeface="Cambria Math" panose="02040503050406030204" pitchFamily="18" charset="0"/>
                            <a:ea typeface="Cambria Math" panose="02040503050406030204" pitchFamily="18" charset="0"/>
                          </a:rPr>
                          <m:t>𝑖</m:t>
                        </m:r>
                        <m:r>
                          <a:rPr lang="en-US" sz="1200" b="0" i="1" smtClean="0">
                            <a:solidFill>
                              <a:schemeClr val="tx1"/>
                            </a:solidFill>
                            <a:latin typeface="Cambria Math" panose="02040503050406030204" pitchFamily="18" charset="0"/>
                            <a:ea typeface="Cambria Math" panose="02040503050406030204" pitchFamily="18" charset="0"/>
                          </a:rPr>
                          <m:t>𝜑</m:t>
                        </m:r>
                      </m:sup>
                    </m:sSup>
                  </m:oMath>
                </a14:m>
                <a:r>
                  <a:rPr lang="el-GR" b="0" dirty="0">
                    <a:solidFill>
                      <a:schemeClr val="tx1"/>
                    </a:solidFill>
                  </a:rPr>
                  <a:t>.</a:t>
                </a:r>
                <a:endParaRPr lang="en-US" b="0" dirty="0">
                  <a:solidFill>
                    <a:schemeClr val="tx1"/>
                  </a:solidFill>
                </a:endParaRPr>
              </a:p>
              <a:p>
                <a:endParaRPr lang="el-GR" b="0" dirty="0">
                  <a:solidFill>
                    <a:schemeClr val="tx1"/>
                  </a:solidFill>
                </a:endParaRPr>
              </a:p>
              <a:p>
                <a:r>
                  <a:rPr lang="en-ZA" b="0" dirty="0">
                    <a:solidFill>
                      <a:schemeClr val="tx1"/>
                    </a:solidFill>
                  </a:rPr>
                  <a:t>The QPE circuit consists of two registers. </a:t>
                </a:r>
              </a:p>
              <a:p>
                <a:endParaRPr lang="en-ZA" b="0" dirty="0">
                  <a:solidFill>
                    <a:schemeClr val="tx1"/>
                  </a:solidFill>
                </a:endParaRPr>
              </a:p>
              <a:p>
                <a:pPr marL="171450" indent="-171450">
                  <a:buFont typeface="Arial" panose="020B0604020202020204" pitchFamily="34" charset="0"/>
                  <a:buChar char="•"/>
                </a:pPr>
                <a:r>
                  <a:rPr lang="en-ZA" b="0" dirty="0">
                    <a:solidFill>
                      <a:schemeClr val="tx1"/>
                    </a:solidFill>
                  </a:rPr>
                  <a:t>The target register (lower register) is prepared in the eigenstate </a:t>
                </a:r>
                <a14:m>
                  <m:oMath xmlns:m="http://schemas.openxmlformats.org/officeDocument/2006/math">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𝑢</m:t>
                        </m:r>
                      </m:e>
                    </m:d>
                  </m:oMath>
                </a14:m>
                <a:r>
                  <a:rPr lang="en-ZA" b="0" dirty="0">
                    <a:solidFill>
                      <a:schemeClr val="tx1"/>
                    </a:solidFill>
                  </a:rPr>
                  <a:t> of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𝑈</m:t>
                    </m:r>
                  </m:oMath>
                </a14:m>
                <a:r>
                  <a:rPr lang="en-ZA" b="0" dirty="0">
                    <a:solidFill>
                      <a:schemeClr val="tx1"/>
                    </a:solidFill>
                  </a:rPr>
                  <a:t>. It contains enough qubits to represent this state. </a:t>
                </a:r>
              </a:p>
              <a:p>
                <a:pPr marL="171450" indent="-171450">
                  <a:buFont typeface="Arial" panose="020B0604020202020204" pitchFamily="34" charset="0"/>
                  <a:buChar char="•"/>
                </a:pPr>
                <a:r>
                  <a:rPr lang="en-ZA" b="0" dirty="0">
                    <a:solidFill>
                      <a:schemeClr val="tx1"/>
                    </a:solidFill>
                  </a:rPr>
                  <a:t>The control register (upper register) contains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𝑛</m:t>
                    </m:r>
                  </m:oMath>
                </a14:m>
                <a:r>
                  <a:rPr lang="en-ZA" b="0" dirty="0">
                    <a:solidFill>
                      <a:schemeClr val="tx1"/>
                    </a:solidFill>
                  </a:rPr>
                  <a:t> qubits. The number of qubits determines the precision of the phase estimation. The register is initialized to </a:t>
                </a:r>
                <a14:m>
                  <m:oMath xmlns:m="http://schemas.openxmlformats.org/officeDocument/2006/math">
                    <m:sSup>
                      <m:sSupPr>
                        <m:ctrlPr>
                          <a:rPr lang="en-US" sz="1200" i="1" smtClean="0">
                            <a:solidFill>
                              <a:schemeClr val="tx1"/>
                            </a:solidFill>
                            <a:latin typeface="Cambria Math" panose="02040503050406030204" pitchFamily="18" charset="0"/>
                            <a:ea typeface="Cambria Math" panose="02040503050406030204" pitchFamily="18" charset="0"/>
                          </a:rPr>
                        </m:ctrlPr>
                      </m:sSupPr>
                      <m:e>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0</m:t>
                            </m:r>
                          </m:e>
                        </m:d>
                      </m:e>
                      <m:sup>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𝑛</m:t>
                        </m:r>
                      </m:sup>
                    </m:sSup>
                  </m:oMath>
                </a14:m>
                <a:r>
                  <a:rPr lang="en-ZA" b="0" dirty="0">
                    <a:solidFill>
                      <a:schemeClr val="tx1"/>
                    </a:solidFill>
                  </a:rPr>
                  <a:t>. </a:t>
                </a:r>
              </a:p>
              <a:p>
                <a:endParaRPr lang="en-ZA" b="0" dirty="0">
                  <a:solidFill>
                    <a:schemeClr val="tx1"/>
                  </a:solidFill>
                </a:endParaRPr>
              </a:p>
              <a:p>
                <a:pPr marL="171450" indent="-171450">
                  <a:buFont typeface="Arial" panose="020B0604020202020204" pitchFamily="34" charset="0"/>
                  <a:buChar char="•"/>
                </a:pPr>
                <a:r>
                  <a:rPr lang="en-ZA" b="0" dirty="0">
                    <a:solidFill>
                      <a:schemeClr val="tx1"/>
                    </a:solidFill>
                  </a:rPr>
                  <a:t>Hadamard gates first place the control qubits into superposition.</a:t>
                </a:r>
              </a:p>
              <a:p>
                <a:pPr marL="171450" indent="-171450">
                  <a:buFont typeface="Arial" panose="020B0604020202020204" pitchFamily="34" charset="0"/>
                  <a:buChar char="•"/>
                </a:pPr>
                <a:r>
                  <a:rPr lang="en-ZA" b="0" dirty="0">
                    <a:solidFill>
                      <a:schemeClr val="tx1"/>
                    </a:solidFill>
                  </a:rPr>
                  <a:t>A sequence of controlled operations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𝑈</m:t>
                    </m:r>
                    <m:r>
                      <a:rPr lang="en-US" sz="1200" b="0" i="1" smtClean="0">
                        <a:solidFill>
                          <a:schemeClr val="tx1"/>
                        </a:solidFill>
                        <a:latin typeface="Cambria Math" panose="02040503050406030204" pitchFamily="18" charset="0"/>
                        <a:ea typeface="Cambria Math" panose="02040503050406030204" pitchFamily="18" charset="0"/>
                      </a:rPr>
                      <m:t>,</m:t>
                    </m:r>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𝑈</m:t>
                        </m:r>
                      </m:e>
                      <m:sup>
                        <m:r>
                          <a:rPr lang="en-US" sz="1200" b="0" i="1" smtClean="0">
                            <a:solidFill>
                              <a:schemeClr val="tx1"/>
                            </a:solidFill>
                            <a:latin typeface="Cambria Math" panose="02040503050406030204" pitchFamily="18" charset="0"/>
                            <a:ea typeface="Cambria Math" panose="02040503050406030204" pitchFamily="18" charset="0"/>
                          </a:rPr>
                          <m:t>2</m:t>
                        </m:r>
                      </m:sup>
                    </m:sSup>
                    <m:r>
                      <a:rPr lang="en-US" sz="1200" b="0" i="1" smtClean="0">
                        <a:solidFill>
                          <a:schemeClr val="tx1"/>
                        </a:solidFill>
                        <a:latin typeface="Cambria Math" panose="02040503050406030204" pitchFamily="18" charset="0"/>
                        <a:ea typeface="Cambria Math" panose="02040503050406030204" pitchFamily="18" charset="0"/>
                      </a:rPr>
                      <m:t>,</m:t>
                    </m:r>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𝑈</m:t>
                        </m:r>
                      </m:e>
                      <m:sup>
                        <m:r>
                          <a:rPr lang="en-US" sz="1200" b="0" i="1" smtClean="0">
                            <a:solidFill>
                              <a:schemeClr val="tx1"/>
                            </a:solidFill>
                            <a:latin typeface="Cambria Math" panose="02040503050406030204" pitchFamily="18" charset="0"/>
                            <a:ea typeface="Cambria Math" panose="02040503050406030204" pitchFamily="18" charset="0"/>
                          </a:rPr>
                          <m:t>4</m:t>
                        </m:r>
                      </m:sup>
                    </m:sSup>
                    <m:r>
                      <a:rPr lang="en-US" sz="1200" b="0" i="1" smtClean="0">
                        <a:solidFill>
                          <a:schemeClr val="tx1"/>
                        </a:solidFill>
                        <a:latin typeface="Cambria Math" panose="02040503050406030204" pitchFamily="18" charset="0"/>
                        <a:ea typeface="Cambria Math" panose="02040503050406030204" pitchFamily="18" charset="0"/>
                      </a:rPr>
                      <m:t>,⋯,</m:t>
                    </m:r>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𝑈</m:t>
                        </m:r>
                      </m:e>
                      <m:sup>
                        <m:r>
                          <a:rPr lang="en-US" sz="1200" b="0" i="1" smtClean="0">
                            <a:solidFill>
                              <a:schemeClr val="tx1"/>
                            </a:solidFill>
                            <a:latin typeface="Cambria Math" panose="02040503050406030204" pitchFamily="18" charset="0"/>
                            <a:ea typeface="Cambria Math" panose="02040503050406030204" pitchFamily="18" charset="0"/>
                          </a:rPr>
                          <m:t>2</m:t>
                        </m:r>
                        <m:r>
                          <a:rPr lang="en-US" sz="1200" b="0" i="1" smtClean="0">
                            <a:solidFill>
                              <a:schemeClr val="tx1"/>
                            </a:solidFill>
                            <a:latin typeface="Cambria Math" panose="02040503050406030204" pitchFamily="18" charset="0"/>
                            <a:ea typeface="Cambria Math" panose="02040503050406030204" pitchFamily="18" charset="0"/>
                          </a:rPr>
                          <m:t>𝑛</m:t>
                        </m:r>
                        <m:r>
                          <a:rPr lang="en-US" sz="1200" b="0" i="1" smtClean="0">
                            <a:solidFill>
                              <a:schemeClr val="tx1"/>
                            </a:solidFill>
                            <a:latin typeface="Cambria Math" panose="02040503050406030204" pitchFamily="18" charset="0"/>
                            <a:ea typeface="Cambria Math" panose="02040503050406030204" pitchFamily="18" charset="0"/>
                          </a:rPr>
                          <m:t>−1</m:t>
                        </m:r>
                      </m:sup>
                    </m:sSup>
                  </m:oMath>
                </a14:m>
                <a:r>
                  <a:rPr lang="en-ZA" b="0" dirty="0">
                    <a:solidFill>
                      <a:schemeClr val="tx1"/>
                    </a:solidFill>
                  </a:rPr>
                  <a:t> is then applied. Because the target register is in the eigenstate </a:t>
                </a:r>
                <a14:m>
                  <m:oMath xmlns:m="http://schemas.openxmlformats.org/officeDocument/2006/math">
                    <m:d>
                      <m:dPr>
                        <m:begChr m:val=""/>
                        <m:endChr m:val="⟩"/>
                        <m:ctrlPr>
                          <a:rPr lang="en-US" sz="1200" i="1" smtClean="0">
                            <a:solidFill>
                              <a:schemeClr val="tx1"/>
                            </a:solidFill>
                            <a:latin typeface="Cambria Math" panose="02040503050406030204" pitchFamily="18" charset="0"/>
                            <a:ea typeface="Cambria Math" panose="02040503050406030204" pitchFamily="18" charset="0"/>
                          </a:rPr>
                        </m:ctrlPr>
                      </m:dPr>
                      <m:e>
                        <m:r>
                          <a:rPr lang="en-US" sz="1200" i="1">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𝑢</m:t>
                        </m:r>
                      </m:e>
                    </m:d>
                  </m:oMath>
                </a14:m>
                <a:r>
                  <a:rPr lang="en-ZA" b="0" dirty="0">
                    <a:solidFill>
                      <a:schemeClr val="tx1"/>
                    </a:solidFill>
                  </a:rPr>
                  <a:t>, these operations encode multiples of the phase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𝜑</m:t>
                    </m:r>
                  </m:oMath>
                </a14:m>
                <a:r>
                  <a:rPr lang="el-GR" b="0" dirty="0">
                    <a:solidFill>
                      <a:schemeClr val="tx1"/>
                    </a:solidFill>
                  </a:rPr>
                  <a:t> </a:t>
                </a:r>
                <a:r>
                  <a:rPr lang="en-ZA" b="0" dirty="0">
                    <a:solidFill>
                      <a:schemeClr val="tx1"/>
                    </a:solidFill>
                  </a:rPr>
                  <a:t>into the relative phases of the control qubits.</a:t>
                </a:r>
              </a:p>
              <a:p>
                <a:pPr marL="171450" indent="-171450">
                  <a:buFont typeface="Arial" panose="020B0604020202020204" pitchFamily="34" charset="0"/>
                  <a:buChar char="•"/>
                </a:pPr>
                <a:r>
                  <a:rPr lang="en-ZA" b="0" dirty="0">
                    <a:solidFill>
                      <a:schemeClr val="tx1"/>
                    </a:solidFill>
                  </a:rPr>
                  <a:t>To extract this phase information, the Inverse Quantum Fourier Transform (IQFT) is applied to the control register. The IQFT converts the phase-encoded state into a computational basis state. Measuring the control register then gives a binary approximation of the phase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𝜑</m:t>
                    </m:r>
                  </m:oMath>
                </a14:m>
                <a:r>
                  <a:rPr lang="el-GR" b="0" dirty="0">
                    <a:solidFill>
                      <a:schemeClr val="tx1"/>
                    </a:solidFill>
                  </a:rPr>
                  <a:t>.</a:t>
                </a:r>
                <a:endParaRPr lang="en-ZA" b="0" dirty="0">
                  <a:solidFill>
                    <a:schemeClr val="tx1"/>
                  </a:solidFill>
                </a:endParaRPr>
              </a:p>
            </p:txBody>
          </p:sp>
        </mc:Choice>
        <mc:Fallback xmlns="">
          <p:sp>
            <p:nvSpPr>
              <p:cNvPr id="3" name="Notes Placeholder 2"/>
              <p:cNvSpPr>
                <a:spLocks noGrp="1"/>
              </p:cNvSpPr>
              <p:nvPr>
                <p:ph type="body" idx="1"/>
              </p:nvPr>
            </p:nvSpPr>
            <p:spPr/>
            <p:txBody>
              <a:bodyPr/>
              <a:lstStyle/>
              <a:p>
                <a:r>
                  <a:rPr lang="en-ZA" sz="2000" dirty="0"/>
                  <a:t>Quantum phase estimation is one of important building blocks for many quantum algorithms. Given an unitary operator </a:t>
                </a:r>
                <a:r>
                  <a:rPr lang="en-US" sz="2000" b="0" i="0">
                    <a:latin typeface="Cambria Math" panose="02040503050406030204" pitchFamily="18" charset="0"/>
                    <a:ea typeface="Cambria Math" panose="02040503050406030204" pitchFamily="18" charset="0"/>
                  </a:rPr>
                  <a:t>𝑈</a:t>
                </a:r>
                <a:r>
                  <a:rPr lang="en-US" sz="2000" dirty="0"/>
                  <a:t> and</a:t>
                </a:r>
                <a:r>
                  <a:rPr lang="en-US" sz="2000" baseline="0" dirty="0"/>
                  <a:t> an</a:t>
                </a:r>
                <a:r>
                  <a:rPr lang="en-US" sz="2000" dirty="0"/>
                  <a:t> eigenvector</a:t>
                </a:r>
                <a:r>
                  <a:rPr lang="en-US" sz="2000" baseline="0" dirty="0"/>
                  <a:t> </a:t>
                </a:r>
                <a:r>
                  <a:rPr lang="en-US" sz="2000" i="0">
                    <a:latin typeface="Cambria Math" panose="02040503050406030204" pitchFamily="18" charset="0"/>
                    <a:ea typeface="Cambria Math" panose="02040503050406030204" pitchFamily="18" charset="0"/>
                  </a:rPr>
                  <a:t>├ |</a:t>
                </a:r>
                <a:r>
                  <a:rPr lang="en-US" sz="2000" b="0" i="0">
                    <a:latin typeface="Cambria Math" panose="02040503050406030204" pitchFamily="18" charset="0"/>
                    <a:ea typeface="Cambria Math" panose="02040503050406030204" pitchFamily="18" charset="0"/>
                  </a:rPr>
                  <a:t>𝑆⟩</a:t>
                </a:r>
                <a:r>
                  <a:rPr lang="en-US" sz="2000" dirty="0"/>
                  <a:t> the algorithm estimate </a:t>
                </a:r>
                <a:r>
                  <a:rPr lang="en-US" sz="2000" b="0" i="0">
                    <a:latin typeface="Cambria Math" panose="02040503050406030204" pitchFamily="18" charset="0"/>
                    <a:ea typeface="Cambria Math" panose="02040503050406030204" pitchFamily="18" charset="0"/>
                  </a:rPr>
                  <a:t>𝜃</a:t>
                </a:r>
                <a:r>
                  <a:rPr lang="en-US" sz="2000" dirty="0"/>
                  <a:t> in the eigenvalue </a:t>
                </a:r>
                <a:r>
                  <a:rPr lang="en-US" sz="2000" b="0" i="0">
                    <a:latin typeface="Cambria Math" panose="02040503050406030204" pitchFamily="18" charset="0"/>
                    <a:ea typeface="Cambria Math" panose="02040503050406030204" pitchFamily="18" charset="0"/>
                  </a:rPr>
                  <a:t>𝑒^2𝜋𝑖𝜃</a:t>
                </a:r>
                <a:r>
                  <a:rPr lang="en-US" sz="2000" dirty="0"/>
                  <a:t>. </a:t>
                </a:r>
                <a:r>
                  <a:rPr lang="en-ZA" sz="2000" dirty="0"/>
                  <a:t>Since </a:t>
                </a:r>
                <a:r>
                  <a:rPr lang="en-US" sz="2000" b="0" i="0">
                    <a:latin typeface="Cambria Math" panose="02040503050406030204" pitchFamily="18" charset="0"/>
                    <a:ea typeface="Cambria Math" panose="02040503050406030204" pitchFamily="18" charset="0"/>
                  </a:rPr>
                  <a:t>𝑈</a:t>
                </a:r>
                <a:r>
                  <a:rPr lang="en-ZA" sz="2000" dirty="0"/>
                  <a:t> is unitary, all of its eigenvalues have a norm of 1. </a:t>
                </a:r>
              </a:p>
              <a:p>
                <a:pPr marL="0" marR="0" lvl="0" indent="0" algn="l" defTabSz="914400" rtl="0" eaLnBrk="1" fontAlgn="auto" latinLnBrk="0" hangingPunct="1">
                  <a:lnSpc>
                    <a:spcPct val="100000"/>
                  </a:lnSpc>
                  <a:spcBef>
                    <a:spcPts val="0"/>
                  </a:spcBef>
                  <a:spcAft>
                    <a:spcPts val="0"/>
                  </a:spcAft>
                  <a:buClrTx/>
                  <a:buSzTx/>
                  <a:buFontTx/>
                  <a:buNone/>
                  <a:tabLst/>
                  <a:defRPr/>
                </a:pPr>
                <a:r>
                  <a:rPr lang="en-ZA" sz="2000" dirty="0"/>
                  <a:t>A typical circuit for quantum phase estimation is based on a phase kickback method. The circuit consists of two registers. At the bottom register we have a state </a:t>
                </a:r>
                <a:r>
                  <a:rPr lang="en-US" sz="2000" i="0">
                    <a:latin typeface="Cambria Math" panose="02040503050406030204" pitchFamily="18" charset="0"/>
                    <a:ea typeface="Cambria Math" panose="02040503050406030204" pitchFamily="18" charset="0"/>
                  </a:rPr>
                  <a:t>├ |</a:t>
                </a:r>
                <a:r>
                  <a:rPr lang="en-US" sz="2000" b="0" i="0">
                    <a:latin typeface="Cambria Math" panose="02040503050406030204" pitchFamily="18" charset="0"/>
                    <a:ea typeface="Cambria Math" panose="02040503050406030204" pitchFamily="18" charset="0"/>
                  </a:rPr>
                  <a:t>𝑆⟩</a:t>
                </a:r>
                <a:r>
                  <a:rPr lang="en-US" sz="2000" dirty="0"/>
                  <a:t> for</a:t>
                </a:r>
                <a:r>
                  <a:rPr lang="en-US" sz="2000" baseline="0" dirty="0"/>
                  <a:t> which we want to find the eigenvalue. To this state we add a sequence of phase shift gates. Each phase is then ‘kicked-back’ to its control qubit in the top register. Let’s see how it works.</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aseline="0" dirty="0"/>
                  <a:t>After application of all H gates the top n qubits will be in equal superposition.</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aseline="0" dirty="0"/>
                  <a:t>To the bottom register we apply a sequence of phase shift gate by exponentiation by squaring. From first two expression we can see that we can move the 2</a:t>
                </a:r>
                <a:r>
                  <a:rPr lang="en-US" sz="2000" baseline="30000" dirty="0"/>
                  <a:t>j</a:t>
                </a:r>
                <a:r>
                  <a:rPr lang="en-US" sz="2000" baseline="0" dirty="0"/>
                  <a:t> </a:t>
                </a:r>
                <a:r>
                  <a:rPr lang="en-US" sz="2000" b="0" i="0">
                    <a:solidFill>
                      <a:schemeClr val="tx1"/>
                    </a:solidFill>
                    <a:latin typeface="Cambria Math" panose="02040503050406030204" pitchFamily="18" charset="0"/>
                    <a:ea typeface="Cambria Math" panose="02040503050406030204" pitchFamily="18" charset="0"/>
                  </a:rPr>
                  <a:t>𝑗</a:t>
                </a:r>
                <a:r>
                  <a:rPr lang="en-US" sz="2000" baseline="0" dirty="0"/>
                  <a:t>exponent inside the exponential function. By applying the phase kickback formula we get the state of the top register.  In the summation formula we introduced k </a:t>
                </a:r>
                <a:r>
                  <a:rPr lang="en-ZA" sz="2000" dirty="0"/>
                  <a:t>which denotes the integer representation of n-bit binary numbers.</a:t>
                </a:r>
                <a:r>
                  <a:rPr lang="en-US" sz="2000" baseline="0" dirty="0"/>
                  <a:t> Notice that this expression represent QFT, just with a different exponent. </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aseline="0" dirty="0"/>
                  <a:t>In the next step we perform an inverse QFT. By simply writing all the formulas, we get the state of the circuit written in red.</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ZA" sz="2000" dirty="0"/>
                  <a:t>The above expression peaks near </a:t>
                </a:r>
                <a:r>
                  <a:rPr lang="en-ZA" sz="2000" dirty="0">
                    <a:effectLst/>
                  </a:rPr>
                  <a:t>x=2</a:t>
                </a:r>
                <a:r>
                  <a:rPr lang="en-ZA" sz="2000" baseline="30000" dirty="0">
                    <a:effectLst/>
                  </a:rPr>
                  <a:t>n</a:t>
                </a:r>
                <a:r>
                  <a:rPr lang="el-GR" sz="2000" dirty="0">
                    <a:effectLst/>
                  </a:rPr>
                  <a:t>θ</a:t>
                </a:r>
                <a:r>
                  <a:rPr lang="el-GR" sz="2000" dirty="0"/>
                  <a:t>. </a:t>
                </a:r>
                <a:r>
                  <a:rPr lang="en-ZA" sz="2000" dirty="0"/>
                  <a:t>For the case when </a:t>
                </a:r>
                <a:r>
                  <a:rPr lang="en-ZA" sz="2000" dirty="0">
                    <a:effectLst/>
                  </a:rPr>
                  <a:t>2</a:t>
                </a:r>
                <a:r>
                  <a:rPr lang="en-ZA" sz="2000" baseline="30000" dirty="0">
                    <a:effectLst/>
                  </a:rPr>
                  <a:t>n</a:t>
                </a:r>
                <a:r>
                  <a:rPr lang="el-GR" sz="2000" dirty="0">
                    <a:effectLst/>
                  </a:rPr>
                  <a:t>θ</a:t>
                </a:r>
                <a:r>
                  <a:rPr lang="el-GR" sz="2000" dirty="0"/>
                  <a:t> </a:t>
                </a:r>
                <a:r>
                  <a:rPr lang="en-ZA" sz="2000" dirty="0"/>
                  <a:t>is an integer, measuring in the computational basis gives the phase in the top register with high probability. When </a:t>
                </a:r>
                <a:r>
                  <a:rPr lang="en-ZA" sz="2000" dirty="0">
                    <a:effectLst/>
                  </a:rPr>
                  <a:t>2</a:t>
                </a:r>
                <a:r>
                  <a:rPr lang="en-ZA" sz="2000" baseline="30000" dirty="0">
                    <a:effectLst/>
                  </a:rPr>
                  <a:t>n</a:t>
                </a:r>
                <a:r>
                  <a:rPr lang="el-GR" sz="2000" dirty="0">
                    <a:effectLst/>
                  </a:rPr>
                  <a:t>θ</a:t>
                </a:r>
                <a:r>
                  <a:rPr lang="en-US" sz="2000" dirty="0">
                    <a:effectLst/>
                  </a:rPr>
                  <a:t> is not an integer, it was shown that the expression still peaks at </a:t>
                </a:r>
                <a:r>
                  <a:rPr lang="en-ZA" sz="2000" dirty="0">
                    <a:effectLst/>
                  </a:rPr>
                  <a:t>2</a:t>
                </a:r>
                <a:r>
                  <a:rPr lang="en-ZA" sz="2000" baseline="30000" dirty="0">
                    <a:effectLst/>
                  </a:rPr>
                  <a:t>n</a:t>
                </a:r>
                <a:r>
                  <a:rPr lang="el-GR" sz="2000" dirty="0">
                    <a:effectLst/>
                  </a:rPr>
                  <a:t>θ</a:t>
                </a:r>
                <a:r>
                  <a:rPr lang="en-US" sz="2000" dirty="0">
                    <a:effectLst/>
                  </a:rPr>
                  <a:t> </a:t>
                </a:r>
                <a:r>
                  <a:rPr lang="en-ZA" sz="2000" dirty="0"/>
                  <a:t>with probability better than </a:t>
                </a:r>
                <a:r>
                  <a:rPr lang="en-ZA" sz="2000" dirty="0">
                    <a:effectLst/>
                  </a:rPr>
                  <a:t>4/</a:t>
                </a:r>
                <a:r>
                  <a:rPr lang="el-GR" sz="2000" dirty="0">
                    <a:effectLst/>
                  </a:rPr>
                  <a:t>π2≈40%</a:t>
                </a:r>
                <a:r>
                  <a:rPr lang="en-US" sz="2000" dirty="0">
                    <a:effectLst/>
                  </a:rPr>
                  <a:t>. If the measurement result is M, then the phase estimation would be M/</a:t>
                </a:r>
                <a:r>
                  <a:rPr lang="en-ZA" sz="2000" dirty="0">
                    <a:effectLst/>
                  </a:rPr>
                  <a:t>2</a:t>
                </a:r>
                <a:r>
                  <a:rPr lang="en-ZA" sz="2000" baseline="30000" dirty="0">
                    <a:effectLst/>
                  </a:rPr>
                  <a:t>n</a:t>
                </a:r>
                <a:r>
                  <a:rPr lang="el-GR" sz="2000" dirty="0">
                    <a:effectLst/>
                  </a:rPr>
                  <a:t>θ</a:t>
                </a:r>
                <a:r>
                  <a:rPr lang="en-US" sz="2000" dirty="0">
                    <a:effectLst/>
                  </a:rPr>
                  <a:t>.</a:t>
                </a:r>
                <a:endParaRPr lang="en-US" sz="2000" baseline="0" dirty="0"/>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US" sz="2000" baseline="0" dirty="0"/>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US" sz="2000" baseline="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2000" baseline="0" dirty="0"/>
                  <a:t>https://</a:t>
                </a:r>
                <a:r>
                  <a:rPr lang="en-US" sz="2000" baseline="0" dirty="0" err="1"/>
                  <a:t>en.wikipedia.org</a:t>
                </a:r>
                <a:r>
                  <a:rPr lang="en-US" sz="2000" baseline="0" dirty="0"/>
                  <a:t>/wiki/</a:t>
                </a:r>
                <a:r>
                  <a:rPr lang="en-US" sz="2000" baseline="0" dirty="0" err="1"/>
                  <a:t>Quantum_phase_estimation_algorithm</a:t>
                </a:r>
                <a:endParaRPr lang="en-US" sz="2000" baseline="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2000" baseline="0" dirty="0"/>
                  <a:t>https://</a:t>
                </a:r>
                <a:r>
                  <a:rPr lang="en-US" sz="2000" baseline="0" dirty="0" err="1"/>
                  <a:t>qiskit.org</a:t>
                </a:r>
                <a:r>
                  <a:rPr lang="en-US" sz="2000" baseline="0" dirty="0"/>
                  <a:t>/textbook/</a:t>
                </a:r>
                <a:r>
                  <a:rPr lang="en-US" sz="2000" baseline="0" dirty="0" err="1"/>
                  <a:t>ch</a:t>
                </a:r>
                <a:r>
                  <a:rPr lang="en-US" sz="2000" baseline="0" dirty="0"/>
                  <a:t>-algorithms/quantum-phase-</a:t>
                </a:r>
                <a:r>
                  <a:rPr lang="en-US" sz="2000" baseline="0" dirty="0" err="1"/>
                  <a:t>estimation.html</a:t>
                </a:r>
                <a:endParaRPr lang="en-US" sz="2000" baseline="0" dirty="0"/>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US" sz="2000"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68</a:t>
            </a:fld>
            <a:endParaRPr lang="en-US"/>
          </a:p>
        </p:txBody>
      </p:sp>
    </p:spTree>
    <p:extLst>
      <p:ext uri="{BB962C8B-B14F-4D97-AF65-F5344CB8AC3E}">
        <p14:creationId xmlns:p14="http://schemas.microsoft.com/office/powerpoint/2010/main" val="11703721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228600" indent="-228600">
                  <a:buFont typeface="+mj-lt"/>
                  <a:buAutoNum type="arabicPeriod"/>
                </a:pPr>
                <a:r>
                  <a:rPr lang="en-ZA" dirty="0"/>
                  <a:t>At the beginning of the algorithm, Hadamard gates place all qubits in the control register into an equal superposition.</a:t>
                </a:r>
                <a:endParaRPr lang="en-ZA" b="0" dirty="0"/>
              </a:p>
              <a:p>
                <a:pPr marL="228600" indent="-228600">
                  <a:buFont typeface="+mj-lt"/>
                  <a:buAutoNum type="arabicPeriod"/>
                </a:pPr>
                <a:endParaRPr lang="en-ZA" b="0" dirty="0"/>
              </a:p>
              <a:p>
                <a:pPr marL="228600" indent="-228600">
                  <a:buFont typeface="+mj-lt"/>
                  <a:buAutoNum type="arabicPeriod"/>
                </a:pPr>
                <a:r>
                  <a:rPr lang="en-ZA" dirty="0"/>
                  <a:t>The target register, prepared in the eigenstate</a:t>
                </a:r>
                <a:r>
                  <a:rPr lang="en-ZA" baseline="0" dirty="0"/>
                  <a:t> </a:t>
                </a:r>
                <a14:m>
                  <m:oMath xmlns:m="http://schemas.openxmlformats.org/officeDocument/2006/math">
                    <m:d>
                      <m:dPr>
                        <m:begChr m:val=""/>
                        <m:endChr m:val="⟩"/>
                        <m:ctrlPr>
                          <a:rPr lang="en-US" sz="1200" b="0" i="1" smtClean="0">
                            <a:solidFill>
                              <a:schemeClr val="tx1"/>
                            </a:solidFill>
                            <a:latin typeface="Cambria Math" panose="02040503050406030204" pitchFamily="18" charset="0"/>
                            <a:ea typeface="Cambria Math" panose="02040503050406030204" pitchFamily="18" charset="0"/>
                          </a:rPr>
                        </m:ctrlPr>
                      </m:dPr>
                      <m:e>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𝑢</m:t>
                        </m:r>
                      </m:e>
                    </m:d>
                  </m:oMath>
                </a14:m>
                <a:r>
                  <a:rPr lang="en-ZA" dirty="0"/>
                  <a:t>, undergoes a sequence of controlled unitary operations </a:t>
                </a:r>
                <a:r>
                  <a:rPr lang="en-ZA" b="0" baseline="0" dirty="0"/>
                  <a:t> </a:t>
                </a:r>
                <a14:m>
                  <m:oMath xmlns:m="http://schemas.openxmlformats.org/officeDocument/2006/math">
                    <m:r>
                      <a:rPr lang="en-US" sz="1200" i="1" smtClean="0">
                        <a:latin typeface="Cambria Math" panose="02040503050406030204" pitchFamily="18" charset="0"/>
                        <a:ea typeface="Cambria Math" panose="02040503050406030204" pitchFamily="18" charset="0"/>
                      </a:rPr>
                      <m:t>𝑈</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𝑈</m:t>
                        </m:r>
                      </m:e>
                      <m:sup>
                        <m:r>
                          <a:rPr lang="en-US" sz="1200" b="0" i="1" smtClean="0">
                            <a:latin typeface="Cambria Math" panose="02040503050406030204" pitchFamily="18" charset="0"/>
                            <a:ea typeface="Cambria Math" panose="02040503050406030204" pitchFamily="18" charset="0"/>
                          </a:rPr>
                          <m:t>2</m:t>
                        </m:r>
                      </m:sup>
                    </m:sSup>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𝑈</m:t>
                        </m:r>
                      </m:e>
                      <m:sup>
                        <m:r>
                          <a:rPr lang="en-US" sz="1200" b="0" i="1" smtClean="0">
                            <a:latin typeface="Cambria Math" panose="02040503050406030204" pitchFamily="18" charset="0"/>
                            <a:ea typeface="Cambria Math" panose="02040503050406030204" pitchFamily="18" charset="0"/>
                          </a:rPr>
                          <m:t>4</m:t>
                        </m:r>
                      </m:sup>
                    </m:sSup>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𝑈</m:t>
                        </m:r>
                      </m:e>
                      <m:sup>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2</m:t>
                            </m:r>
                          </m:e>
                          <m:sup>
                            <m:r>
                              <a:rPr lang="en-US" sz="1200" b="0" i="1" smtClean="0">
                                <a:latin typeface="Cambria Math" panose="02040503050406030204" pitchFamily="18" charset="0"/>
                                <a:ea typeface="Cambria Math" panose="02040503050406030204" pitchFamily="18" charset="0"/>
                              </a:rPr>
                              <m:t>𝑗</m:t>
                            </m:r>
                          </m:sup>
                        </m:sSup>
                      </m:sup>
                    </m:sSup>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𝑈</m:t>
                        </m:r>
                      </m:e>
                      <m:sup>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2</m:t>
                            </m:r>
                          </m:e>
                          <m:sup>
                            <m:r>
                              <a:rPr lang="en-US" sz="1200" b="0" i="1" smtClean="0">
                                <a:latin typeface="Cambria Math" panose="02040503050406030204" pitchFamily="18" charset="0"/>
                                <a:ea typeface="Cambria Math" panose="02040503050406030204" pitchFamily="18" charset="0"/>
                              </a:rPr>
                              <m:t>𝑛</m:t>
                            </m:r>
                            <m:r>
                              <a:rPr lang="en-US" sz="1200" b="0" i="1" smtClean="0">
                                <a:latin typeface="Cambria Math" panose="02040503050406030204" pitchFamily="18" charset="0"/>
                                <a:ea typeface="Cambria Math" panose="02040503050406030204" pitchFamily="18" charset="0"/>
                              </a:rPr>
                              <m:t>−1</m:t>
                            </m:r>
                          </m:sup>
                        </m:sSup>
                      </m:sup>
                    </m:sSup>
                  </m:oMath>
                </a14:m>
                <a:r>
                  <a:rPr lang="en-ZA" b="0" dirty="0"/>
                  <a:t>. </a:t>
                </a:r>
              </a:p>
              <a:p>
                <a:pPr marL="228600" indent="-228600">
                  <a:buFont typeface="+mj-lt"/>
                  <a:buAutoNum type="arabicPeriod"/>
                </a:pPr>
                <a:endParaRPr lang="en-ZA" b="0" dirty="0"/>
              </a:p>
              <a:p>
                <a:pPr marL="228600" indent="-228600">
                  <a:buFont typeface="+mj-lt"/>
                  <a:buAutoNum type="arabicPeriod"/>
                </a:pPr>
                <a:r>
                  <a:rPr lang="en-ZA" b="0" dirty="0"/>
                  <a:t>Through phase kickback, successive powers of two of the phase </a:t>
                </a:r>
                <a14:m>
                  <m:oMath xmlns:m="http://schemas.openxmlformats.org/officeDocument/2006/math">
                    <m:r>
                      <a:rPr lang="en-US" sz="1200" i="1" smtClean="0">
                        <a:latin typeface="Cambria Math" panose="02040503050406030204" pitchFamily="18" charset="0"/>
                        <a:ea typeface="Cambria Math" panose="02040503050406030204" pitchFamily="18" charset="0"/>
                      </a:rPr>
                      <m:t>𝜑</m:t>
                    </m:r>
                  </m:oMath>
                </a14:m>
                <a:r>
                  <a:rPr lang="el-GR" b="0" dirty="0"/>
                  <a:t> </a:t>
                </a:r>
                <a:r>
                  <a:rPr lang="en-ZA" b="0" dirty="0"/>
                  <a:t>are encoded as relative phases of the control qubits. Each control qubit accumulates twice the phase of the previous one. By the end of this process, the control register is in a Fourier-like state that carries the phase information.</a:t>
                </a:r>
              </a:p>
              <a:p>
                <a:pPr marL="228600" indent="-228600">
                  <a:buFont typeface="+mj-lt"/>
                  <a:buAutoNum type="arabicPeriod"/>
                </a:pPr>
                <a:endParaRPr lang="en-ZA" b="0" dirty="0"/>
              </a:p>
              <a:p>
                <a:pPr marL="228600" indent="-228600">
                  <a:buFont typeface="+mj-lt"/>
                  <a:buAutoNum type="arabicPeriod"/>
                </a:pPr>
                <a:r>
                  <a:rPr lang="en-ZA" dirty="0"/>
                  <a:t>Next, the inverse Quantum Fourier Transform (IQFT) is applied to the control register. It converts the phase information into a computational basis representation. The probability of measuring a basis state </a:t>
                </a:r>
                <a14:m>
                  <m:oMath xmlns:m="http://schemas.openxmlformats.org/officeDocument/2006/math">
                    <m:d>
                      <m:dPr>
                        <m:begChr m:val=""/>
                        <m:endChr m:val="⟩"/>
                        <m:ctrlPr>
                          <a:rPr lang="en-US" i="1" smtClean="0">
                            <a:solidFill>
                              <a:schemeClr val="accent5">
                                <a:lumMod val="50000"/>
                              </a:schemeClr>
                            </a:solidFill>
                            <a:latin typeface="Cambria Math" panose="02040503050406030204" pitchFamily="18" charset="0"/>
                            <a:ea typeface="Cambria Math" panose="02040503050406030204" pitchFamily="18" charset="0"/>
                          </a:rPr>
                        </m:ctrlPr>
                      </m:dPr>
                      <m:e>
                        <m:r>
                          <a:rPr lang="en-US" i="1">
                            <a:solidFill>
                              <a:schemeClr val="accent5">
                                <a:lumMod val="50000"/>
                              </a:schemeClr>
                            </a:solidFill>
                            <a:latin typeface="Cambria Math" panose="02040503050406030204" pitchFamily="18" charset="0"/>
                            <a:ea typeface="Cambria Math" panose="02040503050406030204" pitchFamily="18" charset="0"/>
                          </a:rPr>
                          <m:t>|</m:t>
                        </m:r>
                        <m:r>
                          <a:rPr lang="en-US" i="1">
                            <a:solidFill>
                              <a:schemeClr val="accent5">
                                <a:lumMod val="50000"/>
                              </a:schemeClr>
                            </a:solidFill>
                            <a:latin typeface="Cambria Math" panose="02040503050406030204" pitchFamily="18" charset="0"/>
                            <a:ea typeface="Cambria Math" panose="02040503050406030204" pitchFamily="18" charset="0"/>
                          </a:rPr>
                          <m:t>𝑥</m:t>
                        </m:r>
                      </m:e>
                    </m:d>
                  </m:oMath>
                </a14:m>
                <a:r>
                  <a:rPr lang="en-ZA" dirty="0"/>
                  <a:t> is highest when </a:t>
                </a:r>
                <a14:m>
                  <m:oMath xmlns:m="http://schemas.openxmlformats.org/officeDocument/2006/math">
                    <m:r>
                      <a:rPr lang="en-US" b="0" i="1" smtClean="0">
                        <a:solidFill>
                          <a:schemeClr val="accent5">
                            <a:lumMod val="50000"/>
                          </a:schemeClr>
                        </a:solidFill>
                        <a:latin typeface="Cambria Math" panose="02040503050406030204" pitchFamily="18" charset="0"/>
                        <a:ea typeface="Cambria Math" panose="02040503050406030204" pitchFamily="18" charset="0"/>
                      </a:rPr>
                      <m:t>𝑥</m:t>
                    </m:r>
                  </m:oMath>
                </a14:m>
                <a:r>
                  <a:rPr lang="en-ZA" dirty="0"/>
                  <a:t> is close to </a:t>
                </a:r>
                <a14:m>
                  <m:oMath xmlns:m="http://schemas.openxmlformats.org/officeDocument/2006/math">
                    <m:sSup>
                      <m:sSupPr>
                        <m:ctrlPr>
                          <a:rPr lang="en-US" sz="1200" i="1" smtClean="0">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2</m:t>
                        </m:r>
                      </m:e>
                      <m:sup>
                        <m:r>
                          <a:rPr lang="en-US" sz="1200" i="1">
                            <a:latin typeface="Cambria Math" panose="02040503050406030204" pitchFamily="18" charset="0"/>
                            <a:ea typeface="Cambria Math" panose="02040503050406030204" pitchFamily="18" charset="0"/>
                          </a:rPr>
                          <m:t>𝑛</m:t>
                        </m:r>
                      </m:sup>
                    </m:sSup>
                    <m:r>
                      <a:rPr lang="en-US" sz="1200" i="1">
                        <a:latin typeface="Cambria Math" panose="02040503050406030204" pitchFamily="18" charset="0"/>
                        <a:ea typeface="Cambria Math" panose="02040503050406030204" pitchFamily="18" charset="0"/>
                      </a:rPr>
                      <m:t>𝜑</m:t>
                    </m:r>
                  </m:oMath>
                </a14:m>
                <a:r>
                  <a:rPr lang="el-GR" dirty="0"/>
                  <a:t>. </a:t>
                </a:r>
                <a:r>
                  <a:rPr lang="en-ZA" dirty="0"/>
                  <a:t>Thus, the most likely measurement outcome is the integer closest to </a:t>
                </a:r>
                <a14:m>
                  <m:oMath xmlns:m="http://schemas.openxmlformats.org/officeDocument/2006/math">
                    <m:sSup>
                      <m:sSupPr>
                        <m:ctrlPr>
                          <a:rPr lang="en-US" sz="1200" i="1" smtClean="0">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2</m:t>
                        </m:r>
                      </m:e>
                      <m:sup>
                        <m:r>
                          <a:rPr lang="en-US" sz="1200" i="1">
                            <a:latin typeface="Cambria Math" panose="02040503050406030204" pitchFamily="18" charset="0"/>
                            <a:ea typeface="Cambria Math" panose="02040503050406030204" pitchFamily="18" charset="0"/>
                          </a:rPr>
                          <m:t>𝑛</m:t>
                        </m:r>
                      </m:sup>
                    </m:sSup>
                    <m:r>
                      <a:rPr lang="en-US" sz="1200" i="1">
                        <a:latin typeface="Cambria Math" panose="02040503050406030204" pitchFamily="18" charset="0"/>
                        <a:ea typeface="Cambria Math" panose="02040503050406030204" pitchFamily="18" charset="0"/>
                      </a:rPr>
                      <m:t>𝜑</m:t>
                    </m:r>
                  </m:oMath>
                </a14:m>
                <a:r>
                  <a:rPr lang="en-US" dirty="0"/>
                  <a:t>.</a:t>
                </a:r>
              </a:p>
              <a:p>
                <a:pPr marL="228600" indent="-228600">
                  <a:buFont typeface="+mj-lt"/>
                  <a:buAutoNum type="arabicPeriod"/>
                </a:pPr>
                <a:endParaRPr lang="en-US" dirty="0"/>
              </a:p>
              <a:p>
                <a:pPr marL="228600" indent="-228600">
                  <a:buFont typeface="+mj-lt"/>
                  <a:buAutoNum type="arabicPeriod"/>
                </a:pPr>
                <a:r>
                  <a:rPr lang="en-ZA" dirty="0"/>
                  <a:t>If the measurement produces the bit string representing an integer </a:t>
                </a:r>
                <a14:m>
                  <m:oMath xmlns:m="http://schemas.openxmlformats.org/officeDocument/2006/math">
                    <m:r>
                      <a:rPr lang="en-US" sz="1200" b="0" i="1" smtClean="0">
                        <a:latin typeface="Cambria Math" panose="02040503050406030204" pitchFamily="18" charset="0"/>
                        <a:ea typeface="Cambria Math" panose="02040503050406030204" pitchFamily="18" charset="0"/>
                      </a:rPr>
                      <m:t>𝑚</m:t>
                    </m:r>
                  </m:oMath>
                </a14:m>
                <a:r>
                  <a:rPr lang="en-ZA" dirty="0"/>
                  <a:t>, the phase is estimated as </a:t>
                </a:r>
                <a14:m>
                  <m:oMath xmlns:m="http://schemas.openxmlformats.org/officeDocument/2006/math">
                    <m:r>
                      <a:rPr lang="en-US" sz="1200" i="1" smtClean="0">
                        <a:latin typeface="Cambria Math" panose="02040503050406030204" pitchFamily="18" charset="0"/>
                        <a:ea typeface="Cambria Math" panose="02040503050406030204" pitchFamily="18" charset="0"/>
                      </a:rPr>
                      <m:t>𝜑</m:t>
                    </m:r>
                    <m:r>
                      <a:rPr lang="en-US" sz="1200" i="1">
                        <a:solidFill>
                          <a:srgbClr val="C00000"/>
                        </a:solidFill>
                        <a:latin typeface="Cambria Math" panose="02040503050406030204" pitchFamily="18" charset="0"/>
                        <a:ea typeface="Cambria Math" panose="02040503050406030204" pitchFamily="18" charset="0"/>
                      </a:rPr>
                      <m:t>≈</m:t>
                    </m:r>
                    <m:r>
                      <a:rPr lang="en-US" sz="1200" i="1" smtClean="0">
                        <a:latin typeface="Cambria Math" panose="02040503050406030204" pitchFamily="18" charset="0"/>
                        <a:ea typeface="Cambria Math" panose="02040503050406030204" pitchFamily="18" charset="0"/>
                      </a:rPr>
                      <m:t>𝑚</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2</m:t>
                        </m:r>
                      </m:e>
                      <m:sup>
                        <m:r>
                          <a:rPr lang="en-US" sz="1200" i="1">
                            <a:latin typeface="Cambria Math" panose="02040503050406030204" pitchFamily="18" charset="0"/>
                            <a:ea typeface="Cambria Math" panose="02040503050406030204" pitchFamily="18" charset="0"/>
                          </a:rPr>
                          <m:t>𝑛</m:t>
                        </m:r>
                      </m:sup>
                    </m:sSup>
                  </m:oMath>
                </a14:m>
                <a:r>
                  <a:rPr lang="en-ZA" dirty="0"/>
                  <a:t> . If </a:t>
                </a:r>
                <a14:m>
                  <m:oMath xmlns:m="http://schemas.openxmlformats.org/officeDocument/2006/math">
                    <m:sSup>
                      <m:sSupPr>
                        <m:ctrlPr>
                          <a:rPr lang="en-US" i="1" smtClean="0">
                            <a:solidFill>
                              <a:srgbClr val="C00000"/>
                            </a:solidFill>
                            <a:latin typeface="Cambria Math" panose="02040503050406030204" pitchFamily="18" charset="0"/>
                            <a:ea typeface="Cambria Math" panose="02040503050406030204" pitchFamily="18" charset="0"/>
                          </a:rPr>
                        </m:ctrlPr>
                      </m:sSupPr>
                      <m:e>
                        <m:r>
                          <a:rPr lang="en-US" i="1">
                            <a:solidFill>
                              <a:srgbClr val="C00000"/>
                            </a:solidFill>
                            <a:latin typeface="Cambria Math" panose="02040503050406030204" pitchFamily="18" charset="0"/>
                            <a:ea typeface="Cambria Math" panose="02040503050406030204" pitchFamily="18" charset="0"/>
                          </a:rPr>
                          <m:t>2</m:t>
                        </m:r>
                      </m:e>
                      <m:sup>
                        <m:r>
                          <a:rPr lang="en-US" i="1">
                            <a:solidFill>
                              <a:srgbClr val="C00000"/>
                            </a:solidFill>
                            <a:latin typeface="Cambria Math" panose="02040503050406030204" pitchFamily="18" charset="0"/>
                            <a:ea typeface="Cambria Math" panose="02040503050406030204" pitchFamily="18" charset="0"/>
                          </a:rPr>
                          <m:t>𝑛</m:t>
                        </m:r>
                      </m:sup>
                    </m:sSup>
                    <m:r>
                      <a:rPr lang="en-US" sz="1200" i="1" smtClean="0">
                        <a:latin typeface="Cambria Math" panose="02040503050406030204" pitchFamily="18" charset="0"/>
                        <a:ea typeface="Cambria Math" panose="02040503050406030204" pitchFamily="18" charset="0"/>
                      </a:rPr>
                      <m:t>𝜑</m:t>
                    </m:r>
                  </m:oMath>
                </a14:m>
                <a:r>
                  <a:rPr lang="en-ZA" dirty="0"/>
                  <a:t> is an integer, the phase can be represented exactly with </a:t>
                </a:r>
                <a14:m>
                  <m:oMath xmlns:m="http://schemas.openxmlformats.org/officeDocument/2006/math">
                    <m:r>
                      <a:rPr lang="en-US" sz="1200" b="0" i="1" smtClean="0">
                        <a:latin typeface="Cambria Math" panose="02040503050406030204" pitchFamily="18" charset="0"/>
                        <a:ea typeface="Cambria Math" panose="02040503050406030204" pitchFamily="18" charset="0"/>
                      </a:rPr>
                      <m:t>𝑛</m:t>
                    </m:r>
                  </m:oMath>
                </a14:m>
                <a:r>
                  <a:rPr lang="en-ZA" dirty="0"/>
                  <a:t> bits and QPE returns it with certainty in the ideal circuit. Otherwise, the result is probabilistic, with the nearest </a:t>
                </a:r>
                <a14:m>
                  <m:oMath xmlns:m="http://schemas.openxmlformats.org/officeDocument/2006/math">
                    <m:r>
                      <a:rPr lang="en-US" sz="1200" b="0" i="1" smtClean="0">
                        <a:latin typeface="Cambria Math" panose="02040503050406030204" pitchFamily="18" charset="0"/>
                        <a:ea typeface="Cambria Math" panose="02040503050406030204" pitchFamily="18" charset="0"/>
                      </a:rPr>
                      <m:t>𝑛</m:t>
                    </m:r>
                  </m:oMath>
                </a14:m>
                <a:r>
                  <a:rPr lang="en-ZA" dirty="0"/>
                  <a:t>-bit approximation obtained with a probability of at least </a:t>
                </a:r>
                <a14:m>
                  <m:oMath xmlns:m="http://schemas.openxmlformats.org/officeDocument/2006/math">
                    <m:r>
                      <a:rPr lang="en-US" sz="1200" b="0" i="1" smtClean="0">
                        <a:latin typeface="Cambria Math" panose="02040503050406030204" pitchFamily="18" charset="0"/>
                        <a:ea typeface="Cambria Math" panose="02040503050406030204" pitchFamily="18" charset="0"/>
                      </a:rPr>
                      <m:t>4/</m:t>
                    </m:r>
                    <m:sSup>
                      <m:sSupPr>
                        <m:ctrlPr>
                          <a:rPr lang="en-US" sz="1200" b="0" i="1" smtClean="0">
                            <a:latin typeface="Cambria Math" panose="02040503050406030204" pitchFamily="18" charset="0"/>
                            <a:ea typeface="Cambria Math" panose="02040503050406030204" pitchFamily="18" charset="0"/>
                          </a:rPr>
                        </m:ctrlPr>
                      </m:sSupPr>
                      <m:e>
                        <m:r>
                          <a:rPr lang="en-US" sz="1200" i="1" smtClean="0">
                            <a:latin typeface="Cambria Math" panose="02040503050406030204" pitchFamily="18" charset="0"/>
                            <a:ea typeface="Cambria Math" panose="02040503050406030204" pitchFamily="18" charset="0"/>
                          </a:rPr>
                          <m:t>𝜋</m:t>
                        </m:r>
                      </m:e>
                      <m:sup>
                        <m:r>
                          <a:rPr lang="en-US" sz="1200" b="0" i="1" smtClean="0">
                            <a:latin typeface="Cambria Math" panose="02040503050406030204" pitchFamily="18" charset="0"/>
                            <a:ea typeface="Cambria Math" panose="02040503050406030204" pitchFamily="18" charset="0"/>
                          </a:rPr>
                          <m:t>2</m:t>
                        </m:r>
                      </m:sup>
                    </m:sSup>
                    <m:r>
                      <a:rPr lang="en-US" sz="1200" b="0" i="1" smtClean="0">
                        <a:latin typeface="Cambria Math" panose="02040503050406030204" pitchFamily="18" charset="0"/>
                        <a:ea typeface="Cambria Math" panose="02040503050406030204" pitchFamily="18" charset="0"/>
                      </a:rPr>
                      <m:t>≈40.5%</m:t>
                    </m:r>
                  </m:oMath>
                </a14:m>
                <a:r>
                  <a:rPr lang="en-ZA" dirty="0"/>
                  <a:t>.</a:t>
                </a:r>
              </a:p>
              <a:p>
                <a:pPr marL="228600" indent="-228600">
                  <a:buFont typeface="+mj-lt"/>
                  <a:buAutoNum type="arabicPeriod"/>
                </a:pPr>
                <a:endParaRPr lang="en-ZA" b="0" dirty="0"/>
              </a:p>
            </p:txBody>
          </p:sp>
        </mc:Choice>
        <mc:Fallback xmlns="">
          <p:sp>
            <p:nvSpPr>
              <p:cNvPr id="3" name="Notes Placeholder 2"/>
              <p:cNvSpPr>
                <a:spLocks noGrp="1"/>
              </p:cNvSpPr>
              <p:nvPr>
                <p:ph type="body" idx="1"/>
              </p:nvPr>
            </p:nvSpPr>
            <p:spPr/>
            <p:txBody>
              <a:bodyPr/>
              <a:lstStyle/>
              <a:p>
                <a:pPr marL="0" indent="0">
                  <a:buFont typeface="Arial" panose="020B0604020202020204" pitchFamily="34" charset="0"/>
                  <a:buNone/>
                </a:pPr>
                <a:r>
                  <a:rPr lang="en-ZA" sz="2000" dirty="0"/>
                  <a:t>Slika </a:t>
                </a:r>
                <a:r>
                  <a:rPr lang="en-ZA" sz="2000" dirty="0" err="1"/>
                  <a:t>sažeto</a:t>
                </a:r>
                <a:r>
                  <a:rPr lang="en-ZA" sz="2000" dirty="0"/>
                  <a:t> </a:t>
                </a:r>
                <a:r>
                  <a:rPr lang="en-ZA" sz="2000" dirty="0" err="1"/>
                  <a:t>prikazuje</a:t>
                </a:r>
                <a:r>
                  <a:rPr lang="en-ZA" sz="2000" dirty="0"/>
                  <a:t> </a:t>
                </a:r>
                <a:r>
                  <a:rPr lang="en-ZA" sz="2000" dirty="0" err="1"/>
                  <a:t>analizu</a:t>
                </a:r>
                <a:r>
                  <a:rPr lang="en-ZA" sz="2000" dirty="0"/>
                  <a:t> kola.</a:t>
                </a:r>
              </a:p>
              <a:p>
                <a:pPr marL="0" indent="0">
                  <a:buFont typeface="Arial" panose="020B0604020202020204" pitchFamily="34" charset="0"/>
                  <a:buNone/>
                </a:pPr>
                <a:endParaRPr lang="en-ZA" sz="2000" dirty="0"/>
              </a:p>
              <a:p>
                <a:pPr marL="457200" indent="-457200">
                  <a:buFont typeface="+mj-lt"/>
                  <a:buAutoNum type="arabicPeriod"/>
                </a:pPr>
                <a:r>
                  <a:rPr lang="en-ZA" sz="2000" dirty="0"/>
                  <a:t>U </a:t>
                </a:r>
                <a:r>
                  <a:rPr lang="en-ZA" sz="2000" dirty="0" err="1"/>
                  <a:t>tački</a:t>
                </a:r>
                <a:r>
                  <a:rPr lang="en-ZA" sz="2000" dirty="0"/>
                  <a:t> (1) </a:t>
                </a:r>
                <a:r>
                  <a:rPr lang="en-ZA" sz="2000" dirty="0" err="1"/>
                  <a:t>svi</a:t>
                </a:r>
                <a:r>
                  <a:rPr lang="en-ZA" sz="2000" dirty="0"/>
                  <a:t> </a:t>
                </a:r>
                <a:r>
                  <a:rPr lang="en-ZA" sz="2000" dirty="0" err="1"/>
                  <a:t>kubiti</a:t>
                </a:r>
                <a:r>
                  <a:rPr lang="en-ZA" sz="2000" dirty="0"/>
                  <a:t> </a:t>
                </a:r>
                <a:r>
                  <a:rPr lang="en-ZA" sz="2000" dirty="0" err="1"/>
                  <a:t>gornjeg</a:t>
                </a:r>
                <a:r>
                  <a:rPr lang="en-ZA" sz="2000" dirty="0"/>
                  <a:t> </a:t>
                </a:r>
                <a:r>
                  <a:rPr lang="en-ZA" sz="2000" dirty="0" err="1"/>
                  <a:t>registra</a:t>
                </a:r>
                <a:r>
                  <a:rPr lang="en-ZA" sz="2000" dirty="0"/>
                  <a:t> </a:t>
                </a:r>
                <a:r>
                  <a:rPr lang="en-ZA" sz="2000" dirty="0" err="1"/>
                  <a:t>su</a:t>
                </a:r>
                <a:r>
                  <a:rPr lang="en-ZA" sz="2000" dirty="0"/>
                  <a:t> u </a:t>
                </a:r>
                <a:r>
                  <a:rPr lang="en-ZA" sz="2000" dirty="0" err="1"/>
                  <a:t>superpoziciji</a:t>
                </a:r>
                <a:r>
                  <a:rPr lang="en-ZA" sz="2000" dirty="0"/>
                  <a:t>.</a:t>
                </a:r>
              </a:p>
              <a:p>
                <a:pPr marL="457200" indent="-457200">
                  <a:buFont typeface="+mj-lt"/>
                  <a:buAutoNum type="arabicPeriod"/>
                </a:pPr>
                <a:r>
                  <a:rPr lang="en-ZA" sz="2000" dirty="0"/>
                  <a:t>U </a:t>
                </a:r>
                <a:r>
                  <a:rPr lang="en-ZA" sz="2000" dirty="0" err="1"/>
                  <a:t>tački</a:t>
                </a:r>
                <a:r>
                  <a:rPr lang="en-ZA" sz="2000" dirty="0"/>
                  <a:t> (2) </a:t>
                </a:r>
                <a:r>
                  <a:rPr lang="en-ZA" sz="2000" dirty="0" err="1"/>
                  <a:t>na</a:t>
                </a:r>
                <a:r>
                  <a:rPr lang="en-ZA" sz="2000" dirty="0"/>
                  <a:t> </a:t>
                </a:r>
                <a:r>
                  <a:rPr lang="en-ZA" sz="2000" dirty="0" err="1"/>
                  <a:t>kubite</a:t>
                </a:r>
                <a:r>
                  <a:rPr lang="en-ZA" sz="2000" dirty="0"/>
                  <a:t> </a:t>
                </a:r>
                <a:r>
                  <a:rPr lang="en-ZA" sz="2000" dirty="0" err="1"/>
                  <a:t>donjeg</a:t>
                </a:r>
                <a:r>
                  <a:rPr lang="en-ZA" sz="2000" dirty="0"/>
                  <a:t> </a:t>
                </a:r>
                <a:r>
                  <a:rPr lang="en-ZA" sz="2000" dirty="0" err="1"/>
                  <a:t>registra</a:t>
                </a:r>
                <a:r>
                  <a:rPr lang="en-ZA" sz="2000" dirty="0"/>
                  <a:t> </a:t>
                </a:r>
                <a:r>
                  <a:rPr lang="en-ZA" sz="2000" baseline="0" dirty="0"/>
                  <a:t>se </a:t>
                </a:r>
                <a:r>
                  <a:rPr lang="en-ZA" sz="2000" baseline="0" dirty="0" err="1"/>
                  <a:t>primenjuju</a:t>
                </a:r>
                <a:r>
                  <a:rPr lang="en-ZA" sz="2000" baseline="0" dirty="0"/>
                  <a:t> </a:t>
                </a:r>
                <a:r>
                  <a:rPr lang="en-ZA" sz="2000" baseline="0" dirty="0" err="1"/>
                  <a:t>uzastopne</a:t>
                </a:r>
                <a:r>
                  <a:rPr lang="en-ZA" sz="2000" baseline="0" dirty="0"/>
                  <a:t> </a:t>
                </a:r>
                <a:r>
                  <a:rPr lang="en-ZA" sz="2000" baseline="0" dirty="0" err="1"/>
                  <a:t>transformacije</a:t>
                </a:r>
                <a:r>
                  <a:rPr lang="en-ZA" sz="2000" baseline="0" dirty="0"/>
                  <a:t>: </a:t>
                </a:r>
                <a:r>
                  <a:rPr lang="en-US" sz="2000" i="0">
                    <a:solidFill>
                      <a:schemeClr val="bg1"/>
                    </a:solidFill>
                    <a:latin typeface="Cambria Math" panose="02040503050406030204" pitchFamily="18" charset="0"/>
                    <a:ea typeface="Cambria Math" panose="02040503050406030204" pitchFamily="18" charset="0"/>
                  </a:rPr>
                  <a:t>𝑈^(2^0 )</a:t>
                </a:r>
                <a:r>
                  <a:rPr lang="en-ZA" sz="2000" baseline="0" dirty="0"/>
                  <a:t>, </a:t>
                </a:r>
                <a:r>
                  <a:rPr lang="en-US" sz="2000" i="0">
                    <a:solidFill>
                      <a:schemeClr val="bg1"/>
                    </a:solidFill>
                    <a:latin typeface="Cambria Math" panose="02040503050406030204" pitchFamily="18" charset="0"/>
                    <a:ea typeface="Cambria Math" panose="02040503050406030204" pitchFamily="18" charset="0"/>
                  </a:rPr>
                  <a:t>𝑈^(2^</a:t>
                </a:r>
                <a:r>
                  <a:rPr lang="en-US" sz="2000" b="0" i="0">
                    <a:solidFill>
                      <a:schemeClr val="bg1"/>
                    </a:solidFill>
                    <a:latin typeface="Cambria Math" panose="02040503050406030204" pitchFamily="18" charset="0"/>
                    <a:ea typeface="Cambria Math" panose="02040503050406030204" pitchFamily="18" charset="0"/>
                  </a:rPr>
                  <a:t>1 ),⋯</a:t>
                </a:r>
                <a:r>
                  <a:rPr lang="en-US" sz="2000" i="0">
                    <a:solidFill>
                      <a:schemeClr val="bg1"/>
                    </a:solidFill>
                    <a:latin typeface="Cambria Math" panose="02040503050406030204" pitchFamily="18" charset="0"/>
                    <a:ea typeface="Cambria Math" panose="02040503050406030204" pitchFamily="18" charset="0"/>
                  </a:rPr>
                  <a:t>𝑈^(2^(</a:t>
                </a:r>
                <a:r>
                  <a:rPr lang="en-US" sz="2000" b="0" i="0">
                    <a:solidFill>
                      <a:schemeClr val="bg1"/>
                    </a:solidFill>
                    <a:latin typeface="Cambria Math" panose="02040503050406030204" pitchFamily="18" charset="0"/>
                    <a:ea typeface="Cambria Math" panose="02040503050406030204" pitchFamily="18" charset="0"/>
                  </a:rPr>
                  <a:t>𝑛−1) )</a:t>
                </a:r>
                <a:r>
                  <a:rPr lang="en-ZA" sz="2000" baseline="0" dirty="0"/>
                  <a:t>svaka </a:t>
                </a:r>
                <a:r>
                  <a:rPr lang="en-ZA" sz="2000" baseline="0" dirty="0" err="1"/>
                  <a:t>dodajući</a:t>
                </a:r>
                <a:r>
                  <a:rPr lang="en-ZA" sz="2000" baseline="0" dirty="0"/>
                  <a:t> </a:t>
                </a:r>
                <a:r>
                  <a:rPr lang="en-ZA" sz="2000" baseline="0" dirty="0" err="1"/>
                  <a:t>dodatni</a:t>
                </a:r>
                <a:r>
                  <a:rPr lang="en-ZA" sz="2000" baseline="0" dirty="0"/>
                  <a:t> </a:t>
                </a:r>
                <a:r>
                  <a:rPr lang="en-ZA" sz="2000" baseline="0" dirty="0" err="1"/>
                  <a:t>fazni</a:t>
                </a:r>
                <a:r>
                  <a:rPr lang="en-ZA" sz="2000" baseline="0" dirty="0"/>
                  <a:t> </a:t>
                </a:r>
                <a:r>
                  <a:rPr lang="en-ZA" sz="2000" baseline="0" dirty="0" err="1"/>
                  <a:t>pomeraj</a:t>
                </a:r>
                <a:r>
                  <a:rPr lang="en-ZA" sz="2000" baseline="0" dirty="0"/>
                  <a:t> od </a:t>
                </a:r>
                <a:r>
                  <a:rPr lang="en-US" sz="2000" baseline="0" dirty="0"/>
                  <a:t>2</a:t>
                </a:r>
                <a:r>
                  <a:rPr lang="en-US" sz="2000" i="1" baseline="30000" dirty="0"/>
                  <a:t>j </a:t>
                </a:r>
                <a:r>
                  <a:rPr lang="en-US" sz="2000" i="0" baseline="0" dirty="0"/>
                  <a:t> (</a:t>
                </a:r>
                <a:r>
                  <a:rPr lang="en-US" sz="2000" i="0" baseline="0" dirty="0" err="1"/>
                  <a:t>npr</a:t>
                </a:r>
                <a:r>
                  <a:rPr lang="en-US" sz="2000" i="0" baseline="0" dirty="0"/>
                  <a:t>. </a:t>
                </a:r>
                <a:r>
                  <a:rPr lang="en-US" sz="2000" i="0" baseline="0" dirty="0" err="1"/>
                  <a:t>za</a:t>
                </a:r>
                <a:r>
                  <a:rPr lang="en-US" sz="2000" i="0" baseline="0" dirty="0"/>
                  <a:t> </a:t>
                </a:r>
                <a:r>
                  <a:rPr lang="en-US" sz="2000" i="1" baseline="0" dirty="0"/>
                  <a:t>j</a:t>
                </a:r>
                <a:r>
                  <a:rPr lang="en-US" sz="2000" i="0" baseline="0" dirty="0"/>
                  <a:t>-</a:t>
                </a:r>
                <a:r>
                  <a:rPr lang="en-US" sz="2000" i="0" baseline="0" dirty="0" err="1"/>
                  <a:t>ti</a:t>
                </a:r>
                <a:r>
                  <a:rPr lang="en-US" sz="2000" i="0" baseline="0" dirty="0"/>
                  <a:t> </a:t>
                </a:r>
                <a:r>
                  <a:rPr lang="en-US" sz="2000" i="0" baseline="0" dirty="0" err="1"/>
                  <a:t>kubit</a:t>
                </a:r>
                <a:r>
                  <a:rPr lang="en-US" sz="2000" i="0" baseline="0" dirty="0"/>
                  <a:t>: </a:t>
                </a:r>
                <a:r>
                  <a:rPr lang="en-US" sz="2000" i="0">
                    <a:latin typeface="Cambria Math" panose="02040503050406030204" pitchFamily="18" charset="0"/>
                    <a:ea typeface="Cambria Math" panose="02040503050406030204" pitchFamily="18" charset="0"/>
                  </a:rPr>
                  <a:t>├ |0⟩+𝑒^(2𝜋𝑖〖</a:t>
                </a:r>
                <a:r>
                  <a:rPr lang="sr-Latn-RS" sz="2000" b="0" i="0">
                    <a:latin typeface="Cambria Math" panose="02040503050406030204" pitchFamily="18" charset="0"/>
                    <a:ea typeface="Cambria Math" panose="02040503050406030204" pitchFamily="18" charset="0"/>
                  </a:rPr>
                  <a:t>(</a:t>
                </a:r>
                <a:r>
                  <a:rPr lang="en-US" sz="2000" i="0">
                    <a:latin typeface="Cambria Math" panose="02040503050406030204" pitchFamily="18" charset="0"/>
                    <a:ea typeface="Cambria Math" panose="02040503050406030204" pitchFamily="18" charset="0"/>
                  </a:rPr>
                  <a:t>2〗^</a:t>
                </a:r>
                <a:r>
                  <a:rPr lang="sr-Latn-RS" sz="2000" b="0" i="0">
                    <a:latin typeface="Cambria Math" panose="02040503050406030204" pitchFamily="18" charset="0"/>
                    <a:ea typeface="Cambria Math" panose="02040503050406030204" pitchFamily="18" charset="0"/>
                  </a:rPr>
                  <a:t>𝑗</a:t>
                </a:r>
                <a:r>
                  <a:rPr lang="en-US" sz="2000" b="0" i="0">
                    <a:latin typeface="Cambria Math" panose="02040503050406030204" pitchFamily="18" charset="0"/>
                    <a:ea typeface="Cambria Math" panose="02040503050406030204" pitchFamily="18" charset="0"/>
                  </a:rPr>
                  <a:t> </a:t>
                </a:r>
                <a:r>
                  <a:rPr lang="en-US" sz="2000" i="0">
                    <a:latin typeface="Cambria Math" panose="02040503050406030204" pitchFamily="18" charset="0"/>
                    <a:ea typeface="Cambria Math" panose="02040503050406030204" pitchFamily="18" charset="0"/>
                  </a:rPr>
                  <a:t>𝜃</a:t>
                </a:r>
                <a:r>
                  <a:rPr lang="sr-Latn-RS" sz="2000" b="0" i="0">
                    <a:latin typeface="Cambria Math" panose="02040503050406030204" pitchFamily="18" charset="0"/>
                    <a:ea typeface="Cambria Math" panose="02040503050406030204" pitchFamily="18" charset="0"/>
                  </a:rPr>
                  <a:t>)</a:t>
                </a:r>
                <a:r>
                  <a:rPr lang="en-US" sz="2000" b="0" i="0">
                    <a:latin typeface="Cambria Math" panose="02040503050406030204" pitchFamily="18" charset="0"/>
                    <a:ea typeface="Cambria Math" panose="02040503050406030204" pitchFamily="18" charset="0"/>
                  </a:rPr>
                  <a:t>) </a:t>
                </a:r>
                <a:r>
                  <a:rPr lang="en-US" sz="2000" i="0">
                    <a:latin typeface="Cambria Math" panose="02040503050406030204" pitchFamily="18" charset="0"/>
                    <a:ea typeface="Cambria Math" panose="02040503050406030204" pitchFamily="18" charset="0"/>
                  </a:rPr>
                  <a:t>├ |1⟩</a:t>
                </a:r>
                <a:r>
                  <a:rPr lang="en-US" sz="2000" i="0" baseline="0" dirty="0"/>
                  <a:t>), </a:t>
                </a:r>
                <a:r>
                  <a:rPr lang="en-US" sz="2000" i="0" baseline="0" dirty="0" err="1"/>
                  <a:t>koji</a:t>
                </a:r>
                <a:r>
                  <a:rPr lang="en-US" sz="2000" i="0" baseline="0" dirty="0"/>
                  <a:t> se </a:t>
                </a:r>
                <a:r>
                  <a:rPr lang="en-US" sz="2000" i="0" baseline="0" dirty="0" err="1"/>
                  <a:t>putem</a:t>
                </a:r>
                <a:r>
                  <a:rPr lang="en-US" sz="2000" i="0" baseline="0" dirty="0"/>
                  <a:t> </a:t>
                </a:r>
                <a:r>
                  <a:rPr lang="en-US" sz="2000" i="0" baseline="0" dirty="0" err="1"/>
                  <a:t>faznog</a:t>
                </a:r>
                <a:r>
                  <a:rPr lang="en-US" sz="2000" i="0" baseline="0" dirty="0"/>
                  <a:t> kick-back-a </a:t>
                </a:r>
                <a:r>
                  <a:rPr lang="en-US" sz="2000" i="0" baseline="0" dirty="0" err="1"/>
                  <a:t>šalju</a:t>
                </a:r>
                <a:r>
                  <a:rPr lang="en-US" sz="2000" i="0" baseline="0" dirty="0"/>
                  <a:t> </a:t>
                </a:r>
                <a:r>
                  <a:rPr lang="en-US" sz="2000" i="0" baseline="0" dirty="0" err="1"/>
                  <a:t>na</a:t>
                </a:r>
                <a:r>
                  <a:rPr lang="en-US" sz="2000" i="0" baseline="0" dirty="0"/>
                  <a:t> </a:t>
                </a:r>
                <a:r>
                  <a:rPr lang="en-US" sz="2000" i="0" baseline="0" dirty="0" err="1"/>
                  <a:t>odgovarajuće</a:t>
                </a:r>
                <a:r>
                  <a:rPr lang="en-US" sz="2000" i="0" baseline="0" dirty="0"/>
                  <a:t> </a:t>
                </a:r>
                <a:r>
                  <a:rPr lang="en-US" sz="2000" i="0" baseline="0" dirty="0" err="1"/>
                  <a:t>kubite</a:t>
                </a:r>
                <a:r>
                  <a:rPr lang="en-US" sz="2000" i="0" baseline="0" dirty="0"/>
                  <a:t> </a:t>
                </a:r>
                <a:r>
                  <a:rPr lang="en-US" sz="2000" i="0" baseline="0" dirty="0" err="1"/>
                  <a:t>gornjeg</a:t>
                </a:r>
                <a:r>
                  <a:rPr lang="en-US" sz="2000" i="0" baseline="0" dirty="0"/>
                  <a:t> </a:t>
                </a:r>
                <a:r>
                  <a:rPr lang="en-US" sz="2000" i="0" baseline="0" dirty="0" err="1"/>
                  <a:t>registra</a:t>
                </a:r>
                <a:r>
                  <a:rPr lang="en-US" sz="2000" i="0" baseline="0" dirty="0"/>
                  <a:t>.</a:t>
                </a:r>
              </a:p>
              <a:p>
                <a:pPr marL="457200" indent="-457200">
                  <a:buFont typeface="+mj-lt"/>
                  <a:buAutoNum type="arabicPeriod"/>
                </a:pPr>
                <a:r>
                  <a:rPr lang="en-US" sz="2000" i="0" baseline="0" dirty="0" err="1"/>
                  <a:t>Primenom</a:t>
                </a:r>
                <a:r>
                  <a:rPr lang="en-US" sz="2000" i="0" baseline="0" dirty="0"/>
                  <a:t> </a:t>
                </a:r>
                <a:r>
                  <a:rPr lang="en-US" sz="2000" i="0" baseline="0" dirty="0" err="1"/>
                  <a:t>faznog</a:t>
                </a:r>
                <a:r>
                  <a:rPr lang="en-US" sz="2000" i="0" baseline="0" dirty="0"/>
                  <a:t> kick-back-a </a:t>
                </a:r>
                <a:r>
                  <a:rPr lang="en-US" sz="2000" i="0" baseline="0" dirty="0" err="1"/>
                  <a:t>ovaj</a:t>
                </a:r>
                <a:r>
                  <a:rPr lang="en-US" sz="2000" i="0" baseline="0" dirty="0"/>
                  <a:t> se </a:t>
                </a:r>
                <a:r>
                  <a:rPr lang="en-US" sz="2000" i="0" baseline="0" dirty="0" err="1"/>
                  <a:t>fazni</a:t>
                </a:r>
                <a:r>
                  <a:rPr lang="en-US" sz="2000" i="0" baseline="0" dirty="0"/>
                  <a:t> </a:t>
                </a:r>
                <a:r>
                  <a:rPr lang="en-US" sz="2000" i="0" baseline="0" dirty="0" err="1"/>
                  <a:t>pomeraj</a:t>
                </a:r>
                <a:r>
                  <a:rPr lang="en-US" sz="2000" i="0" baseline="0" dirty="0"/>
                  <a:t> </a:t>
                </a:r>
                <a:r>
                  <a:rPr lang="en-US" sz="2000" i="0" baseline="0" dirty="0" err="1"/>
                  <a:t>prebacuje</a:t>
                </a:r>
                <a:r>
                  <a:rPr lang="en-US" sz="2000" i="0" baseline="0" dirty="0"/>
                  <a:t> u </a:t>
                </a:r>
                <a:r>
                  <a:rPr lang="en-US" sz="2000" i="0" baseline="0" dirty="0" err="1"/>
                  <a:t>gornji</a:t>
                </a:r>
                <a:r>
                  <a:rPr lang="en-US" sz="2000" i="0" baseline="0" dirty="0"/>
                  <a:t> </a:t>
                </a:r>
                <a:r>
                  <a:rPr lang="en-US" sz="2000" i="0" baseline="0" dirty="0" err="1"/>
                  <a:t>registar</a:t>
                </a:r>
                <a:r>
                  <a:rPr lang="en-US" sz="2000" i="0" baseline="0" dirty="0"/>
                  <a:t> </a:t>
                </a:r>
                <a:r>
                  <a:rPr lang="en-US" sz="2000" i="0" baseline="0" dirty="0" err="1"/>
                  <a:t>kak</a:t>
                </a:r>
                <a:r>
                  <a:rPr lang="en-US" sz="2000" i="0" baseline="0" dirty="0"/>
                  <a:t> </a:t>
                </a:r>
                <a:r>
                  <a:rPr lang="en-US" sz="2000" i="0" baseline="0" dirty="0" err="1"/>
                  <a:t>je</a:t>
                </a:r>
                <a:r>
                  <a:rPr lang="en-US" sz="2000" i="0" baseline="0" dirty="0"/>
                  <a:t> </a:t>
                </a:r>
                <a:r>
                  <a:rPr lang="en-US" sz="2000" i="0" baseline="0" dirty="0" err="1"/>
                  <a:t>prikazno</a:t>
                </a:r>
                <a:r>
                  <a:rPr lang="en-US" sz="2000" i="0" baseline="0" dirty="0"/>
                  <a:t> </a:t>
                </a:r>
                <a:r>
                  <a:rPr lang="en-US" sz="2000" i="0" baseline="0" dirty="0" err="1"/>
                  <a:t>izrazom</a:t>
                </a:r>
                <a:r>
                  <a:rPr lang="en-US" sz="2000" i="0" baseline="0" dirty="0"/>
                  <a:t> (3). </a:t>
                </a:r>
              </a:p>
              <a:p>
                <a:pPr marL="457200" indent="-457200">
                  <a:buFont typeface="+mj-lt"/>
                  <a:buAutoNum type="arabicPeriod"/>
                </a:pPr>
                <a:r>
                  <a:rPr lang="en-US" sz="2000" i="0" baseline="0" dirty="0"/>
                  <a:t>Na </a:t>
                </a:r>
                <a:r>
                  <a:rPr lang="en-US" sz="2000" i="0" baseline="0" dirty="0" err="1"/>
                  <a:t>svaki</a:t>
                </a:r>
                <a:r>
                  <a:rPr lang="en-US" sz="2000" i="0" baseline="0" dirty="0"/>
                  <a:t> </a:t>
                </a:r>
                <a:r>
                  <a:rPr lang="en-US" sz="2000" i="0" baseline="0" dirty="0" err="1"/>
                  <a:t>član</a:t>
                </a:r>
                <a:r>
                  <a:rPr lang="en-US" sz="2000" i="0" baseline="0" dirty="0"/>
                  <a:t> </a:t>
                </a:r>
                <a:r>
                  <a:rPr lang="en-US" sz="2000" i="0" baseline="0" dirty="0" err="1"/>
                  <a:t>izraza</a:t>
                </a:r>
                <a:r>
                  <a:rPr lang="en-US" sz="2000" i="0" baseline="0" dirty="0"/>
                  <a:t> (3) se </a:t>
                </a:r>
                <a:r>
                  <a:rPr lang="en-US" sz="2000" i="0" baseline="0" dirty="0" err="1"/>
                  <a:t>primenjuje</a:t>
                </a:r>
                <a:r>
                  <a:rPr lang="en-US" sz="2000" i="0" baseline="0" dirty="0"/>
                  <a:t> </a:t>
                </a:r>
                <a:r>
                  <a:rPr lang="en-US" sz="2000" i="0" baseline="0" dirty="0" err="1"/>
                  <a:t>inverzna</a:t>
                </a:r>
                <a:r>
                  <a:rPr lang="en-US" sz="2000" i="0" baseline="0" dirty="0"/>
                  <a:t> </a:t>
                </a:r>
                <a:r>
                  <a:rPr lang="en-US" sz="2000" i="0" baseline="0" dirty="0" err="1"/>
                  <a:t>furijeova</a:t>
                </a:r>
                <a:r>
                  <a:rPr lang="en-US" sz="2000" i="0" baseline="0" dirty="0"/>
                  <a:t> </a:t>
                </a:r>
                <a:r>
                  <a:rPr lang="en-US" sz="2000" i="0" baseline="0" dirty="0" err="1"/>
                  <a:t>transformacija</a:t>
                </a:r>
                <a:r>
                  <a:rPr lang="en-US" sz="2000" i="0" baseline="0" dirty="0"/>
                  <a:t> </a:t>
                </a:r>
                <a:r>
                  <a:rPr lang="en-US" sz="2000" i="0" baseline="0" dirty="0" err="1"/>
                  <a:t>kao</a:t>
                </a:r>
                <a:r>
                  <a:rPr lang="en-US" sz="2000" i="0" baseline="0" dirty="0"/>
                  <a:t> u </a:t>
                </a:r>
                <a:r>
                  <a:rPr lang="en-US" sz="2000" i="0" baseline="0" dirty="0" err="1"/>
                  <a:t>izrazu</a:t>
                </a:r>
                <a:r>
                  <a:rPr lang="en-US" sz="2000" i="0" baseline="0" dirty="0"/>
                  <a:t> (4). </a:t>
                </a:r>
                <a:r>
                  <a:rPr lang="en-US" sz="2000" i="0" baseline="0" dirty="0" err="1"/>
                  <a:t>Direktnim</a:t>
                </a:r>
                <a:r>
                  <a:rPr lang="en-US" sz="2000" i="0" baseline="0" dirty="0"/>
                  <a:t> </a:t>
                </a:r>
                <a:r>
                  <a:rPr lang="en-US" sz="2000" i="0" baseline="0" dirty="0" err="1"/>
                  <a:t>razvijanjem</a:t>
                </a:r>
                <a:r>
                  <a:rPr lang="en-US" sz="2000" i="0" baseline="0" dirty="0"/>
                  <a:t> </a:t>
                </a:r>
                <a:r>
                  <a:rPr lang="en-US" sz="2000" i="0" baseline="0" dirty="0" err="1"/>
                  <a:t>izraza</a:t>
                </a:r>
                <a:r>
                  <a:rPr lang="en-US" sz="2000" i="0" baseline="0" dirty="0"/>
                  <a:t> </a:t>
                </a:r>
                <a:r>
                  <a:rPr lang="en-US" sz="2000" i="0" baseline="0" dirty="0" err="1"/>
                  <a:t>dobija</a:t>
                </a:r>
                <a:r>
                  <a:rPr lang="en-US" sz="2000" i="0" baseline="0" dirty="0"/>
                  <a:t> se </a:t>
                </a:r>
                <a:r>
                  <a:rPr lang="en-US" sz="2000" i="0" baseline="0" dirty="0" err="1"/>
                  <a:t>stanje</a:t>
                </a:r>
                <a:r>
                  <a:rPr lang="en-US" sz="2000" i="0" baseline="0" dirty="0"/>
                  <a:t> </a:t>
                </a:r>
                <a:r>
                  <a:rPr lang="en-US" sz="2000" i="0" baseline="0" dirty="0" err="1"/>
                  <a:t>gornjeg</a:t>
                </a:r>
                <a:r>
                  <a:rPr lang="en-US" sz="2000" i="0" baseline="0" dirty="0"/>
                  <a:t> </a:t>
                </a:r>
                <a:r>
                  <a:rPr lang="en-US" sz="2000" i="0" baseline="0" dirty="0" err="1"/>
                  <a:t>registra</a:t>
                </a:r>
                <a:r>
                  <a:rPr lang="en-US" sz="2000" i="0" baseline="0" dirty="0"/>
                  <a:t> </a:t>
                </a:r>
                <a:r>
                  <a:rPr lang="en-US" sz="2000" i="0" baseline="0" dirty="0" err="1"/>
                  <a:t>kao</a:t>
                </a:r>
                <a:r>
                  <a:rPr lang="en-US" sz="2000" i="0" baseline="0" dirty="0"/>
                  <a:t> </a:t>
                </a:r>
                <a:r>
                  <a:rPr lang="en-US" sz="2000" i="0" baseline="0" dirty="0" err="1"/>
                  <a:t>kronekerov</a:t>
                </a:r>
                <a:r>
                  <a:rPr lang="en-US" sz="2000" i="0" baseline="0" dirty="0"/>
                  <a:t> </a:t>
                </a:r>
                <a:r>
                  <a:rPr lang="en-US" sz="2000" i="0" baseline="0" dirty="0" err="1"/>
                  <a:t>proizvod</a:t>
                </a:r>
                <a:r>
                  <a:rPr lang="en-US" sz="2000" i="0" baseline="0" dirty="0"/>
                  <a:t> </a:t>
                </a:r>
                <a:r>
                  <a:rPr lang="en-US" sz="2000" i="0" baseline="0" dirty="0" err="1"/>
                  <a:t>stanja</a:t>
                </a:r>
                <a:r>
                  <a:rPr lang="en-US" sz="2000" i="0" baseline="0" dirty="0"/>
                  <a:t> </a:t>
                </a:r>
                <a:r>
                  <a:rPr lang="en-US" sz="2000" i="0" baseline="0" dirty="0" err="1"/>
                  <a:t>gornjeg</a:t>
                </a:r>
                <a:r>
                  <a:rPr lang="en-US" sz="2000" i="0" baseline="0" dirty="0"/>
                  <a:t> </a:t>
                </a:r>
                <a:r>
                  <a:rPr lang="en-US" sz="2000" i="0" baseline="0" dirty="0" err="1"/>
                  <a:t>registra</a:t>
                </a:r>
                <a:r>
                  <a:rPr lang="en-US" sz="2000" i="0" baseline="0" dirty="0"/>
                  <a:t> </a:t>
                </a:r>
                <a:r>
                  <a:rPr lang="en-US" sz="2000" i="0" baseline="0" dirty="0" err="1"/>
                  <a:t>posle</a:t>
                </a:r>
                <a:r>
                  <a:rPr lang="en-US" sz="2000" i="0" baseline="0" dirty="0"/>
                  <a:t> </a:t>
                </a:r>
                <a:r>
                  <a:rPr lang="en-US" sz="2000" i="0" baseline="0" dirty="0" err="1"/>
                  <a:t>furijeove</a:t>
                </a:r>
                <a:r>
                  <a:rPr lang="en-US" sz="2000" i="0" baseline="0" dirty="0"/>
                  <a:t> </a:t>
                </a:r>
                <a:r>
                  <a:rPr lang="en-US" sz="2000" i="0" baseline="0" dirty="0" err="1"/>
                  <a:t>transformacije</a:t>
                </a:r>
                <a:r>
                  <a:rPr lang="en-US" sz="2000" i="0" baseline="0" dirty="0"/>
                  <a:t> (u </a:t>
                </a:r>
                <a:r>
                  <a:rPr lang="en-US" sz="2000" i="0" baseline="0" dirty="0" err="1"/>
                  <a:t>crvenoj</a:t>
                </a:r>
                <a:r>
                  <a:rPr lang="en-US" sz="2000" i="0" baseline="0" dirty="0"/>
                  <a:t> </a:t>
                </a:r>
                <a:r>
                  <a:rPr lang="en-US" sz="2000" i="0" baseline="0" dirty="0" err="1"/>
                  <a:t>boji</a:t>
                </a:r>
                <a:r>
                  <a:rPr lang="en-US" sz="2000" i="0" baseline="0" dirty="0"/>
                  <a:t>) </a:t>
                </a:r>
                <a:r>
                  <a:rPr lang="en-US" sz="2000" i="0" baseline="0" dirty="0" err="1"/>
                  <a:t>i</a:t>
                </a:r>
                <a:r>
                  <a:rPr lang="en-US" sz="2000" i="0" baseline="0" dirty="0"/>
                  <a:t> </a:t>
                </a:r>
                <a:r>
                  <a:rPr lang="en-US" sz="2000" i="0" baseline="0" dirty="0" err="1"/>
                  <a:t>stanja</a:t>
                </a:r>
                <a:r>
                  <a:rPr lang="en-US" sz="2000" i="0" baseline="0" dirty="0"/>
                  <a:t> </a:t>
                </a:r>
                <a:r>
                  <a:rPr lang="en-US" sz="2000" i="0" baseline="0" dirty="0" err="1"/>
                  <a:t>donjeg</a:t>
                </a:r>
                <a:r>
                  <a:rPr lang="en-US" sz="2000" i="0" baseline="0" dirty="0"/>
                  <a:t> </a:t>
                </a:r>
                <a:r>
                  <a:rPr lang="en-US" sz="2000" i="0" baseline="0" dirty="0" err="1"/>
                  <a:t>registra</a:t>
                </a:r>
                <a:r>
                  <a:rPr lang="en-US" sz="2000" i="0" baseline="0" dirty="0"/>
                  <a:t>.</a:t>
                </a:r>
                <a:br>
                  <a:rPr lang="en-US" sz="2000" i="0" baseline="0" dirty="0"/>
                </a:br>
                <a:r>
                  <a:rPr lang="en-US" sz="2000" i="0" baseline="0" dirty="0" err="1"/>
                  <a:t>Kitajev</a:t>
                </a:r>
                <a:r>
                  <a:rPr lang="en-US" sz="2000" i="0" baseline="0" dirty="0"/>
                  <a:t> </a:t>
                </a:r>
                <a:r>
                  <a:rPr lang="en-US" sz="2000" i="0" baseline="0" dirty="0" err="1"/>
                  <a:t>uvodi</a:t>
                </a:r>
                <a:r>
                  <a:rPr lang="en-US" sz="2000" i="0" baseline="0" dirty="0"/>
                  <a:t> </a:t>
                </a:r>
                <a:r>
                  <a:rPr lang="en-US" sz="2000" i="0" baseline="0" dirty="0" err="1"/>
                  <a:t>aproksimacija</a:t>
                </a:r>
                <a:r>
                  <a:rPr lang="en-US" sz="2000" i="0" baseline="0" dirty="0"/>
                  <a:t> </a:t>
                </a:r>
                <a:r>
                  <a:rPr lang="en-US" sz="2000" i="0" baseline="0" dirty="0" err="1"/>
                  <a:t>smatrajući</a:t>
                </a:r>
                <a:r>
                  <a:rPr lang="en-US" sz="2000" i="0" baseline="0" dirty="0"/>
                  <a:t> da </a:t>
                </a:r>
                <a:r>
                  <a:rPr lang="en-US" sz="2000" i="0" baseline="0" dirty="0" err="1"/>
                  <a:t>izraz</a:t>
                </a:r>
                <a:r>
                  <a:rPr lang="en-US" sz="2000" i="0" baseline="0" dirty="0"/>
                  <a:t> u </a:t>
                </a:r>
                <a:r>
                  <a:rPr lang="en-US" sz="2000" i="0" baseline="0" dirty="0" err="1"/>
                  <a:t>crvenoj</a:t>
                </a:r>
                <a:r>
                  <a:rPr lang="en-US" sz="2000" i="0" baseline="0" dirty="0"/>
                  <a:t> </a:t>
                </a:r>
                <a:r>
                  <a:rPr lang="en-US" sz="2000" i="0" baseline="0" dirty="0" err="1"/>
                  <a:t>boji</a:t>
                </a:r>
                <a:r>
                  <a:rPr lang="en-US" sz="2000" i="0" baseline="0" dirty="0"/>
                  <a:t> </a:t>
                </a:r>
                <a:r>
                  <a:rPr lang="en-US" sz="2000" i="0" baseline="0" dirty="0" err="1"/>
                  <a:t>ima</a:t>
                </a:r>
                <a:r>
                  <a:rPr lang="en-US" sz="2000" i="0" baseline="0" dirty="0"/>
                  <a:t> </a:t>
                </a:r>
                <a:r>
                  <a:rPr lang="en-US" sz="2000" i="0" baseline="0" dirty="0" err="1"/>
                  <a:t>maksimum</a:t>
                </a:r>
                <a:r>
                  <a:rPr lang="en-US" sz="2000" i="0" baseline="0" dirty="0"/>
                  <a:t> </a:t>
                </a:r>
                <a:r>
                  <a:rPr lang="en-US" sz="2000" i="0" baseline="0" dirty="0" err="1"/>
                  <a:t>za</a:t>
                </a:r>
                <a:r>
                  <a:rPr lang="en-US" sz="2000" i="0" baseline="0" dirty="0"/>
                  <a:t> </a:t>
                </a:r>
                <a:r>
                  <a:rPr lang="en-US" sz="2000" i="0">
                    <a:latin typeface="Cambria Math" panose="02040503050406030204" pitchFamily="18" charset="0"/>
                    <a:ea typeface="Cambria Math" panose="02040503050406030204" pitchFamily="18" charset="0"/>
                  </a:rPr>
                  <a:t>〖</a:t>
                </a:r>
                <a:r>
                  <a:rPr lang="en-US" sz="2000" b="0" i="0">
                    <a:latin typeface="Cambria Math" panose="02040503050406030204" pitchFamily="18" charset="0"/>
                    <a:ea typeface="Cambria Math" panose="02040503050406030204" pitchFamily="18" charset="0"/>
                  </a:rPr>
                  <a:t>𝑥=2〗^</a:t>
                </a:r>
                <a:r>
                  <a:rPr lang="en-US" sz="2000" i="0">
                    <a:latin typeface="Cambria Math" panose="02040503050406030204" pitchFamily="18" charset="0"/>
                    <a:ea typeface="Cambria Math" panose="02040503050406030204" pitchFamily="18" charset="0"/>
                  </a:rPr>
                  <a:t>𝑛 𝜃</a:t>
                </a:r>
                <a:r>
                  <a:rPr lang="en-US" sz="2000" i="0" baseline="0" dirty="0"/>
                  <a:t>. </a:t>
                </a:r>
              </a:p>
              <a:p>
                <a:pPr marL="457200" indent="-457200">
                  <a:buFont typeface="+mj-lt"/>
                  <a:buAutoNum type="arabicPeriod"/>
                </a:pPr>
                <a:r>
                  <a:rPr lang="en-US" sz="2000" i="0" baseline="0" dirty="0" err="1"/>
                  <a:t>Neka</a:t>
                </a:r>
                <a:r>
                  <a:rPr lang="en-US" sz="2000" i="0" baseline="0" dirty="0"/>
                  <a:t> </a:t>
                </a:r>
                <a:r>
                  <a:rPr lang="en-US" sz="2000" i="0" baseline="0" dirty="0" err="1"/>
                  <a:t>je</a:t>
                </a:r>
                <a:r>
                  <a:rPr lang="en-US" sz="2000" i="0" baseline="0" dirty="0"/>
                  <a:t> </a:t>
                </a:r>
                <a:r>
                  <a:rPr lang="en-US" sz="2000" i="0" baseline="0" dirty="0" err="1"/>
                  <a:t>rezultat</a:t>
                </a:r>
                <a:r>
                  <a:rPr lang="en-US" sz="2000" i="0" baseline="0" dirty="0"/>
                  <a:t> </a:t>
                </a:r>
                <a:r>
                  <a:rPr lang="en-US" sz="2000" i="0" baseline="0" dirty="0" err="1"/>
                  <a:t>merenja</a:t>
                </a:r>
                <a:r>
                  <a:rPr lang="en-US" sz="2000" i="0" baseline="0" dirty="0"/>
                  <a:t> </a:t>
                </a:r>
                <a:r>
                  <a:rPr lang="en-US" sz="2000" i="0" baseline="0" dirty="0" err="1"/>
                  <a:t>gornjeg</a:t>
                </a:r>
                <a:r>
                  <a:rPr lang="en-US" sz="2000" i="0" baseline="0" dirty="0"/>
                  <a:t> </a:t>
                </a:r>
                <a:r>
                  <a:rPr lang="en-US" sz="2000" i="0" baseline="0" dirty="0" err="1"/>
                  <a:t>registra</a:t>
                </a:r>
                <a:r>
                  <a:rPr lang="en-US" sz="2000" i="0" baseline="0" dirty="0"/>
                  <a:t> u </a:t>
                </a:r>
                <a:r>
                  <a:rPr lang="en-US" sz="2000" i="0" baseline="0" dirty="0" err="1"/>
                  <a:t>tački</a:t>
                </a:r>
                <a:r>
                  <a:rPr lang="en-US" sz="2000" i="0" baseline="0" dirty="0"/>
                  <a:t> (5) </a:t>
                </a:r>
                <a:r>
                  <a:rPr lang="en-US" sz="2000" i="0" baseline="0" dirty="0" err="1"/>
                  <a:t>ceo</a:t>
                </a:r>
                <a:r>
                  <a:rPr lang="en-US" sz="2000" i="0" baseline="0" dirty="0"/>
                  <a:t> </a:t>
                </a:r>
                <a:r>
                  <a:rPr lang="en-US" sz="2000" i="0" baseline="0" dirty="0" err="1"/>
                  <a:t>broj</a:t>
                </a:r>
                <a:r>
                  <a:rPr lang="en-US" sz="2000" i="0" baseline="0" dirty="0"/>
                  <a:t> M. </a:t>
                </a:r>
                <a:r>
                  <a:rPr lang="en-US" sz="2000" i="0" baseline="0" dirty="0" err="1"/>
                  <a:t>Ako</a:t>
                </a:r>
                <a:r>
                  <a:rPr lang="en-US" sz="2000" i="0" baseline="0" dirty="0"/>
                  <a:t> </a:t>
                </a:r>
                <a:r>
                  <a:rPr lang="en-US" sz="2000" i="0" baseline="0" dirty="0" err="1"/>
                  <a:t>je</a:t>
                </a:r>
                <a:r>
                  <a:rPr lang="en-US" sz="2000" i="0" baseline="0" dirty="0"/>
                  <a:t> </a:t>
                </a:r>
                <a:r>
                  <a:rPr lang="en-US" sz="2000" i="0" baseline="0" dirty="0" err="1"/>
                  <a:t>takođe</a:t>
                </a:r>
                <a:r>
                  <a:rPr lang="en-US" sz="2000" i="0" baseline="0" dirty="0"/>
                  <a:t> </a:t>
                </a:r>
                <a:r>
                  <a:rPr lang="en-US" sz="2000" i="0">
                    <a:latin typeface="Cambria Math" panose="02040503050406030204" pitchFamily="18" charset="0"/>
                    <a:ea typeface="Cambria Math" panose="02040503050406030204" pitchFamily="18" charset="0"/>
                  </a:rPr>
                  <a:t>2^𝑛 𝜃</a:t>
                </a:r>
                <a:r>
                  <a:rPr lang="en-US" sz="2000" i="0" baseline="0" dirty="0"/>
                  <a:t> </a:t>
                </a:r>
                <a:r>
                  <a:rPr lang="en-US" sz="2000" i="0" baseline="0" dirty="0" err="1"/>
                  <a:t>ceo</a:t>
                </a:r>
                <a:r>
                  <a:rPr lang="en-US" sz="2000" i="0" baseline="0" dirty="0"/>
                  <a:t> </a:t>
                </a:r>
                <a:r>
                  <a:rPr lang="en-US" sz="2000" i="0" baseline="0" dirty="0" err="1"/>
                  <a:t>broj</a:t>
                </a:r>
                <a:r>
                  <a:rPr lang="en-US" sz="2000" i="0" baseline="0" dirty="0"/>
                  <a:t>, </a:t>
                </a:r>
                <a:r>
                  <a:rPr lang="en-US" sz="2000" i="0" baseline="0" dirty="0" err="1"/>
                  <a:t>onda</a:t>
                </a:r>
                <a:r>
                  <a:rPr lang="en-US" sz="2000" i="0" baseline="0" dirty="0"/>
                  <a:t> se </a:t>
                </a:r>
                <a:r>
                  <a:rPr lang="en-US" sz="2000" i="0" baseline="0" dirty="0" err="1"/>
                  <a:t>faza</a:t>
                </a:r>
                <a:r>
                  <a:rPr lang="en-US" sz="2000" i="0" baseline="0" dirty="0"/>
                  <a:t> </a:t>
                </a:r>
                <a:r>
                  <a:rPr lang="en-US" sz="2000" i="0" baseline="0" dirty="0" err="1"/>
                  <a:t>izračunava</a:t>
                </a:r>
                <a:r>
                  <a:rPr lang="en-US" sz="2000" i="0" baseline="0" dirty="0"/>
                  <a:t> </a:t>
                </a:r>
                <a:r>
                  <a:rPr lang="en-US" sz="2000" i="0" baseline="0" dirty="0" err="1"/>
                  <a:t>kao</a:t>
                </a:r>
                <a:r>
                  <a:rPr lang="en-US" sz="2000" i="0" baseline="0" dirty="0"/>
                  <a:t> </a:t>
                </a:r>
                <a:r>
                  <a:rPr lang="en-US" sz="2000" i="0">
                    <a:latin typeface="Cambria Math" panose="02040503050406030204" pitchFamily="18" charset="0"/>
                    <a:ea typeface="Cambria Math" panose="02040503050406030204" pitchFamily="18" charset="0"/>
                  </a:rPr>
                  <a:t>𝜃</a:t>
                </a:r>
                <a:r>
                  <a:rPr lang="en-US" sz="2000" b="0" i="0">
                    <a:latin typeface="Cambria Math" panose="02040503050406030204" pitchFamily="18" charset="0"/>
                    <a:ea typeface="Cambria Math" panose="02040503050406030204" pitchFamily="18" charset="0"/>
                  </a:rPr>
                  <a:t>=</a:t>
                </a:r>
                <a:r>
                  <a:rPr lang="en-US" sz="2000" i="0" baseline="0" dirty="0"/>
                  <a:t>M/</a:t>
                </a:r>
                <a:r>
                  <a:rPr lang="en-US" sz="2000" i="0">
                    <a:latin typeface="Cambria Math" panose="02040503050406030204" pitchFamily="18" charset="0"/>
                    <a:ea typeface="Cambria Math" panose="02040503050406030204" pitchFamily="18" charset="0"/>
                  </a:rPr>
                  <a:t>2^𝑛</a:t>
                </a:r>
                <a:r>
                  <a:rPr lang="en-US" sz="2000" i="0" baseline="0" dirty="0"/>
                  <a:t>.  </a:t>
                </a:r>
                <a:r>
                  <a:rPr lang="en-US" sz="2000" i="0" baseline="0" dirty="0" err="1"/>
                  <a:t>Ako</a:t>
                </a:r>
                <a:r>
                  <a:rPr lang="en-US" sz="2000" i="0">
                    <a:latin typeface="Cambria Math" panose="02040503050406030204" pitchFamily="18" charset="0"/>
                    <a:ea typeface="Cambria Math" panose="02040503050406030204" pitchFamily="18" charset="0"/>
                  </a:rPr>
                  <a:t>〖</a:t>
                </a:r>
                <a:r>
                  <a:rPr lang="en-US" sz="2000" b="0" i="0">
                    <a:latin typeface="Cambria Math" panose="02040503050406030204" pitchFamily="18" charset="0"/>
                    <a:ea typeface="Cambria Math" panose="02040503050406030204" pitchFamily="18" charset="0"/>
                  </a:rPr>
                  <a:t> </a:t>
                </a:r>
                <a:r>
                  <a:rPr lang="en-US" sz="2000" i="0">
                    <a:latin typeface="Cambria Math" panose="02040503050406030204" pitchFamily="18" charset="0"/>
                    <a:ea typeface="Cambria Math" panose="02040503050406030204" pitchFamily="18" charset="0"/>
                  </a:rPr>
                  <a:t>2〗^𝑛 𝜃</a:t>
                </a:r>
                <a:r>
                  <a:rPr lang="en-US" sz="2000" i="0" baseline="0" dirty="0"/>
                  <a:t> </a:t>
                </a:r>
                <a:r>
                  <a:rPr lang="en-US" sz="2000" i="0" baseline="0" dirty="0" err="1"/>
                  <a:t>nije</a:t>
                </a:r>
                <a:r>
                  <a:rPr lang="en-US" sz="2000" i="0" baseline="0" dirty="0"/>
                  <a:t> </a:t>
                </a:r>
                <a:r>
                  <a:rPr lang="en-US" sz="2000" i="0" baseline="0" dirty="0" err="1"/>
                  <a:t>ceo</a:t>
                </a:r>
                <a:r>
                  <a:rPr lang="en-US" sz="2000" i="0" baseline="0" dirty="0"/>
                  <a:t> </a:t>
                </a:r>
                <a:r>
                  <a:rPr lang="en-US" sz="2000" i="0" baseline="0" dirty="0" err="1"/>
                  <a:t>broj</a:t>
                </a:r>
                <a:r>
                  <a:rPr lang="en-US" sz="2000" i="0" baseline="0" dirty="0"/>
                  <a:t>, </a:t>
                </a:r>
                <a:r>
                  <a:rPr lang="en-US" sz="2000" i="0" baseline="0" dirty="0" err="1"/>
                  <a:t>pokazano</a:t>
                </a:r>
                <a:r>
                  <a:rPr lang="en-US" sz="2000" i="0" baseline="0" dirty="0"/>
                  <a:t> </a:t>
                </a:r>
                <a:r>
                  <a:rPr lang="en-US" sz="2000" i="0" baseline="0" dirty="0" err="1"/>
                  <a:t>je</a:t>
                </a:r>
                <a:r>
                  <a:rPr lang="en-US" sz="2000" i="0" baseline="0" dirty="0"/>
                  <a:t> da </a:t>
                </a:r>
                <a:r>
                  <a:rPr lang="en-US" sz="2000" i="0" baseline="0" dirty="0" err="1"/>
                  <a:t>je</a:t>
                </a:r>
                <a:r>
                  <a:rPr lang="en-US" sz="2000" i="0" baseline="0" dirty="0"/>
                  <a:t> </a:t>
                </a:r>
                <a:r>
                  <a:rPr lang="en-US" sz="2000" i="0" baseline="0" dirty="0" err="1"/>
                  <a:t>verovatnoca</a:t>
                </a:r>
                <a:r>
                  <a:rPr lang="en-US" sz="2000" i="0" baseline="0" dirty="0"/>
                  <a:t> </a:t>
                </a:r>
                <a:r>
                  <a:rPr lang="en-US" sz="2000" i="0" baseline="0" dirty="0" err="1"/>
                  <a:t>rezulta</a:t>
                </a:r>
                <a:r>
                  <a:rPr lang="en-US" sz="2000" i="0" baseline="0" dirty="0"/>
                  <a:t> </a:t>
                </a:r>
                <a:r>
                  <a:rPr lang="en-US" sz="2000" i="0" baseline="0" dirty="0" err="1"/>
                  <a:t>oko</a:t>
                </a:r>
                <a:r>
                  <a:rPr lang="en-US" sz="2000" i="0" baseline="0" dirty="0"/>
                  <a:t> 40%.</a:t>
                </a:r>
              </a:p>
              <a:p>
                <a:pPr marL="0" indent="0">
                  <a:buFont typeface="+mj-lt"/>
                  <a:buNone/>
                </a:pPr>
                <a:endParaRPr lang="en-US" sz="2000" baseline="0" dirty="0"/>
              </a:p>
              <a:p>
                <a:pPr marL="0" indent="0">
                  <a:buFont typeface="+mj-lt"/>
                  <a:buNone/>
                </a:pPr>
                <a:r>
                  <a:rPr lang="en-US" sz="2000" baseline="0" dirty="0" err="1"/>
                  <a:t>Algoritam</a:t>
                </a:r>
                <a:r>
                  <a:rPr lang="en-US" sz="2000" baseline="0" dirty="0"/>
                  <a:t> </a:t>
                </a:r>
                <a:r>
                  <a:rPr lang="en-US" sz="2000" baseline="0" dirty="0" err="1"/>
                  <a:t>za</a:t>
                </a:r>
                <a:r>
                  <a:rPr lang="en-US" sz="2000" baseline="0" dirty="0"/>
                  <a:t> </a:t>
                </a:r>
                <a:r>
                  <a:rPr lang="en-US" sz="2000" baseline="0" dirty="0" err="1"/>
                  <a:t>estimaciju</a:t>
                </a:r>
                <a:r>
                  <a:rPr lang="en-US" sz="2000" baseline="0" dirty="0"/>
                  <a:t> faze se </a:t>
                </a:r>
                <a:r>
                  <a:rPr lang="en-US" sz="2000" baseline="0" dirty="0" err="1"/>
                  <a:t>često</a:t>
                </a:r>
                <a:r>
                  <a:rPr lang="en-US" sz="2000" baseline="0" dirty="0"/>
                  <a:t> </a:t>
                </a:r>
                <a:r>
                  <a:rPr lang="en-US" sz="2000" baseline="0" dirty="0" err="1"/>
                  <a:t>koristi</a:t>
                </a:r>
                <a:r>
                  <a:rPr lang="en-US" sz="2000" baseline="0" dirty="0"/>
                  <a:t> </a:t>
                </a:r>
                <a:r>
                  <a:rPr lang="en-US" sz="2000" baseline="0" dirty="0" err="1"/>
                  <a:t>kao</a:t>
                </a:r>
                <a:r>
                  <a:rPr lang="en-US" sz="2000" baseline="0" dirty="0"/>
                  <a:t> deo </a:t>
                </a:r>
                <a:r>
                  <a:rPr lang="en-US" sz="2000" baseline="0" dirty="0" err="1"/>
                  <a:t>složenijih</a:t>
                </a:r>
                <a:r>
                  <a:rPr lang="en-US" sz="2000" baseline="0" dirty="0"/>
                  <a:t> </a:t>
                </a:r>
                <a:r>
                  <a:rPr lang="en-US" sz="2000" baseline="0" dirty="0" err="1"/>
                  <a:t>algoritma</a:t>
                </a:r>
                <a:r>
                  <a:rPr lang="en-US" sz="2000" baseline="0" dirty="0"/>
                  <a:t>, </a:t>
                </a:r>
                <a:r>
                  <a:rPr lang="en-US" sz="2000" baseline="0" dirty="0" err="1"/>
                  <a:t>na</a:t>
                </a:r>
                <a:r>
                  <a:rPr lang="en-US" sz="2000" baseline="0" dirty="0"/>
                  <a:t> primer </a:t>
                </a:r>
                <a:r>
                  <a:rPr lang="en-US" sz="2000" baseline="0" dirty="0" err="1"/>
                  <a:t>za</a:t>
                </a:r>
                <a:r>
                  <a:rPr lang="en-US" sz="2000" baseline="0" dirty="0"/>
                  <a:t> </a:t>
                </a:r>
                <a:r>
                  <a:rPr lang="en-US" sz="2000" baseline="0" dirty="0" err="1"/>
                  <a:t>nalaženje</a:t>
                </a:r>
                <a:r>
                  <a:rPr lang="en-US" sz="2000" baseline="0" dirty="0"/>
                  <a:t> </a:t>
                </a:r>
                <a:r>
                  <a:rPr lang="en-US" sz="2000" baseline="0" dirty="0" err="1"/>
                  <a:t>nula</a:t>
                </a:r>
                <a:r>
                  <a:rPr lang="en-US" sz="2000" baseline="0" dirty="0"/>
                  <a:t> </a:t>
                </a:r>
                <a:r>
                  <a:rPr lang="en-US" sz="2000" baseline="0" dirty="0" err="1"/>
                  <a:t>polinoma</a:t>
                </a:r>
                <a:r>
                  <a:rPr lang="en-US" sz="2000" baseline="0" dirty="0"/>
                  <a:t>, </a:t>
                </a:r>
                <a:r>
                  <a:rPr lang="en-US" sz="2000" baseline="0" dirty="0" err="1"/>
                  <a:t>rešavanje</a:t>
                </a:r>
                <a:r>
                  <a:rPr lang="en-US" sz="2000" baseline="0" dirty="0"/>
                  <a:t> </a:t>
                </a:r>
                <a:r>
                  <a:rPr lang="en-US" sz="2000" baseline="0" dirty="0" err="1"/>
                  <a:t>sistema</a:t>
                </a:r>
                <a:r>
                  <a:rPr lang="en-US" sz="2000" baseline="0" dirty="0"/>
                  <a:t> </a:t>
                </a:r>
                <a:r>
                  <a:rPr lang="en-US" sz="2000" baseline="0" dirty="0" err="1"/>
                  <a:t>linearnih</a:t>
                </a:r>
                <a:r>
                  <a:rPr lang="en-US" sz="2000" baseline="0" dirty="0"/>
                  <a:t> </a:t>
                </a:r>
                <a:r>
                  <a:rPr lang="en-US" sz="2000" baseline="0" dirty="0" err="1"/>
                  <a:t>jednačina</a:t>
                </a:r>
                <a:r>
                  <a:rPr lang="en-US" sz="2000" baseline="0" dirty="0"/>
                  <a:t>, </a:t>
                </a:r>
                <a:r>
                  <a:rPr lang="en-US" sz="2000" baseline="0" dirty="0" err="1"/>
                  <a:t>za</a:t>
                </a:r>
                <a:r>
                  <a:rPr lang="en-US" sz="2000" baseline="0" dirty="0"/>
                  <a:t> </a:t>
                </a:r>
                <a:r>
                  <a:rPr lang="en-US" sz="2000" baseline="0" dirty="0" err="1"/>
                  <a:t>faktorisanje</a:t>
                </a:r>
                <a:r>
                  <a:rPr lang="en-US" sz="2000" baseline="0" dirty="0"/>
                  <a:t> </a:t>
                </a:r>
                <a:r>
                  <a:rPr lang="en-US" sz="2000" baseline="0" dirty="0" err="1"/>
                  <a:t>prostih</a:t>
                </a:r>
                <a:r>
                  <a:rPr lang="en-US" sz="2000" baseline="0" dirty="0"/>
                  <a:t> </a:t>
                </a:r>
                <a:r>
                  <a:rPr lang="en-US" sz="2000" baseline="0" dirty="0" err="1"/>
                  <a:t>brojeva</a:t>
                </a:r>
                <a:r>
                  <a:rPr lang="en-US" sz="2000" baseline="0" dirty="0"/>
                  <a:t> </a:t>
                </a:r>
                <a:r>
                  <a:rPr lang="en-US" sz="2000" baseline="0" dirty="0" err="1"/>
                  <a:t>i</a:t>
                </a:r>
                <a:r>
                  <a:rPr lang="en-US" sz="2000" baseline="0" dirty="0"/>
                  <a:t> </a:t>
                </a:r>
                <a:r>
                  <a:rPr lang="en-US" sz="2000" baseline="0" dirty="0" err="1"/>
                  <a:t>slično</a:t>
                </a:r>
                <a:r>
                  <a:rPr lang="en-US" sz="2000" baseline="0" dirty="0"/>
                  <a:t>.</a:t>
                </a:r>
              </a:p>
              <a:p>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69</a:t>
            </a:fld>
            <a:endParaRPr lang="en-US"/>
          </a:p>
        </p:txBody>
      </p:sp>
    </p:spTree>
    <p:extLst>
      <p:ext uri="{BB962C8B-B14F-4D97-AF65-F5344CB8AC3E}">
        <p14:creationId xmlns:p14="http://schemas.microsoft.com/office/powerpoint/2010/main" val="330289536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i="0" dirty="0"/>
          </a:p>
        </p:txBody>
      </p:sp>
      <p:sp>
        <p:nvSpPr>
          <p:cNvPr id="4" name="Slide Number Placeholder 3"/>
          <p:cNvSpPr>
            <a:spLocks noGrp="1"/>
          </p:cNvSpPr>
          <p:nvPr>
            <p:ph type="sldNum" sz="quarter" idx="5"/>
          </p:nvPr>
        </p:nvSpPr>
        <p:spPr/>
        <p:txBody>
          <a:bodyPr/>
          <a:lstStyle/>
          <a:p>
            <a:fld id="{1B2CE5E3-B8BD-D040-AC87-D640191DD8F1}" type="slidenum">
              <a:rPr lang="en-US" smtClean="0"/>
              <a:t>70</a:t>
            </a:fld>
            <a:endParaRPr lang="en-US"/>
          </a:p>
        </p:txBody>
      </p:sp>
    </p:spTree>
    <p:extLst>
      <p:ext uri="{BB962C8B-B14F-4D97-AF65-F5344CB8AC3E}">
        <p14:creationId xmlns:p14="http://schemas.microsoft.com/office/powerpoint/2010/main" val="7492913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11120-9110-E347-8B54-7933DF290C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838A87D-FAB6-A743-817E-0C56F6336C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A45607F-58DF-3447-9656-78BB1B0938F5}"/>
              </a:ext>
            </a:extLst>
          </p:cNvPr>
          <p:cNvSpPr>
            <a:spLocks noGrp="1"/>
          </p:cNvSpPr>
          <p:nvPr>
            <p:ph type="dt" sz="half" idx="10"/>
          </p:nvPr>
        </p:nvSpPr>
        <p:spPr/>
        <p:txBody>
          <a:bodyPr/>
          <a:lstStyle/>
          <a:p>
            <a:fld id="{1AE4839D-35CE-5948-991C-06BCC079A7B9}" type="datetime1">
              <a:rPr lang="en-US" smtClean="0"/>
              <a:t>10/24/26</a:t>
            </a:fld>
            <a:endParaRPr lang="en-US"/>
          </a:p>
        </p:txBody>
      </p:sp>
      <p:sp>
        <p:nvSpPr>
          <p:cNvPr id="5" name="Footer Placeholder 4">
            <a:extLst>
              <a:ext uri="{FF2B5EF4-FFF2-40B4-BE49-F238E27FC236}">
                <a16:creationId xmlns:a16="http://schemas.microsoft.com/office/drawing/2014/main" id="{82A11268-6971-7845-B2B0-61769F249F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F5C93A-6955-DE48-9E72-AE2BF1040520}"/>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1001636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49746-6A3A-2B40-897A-7771C9BE0A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0F0087-4B92-3E48-919C-B0DEFF5CA0F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605ED7-6A7E-B041-83E1-E1139884EF7E}"/>
              </a:ext>
            </a:extLst>
          </p:cNvPr>
          <p:cNvSpPr>
            <a:spLocks noGrp="1"/>
          </p:cNvSpPr>
          <p:nvPr>
            <p:ph type="dt" sz="half" idx="10"/>
          </p:nvPr>
        </p:nvSpPr>
        <p:spPr/>
        <p:txBody>
          <a:bodyPr/>
          <a:lstStyle/>
          <a:p>
            <a:fld id="{D21D1071-0E96-A240-8E9B-50D7576025E5}" type="datetime1">
              <a:rPr lang="en-US" smtClean="0"/>
              <a:t>10/24/26</a:t>
            </a:fld>
            <a:endParaRPr lang="en-US"/>
          </a:p>
        </p:txBody>
      </p:sp>
      <p:sp>
        <p:nvSpPr>
          <p:cNvPr id="5" name="Footer Placeholder 4">
            <a:extLst>
              <a:ext uri="{FF2B5EF4-FFF2-40B4-BE49-F238E27FC236}">
                <a16:creationId xmlns:a16="http://schemas.microsoft.com/office/drawing/2014/main" id="{234862D4-B653-154B-9F00-B29F8A9904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7E1DDB-ECC2-6440-8F64-6FF7043B62ED}"/>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1758381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37889-5E26-9F4B-ABC5-46737412E6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3A11A0-B651-1246-A031-2EB34FAAA2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9A7FBDE-56A4-544F-9E46-A8B3D22162DA}"/>
              </a:ext>
            </a:extLst>
          </p:cNvPr>
          <p:cNvSpPr>
            <a:spLocks noGrp="1"/>
          </p:cNvSpPr>
          <p:nvPr>
            <p:ph type="dt" sz="half" idx="10"/>
          </p:nvPr>
        </p:nvSpPr>
        <p:spPr/>
        <p:txBody>
          <a:bodyPr/>
          <a:lstStyle/>
          <a:p>
            <a:fld id="{D17CBCF1-D7CE-2C41-A8FB-9348FB41C55E}" type="datetime1">
              <a:rPr lang="en-US" smtClean="0"/>
              <a:t>10/24/26</a:t>
            </a:fld>
            <a:endParaRPr lang="en-US"/>
          </a:p>
        </p:txBody>
      </p:sp>
      <p:sp>
        <p:nvSpPr>
          <p:cNvPr id="5" name="Footer Placeholder 4">
            <a:extLst>
              <a:ext uri="{FF2B5EF4-FFF2-40B4-BE49-F238E27FC236}">
                <a16:creationId xmlns:a16="http://schemas.microsoft.com/office/drawing/2014/main" id="{4C68709F-B42E-EC48-8FBC-6974B5FDAC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719095-1014-2C44-87B5-A279D4057E21}"/>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668994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EE1EC-CE7B-C74E-BB21-04FB5F3ADE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AAE6E3-FAA8-2941-97DF-C2CE1A284D4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D50239-C5D9-A146-B025-534BB867B58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14A720-AF7F-EC4C-B90A-F4581F526266}"/>
              </a:ext>
            </a:extLst>
          </p:cNvPr>
          <p:cNvSpPr>
            <a:spLocks noGrp="1"/>
          </p:cNvSpPr>
          <p:nvPr>
            <p:ph type="dt" sz="half" idx="10"/>
          </p:nvPr>
        </p:nvSpPr>
        <p:spPr/>
        <p:txBody>
          <a:bodyPr/>
          <a:lstStyle/>
          <a:p>
            <a:fld id="{7BA27735-2371-C441-A5A3-C9F11F72EF2A}" type="datetime1">
              <a:rPr lang="en-US" smtClean="0"/>
              <a:t>10/24/26</a:t>
            </a:fld>
            <a:endParaRPr lang="en-US"/>
          </a:p>
        </p:txBody>
      </p:sp>
      <p:sp>
        <p:nvSpPr>
          <p:cNvPr id="6" name="Footer Placeholder 5">
            <a:extLst>
              <a:ext uri="{FF2B5EF4-FFF2-40B4-BE49-F238E27FC236}">
                <a16:creationId xmlns:a16="http://schemas.microsoft.com/office/drawing/2014/main" id="{B28DF675-B48C-E044-8D49-6F0458C801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9C3209-5E9C-C54A-ABFE-731C23683AB9}"/>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156011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392F6-6148-FE46-8B76-9B81927A05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B4AF60-1528-9842-ADC9-963520FD63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AAE9EEE-9501-B048-A51B-B54F83A8075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E756781-36D8-E34C-82CC-C088F79BE9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8D179DE-69E1-4745-A19E-ECA22982DBE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0C8571-69A9-E54B-9D56-71E69986D26C}"/>
              </a:ext>
            </a:extLst>
          </p:cNvPr>
          <p:cNvSpPr>
            <a:spLocks noGrp="1"/>
          </p:cNvSpPr>
          <p:nvPr>
            <p:ph type="dt" sz="half" idx="10"/>
          </p:nvPr>
        </p:nvSpPr>
        <p:spPr/>
        <p:txBody>
          <a:bodyPr/>
          <a:lstStyle/>
          <a:p>
            <a:fld id="{AD956192-B3CA-E648-8D9D-A184E038D705}" type="datetime1">
              <a:rPr lang="en-US" smtClean="0"/>
              <a:t>10/24/26</a:t>
            </a:fld>
            <a:endParaRPr lang="en-US"/>
          </a:p>
        </p:txBody>
      </p:sp>
      <p:sp>
        <p:nvSpPr>
          <p:cNvPr id="8" name="Footer Placeholder 7">
            <a:extLst>
              <a:ext uri="{FF2B5EF4-FFF2-40B4-BE49-F238E27FC236}">
                <a16:creationId xmlns:a16="http://schemas.microsoft.com/office/drawing/2014/main" id="{F2999DD5-63CC-1D40-B3C1-B72C788C35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B02FEF-EE56-D249-961E-050212908867}"/>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52263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2A4E9-6EC3-B04F-B29B-A2BC27A8BA6F}"/>
              </a:ext>
            </a:extLst>
          </p:cNvPr>
          <p:cNvSpPr>
            <a:spLocks noGrp="1"/>
          </p:cNvSpPr>
          <p:nvPr>
            <p:ph type="title"/>
          </p:nvPr>
        </p:nvSpPr>
        <p:spPr>
          <a:xfrm>
            <a:off x="0" y="0"/>
            <a:ext cx="12192000" cy="928688"/>
          </a:xfrm>
          <a:noFill/>
          <a:ln>
            <a:noFill/>
          </a:ln>
        </p:spPr>
        <p:txBody>
          <a:bodyPr>
            <a:normAutofit/>
          </a:bodyPr>
          <a:lstStyle>
            <a:lvl1pPr>
              <a:defRPr sz="3200" baseline="0">
                <a:solidFill>
                  <a:srgbClr val="002060"/>
                </a:solidFill>
                <a:latin typeface="+mj-lt"/>
                <a:cs typeface="Arial" panose="020B0604020202020204" pitchFamily="34" charset="0"/>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91093C0F-96B2-6F4C-8B66-4B0CDB2D2C9A}"/>
              </a:ext>
            </a:extLst>
          </p:cNvPr>
          <p:cNvSpPr>
            <a:spLocks noGrp="1"/>
          </p:cNvSpPr>
          <p:nvPr>
            <p:ph type="sldNum" sz="quarter" idx="12"/>
          </p:nvPr>
        </p:nvSpPr>
        <p:spPr>
          <a:xfrm>
            <a:off x="0" y="6492875"/>
            <a:ext cx="587829" cy="365125"/>
          </a:xfrm>
        </p:spPr>
        <p:txBody>
          <a:bodyPr/>
          <a:lstStyle>
            <a:lvl1pPr algn="l">
              <a:defRPr/>
            </a:lvl1pPr>
          </a:lstStyle>
          <a:p>
            <a:fld id="{591A223C-FA10-BC46-A853-03BA373D023C}" type="slidenum">
              <a:rPr lang="en-US" smtClean="0"/>
              <a:pPr/>
              <a:t>‹#›</a:t>
            </a:fld>
            <a:endParaRPr lang="en-US"/>
          </a:p>
        </p:txBody>
      </p:sp>
      <p:pic>
        <p:nvPicPr>
          <p:cNvPr id="6" name="Picture 5">
            <a:extLst>
              <a:ext uri="{FF2B5EF4-FFF2-40B4-BE49-F238E27FC236}">
                <a16:creationId xmlns:a16="http://schemas.microsoft.com/office/drawing/2014/main" id="{739D85A4-0845-BB4B-A1E7-C780728A20FC}"/>
              </a:ext>
            </a:extLst>
          </p:cNvPr>
          <p:cNvPicPr>
            <a:picLocks noChangeAspect="1"/>
          </p:cNvPicPr>
          <p:nvPr userDrawn="1"/>
        </p:nvPicPr>
        <p:blipFill>
          <a:blip r:embed="rId2"/>
          <a:stretch>
            <a:fillRect/>
          </a:stretch>
        </p:blipFill>
        <p:spPr>
          <a:xfrm>
            <a:off x="121919" y="675316"/>
            <a:ext cx="5083823" cy="182718"/>
          </a:xfrm>
          <a:prstGeom prst="rect">
            <a:avLst/>
          </a:prstGeom>
        </p:spPr>
      </p:pic>
      <p:pic>
        <p:nvPicPr>
          <p:cNvPr id="7" name="Picture 6">
            <a:extLst>
              <a:ext uri="{FF2B5EF4-FFF2-40B4-BE49-F238E27FC236}">
                <a16:creationId xmlns:a16="http://schemas.microsoft.com/office/drawing/2014/main" id="{DC03557D-E53B-404C-B78F-255F37EB07DF}"/>
              </a:ext>
            </a:extLst>
          </p:cNvPr>
          <p:cNvPicPr>
            <a:picLocks noChangeAspect="1"/>
          </p:cNvPicPr>
          <p:nvPr userDrawn="1"/>
        </p:nvPicPr>
        <p:blipFill>
          <a:blip r:embed="rId3">
            <a:alphaModFix amt="50000"/>
          </a:blip>
          <a:stretch>
            <a:fillRect/>
          </a:stretch>
        </p:blipFill>
        <p:spPr>
          <a:xfrm>
            <a:off x="10886028" y="6598341"/>
            <a:ext cx="1264619" cy="240382"/>
          </a:xfrm>
          <a:prstGeom prst="rect">
            <a:avLst/>
          </a:prstGeom>
        </p:spPr>
      </p:pic>
    </p:spTree>
    <p:extLst>
      <p:ext uri="{BB962C8B-B14F-4D97-AF65-F5344CB8AC3E}">
        <p14:creationId xmlns:p14="http://schemas.microsoft.com/office/powerpoint/2010/main" val="184259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2EC4A4-C438-1440-90F8-B7184BF7E717}"/>
              </a:ext>
            </a:extLst>
          </p:cNvPr>
          <p:cNvSpPr>
            <a:spLocks noGrp="1"/>
          </p:cNvSpPr>
          <p:nvPr>
            <p:ph type="dt" sz="half" idx="10"/>
          </p:nvPr>
        </p:nvSpPr>
        <p:spPr/>
        <p:txBody>
          <a:bodyPr/>
          <a:lstStyle/>
          <a:p>
            <a:fld id="{EF3CDC91-E022-1D4D-9256-A5140D3F2EA2}" type="datetime1">
              <a:rPr lang="en-US" smtClean="0"/>
              <a:t>10/24/26</a:t>
            </a:fld>
            <a:endParaRPr lang="en-US"/>
          </a:p>
        </p:txBody>
      </p:sp>
      <p:sp>
        <p:nvSpPr>
          <p:cNvPr id="3" name="Footer Placeholder 2">
            <a:extLst>
              <a:ext uri="{FF2B5EF4-FFF2-40B4-BE49-F238E27FC236}">
                <a16:creationId xmlns:a16="http://schemas.microsoft.com/office/drawing/2014/main" id="{6DCE2C64-B28C-7345-B51A-24E9603897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CAFA2F-918F-1F42-B0AE-E302BEBE934B}"/>
              </a:ext>
            </a:extLst>
          </p:cNvPr>
          <p:cNvSpPr>
            <a:spLocks noGrp="1"/>
          </p:cNvSpPr>
          <p:nvPr>
            <p:ph type="sldNum" sz="quarter" idx="12"/>
          </p:nvPr>
        </p:nvSpPr>
        <p:spPr/>
        <p:txBody>
          <a:bodyPr/>
          <a:lstStyle/>
          <a:p>
            <a:fld id="{591A223C-FA10-BC46-A853-03BA373D023C}" type="slidenum">
              <a:rPr lang="en-US" smtClean="0"/>
              <a:t>‹#›</a:t>
            </a:fld>
            <a:endParaRPr lang="en-US"/>
          </a:p>
        </p:txBody>
      </p:sp>
      <p:pic>
        <p:nvPicPr>
          <p:cNvPr id="5" name="Picture 4">
            <a:extLst>
              <a:ext uri="{FF2B5EF4-FFF2-40B4-BE49-F238E27FC236}">
                <a16:creationId xmlns:a16="http://schemas.microsoft.com/office/drawing/2014/main" id="{A4E9404A-4B8C-0E40-8D7B-AA5BB306D06E}"/>
              </a:ext>
            </a:extLst>
          </p:cNvPr>
          <p:cNvPicPr>
            <a:picLocks noChangeAspect="1"/>
          </p:cNvPicPr>
          <p:nvPr userDrawn="1"/>
        </p:nvPicPr>
        <p:blipFill>
          <a:blip r:embed="rId2">
            <a:alphaModFix amt="50000"/>
          </a:blip>
          <a:stretch>
            <a:fillRect/>
          </a:stretch>
        </p:blipFill>
        <p:spPr>
          <a:xfrm>
            <a:off x="10886028" y="6598341"/>
            <a:ext cx="1264619" cy="240382"/>
          </a:xfrm>
          <a:prstGeom prst="rect">
            <a:avLst/>
          </a:prstGeom>
        </p:spPr>
      </p:pic>
    </p:spTree>
    <p:extLst>
      <p:ext uri="{BB962C8B-B14F-4D97-AF65-F5344CB8AC3E}">
        <p14:creationId xmlns:p14="http://schemas.microsoft.com/office/powerpoint/2010/main" val="3743636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440A5-589B-1341-A678-0A459F7E8C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CB40E1-21E4-9045-A9A4-3429D73162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4D75D2E-7C69-5C4D-9A6E-CC4654B472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84A6CC8-26C5-7448-ADC5-2749D941F84E}"/>
              </a:ext>
            </a:extLst>
          </p:cNvPr>
          <p:cNvSpPr>
            <a:spLocks noGrp="1"/>
          </p:cNvSpPr>
          <p:nvPr>
            <p:ph type="dt" sz="half" idx="10"/>
          </p:nvPr>
        </p:nvSpPr>
        <p:spPr/>
        <p:txBody>
          <a:bodyPr/>
          <a:lstStyle/>
          <a:p>
            <a:fld id="{67A6211D-AE56-974B-984B-C110E12B29A2}" type="datetime1">
              <a:rPr lang="en-US" smtClean="0"/>
              <a:t>10/24/26</a:t>
            </a:fld>
            <a:endParaRPr lang="en-US"/>
          </a:p>
        </p:txBody>
      </p:sp>
      <p:sp>
        <p:nvSpPr>
          <p:cNvPr id="6" name="Footer Placeholder 5">
            <a:extLst>
              <a:ext uri="{FF2B5EF4-FFF2-40B4-BE49-F238E27FC236}">
                <a16:creationId xmlns:a16="http://schemas.microsoft.com/office/drawing/2014/main" id="{5AADDA07-5AA1-B34C-B309-62DD4C1D43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378A32-B7C4-F842-87A7-D1CD1758A2A1}"/>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644538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F7726-1F76-544A-8680-3C1AB544BA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8CB2FB-2F4A-A74A-A759-A58010D3DD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0D38E96-E545-AC4A-8D98-95FD19B67A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669DA82-266B-CC41-B1D2-F7AA15C5075D}"/>
              </a:ext>
            </a:extLst>
          </p:cNvPr>
          <p:cNvSpPr>
            <a:spLocks noGrp="1"/>
          </p:cNvSpPr>
          <p:nvPr>
            <p:ph type="dt" sz="half" idx="10"/>
          </p:nvPr>
        </p:nvSpPr>
        <p:spPr/>
        <p:txBody>
          <a:bodyPr/>
          <a:lstStyle/>
          <a:p>
            <a:fld id="{AE5A7FFF-10B1-4343-8D17-406DC86E5FAA}" type="datetime1">
              <a:rPr lang="en-US" smtClean="0"/>
              <a:t>10/24/26</a:t>
            </a:fld>
            <a:endParaRPr lang="en-US"/>
          </a:p>
        </p:txBody>
      </p:sp>
      <p:sp>
        <p:nvSpPr>
          <p:cNvPr id="6" name="Footer Placeholder 5">
            <a:extLst>
              <a:ext uri="{FF2B5EF4-FFF2-40B4-BE49-F238E27FC236}">
                <a16:creationId xmlns:a16="http://schemas.microsoft.com/office/drawing/2014/main" id="{4C5952A7-DE1B-CD46-B203-BA6A17F7F3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6A02E3-794B-DA46-8CF3-5708E566E7BD}"/>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12962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65BAA-57A4-C143-ABF5-35ABB2AF446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E9F01E-C4CF-6A43-99EC-53F5681F6DA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413C5E-E003-A247-9E6F-436CAA7B14F4}"/>
              </a:ext>
            </a:extLst>
          </p:cNvPr>
          <p:cNvSpPr>
            <a:spLocks noGrp="1"/>
          </p:cNvSpPr>
          <p:nvPr>
            <p:ph type="dt" sz="half" idx="10"/>
          </p:nvPr>
        </p:nvSpPr>
        <p:spPr/>
        <p:txBody>
          <a:bodyPr/>
          <a:lstStyle/>
          <a:p>
            <a:fld id="{DF3C6696-8618-644E-B4E1-FA4689759F24}" type="datetime1">
              <a:rPr lang="en-US" smtClean="0"/>
              <a:t>10/24/26</a:t>
            </a:fld>
            <a:endParaRPr lang="en-US"/>
          </a:p>
        </p:txBody>
      </p:sp>
      <p:sp>
        <p:nvSpPr>
          <p:cNvPr id="5" name="Footer Placeholder 4">
            <a:extLst>
              <a:ext uri="{FF2B5EF4-FFF2-40B4-BE49-F238E27FC236}">
                <a16:creationId xmlns:a16="http://schemas.microsoft.com/office/drawing/2014/main" id="{27380A45-DDA9-4C4B-830C-9D0D289275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F086D7-D0B1-6F43-A1F7-4D436CC2BE0D}"/>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272065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AA87F1-769D-CC47-ABF4-393B691AD5B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46D245-448B-7B4E-9643-1A0962794CC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8926CF-5171-4D44-9CE6-7B7960534FE4}"/>
              </a:ext>
            </a:extLst>
          </p:cNvPr>
          <p:cNvSpPr>
            <a:spLocks noGrp="1"/>
          </p:cNvSpPr>
          <p:nvPr>
            <p:ph type="dt" sz="half" idx="10"/>
          </p:nvPr>
        </p:nvSpPr>
        <p:spPr/>
        <p:txBody>
          <a:bodyPr/>
          <a:lstStyle/>
          <a:p>
            <a:fld id="{D4DB5934-BE72-FB4C-902A-D10164A603D2}" type="datetime1">
              <a:rPr lang="en-US" smtClean="0"/>
              <a:t>10/24/26</a:t>
            </a:fld>
            <a:endParaRPr lang="en-US"/>
          </a:p>
        </p:txBody>
      </p:sp>
      <p:sp>
        <p:nvSpPr>
          <p:cNvPr id="5" name="Footer Placeholder 4">
            <a:extLst>
              <a:ext uri="{FF2B5EF4-FFF2-40B4-BE49-F238E27FC236}">
                <a16:creationId xmlns:a16="http://schemas.microsoft.com/office/drawing/2014/main" id="{79ED5D8F-44E4-964B-BE01-CF913802E6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7266BE-E226-064D-8963-7A1D7859CC52}"/>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27234925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A19BAD7-D4B1-4646-B2F1-0F1275438C06}"/>
              </a:ext>
            </a:extLst>
          </p:cNvPr>
          <p:cNvSpPr>
            <a:spLocks noGrp="1"/>
          </p:cNvSpPr>
          <p:nvPr>
            <p:ph type="sldNum" sz="quarter" idx="12"/>
          </p:nvPr>
        </p:nvSpPr>
        <p:spPr>
          <a:xfrm>
            <a:off x="9448800" y="6492875"/>
            <a:ext cx="2743200" cy="365125"/>
          </a:xfrm>
        </p:spPr>
        <p:txBody>
          <a:bodyPr/>
          <a:lstStyle/>
          <a:p>
            <a:fld id="{F9755F1A-B9A0-4847-95B6-A26175A266D6}" type="slidenum">
              <a:rPr lang="en-US" smtClean="0"/>
              <a:t>‹#›</a:t>
            </a:fld>
            <a:endParaRPr lang="en-US"/>
          </a:p>
        </p:txBody>
      </p:sp>
      <p:sp>
        <p:nvSpPr>
          <p:cNvPr id="5" name="Title 1">
            <a:extLst>
              <a:ext uri="{FF2B5EF4-FFF2-40B4-BE49-F238E27FC236}">
                <a16:creationId xmlns:a16="http://schemas.microsoft.com/office/drawing/2014/main" id="{9597F359-8EEF-B34E-908B-EA6295880535}"/>
              </a:ext>
            </a:extLst>
          </p:cNvPr>
          <p:cNvSpPr>
            <a:spLocks noGrp="1"/>
          </p:cNvSpPr>
          <p:nvPr>
            <p:ph type="title"/>
          </p:nvPr>
        </p:nvSpPr>
        <p:spPr>
          <a:xfrm>
            <a:off x="0" y="0"/>
            <a:ext cx="12192000" cy="928688"/>
          </a:xfrm>
          <a:noFill/>
          <a:ln>
            <a:noFill/>
          </a:ln>
        </p:spPr>
        <p:txBody>
          <a:bodyPr>
            <a:normAutofit/>
          </a:bodyPr>
          <a:lstStyle>
            <a:lvl1pPr>
              <a:defRPr sz="3600" baseline="0">
                <a:latin typeface="+mj-lt"/>
                <a:cs typeface="Arial" panose="020B0604020202020204" pitchFamily="34" charset="0"/>
              </a:defRPr>
            </a:lvl1pPr>
          </a:lstStyle>
          <a:p>
            <a:r>
              <a:rPr lang="en-US" dirty="0"/>
              <a:t>Click to edit Master title style</a:t>
            </a:r>
          </a:p>
        </p:txBody>
      </p:sp>
      <p:cxnSp>
        <p:nvCxnSpPr>
          <p:cNvPr id="6" name="Straight Connector 5">
            <a:extLst>
              <a:ext uri="{FF2B5EF4-FFF2-40B4-BE49-F238E27FC236}">
                <a16:creationId xmlns:a16="http://schemas.microsoft.com/office/drawing/2014/main" id="{8F45FE1C-1FB3-8E43-85FC-26BA44F0D1CA}"/>
              </a:ext>
            </a:extLst>
          </p:cNvPr>
          <p:cNvCxnSpPr>
            <a:cxnSpLocks/>
          </p:cNvCxnSpPr>
          <p:nvPr userDrawn="1"/>
        </p:nvCxnSpPr>
        <p:spPr>
          <a:xfrm>
            <a:off x="121920" y="783265"/>
            <a:ext cx="3600000"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37662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MathBox">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8ED0569-BC0E-AC4B-9956-A0130DBE7C14}"/>
              </a:ext>
            </a:extLst>
          </p:cNvPr>
          <p:cNvSpPr>
            <a:spLocks noGrp="1"/>
          </p:cNvSpPr>
          <p:nvPr>
            <p:ph type="title"/>
          </p:nvPr>
        </p:nvSpPr>
        <p:spPr>
          <a:xfrm>
            <a:off x="0" y="0"/>
            <a:ext cx="11103429" cy="928688"/>
          </a:xfrm>
          <a:gradFill flip="none" rotWithShape="1">
            <a:gsLst>
              <a:gs pos="8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circle">
              <a:fillToRect l="100000" t="100000"/>
            </a:path>
            <a:tileRect r="-100000" b="-100000"/>
          </a:gradFill>
          <a:ln>
            <a:noFill/>
          </a:ln>
        </p:spPr>
        <p:txBody>
          <a:bodyPr>
            <a:normAutofit/>
          </a:bodyPr>
          <a:lstStyle>
            <a:lvl1pPr>
              <a:defRPr sz="3400" baseline="0">
                <a:latin typeface="+mj-lt"/>
                <a:cs typeface="Arial" panose="020B0604020202020204" pitchFamily="34" charset="0"/>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91093C0F-96B2-6F4C-8B66-4B0CDB2D2C9A}"/>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a:t>
            </a:fld>
            <a:endParaRPr lang="en-US"/>
          </a:p>
        </p:txBody>
      </p:sp>
      <p:pic>
        <p:nvPicPr>
          <p:cNvPr id="8" name="Picture 7">
            <a:extLst>
              <a:ext uri="{FF2B5EF4-FFF2-40B4-BE49-F238E27FC236}">
                <a16:creationId xmlns:a16="http://schemas.microsoft.com/office/drawing/2014/main" id="{B8F61E55-DA3C-CB48-9696-F88E7D4421DD}"/>
              </a:ext>
            </a:extLst>
          </p:cNvPr>
          <p:cNvPicPr>
            <a:picLocks noChangeAspect="1"/>
          </p:cNvPicPr>
          <p:nvPr userDrawn="1"/>
        </p:nvPicPr>
        <p:blipFill>
          <a:blip r:embed="rId2"/>
          <a:stretch>
            <a:fillRect/>
          </a:stretch>
        </p:blipFill>
        <p:spPr>
          <a:xfrm>
            <a:off x="121919" y="675316"/>
            <a:ext cx="5083823" cy="182718"/>
          </a:xfrm>
          <a:prstGeom prst="rect">
            <a:avLst/>
          </a:prstGeom>
        </p:spPr>
      </p:pic>
      <p:sp>
        <p:nvSpPr>
          <p:cNvPr id="2" name="Rounded Rectangle 1">
            <a:extLst>
              <a:ext uri="{FF2B5EF4-FFF2-40B4-BE49-F238E27FC236}">
                <a16:creationId xmlns:a16="http://schemas.microsoft.com/office/drawing/2014/main" id="{87EDEA9E-CC9F-D844-A9C8-5F5279A644DD}"/>
              </a:ext>
            </a:extLst>
          </p:cNvPr>
          <p:cNvSpPr/>
          <p:nvPr userDrawn="1"/>
        </p:nvSpPr>
        <p:spPr>
          <a:xfrm>
            <a:off x="0" y="928688"/>
            <a:ext cx="12192000" cy="5929312"/>
          </a:xfrm>
          <a:prstGeom prst="roundRect">
            <a:avLst>
              <a:gd name="adj" fmla="val 3550"/>
            </a:avLst>
          </a:prstGeom>
          <a:noFill/>
          <a:ln w="5080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50B9F3F-AB52-DA4F-B1B7-9B0467277E6D}"/>
              </a:ext>
            </a:extLst>
          </p:cNvPr>
          <p:cNvPicPr>
            <a:picLocks noChangeAspect="1"/>
          </p:cNvPicPr>
          <p:nvPr userDrawn="1"/>
        </p:nvPicPr>
        <p:blipFill>
          <a:blip r:embed="rId3"/>
          <a:stretch>
            <a:fillRect/>
          </a:stretch>
        </p:blipFill>
        <p:spPr>
          <a:xfrm>
            <a:off x="11222468" y="111279"/>
            <a:ext cx="675746" cy="675746"/>
          </a:xfrm>
          <a:prstGeom prst="rect">
            <a:avLst/>
          </a:prstGeom>
        </p:spPr>
      </p:pic>
    </p:spTree>
    <p:extLst>
      <p:ext uri="{BB962C8B-B14F-4D97-AF65-F5344CB8AC3E}">
        <p14:creationId xmlns:p14="http://schemas.microsoft.com/office/powerpoint/2010/main" val="1212375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QMBox">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8ED0569-BC0E-AC4B-9956-A0130DBE7C14}"/>
              </a:ext>
            </a:extLst>
          </p:cNvPr>
          <p:cNvSpPr>
            <a:spLocks noGrp="1"/>
          </p:cNvSpPr>
          <p:nvPr>
            <p:ph type="title"/>
          </p:nvPr>
        </p:nvSpPr>
        <p:spPr>
          <a:xfrm>
            <a:off x="0" y="0"/>
            <a:ext cx="12192000" cy="928688"/>
          </a:xfrm>
          <a:gradFill flip="none" rotWithShape="1">
            <a:gsLst>
              <a:gs pos="0">
                <a:schemeClr val="accent6">
                  <a:lumMod val="5000"/>
                  <a:lumOff val="95000"/>
                  <a:alpha val="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10800000" scaled="1"/>
            <a:tileRect/>
          </a:gradFill>
          <a:ln>
            <a:noFill/>
          </a:ln>
        </p:spPr>
        <p:txBody>
          <a:bodyPr>
            <a:normAutofit/>
          </a:bodyPr>
          <a:lstStyle>
            <a:lvl1pPr>
              <a:defRPr sz="3400" baseline="0">
                <a:latin typeface="+mj-lt"/>
                <a:cs typeface="Arial" panose="020B0604020202020204" pitchFamily="34" charset="0"/>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91093C0F-96B2-6F4C-8B66-4B0CDB2D2C9A}"/>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a:t>
            </a:fld>
            <a:endParaRPr lang="en-US"/>
          </a:p>
        </p:txBody>
      </p:sp>
      <p:pic>
        <p:nvPicPr>
          <p:cNvPr id="8" name="Picture 7">
            <a:extLst>
              <a:ext uri="{FF2B5EF4-FFF2-40B4-BE49-F238E27FC236}">
                <a16:creationId xmlns:a16="http://schemas.microsoft.com/office/drawing/2014/main" id="{B8F61E55-DA3C-CB48-9696-F88E7D4421DD}"/>
              </a:ext>
            </a:extLst>
          </p:cNvPr>
          <p:cNvPicPr>
            <a:picLocks noChangeAspect="1"/>
          </p:cNvPicPr>
          <p:nvPr userDrawn="1"/>
        </p:nvPicPr>
        <p:blipFill>
          <a:blip r:embed="rId2"/>
          <a:stretch>
            <a:fillRect/>
          </a:stretch>
        </p:blipFill>
        <p:spPr>
          <a:xfrm>
            <a:off x="121919" y="675316"/>
            <a:ext cx="5083823" cy="182718"/>
          </a:xfrm>
          <a:prstGeom prst="rect">
            <a:avLst/>
          </a:prstGeom>
        </p:spPr>
      </p:pic>
      <p:sp>
        <p:nvSpPr>
          <p:cNvPr id="2" name="Rounded Rectangle 1">
            <a:extLst>
              <a:ext uri="{FF2B5EF4-FFF2-40B4-BE49-F238E27FC236}">
                <a16:creationId xmlns:a16="http://schemas.microsoft.com/office/drawing/2014/main" id="{87EDEA9E-CC9F-D844-A9C8-5F5279A644DD}"/>
              </a:ext>
            </a:extLst>
          </p:cNvPr>
          <p:cNvSpPr/>
          <p:nvPr userDrawn="1"/>
        </p:nvSpPr>
        <p:spPr>
          <a:xfrm>
            <a:off x="0" y="928688"/>
            <a:ext cx="12192000" cy="5929312"/>
          </a:xfrm>
          <a:prstGeom prst="roundRect">
            <a:avLst>
              <a:gd name="adj" fmla="val 3550"/>
            </a:avLst>
          </a:prstGeom>
          <a:noFill/>
          <a:ln w="508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18B1DED-A97D-9F49-ADD7-83A254340500}"/>
              </a:ext>
            </a:extLst>
          </p:cNvPr>
          <p:cNvPicPr>
            <a:picLocks noChangeAspect="1"/>
          </p:cNvPicPr>
          <p:nvPr userDrawn="1"/>
        </p:nvPicPr>
        <p:blipFill>
          <a:blip r:embed="rId3"/>
          <a:stretch>
            <a:fillRect/>
          </a:stretch>
        </p:blipFill>
        <p:spPr>
          <a:xfrm>
            <a:off x="11222826" y="47388"/>
            <a:ext cx="709176" cy="792000"/>
          </a:xfrm>
          <a:prstGeom prst="rect">
            <a:avLst/>
          </a:prstGeom>
        </p:spPr>
      </p:pic>
    </p:spTree>
    <p:extLst>
      <p:ext uri="{BB962C8B-B14F-4D97-AF65-F5344CB8AC3E}">
        <p14:creationId xmlns:p14="http://schemas.microsoft.com/office/powerpoint/2010/main" val="3047012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A8E703-F9A8-0441-A9C1-970176EA14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D3E870-AE9A-814D-8F1C-424E01F68B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CDA625-67E6-FC41-AE05-BDF6D62186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95C081-EA16-A444-838F-7A9CF60C5F71}" type="datetime1">
              <a:rPr lang="en-US" smtClean="0"/>
              <a:t>10/24/26</a:t>
            </a:fld>
            <a:endParaRPr lang="en-US"/>
          </a:p>
        </p:txBody>
      </p:sp>
      <p:sp>
        <p:nvSpPr>
          <p:cNvPr id="5" name="Footer Placeholder 4">
            <a:extLst>
              <a:ext uri="{FF2B5EF4-FFF2-40B4-BE49-F238E27FC236}">
                <a16:creationId xmlns:a16="http://schemas.microsoft.com/office/drawing/2014/main" id="{C2CC2541-8D10-844A-AACF-A9080B4FC7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7ED89E2-F822-BE4F-A114-8B2AC36CD9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1A223C-FA10-BC46-A853-03BA373D023C}" type="slidenum">
              <a:rPr lang="en-US" smtClean="0"/>
              <a:t>‹#›</a:t>
            </a:fld>
            <a:endParaRPr lang="en-US"/>
          </a:p>
        </p:txBody>
      </p:sp>
    </p:spTree>
    <p:extLst>
      <p:ext uri="{BB962C8B-B14F-4D97-AF65-F5344CB8AC3E}">
        <p14:creationId xmlns:p14="http://schemas.microsoft.com/office/powerpoint/2010/main" val="4111587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510.png"/><Relationship Id="rId7" Type="http://schemas.openxmlformats.org/officeDocument/2006/relationships/image" Target="../media/image42.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41.png"/><Relationship Id="rId11" Type="http://schemas.openxmlformats.org/officeDocument/2006/relationships/image" Target="../media/image8.png"/><Relationship Id="rId10" Type="http://schemas.openxmlformats.org/officeDocument/2006/relationships/image" Target="../media/image79.png"/><Relationship Id="rId9" Type="http://schemas.openxmlformats.org/officeDocument/2006/relationships/image" Target="../media/image612.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33.png"/><Relationship Id="rId18" Type="http://schemas.openxmlformats.org/officeDocument/2006/relationships/image" Target="../media/image9.png"/><Relationship Id="rId3" Type="http://schemas.openxmlformats.org/officeDocument/2006/relationships/image" Target="../media/image30.png"/><Relationship Id="rId7" Type="http://schemas.openxmlformats.org/officeDocument/2006/relationships/image" Target="../media/image10.png"/><Relationship Id="rId12" Type="http://schemas.openxmlformats.org/officeDocument/2006/relationships/image" Target="../media/image32.png"/><Relationship Id="rId17" Type="http://schemas.openxmlformats.org/officeDocument/2006/relationships/image" Target="../media/image370.png"/><Relationship Id="rId2" Type="http://schemas.openxmlformats.org/officeDocument/2006/relationships/notesSlide" Target="../notesSlides/notesSlide5.xml"/><Relationship Id="rId16" Type="http://schemas.openxmlformats.org/officeDocument/2006/relationships/image" Target="../media/image360.png"/><Relationship Id="rId1" Type="http://schemas.openxmlformats.org/officeDocument/2006/relationships/slideLayout" Target="../slideLayouts/slideLayout6.xml"/><Relationship Id="rId6" Type="http://schemas.openxmlformats.org/officeDocument/2006/relationships/image" Target="../media/image44.png"/><Relationship Id="rId11" Type="http://schemas.openxmlformats.org/officeDocument/2006/relationships/image" Target="../media/image31.png"/><Relationship Id="rId5" Type="http://schemas.openxmlformats.org/officeDocument/2006/relationships/image" Target="../media/image46.png"/><Relationship Id="rId15" Type="http://schemas.openxmlformats.org/officeDocument/2006/relationships/image" Target="../media/image350.png"/><Relationship Id="rId10" Type="http://schemas.openxmlformats.org/officeDocument/2006/relationships/image" Target="../media/image11.png"/><Relationship Id="rId4" Type="http://schemas.openxmlformats.org/officeDocument/2006/relationships/image" Target="../media/image45.png"/><Relationship Id="rId9" Type="http://schemas.openxmlformats.org/officeDocument/2006/relationships/image" Target="../media/image17.png"/><Relationship Id="rId14" Type="http://schemas.openxmlformats.org/officeDocument/2006/relationships/image" Target="../media/image340.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9.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22.png"/><Relationship Id="rId5" Type="http://schemas.openxmlformats.org/officeDocument/2006/relationships/image" Target="../media/image910.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3.sv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21.png"/><Relationship Id="rId18" Type="http://schemas.openxmlformats.org/officeDocument/2006/relationships/image" Target="../media/image250.png"/><Relationship Id="rId3" Type="http://schemas.openxmlformats.org/officeDocument/2006/relationships/image" Target="../media/image560.png"/><Relationship Id="rId21" Type="http://schemas.openxmlformats.org/officeDocument/2006/relationships/image" Target="../media/image1311.png"/><Relationship Id="rId7" Type="http://schemas.openxmlformats.org/officeDocument/2006/relationships/image" Target="../media/image60.png"/><Relationship Id="rId12" Type="http://schemas.openxmlformats.org/officeDocument/2006/relationships/image" Target="../media/image65.png"/><Relationship Id="rId25" Type="http://schemas.openxmlformats.org/officeDocument/2006/relationships/image" Target="../media/image28.png"/><Relationship Id="rId2" Type="http://schemas.openxmlformats.org/officeDocument/2006/relationships/notesSlide" Target="../notesSlides/notesSlide8.xml"/><Relationship Id="rId20" Type="http://schemas.openxmlformats.org/officeDocument/2006/relationships/image" Target="../media/image127.png"/><Relationship Id="rId1" Type="http://schemas.openxmlformats.org/officeDocument/2006/relationships/slideLayout" Target="../slideLayouts/slideLayout6.xml"/><Relationship Id="rId24" Type="http://schemas.openxmlformats.org/officeDocument/2006/relationships/image" Target="../media/image27.png"/><Relationship Id="rId15" Type="http://schemas.openxmlformats.org/officeDocument/2006/relationships/image" Target="../media/image23.png"/><Relationship Id="rId23" Type="http://schemas.openxmlformats.org/officeDocument/2006/relationships/image" Target="../media/image26.png"/><Relationship Id="rId10" Type="http://schemas.openxmlformats.org/officeDocument/2006/relationships/image" Target="../media/image192.png"/><Relationship Id="rId19" Type="http://schemas.openxmlformats.org/officeDocument/2006/relationships/image" Target="../media/image260.png"/><Relationship Id="rId9" Type="http://schemas.openxmlformats.org/officeDocument/2006/relationships/image" Target="../media/image181.png"/><Relationship Id="rId4" Type="http://schemas.openxmlformats.org/officeDocument/2006/relationships/image" Target="../media/image570.png"/><Relationship Id="rId14" Type="http://schemas.openxmlformats.org/officeDocument/2006/relationships/image" Target="../media/image18.png"/><Relationship Id="rId22" Type="http://schemas.openxmlformats.org/officeDocument/2006/relationships/image" Target="../media/image1410.png"/></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diagramColors" Target="../diagrams/colors1.xml"/><Relationship Id="rId11" Type="http://schemas.openxmlformats.org/officeDocument/2006/relationships/diagramColors" Target="../diagrams/colors1.xml"/><Relationship Id="rId5" Type="http://schemas.openxmlformats.org/officeDocument/2006/relationships/diagramQuickStyle" Target="../diagrams/quickStyle1.xml"/><Relationship Id="rId10"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8.tiff"/><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331.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361.png"/><Relationship Id="rId5" Type="http://schemas.openxmlformats.org/officeDocument/2006/relationships/image" Target="../media/image341.png"/><Relationship Id="rId4" Type="http://schemas.openxmlformats.org/officeDocument/2006/relationships/image" Target="../media/image351.pn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image" Target="../media/image393.png"/><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7.png"/><Relationship Id="rId7" Type="http://schemas.openxmlformats.org/officeDocument/2006/relationships/image" Target="../media/image5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49.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0.png"/><Relationship Id="rId9" Type="http://schemas.openxmlformats.org/officeDocument/2006/relationships/image" Target="../media/image52.png"/></Relationships>
</file>

<file path=ppt/slides/_rels/slide18.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591.png"/><Relationship Id="rId7" Type="http://schemas.openxmlformats.org/officeDocument/2006/relationships/image" Target="../media/image40.sv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39.png"/><Relationship Id="rId11" Type="http://schemas.openxmlformats.org/officeDocument/2006/relationships/image" Target="../media/image69.png"/><Relationship Id="rId5" Type="http://schemas.openxmlformats.org/officeDocument/2006/relationships/image" Target="../media/image241.png"/><Relationship Id="rId10" Type="http://schemas.openxmlformats.org/officeDocument/2006/relationships/image" Target="../media/image68.png"/><Relationship Id="rId4" Type="http://schemas.openxmlformats.org/officeDocument/2006/relationships/image" Target="../media/image235.png"/><Relationship Id="rId9" Type="http://schemas.openxmlformats.org/officeDocument/2006/relationships/image" Target="../media/image67.png"/></Relationships>
</file>

<file path=ppt/slides/_rels/slide19.xml.rels><?xml version="1.0" encoding="UTF-8" standalone="yes"?>
<Relationships xmlns="http://schemas.openxmlformats.org/package/2006/relationships"><Relationship Id="rId8" Type="http://schemas.openxmlformats.org/officeDocument/2006/relationships/image" Target="../media/image3600.png"/><Relationship Id="rId3" Type="http://schemas.openxmlformats.org/officeDocument/2006/relationships/image" Target="../media/image310.png"/><Relationship Id="rId7" Type="http://schemas.openxmlformats.org/officeDocument/2006/relationships/image" Target="../media/image3500.png"/><Relationship Id="rId12" Type="http://schemas.openxmlformats.org/officeDocument/2006/relationships/image" Target="../media/image42.tiff"/><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3400.png"/><Relationship Id="rId11" Type="http://schemas.openxmlformats.org/officeDocument/2006/relationships/image" Target="../media/image41.tiff"/><Relationship Id="rId5" Type="http://schemas.openxmlformats.org/officeDocument/2006/relationships/image" Target="../media/image330.png"/><Relationship Id="rId10" Type="http://schemas.openxmlformats.org/officeDocument/2006/relationships/image" Target="../media/image380.png"/><Relationship Id="rId4" Type="http://schemas.openxmlformats.org/officeDocument/2006/relationships/image" Target="../media/image320.png"/><Relationship Id="rId9" Type="http://schemas.openxmlformats.org/officeDocument/2006/relationships/image" Target="../media/image3700.png"/></Relationships>
</file>

<file path=ppt/slides/_rels/slide20.xml.rels><?xml version="1.0" encoding="UTF-8" standalone="yes"?>
<Relationships xmlns="http://schemas.openxmlformats.org/package/2006/relationships"><Relationship Id="rId3" Type="http://schemas.openxmlformats.org/officeDocument/2006/relationships/image" Target="../media/image43.tiff"/><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55.tiff"/><Relationship Id="rId5" Type="http://schemas.openxmlformats.org/officeDocument/2006/relationships/image" Target="../media/image54.png"/><Relationship Id="rId4" Type="http://schemas.openxmlformats.org/officeDocument/2006/relationships/image" Target="../media/image44.tiff"/></Relationships>
</file>

<file path=ppt/slides/_rels/slide2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1.xml"/><Relationship Id="rId1" Type="http://schemas.openxmlformats.org/officeDocument/2006/relationships/slideLayout" Target="../slideLayouts/slideLayout6.xml"/><Relationship Id="rId5" Type="http://schemas.openxmlformats.org/officeDocument/2006/relationships/image" Target="../media/image631.png"/></Relationships>
</file>

<file path=ppt/slides/_rels/slide22.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71.png"/><Relationship Id="rId3" Type="http://schemas.openxmlformats.org/officeDocument/2006/relationships/image" Target="../media/image542.png"/><Relationship Id="rId7" Type="http://schemas.openxmlformats.org/officeDocument/2006/relationships/image" Target="../media/image58.png"/><Relationship Id="rId12" Type="http://schemas.openxmlformats.org/officeDocument/2006/relationships/image" Target="../media/image70.png"/><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57.png"/><Relationship Id="rId11" Type="http://schemas.openxmlformats.org/officeDocument/2006/relationships/image" Target="../media/image64.png"/><Relationship Id="rId5" Type="http://schemas.openxmlformats.org/officeDocument/2006/relationships/image" Target="../media/image56.png"/><Relationship Id="rId15" Type="http://schemas.openxmlformats.org/officeDocument/2006/relationships/image" Target="../media/image73.png"/><Relationship Id="rId10" Type="http://schemas.openxmlformats.org/officeDocument/2006/relationships/image" Target="../media/image63.png"/><Relationship Id="rId4" Type="http://schemas.openxmlformats.org/officeDocument/2006/relationships/image" Target="../media/image55.png"/><Relationship Id="rId9" Type="http://schemas.openxmlformats.org/officeDocument/2006/relationships/image" Target="../media/image625.png"/><Relationship Id="rId14" Type="http://schemas.openxmlformats.org/officeDocument/2006/relationships/image" Target="../media/image72.png"/></Relationships>
</file>

<file path=ppt/slides/_rels/slide2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24.xml.rels><?xml version="1.0" encoding="UTF-8" standalone="yes"?>
<Relationships xmlns="http://schemas.openxmlformats.org/package/2006/relationships"><Relationship Id="rId3" Type="http://schemas.openxmlformats.org/officeDocument/2006/relationships/image" Target="../media/image63.tiff"/><Relationship Id="rId2" Type="http://schemas.openxmlformats.org/officeDocument/2006/relationships/notesSlide" Target="../notesSlides/notesSlide24.xml"/><Relationship Id="rId1" Type="http://schemas.openxmlformats.org/officeDocument/2006/relationships/slideLayout" Target="../slideLayouts/slideLayout6.xml"/><Relationship Id="rId6" Type="http://schemas.openxmlformats.org/officeDocument/2006/relationships/image" Target="../media/image571.png"/><Relationship Id="rId5" Type="http://schemas.openxmlformats.org/officeDocument/2006/relationships/image" Target="../media/image562.png"/><Relationship Id="rId4" Type="http://schemas.openxmlformats.org/officeDocument/2006/relationships/image" Target="../media/image550.png"/></Relationships>
</file>

<file path=ppt/slides/_rels/slide25.xml.rels><?xml version="1.0" encoding="UTF-8" standalone="yes"?>
<Relationships xmlns="http://schemas.openxmlformats.org/package/2006/relationships"><Relationship Id="rId8" Type="http://schemas.openxmlformats.org/officeDocument/2006/relationships/image" Target="../media/image630.png"/><Relationship Id="rId3" Type="http://schemas.openxmlformats.org/officeDocument/2006/relationships/image" Target="../media/image581.png"/><Relationship Id="rId7" Type="http://schemas.openxmlformats.org/officeDocument/2006/relationships/image" Target="../media/image621.png"/><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image" Target="../media/image611.png"/><Relationship Id="rId5" Type="http://schemas.openxmlformats.org/officeDocument/2006/relationships/image" Target="../media/image600.png"/><Relationship Id="rId4" Type="http://schemas.openxmlformats.org/officeDocument/2006/relationships/image" Target="../media/image590.png"/></Relationships>
</file>

<file path=ppt/slides/_rels/slide26.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582.png"/><Relationship Id="rId7" Type="http://schemas.openxmlformats.org/officeDocument/2006/relationships/image" Target="../media/image84.png"/><Relationship Id="rId2" Type="http://schemas.openxmlformats.org/officeDocument/2006/relationships/notesSlide" Target="../notesSlides/notesSlide26.xml"/><Relationship Id="rId1" Type="http://schemas.openxmlformats.org/officeDocument/2006/relationships/slideLayout" Target="../slideLayouts/slideLayout6.xml"/><Relationship Id="rId5" Type="http://schemas.openxmlformats.org/officeDocument/2006/relationships/image" Target="../media/image660.png"/><Relationship Id="rId4" Type="http://schemas.openxmlformats.org/officeDocument/2006/relationships/image" Target="../media/image641.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680.png"/><Relationship Id="rId7" Type="http://schemas.openxmlformats.org/officeDocument/2006/relationships/image" Target="../media/image85.png"/><Relationship Id="rId2" Type="http://schemas.openxmlformats.org/officeDocument/2006/relationships/notesSlide" Target="../notesSlides/notesSlide27.xml"/><Relationship Id="rId1" Type="http://schemas.openxmlformats.org/officeDocument/2006/relationships/slideLayout" Target="../slideLayouts/slideLayout6.xml"/><Relationship Id="rId6" Type="http://schemas.openxmlformats.org/officeDocument/2006/relationships/image" Target="../media/image710.png"/><Relationship Id="rId5" Type="http://schemas.openxmlformats.org/officeDocument/2006/relationships/image" Target="../media/image701.png"/><Relationship Id="rId4" Type="http://schemas.openxmlformats.org/officeDocument/2006/relationships/image" Target="../media/image690.png"/></Relationships>
</file>

<file path=ppt/slides/_rels/slide28.xml.rels><?xml version="1.0" encoding="UTF-8" standalone="yes"?>
<Relationships xmlns="http://schemas.openxmlformats.org/package/2006/relationships"><Relationship Id="rId3" Type="http://schemas.openxmlformats.org/officeDocument/2006/relationships/image" Target="../media/image63.tiff"/><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8" Type="http://schemas.openxmlformats.org/officeDocument/2006/relationships/image" Target="../media/image820.png"/><Relationship Id="rId26" Type="http://schemas.openxmlformats.org/officeDocument/2006/relationships/image" Target="../media/image90.png"/><Relationship Id="rId3" Type="http://schemas.openxmlformats.org/officeDocument/2006/relationships/image" Target="../media/image86.png"/><Relationship Id="rId21" Type="http://schemas.openxmlformats.org/officeDocument/2006/relationships/image" Target="../media/image850.png"/><Relationship Id="rId17" Type="http://schemas.openxmlformats.org/officeDocument/2006/relationships/image" Target="../media/image810.png"/><Relationship Id="rId12" Type="http://schemas.openxmlformats.org/officeDocument/2006/relationships/image" Target="../media/image760.png"/><Relationship Id="rId25" Type="http://schemas.openxmlformats.org/officeDocument/2006/relationships/image" Target="../media/image89.png"/><Relationship Id="rId2" Type="http://schemas.openxmlformats.org/officeDocument/2006/relationships/notesSlide" Target="../notesSlides/notesSlide29.xml"/><Relationship Id="rId16" Type="http://schemas.openxmlformats.org/officeDocument/2006/relationships/image" Target="../media/image800.png"/><Relationship Id="rId20" Type="http://schemas.openxmlformats.org/officeDocument/2006/relationships/image" Target="../media/image840.png"/><Relationship Id="rId1" Type="http://schemas.openxmlformats.org/officeDocument/2006/relationships/slideLayout" Target="../slideLayouts/slideLayout6.xml"/><Relationship Id="rId11" Type="http://schemas.openxmlformats.org/officeDocument/2006/relationships/image" Target="../media/image750.png"/><Relationship Id="rId24" Type="http://schemas.openxmlformats.org/officeDocument/2006/relationships/image" Target="../media/image88.png"/><Relationship Id="rId5" Type="http://schemas.openxmlformats.org/officeDocument/2006/relationships/image" Target="../media/image620.png"/><Relationship Id="rId15" Type="http://schemas.openxmlformats.org/officeDocument/2006/relationships/image" Target="../media/image790.png"/><Relationship Id="rId23" Type="http://schemas.openxmlformats.org/officeDocument/2006/relationships/image" Target="../media/image87.png"/><Relationship Id="rId28" Type="http://schemas.openxmlformats.org/officeDocument/2006/relationships/image" Target="../media/image92.png"/><Relationship Id="rId19" Type="http://schemas.openxmlformats.org/officeDocument/2006/relationships/image" Target="../media/image830.png"/><Relationship Id="rId10" Type="http://schemas.openxmlformats.org/officeDocument/2006/relationships/image" Target="../media/image740.png"/><Relationship Id="rId14" Type="http://schemas.openxmlformats.org/officeDocument/2006/relationships/image" Target="../media/image780.png"/><Relationship Id="rId22" Type="http://schemas.openxmlformats.org/officeDocument/2006/relationships/image" Target="../media/image860.png"/><Relationship Id="rId9" Type="http://schemas.openxmlformats.org/officeDocument/2006/relationships/image" Target="../media/image730.png"/><Relationship Id="rId27" Type="http://schemas.openxmlformats.org/officeDocument/2006/relationships/image" Target="../media/image91.png"/></Relationships>
</file>

<file path=ppt/slides/_rels/slide30.xml.rels><?xml version="1.0" encoding="UTF-8" standalone="yes"?>
<Relationships xmlns="http://schemas.openxmlformats.org/package/2006/relationships"><Relationship Id="rId3" Type="http://schemas.openxmlformats.org/officeDocument/2006/relationships/image" Target="../media/image64.tiff"/><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225.png"/><Relationship Id="rId13" Type="http://schemas.openxmlformats.org/officeDocument/2006/relationships/image" Target="../media/image1900.png"/><Relationship Id="rId3" Type="http://schemas.openxmlformats.org/officeDocument/2006/relationships/image" Target="../media/image541.png"/><Relationship Id="rId7" Type="http://schemas.openxmlformats.org/officeDocument/2006/relationships/image" Target="../media/image2112.png"/><Relationship Id="rId12" Type="http://schemas.openxmlformats.org/officeDocument/2006/relationships/image" Target="../media/image1880.png"/><Relationship Id="rId2" Type="http://schemas.openxmlformats.org/officeDocument/2006/relationships/notesSlide" Target="../notesSlides/notesSlide31.xml"/><Relationship Id="rId1" Type="http://schemas.openxmlformats.org/officeDocument/2006/relationships/slideLayout" Target="../slideLayouts/slideLayout13.xml"/><Relationship Id="rId11" Type="http://schemas.openxmlformats.org/officeDocument/2006/relationships/image" Target="../media/image1870.png"/><Relationship Id="rId15" Type="http://schemas.openxmlformats.org/officeDocument/2006/relationships/image" Target="../media/image227.png"/><Relationship Id="rId9" Type="http://schemas.openxmlformats.org/officeDocument/2006/relationships/image" Target="../media/image226.png"/><Relationship Id="rId14" Type="http://schemas.openxmlformats.org/officeDocument/2006/relationships/image" Target="../media/image1910.png"/></Relationships>
</file>

<file path=ppt/slides/_rels/slide32.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772.png"/><Relationship Id="rId3" Type="http://schemas.openxmlformats.org/officeDocument/2006/relationships/image" Target="../media/image65.tiff"/><Relationship Id="rId7" Type="http://schemas.openxmlformats.org/officeDocument/2006/relationships/image" Target="../media/image75.png"/><Relationship Id="rId2" Type="http://schemas.openxmlformats.org/officeDocument/2006/relationships/notesSlide" Target="../notesSlides/notesSlide32.xml"/><Relationship Id="rId1" Type="http://schemas.openxmlformats.org/officeDocument/2006/relationships/slideLayout" Target="../slideLayouts/slideLayout6.xml"/><Relationship Id="rId6" Type="http://schemas.openxmlformats.org/officeDocument/2006/relationships/image" Target="../media/image624.png"/><Relationship Id="rId5" Type="http://schemas.openxmlformats.org/officeDocument/2006/relationships/image" Target="../media/image66.tiff"/><Relationship Id="rId4" Type="http://schemas.openxmlformats.org/officeDocument/2006/relationships/image" Target="../media/image584.png"/></Relationships>
</file>

<file path=ppt/slides/_rels/slide33.xml.rels><?xml version="1.0" encoding="UTF-8" standalone="yes"?>
<Relationships xmlns="http://schemas.openxmlformats.org/package/2006/relationships"><Relationship Id="rId8" Type="http://schemas.openxmlformats.org/officeDocument/2006/relationships/image" Target="../media/image741.png"/><Relationship Id="rId26" Type="http://schemas.openxmlformats.org/officeDocument/2006/relationships/image" Target="../media/image623.png"/><Relationship Id="rId39" Type="http://schemas.openxmlformats.org/officeDocument/2006/relationships/image" Target="../media/image98.png"/><Relationship Id="rId34" Type="http://schemas.openxmlformats.org/officeDocument/2006/relationships/image" Target="../media/image93.png"/><Relationship Id="rId25" Type="http://schemas.openxmlformats.org/officeDocument/2006/relationships/image" Target="../media/image594.png"/><Relationship Id="rId33" Type="http://schemas.openxmlformats.org/officeDocument/2006/relationships/image" Target="../media/image83.png"/><Relationship Id="rId38" Type="http://schemas.openxmlformats.org/officeDocument/2006/relationships/image" Target="../media/image97.png"/><Relationship Id="rId2" Type="http://schemas.openxmlformats.org/officeDocument/2006/relationships/notesSlide" Target="../notesSlides/notesSlide33.xml"/><Relationship Id="rId29"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731.png"/><Relationship Id="rId24" Type="http://schemas.openxmlformats.org/officeDocument/2006/relationships/image" Target="../media/image99.png"/><Relationship Id="rId32" Type="http://schemas.openxmlformats.org/officeDocument/2006/relationships/image" Target="../media/image82.png"/><Relationship Id="rId37" Type="http://schemas.openxmlformats.org/officeDocument/2006/relationships/image" Target="../media/image96.png"/><Relationship Id="rId40" Type="http://schemas.openxmlformats.org/officeDocument/2006/relationships/image" Target="../media/image100.png"/><Relationship Id="rId28" Type="http://schemas.openxmlformats.org/officeDocument/2006/relationships/image" Target="../media/image771.png"/><Relationship Id="rId36" Type="http://schemas.openxmlformats.org/officeDocument/2006/relationships/image" Target="../media/image95.png"/><Relationship Id="rId31" Type="http://schemas.openxmlformats.org/officeDocument/2006/relationships/image" Target="../media/image811.png"/><Relationship Id="rId9" Type="http://schemas.openxmlformats.org/officeDocument/2006/relationships/image" Target="../media/image970.png"/><Relationship Id="rId27" Type="http://schemas.openxmlformats.org/officeDocument/2006/relationships/image" Target="../media/image752.png"/><Relationship Id="rId30" Type="http://schemas.openxmlformats.org/officeDocument/2006/relationships/image" Target="../media/image80.png"/><Relationship Id="rId35" Type="http://schemas.openxmlformats.org/officeDocument/2006/relationships/image" Target="../media/image94.png"/></Relationships>
</file>

<file path=ppt/slides/_rels/slide3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102.png"/><Relationship Id="rId4" Type="http://schemas.openxmlformats.org/officeDocument/2006/relationships/image" Target="../media/image101.png"/></Relationships>
</file>

<file path=ppt/slides/_rels/slide35.xml.rels><?xml version="1.0" encoding="UTF-8" standalone="yes"?>
<Relationships xmlns="http://schemas.openxmlformats.org/package/2006/relationships"><Relationship Id="rId8" Type="http://schemas.openxmlformats.org/officeDocument/2006/relationships/image" Target="../media/image920.png"/><Relationship Id="rId13" Type="http://schemas.openxmlformats.org/officeDocument/2006/relationships/image" Target="../media/image105.tiff"/><Relationship Id="rId3" Type="http://schemas.openxmlformats.org/officeDocument/2006/relationships/image" Target="../media/image103.emf"/><Relationship Id="rId12" Type="http://schemas.openxmlformats.org/officeDocument/2006/relationships/image" Target="../media/image9600.png"/><Relationship Id="rId2" Type="http://schemas.openxmlformats.org/officeDocument/2006/relationships/notesSlide" Target="../notesSlides/notesSlide35.xml"/><Relationship Id="rId1" Type="http://schemas.openxmlformats.org/officeDocument/2006/relationships/slideLayout" Target="../slideLayouts/slideLayout6.xml"/><Relationship Id="rId6" Type="http://schemas.openxmlformats.org/officeDocument/2006/relationships/image" Target="../media/image1061.png"/><Relationship Id="rId11" Type="http://schemas.openxmlformats.org/officeDocument/2006/relationships/image" Target="../media/image9500.png"/><Relationship Id="rId5" Type="http://schemas.openxmlformats.org/officeDocument/2006/relationships/image" Target="../media/image104.tiff"/><Relationship Id="rId10" Type="http://schemas.openxmlformats.org/officeDocument/2006/relationships/image" Target="../media/image9400.png"/><Relationship Id="rId4" Type="http://schemas.openxmlformats.org/officeDocument/2006/relationships/image" Target="../media/image1041.png"/><Relationship Id="rId9" Type="http://schemas.openxmlformats.org/officeDocument/2006/relationships/image" Target="../media/image930.png"/></Relationships>
</file>

<file path=ppt/slides/_rels/slide36.xml.rels><?xml version="1.0" encoding="UTF-8" standalone="yes"?>
<Relationships xmlns="http://schemas.openxmlformats.org/package/2006/relationships"><Relationship Id="rId13" Type="http://schemas.openxmlformats.org/officeDocument/2006/relationships/image" Target="../media/image513.png"/><Relationship Id="rId3" Type="http://schemas.openxmlformats.org/officeDocument/2006/relationships/image" Target="../media/image442.png"/><Relationship Id="rId7" Type="http://schemas.openxmlformats.org/officeDocument/2006/relationships/image" Target="../media/image482.png"/><Relationship Id="rId12" Type="http://schemas.openxmlformats.org/officeDocument/2006/relationships/image" Target="../media/image492.png"/><Relationship Id="rId2" Type="http://schemas.openxmlformats.org/officeDocument/2006/relationships/notesSlide" Target="../notesSlides/notesSlide36.xml"/><Relationship Id="rId1" Type="http://schemas.openxmlformats.org/officeDocument/2006/relationships/slideLayout" Target="../slideLayouts/slideLayout6.xml"/><Relationship Id="rId6" Type="http://schemas.openxmlformats.org/officeDocument/2006/relationships/image" Target="../media/image471.png"/><Relationship Id="rId11" Type="http://schemas.openxmlformats.org/officeDocument/2006/relationships/image" Target="NULL"/><Relationship Id="rId5" Type="http://schemas.openxmlformats.org/officeDocument/2006/relationships/image" Target="../media/image461.png"/><Relationship Id="rId10" Type="http://schemas.openxmlformats.org/officeDocument/2006/relationships/image" Target="NULL"/><Relationship Id="rId4" Type="http://schemas.openxmlformats.org/officeDocument/2006/relationships/image" Target="../media/image452.png"/><Relationship Id="rId9" Type="http://schemas.openxmlformats.org/officeDocument/2006/relationships/image" Target="NULL"/></Relationships>
</file>

<file path=ppt/slides/_rels/slide37.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37.xml"/><Relationship Id="rId1" Type="http://schemas.openxmlformats.org/officeDocument/2006/relationships/slideLayout" Target="../slideLayouts/slideLayout6.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137.png"/></Relationships>
</file>

<file path=ppt/slides/_rels/slide38.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 Id="rId14" Type="http://schemas.openxmlformats.org/officeDocument/2006/relationships/image" Target="NULL"/></Relationships>
</file>

<file path=ppt/slides/_rels/slide39.xml.rels><?xml version="1.0" encoding="UTF-8" standalone="yes"?>
<Relationships xmlns="http://schemas.openxmlformats.org/package/2006/relationships"><Relationship Id="rId3" Type="http://schemas.openxmlformats.org/officeDocument/2006/relationships/image" Target="../media/image113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1160.png"/><Relationship Id="rId5" Type="http://schemas.openxmlformats.org/officeDocument/2006/relationships/image" Target="../media/image1150.png"/><Relationship Id="rId4" Type="http://schemas.openxmlformats.org/officeDocument/2006/relationships/image" Target="../media/image553.png"/></Relationships>
</file>

<file path=ppt/slides/_rels/slide40.xml.rels><?xml version="1.0" encoding="UTF-8" standalone="yes"?>
<Relationships xmlns="http://schemas.openxmlformats.org/package/2006/relationships"><Relationship Id="rId3" Type="http://schemas.openxmlformats.org/officeDocument/2006/relationships/image" Target="../media/image106.tiff"/><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media/image1010.png"/><Relationship Id="rId3" Type="http://schemas.openxmlformats.org/officeDocument/2006/relationships/image" Target="../media/image107.png"/><Relationship Id="rId7" Type="http://schemas.openxmlformats.org/officeDocument/2006/relationships/image" Target="../media/image960.png"/><Relationship Id="rId12" Type="http://schemas.openxmlformats.org/officeDocument/2006/relationships/image" Target="../media/image1000.png"/><Relationship Id="rId2" Type="http://schemas.openxmlformats.org/officeDocument/2006/relationships/notesSlide" Target="../notesSlides/notesSlide41.xml"/><Relationship Id="rId1" Type="http://schemas.openxmlformats.org/officeDocument/2006/relationships/slideLayout" Target="../slideLayouts/slideLayout14.xml"/><Relationship Id="rId6" Type="http://schemas.openxmlformats.org/officeDocument/2006/relationships/image" Target="../media/image950.png"/><Relationship Id="rId11" Type="http://schemas.openxmlformats.org/officeDocument/2006/relationships/image" Target="../media/image982.png"/><Relationship Id="rId5" Type="http://schemas.openxmlformats.org/officeDocument/2006/relationships/image" Target="NULL"/><Relationship Id="rId10" Type="http://schemas.openxmlformats.org/officeDocument/2006/relationships/image" Target="../media/image972.png"/><Relationship Id="rId4" Type="http://schemas.openxmlformats.org/officeDocument/2006/relationships/image" Target="NULL"/><Relationship Id="rId9" Type="http://schemas.openxmlformats.org/officeDocument/2006/relationships/image" Target="NULL"/></Relationships>
</file>

<file path=ppt/slides/_rels/slide42.xml.rels><?xml version="1.0" encoding="UTF-8" standalone="yes"?>
<Relationships xmlns="http://schemas.openxmlformats.org/package/2006/relationships"><Relationship Id="rId8" Type="http://schemas.openxmlformats.org/officeDocument/2006/relationships/image" Target="../media/image1021.png"/><Relationship Id="rId3" Type="http://schemas.openxmlformats.org/officeDocument/2006/relationships/image" Target="../media/image520.png"/><Relationship Id="rId7" Type="http://schemas.openxmlformats.org/officeDocument/2006/relationships/image" Target="../media/image640.png"/><Relationship Id="rId12" Type="http://schemas.openxmlformats.org/officeDocument/2006/relationships/image" Target="../media/image104.png"/><Relationship Id="rId2" Type="http://schemas.openxmlformats.org/officeDocument/2006/relationships/notesSlide" Target="../notesSlides/notesSlide42.xml"/><Relationship Id="rId1" Type="http://schemas.openxmlformats.org/officeDocument/2006/relationships/slideLayout" Target="../slideLayouts/slideLayout6.xml"/><Relationship Id="rId6" Type="http://schemas.openxmlformats.org/officeDocument/2006/relationships/image" Target="../media/image610.png"/><Relationship Id="rId11" Type="http://schemas.openxmlformats.org/officeDocument/2006/relationships/image" Target="../media/image1022.png"/><Relationship Id="rId5" Type="http://schemas.openxmlformats.org/officeDocument/2006/relationships/image" Target="../media/image580.png"/><Relationship Id="rId10" Type="http://schemas.openxmlformats.org/officeDocument/2006/relationships/image" Target="../media/image1013.png"/><Relationship Id="rId4" Type="http://schemas.openxmlformats.org/officeDocument/2006/relationships/image" Target="../media/image530.png"/><Relationship Id="rId9" Type="http://schemas.openxmlformats.org/officeDocument/2006/relationships/image" Target="../media/image1030.png"/></Relationships>
</file>

<file path=ppt/slides/_rels/slide43.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image" Target="../media/image105.png"/><Relationship Id="rId7" Type="http://schemas.openxmlformats.org/officeDocument/2006/relationships/image" Target="../media/image109.png"/><Relationship Id="rId2" Type="http://schemas.openxmlformats.org/officeDocument/2006/relationships/notesSlide" Target="../notesSlides/notesSlide43.xml"/><Relationship Id="rId1" Type="http://schemas.openxmlformats.org/officeDocument/2006/relationships/slideLayout" Target="../slideLayouts/slideLayout6.xml"/><Relationship Id="rId6" Type="http://schemas.openxmlformats.org/officeDocument/2006/relationships/image" Target="../media/image1080.png"/><Relationship Id="rId5" Type="http://schemas.openxmlformats.org/officeDocument/2006/relationships/image" Target="../media/image1070.png"/><Relationship Id="rId10" Type="http://schemas.openxmlformats.org/officeDocument/2006/relationships/image" Target="../media/image113.png"/><Relationship Id="rId4" Type="http://schemas.openxmlformats.org/officeDocument/2006/relationships/image" Target="../media/image106.png"/><Relationship Id="rId9" Type="http://schemas.openxmlformats.org/officeDocument/2006/relationships/image" Target="../media/image111.png"/></Relationships>
</file>

<file path=ppt/slides/_rels/slide44.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image" Target="../media/image114.png"/><Relationship Id="rId7" Type="http://schemas.openxmlformats.org/officeDocument/2006/relationships/image" Target="../media/image116.png"/><Relationship Id="rId2" Type="http://schemas.openxmlformats.org/officeDocument/2006/relationships/notesSlide" Target="../notesSlides/notesSlide44.xml"/><Relationship Id="rId1" Type="http://schemas.openxmlformats.org/officeDocument/2006/relationships/slideLayout" Target="../slideLayouts/slideLayout6.xml"/><Relationship Id="rId6" Type="http://schemas.openxmlformats.org/officeDocument/2006/relationships/image" Target="../media/image115.png"/><Relationship Id="rId11" Type="http://schemas.openxmlformats.org/officeDocument/2006/relationships/image" Target="../media/image113.png"/><Relationship Id="rId5" Type="http://schemas.openxmlformats.org/officeDocument/2006/relationships/image" Target="../media/image106.png"/><Relationship Id="rId10" Type="http://schemas.openxmlformats.org/officeDocument/2006/relationships/image" Target="../media/image119.png"/><Relationship Id="rId4" Type="http://schemas.openxmlformats.org/officeDocument/2006/relationships/image" Target="../media/image105.png"/><Relationship Id="rId9" Type="http://schemas.openxmlformats.org/officeDocument/2006/relationships/image" Target="../media/image118.png"/></Relationships>
</file>

<file path=ppt/slides/_rels/slide45.xml.rels><?xml version="1.0" encoding="UTF-8" standalone="yes"?>
<Relationships xmlns="http://schemas.openxmlformats.org/package/2006/relationships"><Relationship Id="rId8" Type="http://schemas.openxmlformats.org/officeDocument/2006/relationships/image" Target="../media/image123.png"/><Relationship Id="rId3" Type="http://schemas.openxmlformats.org/officeDocument/2006/relationships/image" Target="../media/image114.png"/><Relationship Id="rId7" Type="http://schemas.openxmlformats.org/officeDocument/2006/relationships/image" Target="../media/image120.png"/><Relationship Id="rId12" Type="http://schemas.openxmlformats.org/officeDocument/2006/relationships/image" Target="../media/image126.png"/><Relationship Id="rId2" Type="http://schemas.openxmlformats.org/officeDocument/2006/relationships/notesSlide" Target="../notesSlides/notesSlide45.xml"/><Relationship Id="rId1" Type="http://schemas.openxmlformats.org/officeDocument/2006/relationships/slideLayout" Target="../slideLayouts/slideLayout6.xml"/><Relationship Id="rId6" Type="http://schemas.openxmlformats.org/officeDocument/2006/relationships/image" Target="../media/image115.png"/><Relationship Id="rId11" Type="http://schemas.openxmlformats.org/officeDocument/2006/relationships/image" Target="../media/image113.png"/><Relationship Id="rId5" Type="http://schemas.openxmlformats.org/officeDocument/2006/relationships/image" Target="../media/image106.png"/><Relationship Id="rId10" Type="http://schemas.openxmlformats.org/officeDocument/2006/relationships/image" Target="../media/image125.png"/><Relationship Id="rId4" Type="http://schemas.openxmlformats.org/officeDocument/2006/relationships/image" Target="../media/image105.png"/><Relationship Id="rId9" Type="http://schemas.openxmlformats.org/officeDocument/2006/relationships/image" Target="../media/image124.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108.tiff"/><Relationship Id="rId2" Type="http://schemas.openxmlformats.org/officeDocument/2006/relationships/notesSlide" Target="../notesSlides/notesSlide47.xml"/><Relationship Id="rId1" Type="http://schemas.openxmlformats.org/officeDocument/2006/relationships/slideLayout" Target="../slideLayouts/slideLayout6.xml"/><Relationship Id="rId4" Type="http://schemas.openxmlformats.org/officeDocument/2006/relationships/image" Target="../media/image109.tiff"/></Relationships>
</file>

<file path=ppt/slides/_rels/slide48.xml.rels><?xml version="1.0" encoding="UTF-8" standalone="yes"?>
<Relationships xmlns="http://schemas.openxmlformats.org/package/2006/relationships"><Relationship Id="rId3" Type="http://schemas.openxmlformats.org/officeDocument/2006/relationships/image" Target="../media/image110.tiff"/><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11.tiff"/><Relationship Id="rId7" Type="http://schemas.openxmlformats.org/officeDocument/2006/relationships/image" Target="../media/image122.svg"/><Relationship Id="rId2" Type="http://schemas.openxmlformats.org/officeDocument/2006/relationships/notesSlide" Target="../notesSlides/notesSlide49.xml"/><Relationship Id="rId1" Type="http://schemas.openxmlformats.org/officeDocument/2006/relationships/slideLayout" Target="../slideLayouts/slideLayout6.xml"/><Relationship Id="rId6" Type="http://schemas.openxmlformats.org/officeDocument/2006/relationships/image" Target="../media/image121.png"/><Relationship Id="rId5" Type="http://schemas.openxmlformats.org/officeDocument/2006/relationships/image" Target="../media/image113.tiff"/><Relationship Id="rId4" Type="http://schemas.openxmlformats.org/officeDocument/2006/relationships/image" Target="../media/image112.tiff"/></Relationships>
</file>

<file path=ppt/slides/_rels/slide50.xml.rels><?xml version="1.0" encoding="UTF-8" standalone="yes"?>
<Relationships xmlns="http://schemas.openxmlformats.org/package/2006/relationships"><Relationship Id="rId3" Type="http://schemas.openxmlformats.org/officeDocument/2006/relationships/image" Target="../media/image123.tiff"/><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8" Type="http://schemas.openxmlformats.org/officeDocument/2006/relationships/image" Target="../media/image242.png"/><Relationship Id="rId13" Type="http://schemas.openxmlformats.org/officeDocument/2006/relationships/image" Target="../media/image293.png"/><Relationship Id="rId18" Type="http://schemas.openxmlformats.org/officeDocument/2006/relationships/image" Target="../media/image144.png"/><Relationship Id="rId3" Type="http://schemas.openxmlformats.org/officeDocument/2006/relationships/image" Target="../media/image180.png"/><Relationship Id="rId21" Type="http://schemas.openxmlformats.org/officeDocument/2006/relationships/image" Target="../media/image147.png"/><Relationship Id="rId7" Type="http://schemas.openxmlformats.org/officeDocument/2006/relationships/image" Target="../media/image231.png"/><Relationship Id="rId12" Type="http://schemas.openxmlformats.org/officeDocument/2006/relationships/image" Target="../media/image281.png"/><Relationship Id="rId17" Type="http://schemas.openxmlformats.org/officeDocument/2006/relationships/image" Target="../media/image143.png"/><Relationship Id="rId2" Type="http://schemas.openxmlformats.org/officeDocument/2006/relationships/notesSlide" Target="../notesSlides/notesSlide51.xml"/><Relationship Id="rId16" Type="http://schemas.openxmlformats.org/officeDocument/2006/relationships/image" Target="../media/image142.png"/><Relationship Id="rId20" Type="http://schemas.openxmlformats.org/officeDocument/2006/relationships/image" Target="../media/image146.png"/><Relationship Id="rId1" Type="http://schemas.openxmlformats.org/officeDocument/2006/relationships/slideLayout" Target="../slideLayouts/slideLayout13.xml"/><Relationship Id="rId6" Type="http://schemas.openxmlformats.org/officeDocument/2006/relationships/image" Target="../media/image221.png"/><Relationship Id="rId11" Type="http://schemas.openxmlformats.org/officeDocument/2006/relationships/image" Target="../media/image271.png"/><Relationship Id="rId5" Type="http://schemas.openxmlformats.org/officeDocument/2006/relationships/image" Target="../media/image190.png"/><Relationship Id="rId15" Type="http://schemas.openxmlformats.org/officeDocument/2006/relationships/image" Target="../media/image141.png"/><Relationship Id="rId10" Type="http://schemas.openxmlformats.org/officeDocument/2006/relationships/image" Target="../media/image261.png"/><Relationship Id="rId19" Type="http://schemas.openxmlformats.org/officeDocument/2006/relationships/image" Target="../media/image145.png"/><Relationship Id="rId4" Type="http://schemas.openxmlformats.org/officeDocument/2006/relationships/image" Target="../media/image124.tiff"/><Relationship Id="rId9" Type="http://schemas.openxmlformats.org/officeDocument/2006/relationships/image" Target="../media/image251.png"/><Relationship Id="rId14" Type="http://schemas.openxmlformats.org/officeDocument/2006/relationships/image" Target="../media/image140.png"/><Relationship Id="rId22" Type="http://schemas.openxmlformats.org/officeDocument/2006/relationships/image" Target="../media/image148.png"/></Relationships>
</file>

<file path=ppt/slides/_rels/slide52.xml.rels><?xml version="1.0" encoding="UTF-8" standalone="yes"?>
<Relationships xmlns="http://schemas.openxmlformats.org/package/2006/relationships"><Relationship Id="rId8" Type="http://schemas.openxmlformats.org/officeDocument/2006/relationships/image" Target="../media/image230.png"/><Relationship Id="rId13" Type="http://schemas.openxmlformats.org/officeDocument/2006/relationships/image" Target="../media/image280.png"/><Relationship Id="rId3" Type="http://schemas.openxmlformats.org/officeDocument/2006/relationships/image" Target="../media/image441.png"/><Relationship Id="rId7" Type="http://schemas.openxmlformats.org/officeDocument/2006/relationships/image" Target="../media/image220.png"/><Relationship Id="rId12" Type="http://schemas.openxmlformats.org/officeDocument/2006/relationships/image" Target="../media/image270.png"/><Relationship Id="rId2" Type="http://schemas.openxmlformats.org/officeDocument/2006/relationships/notesSlide" Target="../notesSlides/notesSlide52.xml"/><Relationship Id="rId16" Type="http://schemas.openxmlformats.org/officeDocument/2006/relationships/image" Target="../media/image451.png"/><Relationship Id="rId1" Type="http://schemas.openxmlformats.org/officeDocument/2006/relationships/slideLayout" Target="../slideLayouts/slideLayout13.xml"/><Relationship Id="rId6" Type="http://schemas.openxmlformats.org/officeDocument/2006/relationships/image" Target="../media/image210.png"/><Relationship Id="rId11" Type="http://schemas.openxmlformats.org/officeDocument/2006/relationships/image" Target="../media/image2600.png"/><Relationship Id="rId15" Type="http://schemas.openxmlformats.org/officeDocument/2006/relationships/image" Target="../media/image301.png"/><Relationship Id="rId10" Type="http://schemas.openxmlformats.org/officeDocument/2006/relationships/image" Target="../media/image2500.png"/><Relationship Id="rId9" Type="http://schemas.openxmlformats.org/officeDocument/2006/relationships/image" Target="../media/image2400.png"/><Relationship Id="rId14" Type="http://schemas.openxmlformats.org/officeDocument/2006/relationships/image" Target="../media/image292.png"/></Relationships>
</file>

<file path=ppt/slides/_rels/slide53.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53.xml"/><Relationship Id="rId1" Type="http://schemas.openxmlformats.org/officeDocument/2006/relationships/slideLayout" Target="../slideLayouts/slideLayout6.xml"/><Relationship Id="rId5" Type="http://schemas.openxmlformats.org/officeDocument/2006/relationships/image" Target="../media/image342.png"/><Relationship Id="rId4" Type="http://schemas.openxmlformats.org/officeDocument/2006/relationships/image" Target="../media/image3310.png"/></Relationships>
</file>

<file path=ppt/slides/_rels/slide54.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54.xml"/><Relationship Id="rId1" Type="http://schemas.openxmlformats.org/officeDocument/2006/relationships/slideLayout" Target="../slideLayouts/slideLayout6.xml"/><Relationship Id="rId4" Type="http://schemas.openxmlformats.org/officeDocument/2006/relationships/image" Target="../media/image151.png"/></Relationships>
</file>

<file path=ppt/slides/_rels/slide55.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55.xml"/><Relationship Id="rId1" Type="http://schemas.openxmlformats.org/officeDocument/2006/relationships/slideLayout" Target="../slideLayouts/slideLayout6.xml"/><Relationship Id="rId5" Type="http://schemas.openxmlformats.org/officeDocument/2006/relationships/image" Target="../media/image392.png"/><Relationship Id="rId4" Type="http://schemas.openxmlformats.org/officeDocument/2006/relationships/image" Target="../media/image382.png"/></Relationships>
</file>

<file path=ppt/slides/_rels/slide56.xml.rels><?xml version="1.0" encoding="UTF-8" standalone="yes"?>
<Relationships xmlns="http://schemas.openxmlformats.org/package/2006/relationships"><Relationship Id="rId3" Type="http://schemas.openxmlformats.org/officeDocument/2006/relationships/image" Target="../media/image125.gif"/><Relationship Id="rId2" Type="http://schemas.openxmlformats.org/officeDocument/2006/relationships/notesSlide" Target="../notesSlides/notesSlide56.xml"/><Relationship Id="rId1" Type="http://schemas.openxmlformats.org/officeDocument/2006/relationships/slideLayout" Target="../slideLayouts/slideLayout6.xml"/><Relationship Id="rId5" Type="http://schemas.openxmlformats.org/officeDocument/2006/relationships/image" Target="../media/image185.png"/><Relationship Id="rId4" Type="http://schemas.openxmlformats.org/officeDocument/2006/relationships/image" Target="../media/image126.gif"/></Relationships>
</file>

<file path=ppt/slides/_rels/slide57.xml.rels><?xml version="1.0" encoding="UTF-8" standalone="yes"?>
<Relationships xmlns="http://schemas.openxmlformats.org/package/2006/relationships"><Relationship Id="rId8" Type="http://schemas.openxmlformats.org/officeDocument/2006/relationships/image" Target="../media/image3601.png"/><Relationship Id="rId13" Type="http://schemas.openxmlformats.org/officeDocument/2006/relationships/image" Target="../media/image5500.png"/><Relationship Id="rId3" Type="http://schemas.openxmlformats.org/officeDocument/2006/relationships/image" Target="../media/image127.tiff"/><Relationship Id="rId7" Type="http://schemas.openxmlformats.org/officeDocument/2006/relationships/image" Target="../media/image490.png"/><Relationship Id="rId17" Type="http://schemas.openxmlformats.org/officeDocument/2006/relationships/image" Target="../media/image157.png"/><Relationship Id="rId2" Type="http://schemas.openxmlformats.org/officeDocument/2006/relationships/notesSlide" Target="../notesSlides/notesSlide57.xml"/><Relationship Id="rId16" Type="http://schemas.openxmlformats.org/officeDocument/2006/relationships/image" Target="../media/image400.png"/><Relationship Id="rId1" Type="http://schemas.openxmlformats.org/officeDocument/2006/relationships/slideLayout" Target="../slideLayouts/slideLayout6.xml"/><Relationship Id="rId6" Type="http://schemas.openxmlformats.org/officeDocument/2006/relationships/image" Target="../media/image480.png"/><Relationship Id="rId5" Type="http://schemas.openxmlformats.org/officeDocument/2006/relationships/image" Target="../media/image470.png"/><Relationship Id="rId15" Type="http://schemas.openxmlformats.org/officeDocument/2006/relationships/image" Target="../media/image390.png"/><Relationship Id="rId4" Type="http://schemas.openxmlformats.org/officeDocument/2006/relationships/image" Target="../media/image460.png"/><Relationship Id="rId9" Type="http://schemas.openxmlformats.org/officeDocument/2006/relationships/image" Target="../media/image3701.png"/><Relationship Id="rId14" Type="http://schemas.openxmlformats.org/officeDocument/2006/relationships/image" Target="../media/image3800.png"/></Relationships>
</file>

<file path=ppt/slides/_rels/slide58.xml.rels><?xml version="1.0" encoding="UTF-8" standalone="yes"?>
<Relationships xmlns="http://schemas.openxmlformats.org/package/2006/relationships"><Relationship Id="rId3" Type="http://schemas.openxmlformats.org/officeDocument/2006/relationships/image" Target="../media/image158.png"/><Relationship Id="rId7" Type="http://schemas.openxmlformats.org/officeDocument/2006/relationships/image" Target="../media/image3300.png"/><Relationship Id="rId2" Type="http://schemas.openxmlformats.org/officeDocument/2006/relationships/notesSlide" Target="../notesSlides/notesSlide58.xml"/><Relationship Id="rId1" Type="http://schemas.openxmlformats.org/officeDocument/2006/relationships/slideLayout" Target="../slideLayouts/slideLayout6.xml"/><Relationship Id="rId6" Type="http://schemas.openxmlformats.org/officeDocument/2006/relationships/image" Target="../media/image401.png"/><Relationship Id="rId5" Type="http://schemas.openxmlformats.org/officeDocument/2006/relationships/image" Target="../media/image391.png"/><Relationship Id="rId4" Type="http://schemas.openxmlformats.org/officeDocument/2006/relationships/image" Target="../media/image381.png"/></Relationships>
</file>

<file path=ppt/slides/_rels/slide59.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59.xml"/><Relationship Id="rId1" Type="http://schemas.openxmlformats.org/officeDocument/2006/relationships/slideLayout" Target="../slideLayouts/slideLayout6.xml"/><Relationship Id="rId6" Type="http://schemas.openxmlformats.org/officeDocument/2006/relationships/image" Target="../media/image3401.png"/><Relationship Id="rId5" Type="http://schemas.openxmlformats.org/officeDocument/2006/relationships/image" Target="../media/image1390.png"/></Relationships>
</file>

<file path=ppt/slides/_rels/slide60.xml.rels><?xml version="1.0" encoding="UTF-8" standalone="yes"?>
<Relationships xmlns="http://schemas.openxmlformats.org/package/2006/relationships"><Relationship Id="rId13" Type="http://schemas.openxmlformats.org/officeDocument/2006/relationships/image" Target="../media/image128.gif"/><Relationship Id="rId3" Type="http://schemas.openxmlformats.org/officeDocument/2006/relationships/image" Target="../media/image411.png"/><Relationship Id="rId7" Type="http://schemas.openxmlformats.org/officeDocument/2006/relationships/image" Target="../media/image450.png"/><Relationship Id="rId12" Type="http://schemas.openxmlformats.org/officeDocument/2006/relationships/image" Target="../media/image3200.png"/><Relationship Id="rId2" Type="http://schemas.openxmlformats.org/officeDocument/2006/relationships/notesSlide" Target="../notesSlides/notesSlide60.xml"/><Relationship Id="rId1" Type="http://schemas.openxmlformats.org/officeDocument/2006/relationships/slideLayout" Target="../slideLayouts/slideLayout6.xml"/><Relationship Id="rId6" Type="http://schemas.openxmlformats.org/officeDocument/2006/relationships/image" Target="../media/image440.png"/><Relationship Id="rId11" Type="http://schemas.openxmlformats.org/officeDocument/2006/relationships/image" Target="../media/image3100.png"/><Relationship Id="rId5" Type="http://schemas.openxmlformats.org/officeDocument/2006/relationships/image" Target="../media/image430.png"/><Relationship Id="rId10" Type="http://schemas.openxmlformats.org/officeDocument/2006/relationships/image" Target="../media/image300.png"/><Relationship Id="rId4" Type="http://schemas.openxmlformats.org/officeDocument/2006/relationships/image" Target="../media/image421.png"/><Relationship Id="rId9" Type="http://schemas.openxmlformats.org/officeDocument/2006/relationships/image" Target="../media/image290.png"/><Relationship Id="rId14" Type="http://schemas.openxmlformats.org/officeDocument/2006/relationships/image" Target="../media/image410.png"/></Relationships>
</file>

<file path=ppt/slides/_rels/slide61.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61.xml"/><Relationship Id="rId1" Type="http://schemas.openxmlformats.org/officeDocument/2006/relationships/slideLayout" Target="../slideLayouts/slideLayout6.xml"/><Relationship Id="rId6" Type="http://schemas.openxmlformats.org/officeDocument/2006/relationships/image" Target="../media/image129.tiff"/><Relationship Id="rId5" Type="http://schemas.openxmlformats.org/officeDocument/2006/relationships/image" Target="../media/image163.png"/><Relationship Id="rId4" Type="http://schemas.openxmlformats.org/officeDocument/2006/relationships/image" Target="../media/image162.png"/></Relationships>
</file>

<file path=ppt/slides/_rels/slide62.xml.rels><?xml version="1.0" encoding="UTF-8" standalone="yes"?>
<Relationships xmlns="http://schemas.openxmlformats.org/package/2006/relationships"><Relationship Id="rId8" Type="http://schemas.openxmlformats.org/officeDocument/2006/relationships/image" Target="../media/image532.png"/><Relationship Id="rId3" Type="http://schemas.openxmlformats.org/officeDocument/2006/relationships/image" Target="../media/image481.png"/><Relationship Id="rId7" Type="http://schemas.openxmlformats.org/officeDocument/2006/relationships/image" Target="../media/image521.png"/><Relationship Id="rId12" Type="http://schemas.openxmlformats.org/officeDocument/2006/relationships/image" Target="../media/image572.png"/><Relationship Id="rId2" Type="http://schemas.openxmlformats.org/officeDocument/2006/relationships/notesSlide" Target="../notesSlides/notesSlide62.xml"/><Relationship Id="rId1" Type="http://schemas.openxmlformats.org/officeDocument/2006/relationships/slideLayout" Target="../slideLayouts/slideLayout6.xml"/><Relationship Id="rId6" Type="http://schemas.openxmlformats.org/officeDocument/2006/relationships/image" Target="../media/image512.png"/><Relationship Id="rId11" Type="http://schemas.openxmlformats.org/officeDocument/2006/relationships/image" Target="../media/image563.png"/><Relationship Id="rId5" Type="http://schemas.openxmlformats.org/officeDocument/2006/relationships/image" Target="../media/image500.png"/><Relationship Id="rId10" Type="http://schemas.openxmlformats.org/officeDocument/2006/relationships/image" Target="../media/image552.png"/><Relationship Id="rId4" Type="http://schemas.openxmlformats.org/officeDocument/2006/relationships/image" Target="../media/image491.png"/><Relationship Id="rId9" Type="http://schemas.openxmlformats.org/officeDocument/2006/relationships/image" Target="../media/image540.png"/></Relationships>
</file>

<file path=ppt/slides/_rels/slide63.xml.rels><?xml version="1.0" encoding="UTF-8" standalone="yes"?>
<Relationships xmlns="http://schemas.openxmlformats.org/package/2006/relationships"><Relationship Id="rId8" Type="http://schemas.openxmlformats.org/officeDocument/2006/relationships/image" Target="../media/image593.png"/><Relationship Id="rId3" Type="http://schemas.openxmlformats.org/officeDocument/2006/relationships/image" Target="../media/image871.png"/><Relationship Id="rId7" Type="http://schemas.openxmlformats.org/officeDocument/2006/relationships/image" Target="../media/image9100.png"/><Relationship Id="rId2" Type="http://schemas.openxmlformats.org/officeDocument/2006/relationships/notesSlide" Target="../notesSlides/notesSlide63.xml"/><Relationship Id="rId1" Type="http://schemas.openxmlformats.org/officeDocument/2006/relationships/slideLayout" Target="../slideLayouts/slideLayout6.xml"/><Relationship Id="rId6" Type="http://schemas.openxmlformats.org/officeDocument/2006/relationships/image" Target="../media/image583.png"/><Relationship Id="rId5" Type="http://schemas.openxmlformats.org/officeDocument/2006/relationships/image" Target="../media/image420.png"/><Relationship Id="rId4" Type="http://schemas.openxmlformats.org/officeDocument/2006/relationships/image" Target="../media/image880.png"/><Relationship Id="rId9" Type="http://schemas.openxmlformats.org/officeDocument/2006/relationships/image" Target="../media/image511.png"/></Relationships>
</file>

<file path=ppt/slides/_rels/slide64.xml.rels><?xml version="1.0" encoding="UTF-8" standalone="yes"?>
<Relationships xmlns="http://schemas.openxmlformats.org/package/2006/relationships"><Relationship Id="rId8" Type="http://schemas.openxmlformats.org/officeDocument/2006/relationships/image" Target="../media/image531.png"/><Relationship Id="rId18" Type="http://schemas.openxmlformats.org/officeDocument/2006/relationships/image" Target="../media/image981.png"/><Relationship Id="rId3" Type="http://schemas.openxmlformats.org/officeDocument/2006/relationships/image" Target="../media/image601.png"/><Relationship Id="rId7" Type="http://schemas.openxmlformats.org/officeDocument/2006/relationships/image" Target="../media/image980.png"/><Relationship Id="rId17" Type="http://schemas.openxmlformats.org/officeDocument/2006/relationships/image" Target="../media/image9700.png"/><Relationship Id="rId2" Type="http://schemas.openxmlformats.org/officeDocument/2006/relationships/notesSlide" Target="../notesSlides/notesSlide64.xml"/><Relationship Id="rId16" Type="http://schemas.openxmlformats.org/officeDocument/2006/relationships/image" Target="../media/image961.png"/><Relationship Id="rId1" Type="http://schemas.openxmlformats.org/officeDocument/2006/relationships/slideLayout" Target="../slideLayouts/slideLayout6.xml"/><Relationship Id="rId6" Type="http://schemas.openxmlformats.org/officeDocument/2006/relationships/image" Target="../media/image971.png"/><Relationship Id="rId15" Type="http://schemas.openxmlformats.org/officeDocument/2006/relationships/image" Target="../media/image951.png"/><Relationship Id="rId19" Type="http://schemas.openxmlformats.org/officeDocument/2006/relationships/image" Target="../media/image991.png"/><Relationship Id="rId4" Type="http://schemas.openxmlformats.org/officeDocument/2006/relationships/image" Target="../media/image5200.png"/><Relationship Id="rId9" Type="http://schemas.openxmlformats.org/officeDocument/2006/relationships/image" Target="../media/image5300.png"/><Relationship Id="rId14" Type="http://schemas.openxmlformats.org/officeDocument/2006/relationships/image" Target="../media/image941.png"/></Relationships>
</file>

<file path=ppt/slides/_rels/slide65.xml.rels><?xml version="1.0" encoding="UTF-8" standalone="yes"?>
<Relationships xmlns="http://schemas.openxmlformats.org/package/2006/relationships"><Relationship Id="rId8" Type="http://schemas.openxmlformats.org/officeDocument/2006/relationships/image" Target="../media/image1051.png"/><Relationship Id="rId13" Type="http://schemas.openxmlformats.org/officeDocument/2006/relationships/image" Target="../media/image592.png"/><Relationship Id="rId3" Type="http://schemas.openxmlformats.org/officeDocument/2006/relationships/image" Target="../media/image1002.png"/><Relationship Id="rId7" Type="http://schemas.openxmlformats.org/officeDocument/2006/relationships/image" Target="../media/image1042.png"/><Relationship Id="rId12" Type="http://schemas.openxmlformats.org/officeDocument/2006/relationships/image" Target="../media/image5701.png"/><Relationship Id="rId2" Type="http://schemas.openxmlformats.org/officeDocument/2006/relationships/notesSlide" Target="../notesSlides/notesSlide65.xml"/><Relationship Id="rId1" Type="http://schemas.openxmlformats.org/officeDocument/2006/relationships/slideLayout" Target="../slideLayouts/slideLayout6.xml"/><Relationship Id="rId6" Type="http://schemas.openxmlformats.org/officeDocument/2006/relationships/image" Target="../media/image10300.png"/><Relationship Id="rId11" Type="http://schemas.openxmlformats.org/officeDocument/2006/relationships/image" Target="../media/image5601.png"/><Relationship Id="rId5" Type="http://schemas.openxmlformats.org/officeDocument/2006/relationships/image" Target="../media/image1020.png"/><Relationship Id="rId10" Type="http://schemas.openxmlformats.org/officeDocument/2006/relationships/image" Target="../media/image551.png"/><Relationship Id="rId4" Type="http://schemas.openxmlformats.org/officeDocument/2006/relationships/image" Target="../media/image1011.png"/></Relationships>
</file>

<file path=ppt/slides/_rels/slide66.xml.rels><?xml version="1.0" encoding="UTF-8" standalone="yes"?>
<Relationships xmlns="http://schemas.openxmlformats.org/package/2006/relationships"><Relationship Id="rId8" Type="http://schemas.openxmlformats.org/officeDocument/2006/relationships/image" Target="../media/image186.png"/><Relationship Id="rId3" Type="http://schemas.openxmlformats.org/officeDocument/2006/relationships/image" Target="../media/image1810.png"/><Relationship Id="rId7" Type="http://schemas.openxmlformats.org/officeDocument/2006/relationships/image" Target="../media/image1850.png"/><Relationship Id="rId2" Type="http://schemas.openxmlformats.org/officeDocument/2006/relationships/notesSlide" Target="../notesSlides/notesSlide66.xml"/><Relationship Id="rId1" Type="http://schemas.openxmlformats.org/officeDocument/2006/relationships/slideLayout" Target="../slideLayouts/slideLayout6.xml"/><Relationship Id="rId6" Type="http://schemas.openxmlformats.org/officeDocument/2006/relationships/image" Target="../media/image184.png"/><Relationship Id="rId11" Type="http://schemas.openxmlformats.org/officeDocument/2006/relationships/image" Target="../media/image1111.png"/><Relationship Id="rId5" Type="http://schemas.openxmlformats.org/officeDocument/2006/relationships/image" Target="../media/image183.png"/><Relationship Id="rId10" Type="http://schemas.openxmlformats.org/officeDocument/2006/relationships/image" Target="../media/image18800.png"/><Relationship Id="rId4" Type="http://schemas.openxmlformats.org/officeDocument/2006/relationships/image" Target="../media/image1820.png"/><Relationship Id="rId9" Type="http://schemas.openxmlformats.org/officeDocument/2006/relationships/image" Target="../media/image5810.png"/></Relationships>
</file>

<file path=ppt/slides/_rels/slide67.xml.rels><?xml version="1.0" encoding="UTF-8" standalone="yes"?>
<Relationships xmlns="http://schemas.openxmlformats.org/package/2006/relationships"><Relationship Id="rId3" Type="http://schemas.openxmlformats.org/officeDocument/2006/relationships/image" Target="../media/image130.tiff"/><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8" Type="http://schemas.openxmlformats.org/officeDocument/2006/relationships/image" Target="../media/image613.png"/><Relationship Id="rId13" Type="http://schemas.openxmlformats.org/officeDocument/2006/relationships/image" Target="../media/image661.png"/><Relationship Id="rId3" Type="http://schemas.openxmlformats.org/officeDocument/2006/relationships/image" Target="../media/image3501.png"/><Relationship Id="rId7" Type="http://schemas.openxmlformats.org/officeDocument/2006/relationships/image" Target="../media/image6000.png"/><Relationship Id="rId12" Type="http://schemas.openxmlformats.org/officeDocument/2006/relationships/image" Target="../media/image651.png"/><Relationship Id="rId2" Type="http://schemas.openxmlformats.org/officeDocument/2006/relationships/notesSlide" Target="../notesSlides/notesSlide68.xml"/><Relationship Id="rId1" Type="http://schemas.openxmlformats.org/officeDocument/2006/relationships/slideLayout" Target="../slideLayouts/slideLayout6.xml"/><Relationship Id="rId6" Type="http://schemas.openxmlformats.org/officeDocument/2006/relationships/image" Target="../media/image5900.png"/><Relationship Id="rId11" Type="http://schemas.openxmlformats.org/officeDocument/2006/relationships/image" Target="../media/image643.png"/><Relationship Id="rId5" Type="http://schemas.openxmlformats.org/officeDocument/2006/relationships/image" Target="../media/image5800.png"/><Relationship Id="rId4" Type="http://schemas.openxmlformats.org/officeDocument/2006/relationships/image" Target="../media/image194.png"/><Relationship Id="rId9" Type="http://schemas.openxmlformats.org/officeDocument/2006/relationships/image" Target="../media/image622.png"/><Relationship Id="rId14" Type="http://schemas.openxmlformats.org/officeDocument/2006/relationships/image" Target="../media/image671.png"/></Relationships>
</file>

<file path=ppt/slides/_rels/slide69.xml.rels><?xml version="1.0" encoding="UTF-8" standalone="yes"?>
<Relationships xmlns="http://schemas.openxmlformats.org/package/2006/relationships"><Relationship Id="rId8" Type="http://schemas.openxmlformats.org/officeDocument/2006/relationships/image" Target="../media/image633.png"/><Relationship Id="rId13" Type="http://schemas.openxmlformats.org/officeDocument/2006/relationships/image" Target="../media/image7200.png"/><Relationship Id="rId7" Type="http://schemas.openxmlformats.org/officeDocument/2006/relationships/image" Target="../media/image1230.png"/><Relationship Id="rId12" Type="http://schemas.openxmlformats.org/officeDocument/2006/relationships/image" Target="../media/image169.png"/><Relationship Id="rId2" Type="http://schemas.openxmlformats.org/officeDocument/2006/relationships/notesSlide" Target="../notesSlides/notesSlide69.xml"/><Relationship Id="rId1" Type="http://schemas.openxmlformats.org/officeDocument/2006/relationships/slideLayout" Target="../slideLayouts/slideLayout6.xml"/><Relationship Id="rId6" Type="http://schemas.openxmlformats.org/officeDocument/2006/relationships/image" Target="../media/image1220.png"/><Relationship Id="rId11" Type="http://schemas.openxmlformats.org/officeDocument/2006/relationships/image" Target="../media/image168.png"/><Relationship Id="rId5" Type="http://schemas.openxmlformats.org/officeDocument/2006/relationships/image" Target="../media/image5910.png"/><Relationship Id="rId10" Type="http://schemas.openxmlformats.org/officeDocument/2006/relationships/image" Target="../media/image167.png"/><Relationship Id="rId4" Type="http://schemas.openxmlformats.org/officeDocument/2006/relationships/image" Target="../media/image1200.png"/><Relationship Id="rId9" Type="http://schemas.openxmlformats.org/officeDocument/2006/relationships/image" Target="../media/image166.png"/></Relationships>
</file>

<file path=ppt/slides/_rels/slide7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0.xml"/><Relationship Id="rId1" Type="http://schemas.openxmlformats.org/officeDocument/2006/relationships/slideLayout" Target="../slideLayouts/slideLayout7.xml"/><Relationship Id="rId5" Type="http://schemas.openxmlformats.org/officeDocument/2006/relationships/image" Target="../media/image132.tiff"/><Relationship Id="rId4" Type="http://schemas.openxmlformats.org/officeDocument/2006/relationships/image" Target="../media/image131.tif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F3F0A81-45B2-0A49-8C9A-C595BBE261B2}"/>
              </a:ext>
            </a:extLst>
          </p:cNvPr>
          <p:cNvPicPr>
            <a:picLocks noChangeAspect="1"/>
          </p:cNvPicPr>
          <p:nvPr/>
        </p:nvPicPr>
        <p:blipFill>
          <a:blip r:embed="rId3"/>
          <a:stretch>
            <a:fillRect/>
          </a:stretch>
        </p:blipFill>
        <p:spPr>
          <a:xfrm>
            <a:off x="0" y="0"/>
            <a:ext cx="12191999" cy="6835381"/>
          </a:xfrm>
          <a:prstGeom prst="rect">
            <a:avLst/>
          </a:prstGeom>
        </p:spPr>
      </p:pic>
      <p:sp>
        <p:nvSpPr>
          <p:cNvPr id="3" name="Slide Number Placeholder 2">
            <a:extLst>
              <a:ext uri="{FF2B5EF4-FFF2-40B4-BE49-F238E27FC236}">
                <a16:creationId xmlns:a16="http://schemas.microsoft.com/office/drawing/2014/main" id="{60C4B02F-0FE1-7640-89D9-897868D9C7FC}"/>
              </a:ext>
            </a:extLst>
          </p:cNvPr>
          <p:cNvSpPr>
            <a:spLocks noGrp="1"/>
          </p:cNvSpPr>
          <p:nvPr>
            <p:ph type="sldNum" sz="quarter" idx="12"/>
          </p:nvPr>
        </p:nvSpPr>
        <p:spPr/>
        <p:txBody>
          <a:bodyPr/>
          <a:lstStyle/>
          <a:p>
            <a:fld id="{591A223C-FA10-BC46-A853-03BA373D023C}" type="slidenum">
              <a:rPr lang="en-US" smtClean="0"/>
              <a:t>1</a:t>
            </a:fld>
            <a:endParaRPr lang="en-US"/>
          </a:p>
        </p:txBody>
      </p:sp>
      <p:sp>
        <p:nvSpPr>
          <p:cNvPr id="4" name="TextBox 3">
            <a:extLst>
              <a:ext uri="{FF2B5EF4-FFF2-40B4-BE49-F238E27FC236}">
                <a16:creationId xmlns:a16="http://schemas.microsoft.com/office/drawing/2014/main" id="{472519DD-9FFE-0047-9453-5A2889BD2B59}"/>
              </a:ext>
            </a:extLst>
          </p:cNvPr>
          <p:cNvSpPr txBox="1"/>
          <p:nvPr/>
        </p:nvSpPr>
        <p:spPr>
          <a:xfrm>
            <a:off x="0" y="678897"/>
            <a:ext cx="12191999" cy="1323439"/>
          </a:xfrm>
          <a:prstGeom prst="rect">
            <a:avLst/>
          </a:prstGeom>
          <a:noFill/>
        </p:spPr>
        <p:txBody>
          <a:bodyPr wrap="square" rtlCol="0">
            <a:spAutoFit/>
          </a:bodyPr>
          <a:lstStyle/>
          <a:p>
            <a:pPr algn="ctr"/>
            <a:r>
              <a:rPr lang="en-US" sz="8000" b="1" dirty="0">
                <a:solidFill>
                  <a:schemeClr val="bg1"/>
                </a:solidFill>
              </a:rPr>
              <a:t>Quantum Computing</a:t>
            </a:r>
          </a:p>
        </p:txBody>
      </p:sp>
      <p:sp>
        <p:nvSpPr>
          <p:cNvPr id="7" name="TextBox 6">
            <a:extLst>
              <a:ext uri="{FF2B5EF4-FFF2-40B4-BE49-F238E27FC236}">
                <a16:creationId xmlns:a16="http://schemas.microsoft.com/office/drawing/2014/main" id="{A0F6B325-DEAC-4545-AAF3-69D416F3EC54}"/>
              </a:ext>
            </a:extLst>
          </p:cNvPr>
          <p:cNvSpPr txBox="1"/>
          <p:nvPr/>
        </p:nvSpPr>
        <p:spPr>
          <a:xfrm>
            <a:off x="0" y="2749694"/>
            <a:ext cx="12192000" cy="1015663"/>
          </a:xfrm>
          <a:prstGeom prst="rect">
            <a:avLst/>
          </a:prstGeom>
          <a:noFill/>
        </p:spPr>
        <p:txBody>
          <a:bodyPr wrap="square" rtlCol="0">
            <a:spAutoFit/>
          </a:bodyPr>
          <a:lstStyle/>
          <a:p>
            <a:pPr algn="ctr"/>
            <a:r>
              <a:rPr lang="en-US" sz="6000" b="1" dirty="0">
                <a:solidFill>
                  <a:schemeClr val="bg1"/>
                </a:solidFill>
              </a:rPr>
              <a:t>8. Elements of Quantum Algorithms</a:t>
            </a:r>
          </a:p>
        </p:txBody>
      </p:sp>
      <p:sp>
        <p:nvSpPr>
          <p:cNvPr id="9" name="TextBox 8">
            <a:extLst>
              <a:ext uri="{FF2B5EF4-FFF2-40B4-BE49-F238E27FC236}">
                <a16:creationId xmlns:a16="http://schemas.microsoft.com/office/drawing/2014/main" id="{BC232F73-6E68-4246-BAAE-C04CCE4EC909}"/>
              </a:ext>
            </a:extLst>
          </p:cNvPr>
          <p:cNvSpPr txBox="1"/>
          <p:nvPr/>
        </p:nvSpPr>
        <p:spPr>
          <a:xfrm>
            <a:off x="8050517" y="5528379"/>
            <a:ext cx="3863365" cy="830997"/>
          </a:xfrm>
          <a:prstGeom prst="rect">
            <a:avLst/>
          </a:prstGeom>
          <a:noFill/>
        </p:spPr>
        <p:txBody>
          <a:bodyPr wrap="none" rtlCol="0">
            <a:spAutoFit/>
          </a:bodyPr>
          <a:lstStyle/>
          <a:p>
            <a:r>
              <a:rPr lang="en-US" sz="2400" dirty="0">
                <a:solidFill>
                  <a:schemeClr val="bg1"/>
                </a:solidFill>
              </a:rPr>
              <a:t>Prof. Aleksandar Radovanovic</a:t>
            </a:r>
          </a:p>
          <a:p>
            <a:pPr algn="ctr"/>
            <a:r>
              <a:rPr lang="en-US" sz="2400" dirty="0" err="1">
                <a:solidFill>
                  <a:schemeClr val="bg1"/>
                </a:solidFill>
              </a:rPr>
              <a:t>alex@qcict.org</a:t>
            </a:r>
            <a:endParaRPr lang="en-US" sz="2400" dirty="0">
              <a:solidFill>
                <a:schemeClr val="bg1"/>
              </a:solidFill>
            </a:endParaRPr>
          </a:p>
        </p:txBody>
      </p:sp>
      <p:sp>
        <p:nvSpPr>
          <p:cNvPr id="10" name="TextBox 9">
            <a:extLst>
              <a:ext uri="{FF2B5EF4-FFF2-40B4-BE49-F238E27FC236}">
                <a16:creationId xmlns:a16="http://schemas.microsoft.com/office/drawing/2014/main" id="{A38A749D-EE35-BD46-9817-6DFBAC1A4F6D}"/>
              </a:ext>
            </a:extLst>
          </p:cNvPr>
          <p:cNvSpPr txBox="1"/>
          <p:nvPr/>
        </p:nvSpPr>
        <p:spPr>
          <a:xfrm>
            <a:off x="278749" y="5528379"/>
            <a:ext cx="3828484" cy="830997"/>
          </a:xfrm>
          <a:prstGeom prst="rect">
            <a:avLst/>
          </a:prstGeom>
          <a:noFill/>
        </p:spPr>
        <p:txBody>
          <a:bodyPr wrap="none" rtlCol="0">
            <a:spAutoFit/>
          </a:bodyPr>
          <a:lstStyle/>
          <a:p>
            <a:r>
              <a:rPr lang="en-US" sz="2400" dirty="0">
                <a:solidFill>
                  <a:schemeClr val="bg1"/>
                </a:solidFill>
              </a:rPr>
              <a:t>Quantum Computing </a:t>
            </a:r>
            <a:r>
              <a:rPr lang="en-US" sz="2400" dirty="0" err="1">
                <a:solidFill>
                  <a:schemeClr val="bg1"/>
                </a:solidFill>
              </a:rPr>
              <a:t>Insitute</a:t>
            </a:r>
            <a:endParaRPr lang="en-US" sz="2400" dirty="0">
              <a:solidFill>
                <a:schemeClr val="bg1"/>
              </a:solidFill>
            </a:endParaRPr>
          </a:p>
          <a:p>
            <a:r>
              <a:rPr lang="en-US" sz="2400" dirty="0">
                <a:solidFill>
                  <a:schemeClr val="bg1"/>
                </a:solidFill>
              </a:rPr>
              <a:t>https://</a:t>
            </a:r>
            <a:r>
              <a:rPr lang="en-US" sz="2400" dirty="0" err="1">
                <a:solidFill>
                  <a:schemeClr val="bg1"/>
                </a:solidFill>
              </a:rPr>
              <a:t>qcict.org</a:t>
            </a:r>
            <a:endParaRPr lang="en-US" sz="2400" dirty="0">
              <a:solidFill>
                <a:schemeClr val="bg1"/>
              </a:solidFill>
            </a:endParaRPr>
          </a:p>
        </p:txBody>
      </p:sp>
    </p:spTree>
    <p:extLst>
      <p:ext uri="{BB962C8B-B14F-4D97-AF65-F5344CB8AC3E}">
        <p14:creationId xmlns:p14="http://schemas.microsoft.com/office/powerpoint/2010/main" val="893513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ACD76198-A170-244F-8E01-958C5082327E}"/>
              </a:ext>
            </a:extLst>
          </p:cNvPr>
          <p:cNvSpPr/>
          <p:nvPr/>
        </p:nvSpPr>
        <p:spPr>
          <a:xfrm>
            <a:off x="1979080" y="3056126"/>
            <a:ext cx="1854925" cy="12691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data</a:t>
            </a:r>
            <a:br>
              <a:rPr lang="en-US" sz="2400" dirty="0">
                <a:solidFill>
                  <a:schemeClr val="tx1"/>
                </a:solidFill>
              </a:rPr>
            </a:br>
            <a:r>
              <a:rPr lang="en-US" sz="2400" dirty="0">
                <a:solidFill>
                  <a:schemeClr val="tx1"/>
                </a:solidFill>
              </a:rPr>
              <a:t>encoding</a:t>
            </a:r>
          </a:p>
        </p:txBody>
      </p:sp>
      <p:sp>
        <p:nvSpPr>
          <p:cNvPr id="61" name="Oval 60">
            <a:extLst>
              <a:ext uri="{FF2B5EF4-FFF2-40B4-BE49-F238E27FC236}">
                <a16:creationId xmlns:a16="http://schemas.microsoft.com/office/drawing/2014/main" id="{F65DE292-4835-8542-A2D8-B1AF7A819864}"/>
              </a:ext>
            </a:extLst>
          </p:cNvPr>
          <p:cNvSpPr/>
          <p:nvPr/>
        </p:nvSpPr>
        <p:spPr>
          <a:xfrm>
            <a:off x="2735366" y="4142933"/>
            <a:ext cx="540000" cy="54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73" name="Group 72">
            <a:extLst>
              <a:ext uri="{FF2B5EF4-FFF2-40B4-BE49-F238E27FC236}">
                <a16:creationId xmlns:a16="http://schemas.microsoft.com/office/drawing/2014/main" id="{37DF358F-5CC4-4243-9A7B-C18977F6EBA4}"/>
              </a:ext>
            </a:extLst>
          </p:cNvPr>
          <p:cNvGrpSpPr/>
          <p:nvPr/>
        </p:nvGrpSpPr>
        <p:grpSpPr>
          <a:xfrm>
            <a:off x="7478329" y="4303445"/>
            <a:ext cx="1854925" cy="1529683"/>
            <a:chOff x="6559779" y="4766123"/>
            <a:chExt cx="1854925" cy="1529683"/>
          </a:xfrm>
          <a:solidFill>
            <a:srgbClr val="30E845"/>
          </a:solidFill>
        </p:grpSpPr>
        <p:sp>
          <p:nvSpPr>
            <p:cNvPr id="74" name="Rectangle 73">
              <a:extLst>
                <a:ext uri="{FF2B5EF4-FFF2-40B4-BE49-F238E27FC236}">
                  <a16:creationId xmlns:a16="http://schemas.microsoft.com/office/drawing/2014/main" id="{46270EED-CAAA-8E49-A70B-BA42691B2791}"/>
                </a:ext>
              </a:extLst>
            </p:cNvPr>
            <p:cNvSpPr/>
            <p:nvPr/>
          </p:nvSpPr>
          <p:spPr>
            <a:xfrm>
              <a:off x="6559779" y="4766123"/>
              <a:ext cx="1854925" cy="126910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quantum</a:t>
              </a:r>
              <a:br>
                <a:rPr lang="en-US" sz="2400" dirty="0">
                  <a:solidFill>
                    <a:schemeClr val="tx1"/>
                  </a:solidFill>
                </a:rPr>
              </a:br>
              <a:r>
                <a:rPr lang="en-US" sz="2400" dirty="0">
                  <a:solidFill>
                    <a:schemeClr val="tx1"/>
                  </a:solidFill>
                </a:rPr>
                <a:t>oracle</a:t>
              </a:r>
            </a:p>
          </p:txBody>
        </p:sp>
        <p:sp>
          <p:nvSpPr>
            <p:cNvPr id="77" name="Oval 76">
              <a:extLst>
                <a:ext uri="{FF2B5EF4-FFF2-40B4-BE49-F238E27FC236}">
                  <a16:creationId xmlns:a16="http://schemas.microsoft.com/office/drawing/2014/main" id="{FCAF6A7C-682B-1B40-AC3E-7F273B2466E9}"/>
                </a:ext>
              </a:extLst>
            </p:cNvPr>
            <p:cNvSpPr/>
            <p:nvPr/>
          </p:nvSpPr>
          <p:spPr>
            <a:xfrm>
              <a:off x="7151921" y="5755806"/>
              <a:ext cx="540000" cy="540000"/>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21" name="Group 20">
            <a:extLst>
              <a:ext uri="{FF2B5EF4-FFF2-40B4-BE49-F238E27FC236}">
                <a16:creationId xmlns:a16="http://schemas.microsoft.com/office/drawing/2014/main" id="{E138AB3D-B8B6-0D4B-9447-46E760EA3A54}"/>
              </a:ext>
            </a:extLst>
          </p:cNvPr>
          <p:cNvGrpSpPr/>
          <p:nvPr/>
        </p:nvGrpSpPr>
        <p:grpSpPr>
          <a:xfrm>
            <a:off x="5652278" y="1782787"/>
            <a:ext cx="2192251" cy="1269106"/>
            <a:chOff x="5652278" y="1782787"/>
            <a:chExt cx="2192251" cy="1269106"/>
          </a:xfrm>
        </p:grpSpPr>
        <p:sp>
          <p:nvSpPr>
            <p:cNvPr id="20" name="Rectangle 19">
              <a:extLst>
                <a:ext uri="{FF2B5EF4-FFF2-40B4-BE49-F238E27FC236}">
                  <a16:creationId xmlns:a16="http://schemas.microsoft.com/office/drawing/2014/main" id="{DD5547B1-7D26-054D-8726-69A22C27A65B}"/>
                </a:ext>
              </a:extLst>
            </p:cNvPr>
            <p:cNvSpPr/>
            <p:nvPr/>
          </p:nvSpPr>
          <p:spPr>
            <a:xfrm>
              <a:off x="5652278" y="1782787"/>
              <a:ext cx="1854925" cy="1269106"/>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9" name="TextBox 8">
              <a:extLst>
                <a:ext uri="{FF2B5EF4-FFF2-40B4-BE49-F238E27FC236}">
                  <a16:creationId xmlns:a16="http://schemas.microsoft.com/office/drawing/2014/main" id="{224B61A0-2DF0-2844-8937-22CF8E2214EC}"/>
                </a:ext>
              </a:extLst>
            </p:cNvPr>
            <p:cNvSpPr txBox="1"/>
            <p:nvPr/>
          </p:nvSpPr>
          <p:spPr>
            <a:xfrm>
              <a:off x="5909319" y="2028132"/>
              <a:ext cx="1935210" cy="830997"/>
            </a:xfrm>
            <a:prstGeom prst="rect">
              <a:avLst/>
            </a:prstGeom>
            <a:noFill/>
          </p:spPr>
          <p:txBody>
            <a:bodyPr wrap="none" rtlCol="0">
              <a:spAutoFit/>
            </a:bodyPr>
            <a:lstStyle/>
            <a:p>
              <a:r>
                <a:rPr lang="en-US" sz="2400" dirty="0"/>
                <a:t>quantum</a:t>
              </a:r>
              <a:br>
                <a:rPr lang="en-US" sz="2400" dirty="0"/>
              </a:br>
              <a:r>
                <a:rPr lang="en-US" sz="2400" dirty="0"/>
                <a:t>entanglement</a:t>
              </a:r>
            </a:p>
          </p:txBody>
        </p:sp>
      </p:grpSp>
      <p:sp>
        <p:nvSpPr>
          <p:cNvPr id="2" name="Title 1">
            <a:extLst>
              <a:ext uri="{FF2B5EF4-FFF2-40B4-BE49-F238E27FC236}">
                <a16:creationId xmlns:a16="http://schemas.microsoft.com/office/drawing/2014/main" id="{4802B832-209C-EC4A-902C-370919348FCA}"/>
              </a:ext>
            </a:extLst>
          </p:cNvPr>
          <p:cNvSpPr>
            <a:spLocks noGrp="1"/>
          </p:cNvSpPr>
          <p:nvPr>
            <p:ph type="title"/>
          </p:nvPr>
        </p:nvSpPr>
        <p:spPr/>
        <p:txBody>
          <a:bodyPr/>
          <a:lstStyle/>
          <a:p>
            <a:r>
              <a:rPr lang="en-ZA" dirty="0"/>
              <a:t>Core components of quantum algorithms</a:t>
            </a:r>
            <a:endParaRPr lang="en-US" dirty="0"/>
          </a:p>
        </p:txBody>
      </p:sp>
      <p:sp>
        <p:nvSpPr>
          <p:cNvPr id="3" name="Slide Number Placeholder 2">
            <a:extLst>
              <a:ext uri="{FF2B5EF4-FFF2-40B4-BE49-F238E27FC236}">
                <a16:creationId xmlns:a16="http://schemas.microsoft.com/office/drawing/2014/main" id="{0182D79F-BA28-B547-90F5-57BE877AA723}"/>
              </a:ext>
            </a:extLst>
          </p:cNvPr>
          <p:cNvSpPr>
            <a:spLocks noGrp="1"/>
          </p:cNvSpPr>
          <p:nvPr>
            <p:ph type="sldNum" sz="quarter" idx="12"/>
          </p:nvPr>
        </p:nvSpPr>
        <p:spPr/>
        <p:txBody>
          <a:bodyPr/>
          <a:lstStyle/>
          <a:p>
            <a:fld id="{591A223C-FA10-BC46-A853-03BA373D023C}" type="slidenum">
              <a:rPr lang="en-US" smtClean="0"/>
              <a:t>2</a:t>
            </a:fld>
            <a:endParaRPr lang="en-US"/>
          </a:p>
        </p:txBody>
      </p:sp>
      <p:grpSp>
        <p:nvGrpSpPr>
          <p:cNvPr id="39" name="Group 38">
            <a:extLst>
              <a:ext uri="{FF2B5EF4-FFF2-40B4-BE49-F238E27FC236}">
                <a16:creationId xmlns:a16="http://schemas.microsoft.com/office/drawing/2014/main" id="{140BC1B8-5D32-F642-AB1C-60EBD23805CF}"/>
              </a:ext>
            </a:extLst>
          </p:cNvPr>
          <p:cNvGrpSpPr/>
          <p:nvPr/>
        </p:nvGrpSpPr>
        <p:grpSpPr>
          <a:xfrm>
            <a:off x="5642918" y="4013217"/>
            <a:ext cx="1854925" cy="1828127"/>
            <a:chOff x="6559779" y="4467679"/>
            <a:chExt cx="1854925" cy="1828127"/>
          </a:xfrm>
        </p:grpSpPr>
        <p:sp>
          <p:nvSpPr>
            <p:cNvPr id="17" name="Rectangle 16">
              <a:extLst>
                <a:ext uri="{FF2B5EF4-FFF2-40B4-BE49-F238E27FC236}">
                  <a16:creationId xmlns:a16="http://schemas.microsoft.com/office/drawing/2014/main" id="{C72A4E01-6E88-3647-BD17-1933420AC5A1}"/>
                </a:ext>
              </a:extLst>
            </p:cNvPr>
            <p:cNvSpPr/>
            <p:nvPr/>
          </p:nvSpPr>
          <p:spPr>
            <a:xfrm>
              <a:off x="6559779" y="4766123"/>
              <a:ext cx="1854925" cy="126910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function</a:t>
              </a:r>
              <a:br>
                <a:rPr lang="en-US" sz="2400" dirty="0">
                  <a:solidFill>
                    <a:schemeClr val="tx1"/>
                  </a:solidFill>
                </a:rPr>
              </a:br>
              <a:r>
                <a:rPr lang="en-US" sz="2400" dirty="0">
                  <a:solidFill>
                    <a:schemeClr val="tx1"/>
                  </a:solidFill>
                </a:rPr>
                <a:t>evaluation</a:t>
              </a:r>
            </a:p>
          </p:txBody>
        </p:sp>
        <p:sp>
          <p:nvSpPr>
            <p:cNvPr id="24" name="Rectangle 23">
              <a:extLst>
                <a:ext uri="{FF2B5EF4-FFF2-40B4-BE49-F238E27FC236}">
                  <a16:creationId xmlns:a16="http://schemas.microsoft.com/office/drawing/2014/main" id="{D925F201-6822-C145-92BA-730972C8C770}"/>
                </a:ext>
              </a:extLst>
            </p:cNvPr>
            <p:cNvSpPr/>
            <p:nvPr/>
          </p:nvSpPr>
          <p:spPr>
            <a:xfrm>
              <a:off x="7393521" y="4959842"/>
              <a:ext cx="184730" cy="461665"/>
            </a:xfrm>
            <a:prstGeom prst="rect">
              <a:avLst/>
            </a:prstGeom>
          </p:spPr>
          <p:txBody>
            <a:bodyPr wrap="none">
              <a:spAutoFit/>
            </a:bodyPr>
            <a:lstStyle/>
            <a:p>
              <a:pPr algn="ctr"/>
              <a:endParaRPr lang="en-US" sz="2400" dirty="0"/>
            </a:p>
          </p:txBody>
        </p:sp>
        <p:sp>
          <p:nvSpPr>
            <p:cNvPr id="28" name="Oval 27">
              <a:extLst>
                <a:ext uri="{FF2B5EF4-FFF2-40B4-BE49-F238E27FC236}">
                  <a16:creationId xmlns:a16="http://schemas.microsoft.com/office/drawing/2014/main" id="{3AC40392-0AA6-6041-9403-C4C7AF68C34D}"/>
                </a:ext>
              </a:extLst>
            </p:cNvPr>
            <p:cNvSpPr/>
            <p:nvPr/>
          </p:nvSpPr>
          <p:spPr>
            <a:xfrm>
              <a:off x="7229086" y="4467679"/>
              <a:ext cx="540000" cy="54000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 name="Oval 28">
              <a:extLst>
                <a:ext uri="{FF2B5EF4-FFF2-40B4-BE49-F238E27FC236}">
                  <a16:creationId xmlns:a16="http://schemas.microsoft.com/office/drawing/2014/main" id="{436A81DA-7561-D14D-9CDE-9AC13F340A00}"/>
                </a:ext>
              </a:extLst>
            </p:cNvPr>
            <p:cNvSpPr/>
            <p:nvPr/>
          </p:nvSpPr>
          <p:spPr>
            <a:xfrm>
              <a:off x="7151921" y="5755806"/>
              <a:ext cx="540000" cy="54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47" name="Oval 46">
            <a:extLst>
              <a:ext uri="{FF2B5EF4-FFF2-40B4-BE49-F238E27FC236}">
                <a16:creationId xmlns:a16="http://schemas.microsoft.com/office/drawing/2014/main" id="{CE8BC14E-7372-4A42-B89E-507D36874E93}"/>
              </a:ext>
            </a:extLst>
          </p:cNvPr>
          <p:cNvSpPr/>
          <p:nvPr/>
        </p:nvSpPr>
        <p:spPr>
          <a:xfrm>
            <a:off x="4403234" y="2710655"/>
            <a:ext cx="540000" cy="54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60" name="Group 59">
            <a:extLst>
              <a:ext uri="{FF2B5EF4-FFF2-40B4-BE49-F238E27FC236}">
                <a16:creationId xmlns:a16="http://schemas.microsoft.com/office/drawing/2014/main" id="{8B941356-08C4-5C45-86DE-C6EAB4501A3B}"/>
              </a:ext>
            </a:extLst>
          </p:cNvPr>
          <p:cNvGrpSpPr/>
          <p:nvPr/>
        </p:nvGrpSpPr>
        <p:grpSpPr>
          <a:xfrm>
            <a:off x="7172315" y="3036640"/>
            <a:ext cx="2642852" cy="1648848"/>
            <a:chOff x="9078622" y="3149817"/>
            <a:chExt cx="2642852" cy="1648848"/>
          </a:xfrm>
        </p:grpSpPr>
        <p:sp>
          <p:nvSpPr>
            <p:cNvPr id="59" name="Oval 58">
              <a:extLst>
                <a:ext uri="{FF2B5EF4-FFF2-40B4-BE49-F238E27FC236}">
                  <a16:creationId xmlns:a16="http://schemas.microsoft.com/office/drawing/2014/main" id="{F018DB25-6E12-5348-833C-C7AD6C2A3A12}"/>
                </a:ext>
              </a:extLst>
            </p:cNvPr>
            <p:cNvSpPr/>
            <p:nvPr/>
          </p:nvSpPr>
          <p:spPr>
            <a:xfrm>
              <a:off x="10131591" y="4258665"/>
              <a:ext cx="540000" cy="54000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Rectangle 17">
              <a:extLst>
                <a:ext uri="{FF2B5EF4-FFF2-40B4-BE49-F238E27FC236}">
                  <a16:creationId xmlns:a16="http://schemas.microsoft.com/office/drawing/2014/main" id="{235CD185-AF93-0E43-A177-5635BF4AF6FB}"/>
                </a:ext>
              </a:extLst>
            </p:cNvPr>
            <p:cNvSpPr/>
            <p:nvPr/>
          </p:nvSpPr>
          <p:spPr>
            <a:xfrm>
              <a:off x="9407260" y="3149817"/>
              <a:ext cx="2037014" cy="1269106"/>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Fourier</a:t>
              </a:r>
              <a:br>
                <a:rPr lang="en-US" sz="2400" dirty="0">
                  <a:solidFill>
                    <a:schemeClr val="tx1"/>
                  </a:solidFill>
                </a:rPr>
              </a:br>
              <a:r>
                <a:rPr lang="en-US" sz="2400" dirty="0">
                  <a:solidFill>
                    <a:schemeClr val="tx1"/>
                  </a:solidFill>
                </a:rPr>
                <a:t>transform</a:t>
              </a:r>
            </a:p>
          </p:txBody>
        </p:sp>
        <p:sp>
          <p:nvSpPr>
            <p:cNvPr id="33" name="Oval 32">
              <a:extLst>
                <a:ext uri="{FF2B5EF4-FFF2-40B4-BE49-F238E27FC236}">
                  <a16:creationId xmlns:a16="http://schemas.microsoft.com/office/drawing/2014/main" id="{F8AE0B5B-2CEC-A443-8A3B-B434A1F6BD05}"/>
                </a:ext>
              </a:extLst>
            </p:cNvPr>
            <p:cNvSpPr/>
            <p:nvPr/>
          </p:nvSpPr>
          <p:spPr>
            <a:xfrm>
              <a:off x="11181474" y="3534059"/>
              <a:ext cx="540000" cy="54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0" name="Oval 49">
              <a:extLst>
                <a:ext uri="{FF2B5EF4-FFF2-40B4-BE49-F238E27FC236}">
                  <a16:creationId xmlns:a16="http://schemas.microsoft.com/office/drawing/2014/main" id="{8B976265-9721-6949-90A8-809F6BBE93E7}"/>
                </a:ext>
              </a:extLst>
            </p:cNvPr>
            <p:cNvSpPr/>
            <p:nvPr/>
          </p:nvSpPr>
          <p:spPr>
            <a:xfrm>
              <a:off x="9078622" y="3502626"/>
              <a:ext cx="540000" cy="54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58" name="Group 57">
            <a:extLst>
              <a:ext uri="{FF2B5EF4-FFF2-40B4-BE49-F238E27FC236}">
                <a16:creationId xmlns:a16="http://schemas.microsoft.com/office/drawing/2014/main" id="{1C7B1A51-4769-1A42-8EB6-7ADF9D640E8E}"/>
              </a:ext>
            </a:extLst>
          </p:cNvPr>
          <p:cNvGrpSpPr/>
          <p:nvPr/>
        </p:nvGrpSpPr>
        <p:grpSpPr>
          <a:xfrm rot="1219065">
            <a:off x="1938834" y="1587774"/>
            <a:ext cx="2087900" cy="1782667"/>
            <a:chOff x="2143100" y="2239274"/>
            <a:chExt cx="2087900" cy="1782667"/>
          </a:xfrm>
        </p:grpSpPr>
        <p:grpSp>
          <p:nvGrpSpPr>
            <p:cNvPr id="38" name="Group 37">
              <a:extLst>
                <a:ext uri="{FF2B5EF4-FFF2-40B4-BE49-F238E27FC236}">
                  <a16:creationId xmlns:a16="http://schemas.microsoft.com/office/drawing/2014/main" id="{EA9CFE06-C4B6-C042-9BC3-D5566A7EED0D}"/>
                </a:ext>
              </a:extLst>
            </p:cNvPr>
            <p:cNvGrpSpPr/>
            <p:nvPr/>
          </p:nvGrpSpPr>
          <p:grpSpPr>
            <a:xfrm rot="20306955">
              <a:off x="2143100" y="2239274"/>
              <a:ext cx="1854925" cy="1782667"/>
              <a:chOff x="2143099" y="2239273"/>
              <a:chExt cx="1854925" cy="1782667"/>
            </a:xfrm>
          </p:grpSpPr>
          <p:sp>
            <p:nvSpPr>
              <p:cNvPr id="19" name="Rectangle 18">
                <a:extLst>
                  <a:ext uri="{FF2B5EF4-FFF2-40B4-BE49-F238E27FC236}">
                    <a16:creationId xmlns:a16="http://schemas.microsoft.com/office/drawing/2014/main" id="{0B83367A-CC6B-1146-8082-C8AB9CFBBD38}"/>
                  </a:ext>
                </a:extLst>
              </p:cNvPr>
              <p:cNvSpPr/>
              <p:nvPr/>
            </p:nvSpPr>
            <p:spPr>
              <a:xfrm>
                <a:off x="2143099" y="2509273"/>
                <a:ext cx="1854925" cy="126910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26" name="Oval 25">
                <a:extLst>
                  <a:ext uri="{FF2B5EF4-FFF2-40B4-BE49-F238E27FC236}">
                    <a16:creationId xmlns:a16="http://schemas.microsoft.com/office/drawing/2014/main" id="{5A55725A-8DC3-9142-BBA4-0521CAE81B59}"/>
                  </a:ext>
                </a:extLst>
              </p:cNvPr>
              <p:cNvSpPr/>
              <p:nvPr/>
            </p:nvSpPr>
            <p:spPr>
              <a:xfrm>
                <a:off x="2919040" y="3481940"/>
                <a:ext cx="540000" cy="54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6" name="Oval 35">
                <a:extLst>
                  <a:ext uri="{FF2B5EF4-FFF2-40B4-BE49-F238E27FC236}">
                    <a16:creationId xmlns:a16="http://schemas.microsoft.com/office/drawing/2014/main" id="{22A1F247-E6DA-F848-96A2-AFC39AB7C9B6}"/>
                  </a:ext>
                </a:extLst>
              </p:cNvPr>
              <p:cNvSpPr/>
              <p:nvPr/>
            </p:nvSpPr>
            <p:spPr>
              <a:xfrm>
                <a:off x="2829796" y="2239273"/>
                <a:ext cx="540000" cy="540000"/>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Rectangle 24">
                <a:extLst>
                  <a:ext uri="{FF2B5EF4-FFF2-40B4-BE49-F238E27FC236}">
                    <a16:creationId xmlns:a16="http://schemas.microsoft.com/office/drawing/2014/main" id="{1CFB1CCD-6574-1343-AB8D-EB579AAB5413}"/>
                  </a:ext>
                </a:extLst>
              </p:cNvPr>
              <p:cNvSpPr/>
              <p:nvPr/>
            </p:nvSpPr>
            <p:spPr>
              <a:xfrm>
                <a:off x="2297439" y="2700609"/>
                <a:ext cx="1515223" cy="830997"/>
              </a:xfrm>
              <a:prstGeom prst="rect">
                <a:avLst/>
              </a:prstGeom>
            </p:spPr>
            <p:txBody>
              <a:bodyPr wrap="none">
                <a:spAutoFit/>
              </a:bodyPr>
              <a:lstStyle/>
              <a:p>
                <a:pPr algn="ctr"/>
                <a:r>
                  <a:rPr lang="en-US" sz="2400" dirty="0"/>
                  <a:t>phase</a:t>
                </a:r>
                <a:br>
                  <a:rPr lang="en-US" sz="2400" dirty="0"/>
                </a:br>
                <a:r>
                  <a:rPr lang="en-US" sz="2400" dirty="0"/>
                  <a:t>estimation</a:t>
                </a:r>
              </a:p>
            </p:txBody>
          </p:sp>
        </p:grpSp>
        <p:sp>
          <p:nvSpPr>
            <p:cNvPr id="54" name="Oval 53">
              <a:extLst>
                <a:ext uri="{FF2B5EF4-FFF2-40B4-BE49-F238E27FC236}">
                  <a16:creationId xmlns:a16="http://schemas.microsoft.com/office/drawing/2014/main" id="{2621331F-97FA-7D4A-8FB5-21DF32CF7E9B}"/>
                </a:ext>
              </a:extLst>
            </p:cNvPr>
            <p:cNvSpPr/>
            <p:nvPr/>
          </p:nvSpPr>
          <p:spPr>
            <a:xfrm>
              <a:off x="3691000" y="2524137"/>
              <a:ext cx="540000" cy="54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4" name="Group 3">
            <a:extLst>
              <a:ext uri="{FF2B5EF4-FFF2-40B4-BE49-F238E27FC236}">
                <a16:creationId xmlns:a16="http://schemas.microsoft.com/office/drawing/2014/main" id="{25246F11-474E-6146-A733-00FF01FDF2A8}"/>
              </a:ext>
            </a:extLst>
          </p:cNvPr>
          <p:cNvGrpSpPr/>
          <p:nvPr/>
        </p:nvGrpSpPr>
        <p:grpSpPr>
          <a:xfrm>
            <a:off x="3367300" y="3018531"/>
            <a:ext cx="2712561" cy="1513507"/>
            <a:chOff x="3367300" y="3031783"/>
            <a:chExt cx="2712561" cy="1513507"/>
          </a:xfrm>
        </p:grpSpPr>
        <p:grpSp>
          <p:nvGrpSpPr>
            <p:cNvPr id="43" name="Group 42">
              <a:extLst>
                <a:ext uri="{FF2B5EF4-FFF2-40B4-BE49-F238E27FC236}">
                  <a16:creationId xmlns:a16="http://schemas.microsoft.com/office/drawing/2014/main" id="{945F0633-0ED5-0048-994D-F72A9046CCD8}"/>
                </a:ext>
              </a:extLst>
            </p:cNvPr>
            <p:cNvGrpSpPr/>
            <p:nvPr/>
          </p:nvGrpSpPr>
          <p:grpSpPr>
            <a:xfrm>
              <a:off x="3367300" y="3031783"/>
              <a:ext cx="2712561" cy="1269106"/>
              <a:chOff x="4260747" y="2532185"/>
              <a:chExt cx="2712561" cy="1269106"/>
            </a:xfrm>
          </p:grpSpPr>
          <p:sp>
            <p:nvSpPr>
              <p:cNvPr id="5" name="Rectangle 4">
                <a:extLst>
                  <a:ext uri="{FF2B5EF4-FFF2-40B4-BE49-F238E27FC236}">
                    <a16:creationId xmlns:a16="http://schemas.microsoft.com/office/drawing/2014/main" id="{4A3C62BA-4E98-8849-8512-1C0C2A9B94B9}"/>
                  </a:ext>
                </a:extLst>
              </p:cNvPr>
              <p:cNvSpPr/>
              <p:nvPr/>
            </p:nvSpPr>
            <p:spPr>
              <a:xfrm>
                <a:off x="4599508" y="2532185"/>
                <a:ext cx="2160233" cy="1269106"/>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quantum</a:t>
                </a:r>
                <a:br>
                  <a:rPr lang="en-US" sz="2400" dirty="0">
                    <a:solidFill>
                      <a:schemeClr val="tx1"/>
                    </a:solidFill>
                  </a:rPr>
                </a:br>
                <a:r>
                  <a:rPr lang="en-US" sz="2400" dirty="0">
                    <a:solidFill>
                      <a:schemeClr val="tx1"/>
                    </a:solidFill>
                  </a:rPr>
                  <a:t>superposition</a:t>
                </a:r>
              </a:p>
            </p:txBody>
          </p:sp>
          <p:sp>
            <p:nvSpPr>
              <p:cNvPr id="7" name="Oval 6">
                <a:extLst>
                  <a:ext uri="{FF2B5EF4-FFF2-40B4-BE49-F238E27FC236}">
                    <a16:creationId xmlns:a16="http://schemas.microsoft.com/office/drawing/2014/main" id="{99CE6856-52E1-8045-82B6-467580E52099}"/>
                  </a:ext>
                </a:extLst>
              </p:cNvPr>
              <p:cNvSpPr/>
              <p:nvPr/>
            </p:nvSpPr>
            <p:spPr>
              <a:xfrm>
                <a:off x="6433308" y="2896738"/>
                <a:ext cx="540000" cy="540000"/>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Oval 5">
                <a:extLst>
                  <a:ext uri="{FF2B5EF4-FFF2-40B4-BE49-F238E27FC236}">
                    <a16:creationId xmlns:a16="http://schemas.microsoft.com/office/drawing/2014/main" id="{934CBA18-4DC9-3E42-9E5A-6610E4F9D165}"/>
                  </a:ext>
                </a:extLst>
              </p:cNvPr>
              <p:cNvSpPr/>
              <p:nvPr/>
            </p:nvSpPr>
            <p:spPr>
              <a:xfrm>
                <a:off x="4260747" y="2896738"/>
                <a:ext cx="540000" cy="540000"/>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53" name="Oval 52">
              <a:extLst>
                <a:ext uri="{FF2B5EF4-FFF2-40B4-BE49-F238E27FC236}">
                  <a16:creationId xmlns:a16="http://schemas.microsoft.com/office/drawing/2014/main" id="{311D11D8-6EF1-EB4F-AE43-09D7280B3D46}"/>
                </a:ext>
              </a:extLst>
            </p:cNvPr>
            <p:cNvSpPr/>
            <p:nvPr/>
          </p:nvSpPr>
          <p:spPr>
            <a:xfrm>
              <a:off x="4436079" y="4005290"/>
              <a:ext cx="540000" cy="54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8" name="Group 7">
            <a:extLst>
              <a:ext uri="{FF2B5EF4-FFF2-40B4-BE49-F238E27FC236}">
                <a16:creationId xmlns:a16="http://schemas.microsoft.com/office/drawing/2014/main" id="{59C5FC78-451F-384D-BC28-61D107E82A23}"/>
              </a:ext>
            </a:extLst>
          </p:cNvPr>
          <p:cNvGrpSpPr/>
          <p:nvPr/>
        </p:nvGrpSpPr>
        <p:grpSpPr>
          <a:xfrm>
            <a:off x="5649968" y="2795441"/>
            <a:ext cx="2190763" cy="1766255"/>
            <a:chOff x="5630893" y="2764651"/>
            <a:chExt cx="2190763" cy="1766255"/>
          </a:xfrm>
        </p:grpSpPr>
        <p:grpSp>
          <p:nvGrpSpPr>
            <p:cNvPr id="56" name="Group 55">
              <a:extLst>
                <a:ext uri="{FF2B5EF4-FFF2-40B4-BE49-F238E27FC236}">
                  <a16:creationId xmlns:a16="http://schemas.microsoft.com/office/drawing/2014/main" id="{7B877F41-10A5-E34C-995A-02E00390F40D}"/>
                </a:ext>
              </a:extLst>
            </p:cNvPr>
            <p:cNvGrpSpPr/>
            <p:nvPr/>
          </p:nvGrpSpPr>
          <p:grpSpPr>
            <a:xfrm>
              <a:off x="5630893" y="2764651"/>
              <a:ext cx="2190763" cy="1766255"/>
              <a:chOff x="6544489" y="2276371"/>
              <a:chExt cx="2190763" cy="1766255"/>
            </a:xfrm>
          </p:grpSpPr>
          <p:sp>
            <p:nvSpPr>
              <p:cNvPr id="34" name="Oval 33">
                <a:extLst>
                  <a:ext uri="{FF2B5EF4-FFF2-40B4-BE49-F238E27FC236}">
                    <a16:creationId xmlns:a16="http://schemas.microsoft.com/office/drawing/2014/main" id="{1AF8F423-E539-2142-8B8D-096A487CE0F2}"/>
                  </a:ext>
                </a:extLst>
              </p:cNvPr>
              <p:cNvSpPr/>
              <p:nvPr/>
            </p:nvSpPr>
            <p:spPr>
              <a:xfrm>
                <a:off x="8195252" y="2889629"/>
                <a:ext cx="540000" cy="540000"/>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Rectangle 14">
                <a:extLst>
                  <a:ext uri="{FF2B5EF4-FFF2-40B4-BE49-F238E27FC236}">
                    <a16:creationId xmlns:a16="http://schemas.microsoft.com/office/drawing/2014/main" id="{6CBCBEEF-FF4E-EA4B-9781-BCBA3C34212D}"/>
                  </a:ext>
                </a:extLst>
              </p:cNvPr>
              <p:cNvSpPr/>
              <p:nvPr/>
            </p:nvSpPr>
            <p:spPr>
              <a:xfrm>
                <a:off x="6544489" y="2524137"/>
                <a:ext cx="1854925" cy="126910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48" name="Oval 47">
                <a:extLst>
                  <a:ext uri="{FF2B5EF4-FFF2-40B4-BE49-F238E27FC236}">
                    <a16:creationId xmlns:a16="http://schemas.microsoft.com/office/drawing/2014/main" id="{B30B9351-C2D5-F34D-891E-C95752B9058E}"/>
                  </a:ext>
                </a:extLst>
              </p:cNvPr>
              <p:cNvSpPr/>
              <p:nvPr/>
            </p:nvSpPr>
            <p:spPr>
              <a:xfrm>
                <a:off x="7241423" y="2276371"/>
                <a:ext cx="540000" cy="540000"/>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Oval 48">
                <a:extLst>
                  <a:ext uri="{FF2B5EF4-FFF2-40B4-BE49-F238E27FC236}">
                    <a16:creationId xmlns:a16="http://schemas.microsoft.com/office/drawing/2014/main" id="{03A3582F-ACBE-A64E-A998-5BB2550571C2}"/>
                  </a:ext>
                </a:extLst>
              </p:cNvPr>
              <p:cNvSpPr/>
              <p:nvPr/>
            </p:nvSpPr>
            <p:spPr>
              <a:xfrm>
                <a:off x="7164036" y="3502626"/>
                <a:ext cx="540000" cy="540000"/>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2" name="TextBox 21">
              <a:extLst>
                <a:ext uri="{FF2B5EF4-FFF2-40B4-BE49-F238E27FC236}">
                  <a16:creationId xmlns:a16="http://schemas.microsoft.com/office/drawing/2014/main" id="{065B09F8-1090-4E4B-A736-4F9C34C5AEBD}"/>
                </a:ext>
              </a:extLst>
            </p:cNvPr>
            <p:cNvSpPr txBox="1"/>
            <p:nvPr/>
          </p:nvSpPr>
          <p:spPr>
            <a:xfrm>
              <a:off x="5760288" y="3218759"/>
              <a:ext cx="1718419" cy="830997"/>
            </a:xfrm>
            <a:prstGeom prst="rect">
              <a:avLst/>
            </a:prstGeom>
            <a:noFill/>
          </p:spPr>
          <p:txBody>
            <a:bodyPr wrap="none" rtlCol="0">
              <a:spAutoFit/>
            </a:bodyPr>
            <a:lstStyle/>
            <a:p>
              <a:r>
                <a:rPr lang="en-US" sz="2400" dirty="0"/>
                <a:t>quantum</a:t>
              </a:r>
              <a:br>
                <a:rPr lang="en-US" sz="2400" dirty="0"/>
              </a:br>
              <a:r>
                <a:rPr lang="en-US" sz="2400" dirty="0"/>
                <a:t>interference</a:t>
              </a:r>
            </a:p>
          </p:txBody>
        </p:sp>
      </p:grpSp>
      <p:grpSp>
        <p:nvGrpSpPr>
          <p:cNvPr id="64" name="Group 63">
            <a:extLst>
              <a:ext uri="{FF2B5EF4-FFF2-40B4-BE49-F238E27FC236}">
                <a16:creationId xmlns:a16="http://schemas.microsoft.com/office/drawing/2014/main" id="{43DB372F-BDC7-3045-8946-F7F3F7756F99}"/>
              </a:ext>
            </a:extLst>
          </p:cNvPr>
          <p:cNvGrpSpPr/>
          <p:nvPr/>
        </p:nvGrpSpPr>
        <p:grpSpPr>
          <a:xfrm>
            <a:off x="3458050" y="1487125"/>
            <a:ext cx="2577646" cy="1826818"/>
            <a:chOff x="3991726" y="677042"/>
            <a:chExt cx="2577646" cy="1826818"/>
          </a:xfrm>
        </p:grpSpPr>
        <p:sp>
          <p:nvSpPr>
            <p:cNvPr id="62" name="Oval 61">
              <a:extLst>
                <a:ext uri="{FF2B5EF4-FFF2-40B4-BE49-F238E27FC236}">
                  <a16:creationId xmlns:a16="http://schemas.microsoft.com/office/drawing/2014/main" id="{1EF990B4-B9E6-774C-9CD0-1305674BACDB}"/>
                </a:ext>
              </a:extLst>
            </p:cNvPr>
            <p:cNvSpPr/>
            <p:nvPr/>
          </p:nvSpPr>
          <p:spPr>
            <a:xfrm>
              <a:off x="6029372" y="1306833"/>
              <a:ext cx="540000" cy="626061"/>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Rectangle 15">
              <a:extLst>
                <a:ext uri="{FF2B5EF4-FFF2-40B4-BE49-F238E27FC236}">
                  <a16:creationId xmlns:a16="http://schemas.microsoft.com/office/drawing/2014/main" id="{4C254BA5-AE6E-4442-996F-31281E1AD26D}"/>
                </a:ext>
              </a:extLst>
            </p:cNvPr>
            <p:cNvSpPr/>
            <p:nvPr/>
          </p:nvSpPr>
          <p:spPr>
            <a:xfrm>
              <a:off x="4330659" y="960437"/>
              <a:ext cx="1854925" cy="126910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phase</a:t>
              </a:r>
              <a:br>
                <a:rPr lang="en-US" sz="2400" dirty="0">
                  <a:solidFill>
                    <a:schemeClr val="tx1"/>
                  </a:solidFill>
                </a:rPr>
              </a:br>
              <a:r>
                <a:rPr lang="en-US" sz="2400" dirty="0">
                  <a:solidFill>
                    <a:schemeClr val="tx1"/>
                  </a:solidFill>
                </a:rPr>
                <a:t>kickback</a:t>
              </a:r>
            </a:p>
          </p:txBody>
        </p:sp>
        <p:sp>
          <p:nvSpPr>
            <p:cNvPr id="11" name="Oval 10">
              <a:extLst>
                <a:ext uri="{FF2B5EF4-FFF2-40B4-BE49-F238E27FC236}">
                  <a16:creationId xmlns:a16="http://schemas.microsoft.com/office/drawing/2014/main" id="{5422B526-BD7D-5849-8642-552652F35035}"/>
                </a:ext>
              </a:extLst>
            </p:cNvPr>
            <p:cNvSpPr/>
            <p:nvPr/>
          </p:nvSpPr>
          <p:spPr>
            <a:xfrm>
              <a:off x="5002200" y="1877799"/>
              <a:ext cx="540000" cy="626061"/>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Oval 30">
              <a:extLst>
                <a:ext uri="{FF2B5EF4-FFF2-40B4-BE49-F238E27FC236}">
                  <a16:creationId xmlns:a16="http://schemas.microsoft.com/office/drawing/2014/main" id="{6B1FF869-EFFC-C340-B03F-4685475B545D}"/>
                </a:ext>
              </a:extLst>
            </p:cNvPr>
            <p:cNvSpPr/>
            <p:nvPr/>
          </p:nvSpPr>
          <p:spPr>
            <a:xfrm>
              <a:off x="4988121" y="677042"/>
              <a:ext cx="540000" cy="54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3" name="Oval 62">
              <a:extLst>
                <a:ext uri="{FF2B5EF4-FFF2-40B4-BE49-F238E27FC236}">
                  <a16:creationId xmlns:a16="http://schemas.microsoft.com/office/drawing/2014/main" id="{D3AAE706-63F3-144D-9CD9-F4BBE950E214}"/>
                </a:ext>
              </a:extLst>
            </p:cNvPr>
            <p:cNvSpPr/>
            <p:nvPr/>
          </p:nvSpPr>
          <p:spPr>
            <a:xfrm>
              <a:off x="3991726" y="1368997"/>
              <a:ext cx="540000" cy="626061"/>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68" name="Group 67">
            <a:extLst>
              <a:ext uri="{FF2B5EF4-FFF2-40B4-BE49-F238E27FC236}">
                <a16:creationId xmlns:a16="http://schemas.microsoft.com/office/drawing/2014/main" id="{ACA6416A-80C3-164F-82E6-8A6C05BB255E}"/>
              </a:ext>
            </a:extLst>
          </p:cNvPr>
          <p:cNvGrpSpPr/>
          <p:nvPr/>
        </p:nvGrpSpPr>
        <p:grpSpPr>
          <a:xfrm>
            <a:off x="7143978" y="1429994"/>
            <a:ext cx="2478627" cy="1621641"/>
            <a:chOff x="4334508" y="3501595"/>
            <a:chExt cx="2478627" cy="1621641"/>
          </a:xfrm>
        </p:grpSpPr>
        <p:sp>
          <p:nvSpPr>
            <p:cNvPr id="69" name="Rectangle 68">
              <a:extLst>
                <a:ext uri="{FF2B5EF4-FFF2-40B4-BE49-F238E27FC236}">
                  <a16:creationId xmlns:a16="http://schemas.microsoft.com/office/drawing/2014/main" id="{35E864BF-1BF0-8845-B2CC-FB0B8D0BD17E}"/>
                </a:ext>
              </a:extLst>
            </p:cNvPr>
            <p:cNvSpPr/>
            <p:nvPr/>
          </p:nvSpPr>
          <p:spPr>
            <a:xfrm>
              <a:off x="4676416" y="3854130"/>
              <a:ext cx="1962914" cy="1269106"/>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quantum</a:t>
              </a:r>
              <a:br>
                <a:rPr lang="en-US" sz="2400" dirty="0">
                  <a:solidFill>
                    <a:schemeClr val="tx1"/>
                  </a:solidFill>
                </a:rPr>
              </a:br>
              <a:r>
                <a:rPr lang="en-US" sz="2400" dirty="0">
                  <a:solidFill>
                    <a:schemeClr val="tx1"/>
                  </a:solidFill>
                </a:rPr>
                <a:t>measurement</a:t>
              </a:r>
            </a:p>
          </p:txBody>
        </p:sp>
        <p:sp>
          <p:nvSpPr>
            <p:cNvPr id="70" name="Oval 69">
              <a:extLst>
                <a:ext uri="{FF2B5EF4-FFF2-40B4-BE49-F238E27FC236}">
                  <a16:creationId xmlns:a16="http://schemas.microsoft.com/office/drawing/2014/main" id="{77385C91-A486-6248-BF06-C4CD676DC467}"/>
                </a:ext>
              </a:extLst>
            </p:cNvPr>
            <p:cNvSpPr/>
            <p:nvPr/>
          </p:nvSpPr>
          <p:spPr>
            <a:xfrm>
              <a:off x="5383238" y="3501595"/>
              <a:ext cx="540000" cy="540000"/>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1" name="Oval 70">
              <a:extLst>
                <a:ext uri="{FF2B5EF4-FFF2-40B4-BE49-F238E27FC236}">
                  <a16:creationId xmlns:a16="http://schemas.microsoft.com/office/drawing/2014/main" id="{8AF9252F-4467-644F-895B-29B4626E3802}"/>
                </a:ext>
              </a:extLst>
            </p:cNvPr>
            <p:cNvSpPr/>
            <p:nvPr/>
          </p:nvSpPr>
          <p:spPr>
            <a:xfrm>
              <a:off x="6273135" y="4132461"/>
              <a:ext cx="540000" cy="540000"/>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2" name="Oval 71">
              <a:extLst>
                <a:ext uri="{FF2B5EF4-FFF2-40B4-BE49-F238E27FC236}">
                  <a16:creationId xmlns:a16="http://schemas.microsoft.com/office/drawing/2014/main" id="{ABC71E5E-0F51-404D-BDB6-3D7C664E4546}"/>
                </a:ext>
              </a:extLst>
            </p:cNvPr>
            <p:cNvSpPr/>
            <p:nvPr/>
          </p:nvSpPr>
          <p:spPr>
            <a:xfrm>
              <a:off x="4334508" y="4153347"/>
              <a:ext cx="540000" cy="540000"/>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41" name="Group 40">
            <a:extLst>
              <a:ext uri="{FF2B5EF4-FFF2-40B4-BE49-F238E27FC236}">
                <a16:creationId xmlns:a16="http://schemas.microsoft.com/office/drawing/2014/main" id="{024AA2A4-42C7-4544-846C-661ED7C62D63}"/>
              </a:ext>
            </a:extLst>
          </p:cNvPr>
          <p:cNvGrpSpPr/>
          <p:nvPr/>
        </p:nvGrpSpPr>
        <p:grpSpPr>
          <a:xfrm>
            <a:off x="3430692" y="3991590"/>
            <a:ext cx="2478627" cy="1568802"/>
            <a:chOff x="4334508" y="3496019"/>
            <a:chExt cx="2478627" cy="1568802"/>
          </a:xfrm>
        </p:grpSpPr>
        <p:sp>
          <p:nvSpPr>
            <p:cNvPr id="14" name="Rectangle 13">
              <a:extLst>
                <a:ext uri="{FF2B5EF4-FFF2-40B4-BE49-F238E27FC236}">
                  <a16:creationId xmlns:a16="http://schemas.microsoft.com/office/drawing/2014/main" id="{D8FBC3CC-6116-0645-99AE-CD011ABFC935}"/>
                </a:ext>
              </a:extLst>
            </p:cNvPr>
            <p:cNvSpPr/>
            <p:nvPr/>
          </p:nvSpPr>
          <p:spPr>
            <a:xfrm>
              <a:off x="4689565" y="3795715"/>
              <a:ext cx="1854925" cy="1269106"/>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quantum</a:t>
              </a:r>
              <a:br>
                <a:rPr lang="en-US" sz="2400" dirty="0">
                  <a:solidFill>
                    <a:schemeClr val="tx1"/>
                  </a:solidFill>
                </a:rPr>
              </a:br>
              <a:r>
                <a:rPr lang="en-US" sz="2400" dirty="0">
                  <a:solidFill>
                    <a:schemeClr val="tx1"/>
                  </a:solidFill>
                </a:rPr>
                <a:t>arithmetic</a:t>
              </a:r>
            </a:p>
          </p:txBody>
        </p:sp>
        <p:sp>
          <p:nvSpPr>
            <p:cNvPr id="12" name="Oval 11">
              <a:extLst>
                <a:ext uri="{FF2B5EF4-FFF2-40B4-BE49-F238E27FC236}">
                  <a16:creationId xmlns:a16="http://schemas.microsoft.com/office/drawing/2014/main" id="{F5C14358-6B52-1B48-886B-3D02B2437FC8}"/>
                </a:ext>
              </a:extLst>
            </p:cNvPr>
            <p:cNvSpPr/>
            <p:nvPr/>
          </p:nvSpPr>
          <p:spPr>
            <a:xfrm>
              <a:off x="5338630" y="3496019"/>
              <a:ext cx="540000" cy="540000"/>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Oval 22">
              <a:extLst>
                <a:ext uri="{FF2B5EF4-FFF2-40B4-BE49-F238E27FC236}">
                  <a16:creationId xmlns:a16="http://schemas.microsoft.com/office/drawing/2014/main" id="{F3DCF9DD-24BD-2B41-8CE5-1BB719D8B4D9}"/>
                </a:ext>
              </a:extLst>
            </p:cNvPr>
            <p:cNvSpPr/>
            <p:nvPr/>
          </p:nvSpPr>
          <p:spPr>
            <a:xfrm>
              <a:off x="6273135" y="4132461"/>
              <a:ext cx="540000" cy="540000"/>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Oval 29">
              <a:extLst>
                <a:ext uri="{FF2B5EF4-FFF2-40B4-BE49-F238E27FC236}">
                  <a16:creationId xmlns:a16="http://schemas.microsoft.com/office/drawing/2014/main" id="{F42521F3-7B48-244E-A115-843A3E40AD81}"/>
                </a:ext>
              </a:extLst>
            </p:cNvPr>
            <p:cNvSpPr/>
            <p:nvPr/>
          </p:nvSpPr>
          <p:spPr>
            <a:xfrm>
              <a:off x="4334508" y="4153347"/>
              <a:ext cx="540000" cy="54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65" name="Oval 64">
            <a:extLst>
              <a:ext uri="{FF2B5EF4-FFF2-40B4-BE49-F238E27FC236}">
                <a16:creationId xmlns:a16="http://schemas.microsoft.com/office/drawing/2014/main" id="{6ADC0CCB-673F-CB41-8D4F-CA7E6A27FCC6}"/>
              </a:ext>
            </a:extLst>
          </p:cNvPr>
          <p:cNvSpPr/>
          <p:nvPr/>
        </p:nvSpPr>
        <p:spPr>
          <a:xfrm>
            <a:off x="2734461" y="2795872"/>
            <a:ext cx="540000" cy="540000"/>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774860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dissolve">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dissolve">
                                      <p:cBhvr>
                                        <p:cTn id="12" dur="500"/>
                                        <p:tgtEl>
                                          <p:spTgt spid="3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3"/>
                                        </p:tgtEl>
                                        <p:attrNameLst>
                                          <p:attrName>style.visibility</p:attrName>
                                        </p:attrNameLst>
                                      </p:cBhvr>
                                      <p:to>
                                        <p:strVal val="visible"/>
                                      </p:to>
                                    </p:set>
                                    <p:animEffect transition="in" filter="dissolve">
                                      <p:cBhvr>
                                        <p:cTn id="17" dur="500"/>
                                        <p:tgtEl>
                                          <p:spTgt spid="7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dissolv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dissolv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64"/>
                                        </p:tgtEl>
                                        <p:attrNameLst>
                                          <p:attrName>style.visibility</p:attrName>
                                        </p:attrNameLst>
                                      </p:cBhvr>
                                      <p:to>
                                        <p:strVal val="visible"/>
                                      </p:to>
                                    </p:set>
                                    <p:animEffect transition="in" filter="dissolve">
                                      <p:cBhvr>
                                        <p:cTn id="32" dur="500"/>
                                        <p:tgtEl>
                                          <p:spTgt spid="64"/>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dissolve">
                                      <p:cBhvr>
                                        <p:cTn id="37"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68"/>
                                        </p:tgtEl>
                                        <p:attrNameLst>
                                          <p:attrName>style.visibility</p:attrName>
                                        </p:attrNameLst>
                                      </p:cBhvr>
                                      <p:to>
                                        <p:strVal val="visible"/>
                                      </p:to>
                                    </p:set>
                                    <p:animEffect transition="in" filter="dissolve">
                                      <p:cBhvr>
                                        <p:cTn id="42" dur="500"/>
                                        <p:tgtEl>
                                          <p:spTgt spid="68"/>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60"/>
                                        </p:tgtEl>
                                        <p:attrNameLst>
                                          <p:attrName>style.visibility</p:attrName>
                                        </p:attrNameLst>
                                      </p:cBhvr>
                                      <p:to>
                                        <p:strVal val="visible"/>
                                      </p:to>
                                    </p:set>
                                    <p:animEffect transition="in" filter="dissolve">
                                      <p:cBhvr>
                                        <p:cTn id="47" dur="500"/>
                                        <p:tgtEl>
                                          <p:spTgt spid="60"/>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58"/>
                                        </p:tgtEl>
                                        <p:attrNameLst>
                                          <p:attrName>style.visibility</p:attrName>
                                        </p:attrNameLst>
                                      </p:cBhvr>
                                      <p:to>
                                        <p:strVal val="visible"/>
                                      </p:to>
                                    </p:set>
                                    <p:animEffect transition="in" filter="dissolve">
                                      <p:cBhvr>
                                        <p:cTn id="52"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0D4885C4-5039-2F43-97E2-25942F6DE642}"/>
              </a:ext>
            </a:extLst>
          </p:cNvPr>
          <p:cNvPicPr>
            <a:picLocks noChangeAspect="1"/>
          </p:cNvPicPr>
          <p:nvPr/>
        </p:nvPicPr>
        <p:blipFill>
          <a:blip r:embed="rId3"/>
          <a:stretch>
            <a:fillRect/>
          </a:stretch>
        </p:blipFill>
        <p:spPr>
          <a:xfrm>
            <a:off x="5522573" y="126163"/>
            <a:ext cx="4829152" cy="4267623"/>
          </a:xfrm>
          <a:prstGeom prst="rect">
            <a:avLst/>
          </a:prstGeom>
        </p:spPr>
      </p:pic>
      <p:sp>
        <p:nvSpPr>
          <p:cNvPr id="6" name="TextBox 5">
            <a:extLst>
              <a:ext uri="{FF2B5EF4-FFF2-40B4-BE49-F238E27FC236}">
                <a16:creationId xmlns:a16="http://schemas.microsoft.com/office/drawing/2014/main" id="{820285AB-08AE-3B48-A7B5-18F9C0963A9A}"/>
              </a:ext>
            </a:extLst>
          </p:cNvPr>
          <p:cNvSpPr txBox="1"/>
          <p:nvPr/>
        </p:nvSpPr>
        <p:spPr>
          <a:xfrm>
            <a:off x="6210747" y="4651793"/>
            <a:ext cx="5383205" cy="1446550"/>
          </a:xfrm>
          <a:prstGeom prst="rect">
            <a:avLst/>
          </a:prstGeom>
          <a:noFill/>
        </p:spPr>
        <p:txBody>
          <a:bodyPr wrap="none" rtlCol="0">
            <a:spAutoFit/>
          </a:bodyPr>
          <a:lstStyle/>
          <a:p>
            <a:pPr algn="ctr"/>
            <a:r>
              <a:rPr lang="en-ZA" sz="4400" dirty="0">
                <a:latin typeface="Comic Sans MS" panose="030F0902030302020204" pitchFamily="66" charset="0"/>
              </a:rPr>
              <a:t>Encoding data</a:t>
            </a:r>
          </a:p>
          <a:p>
            <a:pPr algn="ctr"/>
            <a:r>
              <a:rPr lang="en-ZA" sz="4400" dirty="0">
                <a:latin typeface="Comic Sans MS" panose="030F0902030302020204" pitchFamily="66" charset="0"/>
              </a:rPr>
              <a:t>into quantum states</a:t>
            </a:r>
            <a:endParaRPr lang="en-US" sz="4400" dirty="0">
              <a:latin typeface="Comic Sans MS" panose="030F0902030302020204" pitchFamily="66" charset="0"/>
            </a:endParaRPr>
          </a:p>
        </p:txBody>
      </p:sp>
      <p:pic>
        <p:nvPicPr>
          <p:cNvPr id="4" name="Picture 3">
            <a:extLst>
              <a:ext uri="{FF2B5EF4-FFF2-40B4-BE49-F238E27FC236}">
                <a16:creationId xmlns:a16="http://schemas.microsoft.com/office/drawing/2014/main" id="{97FE7D77-F33D-1C48-A0C1-B64310F0FED1}"/>
              </a:ext>
            </a:extLst>
          </p:cNvPr>
          <p:cNvPicPr>
            <a:picLocks noChangeAspect="1"/>
          </p:cNvPicPr>
          <p:nvPr/>
        </p:nvPicPr>
        <p:blipFill>
          <a:blip r:embed="rId4"/>
          <a:stretch>
            <a:fillRect/>
          </a:stretch>
        </p:blipFill>
        <p:spPr>
          <a:xfrm flipH="1">
            <a:off x="134776" y="2349293"/>
            <a:ext cx="5634197" cy="4199467"/>
          </a:xfrm>
          <a:prstGeom prst="rect">
            <a:avLst/>
          </a:prstGeom>
        </p:spPr>
      </p:pic>
      <p:sp>
        <p:nvSpPr>
          <p:cNvPr id="7" name="Slide Number Placeholder 2">
            <a:extLst>
              <a:ext uri="{FF2B5EF4-FFF2-40B4-BE49-F238E27FC236}">
                <a16:creationId xmlns:a16="http://schemas.microsoft.com/office/drawing/2014/main" id="{32083C5C-22E6-244F-9098-EB7F4023A412}"/>
              </a:ext>
            </a:extLst>
          </p:cNvPr>
          <p:cNvSpPr>
            <a:spLocks noGrp="1"/>
          </p:cNvSpPr>
          <p:nvPr>
            <p:ph type="sldNum" sz="quarter" idx="12"/>
          </p:nvPr>
        </p:nvSpPr>
        <p:spPr>
          <a:xfrm>
            <a:off x="0" y="6492875"/>
            <a:ext cx="587829" cy="365125"/>
          </a:xfrm>
        </p:spPr>
        <p:txBody>
          <a:bodyPr/>
          <a:lstStyle/>
          <a:p>
            <a:fld id="{591A223C-FA10-BC46-A853-03BA373D023C}" type="slidenum">
              <a:rPr lang="en-US" smtClean="0"/>
              <a:t>3</a:t>
            </a:fld>
            <a:endParaRPr lang="en-US"/>
          </a:p>
        </p:txBody>
      </p:sp>
    </p:spTree>
    <p:extLst>
      <p:ext uri="{BB962C8B-B14F-4D97-AF65-F5344CB8AC3E}">
        <p14:creationId xmlns:p14="http://schemas.microsoft.com/office/powerpoint/2010/main" val="2455302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AB534-52C6-8941-BD6A-15C14A1F2CA2}"/>
              </a:ext>
            </a:extLst>
          </p:cNvPr>
          <p:cNvSpPr>
            <a:spLocks noGrp="1"/>
          </p:cNvSpPr>
          <p:nvPr>
            <p:ph type="title"/>
          </p:nvPr>
        </p:nvSpPr>
        <p:spPr/>
        <p:txBody>
          <a:bodyPr/>
          <a:lstStyle/>
          <a:p>
            <a:r>
              <a:rPr lang="en-ZA" dirty="0"/>
              <a:t>Encoding Real Numbers into Basis States</a:t>
            </a:r>
            <a:endParaRPr lang="en-US" dirty="0"/>
          </a:p>
        </p:txBody>
      </p:sp>
      <p:sp>
        <p:nvSpPr>
          <p:cNvPr id="3" name="Slide Number Placeholder 2">
            <a:extLst>
              <a:ext uri="{FF2B5EF4-FFF2-40B4-BE49-F238E27FC236}">
                <a16:creationId xmlns:a16="http://schemas.microsoft.com/office/drawing/2014/main" id="{4C4677B2-9AA0-BE4E-BB7E-852DA6114C86}"/>
              </a:ext>
            </a:extLst>
          </p:cNvPr>
          <p:cNvSpPr>
            <a:spLocks noGrp="1"/>
          </p:cNvSpPr>
          <p:nvPr>
            <p:ph type="sldNum" sz="quarter" idx="12"/>
          </p:nvPr>
        </p:nvSpPr>
        <p:spPr/>
        <p:txBody>
          <a:bodyPr/>
          <a:lstStyle/>
          <a:p>
            <a:fld id="{591A223C-FA10-BC46-A853-03BA373D023C}" type="slidenum">
              <a:rPr lang="en-US" smtClean="0"/>
              <a:t>4</a:t>
            </a:fld>
            <a:endParaRPr lang="en-US"/>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83C19E7A-36C1-2E4B-A682-60DC00FAAD6B}"/>
                  </a:ext>
                </a:extLst>
              </p:cNvPr>
              <p:cNvSpPr/>
              <p:nvPr/>
            </p:nvSpPr>
            <p:spPr>
              <a:xfrm>
                <a:off x="3418217" y="1396076"/>
                <a:ext cx="8796062" cy="110055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𝑥</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𝑠</m:t>
                      </m:r>
                      <m:r>
                        <a:rPr lang="en-US" sz="2400" i="1">
                          <a:latin typeface="Cambria Math" panose="02040503050406030204" pitchFamily="18" charset="0"/>
                          <a:ea typeface="Cambria Math" panose="02040503050406030204" pitchFamily="18" charset="0"/>
                        </a:rPr>
                        <m:t>.</m:t>
                      </m:r>
                      <m:r>
                        <m:rPr>
                          <m:nor/>
                        </m:rPr>
                        <a:rPr lang="en-US" sz="2400" dirty="0"/>
                        <m:t> </m:t>
                      </m:r>
                      <m:sSub>
                        <m:sSubPr>
                          <m:ctrlPr>
                            <a:rPr lang="en-US" sz="2400" i="1">
                              <a:latin typeface="Cambria Math" panose="02040503050406030204" pitchFamily="18" charset="0"/>
                            </a:rPr>
                          </m:ctrlPr>
                        </m:sSubPr>
                        <m:e>
                          <m:r>
                            <a:rPr lang="en-US" sz="2400" i="1">
                              <a:latin typeface="Cambria Math" panose="02040503050406030204" pitchFamily="18" charset="0"/>
                            </a:rPr>
                            <m:t>𝑏</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𝑏</m:t>
                          </m:r>
                        </m:e>
                        <m:sub>
                          <m:r>
                            <a:rPr lang="en-US" sz="2400" i="1">
                              <a:latin typeface="Cambria Math" panose="02040503050406030204" pitchFamily="18" charset="0"/>
                            </a:rPr>
                            <m:t>2</m:t>
                          </m:r>
                        </m:sub>
                      </m:sSub>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𝑏</m:t>
                          </m:r>
                        </m:e>
                        <m:sub>
                          <m:r>
                            <a:rPr lang="sr-Latn-RS" sz="2400" i="1">
                              <a:latin typeface="Cambria Math" panose="02040503050406030204" pitchFamily="18" charset="0"/>
                            </a:rPr>
                            <m:t>𝑛</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𝑏</m:t>
                              </m:r>
                            </m:e>
                            <m:sub>
                              <m:r>
                                <a:rPr lang="en-US" sz="2400" i="1">
                                  <a:latin typeface="Cambria Math" panose="02040503050406030204" pitchFamily="18" charset="0"/>
                                </a:rPr>
                                <m:t>1</m:t>
                              </m:r>
                            </m:sub>
                          </m:sSub>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2</m:t>
                              </m:r>
                            </m:e>
                            <m:sup>
                              <m:r>
                                <a:rPr lang="en-US" sz="2400" b="0" i="1" smtClean="0">
                                  <a:latin typeface="Cambria Math" panose="02040503050406030204" pitchFamily="18" charset="0"/>
                                </a:rPr>
                                <m:t>1</m:t>
                              </m:r>
                            </m:sup>
                          </m:sSup>
                        </m:den>
                      </m:f>
                      <m:r>
                        <a:rPr lang="en-US" sz="2400" b="0" i="1" smtClean="0">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𝑏</m:t>
                              </m:r>
                            </m:e>
                            <m:sub>
                              <m:r>
                                <a:rPr lang="en-US" sz="2400" b="0" i="1" smtClean="0">
                                  <a:latin typeface="Cambria Math" panose="02040503050406030204" pitchFamily="18" charset="0"/>
                                </a:rPr>
                                <m:t>2</m:t>
                              </m:r>
                            </m:sub>
                          </m:sSub>
                        </m:num>
                        <m:den>
                          <m:sSup>
                            <m:sSupPr>
                              <m:ctrlPr>
                                <a:rPr lang="en-US" sz="2400" i="1">
                                  <a:latin typeface="Cambria Math" panose="02040503050406030204" pitchFamily="18" charset="0"/>
                                </a:rPr>
                              </m:ctrlPr>
                            </m:sSupPr>
                            <m:e>
                              <m:r>
                                <a:rPr lang="en-US" sz="2400" i="1">
                                  <a:latin typeface="Cambria Math" panose="02040503050406030204" pitchFamily="18" charset="0"/>
                                </a:rPr>
                                <m:t>2</m:t>
                              </m:r>
                            </m:e>
                            <m:sup>
                              <m:r>
                                <a:rPr lang="en-US" sz="2400" b="0" i="1" smtClean="0">
                                  <a:latin typeface="Cambria Math" panose="02040503050406030204" pitchFamily="18" charset="0"/>
                                </a:rPr>
                                <m:t>2</m:t>
                              </m:r>
                            </m:sup>
                          </m:sSup>
                        </m:den>
                      </m:f>
                      <m:r>
                        <a:rPr lang="en-US" sz="2400" b="0" i="1" smtClean="0">
                          <a:latin typeface="Cambria Math" panose="02040503050406030204" pitchFamily="18" charset="0"/>
                        </a:rPr>
                        <m:t>+</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𝑏</m:t>
                              </m:r>
                            </m:e>
                            <m:sub>
                              <m:r>
                                <a:rPr lang="en-US" sz="2400" i="1">
                                  <a:latin typeface="Cambria Math" panose="02040503050406030204" pitchFamily="18" charset="0"/>
                                </a:rPr>
                                <m:t>1</m:t>
                              </m:r>
                            </m:sub>
                          </m:sSub>
                        </m:num>
                        <m:den>
                          <m:sSup>
                            <m:sSupPr>
                              <m:ctrlPr>
                                <a:rPr lang="en-US" sz="2400" i="1">
                                  <a:latin typeface="Cambria Math" panose="02040503050406030204" pitchFamily="18" charset="0"/>
                                </a:rPr>
                              </m:ctrlPr>
                            </m:sSupPr>
                            <m:e>
                              <m:r>
                                <a:rPr lang="en-US" sz="2400" i="1">
                                  <a:latin typeface="Cambria Math" panose="02040503050406030204" pitchFamily="18" charset="0"/>
                                </a:rPr>
                                <m:t>2</m:t>
                              </m:r>
                            </m:e>
                            <m:sup>
                              <m:r>
                                <a:rPr lang="en-US" sz="2400" b="0" i="1" smtClean="0">
                                  <a:latin typeface="Cambria Math" panose="02040503050406030204" pitchFamily="18" charset="0"/>
                                </a:rPr>
                                <m:t>𝑛</m:t>
                              </m:r>
                            </m:sup>
                          </m:sSup>
                        </m:den>
                      </m:f>
                      <m:r>
                        <a:rPr lang="en-US" sz="2400" b="0" i="1" smtClean="0">
                          <a:latin typeface="Cambria Math" panose="02040503050406030204" pitchFamily="18" charset="0"/>
                        </a:rPr>
                        <m:t>=</m:t>
                      </m:r>
                      <m:r>
                        <a:rPr lang="en-US" sz="2400" b="0" i="1" smtClean="0">
                          <a:latin typeface="Cambria Math" panose="02040503050406030204" pitchFamily="18" charset="0"/>
                        </a:rPr>
                        <m:t>𝑠</m:t>
                      </m:r>
                      <m:nary>
                        <m:naryPr>
                          <m:chr m:val="∑"/>
                          <m:ctrlPr>
                            <a:rPr lang="en-US" sz="2400" i="1">
                              <a:latin typeface="Cambria Math" panose="02040503050406030204" pitchFamily="18" charset="0"/>
                              <a:ea typeface="Cambria Math" panose="02040503050406030204" pitchFamily="18" charset="0"/>
                            </a:rPr>
                          </m:ctrlPr>
                        </m:naryPr>
                        <m:sub>
                          <m:r>
                            <m:rPr>
                              <m:brk m:alnAt="23"/>
                            </m:rPr>
                            <a:rPr lang="en-US" sz="2400" i="1">
                              <a:latin typeface="Cambria Math" panose="02040503050406030204" pitchFamily="18" charset="0"/>
                              <a:ea typeface="Cambria Math" panose="02040503050406030204" pitchFamily="18" charset="0"/>
                            </a:rPr>
                            <m:t>𝑘</m:t>
                          </m:r>
                          <m:r>
                            <a:rPr lang="en-US" sz="2400" i="1">
                              <a:latin typeface="Cambria Math" panose="02040503050406030204" pitchFamily="18" charset="0"/>
                              <a:ea typeface="Cambria Math" panose="02040503050406030204" pitchFamily="18" charset="0"/>
                            </a:rPr>
                            <m:t>=1</m:t>
                          </m:r>
                        </m:sub>
                        <m:sup>
                          <m:r>
                            <a:rPr lang="sr-Latn-RS" sz="2400" b="0" i="1" smtClean="0">
                              <a:latin typeface="Cambria Math" panose="02040503050406030204" pitchFamily="18" charset="0"/>
                              <a:ea typeface="Cambria Math" panose="02040503050406030204" pitchFamily="18" charset="0"/>
                            </a:rPr>
                            <m:t>𝑛</m:t>
                          </m:r>
                        </m:sup>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𝑏</m:t>
                              </m:r>
                            </m:e>
                            <m:sub>
                              <m:r>
                                <a:rPr lang="en-US" sz="2400" i="1">
                                  <a:latin typeface="Cambria Math" panose="02040503050406030204" pitchFamily="18" charset="0"/>
                                  <a:ea typeface="Cambria Math" panose="02040503050406030204" pitchFamily="18" charset="0"/>
                                </a:rPr>
                                <m:t>𝑘</m:t>
                              </m:r>
                            </m:sub>
                          </m:sSub>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2</m:t>
                              </m:r>
                            </m:e>
                            <m:sup>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𝑘</m:t>
                              </m:r>
                            </m:sup>
                          </m:sSup>
                        </m:e>
                      </m:nary>
                      <m:r>
                        <a:rPr lang="en-US" sz="2400" b="0" i="1" smtClean="0">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b="0" i="1" smtClean="0">
                                  <a:latin typeface="Cambria Math" panose="02040503050406030204" pitchFamily="18" charset="0"/>
                                </a:rPr>
                                <m:t>𝑠</m:t>
                              </m:r>
                              <m:r>
                                <a:rPr lang="en-US" sz="2400" i="1">
                                  <a:latin typeface="Cambria Math" panose="02040503050406030204" pitchFamily="18" charset="0"/>
                                </a:rPr>
                                <m:t>𝑏</m:t>
                              </m:r>
                            </m:e>
                            <m:sub>
                              <m:r>
                                <a:rPr lang="en-US" sz="2400" b="0" i="1" smtClean="0">
                                  <a:latin typeface="Cambria Math" panose="02040503050406030204" pitchFamily="18" charset="0"/>
                                </a:rPr>
                                <m:t>1</m:t>
                              </m:r>
                            </m:sub>
                          </m:sSub>
                          <m:r>
                            <a:rPr lang="en-US" sz="2400" i="1" smtClean="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𝑏</m:t>
                              </m:r>
                            </m:e>
                            <m:sub>
                              <m:r>
                                <a:rPr lang="sr-Latn-RS" sz="2400" b="0" i="1" smtClean="0">
                                  <a:latin typeface="Cambria Math" panose="02040503050406030204" pitchFamily="18" charset="0"/>
                                </a:rPr>
                                <m:t>𝑛</m:t>
                              </m:r>
                            </m:sub>
                          </m:sSub>
                        </m:e>
                      </m:d>
                    </m:oMath>
                  </m:oMathPara>
                </a14:m>
                <a:endParaRPr lang="en-US" sz="2400" dirty="0"/>
              </a:p>
            </p:txBody>
          </p:sp>
        </mc:Choice>
        <mc:Fallback xmlns="">
          <p:sp>
            <p:nvSpPr>
              <p:cNvPr id="4" name="Rectangle 3">
                <a:extLst>
                  <a:ext uri="{FF2B5EF4-FFF2-40B4-BE49-F238E27FC236}">
                    <a16:creationId xmlns:a16="http://schemas.microsoft.com/office/drawing/2014/main" id="{83C19E7A-36C1-2E4B-A682-60DC00FAAD6B}"/>
                  </a:ext>
                </a:extLst>
              </p:cNvPr>
              <p:cNvSpPr>
                <a:spLocks noRot="1" noChangeAspect="1" noMove="1" noResize="1" noEditPoints="1" noAdjustHandles="1" noChangeArrowheads="1" noChangeShapeType="1" noTextEdit="1"/>
              </p:cNvSpPr>
              <p:nvPr/>
            </p:nvSpPr>
            <p:spPr>
              <a:xfrm>
                <a:off x="3418217" y="1396076"/>
                <a:ext cx="8796062" cy="1100558"/>
              </a:xfrm>
              <a:prstGeom prst="rect">
                <a:avLst/>
              </a:prstGeom>
              <a:blipFill>
                <a:blip r:embed="rId3"/>
                <a:stretch>
                  <a:fillRect t="-105682" b="-160227"/>
                </a:stretch>
              </a:blipFill>
            </p:spPr>
            <p:txBody>
              <a:bodyPr/>
              <a:lstStyle/>
              <a:p>
                <a:r>
                  <a:rPr lang="en-US">
                    <a:noFill/>
                  </a:rPr>
                  <a:t> </a:t>
                </a:r>
              </a:p>
            </p:txBody>
          </p:sp>
        </mc:Fallback>
      </mc:AlternateContent>
      <p:sp>
        <p:nvSpPr>
          <p:cNvPr id="28" name="Rounded Rectangle 27">
            <a:extLst>
              <a:ext uri="{FF2B5EF4-FFF2-40B4-BE49-F238E27FC236}">
                <a16:creationId xmlns:a16="http://schemas.microsoft.com/office/drawing/2014/main" id="{16D5778D-C77C-AC4F-802E-9BB5C2345AF2}"/>
              </a:ext>
            </a:extLst>
          </p:cNvPr>
          <p:cNvSpPr/>
          <p:nvPr/>
        </p:nvSpPr>
        <p:spPr>
          <a:xfrm>
            <a:off x="236167" y="1396076"/>
            <a:ext cx="3009724" cy="1200559"/>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ight Arrow 28">
            <a:extLst>
              <a:ext uri="{FF2B5EF4-FFF2-40B4-BE49-F238E27FC236}">
                <a16:creationId xmlns:a16="http://schemas.microsoft.com/office/drawing/2014/main" id="{4D5890F2-9A37-D544-9EDD-CE83D7D2A1BF}"/>
              </a:ext>
            </a:extLst>
          </p:cNvPr>
          <p:cNvSpPr/>
          <p:nvPr/>
        </p:nvSpPr>
        <p:spPr>
          <a:xfrm>
            <a:off x="1375228" y="1815896"/>
            <a:ext cx="510993" cy="409171"/>
          </a:xfrm>
          <a:prstGeom prst="rightArrow">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D0AAE2AA-F6BC-E94D-95F2-1B05FBC64078}"/>
              </a:ext>
            </a:extLst>
          </p:cNvPr>
          <p:cNvSpPr/>
          <p:nvPr/>
        </p:nvSpPr>
        <p:spPr>
          <a:xfrm>
            <a:off x="408493" y="1841950"/>
            <a:ext cx="360000" cy="36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184EDA60-7FCA-5E45-8A40-776BE7D4BCE9}"/>
                  </a:ext>
                </a:extLst>
              </p:cNvPr>
              <p:cNvSpPr/>
              <p:nvPr/>
            </p:nvSpPr>
            <p:spPr>
              <a:xfrm>
                <a:off x="1837108" y="1652783"/>
                <a:ext cx="1408783"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600" i="1" smtClean="0">
                              <a:latin typeface="Cambria Math" panose="02040503050406030204" pitchFamily="18" charset="0"/>
                            </a:rPr>
                          </m:ctrlPr>
                        </m:dPr>
                        <m:e>
                          <m:r>
                            <a:rPr lang="en-US" sz="3600" b="0" i="1" smtClean="0">
                              <a:latin typeface="Cambria Math" panose="02040503050406030204" pitchFamily="18" charset="0"/>
                            </a:rPr>
                            <m:t>        </m:t>
                          </m:r>
                        </m:e>
                      </m:d>
                    </m:oMath>
                  </m:oMathPara>
                </a14:m>
                <a:endParaRPr lang="en-US" sz="3600" dirty="0"/>
              </a:p>
            </p:txBody>
          </p:sp>
        </mc:Choice>
        <mc:Fallback xmlns="">
          <p:sp>
            <p:nvSpPr>
              <p:cNvPr id="31" name="Rectangle 30">
                <a:extLst>
                  <a:ext uri="{FF2B5EF4-FFF2-40B4-BE49-F238E27FC236}">
                    <a16:creationId xmlns:a16="http://schemas.microsoft.com/office/drawing/2014/main" id="{184EDA60-7FCA-5E45-8A40-776BE7D4BCE9}"/>
                  </a:ext>
                </a:extLst>
              </p:cNvPr>
              <p:cNvSpPr>
                <a:spLocks noRot="1" noChangeAspect="1" noMove="1" noResize="1" noEditPoints="1" noAdjustHandles="1" noChangeArrowheads="1" noChangeShapeType="1" noTextEdit="1"/>
              </p:cNvSpPr>
              <p:nvPr/>
            </p:nvSpPr>
            <p:spPr>
              <a:xfrm>
                <a:off x="1837108" y="1652783"/>
                <a:ext cx="1408783" cy="646331"/>
              </a:xfrm>
              <a:prstGeom prst="rect">
                <a:avLst/>
              </a:prstGeom>
              <a:blipFill>
                <a:blip r:embed="rId6"/>
                <a:stretch>
                  <a:fillRect b="-23077"/>
                </a:stretch>
              </a:blipFill>
            </p:spPr>
            <p:txBody>
              <a:bodyPr/>
              <a:lstStyle/>
              <a:p>
                <a:r>
                  <a:rPr lang="en-US">
                    <a:noFill/>
                  </a:rPr>
                  <a:t> </a:t>
                </a:r>
              </a:p>
            </p:txBody>
          </p:sp>
        </mc:Fallback>
      </mc:AlternateContent>
      <p:sp>
        <p:nvSpPr>
          <p:cNvPr id="32" name="Rectangle 31">
            <a:extLst>
              <a:ext uri="{FF2B5EF4-FFF2-40B4-BE49-F238E27FC236}">
                <a16:creationId xmlns:a16="http://schemas.microsoft.com/office/drawing/2014/main" id="{C8296B06-07EB-8F4C-8041-E89690470DC1}"/>
              </a:ext>
            </a:extLst>
          </p:cNvPr>
          <p:cNvSpPr/>
          <p:nvPr/>
        </p:nvSpPr>
        <p:spPr>
          <a:xfrm>
            <a:off x="781081" y="1841950"/>
            <a:ext cx="360000" cy="36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33" name="Rectangle 32">
            <a:extLst>
              <a:ext uri="{FF2B5EF4-FFF2-40B4-BE49-F238E27FC236}">
                <a16:creationId xmlns:a16="http://schemas.microsoft.com/office/drawing/2014/main" id="{B2CBF2B3-D386-E84A-8E4F-35638C849C93}"/>
              </a:ext>
            </a:extLst>
          </p:cNvPr>
          <p:cNvSpPr/>
          <p:nvPr/>
        </p:nvSpPr>
        <p:spPr>
          <a:xfrm>
            <a:off x="2168912" y="1823462"/>
            <a:ext cx="360000" cy="36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4" name="Rectangle 33">
            <a:extLst>
              <a:ext uri="{FF2B5EF4-FFF2-40B4-BE49-F238E27FC236}">
                <a16:creationId xmlns:a16="http://schemas.microsoft.com/office/drawing/2014/main" id="{9F88BDCC-3A38-BE43-BA4C-DA57AAEEE4E5}"/>
              </a:ext>
            </a:extLst>
          </p:cNvPr>
          <p:cNvSpPr/>
          <p:nvPr/>
        </p:nvSpPr>
        <p:spPr>
          <a:xfrm>
            <a:off x="2541500" y="1823462"/>
            <a:ext cx="360000" cy="36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FC16FE68-B3F5-C84F-96E2-9D1FD2731F5D}"/>
                  </a:ext>
                </a:extLst>
              </p:cNvPr>
              <p:cNvSpPr/>
              <p:nvPr/>
            </p:nvSpPr>
            <p:spPr>
              <a:xfrm>
                <a:off x="375507" y="1481250"/>
                <a:ext cx="83625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0</m:t>
                          </m:r>
                        </m:sub>
                      </m:sSub>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𝑏</m:t>
                          </m:r>
                        </m:e>
                        <m:sub>
                          <m:r>
                            <a:rPr lang="en-US" b="0" i="1" smtClean="0">
                              <a:latin typeface="Cambria Math" panose="02040503050406030204" pitchFamily="18" charset="0"/>
                            </a:rPr>
                            <m:t>1</m:t>
                          </m:r>
                        </m:sub>
                      </m:sSub>
                    </m:oMath>
                  </m:oMathPara>
                </a14:m>
                <a:endParaRPr lang="en-US" dirty="0"/>
              </a:p>
            </p:txBody>
          </p:sp>
        </mc:Choice>
        <mc:Fallback xmlns="">
          <p:sp>
            <p:nvSpPr>
              <p:cNvPr id="35" name="Rectangle 34">
                <a:extLst>
                  <a:ext uri="{FF2B5EF4-FFF2-40B4-BE49-F238E27FC236}">
                    <a16:creationId xmlns:a16="http://schemas.microsoft.com/office/drawing/2014/main" id="{FC16FE68-B3F5-C84F-96E2-9D1FD2731F5D}"/>
                  </a:ext>
                </a:extLst>
              </p:cNvPr>
              <p:cNvSpPr>
                <a:spLocks noRot="1" noChangeAspect="1" noMove="1" noResize="1" noEditPoints="1" noAdjustHandles="1" noChangeArrowheads="1" noChangeShapeType="1" noTextEdit="1"/>
              </p:cNvSpPr>
              <p:nvPr/>
            </p:nvSpPr>
            <p:spPr>
              <a:xfrm>
                <a:off x="375507" y="1481250"/>
                <a:ext cx="836255" cy="369332"/>
              </a:xfrm>
              <a:prstGeom prst="rect">
                <a:avLst/>
              </a:prstGeom>
              <a:blipFill>
                <a:blip r:embed="rId7"/>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5A854092-8C0C-3049-BC45-D4BBDE4CB799}"/>
                  </a:ext>
                </a:extLst>
              </p:cNvPr>
              <p:cNvSpPr/>
              <p:nvPr/>
            </p:nvSpPr>
            <p:spPr>
              <a:xfrm>
                <a:off x="2126547" y="1442606"/>
                <a:ext cx="84189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0</m:t>
                          </m:r>
                        </m:sub>
                      </m:sSub>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𝑞</m:t>
                          </m:r>
                        </m:e>
                        <m:sub>
                          <m:r>
                            <a:rPr lang="en-US" b="0" i="1" smtClean="0">
                              <a:latin typeface="Cambria Math" panose="02040503050406030204" pitchFamily="18" charset="0"/>
                            </a:rPr>
                            <m:t>1</m:t>
                          </m:r>
                        </m:sub>
                      </m:sSub>
                    </m:oMath>
                  </m:oMathPara>
                </a14:m>
                <a:endParaRPr lang="en-US" dirty="0"/>
              </a:p>
            </p:txBody>
          </p:sp>
        </mc:Choice>
        <mc:Fallback xmlns="">
          <p:sp>
            <p:nvSpPr>
              <p:cNvPr id="36" name="Rectangle 35">
                <a:extLst>
                  <a:ext uri="{FF2B5EF4-FFF2-40B4-BE49-F238E27FC236}">
                    <a16:creationId xmlns:a16="http://schemas.microsoft.com/office/drawing/2014/main" id="{5A854092-8C0C-3049-BC45-D4BBDE4CB799}"/>
                  </a:ext>
                </a:extLst>
              </p:cNvPr>
              <p:cNvSpPr>
                <a:spLocks noRot="1" noChangeAspect="1" noMove="1" noResize="1" noEditPoints="1" noAdjustHandles="1" noChangeArrowheads="1" noChangeShapeType="1" noTextEdit="1"/>
              </p:cNvSpPr>
              <p:nvPr/>
            </p:nvSpPr>
            <p:spPr>
              <a:xfrm>
                <a:off x="2126547" y="1442606"/>
                <a:ext cx="841897" cy="369332"/>
              </a:xfrm>
              <a:prstGeom prst="rect">
                <a:avLst/>
              </a:prstGeom>
              <a:blipFill>
                <a:blip r:embed="rId8"/>
                <a:stretch>
                  <a:fillRect b="-13333"/>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806C53CD-02BA-7C49-A362-96E0024B5AA7}"/>
              </a:ext>
            </a:extLst>
          </p:cNvPr>
          <p:cNvGrpSpPr/>
          <p:nvPr/>
        </p:nvGrpSpPr>
        <p:grpSpPr>
          <a:xfrm>
            <a:off x="200552" y="2713472"/>
            <a:ext cx="11991448" cy="4073869"/>
            <a:chOff x="200552" y="2713472"/>
            <a:chExt cx="11991448" cy="4073869"/>
          </a:xfrm>
        </p:grpSpPr>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757E6A8-2286-DE4F-9658-92A5EADA37A8}"/>
                    </a:ext>
                  </a:extLst>
                </p:cNvPr>
                <p:cNvSpPr txBox="1"/>
                <p:nvPr/>
              </p:nvSpPr>
              <p:spPr>
                <a:xfrm>
                  <a:off x="6780069" y="2713472"/>
                  <a:ext cx="5411931" cy="2308324"/>
                </a:xfrm>
                <a:prstGeom prst="rect">
                  <a:avLst/>
                </a:prstGeom>
                <a:solidFill>
                  <a:schemeClr val="accent4">
                    <a:lumMod val="20000"/>
                    <a:lumOff val="80000"/>
                  </a:schemeClr>
                </a:solidFill>
              </p:spPr>
              <p:txBody>
                <a:bodyPr wrap="none" rtlCol="0">
                  <a:spAutoFit/>
                </a:bodyPr>
                <a:lstStyle/>
                <a:p>
                  <a:pPr marL="457200" indent="-457200">
                    <a:buFont typeface="+mj-lt"/>
                    <a:buAutoNum type="arabicPeriod"/>
                  </a:pPr>
                  <a:r>
                    <a:rPr lang="en-ZA" sz="2400" dirty="0"/>
                    <a:t>Start with the number </a:t>
                  </a:r>
                  <a14:m>
                    <m:oMath xmlns:m="http://schemas.openxmlformats.org/officeDocument/2006/math">
                      <m:r>
                        <a:rPr lang="en-US" sz="2400" i="1">
                          <a:latin typeface="Cambria Math" panose="02040503050406030204" pitchFamily="18" charset="0"/>
                        </a:rPr>
                        <m:t>𝑥</m:t>
                      </m:r>
                      <m:r>
                        <a:rPr lang="en-US" sz="2400" i="1" smtClean="0">
                          <a:latin typeface="Cambria Math" panose="02040503050406030204" pitchFamily="18" charset="0"/>
                          <a:ea typeface="Cambria Math" panose="02040503050406030204" pitchFamily="18" charset="0"/>
                        </a:rPr>
                        <m:t>∈</m:t>
                      </m:r>
                      <m:d>
                        <m:dPr>
                          <m:begChr m:val="["/>
                          <m:endChr m:val="]"/>
                          <m:ctrlPr>
                            <a:rPr lang="en-US" sz="240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0,1</m:t>
                          </m:r>
                        </m:e>
                      </m:d>
                    </m:oMath>
                  </a14:m>
                  <a:r>
                    <a:rPr lang="en-ZA" sz="2400" dirty="0"/>
                    <a:t>.</a:t>
                  </a:r>
                </a:p>
                <a:p>
                  <a:pPr marL="457200" indent="-457200">
                    <a:buFont typeface="+mj-lt"/>
                    <a:buAutoNum type="arabicPeriod"/>
                  </a:pPr>
                  <a:r>
                    <a:rPr lang="en-ZA" sz="2400" dirty="0"/>
                    <a:t>Multiply </a:t>
                  </a:r>
                  <a14:m>
                    <m:oMath xmlns:m="http://schemas.openxmlformats.org/officeDocument/2006/math">
                      <m:r>
                        <a:rPr lang="en-US" sz="2400" i="1">
                          <a:latin typeface="Cambria Math" panose="02040503050406030204" pitchFamily="18" charset="0"/>
                        </a:rPr>
                        <m:t>𝑥</m:t>
                      </m:r>
                    </m:oMath>
                  </a14:m>
                  <a:r>
                    <a:rPr lang="en-ZA" sz="2400" dirty="0"/>
                    <a:t> by 2.</a:t>
                  </a:r>
                </a:p>
                <a:p>
                  <a:pPr marL="457200" indent="-457200">
                    <a:buFont typeface="+mj-lt"/>
                    <a:buAutoNum type="arabicPeriod"/>
                  </a:pPr>
                  <a:r>
                    <a:rPr lang="en-ZA" sz="2400" dirty="0"/>
                    <a:t>Record the integer part (0 or 1) as the </a:t>
                  </a:r>
                  <a:br>
                    <a:rPr lang="en-ZA" sz="2400" dirty="0"/>
                  </a:br>
                  <a:r>
                    <a:rPr lang="en-ZA" sz="2400" dirty="0"/>
                    <a:t>next binary digit.</a:t>
                  </a:r>
                </a:p>
                <a:p>
                  <a:pPr marL="457200" indent="-457200">
                    <a:buFont typeface="+mj-lt"/>
                    <a:buAutoNum type="arabicPeriod"/>
                  </a:pPr>
                  <a:r>
                    <a:rPr lang="en-ZA" sz="2400" dirty="0"/>
                    <a:t>Keep the fractional part as the new </a:t>
                  </a:r>
                  <a14:m>
                    <m:oMath xmlns:m="http://schemas.openxmlformats.org/officeDocument/2006/math">
                      <m:r>
                        <a:rPr lang="en-US" sz="2400" i="1">
                          <a:latin typeface="Cambria Math" panose="02040503050406030204" pitchFamily="18" charset="0"/>
                        </a:rPr>
                        <m:t>𝑥</m:t>
                      </m:r>
                    </m:oMath>
                  </a14:m>
                  <a:r>
                    <a:rPr lang="en-ZA" sz="2400" dirty="0"/>
                    <a:t>.</a:t>
                  </a:r>
                </a:p>
                <a:p>
                  <a:pPr marL="457200" indent="-457200">
                    <a:buFont typeface="+mj-lt"/>
                    <a:buAutoNum type="arabicPeriod"/>
                  </a:pPr>
                  <a:r>
                    <a:rPr lang="en-ZA" sz="2400" dirty="0"/>
                    <a:t>Repeat until you have </a:t>
                  </a:r>
                  <a14:m>
                    <m:oMath xmlns:m="http://schemas.openxmlformats.org/officeDocument/2006/math">
                      <m:r>
                        <a:rPr lang="en-US" sz="2400" b="0" i="1" smtClean="0">
                          <a:latin typeface="Cambria Math" panose="02040503050406030204" pitchFamily="18" charset="0"/>
                        </a:rPr>
                        <m:t>𝑛</m:t>
                      </m:r>
                    </m:oMath>
                  </a14:m>
                  <a:r>
                    <a:rPr lang="en-ZA" sz="2400" dirty="0"/>
                    <a:t> binary digits.</a:t>
                  </a:r>
                </a:p>
              </p:txBody>
            </p:sp>
          </mc:Choice>
          <mc:Fallback xmlns="">
            <p:sp>
              <p:nvSpPr>
                <p:cNvPr id="10" name="TextBox 9">
                  <a:extLst>
                    <a:ext uri="{FF2B5EF4-FFF2-40B4-BE49-F238E27FC236}">
                      <a16:creationId xmlns:a16="http://schemas.microsoft.com/office/drawing/2014/main" id="{8757E6A8-2286-DE4F-9658-92A5EADA37A8}"/>
                    </a:ext>
                  </a:extLst>
                </p:cNvPr>
                <p:cNvSpPr txBox="1">
                  <a:spLocks noRot="1" noChangeAspect="1" noMove="1" noResize="1" noEditPoints="1" noAdjustHandles="1" noChangeArrowheads="1" noChangeShapeType="1" noTextEdit="1"/>
                </p:cNvSpPr>
                <p:nvPr/>
              </p:nvSpPr>
              <p:spPr>
                <a:xfrm>
                  <a:off x="6780069" y="2713472"/>
                  <a:ext cx="5411931" cy="2308324"/>
                </a:xfrm>
                <a:prstGeom prst="rect">
                  <a:avLst/>
                </a:prstGeom>
                <a:blipFill>
                  <a:blip r:embed="rId9"/>
                  <a:stretch>
                    <a:fillRect l="-1639" t="-2198" r="-703" b="-5495"/>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AF73F37C-B4D2-4D46-96F0-825F95F6ED04}"/>
                </a:ext>
              </a:extLst>
            </p:cNvPr>
            <p:cNvGrpSpPr/>
            <p:nvPr/>
          </p:nvGrpSpPr>
          <p:grpSpPr>
            <a:xfrm>
              <a:off x="200552" y="3691266"/>
              <a:ext cx="9574672" cy="3096075"/>
              <a:chOff x="200552" y="3691266"/>
              <a:chExt cx="9574672" cy="3096075"/>
            </a:xfrm>
          </p:grpSpPr>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6A3F312A-2BB1-4241-BF08-557C01C54A85}"/>
                      </a:ext>
                    </a:extLst>
                  </p:cNvPr>
                  <p:cNvSpPr/>
                  <p:nvPr/>
                </p:nvSpPr>
                <p:spPr>
                  <a:xfrm>
                    <a:off x="200552" y="4309745"/>
                    <a:ext cx="6737742" cy="1467966"/>
                  </a:xfrm>
                  <a:prstGeom prst="rect">
                    <a:avLst/>
                  </a:prstGeom>
                </p:spPr>
                <p:txBody>
                  <a:bodyPr wrap="none">
                    <a:spAutoFit/>
                  </a:bodyPr>
                  <a:lstStyle/>
                  <a:p>
                    <a14:m>
                      <m:oMath xmlns:m="http://schemas.openxmlformats.org/officeDocument/2006/math">
                        <m:r>
                          <a:rPr lang="en-US" sz="2800" i="1" smtClean="0">
                            <a:latin typeface="Cambria Math" panose="02040503050406030204" pitchFamily="18" charset="0"/>
                          </a:rPr>
                          <m:t>𝑥</m:t>
                        </m:r>
                        <m:r>
                          <a:rPr lang="en-US" sz="2800" b="0" i="0" smtClean="0">
                            <a:latin typeface="Cambria Math" panose="02040503050406030204" pitchFamily="18" charset="0"/>
                          </a:rPr>
                          <m:t>=</m:t>
                        </m:r>
                        <m:r>
                          <a:rPr lang="en-US" sz="2800" b="0" i="1" smtClean="0">
                            <a:latin typeface="Cambria Math" panose="02040503050406030204" pitchFamily="18" charset="0"/>
                          </a:rPr>
                          <m:t>−0.7</m:t>
                        </m:r>
                        <m:r>
                          <a:rPr lang="en-US" sz="2800" i="1">
                            <a:latin typeface="Cambria Math" panose="02040503050406030204" pitchFamily="18" charset="0"/>
                            <a:ea typeface="Cambria Math" panose="02040503050406030204" pitchFamily="18" charset="0"/>
                          </a:rPr>
                          <m:t>⇒</m:t>
                        </m:r>
                        <m:r>
                          <a:rPr lang="en-US" sz="2800" b="0" i="1" smtClean="0">
                            <a:solidFill>
                              <a:srgbClr val="0000FF"/>
                            </a:solidFill>
                            <a:latin typeface="Cambria Math" panose="02040503050406030204" pitchFamily="18" charset="0"/>
                            <a:ea typeface="Cambria Math" panose="02040503050406030204" pitchFamily="18" charset="0"/>
                          </a:rPr>
                          <m:t>1</m:t>
                        </m:r>
                        <m:d>
                          <m:dPr>
                            <m:begChr m:val="{"/>
                            <m:endChr m:val=""/>
                            <m:ctrlPr>
                              <a:rPr lang="en-US" sz="2800" b="0" i="1" smtClean="0">
                                <a:latin typeface="Cambria Math" panose="02040503050406030204" pitchFamily="18" charset="0"/>
                              </a:rPr>
                            </m:ctrlPr>
                          </m:dPr>
                          <m:e>
                            <m:m>
                              <m:mPr>
                                <m:mcs>
                                  <m:mc>
                                    <m:mcPr>
                                      <m:count m:val="2"/>
                                      <m:mcJc m:val="center"/>
                                    </m:mcPr>
                                  </m:mc>
                                </m:mcs>
                                <m:ctrlPr>
                                  <a:rPr lang="en-US" sz="2800" b="0" i="1" smtClean="0">
                                    <a:latin typeface="Cambria Math" panose="02040503050406030204" pitchFamily="18" charset="0"/>
                                  </a:rPr>
                                </m:ctrlPr>
                              </m:mPr>
                              <m:mr>
                                <m:e>
                                  <m:r>
                                    <m:rPr>
                                      <m:brk m:alnAt="7"/>
                                    </m:rPr>
                                    <a:rPr lang="en-US" sz="2800" b="0" i="1" smtClean="0">
                                      <a:latin typeface="Cambria Math" panose="02040503050406030204" pitchFamily="18" charset="0"/>
                                    </a:rPr>
                                    <m:t>0</m:t>
                                  </m:r>
                                  <m:r>
                                    <a:rPr lang="en-US" sz="2800" b="0" i="1" smtClean="0">
                                      <a:latin typeface="Cambria Math" panose="02040503050406030204" pitchFamily="18" charset="0"/>
                                    </a:rPr>
                                    <m:t>.7</m:t>
                                  </m:r>
                                  <m:r>
                                    <a:rPr lang="en-US" sz="2800" b="0" i="1" smtClean="0">
                                      <a:latin typeface="Cambria Math" panose="02040503050406030204" pitchFamily="18" charset="0"/>
                                      <a:ea typeface="Cambria Math" panose="02040503050406030204" pitchFamily="18" charset="0"/>
                                    </a:rPr>
                                    <m:t>×2=</m:t>
                                  </m:r>
                                  <m:r>
                                    <a:rPr lang="en-US" sz="2800" b="0" i="1" smtClean="0">
                                      <a:solidFill>
                                        <a:srgbClr val="C00000"/>
                                      </a:solidFill>
                                      <a:latin typeface="Cambria Math" panose="02040503050406030204" pitchFamily="18" charset="0"/>
                                      <a:ea typeface="Cambria Math" panose="02040503050406030204" pitchFamily="18" charset="0"/>
                                    </a:rPr>
                                    <m:t>1</m:t>
                                  </m:r>
                                  <m:r>
                                    <a:rPr lang="en-US" sz="2800" b="0" i="1" smtClean="0">
                                      <a:latin typeface="Cambria Math" panose="02040503050406030204" pitchFamily="18" charset="0"/>
                                      <a:ea typeface="Cambria Math" panose="02040503050406030204" pitchFamily="18" charset="0"/>
                                    </a:rPr>
                                    <m:t>.4</m:t>
                                  </m:r>
                                </m:e>
                                <m:e>
                                  <m:r>
                                    <a:rPr lang="en-US" sz="2800" b="0" i="1" smtClean="0">
                                      <a:latin typeface="Cambria Math" panose="02040503050406030204" pitchFamily="18" charset="0"/>
                                      <a:ea typeface="Cambria Math" panose="02040503050406030204" pitchFamily="18" charset="0"/>
                                    </a:rPr>
                                    <m:t>⇒1</m:t>
                                  </m:r>
                                </m:e>
                              </m:mr>
                              <m:mr>
                                <m:e>
                                  <m:r>
                                    <m:rPr>
                                      <m:brk m:alnAt="7"/>
                                    </m:rPr>
                                    <a:rPr lang="en-US" sz="2800" i="1">
                                      <a:latin typeface="Cambria Math" panose="02040503050406030204" pitchFamily="18" charset="0"/>
                                    </a:rPr>
                                    <m:t>0</m:t>
                                  </m:r>
                                  <m:r>
                                    <a:rPr lang="en-US" sz="2800" i="1">
                                      <a:latin typeface="Cambria Math" panose="02040503050406030204" pitchFamily="18" charset="0"/>
                                    </a:rPr>
                                    <m:t>.</m:t>
                                  </m:r>
                                  <m:r>
                                    <a:rPr lang="en-US" sz="2800" b="0" i="1" smtClean="0">
                                      <a:latin typeface="Cambria Math" panose="02040503050406030204" pitchFamily="18" charset="0"/>
                                    </a:rPr>
                                    <m:t>4</m:t>
                                  </m:r>
                                  <m:r>
                                    <a:rPr lang="en-US" sz="2800" i="1">
                                      <a:latin typeface="Cambria Math" panose="02040503050406030204" pitchFamily="18" charset="0"/>
                                      <a:ea typeface="Cambria Math" panose="02040503050406030204" pitchFamily="18" charset="0"/>
                                    </a:rPr>
                                    <m:t>×2=</m:t>
                                  </m:r>
                                  <m:r>
                                    <a:rPr lang="en-US" sz="2800" b="0" i="1" smtClean="0">
                                      <a:solidFill>
                                        <a:srgbClr val="C00000"/>
                                      </a:solidFill>
                                      <a:latin typeface="Cambria Math" panose="02040503050406030204" pitchFamily="18" charset="0"/>
                                      <a:ea typeface="Cambria Math" panose="02040503050406030204" pitchFamily="18" charset="0"/>
                                    </a:rPr>
                                    <m:t>0</m:t>
                                  </m:r>
                                  <m:r>
                                    <a:rPr lang="en-US" sz="2800" i="1">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8</m:t>
                                  </m:r>
                                </m:e>
                                <m:e>
                                  <m:r>
                                    <a:rPr lang="en-US" sz="2800" i="1">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0</m:t>
                                  </m:r>
                                </m:e>
                              </m:mr>
                              <m:mr>
                                <m:e>
                                  <m:r>
                                    <m:rPr>
                                      <m:brk m:alnAt="7"/>
                                    </m:rPr>
                                    <a:rPr lang="en-US" sz="2800" i="1">
                                      <a:latin typeface="Cambria Math" panose="02040503050406030204" pitchFamily="18" charset="0"/>
                                    </a:rPr>
                                    <m:t>0</m:t>
                                  </m:r>
                                  <m:r>
                                    <a:rPr lang="en-US" sz="2800" i="1">
                                      <a:latin typeface="Cambria Math" panose="02040503050406030204" pitchFamily="18" charset="0"/>
                                    </a:rPr>
                                    <m:t>.</m:t>
                                  </m:r>
                                  <m:r>
                                    <a:rPr lang="en-US" sz="2800" b="0" i="1" smtClean="0">
                                      <a:latin typeface="Cambria Math" panose="02040503050406030204" pitchFamily="18" charset="0"/>
                                    </a:rPr>
                                    <m:t>8</m:t>
                                  </m:r>
                                  <m:r>
                                    <a:rPr lang="en-US" sz="2800" i="1">
                                      <a:latin typeface="Cambria Math" panose="02040503050406030204" pitchFamily="18" charset="0"/>
                                      <a:ea typeface="Cambria Math" panose="02040503050406030204" pitchFamily="18" charset="0"/>
                                    </a:rPr>
                                    <m:t>×2=</m:t>
                                  </m:r>
                                  <m:r>
                                    <a:rPr lang="en-US" sz="2800" b="0" i="1" smtClean="0">
                                      <a:solidFill>
                                        <a:srgbClr val="C00000"/>
                                      </a:solidFill>
                                      <a:latin typeface="Cambria Math" panose="02040503050406030204" pitchFamily="18" charset="0"/>
                                      <a:ea typeface="Cambria Math" panose="02040503050406030204" pitchFamily="18" charset="0"/>
                                    </a:rPr>
                                    <m:t>1</m:t>
                                  </m:r>
                                  <m:r>
                                    <a:rPr lang="en-US" sz="2800" i="1">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6</m:t>
                                  </m:r>
                                </m:e>
                                <m:e>
                                  <m:r>
                                    <a:rPr lang="en-US" sz="2800" i="1">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1</m:t>
                                  </m:r>
                                </m:e>
                              </m:mr>
                            </m:m>
                          </m:e>
                        </m:d>
                      </m:oMath>
                    </a14:m>
                    <a:r>
                      <a:rPr lang="en-US" sz="2800" dirty="0">
                        <a:ea typeface="Cambria Math" panose="02040503050406030204" pitchFamily="18" charset="0"/>
                      </a:rPr>
                      <a:t> </a:t>
                    </a:r>
                    <a14:m>
                      <m:oMath xmlns:m="http://schemas.openxmlformats.org/officeDocument/2006/math">
                        <m:r>
                          <a:rPr lang="en-US" sz="2800" i="1">
                            <a:latin typeface="Cambria Math" panose="02040503050406030204" pitchFamily="18" charset="0"/>
                            <a:ea typeface="Cambria Math" panose="02040503050406030204" pitchFamily="18" charset="0"/>
                          </a:rPr>
                          <m:t>⇒</m:t>
                        </m:r>
                      </m:oMath>
                    </a14:m>
                    <a:r>
                      <a:rPr lang="en-US" sz="3600" dirty="0">
                        <a:solidFill>
                          <a:srgbClr val="0000FF"/>
                        </a:solidFill>
                      </a:rPr>
                      <a:t>1</a:t>
                    </a:r>
                    <a:r>
                      <a:rPr lang="en-US" sz="3600" dirty="0"/>
                      <a:t>101</a:t>
                    </a:r>
                  </a:p>
                </p:txBody>
              </p:sp>
            </mc:Choice>
            <mc:Fallback xmlns="">
              <p:sp>
                <p:nvSpPr>
                  <p:cNvPr id="8" name="Rectangle 7">
                    <a:extLst>
                      <a:ext uri="{FF2B5EF4-FFF2-40B4-BE49-F238E27FC236}">
                        <a16:creationId xmlns:a16="http://schemas.microsoft.com/office/drawing/2014/main" id="{6A3F312A-2BB1-4241-BF08-557C01C54A85}"/>
                      </a:ext>
                    </a:extLst>
                  </p:cNvPr>
                  <p:cNvSpPr>
                    <a:spLocks noRot="1" noChangeAspect="1" noMove="1" noResize="1" noEditPoints="1" noAdjustHandles="1" noChangeArrowheads="1" noChangeShapeType="1" noTextEdit="1"/>
                  </p:cNvSpPr>
                  <p:nvPr/>
                </p:nvSpPr>
                <p:spPr>
                  <a:xfrm>
                    <a:off x="200552" y="4309745"/>
                    <a:ext cx="6737742" cy="1467966"/>
                  </a:xfrm>
                  <a:prstGeom prst="rect">
                    <a:avLst/>
                  </a:prstGeom>
                  <a:blipFill>
                    <a:blip r:embed="rId10"/>
                    <a:stretch>
                      <a:fillRect l="-5273" t="-212821" r="-1695" b="-304274"/>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4FA2B56B-31E8-9F42-927E-26FA570C9C9A}"/>
                  </a:ext>
                </a:extLst>
              </p:cNvPr>
              <p:cNvSpPr txBox="1"/>
              <p:nvPr/>
            </p:nvSpPr>
            <p:spPr>
              <a:xfrm>
                <a:off x="201790" y="3691266"/>
                <a:ext cx="1510285" cy="523220"/>
              </a:xfrm>
              <a:prstGeom prst="rect">
                <a:avLst/>
              </a:prstGeom>
              <a:solidFill>
                <a:schemeClr val="accent4">
                  <a:lumMod val="40000"/>
                  <a:lumOff val="60000"/>
                </a:schemeClr>
              </a:solidFill>
            </p:spPr>
            <p:txBody>
              <a:bodyPr wrap="none" rtlCol="0">
                <a:spAutoFit/>
              </a:bodyPr>
              <a:lstStyle/>
              <a:p>
                <a:r>
                  <a:rPr lang="en-ZA" sz="2800" dirty="0"/>
                  <a:t>Example</a:t>
                </a:r>
                <a:r>
                  <a:rPr lang="en-US" sz="2800" dirty="0">
                    <a:latin typeface="+mj-lt"/>
                  </a:rPr>
                  <a:t>:</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99B1900D-E286-424B-B4A8-F7C05B380434}"/>
                      </a:ext>
                    </a:extLst>
                  </p:cNvPr>
                  <p:cNvSpPr/>
                  <p:nvPr/>
                </p:nvSpPr>
                <p:spPr>
                  <a:xfrm>
                    <a:off x="200552" y="5733847"/>
                    <a:ext cx="9574672" cy="10534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𝑥</m:t>
                          </m:r>
                          <m:r>
                            <a:rPr lang="en-US" sz="2800">
                              <a:latin typeface="Cambria Math" panose="02040503050406030204" pitchFamily="18" charset="0"/>
                            </a:rPr>
                            <m:t>=</m:t>
                          </m:r>
                          <m:d>
                            <m:dPr>
                              <m:begChr m:val="{"/>
                              <m:endChr m:val=""/>
                              <m:ctrlPr>
                                <a:rPr lang="en-US" sz="2800" i="1">
                                  <a:latin typeface="Cambria Math" panose="02040503050406030204" pitchFamily="18" charset="0"/>
                                  <a:ea typeface="Cambria Math" panose="02040503050406030204" pitchFamily="18" charset="0"/>
                                </a:rPr>
                              </m:ctrlPr>
                            </m:dPr>
                            <m:e>
                              <m:m>
                                <m:mPr>
                                  <m:mcs>
                                    <m:mc>
                                      <m:mcPr>
                                        <m:count m:val="1"/>
                                        <m:mcJc m:val="center"/>
                                      </m:mcPr>
                                    </m:mc>
                                  </m:mcs>
                                  <m:ctrlPr>
                                    <a:rPr lang="en-US" sz="2800" i="1">
                                      <a:latin typeface="Cambria Math" panose="02040503050406030204" pitchFamily="18" charset="0"/>
                                      <a:ea typeface="Cambria Math" panose="02040503050406030204" pitchFamily="18" charset="0"/>
                                    </a:rPr>
                                  </m:ctrlPr>
                                </m:mPr>
                                <m:mr>
                                  <m:e>
                                    <m:r>
                                      <m:rPr>
                                        <m:brk m:alnAt="7"/>
                                      </m:rP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 0</m:t>
                                    </m:r>
                                  </m:e>
                                </m:mr>
                                <m:mr>
                                  <m:e>
                                    <m:r>
                                      <a:rPr lang="en-US" sz="2800" i="1">
                                        <a:latin typeface="Cambria Math" panose="02040503050406030204" pitchFamily="18" charset="0"/>
                                        <a:ea typeface="Cambria Math" panose="02040503050406030204" pitchFamily="18" charset="0"/>
                                      </a:rPr>
                                      <m:t>−: 1</m:t>
                                    </m:r>
                                  </m:e>
                                </m:mr>
                              </m:m>
                            </m:e>
                          </m:d>
                          <m:r>
                            <a:rPr lang="en-US" sz="2800" i="1">
                              <a:latin typeface="Cambria Math" panose="02040503050406030204" pitchFamily="18" charset="0"/>
                            </a:rPr>
                            <m:t> </m:t>
                          </m:r>
                          <m:r>
                            <a:rPr lang="en-US" sz="2800">
                              <a:latin typeface="Cambria Math" panose="02040503050406030204" pitchFamily="18" charset="0"/>
                            </a:rPr>
                            <m:t> </m:t>
                          </m:r>
                          <m:r>
                            <a:rPr lang="en-US" sz="2800" i="1">
                              <a:latin typeface="Cambria Math" panose="02040503050406030204" pitchFamily="18" charset="0"/>
                            </a:rPr>
                            <m:t>𝑥</m:t>
                          </m:r>
                          <m:r>
                            <a:rPr lang="en-US" sz="2800" i="1">
                              <a:latin typeface="Cambria Math" panose="02040503050406030204" pitchFamily="18" charset="0"/>
                            </a:rPr>
                            <m:t>=</m:t>
                          </m:r>
                          <m:sSub>
                            <m:sSubPr>
                              <m:ctrlPr>
                                <a:rPr lang="en-US" sz="2800" i="1">
                                  <a:latin typeface="Cambria Math" panose="02040503050406030204" pitchFamily="18" charset="0"/>
                                </a:rPr>
                              </m:ctrlPr>
                            </m:sSubPr>
                            <m:e>
                              <m:f>
                                <m:fPr>
                                  <m:ctrlPr>
                                    <a:rPr lang="en-US" sz="2800" i="1">
                                      <a:latin typeface="Cambria Math" panose="02040503050406030204" pitchFamily="18" charset="0"/>
                                    </a:rPr>
                                  </m:ctrlPr>
                                </m:fPr>
                                <m:num>
                                  <m:r>
                                    <a:rPr lang="en-US" sz="2800" i="1">
                                      <a:latin typeface="Cambria Math" panose="02040503050406030204" pitchFamily="18" charset="0"/>
                                    </a:rPr>
                                    <m:t>1</m:t>
                                  </m:r>
                                </m:num>
                                <m:den>
                                  <m:r>
                                    <a:rPr lang="en-US" sz="2800" i="1">
                                      <a:latin typeface="Cambria Math" panose="02040503050406030204" pitchFamily="18" charset="0"/>
                                    </a:rPr>
                                    <m:t>2</m:t>
                                  </m:r>
                                </m:den>
                              </m:f>
                              <m:r>
                                <a:rPr lang="en-US" sz="2800" i="1">
                                  <a:latin typeface="Cambria Math" panose="02040503050406030204" pitchFamily="18" charset="0"/>
                                </a:rPr>
                                <m:t>𝑏</m:t>
                              </m:r>
                            </m:e>
                            <m:sub>
                              <m:r>
                                <a:rPr lang="en-US" sz="2800" i="1">
                                  <a:latin typeface="Cambria Math" panose="02040503050406030204" pitchFamily="18" charset="0"/>
                                </a:rPr>
                                <m:t>1</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f>
                                <m:fPr>
                                  <m:ctrlPr>
                                    <a:rPr lang="en-US" sz="2800" i="1">
                                      <a:latin typeface="Cambria Math" panose="02040503050406030204" pitchFamily="18" charset="0"/>
                                    </a:rPr>
                                  </m:ctrlPr>
                                </m:fPr>
                                <m:num>
                                  <m:r>
                                    <a:rPr lang="en-US" sz="2800" i="1">
                                      <a:latin typeface="Cambria Math" panose="02040503050406030204" pitchFamily="18" charset="0"/>
                                    </a:rPr>
                                    <m:t>1</m:t>
                                  </m:r>
                                </m:num>
                                <m:den>
                                  <m:r>
                                    <a:rPr lang="en-US" sz="2800" i="1">
                                      <a:latin typeface="Cambria Math" panose="02040503050406030204" pitchFamily="18" charset="0"/>
                                    </a:rPr>
                                    <m:t>4</m:t>
                                  </m:r>
                                </m:den>
                              </m:f>
                              <m:r>
                                <a:rPr lang="en-US" sz="2800" i="1">
                                  <a:latin typeface="Cambria Math" panose="02040503050406030204" pitchFamily="18" charset="0"/>
                                </a:rPr>
                                <m:t>𝑏</m:t>
                              </m:r>
                            </m:e>
                            <m:sub>
                              <m:r>
                                <a:rPr lang="en-US" sz="2800" i="1">
                                  <a:latin typeface="Cambria Math" panose="02040503050406030204" pitchFamily="18" charset="0"/>
                                </a:rPr>
                                <m:t>2</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f>
                                <m:fPr>
                                  <m:ctrlPr>
                                    <a:rPr lang="en-US" sz="2800" i="1">
                                      <a:latin typeface="Cambria Math" panose="02040503050406030204" pitchFamily="18" charset="0"/>
                                    </a:rPr>
                                  </m:ctrlPr>
                                </m:fPr>
                                <m:num>
                                  <m:r>
                                    <a:rPr lang="en-US" sz="2800" i="1">
                                      <a:latin typeface="Cambria Math" panose="02040503050406030204" pitchFamily="18" charset="0"/>
                                    </a:rPr>
                                    <m:t>1</m:t>
                                  </m:r>
                                </m:num>
                                <m:den>
                                  <m:r>
                                    <a:rPr lang="en-US" sz="2800" i="1">
                                      <a:latin typeface="Cambria Math" panose="02040503050406030204" pitchFamily="18" charset="0"/>
                                    </a:rPr>
                                    <m:t>8</m:t>
                                  </m:r>
                                </m:den>
                              </m:f>
                              <m:r>
                                <a:rPr lang="en-US" sz="2800" i="1">
                                  <a:latin typeface="Cambria Math" panose="02040503050406030204" pitchFamily="18" charset="0"/>
                                </a:rPr>
                                <m:t>𝑏</m:t>
                              </m:r>
                            </m:e>
                            <m:sub>
                              <m:r>
                                <a:rPr lang="en-US" sz="2800" i="1">
                                  <a:latin typeface="Cambria Math" panose="02040503050406030204" pitchFamily="18" charset="0"/>
                                </a:rPr>
                                <m:t>3</m:t>
                              </m:r>
                            </m:sub>
                          </m:sSub>
                          <m:r>
                            <a:rPr lang="en-US" sz="2800" b="0" i="0" smtClean="0">
                              <a:latin typeface="Cambria Math" panose="02040503050406030204" pitchFamily="18" charset="0"/>
                            </a:rPr>
                            <m:t>=−</m:t>
                          </m:r>
                          <m:d>
                            <m:dPr>
                              <m:ctrlPr>
                                <a:rPr lang="en-US" sz="2800" b="0" i="1" smtClean="0">
                                  <a:latin typeface="Cambria Math" panose="02040503050406030204" pitchFamily="18" charset="0"/>
                                </a:rPr>
                              </m:ctrlPr>
                            </m:dPr>
                            <m:e>
                              <m:f>
                                <m:fPr>
                                  <m:ctrlPr>
                                    <a:rPr lang="en-US" sz="2800" i="1">
                                      <a:latin typeface="Cambria Math" panose="02040503050406030204" pitchFamily="18" charset="0"/>
                                    </a:rPr>
                                  </m:ctrlPr>
                                </m:fPr>
                                <m:num>
                                  <m:r>
                                    <a:rPr lang="en-US" sz="2800" i="1">
                                      <a:latin typeface="Cambria Math" panose="02040503050406030204" pitchFamily="18" charset="0"/>
                                    </a:rPr>
                                    <m:t>1</m:t>
                                  </m:r>
                                </m:num>
                                <m:den>
                                  <m:r>
                                    <a:rPr lang="en-US" sz="2800" i="1">
                                      <a:latin typeface="Cambria Math" panose="02040503050406030204" pitchFamily="18" charset="0"/>
                                    </a:rPr>
                                    <m:t>2</m:t>
                                  </m:r>
                                </m:den>
                              </m:f>
                              <m:r>
                                <a:rPr lang="en-US" sz="2800" i="1">
                                  <a:latin typeface="Cambria Math" panose="02040503050406030204" pitchFamily="18" charset="0"/>
                                </a:rPr>
                                <m:t>+</m:t>
                              </m:r>
                              <m:f>
                                <m:fPr>
                                  <m:ctrlPr>
                                    <a:rPr lang="en-US" sz="2800" i="1">
                                      <a:latin typeface="Cambria Math" panose="02040503050406030204" pitchFamily="18" charset="0"/>
                                    </a:rPr>
                                  </m:ctrlPr>
                                </m:fPr>
                                <m:num>
                                  <m:r>
                                    <a:rPr lang="en-US" sz="2800" b="0" i="1" smtClean="0">
                                      <a:latin typeface="Cambria Math" panose="02040503050406030204" pitchFamily="18" charset="0"/>
                                    </a:rPr>
                                    <m:t>0</m:t>
                                  </m:r>
                                </m:num>
                                <m:den>
                                  <m:r>
                                    <a:rPr lang="en-US" sz="2800" i="1">
                                      <a:latin typeface="Cambria Math" panose="02040503050406030204" pitchFamily="18" charset="0"/>
                                    </a:rPr>
                                    <m:t>4</m:t>
                                  </m:r>
                                </m:den>
                              </m:f>
                              <m:r>
                                <a:rPr lang="en-US" sz="2800" i="1">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1</m:t>
                                  </m:r>
                                </m:num>
                                <m:den>
                                  <m:r>
                                    <a:rPr lang="en-US" sz="2800" i="1">
                                      <a:latin typeface="Cambria Math" panose="02040503050406030204" pitchFamily="18" charset="0"/>
                                    </a:rPr>
                                    <m:t>8</m:t>
                                  </m:r>
                                </m:den>
                              </m:f>
                            </m:e>
                          </m:d>
                          <m:r>
                            <a:rPr lang="en-US" sz="2800" b="0" i="1" smtClean="0">
                              <a:latin typeface="Cambria Math" panose="02040503050406030204" pitchFamily="18" charset="0"/>
                            </a:rPr>
                            <m:t>=−0.625</m:t>
                          </m:r>
                        </m:oMath>
                      </m:oMathPara>
                    </a14:m>
                    <a:endParaRPr lang="en-US" sz="2800" dirty="0"/>
                  </a:p>
                </p:txBody>
              </p:sp>
            </mc:Choice>
            <mc:Fallback xmlns="">
              <p:sp>
                <p:nvSpPr>
                  <p:cNvPr id="11" name="Rectangle 10">
                    <a:extLst>
                      <a:ext uri="{FF2B5EF4-FFF2-40B4-BE49-F238E27FC236}">
                        <a16:creationId xmlns:a16="http://schemas.microsoft.com/office/drawing/2014/main" id="{99B1900D-E286-424B-B4A8-F7C05B380434}"/>
                      </a:ext>
                    </a:extLst>
                  </p:cNvPr>
                  <p:cNvSpPr>
                    <a:spLocks noRot="1" noChangeAspect="1" noMove="1" noResize="1" noEditPoints="1" noAdjustHandles="1" noChangeArrowheads="1" noChangeShapeType="1" noTextEdit="1"/>
                  </p:cNvSpPr>
                  <p:nvPr/>
                </p:nvSpPr>
                <p:spPr>
                  <a:xfrm>
                    <a:off x="200552" y="5733847"/>
                    <a:ext cx="9574672" cy="1053494"/>
                  </a:xfrm>
                  <a:prstGeom prst="rect">
                    <a:avLst/>
                  </a:prstGeom>
                  <a:blipFill>
                    <a:blip r:embed="rId11"/>
                    <a:stretch>
                      <a:fillRect l="-9934" t="-200000" b="-292857"/>
                    </a:stretch>
                  </a:blipFill>
                </p:spPr>
                <p:txBody>
                  <a:bodyPr/>
                  <a:lstStyle/>
                  <a:p>
                    <a:r>
                      <a:rPr lang="en-US">
                        <a:noFill/>
                      </a:rPr>
                      <a:t> </a:t>
                    </a:r>
                  </a:p>
                </p:txBody>
              </p:sp>
            </mc:Fallback>
          </mc:AlternateContent>
        </p:grpSp>
      </p:grpSp>
    </p:spTree>
    <p:extLst>
      <p:ext uri="{BB962C8B-B14F-4D97-AF65-F5344CB8AC3E}">
        <p14:creationId xmlns:p14="http://schemas.microsoft.com/office/powerpoint/2010/main" val="2665191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35EAD-EC9F-A34F-9037-C041C7F0B32A}"/>
              </a:ext>
            </a:extLst>
          </p:cNvPr>
          <p:cNvSpPr>
            <a:spLocks noGrp="1"/>
          </p:cNvSpPr>
          <p:nvPr>
            <p:ph type="title"/>
          </p:nvPr>
        </p:nvSpPr>
        <p:spPr/>
        <p:txBody>
          <a:bodyPr/>
          <a:lstStyle/>
          <a:p>
            <a:pPr lvl="0">
              <a:defRPr/>
            </a:pPr>
            <a:r>
              <a:rPr lang="en-ZA" b="1" dirty="0"/>
              <a:t>Amplitude Encoding</a:t>
            </a:r>
            <a:endParaRPr lang="en-US" dirty="0"/>
          </a:p>
        </p:txBody>
      </p:sp>
      <p:sp>
        <p:nvSpPr>
          <p:cNvPr id="3" name="Slide Number Placeholder 2">
            <a:extLst>
              <a:ext uri="{FF2B5EF4-FFF2-40B4-BE49-F238E27FC236}">
                <a16:creationId xmlns:a16="http://schemas.microsoft.com/office/drawing/2014/main" id="{0779D577-6CBF-5F41-A713-7B786C333CC1}"/>
              </a:ext>
            </a:extLst>
          </p:cNvPr>
          <p:cNvSpPr>
            <a:spLocks noGrp="1"/>
          </p:cNvSpPr>
          <p:nvPr>
            <p:ph type="sldNum" sz="quarter" idx="12"/>
          </p:nvPr>
        </p:nvSpPr>
        <p:spPr>
          <a:xfrm>
            <a:off x="9448800" y="6488824"/>
            <a:ext cx="2743200" cy="365125"/>
          </a:xfrm>
        </p:spPr>
        <p:txBody>
          <a:bodyPr/>
          <a:lstStyle/>
          <a:p>
            <a:fld id="{591A223C-FA10-BC46-A853-03BA373D023C}" type="slidenum">
              <a:rPr lang="en-US" smtClean="0"/>
              <a:t>5</a:t>
            </a:fld>
            <a:endParaRPr lang="en-US" dirty="0"/>
          </a:p>
        </p:txBody>
      </p:sp>
      <p:grpSp>
        <p:nvGrpSpPr>
          <p:cNvPr id="96" name="Group 95">
            <a:extLst>
              <a:ext uri="{FF2B5EF4-FFF2-40B4-BE49-F238E27FC236}">
                <a16:creationId xmlns:a16="http://schemas.microsoft.com/office/drawing/2014/main" id="{2DF34803-0892-D94C-A1E3-20B211271BBF}"/>
              </a:ext>
            </a:extLst>
          </p:cNvPr>
          <p:cNvGrpSpPr/>
          <p:nvPr/>
        </p:nvGrpSpPr>
        <p:grpSpPr>
          <a:xfrm>
            <a:off x="9102899" y="3071073"/>
            <a:ext cx="3111808" cy="2593773"/>
            <a:chOff x="7466177" y="2449764"/>
            <a:chExt cx="3111808" cy="2593773"/>
          </a:xfrm>
        </p:grpSpPr>
        <p:grpSp>
          <p:nvGrpSpPr>
            <p:cNvPr id="72" name="Group 71">
              <a:extLst>
                <a:ext uri="{FF2B5EF4-FFF2-40B4-BE49-F238E27FC236}">
                  <a16:creationId xmlns:a16="http://schemas.microsoft.com/office/drawing/2014/main" id="{415CFDFD-F861-A146-8017-82A3A2ECF2C8}"/>
                </a:ext>
              </a:extLst>
            </p:cNvPr>
            <p:cNvGrpSpPr/>
            <p:nvPr/>
          </p:nvGrpSpPr>
          <p:grpSpPr>
            <a:xfrm>
              <a:off x="7807714" y="2449764"/>
              <a:ext cx="385729" cy="2004930"/>
              <a:chOff x="6454084" y="697921"/>
              <a:chExt cx="0" cy="1947332"/>
            </a:xfrm>
          </p:grpSpPr>
          <p:cxnSp>
            <p:nvCxnSpPr>
              <p:cNvPr id="9" name="Straight Arrow Connector 8">
                <a:extLst>
                  <a:ext uri="{FF2B5EF4-FFF2-40B4-BE49-F238E27FC236}">
                    <a16:creationId xmlns:a16="http://schemas.microsoft.com/office/drawing/2014/main" id="{39501F9B-47CB-CF4B-8C5D-796168974A6A}"/>
                  </a:ext>
                </a:extLst>
              </p:cNvPr>
              <p:cNvCxnSpPr>
                <a:cxnSpLocks/>
              </p:cNvCxnSpPr>
              <p:nvPr/>
            </p:nvCxnSpPr>
            <p:spPr>
              <a:xfrm flipV="1">
                <a:off x="6454084" y="697921"/>
                <a:ext cx="0" cy="720000"/>
              </a:xfrm>
              <a:prstGeom prst="straightConnector1">
                <a:avLst/>
              </a:prstGeom>
              <a:ln w="381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5BF6BDA-A25E-4D42-B5AA-587E9C2AEC0F}"/>
                  </a:ext>
                </a:extLst>
              </p:cNvPr>
              <p:cNvCxnSpPr>
                <a:cxnSpLocks/>
              </p:cNvCxnSpPr>
              <p:nvPr/>
            </p:nvCxnSpPr>
            <p:spPr>
              <a:xfrm>
                <a:off x="6454084" y="1925253"/>
                <a:ext cx="0" cy="720000"/>
              </a:xfrm>
              <a:prstGeom prst="straightConnector1">
                <a:avLst/>
              </a:prstGeom>
              <a:ln w="381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E62CA033-35E9-8942-B220-64533EBFFB0D}"/>
                    </a:ext>
                  </a:extLst>
                </p:cNvPr>
                <p:cNvSpPr/>
                <p:nvPr/>
              </p:nvSpPr>
              <p:spPr>
                <a:xfrm>
                  <a:off x="7466177" y="3110728"/>
                  <a:ext cx="802014"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3600" i="1" smtClean="0">
                                <a:latin typeface="Cambria Math" panose="02040503050406030204" pitchFamily="18" charset="0"/>
                              </a:rPr>
                            </m:ctrlPr>
                          </m:sSubPr>
                          <m:e>
                            <m:r>
                              <a:rPr lang="en-US" sz="3600" i="1">
                                <a:latin typeface="Cambria Math" panose="02040503050406030204" pitchFamily="18" charset="0"/>
                              </a:rPr>
                              <m:t>𝑥</m:t>
                            </m:r>
                            <m:r>
                              <a:rPr lang="en-US" sz="3600" b="0" i="1" smtClean="0">
                                <a:latin typeface="Cambria Math" panose="02040503050406030204" pitchFamily="18" charset="0"/>
                              </a:rPr>
                              <m:t>′</m:t>
                            </m:r>
                          </m:e>
                          <m:sub>
                            <m:r>
                              <a:rPr lang="en-US" sz="3600" i="1">
                                <a:latin typeface="Cambria Math" panose="02040503050406030204" pitchFamily="18" charset="0"/>
                              </a:rPr>
                              <m:t>𝑖</m:t>
                            </m:r>
                          </m:sub>
                        </m:sSub>
                      </m:oMath>
                    </m:oMathPara>
                  </a14:m>
                  <a:endParaRPr lang="en-US" sz="3600" dirty="0"/>
                </a:p>
              </p:txBody>
            </p:sp>
          </mc:Choice>
          <mc:Fallback xmlns="">
            <p:sp>
              <p:nvSpPr>
                <p:cNvPr id="5" name="Rectangle 4">
                  <a:extLst>
                    <a:ext uri="{FF2B5EF4-FFF2-40B4-BE49-F238E27FC236}">
                      <a16:creationId xmlns:a16="http://schemas.microsoft.com/office/drawing/2014/main" id="{E62CA033-35E9-8942-B220-64533EBFFB0D}"/>
                    </a:ext>
                  </a:extLst>
                </p:cNvPr>
                <p:cNvSpPr>
                  <a:spLocks noRot="1" noChangeAspect="1" noMove="1" noResize="1" noEditPoints="1" noAdjustHandles="1" noChangeArrowheads="1" noChangeShapeType="1" noTextEdit="1"/>
                </p:cNvSpPr>
                <p:nvPr/>
              </p:nvSpPr>
              <p:spPr>
                <a:xfrm>
                  <a:off x="7466177" y="3110728"/>
                  <a:ext cx="802014" cy="646331"/>
                </a:xfrm>
                <a:prstGeom prst="rect">
                  <a:avLst/>
                </a:prstGeom>
                <a:blipFill>
                  <a:blip r:embed="rId3"/>
                  <a:stretch>
                    <a:fillRect b="-5882"/>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D3FA8B06-055A-F44D-B437-520E86DF2A85}"/>
                </a:ext>
              </a:extLst>
            </p:cNvPr>
            <p:cNvSpPr/>
            <p:nvPr/>
          </p:nvSpPr>
          <p:spPr>
            <a:xfrm>
              <a:off x="8219512" y="2478762"/>
              <a:ext cx="360000" cy="1980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443FE43D-DC26-D04B-A552-3694BD23289E}"/>
                    </a:ext>
                  </a:extLst>
                </p:cNvPr>
                <p:cNvSpPr/>
                <p:nvPr/>
              </p:nvSpPr>
              <p:spPr>
                <a:xfrm>
                  <a:off x="8005302" y="4458762"/>
                  <a:ext cx="697819"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a:latin typeface="Cambria Math" panose="02040503050406030204" pitchFamily="18" charset="0"/>
                              </a:rPr>
                            </m:ctrlPr>
                          </m:dPr>
                          <m:e>
                            <m:r>
                              <a:rPr lang="en-US" sz="3200" i="1">
                                <a:latin typeface="Cambria Math" panose="02040503050406030204" pitchFamily="18" charset="0"/>
                              </a:rPr>
                              <m:t>𝑖</m:t>
                            </m:r>
                          </m:e>
                        </m:d>
                      </m:oMath>
                    </m:oMathPara>
                  </a14:m>
                  <a:endParaRPr lang="en-US" sz="3200" dirty="0"/>
                </a:p>
              </p:txBody>
            </p:sp>
          </mc:Choice>
          <mc:Fallback xmlns="">
            <p:sp>
              <p:nvSpPr>
                <p:cNvPr id="34" name="Rectangle 33">
                  <a:extLst>
                    <a:ext uri="{FF2B5EF4-FFF2-40B4-BE49-F238E27FC236}">
                      <a16:creationId xmlns:a16="http://schemas.microsoft.com/office/drawing/2014/main" id="{443FE43D-DC26-D04B-A552-3694BD23289E}"/>
                    </a:ext>
                  </a:extLst>
                </p:cNvPr>
                <p:cNvSpPr>
                  <a:spLocks noRot="1" noChangeAspect="1" noMove="1" noResize="1" noEditPoints="1" noAdjustHandles="1" noChangeArrowheads="1" noChangeShapeType="1" noTextEdit="1"/>
                </p:cNvSpPr>
                <p:nvPr/>
              </p:nvSpPr>
              <p:spPr>
                <a:xfrm>
                  <a:off x="8005302" y="4458762"/>
                  <a:ext cx="697819" cy="584775"/>
                </a:xfrm>
                <a:prstGeom prst="rect">
                  <a:avLst/>
                </a:prstGeom>
                <a:blipFill>
                  <a:blip r:embed="rId4"/>
                  <a:stretch>
                    <a:fillRect/>
                  </a:stretch>
                </a:blipFill>
              </p:spPr>
              <p:txBody>
                <a:bodyPr/>
                <a:lstStyle/>
                <a:p>
                  <a:r>
                    <a:rPr lang="en-US">
                      <a:noFill/>
                    </a:rPr>
                    <a:t> </a:t>
                  </a:r>
                </a:p>
              </p:txBody>
            </p:sp>
          </mc:Fallback>
        </mc:AlternateContent>
        <p:cxnSp>
          <p:nvCxnSpPr>
            <p:cNvPr id="36" name="Straight Connector 35">
              <a:extLst>
                <a:ext uri="{FF2B5EF4-FFF2-40B4-BE49-F238E27FC236}">
                  <a16:creationId xmlns:a16="http://schemas.microsoft.com/office/drawing/2014/main" id="{9801919B-2A07-C646-B644-CE3EBADA4C13}"/>
                </a:ext>
              </a:extLst>
            </p:cNvPr>
            <p:cNvCxnSpPr>
              <a:cxnSpLocks/>
            </p:cNvCxnSpPr>
            <p:nvPr/>
          </p:nvCxnSpPr>
          <p:spPr>
            <a:xfrm>
              <a:off x="7632279" y="4454694"/>
              <a:ext cx="2064234"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48822D49-9AEB-EA43-8CA5-AE941550F66D}"/>
                    </a:ext>
                  </a:extLst>
                </p:cNvPr>
                <p:cNvSpPr/>
                <p:nvPr/>
              </p:nvSpPr>
              <p:spPr>
                <a:xfrm>
                  <a:off x="9164008" y="4456351"/>
                  <a:ext cx="141397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smtClean="0">
                                <a:latin typeface="Cambria Math" panose="02040503050406030204" pitchFamily="18" charset="0"/>
                              </a:rPr>
                            </m:ctrlPr>
                          </m:dPr>
                          <m:e>
                            <m:r>
                              <a:rPr lang="en-US" sz="3200" i="1">
                                <a:latin typeface="Cambria Math" panose="02040503050406030204" pitchFamily="18" charset="0"/>
                              </a:rPr>
                              <m:t>𝑖</m:t>
                            </m:r>
                            <m:r>
                              <a:rPr lang="en-US" sz="3200" b="0" i="1" smtClean="0">
                                <a:latin typeface="Cambria Math" panose="02040503050406030204" pitchFamily="18" charset="0"/>
                              </a:rPr>
                              <m:t>+1</m:t>
                            </m:r>
                          </m:e>
                        </m:d>
                      </m:oMath>
                    </m:oMathPara>
                  </a14:m>
                  <a:endParaRPr lang="en-US" sz="3200" dirty="0"/>
                </a:p>
              </p:txBody>
            </p:sp>
          </mc:Choice>
          <mc:Fallback xmlns="">
            <p:sp>
              <p:nvSpPr>
                <p:cNvPr id="38" name="Rectangle 37">
                  <a:extLst>
                    <a:ext uri="{FF2B5EF4-FFF2-40B4-BE49-F238E27FC236}">
                      <a16:creationId xmlns:a16="http://schemas.microsoft.com/office/drawing/2014/main" id="{48822D49-9AEB-EA43-8CA5-AE941550F66D}"/>
                    </a:ext>
                  </a:extLst>
                </p:cNvPr>
                <p:cNvSpPr>
                  <a:spLocks noRot="1" noChangeAspect="1" noMove="1" noResize="1" noEditPoints="1" noAdjustHandles="1" noChangeArrowheads="1" noChangeShapeType="1" noTextEdit="1"/>
                </p:cNvSpPr>
                <p:nvPr/>
              </p:nvSpPr>
              <p:spPr>
                <a:xfrm>
                  <a:off x="9164008" y="4456351"/>
                  <a:ext cx="1413977" cy="584775"/>
                </a:xfrm>
                <a:prstGeom prst="rect">
                  <a:avLst/>
                </a:prstGeom>
                <a:blipFill>
                  <a:blip r:embed="rId5"/>
                  <a:stretch>
                    <a:fillRect/>
                  </a:stretch>
                </a:blipFill>
              </p:spPr>
              <p:txBody>
                <a:bodyPr/>
                <a:lstStyle/>
                <a:p>
                  <a:r>
                    <a:rPr lang="en-US">
                      <a:noFill/>
                    </a:rPr>
                    <a:t> </a:t>
                  </a:r>
                </a:p>
              </p:txBody>
            </p:sp>
          </mc:Fallback>
        </mc:AlternateContent>
        <p:sp>
          <p:nvSpPr>
            <p:cNvPr id="39" name="Rectangle 38">
              <a:extLst>
                <a:ext uri="{FF2B5EF4-FFF2-40B4-BE49-F238E27FC236}">
                  <a16:creationId xmlns:a16="http://schemas.microsoft.com/office/drawing/2014/main" id="{286490BC-7D00-C545-89AB-8D87C0A91AF2}"/>
                </a:ext>
              </a:extLst>
            </p:cNvPr>
            <p:cNvSpPr/>
            <p:nvPr/>
          </p:nvSpPr>
          <p:spPr>
            <a:xfrm>
              <a:off x="9555446" y="3394625"/>
              <a:ext cx="360000" cy="1080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6B944709-6518-2F48-A0E6-14E2C8AE718F}"/>
                    </a:ext>
                  </a:extLst>
                </p:cNvPr>
                <p:cNvSpPr/>
                <p:nvPr/>
              </p:nvSpPr>
              <p:spPr>
                <a:xfrm>
                  <a:off x="8479523" y="3611459"/>
                  <a:ext cx="1242841"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3600" i="1" smtClean="0">
                                <a:solidFill>
                                  <a:schemeClr val="tx1"/>
                                </a:solidFill>
                                <a:latin typeface="Cambria Math" panose="02040503050406030204" pitchFamily="18" charset="0"/>
                              </a:rPr>
                            </m:ctrlPr>
                          </m:sSubPr>
                          <m:e>
                            <m:r>
                              <a:rPr lang="en-US" sz="3600" i="1">
                                <a:solidFill>
                                  <a:schemeClr val="tx1"/>
                                </a:solidFill>
                                <a:latin typeface="Cambria Math" panose="02040503050406030204" pitchFamily="18" charset="0"/>
                              </a:rPr>
                              <m:t>𝑥</m:t>
                            </m:r>
                            <m:r>
                              <a:rPr lang="en-US" sz="3600" b="0" i="1" smtClean="0">
                                <a:solidFill>
                                  <a:schemeClr val="tx1"/>
                                </a:solidFill>
                                <a:latin typeface="Cambria Math" panose="02040503050406030204" pitchFamily="18" charset="0"/>
                              </a:rPr>
                              <m:t>′</m:t>
                            </m:r>
                          </m:e>
                          <m:sub>
                            <m:r>
                              <a:rPr lang="en-US" sz="3600" i="1">
                                <a:solidFill>
                                  <a:schemeClr val="tx1"/>
                                </a:solidFill>
                                <a:latin typeface="Cambria Math" panose="02040503050406030204" pitchFamily="18" charset="0"/>
                              </a:rPr>
                              <m:t>𝑖</m:t>
                            </m:r>
                            <m:r>
                              <a:rPr lang="en-US" sz="3600" b="0" i="1" smtClean="0">
                                <a:solidFill>
                                  <a:schemeClr val="tx1"/>
                                </a:solidFill>
                                <a:latin typeface="Cambria Math" panose="02040503050406030204" pitchFamily="18" charset="0"/>
                              </a:rPr>
                              <m:t>+1</m:t>
                            </m:r>
                          </m:sub>
                        </m:sSub>
                      </m:oMath>
                    </m:oMathPara>
                  </a14:m>
                  <a:endParaRPr lang="en-US" sz="3600" dirty="0">
                    <a:solidFill>
                      <a:schemeClr val="tx1"/>
                    </a:solidFill>
                  </a:endParaRPr>
                </a:p>
              </p:txBody>
            </p:sp>
          </mc:Choice>
          <mc:Fallback xmlns="">
            <p:sp>
              <p:nvSpPr>
                <p:cNvPr id="40" name="Rectangle 39">
                  <a:extLst>
                    <a:ext uri="{FF2B5EF4-FFF2-40B4-BE49-F238E27FC236}">
                      <a16:creationId xmlns:a16="http://schemas.microsoft.com/office/drawing/2014/main" id="{6B944709-6518-2F48-A0E6-14E2C8AE718F}"/>
                    </a:ext>
                  </a:extLst>
                </p:cNvPr>
                <p:cNvSpPr>
                  <a:spLocks noRot="1" noChangeAspect="1" noMove="1" noResize="1" noEditPoints="1" noAdjustHandles="1" noChangeArrowheads="1" noChangeShapeType="1" noTextEdit="1"/>
                </p:cNvSpPr>
                <p:nvPr/>
              </p:nvSpPr>
              <p:spPr>
                <a:xfrm>
                  <a:off x="8479523" y="3611459"/>
                  <a:ext cx="1242841" cy="646331"/>
                </a:xfrm>
                <a:prstGeom prst="rect">
                  <a:avLst/>
                </a:prstGeom>
                <a:blipFill>
                  <a:blip r:embed="rId6"/>
                  <a:stretch>
                    <a:fillRect b="-5769"/>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FEDC46EB-C2AE-AF43-A32B-107818DC8398}"/>
                  </a:ext>
                </a:extLst>
              </p:cNvPr>
              <p:cNvSpPr/>
              <p:nvPr/>
            </p:nvSpPr>
            <p:spPr>
              <a:xfrm>
                <a:off x="5764998" y="2757403"/>
                <a:ext cx="3449149" cy="31965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smtClean="0">
                              <a:latin typeface="Cambria Math" panose="02040503050406030204" pitchFamily="18" charset="0"/>
                            </a:rPr>
                          </m:ctrlPr>
                        </m:dPr>
                        <m:e>
                          <m:eqArr>
                            <m:eqArrPr>
                              <m:ctrlPr>
                                <a:rPr lang="en-US" sz="3200" i="1" smtClean="0">
                                  <a:latin typeface="Cambria Math" panose="02040503050406030204" pitchFamily="18" charset="0"/>
                                </a:rPr>
                              </m:ctrlPr>
                            </m:eqArrPr>
                            <m:e>
                              <m:d>
                                <m:dPr>
                                  <m:begChr m:val="|"/>
                                  <m:endChr m:val="⟩"/>
                                  <m:ctrlPr>
                                    <a:rPr lang="en-US" sz="3200" i="1">
                                      <a:latin typeface="Cambria Math" panose="02040503050406030204" pitchFamily="18" charset="0"/>
                                    </a:rPr>
                                  </m:ctrlPr>
                                </m:dPr>
                                <m:e>
                                  <m:sSub>
                                    <m:sSubPr>
                                      <m:ctrlPr>
                                        <a:rPr lang="en-US" sz="3200" i="1">
                                          <a:latin typeface="Cambria Math" panose="02040503050406030204" pitchFamily="18" charset="0"/>
                                        </a:rPr>
                                      </m:ctrlPr>
                                    </m:sSubPr>
                                    <m:e>
                                      <m:r>
                                        <a:rPr lang="en-US" sz="3200" i="1">
                                          <a:latin typeface="Cambria Math" panose="02040503050406030204" pitchFamily="18" charset="0"/>
                                        </a:rPr>
                                        <m:t>𝑆</m:t>
                                      </m:r>
                                    </m:e>
                                    <m:sub>
                                      <m:r>
                                        <a:rPr lang="en-US" sz="3200" i="1">
                                          <a:latin typeface="Cambria Math" panose="02040503050406030204" pitchFamily="18" charset="0"/>
                                        </a:rPr>
                                        <m:t>𝑥</m:t>
                                      </m:r>
                                    </m:sub>
                                  </m:sSub>
                                </m:e>
                              </m:d>
                              <m:r>
                                <a:rPr lang="en-US" sz="3200" i="1">
                                  <a:latin typeface="Cambria Math" panose="02040503050406030204" pitchFamily="18" charset="0"/>
                                </a:rPr>
                                <m:t>=</m:t>
                              </m:r>
                              <m:nary>
                                <m:naryPr>
                                  <m:chr m:val="∑"/>
                                  <m:ctrlPr>
                                    <a:rPr lang="en-US" sz="3200" i="1">
                                      <a:latin typeface="Cambria Math" panose="02040503050406030204" pitchFamily="18" charset="0"/>
                                    </a:rPr>
                                  </m:ctrlPr>
                                </m:naryPr>
                                <m:sub>
                                  <m:r>
                                    <m:rPr>
                                      <m:brk m:alnAt="23"/>
                                    </m:rPr>
                                    <a:rPr lang="en-US" sz="3200" i="1">
                                      <a:latin typeface="Cambria Math" panose="02040503050406030204" pitchFamily="18" charset="0"/>
                                    </a:rPr>
                                    <m:t>𝑖</m:t>
                                  </m:r>
                                  <m:r>
                                    <a:rPr lang="en-US" sz="3200" i="1">
                                      <a:latin typeface="Cambria Math" panose="02040503050406030204" pitchFamily="18" charset="0"/>
                                    </a:rPr>
                                    <m:t>=</m:t>
                                  </m:r>
                                  <m:r>
                                    <a:rPr lang="en-US" sz="3200" b="0" i="1" smtClean="0">
                                      <a:latin typeface="Cambria Math" panose="02040503050406030204" pitchFamily="18" charset="0"/>
                                    </a:rPr>
                                    <m:t>0</m:t>
                                  </m:r>
                                </m:sub>
                                <m:sup>
                                  <m:sSup>
                                    <m:sSupPr>
                                      <m:ctrlPr>
                                        <a:rPr lang="en-US" sz="3200" i="1">
                                          <a:latin typeface="Cambria Math" panose="02040503050406030204" pitchFamily="18" charset="0"/>
                                        </a:rPr>
                                      </m:ctrlPr>
                                    </m:sSupPr>
                                    <m:e>
                                      <m:r>
                                        <a:rPr lang="en-US" sz="3200" i="1">
                                          <a:latin typeface="Cambria Math" panose="02040503050406030204" pitchFamily="18" charset="0"/>
                                        </a:rPr>
                                        <m:t>2</m:t>
                                      </m:r>
                                    </m:e>
                                    <m:sup>
                                      <m:r>
                                        <a:rPr lang="en-US" sz="3200" i="1">
                                          <a:latin typeface="Cambria Math" panose="02040503050406030204" pitchFamily="18" charset="0"/>
                                        </a:rPr>
                                        <m:t>𝑞</m:t>
                                      </m:r>
                                    </m:sup>
                                  </m:sSup>
                                  <m:r>
                                    <a:rPr lang="en-US" sz="3200" b="0" i="1" smtClean="0">
                                      <a:latin typeface="Cambria Math" panose="02040503050406030204" pitchFamily="18" charset="0"/>
                                    </a:rPr>
                                    <m:t>−1</m:t>
                                  </m:r>
                                </m:sup>
                                <m:e>
                                  <m:sSub>
                                    <m:sSubPr>
                                      <m:ctrlPr>
                                        <a:rPr lang="en-US" sz="3200" i="1">
                                          <a:latin typeface="Cambria Math" panose="02040503050406030204" pitchFamily="18" charset="0"/>
                                        </a:rPr>
                                      </m:ctrlPr>
                                    </m:sSubPr>
                                    <m:e>
                                      <m:r>
                                        <a:rPr lang="en-US" sz="3200" i="1">
                                          <a:latin typeface="Cambria Math" panose="02040503050406030204" pitchFamily="18" charset="0"/>
                                        </a:rPr>
                                        <m:t>𝑥</m:t>
                                      </m:r>
                                      <m:r>
                                        <a:rPr lang="en-US" sz="3200" b="0" i="1" smtClean="0">
                                          <a:latin typeface="Cambria Math" panose="02040503050406030204" pitchFamily="18" charset="0"/>
                                        </a:rPr>
                                        <m:t>′</m:t>
                                      </m:r>
                                    </m:e>
                                    <m:sub>
                                      <m:r>
                                        <a:rPr lang="en-US" sz="3200" i="1">
                                          <a:latin typeface="Cambria Math" panose="02040503050406030204" pitchFamily="18" charset="0"/>
                                        </a:rPr>
                                        <m:t>𝑖</m:t>
                                      </m:r>
                                    </m:sub>
                                  </m:sSub>
                                  <m:d>
                                    <m:dPr>
                                      <m:begChr m:val="|"/>
                                      <m:endChr m:val="⟩"/>
                                      <m:ctrlPr>
                                        <a:rPr lang="en-US" sz="3200" i="1">
                                          <a:latin typeface="Cambria Math" panose="02040503050406030204" pitchFamily="18" charset="0"/>
                                        </a:rPr>
                                      </m:ctrlPr>
                                    </m:dPr>
                                    <m:e>
                                      <m:r>
                                        <a:rPr lang="en-US" sz="3200" i="1">
                                          <a:latin typeface="Cambria Math" panose="02040503050406030204" pitchFamily="18" charset="0"/>
                                        </a:rPr>
                                        <m:t>𝑖</m:t>
                                      </m:r>
                                    </m:e>
                                  </m:d>
                                </m:e>
                              </m:nary>
                            </m:e>
                            <m:e>
                              <m:nary>
                                <m:naryPr>
                                  <m:chr m:val="∑"/>
                                  <m:ctrlPr>
                                    <a:rPr lang="en-US" sz="3200" i="1">
                                      <a:latin typeface="Cambria Math" panose="02040503050406030204" pitchFamily="18" charset="0"/>
                                    </a:rPr>
                                  </m:ctrlPr>
                                </m:naryPr>
                                <m:sub>
                                  <m:r>
                                    <m:rPr>
                                      <m:brk m:alnAt="23"/>
                                    </m:rPr>
                                    <a:rPr lang="en-US" sz="3200" i="1">
                                      <a:latin typeface="Cambria Math" panose="02040503050406030204" pitchFamily="18" charset="0"/>
                                    </a:rPr>
                                    <m:t>𝑖</m:t>
                                  </m:r>
                                  <m:r>
                                    <a:rPr lang="en-US" sz="3200" i="1">
                                      <a:latin typeface="Cambria Math" panose="02040503050406030204" pitchFamily="18" charset="0"/>
                                    </a:rPr>
                                    <m:t>=</m:t>
                                  </m:r>
                                  <m:r>
                                    <a:rPr lang="sr-Latn-RS" sz="3200" b="0" i="1" smtClean="0">
                                      <a:latin typeface="Cambria Math" panose="02040503050406030204" pitchFamily="18" charset="0"/>
                                    </a:rPr>
                                    <m:t>0</m:t>
                                  </m:r>
                                </m:sub>
                                <m:sup>
                                  <m:sSup>
                                    <m:sSupPr>
                                      <m:ctrlPr>
                                        <a:rPr lang="en-US" sz="3200" i="1">
                                          <a:latin typeface="Cambria Math" panose="02040503050406030204" pitchFamily="18" charset="0"/>
                                        </a:rPr>
                                      </m:ctrlPr>
                                    </m:sSupPr>
                                    <m:e>
                                      <m:r>
                                        <a:rPr lang="en-US" sz="3200" i="1">
                                          <a:latin typeface="Cambria Math" panose="02040503050406030204" pitchFamily="18" charset="0"/>
                                        </a:rPr>
                                        <m:t>2</m:t>
                                      </m:r>
                                    </m:e>
                                    <m:sup>
                                      <m:r>
                                        <a:rPr lang="en-US" sz="3200" i="1">
                                          <a:latin typeface="Cambria Math" panose="02040503050406030204" pitchFamily="18" charset="0"/>
                                        </a:rPr>
                                        <m:t>𝑞</m:t>
                                      </m:r>
                                    </m:sup>
                                  </m:sSup>
                                  <m:r>
                                    <a:rPr lang="en-US" sz="3200" b="0" i="1" smtClean="0">
                                      <a:latin typeface="Cambria Math" panose="02040503050406030204" pitchFamily="18" charset="0"/>
                                    </a:rPr>
                                    <m:t>−1</m:t>
                                  </m:r>
                                </m:sup>
                                <m:e>
                                  <m:sSubSup>
                                    <m:sSubSupPr>
                                      <m:ctrlPr>
                                        <a:rPr lang="en-US" sz="3200" i="1" smtClean="0">
                                          <a:latin typeface="Cambria Math" panose="02040503050406030204" pitchFamily="18" charset="0"/>
                                        </a:rPr>
                                      </m:ctrlPr>
                                    </m:sSubSupPr>
                                    <m:e>
                                      <m:r>
                                        <a:rPr lang="en-US" sz="3200" b="0" i="1" smtClean="0">
                                          <a:latin typeface="Cambria Math" panose="02040503050406030204" pitchFamily="18" charset="0"/>
                                        </a:rPr>
                                        <m:t>𝑥</m:t>
                                      </m:r>
                                      <m:r>
                                        <a:rPr lang="en-US" sz="3200" b="0" i="1" smtClean="0">
                                          <a:latin typeface="Cambria Math" panose="02040503050406030204" pitchFamily="18" charset="0"/>
                                        </a:rPr>
                                        <m:t>′</m:t>
                                      </m:r>
                                    </m:e>
                                    <m:sub>
                                      <m:r>
                                        <a:rPr lang="en-US" sz="3200" b="0" i="1" smtClean="0">
                                          <a:latin typeface="Cambria Math" panose="02040503050406030204" pitchFamily="18" charset="0"/>
                                        </a:rPr>
                                        <m:t>𝑖</m:t>
                                      </m:r>
                                    </m:sub>
                                    <m:sup>
                                      <m:r>
                                        <a:rPr lang="en-US" sz="3200" b="0" i="1" smtClean="0">
                                          <a:latin typeface="Cambria Math" panose="02040503050406030204" pitchFamily="18" charset="0"/>
                                        </a:rPr>
                                        <m:t>2</m:t>
                                      </m:r>
                                    </m:sup>
                                  </m:sSubSup>
                                </m:e>
                              </m:nary>
                              <m:r>
                                <a:rPr lang="en-US" sz="3200" b="0" i="1" smtClean="0">
                                  <a:latin typeface="Cambria Math" panose="02040503050406030204" pitchFamily="18" charset="0"/>
                                </a:rPr>
                                <m:t>=1</m:t>
                              </m:r>
                            </m:e>
                          </m:eqArr>
                        </m:e>
                      </m:d>
                    </m:oMath>
                  </m:oMathPara>
                </a14:m>
                <a:endParaRPr lang="en-US" sz="3200" dirty="0"/>
              </a:p>
            </p:txBody>
          </p:sp>
        </mc:Choice>
        <mc:Fallback xmlns="">
          <p:sp>
            <p:nvSpPr>
              <p:cNvPr id="4" name="Rectangle 3">
                <a:extLst>
                  <a:ext uri="{FF2B5EF4-FFF2-40B4-BE49-F238E27FC236}">
                    <a16:creationId xmlns:a16="http://schemas.microsoft.com/office/drawing/2014/main" id="{FEDC46EB-C2AE-AF43-A32B-107818DC8398}"/>
                  </a:ext>
                </a:extLst>
              </p:cNvPr>
              <p:cNvSpPr>
                <a:spLocks noRot="1" noChangeAspect="1" noMove="1" noResize="1" noEditPoints="1" noAdjustHandles="1" noChangeArrowheads="1" noChangeShapeType="1" noTextEdit="1"/>
              </p:cNvSpPr>
              <p:nvPr/>
            </p:nvSpPr>
            <p:spPr>
              <a:xfrm>
                <a:off x="5764998" y="2757403"/>
                <a:ext cx="3449149" cy="3196516"/>
              </a:xfrm>
              <a:prstGeom prst="rect">
                <a:avLst/>
              </a:prstGeom>
              <a:blipFill>
                <a:blip r:embed="rId7"/>
                <a:stretch>
                  <a:fillRect l="-17949" t="-43478" b="-715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CACEAA9E-850F-0F40-A57F-CD2EE6770148}"/>
                  </a:ext>
                </a:extLst>
              </p:cNvPr>
              <p:cNvSpPr/>
              <p:nvPr/>
            </p:nvSpPr>
            <p:spPr>
              <a:xfrm>
                <a:off x="8094" y="3375385"/>
                <a:ext cx="2485937" cy="243021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rPr>
                        <m:t>𝑥</m:t>
                      </m:r>
                      <m:r>
                        <a:rPr lang="en-US" sz="3200" i="1" smtClean="0">
                          <a:latin typeface="Cambria Math" panose="02040503050406030204" pitchFamily="18" charset="0"/>
                        </a:rPr>
                        <m:t>=</m:t>
                      </m:r>
                      <m:d>
                        <m:dPr>
                          <m:ctrlPr>
                            <a:rPr lang="en-US" sz="3200" i="1">
                              <a:latin typeface="Cambria Math" panose="02040503050406030204" pitchFamily="18" charset="0"/>
                            </a:rPr>
                          </m:ctrlPr>
                        </m:dPr>
                        <m:e>
                          <m:m>
                            <m:mPr>
                              <m:mcs>
                                <m:mc>
                                  <m:mcPr>
                                    <m:count m:val="1"/>
                                    <m:mcJc m:val="center"/>
                                  </m:mcPr>
                                </m:mc>
                              </m:mcs>
                              <m:ctrlPr>
                                <a:rPr lang="en-US" sz="3200" i="1">
                                  <a:latin typeface="Cambria Math" panose="02040503050406030204" pitchFamily="18" charset="0"/>
                                </a:rPr>
                              </m:ctrlPr>
                            </m:mPr>
                            <m:mr>
                              <m:e>
                                <m:sSub>
                                  <m:sSubPr>
                                    <m:ctrlPr>
                                      <a:rPr lang="en-US" sz="3200" i="1">
                                        <a:latin typeface="Cambria Math" panose="02040503050406030204" pitchFamily="18" charset="0"/>
                                      </a:rPr>
                                    </m:ctrlPr>
                                  </m:sSubPr>
                                  <m:e>
                                    <m:r>
                                      <a:rPr lang="en-US" sz="3200" i="1">
                                        <a:latin typeface="Cambria Math" panose="02040503050406030204" pitchFamily="18" charset="0"/>
                                      </a:rPr>
                                      <m:t>𝑥</m:t>
                                    </m:r>
                                  </m:e>
                                  <m:sub>
                                    <m:r>
                                      <a:rPr lang="sr-Latn-RS" sz="3200" b="0" i="1" smtClean="0">
                                        <a:latin typeface="Cambria Math" panose="02040503050406030204" pitchFamily="18" charset="0"/>
                                      </a:rPr>
                                      <m:t>0</m:t>
                                    </m:r>
                                  </m:sub>
                                </m:sSub>
                              </m:e>
                            </m:mr>
                            <m:mr>
                              <m:e>
                                <m:r>
                                  <a:rPr lang="en-US" sz="3200" i="1" smtClean="0">
                                    <a:latin typeface="Cambria Math" panose="02040503050406030204" pitchFamily="18" charset="0"/>
                                    <a:ea typeface="Cambria Math" panose="02040503050406030204" pitchFamily="18" charset="0"/>
                                  </a:rPr>
                                  <m:t>⋮</m:t>
                                </m:r>
                              </m:e>
                            </m:mr>
                            <m:mr>
                              <m:e>
                                <m:sSub>
                                  <m:sSubPr>
                                    <m:ctrlPr>
                                      <a:rPr lang="en-US" sz="3200" i="1">
                                        <a:latin typeface="Cambria Math" panose="02040503050406030204" pitchFamily="18" charset="0"/>
                                      </a:rPr>
                                    </m:ctrlPr>
                                  </m:sSubPr>
                                  <m:e>
                                    <m:r>
                                      <a:rPr lang="en-US" sz="3200" i="1">
                                        <a:latin typeface="Cambria Math" panose="02040503050406030204" pitchFamily="18" charset="0"/>
                                      </a:rPr>
                                      <m:t>𝑥</m:t>
                                    </m:r>
                                  </m:e>
                                  <m:sub>
                                    <m:r>
                                      <a:rPr lang="en-US" sz="3200" b="0" i="1" smtClean="0">
                                        <a:latin typeface="Cambria Math" panose="02040503050406030204" pitchFamily="18" charset="0"/>
                                      </a:rPr>
                                      <m:t>𝑖</m:t>
                                    </m:r>
                                  </m:sub>
                                </m:sSub>
                              </m:e>
                            </m:mr>
                            <m:mr>
                              <m:e>
                                <m:r>
                                  <a:rPr lang="en-US" sz="3200" i="1">
                                    <a:latin typeface="Cambria Math" panose="02040503050406030204" pitchFamily="18" charset="0"/>
                                    <a:ea typeface="Cambria Math" panose="02040503050406030204" pitchFamily="18" charset="0"/>
                                  </a:rPr>
                                  <m:t>⋮</m:t>
                                </m:r>
                              </m:e>
                            </m:mr>
                            <m:mr>
                              <m:e>
                                <m:sSub>
                                  <m:sSubPr>
                                    <m:ctrlPr>
                                      <a:rPr lang="en-US" sz="3200" i="1">
                                        <a:latin typeface="Cambria Math" panose="02040503050406030204" pitchFamily="18" charset="0"/>
                                      </a:rPr>
                                    </m:ctrlPr>
                                  </m:sSubPr>
                                  <m:e>
                                    <m:r>
                                      <a:rPr lang="en-US" sz="3200" i="1">
                                        <a:latin typeface="Cambria Math" panose="02040503050406030204" pitchFamily="18" charset="0"/>
                                      </a:rPr>
                                      <m:t>𝑥</m:t>
                                    </m:r>
                                  </m:e>
                                  <m:sub>
                                    <m:r>
                                      <a:rPr lang="en-US" sz="3200" b="0" i="1" smtClean="0">
                                        <a:latin typeface="Cambria Math" panose="02040503050406030204" pitchFamily="18" charset="0"/>
                                      </a:rPr>
                                      <m:t>𝑛</m:t>
                                    </m:r>
                                    <m:r>
                                      <a:rPr lang="sr-Latn-RS" sz="3200" b="0" i="1" smtClean="0">
                                        <a:latin typeface="Cambria Math" panose="02040503050406030204" pitchFamily="18" charset="0"/>
                                      </a:rPr>
                                      <m:t>−1</m:t>
                                    </m:r>
                                  </m:sub>
                                </m:sSub>
                              </m:e>
                            </m:mr>
                          </m:m>
                        </m:e>
                      </m:d>
                    </m:oMath>
                  </m:oMathPara>
                </a14:m>
                <a:endParaRPr lang="en-US" sz="3200" dirty="0"/>
              </a:p>
            </p:txBody>
          </p:sp>
        </mc:Choice>
        <mc:Fallback xmlns="">
          <p:sp>
            <p:nvSpPr>
              <p:cNvPr id="53" name="Rectangle 52">
                <a:extLst>
                  <a:ext uri="{FF2B5EF4-FFF2-40B4-BE49-F238E27FC236}">
                    <a16:creationId xmlns:a16="http://schemas.microsoft.com/office/drawing/2014/main" id="{CACEAA9E-850F-0F40-A57F-CD2EE6770148}"/>
                  </a:ext>
                </a:extLst>
              </p:cNvPr>
              <p:cNvSpPr>
                <a:spLocks noRot="1" noChangeAspect="1" noMove="1" noResize="1" noEditPoints="1" noAdjustHandles="1" noChangeArrowheads="1" noChangeShapeType="1" noTextEdit="1"/>
              </p:cNvSpPr>
              <p:nvPr/>
            </p:nvSpPr>
            <p:spPr>
              <a:xfrm>
                <a:off x="8094" y="3375385"/>
                <a:ext cx="2485937" cy="2430217"/>
              </a:xfrm>
              <a:prstGeom prst="rect">
                <a:avLst/>
              </a:prstGeom>
              <a:blipFill>
                <a:blip r:embed="rId8"/>
                <a:stretch>
                  <a:fillRect/>
                </a:stretch>
              </a:blipFill>
            </p:spPr>
            <p:txBody>
              <a:bodyPr/>
              <a:lstStyle/>
              <a:p>
                <a:r>
                  <a:rPr lang="en-US">
                    <a:noFill/>
                  </a:rPr>
                  <a:t> </a:t>
                </a:r>
              </a:p>
            </p:txBody>
          </p:sp>
        </mc:Fallback>
      </mc:AlternateContent>
      <p:sp>
        <p:nvSpPr>
          <p:cNvPr id="54" name="Right Arrow 53">
            <a:extLst>
              <a:ext uri="{FF2B5EF4-FFF2-40B4-BE49-F238E27FC236}">
                <a16:creationId xmlns:a16="http://schemas.microsoft.com/office/drawing/2014/main" id="{D4A15B76-8D3C-C24E-A14D-9F475F3EC42C}"/>
              </a:ext>
            </a:extLst>
          </p:cNvPr>
          <p:cNvSpPr/>
          <p:nvPr/>
        </p:nvSpPr>
        <p:spPr>
          <a:xfrm>
            <a:off x="2559418" y="4435609"/>
            <a:ext cx="311280" cy="309768"/>
          </a:xfrm>
          <a:prstGeom prst="rightArrow">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55" name="TextBox 54">
            <a:extLst>
              <a:ext uri="{FF2B5EF4-FFF2-40B4-BE49-F238E27FC236}">
                <a16:creationId xmlns:a16="http://schemas.microsoft.com/office/drawing/2014/main" id="{7F6721E0-43E1-9442-801F-435CA74DBED0}"/>
              </a:ext>
            </a:extLst>
          </p:cNvPr>
          <p:cNvSpPr txBox="1"/>
          <p:nvPr/>
        </p:nvSpPr>
        <p:spPr>
          <a:xfrm>
            <a:off x="364928" y="6257991"/>
            <a:ext cx="2046779" cy="461665"/>
          </a:xfrm>
          <a:prstGeom prst="rect">
            <a:avLst/>
          </a:prstGeom>
          <a:noFill/>
        </p:spPr>
        <p:txBody>
          <a:bodyPr wrap="none" rtlCol="0">
            <a:spAutoFit/>
          </a:bodyPr>
          <a:lstStyle/>
          <a:p>
            <a:r>
              <a:rPr lang="en-US" sz="2400" dirty="0"/>
              <a:t>classical vector</a:t>
            </a:r>
          </a:p>
        </p:txBody>
      </p:sp>
      <p:sp>
        <p:nvSpPr>
          <p:cNvPr id="56" name="TextBox 55">
            <a:extLst>
              <a:ext uri="{FF2B5EF4-FFF2-40B4-BE49-F238E27FC236}">
                <a16:creationId xmlns:a16="http://schemas.microsoft.com/office/drawing/2014/main" id="{2F77771A-C92F-4845-A7D2-7908A03FFFD1}"/>
              </a:ext>
            </a:extLst>
          </p:cNvPr>
          <p:cNvSpPr txBox="1"/>
          <p:nvPr/>
        </p:nvSpPr>
        <p:spPr>
          <a:xfrm>
            <a:off x="6846241" y="6244338"/>
            <a:ext cx="2864951" cy="461665"/>
          </a:xfrm>
          <a:prstGeom prst="rect">
            <a:avLst/>
          </a:prstGeom>
          <a:noFill/>
        </p:spPr>
        <p:txBody>
          <a:bodyPr wrap="none" rtlCol="0">
            <a:spAutoFit/>
          </a:bodyPr>
          <a:lstStyle/>
          <a:p>
            <a:r>
              <a:rPr lang="en-US" sz="2400" dirty="0"/>
              <a:t>quantum state vector</a:t>
            </a:r>
          </a:p>
        </p:txBody>
      </p:sp>
      <p:sp>
        <p:nvSpPr>
          <p:cNvPr id="41" name="Rounded Rectangle 40">
            <a:extLst>
              <a:ext uri="{FF2B5EF4-FFF2-40B4-BE49-F238E27FC236}">
                <a16:creationId xmlns:a16="http://schemas.microsoft.com/office/drawing/2014/main" id="{531517B3-B28E-3141-B214-0A2ECE8D6C4F}"/>
              </a:ext>
            </a:extLst>
          </p:cNvPr>
          <p:cNvSpPr/>
          <p:nvPr/>
        </p:nvSpPr>
        <p:spPr>
          <a:xfrm>
            <a:off x="236167" y="1396076"/>
            <a:ext cx="3657458" cy="1200559"/>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ight Arrow 41">
            <a:extLst>
              <a:ext uri="{FF2B5EF4-FFF2-40B4-BE49-F238E27FC236}">
                <a16:creationId xmlns:a16="http://schemas.microsoft.com/office/drawing/2014/main" id="{A8005925-B7C4-9C47-BBD9-CF183906EE12}"/>
              </a:ext>
            </a:extLst>
          </p:cNvPr>
          <p:cNvSpPr/>
          <p:nvPr/>
        </p:nvSpPr>
        <p:spPr>
          <a:xfrm>
            <a:off x="1447146" y="1815896"/>
            <a:ext cx="510993" cy="409171"/>
          </a:xfrm>
          <a:prstGeom prst="rightArrow">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79180922-8E9A-C14C-8984-7806729AFD7D}"/>
              </a:ext>
            </a:extLst>
          </p:cNvPr>
          <p:cNvSpPr/>
          <p:nvPr/>
        </p:nvSpPr>
        <p:spPr>
          <a:xfrm>
            <a:off x="408493" y="1841949"/>
            <a:ext cx="454536" cy="41438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i="1" dirty="0">
                <a:solidFill>
                  <a:schemeClr val="tx1"/>
                </a:solidFill>
                <a:latin typeface="Times New Roman" panose="02020603050405020304" pitchFamily="18" charset="0"/>
                <a:cs typeface="Times New Roman" panose="02020603050405020304" pitchFamily="18" charset="0"/>
              </a:rPr>
              <a:t>x</a:t>
            </a:r>
            <a:r>
              <a:rPr lang="en-US" sz="2400" baseline="-25000" dirty="0">
                <a:solidFill>
                  <a:schemeClr val="tx1"/>
                </a:solidFill>
                <a:latin typeface="Times New Roman" panose="02020603050405020304" pitchFamily="18" charset="0"/>
                <a:cs typeface="Times New Roman" panose="02020603050405020304" pitchFamily="18" charset="0"/>
              </a:rPr>
              <a:t>0</a:t>
            </a:r>
          </a:p>
        </p:txBody>
      </p:sp>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1A1DD651-D637-834E-89C3-C1950673D5C7}"/>
                  </a:ext>
                </a:extLst>
              </p:cNvPr>
              <p:cNvSpPr/>
              <p:nvPr/>
            </p:nvSpPr>
            <p:spPr>
              <a:xfrm>
                <a:off x="1958139" y="1794674"/>
                <a:ext cx="197457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sr-Latn-RS" sz="2400" b="0" i="1" smtClean="0">
                              <a:latin typeface="Cambria Math" panose="02040503050406030204" pitchFamily="18" charset="0"/>
                            </a:rPr>
                          </m:ctrlPr>
                        </m:sSubSupPr>
                        <m:e>
                          <m:r>
                            <a:rPr lang="sr-Latn-RS" sz="2400" b="0" i="1" smtClean="0">
                              <a:latin typeface="Cambria Math" panose="02040503050406030204" pitchFamily="18" charset="0"/>
                            </a:rPr>
                            <m:t>𝑥</m:t>
                          </m:r>
                        </m:e>
                        <m:sub>
                          <m:r>
                            <a:rPr lang="sr-Latn-RS" sz="2400" b="0" i="1" smtClean="0">
                              <a:latin typeface="Cambria Math" panose="02040503050406030204" pitchFamily="18" charset="0"/>
                            </a:rPr>
                            <m:t>0</m:t>
                          </m:r>
                        </m:sub>
                        <m:sup>
                          <m:r>
                            <a:rPr lang="en-US" sz="2400" b="0" i="1" smtClean="0">
                              <a:latin typeface="Cambria Math" panose="02040503050406030204" pitchFamily="18" charset="0"/>
                            </a:rPr>
                            <m:t>′</m:t>
                          </m:r>
                        </m:sup>
                      </m:sSubSup>
                      <m:d>
                        <m:dPr>
                          <m:begChr m:val="|"/>
                          <m:endChr m:val="⟩"/>
                          <m:ctrlPr>
                            <a:rPr lang="en-US" sz="2400" i="1" smtClean="0">
                              <a:latin typeface="Cambria Math" panose="02040503050406030204" pitchFamily="18" charset="0"/>
                            </a:rPr>
                          </m:ctrlPr>
                        </m:dPr>
                        <m:e>
                          <m:r>
                            <m:rPr>
                              <m:nor/>
                            </m:rPr>
                            <a:rPr lang="sr-Latn-RS" sz="2400" b="0" smtClean="0">
                              <a:latin typeface="Cambria Math" panose="02040503050406030204" pitchFamily="18" charset="0"/>
                            </a:rPr>
                            <m:t>0</m:t>
                          </m:r>
                        </m:e>
                      </m:d>
                      <m:r>
                        <a:rPr lang="sr-Latn-RS" sz="2400" b="0" i="1" smtClean="0">
                          <a:latin typeface="Cambria Math" panose="02040503050406030204" pitchFamily="18" charset="0"/>
                        </a:rPr>
                        <m:t>+</m:t>
                      </m:r>
                      <m:sSubSup>
                        <m:sSubSupPr>
                          <m:ctrlPr>
                            <a:rPr lang="sr-Latn-RS" sz="2400" i="1">
                              <a:latin typeface="Cambria Math" panose="02040503050406030204" pitchFamily="18" charset="0"/>
                            </a:rPr>
                          </m:ctrlPr>
                        </m:sSubSupPr>
                        <m:e>
                          <m:r>
                            <a:rPr lang="sr-Latn-RS" sz="2400" i="1">
                              <a:latin typeface="Cambria Math" panose="02040503050406030204" pitchFamily="18" charset="0"/>
                            </a:rPr>
                            <m:t>𝑥</m:t>
                          </m:r>
                        </m:e>
                        <m:sub>
                          <m:r>
                            <a:rPr lang="sr-Latn-RS" sz="2400" b="0" i="1" smtClean="0">
                              <a:latin typeface="Cambria Math" panose="02040503050406030204" pitchFamily="18" charset="0"/>
                            </a:rPr>
                            <m:t>1</m:t>
                          </m:r>
                        </m:sub>
                        <m:sup>
                          <m:r>
                            <a:rPr lang="en-US" sz="2400" i="1">
                              <a:latin typeface="Cambria Math" panose="02040503050406030204" pitchFamily="18" charset="0"/>
                            </a:rPr>
                            <m:t>′</m:t>
                          </m:r>
                        </m:sup>
                      </m:sSubSup>
                      <m:d>
                        <m:dPr>
                          <m:begChr m:val="|"/>
                          <m:endChr m:val="⟩"/>
                          <m:ctrlPr>
                            <a:rPr lang="en-US" sz="2400" i="1">
                              <a:latin typeface="Cambria Math" panose="02040503050406030204" pitchFamily="18" charset="0"/>
                            </a:rPr>
                          </m:ctrlPr>
                        </m:dPr>
                        <m:e>
                          <m:r>
                            <m:rPr>
                              <m:nor/>
                            </m:rPr>
                            <a:rPr lang="sr-Latn-RS" sz="2400" b="0" smtClean="0">
                              <a:latin typeface="Cambria Math" panose="02040503050406030204" pitchFamily="18" charset="0"/>
                            </a:rPr>
                            <m:t>1</m:t>
                          </m:r>
                        </m:e>
                      </m:d>
                    </m:oMath>
                  </m:oMathPara>
                </a14:m>
                <a:endParaRPr lang="en-US" sz="2400" dirty="0"/>
              </a:p>
            </p:txBody>
          </p:sp>
        </mc:Choice>
        <mc:Fallback xmlns="">
          <p:sp>
            <p:nvSpPr>
              <p:cNvPr id="44" name="Rectangle 43">
                <a:extLst>
                  <a:ext uri="{FF2B5EF4-FFF2-40B4-BE49-F238E27FC236}">
                    <a16:creationId xmlns:a16="http://schemas.microsoft.com/office/drawing/2014/main" id="{1A1DD651-D637-834E-89C3-C1950673D5C7}"/>
                  </a:ext>
                </a:extLst>
              </p:cNvPr>
              <p:cNvSpPr>
                <a:spLocks noRot="1" noChangeAspect="1" noMove="1" noResize="1" noEditPoints="1" noAdjustHandles="1" noChangeArrowheads="1" noChangeShapeType="1" noTextEdit="1"/>
              </p:cNvSpPr>
              <p:nvPr/>
            </p:nvSpPr>
            <p:spPr>
              <a:xfrm>
                <a:off x="1958139" y="1794674"/>
                <a:ext cx="1974579" cy="461665"/>
              </a:xfrm>
              <a:prstGeom prst="rect">
                <a:avLst/>
              </a:prstGeom>
              <a:blipFill>
                <a:blip r:embed="rId9"/>
                <a:stretch>
                  <a:fillRect b="-2632"/>
                </a:stretch>
              </a:blipFill>
            </p:spPr>
            <p:txBody>
              <a:bodyPr/>
              <a:lstStyle/>
              <a:p>
                <a:r>
                  <a:rPr lang="en-US">
                    <a:noFill/>
                  </a:rPr>
                  <a:t> </a:t>
                </a:r>
              </a:p>
            </p:txBody>
          </p:sp>
        </mc:Fallback>
      </mc:AlternateContent>
      <p:sp>
        <p:nvSpPr>
          <p:cNvPr id="45" name="Rectangle 44">
            <a:extLst>
              <a:ext uri="{FF2B5EF4-FFF2-40B4-BE49-F238E27FC236}">
                <a16:creationId xmlns:a16="http://schemas.microsoft.com/office/drawing/2014/main" id="{261ECF3E-08C5-A744-9405-D7B6C04C90A0}"/>
              </a:ext>
            </a:extLst>
          </p:cNvPr>
          <p:cNvSpPr/>
          <p:nvPr/>
        </p:nvSpPr>
        <p:spPr>
          <a:xfrm>
            <a:off x="883821" y="1841950"/>
            <a:ext cx="461760" cy="41438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i="1" dirty="0">
                <a:solidFill>
                  <a:schemeClr val="tx1"/>
                </a:solidFill>
                <a:latin typeface="Times New Roman" panose="02020603050405020304" pitchFamily="18" charset="0"/>
                <a:cs typeface="Times New Roman" panose="02020603050405020304" pitchFamily="18" charset="0"/>
              </a:rPr>
              <a:t>x</a:t>
            </a:r>
            <a:r>
              <a:rPr lang="en-US" sz="2400" baseline="-25000" dirty="0">
                <a:solidFill>
                  <a:schemeClr val="tx1"/>
                </a:solidFill>
                <a:latin typeface="Times New Roman" panose="02020603050405020304" pitchFamily="18" charset="0"/>
                <a:cs typeface="Times New Roman" panose="02020603050405020304" pitchFamily="18" charset="0"/>
              </a:rPr>
              <a:t>1</a:t>
            </a: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34A603CD-4A2A-7744-97B0-D87B33614477}"/>
                  </a:ext>
                </a:extLst>
              </p:cNvPr>
              <p:cNvSpPr/>
              <p:nvPr/>
            </p:nvSpPr>
            <p:spPr>
              <a:xfrm>
                <a:off x="2936085" y="3942919"/>
                <a:ext cx="2947922" cy="15483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3200" i="1" smtClean="0">
                              <a:latin typeface="Cambria Math" panose="02040503050406030204" pitchFamily="18" charset="0"/>
                            </a:rPr>
                          </m:ctrlPr>
                        </m:sSubPr>
                        <m:e>
                          <m:r>
                            <a:rPr lang="en-US" sz="3200" i="1">
                              <a:latin typeface="Cambria Math" panose="02040503050406030204" pitchFamily="18" charset="0"/>
                            </a:rPr>
                            <m:t>𝑥</m:t>
                          </m:r>
                          <m:r>
                            <a:rPr lang="en-US" sz="3200" b="0" i="1" smtClean="0">
                              <a:latin typeface="Cambria Math" panose="02040503050406030204" pitchFamily="18" charset="0"/>
                            </a:rPr>
                            <m:t>′</m:t>
                          </m:r>
                        </m:e>
                        <m:sub>
                          <m:r>
                            <a:rPr lang="en-US" sz="3200" i="1">
                              <a:latin typeface="Cambria Math" panose="02040503050406030204" pitchFamily="18" charset="0"/>
                            </a:rPr>
                            <m:t>𝑖</m:t>
                          </m:r>
                        </m:sub>
                      </m:sSub>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sSub>
                            <m:sSubPr>
                              <m:ctrlPr>
                                <a:rPr lang="en-US" sz="3200" i="1">
                                  <a:latin typeface="Cambria Math" panose="02040503050406030204" pitchFamily="18" charset="0"/>
                                </a:rPr>
                              </m:ctrlPr>
                            </m:sSubPr>
                            <m:e>
                              <m:r>
                                <a:rPr lang="en-US" sz="3200" i="1">
                                  <a:latin typeface="Cambria Math" panose="02040503050406030204" pitchFamily="18" charset="0"/>
                                </a:rPr>
                                <m:t>𝑥</m:t>
                              </m:r>
                            </m:e>
                            <m:sub>
                              <m:r>
                                <a:rPr lang="en-US" sz="3200" i="1">
                                  <a:latin typeface="Cambria Math" panose="02040503050406030204" pitchFamily="18" charset="0"/>
                                </a:rPr>
                                <m:t>𝑖</m:t>
                              </m:r>
                            </m:sub>
                          </m:sSub>
                        </m:num>
                        <m:den>
                          <m:rad>
                            <m:radPr>
                              <m:degHide m:val="on"/>
                              <m:ctrlPr>
                                <a:rPr lang="en-US" sz="3200" b="0" i="1" smtClean="0">
                                  <a:latin typeface="Cambria Math" panose="02040503050406030204" pitchFamily="18" charset="0"/>
                                </a:rPr>
                              </m:ctrlPr>
                            </m:radPr>
                            <m:deg/>
                            <m:e>
                              <m:nary>
                                <m:naryPr>
                                  <m:chr m:val="∑"/>
                                  <m:ctrlPr>
                                    <a:rPr lang="en-US" sz="3200" b="0" i="1" smtClean="0">
                                      <a:latin typeface="Cambria Math" panose="02040503050406030204" pitchFamily="18" charset="0"/>
                                    </a:rPr>
                                  </m:ctrlPr>
                                </m:naryPr>
                                <m:sub>
                                  <m:r>
                                    <m:rPr>
                                      <m:brk m:alnAt="23"/>
                                    </m:rPr>
                                    <a:rPr lang="en-US" sz="3200" b="0" i="1" smtClean="0">
                                      <a:latin typeface="Cambria Math" panose="02040503050406030204" pitchFamily="18" charset="0"/>
                                    </a:rPr>
                                    <m:t>𝑗</m:t>
                                  </m:r>
                                  <m:r>
                                    <a:rPr lang="en-US" sz="3200" b="0" i="1" smtClean="0">
                                      <a:latin typeface="Cambria Math" panose="02040503050406030204" pitchFamily="18" charset="0"/>
                                    </a:rPr>
                                    <m:t>=0</m:t>
                                  </m:r>
                                </m:sub>
                                <m:sup>
                                  <m:r>
                                    <a:rPr lang="en-US" sz="3200" b="0" i="1" smtClean="0">
                                      <a:latin typeface="Cambria Math" panose="02040503050406030204" pitchFamily="18" charset="0"/>
                                    </a:rPr>
                                    <m:t>𝑛</m:t>
                                  </m:r>
                                  <m:r>
                                    <a:rPr lang="en-US" sz="3200" b="0" i="1" smtClean="0">
                                      <a:latin typeface="Cambria Math" panose="02040503050406030204" pitchFamily="18" charset="0"/>
                                    </a:rPr>
                                    <m:t>−1</m:t>
                                  </m:r>
                                </m:sup>
                                <m:e>
                                  <m:sSubSup>
                                    <m:sSubSupPr>
                                      <m:ctrlPr>
                                        <a:rPr lang="en-US" sz="3200" b="0" i="1" smtClean="0">
                                          <a:latin typeface="Cambria Math" panose="02040503050406030204" pitchFamily="18" charset="0"/>
                                        </a:rPr>
                                      </m:ctrlPr>
                                    </m:sSubSupPr>
                                    <m:e>
                                      <m:r>
                                        <a:rPr lang="en-US" sz="3200" b="0" i="1" smtClean="0">
                                          <a:latin typeface="Cambria Math" panose="02040503050406030204" pitchFamily="18" charset="0"/>
                                        </a:rPr>
                                        <m:t>𝑥</m:t>
                                      </m:r>
                                    </m:e>
                                    <m:sub>
                                      <m:r>
                                        <a:rPr lang="en-US" sz="3200" b="0" i="1" smtClean="0">
                                          <a:latin typeface="Cambria Math" panose="02040503050406030204" pitchFamily="18" charset="0"/>
                                        </a:rPr>
                                        <m:t>𝑗</m:t>
                                      </m:r>
                                    </m:sub>
                                    <m:sup>
                                      <m:r>
                                        <a:rPr lang="en-US" sz="3200" b="0" i="1" smtClean="0">
                                          <a:latin typeface="Cambria Math" panose="02040503050406030204" pitchFamily="18" charset="0"/>
                                        </a:rPr>
                                        <m:t>2</m:t>
                                      </m:r>
                                    </m:sup>
                                  </m:sSubSup>
                                </m:e>
                              </m:nary>
                            </m:e>
                          </m:rad>
                        </m:den>
                      </m:f>
                    </m:oMath>
                  </m:oMathPara>
                </a14:m>
                <a:endParaRPr lang="en-US" sz="3200" dirty="0"/>
              </a:p>
            </p:txBody>
          </p:sp>
        </mc:Choice>
        <mc:Fallback xmlns="">
          <p:sp>
            <p:nvSpPr>
              <p:cNvPr id="7" name="Rectangle 6">
                <a:extLst>
                  <a:ext uri="{FF2B5EF4-FFF2-40B4-BE49-F238E27FC236}">
                    <a16:creationId xmlns:a16="http://schemas.microsoft.com/office/drawing/2014/main" id="{34A603CD-4A2A-7744-97B0-D87B33614477}"/>
                  </a:ext>
                </a:extLst>
              </p:cNvPr>
              <p:cNvSpPr>
                <a:spLocks noRot="1" noChangeAspect="1" noMove="1" noResize="1" noEditPoints="1" noAdjustHandles="1" noChangeArrowheads="1" noChangeShapeType="1" noTextEdit="1"/>
              </p:cNvSpPr>
              <p:nvPr/>
            </p:nvSpPr>
            <p:spPr>
              <a:xfrm>
                <a:off x="2936085" y="3942919"/>
                <a:ext cx="2947922" cy="1548309"/>
              </a:xfrm>
              <a:prstGeom prst="rect">
                <a:avLst/>
              </a:prstGeom>
              <a:blipFill>
                <a:blip r:embed="rId10"/>
                <a:stretch>
                  <a:fillRect t="-4065" b="-61789"/>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89745E51-6837-6C44-B17B-356D9EFD7868}"/>
              </a:ext>
            </a:extLst>
          </p:cNvPr>
          <p:cNvSpPr txBox="1"/>
          <p:nvPr/>
        </p:nvSpPr>
        <p:spPr>
          <a:xfrm>
            <a:off x="3923375" y="5491228"/>
            <a:ext cx="1653017" cy="646331"/>
          </a:xfrm>
          <a:prstGeom prst="rect">
            <a:avLst/>
          </a:prstGeom>
          <a:noFill/>
        </p:spPr>
        <p:txBody>
          <a:bodyPr wrap="none" rtlCol="0">
            <a:spAutoFit/>
          </a:bodyPr>
          <a:lstStyle/>
          <a:p>
            <a:pPr algn="ctr"/>
            <a:r>
              <a:rPr lang="en-ZA" dirty="0"/>
              <a:t>Euclidean norm</a:t>
            </a:r>
          </a:p>
          <a:p>
            <a:pPr algn="ctr"/>
            <a:r>
              <a:rPr lang="en-ZA" dirty="0"/>
              <a:t>(L2 norm)</a:t>
            </a:r>
            <a:endParaRPr lang="en-US" dirty="0"/>
          </a:p>
        </p:txBody>
      </p:sp>
      <p:grpSp>
        <p:nvGrpSpPr>
          <p:cNvPr id="27" name="Group 26">
            <a:extLst>
              <a:ext uri="{FF2B5EF4-FFF2-40B4-BE49-F238E27FC236}">
                <a16:creationId xmlns:a16="http://schemas.microsoft.com/office/drawing/2014/main" id="{A5E9323E-45F1-7D4E-BFF2-4AB1CE193C9F}"/>
              </a:ext>
            </a:extLst>
          </p:cNvPr>
          <p:cNvGrpSpPr/>
          <p:nvPr/>
        </p:nvGrpSpPr>
        <p:grpSpPr>
          <a:xfrm>
            <a:off x="8612272" y="324018"/>
            <a:ext cx="3220573" cy="745710"/>
            <a:chOff x="8287987" y="792412"/>
            <a:chExt cx="3220573" cy="745710"/>
          </a:xfrm>
        </p:grpSpPr>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4EFE84CC-A5F5-A04D-AE79-4B00944F6065}"/>
                    </a:ext>
                  </a:extLst>
                </p:cNvPr>
                <p:cNvSpPr/>
                <p:nvPr/>
              </p:nvSpPr>
              <p:spPr>
                <a:xfrm>
                  <a:off x="8294228" y="792412"/>
                  <a:ext cx="408893"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0</m:t>
                            </m:r>
                          </m:e>
                        </m:d>
                      </m:oMath>
                    </m:oMathPara>
                  </a14:m>
                  <a:endParaRPr lang="en-US" sz="1200" dirty="0"/>
                </a:p>
              </p:txBody>
            </p:sp>
          </mc:Choice>
          <mc:Fallback xmlns="">
            <p:sp>
              <p:nvSpPr>
                <p:cNvPr id="113" name="Rectangle 112">
                  <a:extLst>
                    <a:ext uri="{FF2B5EF4-FFF2-40B4-BE49-F238E27FC236}">
                      <a16:creationId xmlns:a16="http://schemas.microsoft.com/office/drawing/2014/main" id="{17FBDE52-3F24-C946-8D41-50B073F7538A}"/>
                    </a:ext>
                  </a:extLst>
                </p:cNvPr>
                <p:cNvSpPr>
                  <a:spLocks noRot="1" noChangeAspect="1" noMove="1" noResize="1" noEditPoints="1" noAdjustHandles="1" noChangeArrowheads="1" noChangeShapeType="1" noTextEdit="1"/>
                </p:cNvSpPr>
                <p:nvPr/>
              </p:nvSpPr>
              <p:spPr>
                <a:xfrm>
                  <a:off x="8294228" y="792412"/>
                  <a:ext cx="408893" cy="276999"/>
                </a:xfrm>
                <a:prstGeom prst="rect">
                  <a:avLst/>
                </a:prstGeom>
                <a:blipFill>
                  <a:blip r:embed="rId11"/>
                  <a:stretch>
                    <a:fillRect/>
                  </a:stretch>
                </a:blipFill>
              </p:spPr>
              <p:txBody>
                <a:bodyPr/>
                <a:lstStyle/>
                <a:p>
                  <a:r>
                    <a:rPr lang="en-US">
                      <a:noFill/>
                    </a:rPr>
                    <a:t> </a:t>
                  </a:r>
                </a:p>
              </p:txBody>
            </p:sp>
          </mc:Fallback>
        </mc:AlternateContent>
        <p:cxnSp>
          <p:nvCxnSpPr>
            <p:cNvPr id="29" name="Straight Connector 28">
              <a:extLst>
                <a:ext uri="{FF2B5EF4-FFF2-40B4-BE49-F238E27FC236}">
                  <a16:creationId xmlns:a16="http://schemas.microsoft.com/office/drawing/2014/main" id="{0BB1B276-0869-F94D-AAAF-C8624412867C}"/>
                </a:ext>
              </a:extLst>
            </p:cNvPr>
            <p:cNvCxnSpPr>
              <a:cxnSpLocks/>
            </p:cNvCxnSpPr>
            <p:nvPr/>
          </p:nvCxnSpPr>
          <p:spPr>
            <a:xfrm>
              <a:off x="8624095" y="928774"/>
              <a:ext cx="288446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5B9AB34-4AE6-3C43-84F8-13340F374F90}"/>
                </a:ext>
              </a:extLst>
            </p:cNvPr>
            <p:cNvCxnSpPr>
              <a:cxnSpLocks/>
            </p:cNvCxnSpPr>
            <p:nvPr/>
          </p:nvCxnSpPr>
          <p:spPr>
            <a:xfrm>
              <a:off x="8594938" y="1393433"/>
              <a:ext cx="288446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FB5EF8B3-CA22-D34C-8EA5-F36A069A7ED1}"/>
                    </a:ext>
                  </a:extLst>
                </p:cNvPr>
                <p:cNvSpPr/>
                <p:nvPr/>
              </p:nvSpPr>
              <p:spPr>
                <a:xfrm>
                  <a:off x="8287987" y="1254933"/>
                  <a:ext cx="408893"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0</m:t>
                            </m:r>
                          </m:e>
                        </m:d>
                      </m:oMath>
                    </m:oMathPara>
                  </a14:m>
                  <a:endParaRPr lang="en-US" sz="1200" dirty="0"/>
                </a:p>
              </p:txBody>
            </p:sp>
          </mc:Choice>
          <mc:Fallback xmlns="">
            <p:sp>
              <p:nvSpPr>
                <p:cNvPr id="116" name="Rectangle 115">
                  <a:extLst>
                    <a:ext uri="{FF2B5EF4-FFF2-40B4-BE49-F238E27FC236}">
                      <a16:creationId xmlns:a16="http://schemas.microsoft.com/office/drawing/2014/main" id="{E9D5E14E-C6F0-CA48-92A0-C8F8CA3F9D6C}"/>
                    </a:ext>
                  </a:extLst>
                </p:cNvPr>
                <p:cNvSpPr>
                  <a:spLocks noRot="1" noChangeAspect="1" noMove="1" noResize="1" noEditPoints="1" noAdjustHandles="1" noChangeArrowheads="1" noChangeShapeType="1" noTextEdit="1"/>
                </p:cNvSpPr>
                <p:nvPr/>
              </p:nvSpPr>
              <p:spPr>
                <a:xfrm>
                  <a:off x="8287987" y="1254933"/>
                  <a:ext cx="408893" cy="276999"/>
                </a:xfrm>
                <a:prstGeom prst="rect">
                  <a:avLst/>
                </a:prstGeom>
                <a:blipFill>
                  <a:blip r:embed="rId12"/>
                  <a:stretch>
                    <a:fillRect/>
                  </a:stretch>
                </a:blipFill>
              </p:spPr>
              <p:txBody>
                <a:bodyPr/>
                <a:lstStyle/>
                <a:p>
                  <a:r>
                    <a:rPr lang="en-US">
                      <a:noFill/>
                    </a:rPr>
                    <a:t> </a:t>
                  </a:r>
                </a:p>
              </p:txBody>
            </p:sp>
          </mc:Fallback>
        </mc:AlternateContent>
        <p:sp>
          <p:nvSpPr>
            <p:cNvPr id="32" name="Rectangle 31">
              <a:extLst>
                <a:ext uri="{FF2B5EF4-FFF2-40B4-BE49-F238E27FC236}">
                  <a16:creationId xmlns:a16="http://schemas.microsoft.com/office/drawing/2014/main" id="{F73C9A86-7973-AA47-B83B-683AEC6E3CBD}"/>
                </a:ext>
              </a:extLst>
            </p:cNvPr>
            <p:cNvSpPr/>
            <p:nvPr/>
          </p:nvSpPr>
          <p:spPr>
            <a:xfrm>
              <a:off x="8774259" y="818122"/>
              <a:ext cx="539664" cy="720000"/>
            </a:xfrm>
            <a:prstGeom prst="rect">
              <a:avLst/>
            </a:prstGeom>
            <a:solidFill>
              <a:srgbClr val="FFC000"/>
            </a:solidFill>
            <a:effectLst>
              <a:glow rad="228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DA3EF3B2-D9AA-0449-BDA0-33A8FEDC9492}"/>
                    </a:ext>
                  </a:extLst>
                </p:cNvPr>
                <p:cNvSpPr/>
                <p:nvPr/>
              </p:nvSpPr>
              <p:spPr>
                <a:xfrm>
                  <a:off x="8709569" y="998718"/>
                  <a:ext cx="661400"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𝑈</m:t>
                        </m:r>
                        <m:r>
                          <a:rPr lang="en-US" sz="1600" i="1" smtClean="0">
                            <a:latin typeface="Cambria Math" panose="02040503050406030204" pitchFamily="18" charset="0"/>
                          </a:rPr>
                          <m:t>(</m:t>
                        </m:r>
                        <m:r>
                          <a:rPr lang="en-US" sz="1600" b="0" i="1" smtClean="0">
                            <a:latin typeface="Cambria Math" panose="02040503050406030204" pitchFamily="18" charset="0"/>
                          </a:rPr>
                          <m:t>𝑥</m:t>
                        </m:r>
                        <m:r>
                          <a:rPr lang="en-US" sz="1600" i="1">
                            <a:latin typeface="Cambria Math" panose="02040503050406030204" pitchFamily="18" charset="0"/>
                          </a:rPr>
                          <m:t>)</m:t>
                        </m:r>
                      </m:oMath>
                    </m:oMathPara>
                  </a14:m>
                  <a:endParaRPr lang="en-US" sz="1600" dirty="0"/>
                </a:p>
              </p:txBody>
            </p:sp>
          </mc:Choice>
          <mc:Fallback xmlns="">
            <p:sp>
              <p:nvSpPr>
                <p:cNvPr id="118" name="Rectangle 117">
                  <a:extLst>
                    <a:ext uri="{FF2B5EF4-FFF2-40B4-BE49-F238E27FC236}">
                      <a16:creationId xmlns:a16="http://schemas.microsoft.com/office/drawing/2014/main" id="{5DD3A32D-B881-4742-8791-8BCBDC959760}"/>
                    </a:ext>
                  </a:extLst>
                </p:cNvPr>
                <p:cNvSpPr>
                  <a:spLocks noRot="1" noChangeAspect="1" noMove="1" noResize="1" noEditPoints="1" noAdjustHandles="1" noChangeArrowheads="1" noChangeShapeType="1" noTextEdit="1"/>
                </p:cNvSpPr>
                <p:nvPr/>
              </p:nvSpPr>
              <p:spPr>
                <a:xfrm>
                  <a:off x="8709569" y="998718"/>
                  <a:ext cx="661400" cy="338554"/>
                </a:xfrm>
                <a:prstGeom prst="rect">
                  <a:avLst/>
                </a:prstGeom>
                <a:blipFill>
                  <a:blip r:embed="rId13"/>
                  <a:stretch>
                    <a:fillRect b="-14815"/>
                  </a:stretch>
                </a:blipFill>
              </p:spPr>
              <p:txBody>
                <a:bodyPr/>
                <a:lstStyle/>
                <a:p>
                  <a:r>
                    <a:rPr lang="en-US">
                      <a:noFill/>
                    </a:rPr>
                    <a:t> </a:t>
                  </a:r>
                </a:p>
              </p:txBody>
            </p:sp>
          </mc:Fallback>
        </mc:AlternateContent>
        <p:sp>
          <p:nvSpPr>
            <p:cNvPr id="35" name="Rectangle 34">
              <a:extLst>
                <a:ext uri="{FF2B5EF4-FFF2-40B4-BE49-F238E27FC236}">
                  <a16:creationId xmlns:a16="http://schemas.microsoft.com/office/drawing/2014/main" id="{E16B28CD-AB26-4A4E-B841-DA97E4441352}"/>
                </a:ext>
              </a:extLst>
            </p:cNvPr>
            <p:cNvSpPr/>
            <p:nvPr/>
          </p:nvSpPr>
          <p:spPr>
            <a:xfrm>
              <a:off x="10118903" y="807995"/>
              <a:ext cx="539664" cy="720000"/>
            </a:xfrm>
            <a:prstGeom prst="rect">
              <a:avLst/>
            </a:prstGeom>
            <a:solidFill>
              <a:schemeClr val="bg1">
                <a:lumMod val="85000"/>
              </a:schemeClr>
            </a:solidFill>
            <a:ln>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B73B6D8D-E326-6641-B63C-A8103B8339D2}"/>
                    </a:ext>
                  </a:extLst>
                </p:cNvPr>
                <p:cNvSpPr/>
                <p:nvPr/>
              </p:nvSpPr>
              <p:spPr>
                <a:xfrm>
                  <a:off x="10165888" y="1008913"/>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𝑀</m:t>
                        </m:r>
                      </m:oMath>
                    </m:oMathPara>
                  </a14:m>
                  <a:endParaRPr lang="en-US" sz="1600" dirty="0"/>
                </a:p>
              </p:txBody>
            </p:sp>
          </mc:Choice>
          <mc:Fallback xmlns="">
            <p:sp>
              <p:nvSpPr>
                <p:cNvPr id="120" name="Rectangle 119">
                  <a:extLst>
                    <a:ext uri="{FF2B5EF4-FFF2-40B4-BE49-F238E27FC236}">
                      <a16:creationId xmlns:a16="http://schemas.microsoft.com/office/drawing/2014/main" id="{67AC323A-6263-7B49-BC73-91248D8C8D48}"/>
                    </a:ext>
                  </a:extLst>
                </p:cNvPr>
                <p:cNvSpPr>
                  <a:spLocks noRot="1" noChangeAspect="1" noMove="1" noResize="1" noEditPoints="1" noAdjustHandles="1" noChangeArrowheads="1" noChangeShapeType="1" noTextEdit="1"/>
                </p:cNvSpPr>
                <p:nvPr/>
              </p:nvSpPr>
              <p:spPr>
                <a:xfrm>
                  <a:off x="10165888" y="1008913"/>
                  <a:ext cx="410882" cy="338554"/>
                </a:xfrm>
                <a:prstGeom prst="rect">
                  <a:avLst/>
                </a:prstGeom>
                <a:blipFill>
                  <a:blip r:embed="rId14"/>
                  <a:stretch>
                    <a:fillRect/>
                  </a:stretch>
                </a:blipFill>
              </p:spPr>
              <p:txBody>
                <a:bodyPr/>
                <a:lstStyle/>
                <a:p>
                  <a:r>
                    <a:rPr lang="en-US">
                      <a:noFill/>
                    </a:rPr>
                    <a:t> </a:t>
                  </a:r>
                </a:p>
              </p:txBody>
            </p:sp>
          </mc:Fallback>
        </mc:AlternateContent>
        <p:sp>
          <p:nvSpPr>
            <p:cNvPr id="46" name="Rectangle 45">
              <a:extLst>
                <a:ext uri="{FF2B5EF4-FFF2-40B4-BE49-F238E27FC236}">
                  <a16:creationId xmlns:a16="http://schemas.microsoft.com/office/drawing/2014/main" id="{072118B9-42AC-B64A-B449-77541DFA464C}"/>
                </a:ext>
              </a:extLst>
            </p:cNvPr>
            <p:cNvSpPr/>
            <p:nvPr/>
          </p:nvSpPr>
          <p:spPr>
            <a:xfrm>
              <a:off x="9471016" y="812887"/>
              <a:ext cx="540000" cy="720000"/>
            </a:xfrm>
            <a:prstGeom prst="rect">
              <a:avLst/>
            </a:prstGeom>
            <a:solidFill>
              <a:srgbClr val="30E845"/>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E80CFC7E-5B47-DF47-9B59-51B3934251C8}"/>
                    </a:ext>
                  </a:extLst>
                </p:cNvPr>
                <p:cNvSpPr/>
                <p:nvPr/>
              </p:nvSpPr>
              <p:spPr>
                <a:xfrm>
                  <a:off x="9409723" y="1033434"/>
                  <a:ext cx="65729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𝑉</m:t>
                        </m:r>
                        <m:r>
                          <a:rPr lang="en-US" sz="1600" i="1" smtClean="0">
                            <a:latin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𝜃</m:t>
                        </m:r>
                        <m:r>
                          <a:rPr lang="en-US" sz="1600" i="1">
                            <a:latin typeface="Cambria Math" panose="02040503050406030204" pitchFamily="18" charset="0"/>
                          </a:rPr>
                          <m:t>)</m:t>
                        </m:r>
                      </m:oMath>
                    </m:oMathPara>
                  </a14:m>
                  <a:endParaRPr lang="en-US" sz="1600" dirty="0"/>
                </a:p>
              </p:txBody>
            </p:sp>
          </mc:Choice>
          <mc:Fallback xmlns="">
            <p:sp>
              <p:nvSpPr>
                <p:cNvPr id="122" name="Rectangle 121">
                  <a:extLst>
                    <a:ext uri="{FF2B5EF4-FFF2-40B4-BE49-F238E27FC236}">
                      <a16:creationId xmlns:a16="http://schemas.microsoft.com/office/drawing/2014/main" id="{070B0884-F184-A044-86C3-3EE083856B8F}"/>
                    </a:ext>
                  </a:extLst>
                </p:cNvPr>
                <p:cNvSpPr>
                  <a:spLocks noRot="1" noChangeAspect="1" noMove="1" noResize="1" noEditPoints="1" noAdjustHandles="1" noChangeArrowheads="1" noChangeShapeType="1" noTextEdit="1"/>
                </p:cNvSpPr>
                <p:nvPr/>
              </p:nvSpPr>
              <p:spPr>
                <a:xfrm>
                  <a:off x="9409723" y="1033434"/>
                  <a:ext cx="657296" cy="338554"/>
                </a:xfrm>
                <a:prstGeom prst="rect">
                  <a:avLst/>
                </a:prstGeom>
                <a:blipFill>
                  <a:blip r:embed="rId15"/>
                  <a:stretch>
                    <a:fillRect b="-10714"/>
                  </a:stretch>
                </a:blipFill>
              </p:spPr>
              <p:txBody>
                <a:bodyPr/>
                <a:lstStyle/>
                <a:p>
                  <a:r>
                    <a:rPr lang="sr-Latn-RS">
                      <a:noFill/>
                    </a:rPr>
                    <a:t> </a:t>
                  </a:r>
                </a:p>
              </p:txBody>
            </p:sp>
          </mc:Fallback>
        </mc:AlternateContent>
        <p:sp>
          <p:nvSpPr>
            <p:cNvPr id="48" name="Rectangle 47">
              <a:extLst>
                <a:ext uri="{FF2B5EF4-FFF2-40B4-BE49-F238E27FC236}">
                  <a16:creationId xmlns:a16="http://schemas.microsoft.com/office/drawing/2014/main" id="{B4148F00-6189-5D4E-A7A1-24362584BDE0}"/>
                </a:ext>
              </a:extLst>
            </p:cNvPr>
            <p:cNvSpPr/>
            <p:nvPr/>
          </p:nvSpPr>
          <p:spPr>
            <a:xfrm>
              <a:off x="10778911" y="813038"/>
              <a:ext cx="539664" cy="720000"/>
            </a:xfrm>
            <a:prstGeom prst="rect">
              <a:avLst/>
            </a:prstGeom>
            <a:solidFill>
              <a:schemeClr val="accent4">
                <a:lumMod val="20000"/>
                <a:lumOff val="80000"/>
              </a:schemeClr>
            </a:solidFill>
            <a:ln>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5C65BD98-A8C0-B445-AF9A-AEB24A2EC0B8}"/>
                    </a:ext>
                  </a:extLst>
                </p:cNvPr>
                <p:cNvSpPr/>
                <p:nvPr/>
              </p:nvSpPr>
              <p:spPr>
                <a:xfrm>
                  <a:off x="8356553" y="1021749"/>
                  <a:ext cx="268022"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ea typeface="Cambria Math" panose="02040503050406030204" pitchFamily="18" charset="0"/>
                          </a:rPr>
                          <m:t>⋮</m:t>
                        </m:r>
                      </m:oMath>
                    </m:oMathPara>
                  </a14:m>
                  <a:endParaRPr lang="en-US" sz="1200" dirty="0"/>
                </a:p>
              </p:txBody>
            </p:sp>
          </mc:Choice>
          <mc:Fallback xmlns="">
            <p:sp>
              <p:nvSpPr>
                <p:cNvPr id="124" name="Rectangle 123">
                  <a:extLst>
                    <a:ext uri="{FF2B5EF4-FFF2-40B4-BE49-F238E27FC236}">
                      <a16:creationId xmlns:a16="http://schemas.microsoft.com/office/drawing/2014/main" id="{15A2E404-FB97-FD4A-A2E9-133AAD4C150C}"/>
                    </a:ext>
                  </a:extLst>
                </p:cNvPr>
                <p:cNvSpPr>
                  <a:spLocks noRot="1" noChangeAspect="1" noMove="1" noResize="1" noEditPoints="1" noAdjustHandles="1" noChangeArrowheads="1" noChangeShapeType="1" noTextEdit="1"/>
                </p:cNvSpPr>
                <p:nvPr/>
              </p:nvSpPr>
              <p:spPr>
                <a:xfrm>
                  <a:off x="8356553" y="1021749"/>
                  <a:ext cx="268022" cy="276999"/>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45713F19-95F5-5B4B-AF70-3A3403E2D075}"/>
                    </a:ext>
                  </a:extLst>
                </p:cNvPr>
                <p:cNvSpPr/>
                <p:nvPr/>
              </p:nvSpPr>
              <p:spPr>
                <a:xfrm>
                  <a:off x="10856483" y="995093"/>
                  <a:ext cx="37561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𝑂</m:t>
                        </m:r>
                      </m:oMath>
                    </m:oMathPara>
                  </a14:m>
                  <a:endParaRPr lang="en-US" sz="1600" dirty="0"/>
                </a:p>
              </p:txBody>
            </p:sp>
          </mc:Choice>
          <mc:Fallback xmlns="">
            <p:sp>
              <p:nvSpPr>
                <p:cNvPr id="125" name="Rectangle 124">
                  <a:extLst>
                    <a:ext uri="{FF2B5EF4-FFF2-40B4-BE49-F238E27FC236}">
                      <a16:creationId xmlns:a16="http://schemas.microsoft.com/office/drawing/2014/main" id="{178C4460-F475-C048-B7ED-565B0EADE94A}"/>
                    </a:ext>
                  </a:extLst>
                </p:cNvPr>
                <p:cNvSpPr>
                  <a:spLocks noRot="1" noChangeAspect="1" noMove="1" noResize="1" noEditPoints="1" noAdjustHandles="1" noChangeArrowheads="1" noChangeShapeType="1" noTextEdit="1"/>
                </p:cNvSpPr>
                <p:nvPr/>
              </p:nvSpPr>
              <p:spPr>
                <a:xfrm>
                  <a:off x="10856483" y="995093"/>
                  <a:ext cx="375616" cy="338554"/>
                </a:xfrm>
                <a:prstGeom prst="rect">
                  <a:avLst/>
                </a:prstGeom>
                <a:blipFill>
                  <a:blip r:embed="rId17"/>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4487FB0-317F-6745-8246-16898B10E2A4}"/>
                  </a:ext>
                </a:extLst>
              </p:cNvPr>
              <p:cNvSpPr txBox="1"/>
              <p:nvPr/>
            </p:nvSpPr>
            <p:spPr>
              <a:xfrm>
                <a:off x="6412906" y="2268415"/>
                <a:ext cx="2691122" cy="461665"/>
              </a:xfrm>
              <a:prstGeom prst="rect">
                <a:avLst/>
              </a:prstGeom>
              <a:noFill/>
            </p:spPr>
            <p:txBody>
              <a:bodyPr wrap="none" rtlCol="0">
                <a:spAutoFit/>
              </a:bodyPr>
              <a:lstStyle/>
              <a:p>
                <a:pPr algn="r"/>
                <a:r>
                  <a:rPr lang="en-US" sz="2400" dirty="0"/>
                  <a:t>qubits: </a:t>
                </a:r>
                <a14:m>
                  <m:oMath xmlns:m="http://schemas.openxmlformats.org/officeDocument/2006/math">
                    <m:r>
                      <m:rPr>
                        <m:brk m:alnAt="7"/>
                      </m:rPr>
                      <a:rPr lang="en-US" sz="2400" i="1">
                        <a:latin typeface="Cambria Math" panose="02040503050406030204" pitchFamily="18" charset="0"/>
                        <a:ea typeface="Cambria Math" panose="02040503050406030204" pitchFamily="18" charset="0"/>
                      </a:rPr>
                      <m:t>𝑞</m:t>
                    </m:r>
                    <m:r>
                      <a:rPr lang="en-US" sz="2400" b="0" i="0" smtClean="0">
                        <a:latin typeface="Cambria Math" panose="02040503050406030204" pitchFamily="18" charset="0"/>
                        <a:ea typeface="Cambria Math" panose="02040503050406030204" pitchFamily="18" charset="0"/>
                      </a:rPr>
                      <m:t>=</m:t>
                    </m:r>
                    <m:d>
                      <m:dPr>
                        <m:begChr m:val="⌈"/>
                        <m:endChr m:val="⌉"/>
                        <m:ctrlPr>
                          <a:rPr lang="en-ZA" sz="2400" i="1" dirty="0">
                            <a:latin typeface="Cambria Math" panose="02040503050406030204" pitchFamily="18" charset="0"/>
                          </a:rPr>
                        </m:ctrlPr>
                      </m:dPr>
                      <m:e>
                        <m:func>
                          <m:funcPr>
                            <m:ctrlPr>
                              <a:rPr lang="en-ZA" sz="2400" i="1" dirty="0">
                                <a:latin typeface="Cambria Math" panose="02040503050406030204" pitchFamily="18" charset="0"/>
                              </a:rPr>
                            </m:ctrlPr>
                          </m:funcPr>
                          <m:fName>
                            <m:sSub>
                              <m:sSubPr>
                                <m:ctrlPr>
                                  <a:rPr lang="en-ZA" sz="2400" i="1" dirty="0">
                                    <a:latin typeface="Cambria Math" panose="02040503050406030204" pitchFamily="18" charset="0"/>
                                  </a:rPr>
                                </m:ctrlPr>
                              </m:sSubPr>
                              <m:e>
                                <m:r>
                                  <m:rPr>
                                    <m:sty m:val="p"/>
                                  </m:rPr>
                                  <a:rPr lang="en-ZA" sz="2400" dirty="0">
                                    <a:latin typeface="Cambria Math" panose="02040503050406030204" pitchFamily="18" charset="0"/>
                                  </a:rPr>
                                  <m:t>log</m:t>
                                </m:r>
                              </m:e>
                              <m:sub>
                                <m:r>
                                  <a:rPr lang="en-US" sz="2400" i="1" dirty="0">
                                    <a:latin typeface="Cambria Math" panose="02040503050406030204" pitchFamily="18" charset="0"/>
                                  </a:rPr>
                                  <m:t>2</m:t>
                                </m:r>
                              </m:sub>
                            </m:sSub>
                          </m:fName>
                          <m:e>
                            <m:r>
                              <a:rPr lang="en-US" sz="2400" i="1" dirty="0">
                                <a:latin typeface="Cambria Math" panose="02040503050406030204" pitchFamily="18" charset="0"/>
                              </a:rPr>
                              <m:t>𝑛</m:t>
                            </m:r>
                          </m:e>
                        </m:func>
                      </m:e>
                    </m:d>
                  </m:oMath>
                </a14:m>
                <a:endParaRPr lang="en-US" sz="2400" dirty="0"/>
              </a:p>
            </p:txBody>
          </p:sp>
        </mc:Choice>
        <mc:Fallback xmlns="">
          <p:sp>
            <p:nvSpPr>
              <p:cNvPr id="10" name="TextBox 9">
                <a:extLst>
                  <a:ext uri="{FF2B5EF4-FFF2-40B4-BE49-F238E27FC236}">
                    <a16:creationId xmlns:a16="http://schemas.microsoft.com/office/drawing/2014/main" id="{94487FB0-317F-6745-8246-16898B10E2A4}"/>
                  </a:ext>
                </a:extLst>
              </p:cNvPr>
              <p:cNvSpPr txBox="1">
                <a:spLocks noRot="1" noChangeAspect="1" noMove="1" noResize="1" noEditPoints="1" noAdjustHandles="1" noChangeArrowheads="1" noChangeShapeType="1" noTextEdit="1"/>
              </p:cNvSpPr>
              <p:nvPr/>
            </p:nvSpPr>
            <p:spPr>
              <a:xfrm>
                <a:off x="6412906" y="2268415"/>
                <a:ext cx="2691122" cy="461665"/>
              </a:xfrm>
              <a:prstGeom prst="rect">
                <a:avLst/>
              </a:prstGeom>
              <a:blipFill>
                <a:blip r:embed="rId18"/>
                <a:stretch>
                  <a:fillRect l="-2347" t="-8108" b="-29730"/>
                </a:stretch>
              </a:blipFill>
            </p:spPr>
            <p:txBody>
              <a:bodyPr/>
              <a:lstStyle/>
              <a:p>
                <a:r>
                  <a:rPr lang="en-US">
                    <a:noFill/>
                  </a:rPr>
                  <a:t> </a:t>
                </a:r>
              </a:p>
            </p:txBody>
          </p:sp>
        </mc:Fallback>
      </mc:AlternateContent>
    </p:spTree>
    <p:extLst>
      <p:ext uri="{BB962C8B-B14F-4D97-AF65-F5344CB8AC3E}">
        <p14:creationId xmlns:p14="http://schemas.microsoft.com/office/powerpoint/2010/main" val="3941939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35EAD-EC9F-A34F-9037-C041C7F0B32A}"/>
              </a:ext>
            </a:extLst>
          </p:cNvPr>
          <p:cNvSpPr>
            <a:spLocks noGrp="1"/>
          </p:cNvSpPr>
          <p:nvPr>
            <p:ph type="title"/>
          </p:nvPr>
        </p:nvSpPr>
        <p:spPr/>
        <p:txBody>
          <a:bodyPr/>
          <a:lstStyle/>
          <a:p>
            <a:r>
              <a:rPr lang="en-ZA" dirty="0"/>
              <a:t>From Data to Amplitudes</a:t>
            </a:r>
            <a:endParaRPr lang="en-US" dirty="0"/>
          </a:p>
        </p:txBody>
      </p:sp>
      <p:sp>
        <p:nvSpPr>
          <p:cNvPr id="3" name="Slide Number Placeholder 2">
            <a:extLst>
              <a:ext uri="{FF2B5EF4-FFF2-40B4-BE49-F238E27FC236}">
                <a16:creationId xmlns:a16="http://schemas.microsoft.com/office/drawing/2014/main" id="{0779D577-6CBF-5F41-A713-7B786C333CC1}"/>
              </a:ext>
            </a:extLst>
          </p:cNvPr>
          <p:cNvSpPr>
            <a:spLocks noGrp="1"/>
          </p:cNvSpPr>
          <p:nvPr>
            <p:ph type="sldNum" sz="quarter" idx="12"/>
          </p:nvPr>
        </p:nvSpPr>
        <p:spPr>
          <a:xfrm>
            <a:off x="9444106" y="6512734"/>
            <a:ext cx="2743200" cy="365125"/>
          </a:xfrm>
        </p:spPr>
        <p:txBody>
          <a:bodyPr/>
          <a:lstStyle/>
          <a:p>
            <a:fld id="{591A223C-FA10-BC46-A853-03BA373D023C}" type="slidenum">
              <a:rPr lang="en-US" smtClean="0"/>
              <a:t>6</a:t>
            </a:fld>
            <a:endParaRPr lang="en-US" dirty="0"/>
          </a:p>
        </p:txBody>
      </p:sp>
      <p:sp>
        <p:nvSpPr>
          <p:cNvPr id="60" name="Rectangle 59">
            <a:extLst>
              <a:ext uri="{FF2B5EF4-FFF2-40B4-BE49-F238E27FC236}">
                <a16:creationId xmlns:a16="http://schemas.microsoft.com/office/drawing/2014/main" id="{29EF7EF1-AB53-3F4D-81C2-5FD8FCD7991F}"/>
              </a:ext>
            </a:extLst>
          </p:cNvPr>
          <p:cNvSpPr/>
          <p:nvPr/>
        </p:nvSpPr>
        <p:spPr>
          <a:xfrm>
            <a:off x="3241848" y="2472257"/>
            <a:ext cx="1080000" cy="846757"/>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-2.0</a:t>
            </a:r>
          </a:p>
        </p:txBody>
      </p:sp>
      <p:sp>
        <p:nvSpPr>
          <p:cNvPr id="61" name="Rectangle 60">
            <a:extLst>
              <a:ext uri="{FF2B5EF4-FFF2-40B4-BE49-F238E27FC236}">
                <a16:creationId xmlns:a16="http://schemas.microsoft.com/office/drawing/2014/main" id="{40392F20-6138-044D-B72F-82F7FCFAF56C}"/>
              </a:ext>
            </a:extLst>
          </p:cNvPr>
          <p:cNvSpPr/>
          <p:nvPr/>
        </p:nvSpPr>
        <p:spPr>
          <a:xfrm>
            <a:off x="5010757" y="2487043"/>
            <a:ext cx="1080000" cy="864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2.828</a:t>
            </a:r>
          </a:p>
        </p:txBody>
      </p:sp>
      <p:sp>
        <p:nvSpPr>
          <p:cNvPr id="62" name="Rectangle 61">
            <a:extLst>
              <a:ext uri="{FF2B5EF4-FFF2-40B4-BE49-F238E27FC236}">
                <a16:creationId xmlns:a16="http://schemas.microsoft.com/office/drawing/2014/main" id="{6DB60C3C-42D6-FC4A-B315-04917ECDD051}"/>
              </a:ext>
            </a:extLst>
          </p:cNvPr>
          <p:cNvSpPr/>
          <p:nvPr/>
        </p:nvSpPr>
        <p:spPr>
          <a:xfrm>
            <a:off x="6746094" y="2487043"/>
            <a:ext cx="1080000" cy="864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–2.0</a:t>
            </a:r>
          </a:p>
        </p:txBody>
      </p:sp>
      <p:sp>
        <p:nvSpPr>
          <p:cNvPr id="63" name="Rectangle 62">
            <a:extLst>
              <a:ext uri="{FF2B5EF4-FFF2-40B4-BE49-F238E27FC236}">
                <a16:creationId xmlns:a16="http://schemas.microsoft.com/office/drawing/2014/main" id="{8E35C2F5-C329-B245-A707-9429ED9CF263}"/>
              </a:ext>
            </a:extLst>
          </p:cNvPr>
          <p:cNvSpPr/>
          <p:nvPr/>
        </p:nvSpPr>
        <p:spPr>
          <a:xfrm>
            <a:off x="8481430" y="2509123"/>
            <a:ext cx="1080000" cy="864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0.0</a:t>
            </a:r>
          </a:p>
        </p:txBody>
      </p:sp>
      <p:sp>
        <p:nvSpPr>
          <p:cNvPr id="73" name="TextBox 72">
            <a:extLst>
              <a:ext uri="{FF2B5EF4-FFF2-40B4-BE49-F238E27FC236}">
                <a16:creationId xmlns:a16="http://schemas.microsoft.com/office/drawing/2014/main" id="{9AA737D7-3E0D-8241-B38D-307BA654A7AA}"/>
              </a:ext>
            </a:extLst>
          </p:cNvPr>
          <p:cNvSpPr txBox="1"/>
          <p:nvPr/>
        </p:nvSpPr>
        <p:spPr>
          <a:xfrm>
            <a:off x="465289" y="1576434"/>
            <a:ext cx="1575496" cy="523220"/>
          </a:xfrm>
          <a:prstGeom prst="rect">
            <a:avLst/>
          </a:prstGeom>
          <a:solidFill>
            <a:schemeClr val="accent4">
              <a:lumMod val="40000"/>
              <a:lumOff val="60000"/>
            </a:schemeClr>
          </a:solidFill>
        </p:spPr>
        <p:txBody>
          <a:bodyPr wrap="none" rtlCol="0">
            <a:spAutoFit/>
          </a:bodyPr>
          <a:lstStyle/>
          <a:p>
            <a:r>
              <a:rPr lang="en-US" sz="2800" dirty="0">
                <a:latin typeface="+mj-lt"/>
              </a:rPr>
              <a:t>Example</a:t>
            </a:r>
            <a:r>
              <a:rPr lang="en-US" sz="2800" dirty="0"/>
              <a:t>: </a:t>
            </a:r>
          </a:p>
        </p:txBody>
      </p:sp>
      <p:sp>
        <p:nvSpPr>
          <p:cNvPr id="74" name="TextBox 73">
            <a:extLst>
              <a:ext uri="{FF2B5EF4-FFF2-40B4-BE49-F238E27FC236}">
                <a16:creationId xmlns:a16="http://schemas.microsoft.com/office/drawing/2014/main" id="{B93E99D2-A299-A849-9A70-5F7E17090A4C}"/>
              </a:ext>
            </a:extLst>
          </p:cNvPr>
          <p:cNvSpPr txBox="1"/>
          <p:nvPr/>
        </p:nvSpPr>
        <p:spPr>
          <a:xfrm>
            <a:off x="1262110" y="2773919"/>
            <a:ext cx="726994" cy="461665"/>
          </a:xfrm>
          <a:prstGeom prst="rect">
            <a:avLst/>
          </a:prstGeom>
          <a:noFill/>
        </p:spPr>
        <p:txBody>
          <a:bodyPr wrap="none" rtlCol="0">
            <a:spAutoFit/>
          </a:bodyPr>
          <a:lstStyle/>
          <a:p>
            <a:r>
              <a:rPr lang="en-US" sz="2400" dirty="0">
                <a:latin typeface="+mj-lt"/>
              </a:rPr>
              <a:t>data</a:t>
            </a:r>
          </a:p>
        </p:txBody>
      </p:sp>
      <p:grpSp>
        <p:nvGrpSpPr>
          <p:cNvPr id="8" name="Group 7">
            <a:extLst>
              <a:ext uri="{FF2B5EF4-FFF2-40B4-BE49-F238E27FC236}">
                <a16:creationId xmlns:a16="http://schemas.microsoft.com/office/drawing/2014/main" id="{663E0A47-497E-C741-9E47-49734D80C01A}"/>
              </a:ext>
            </a:extLst>
          </p:cNvPr>
          <p:cNvGrpSpPr/>
          <p:nvPr/>
        </p:nvGrpSpPr>
        <p:grpSpPr>
          <a:xfrm>
            <a:off x="268158" y="4351384"/>
            <a:ext cx="9293272" cy="877964"/>
            <a:chOff x="268158" y="4351384"/>
            <a:chExt cx="9293272" cy="877964"/>
          </a:xfrm>
        </p:grpSpPr>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68821190-D52B-D847-93CA-EF7D542BFEF0}"/>
                    </a:ext>
                  </a:extLst>
                </p:cNvPr>
                <p:cNvSpPr/>
                <p:nvPr/>
              </p:nvSpPr>
              <p:spPr>
                <a:xfrm>
                  <a:off x="3275420" y="4351384"/>
                  <a:ext cx="1080000" cy="864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m:t>
                        </m:r>
                        <m:f>
                          <m:fPr>
                            <m:ctrlPr>
                              <a:rPr lang="en-US" sz="2400" i="1" smtClean="0">
                                <a:solidFill>
                                  <a:schemeClr val="tx1"/>
                                </a:solidFill>
                                <a:latin typeface="Cambria Math" panose="02040503050406030204" pitchFamily="18" charset="0"/>
                              </a:rPr>
                            </m:ctrlPr>
                          </m:fPr>
                          <m:num>
                            <m:r>
                              <a:rPr lang="en-US" sz="2400" b="0" i="1" smtClean="0">
                                <a:solidFill>
                                  <a:schemeClr val="tx1"/>
                                </a:solidFill>
                                <a:latin typeface="Cambria Math" panose="02040503050406030204" pitchFamily="18" charset="0"/>
                              </a:rPr>
                              <m:t>2.0</m:t>
                            </m:r>
                          </m:num>
                          <m:den>
                            <m:r>
                              <a:rPr lang="en-US" sz="2400" b="0" i="1" smtClean="0">
                                <a:solidFill>
                                  <a:schemeClr val="tx1"/>
                                </a:solidFill>
                                <a:latin typeface="Cambria Math" panose="02040503050406030204" pitchFamily="18" charset="0"/>
                              </a:rPr>
                              <m:t>4</m:t>
                            </m:r>
                          </m:den>
                        </m:f>
                      </m:oMath>
                    </m:oMathPara>
                  </a14:m>
                  <a:endParaRPr lang="en-US" sz="2400" dirty="0">
                    <a:solidFill>
                      <a:schemeClr val="tx1"/>
                    </a:solidFill>
                  </a:endParaRPr>
                </a:p>
              </p:txBody>
            </p:sp>
          </mc:Choice>
          <mc:Fallback xmlns="">
            <p:sp>
              <p:nvSpPr>
                <p:cNvPr id="66" name="Rectangle 65">
                  <a:extLst>
                    <a:ext uri="{FF2B5EF4-FFF2-40B4-BE49-F238E27FC236}">
                      <a16:creationId xmlns:a16="http://schemas.microsoft.com/office/drawing/2014/main" id="{68821190-D52B-D847-93CA-EF7D542BFEF0}"/>
                    </a:ext>
                  </a:extLst>
                </p:cNvPr>
                <p:cNvSpPr>
                  <a:spLocks noRot="1" noChangeAspect="1" noMove="1" noResize="1" noEditPoints="1" noAdjustHandles="1" noChangeArrowheads="1" noChangeShapeType="1" noTextEdit="1"/>
                </p:cNvSpPr>
                <p:nvPr/>
              </p:nvSpPr>
              <p:spPr>
                <a:xfrm>
                  <a:off x="3275420" y="4351384"/>
                  <a:ext cx="1080000" cy="864000"/>
                </a:xfrm>
                <a:prstGeom prst="rect">
                  <a:avLst/>
                </a:prstGeom>
                <a:blipFill>
                  <a:blip r:embed="rId3"/>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Rectangle 66">
                  <a:extLst>
                    <a:ext uri="{FF2B5EF4-FFF2-40B4-BE49-F238E27FC236}">
                      <a16:creationId xmlns:a16="http://schemas.microsoft.com/office/drawing/2014/main" id="{2815AC91-E472-D74F-8D49-D12652C3D949}"/>
                    </a:ext>
                  </a:extLst>
                </p:cNvPr>
                <p:cNvSpPr/>
                <p:nvPr/>
              </p:nvSpPr>
              <p:spPr>
                <a:xfrm>
                  <a:off x="5010757" y="4351384"/>
                  <a:ext cx="1080000" cy="864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sz="2400" i="1" smtClean="0">
                                <a:solidFill>
                                  <a:schemeClr val="tx1"/>
                                </a:solidFill>
                                <a:latin typeface="Cambria Math" panose="02040503050406030204" pitchFamily="18" charset="0"/>
                              </a:rPr>
                            </m:ctrlPr>
                          </m:fPr>
                          <m:num>
                            <m:r>
                              <a:rPr lang="en-US" sz="2400" b="0" i="1" smtClean="0">
                                <a:solidFill>
                                  <a:schemeClr val="tx1"/>
                                </a:solidFill>
                                <a:latin typeface="Cambria Math" panose="02040503050406030204" pitchFamily="18" charset="0"/>
                              </a:rPr>
                              <m:t>2.828</m:t>
                            </m:r>
                          </m:num>
                          <m:den>
                            <m:r>
                              <a:rPr lang="en-US" sz="2400" b="0" i="1" smtClean="0">
                                <a:solidFill>
                                  <a:schemeClr val="tx1"/>
                                </a:solidFill>
                                <a:latin typeface="Cambria Math" panose="02040503050406030204" pitchFamily="18" charset="0"/>
                              </a:rPr>
                              <m:t>4</m:t>
                            </m:r>
                          </m:den>
                        </m:f>
                      </m:oMath>
                    </m:oMathPara>
                  </a14:m>
                  <a:endParaRPr lang="en-US" sz="2400" dirty="0">
                    <a:solidFill>
                      <a:schemeClr val="tx1"/>
                    </a:solidFill>
                  </a:endParaRPr>
                </a:p>
              </p:txBody>
            </p:sp>
          </mc:Choice>
          <mc:Fallback xmlns="">
            <p:sp>
              <p:nvSpPr>
                <p:cNvPr id="67" name="Rectangle 66">
                  <a:extLst>
                    <a:ext uri="{FF2B5EF4-FFF2-40B4-BE49-F238E27FC236}">
                      <a16:creationId xmlns:a16="http://schemas.microsoft.com/office/drawing/2014/main" id="{2815AC91-E472-D74F-8D49-D12652C3D949}"/>
                    </a:ext>
                  </a:extLst>
                </p:cNvPr>
                <p:cNvSpPr>
                  <a:spLocks noRot="1" noChangeAspect="1" noMove="1" noResize="1" noEditPoints="1" noAdjustHandles="1" noChangeArrowheads="1" noChangeShapeType="1" noTextEdit="1"/>
                </p:cNvSpPr>
                <p:nvPr/>
              </p:nvSpPr>
              <p:spPr>
                <a:xfrm>
                  <a:off x="5010757" y="4351384"/>
                  <a:ext cx="1080000" cy="864000"/>
                </a:xfrm>
                <a:prstGeom prst="rect">
                  <a:avLst/>
                </a:prstGeom>
                <a:blipFill>
                  <a:blip r:embed="rId4"/>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Rectangle 67">
                  <a:extLst>
                    <a:ext uri="{FF2B5EF4-FFF2-40B4-BE49-F238E27FC236}">
                      <a16:creationId xmlns:a16="http://schemas.microsoft.com/office/drawing/2014/main" id="{519AAED6-F62F-A14B-AA5C-6AA07E4BA729}"/>
                    </a:ext>
                  </a:extLst>
                </p:cNvPr>
                <p:cNvSpPr/>
                <p:nvPr/>
              </p:nvSpPr>
              <p:spPr>
                <a:xfrm>
                  <a:off x="6746094" y="4351384"/>
                  <a:ext cx="1080000" cy="864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sz="2400" i="1" smtClean="0">
                                <a:solidFill>
                                  <a:schemeClr val="tx1"/>
                                </a:solidFill>
                                <a:latin typeface="Cambria Math" panose="02040503050406030204" pitchFamily="18" charset="0"/>
                              </a:rPr>
                            </m:ctrlPr>
                          </m:fPr>
                          <m:num>
                            <m:r>
                              <a:rPr lang="en-US" sz="2400" b="0" i="1" smtClean="0">
                                <a:solidFill>
                                  <a:schemeClr val="tx1"/>
                                </a:solidFill>
                                <a:latin typeface="Cambria Math" panose="02040503050406030204" pitchFamily="18" charset="0"/>
                              </a:rPr>
                              <m:t>2.0</m:t>
                            </m:r>
                          </m:num>
                          <m:den>
                            <m:r>
                              <a:rPr lang="en-US" sz="2400" b="0" i="1" smtClean="0">
                                <a:solidFill>
                                  <a:schemeClr val="tx1"/>
                                </a:solidFill>
                                <a:latin typeface="Cambria Math" panose="02040503050406030204" pitchFamily="18" charset="0"/>
                              </a:rPr>
                              <m:t>4</m:t>
                            </m:r>
                          </m:den>
                        </m:f>
                      </m:oMath>
                    </m:oMathPara>
                  </a14:m>
                  <a:endParaRPr lang="en-US" sz="2400" dirty="0">
                    <a:solidFill>
                      <a:schemeClr val="tx1"/>
                    </a:solidFill>
                  </a:endParaRPr>
                </a:p>
              </p:txBody>
            </p:sp>
          </mc:Choice>
          <mc:Fallback xmlns="">
            <p:sp>
              <p:nvSpPr>
                <p:cNvPr id="68" name="Rectangle 67">
                  <a:extLst>
                    <a:ext uri="{FF2B5EF4-FFF2-40B4-BE49-F238E27FC236}">
                      <a16:creationId xmlns:a16="http://schemas.microsoft.com/office/drawing/2014/main" id="{519AAED6-F62F-A14B-AA5C-6AA07E4BA729}"/>
                    </a:ext>
                  </a:extLst>
                </p:cNvPr>
                <p:cNvSpPr>
                  <a:spLocks noRot="1" noChangeAspect="1" noMove="1" noResize="1" noEditPoints="1" noAdjustHandles="1" noChangeArrowheads="1" noChangeShapeType="1" noTextEdit="1"/>
                </p:cNvSpPr>
                <p:nvPr/>
              </p:nvSpPr>
              <p:spPr>
                <a:xfrm>
                  <a:off x="6746094" y="4351384"/>
                  <a:ext cx="1080000" cy="864000"/>
                </a:xfrm>
                <a:prstGeom prst="rect">
                  <a:avLst/>
                </a:prstGeom>
                <a:blipFill>
                  <a:blip r:embed="rId5"/>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Rectangle 68">
                  <a:extLst>
                    <a:ext uri="{FF2B5EF4-FFF2-40B4-BE49-F238E27FC236}">
                      <a16:creationId xmlns:a16="http://schemas.microsoft.com/office/drawing/2014/main" id="{82615ACA-DB79-264B-9098-72A2B87D41A2}"/>
                    </a:ext>
                  </a:extLst>
                </p:cNvPr>
                <p:cNvSpPr/>
                <p:nvPr/>
              </p:nvSpPr>
              <p:spPr>
                <a:xfrm>
                  <a:off x="8481430" y="4365348"/>
                  <a:ext cx="1080000" cy="864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sz="2400" i="1" smtClean="0">
                                <a:solidFill>
                                  <a:schemeClr val="tx1"/>
                                </a:solidFill>
                                <a:latin typeface="Cambria Math" panose="02040503050406030204" pitchFamily="18" charset="0"/>
                              </a:rPr>
                            </m:ctrlPr>
                          </m:fPr>
                          <m:num>
                            <m:r>
                              <a:rPr lang="en-US" sz="2400" b="0" i="1" smtClean="0">
                                <a:solidFill>
                                  <a:schemeClr val="tx1"/>
                                </a:solidFill>
                                <a:latin typeface="Cambria Math" panose="02040503050406030204" pitchFamily="18" charset="0"/>
                              </a:rPr>
                              <m:t>0</m:t>
                            </m:r>
                          </m:num>
                          <m:den>
                            <m:r>
                              <a:rPr lang="en-US" sz="2400" b="0" i="1" smtClean="0">
                                <a:solidFill>
                                  <a:schemeClr val="tx1"/>
                                </a:solidFill>
                                <a:latin typeface="Cambria Math" panose="02040503050406030204" pitchFamily="18" charset="0"/>
                              </a:rPr>
                              <m:t>4</m:t>
                            </m:r>
                          </m:den>
                        </m:f>
                      </m:oMath>
                    </m:oMathPara>
                  </a14:m>
                  <a:endParaRPr lang="en-US" sz="2400" dirty="0">
                    <a:solidFill>
                      <a:schemeClr val="tx1"/>
                    </a:solidFill>
                  </a:endParaRPr>
                </a:p>
              </p:txBody>
            </p:sp>
          </mc:Choice>
          <mc:Fallback xmlns="">
            <p:sp>
              <p:nvSpPr>
                <p:cNvPr id="69" name="Rectangle 68">
                  <a:extLst>
                    <a:ext uri="{FF2B5EF4-FFF2-40B4-BE49-F238E27FC236}">
                      <a16:creationId xmlns:a16="http://schemas.microsoft.com/office/drawing/2014/main" id="{82615ACA-DB79-264B-9098-72A2B87D41A2}"/>
                    </a:ext>
                  </a:extLst>
                </p:cNvPr>
                <p:cNvSpPr>
                  <a:spLocks noRot="1" noChangeAspect="1" noMove="1" noResize="1" noEditPoints="1" noAdjustHandles="1" noChangeArrowheads="1" noChangeShapeType="1" noTextEdit="1"/>
                </p:cNvSpPr>
                <p:nvPr/>
              </p:nvSpPr>
              <p:spPr>
                <a:xfrm>
                  <a:off x="8481430" y="4365348"/>
                  <a:ext cx="1080000" cy="864000"/>
                </a:xfrm>
                <a:prstGeom prst="rect">
                  <a:avLst/>
                </a:prstGeom>
                <a:blipFill>
                  <a:blip r:embed="rId6"/>
                  <a:stretch>
                    <a:fillRect b="-1449"/>
                  </a:stretch>
                </a:blipFill>
                <a:ln>
                  <a:noFill/>
                </a:ln>
              </p:spPr>
              <p:txBody>
                <a:bodyPr/>
                <a:lstStyle/>
                <a:p>
                  <a:r>
                    <a:rPr lang="en-US">
                      <a:noFill/>
                    </a:rPr>
                    <a:t> </a:t>
                  </a:r>
                </a:p>
              </p:txBody>
            </p:sp>
          </mc:Fallback>
        </mc:AlternateContent>
        <p:sp>
          <p:nvSpPr>
            <p:cNvPr id="75" name="TextBox 74">
              <a:extLst>
                <a:ext uri="{FF2B5EF4-FFF2-40B4-BE49-F238E27FC236}">
                  <a16:creationId xmlns:a16="http://schemas.microsoft.com/office/drawing/2014/main" id="{F50CA0B2-9558-4244-BFA4-06BED05608A8}"/>
                </a:ext>
              </a:extLst>
            </p:cNvPr>
            <p:cNvSpPr txBox="1"/>
            <p:nvPr/>
          </p:nvSpPr>
          <p:spPr>
            <a:xfrm>
              <a:off x="268158" y="4525179"/>
              <a:ext cx="2202078" cy="461665"/>
            </a:xfrm>
            <a:prstGeom prst="rect">
              <a:avLst/>
            </a:prstGeom>
            <a:noFill/>
          </p:spPr>
          <p:txBody>
            <a:bodyPr wrap="none" rtlCol="0">
              <a:spAutoFit/>
            </a:bodyPr>
            <a:lstStyle/>
            <a:p>
              <a:r>
                <a:rPr lang="en-US" sz="2400" dirty="0">
                  <a:latin typeface="+mj-lt"/>
                </a:rPr>
                <a:t>normalized data</a:t>
              </a:r>
            </a:p>
          </p:txBody>
        </p:sp>
      </p:grpSp>
      <p:grpSp>
        <p:nvGrpSpPr>
          <p:cNvPr id="10" name="Group 9">
            <a:extLst>
              <a:ext uri="{FF2B5EF4-FFF2-40B4-BE49-F238E27FC236}">
                <a16:creationId xmlns:a16="http://schemas.microsoft.com/office/drawing/2014/main" id="{F6DA30B2-77E3-1541-A079-276841D53B15}"/>
              </a:ext>
            </a:extLst>
          </p:cNvPr>
          <p:cNvGrpSpPr/>
          <p:nvPr/>
        </p:nvGrpSpPr>
        <p:grpSpPr>
          <a:xfrm>
            <a:off x="1007784" y="5509912"/>
            <a:ext cx="9231850" cy="1002822"/>
            <a:chOff x="1007784" y="5509912"/>
            <a:chExt cx="9231850" cy="1002822"/>
          </a:xfrm>
        </p:grpSpPr>
        <p:sp>
          <p:nvSpPr>
            <p:cNvPr id="71" name="Rectangle 70">
              <a:extLst>
                <a:ext uri="{FF2B5EF4-FFF2-40B4-BE49-F238E27FC236}">
                  <a16:creationId xmlns:a16="http://schemas.microsoft.com/office/drawing/2014/main" id="{FB71A774-304E-4B45-8ED9-337AF46195B2}"/>
                </a:ext>
              </a:extLst>
            </p:cNvPr>
            <p:cNvSpPr/>
            <p:nvPr/>
          </p:nvSpPr>
          <p:spPr>
            <a:xfrm>
              <a:off x="3291710" y="5509912"/>
              <a:ext cx="6947924" cy="1002822"/>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0" name="Rectangle 69">
                  <a:extLst>
                    <a:ext uri="{FF2B5EF4-FFF2-40B4-BE49-F238E27FC236}">
                      <a16:creationId xmlns:a16="http://schemas.microsoft.com/office/drawing/2014/main" id="{1C27A037-C2FA-AA47-A23A-93E1A06C6E43}"/>
                    </a:ext>
                  </a:extLst>
                </p:cNvPr>
                <p:cNvSpPr/>
                <p:nvPr/>
              </p:nvSpPr>
              <p:spPr>
                <a:xfrm>
                  <a:off x="3291710" y="5737857"/>
                  <a:ext cx="6269720" cy="50520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−1/2</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00</m:t>
                            </m:r>
                          </m:e>
                        </m:d>
                        <m:r>
                          <a:rPr lang="en-US" sz="2400" b="0" i="1" smtClean="0">
                            <a:latin typeface="Cambria Math" panose="02040503050406030204" pitchFamily="18" charset="0"/>
                          </a:rPr>
                          <m:t>+1/</m:t>
                        </m:r>
                        <m:rad>
                          <m:radPr>
                            <m:degHide m:val="on"/>
                            <m:ctrlPr>
                              <a:rPr lang="en-US" sz="2400" i="1">
                                <a:latin typeface="Cambria Math" panose="02040503050406030204" pitchFamily="18" charset="0"/>
                              </a:rPr>
                            </m:ctrlPr>
                          </m:radPr>
                          <m:deg/>
                          <m:e>
                            <m:r>
                              <a:rPr lang="en-US" sz="2400" b="0" i="1" smtClean="0">
                                <a:latin typeface="Cambria Math" panose="02040503050406030204" pitchFamily="18" charset="0"/>
                              </a:rPr>
                              <m:t>2</m:t>
                            </m:r>
                          </m:e>
                        </m:rad>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r>
                              <a:rPr lang="en-US" sz="2400" b="0" i="1" smtClean="0">
                                <a:latin typeface="Cambria Math" panose="02040503050406030204" pitchFamily="18" charset="0"/>
                              </a:rPr>
                              <m:t>1</m:t>
                            </m:r>
                          </m:e>
                        </m:d>
                        <m:r>
                          <a:rPr lang="en-US" sz="2400" i="1">
                            <a:latin typeface="Cambria Math" panose="02040503050406030204" pitchFamily="18" charset="0"/>
                          </a:rPr>
                          <m:t>−</m:t>
                        </m:r>
                        <m:r>
                          <a:rPr lang="en-US" sz="2400" i="1" smtClean="0">
                            <a:latin typeface="Cambria Math" panose="02040503050406030204" pitchFamily="18" charset="0"/>
                          </a:rPr>
                          <m:t>1</m:t>
                        </m:r>
                        <m:r>
                          <a:rPr lang="en-US" sz="2400" b="0" i="1" smtClean="0">
                            <a:latin typeface="Cambria Math" panose="02040503050406030204" pitchFamily="18" charset="0"/>
                          </a:rPr>
                          <m:t>/2</m:t>
                        </m:r>
                        <m:r>
                          <a:rPr lang="en-US" sz="2400" i="1">
                            <a:latin typeface="Cambria Math" panose="02040503050406030204" pitchFamily="18" charset="0"/>
                          </a:rPr>
                          <m:t> </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1</m:t>
                            </m:r>
                            <m:r>
                              <a:rPr lang="en-US" sz="2400" i="1">
                                <a:latin typeface="Cambria Math" panose="02040503050406030204" pitchFamily="18" charset="0"/>
                              </a:rPr>
                              <m:t>0</m:t>
                            </m:r>
                          </m:e>
                        </m:d>
                        <m:r>
                          <a:rPr lang="en-US" sz="2400" b="0" i="1" smtClean="0">
                            <a:latin typeface="Cambria Math" panose="02040503050406030204" pitchFamily="18" charset="0"/>
                          </a:rPr>
                          <m:t>+</m:t>
                        </m:r>
                        <m:r>
                          <a:rPr lang="en-US" sz="2400" i="1" smtClean="0">
                            <a:latin typeface="Cambria Math" panose="02040503050406030204" pitchFamily="18" charset="0"/>
                          </a:rPr>
                          <m:t>0</m:t>
                        </m:r>
                        <m:r>
                          <a:rPr lang="en-US" sz="2400" i="1">
                            <a:latin typeface="Cambria Math" panose="02040503050406030204" pitchFamily="18" charset="0"/>
                          </a:rPr>
                          <m:t> </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11</m:t>
                            </m:r>
                          </m:e>
                        </m:d>
                      </m:oMath>
                    </m:oMathPara>
                  </a14:m>
                  <a:endParaRPr lang="en-US" sz="2400" dirty="0"/>
                </a:p>
              </p:txBody>
            </p:sp>
          </mc:Choice>
          <mc:Fallback xmlns="">
            <p:sp>
              <p:nvSpPr>
                <p:cNvPr id="70" name="Rectangle 69">
                  <a:extLst>
                    <a:ext uri="{FF2B5EF4-FFF2-40B4-BE49-F238E27FC236}">
                      <a16:creationId xmlns:a16="http://schemas.microsoft.com/office/drawing/2014/main" id="{1C27A037-C2FA-AA47-A23A-93E1A06C6E43}"/>
                    </a:ext>
                  </a:extLst>
                </p:cNvPr>
                <p:cNvSpPr>
                  <a:spLocks noRot="1" noChangeAspect="1" noMove="1" noResize="1" noEditPoints="1" noAdjustHandles="1" noChangeArrowheads="1" noChangeShapeType="1" noTextEdit="1"/>
                </p:cNvSpPr>
                <p:nvPr/>
              </p:nvSpPr>
              <p:spPr>
                <a:xfrm>
                  <a:off x="3291710" y="5737857"/>
                  <a:ext cx="6269720" cy="505203"/>
                </a:xfrm>
                <a:prstGeom prst="rect">
                  <a:avLst/>
                </a:prstGeom>
                <a:blipFill>
                  <a:blip r:embed="rId7"/>
                  <a:stretch>
                    <a:fillRect b="-17073"/>
                  </a:stretch>
                </a:blipFill>
              </p:spPr>
              <p:txBody>
                <a:bodyPr/>
                <a:lstStyle/>
                <a:p>
                  <a:r>
                    <a:rPr lang="en-US">
                      <a:noFill/>
                    </a:rPr>
                    <a:t> </a:t>
                  </a:r>
                </a:p>
              </p:txBody>
            </p:sp>
          </mc:Fallback>
        </mc:AlternateContent>
        <p:sp>
          <p:nvSpPr>
            <p:cNvPr id="76" name="TextBox 75">
              <a:extLst>
                <a:ext uri="{FF2B5EF4-FFF2-40B4-BE49-F238E27FC236}">
                  <a16:creationId xmlns:a16="http://schemas.microsoft.com/office/drawing/2014/main" id="{3F580537-1E25-894F-B2C7-30AB9ADA0C44}"/>
                </a:ext>
              </a:extLst>
            </p:cNvPr>
            <p:cNvSpPr txBox="1"/>
            <p:nvPr/>
          </p:nvSpPr>
          <p:spPr>
            <a:xfrm>
              <a:off x="1007784" y="5700175"/>
              <a:ext cx="1870127" cy="461665"/>
            </a:xfrm>
            <a:prstGeom prst="rect">
              <a:avLst/>
            </a:prstGeom>
            <a:noFill/>
          </p:spPr>
          <p:txBody>
            <a:bodyPr wrap="none" rtlCol="0">
              <a:spAutoFit/>
            </a:bodyPr>
            <a:lstStyle/>
            <a:p>
              <a:r>
                <a:rPr lang="en-US" sz="2400" dirty="0">
                  <a:latin typeface="+mj-lt"/>
                </a:rPr>
                <a:t>encoded data</a:t>
              </a:r>
            </a:p>
          </p:txBody>
        </p:sp>
      </p:grpSp>
      <p:grpSp>
        <p:nvGrpSpPr>
          <p:cNvPr id="7" name="Group 6">
            <a:extLst>
              <a:ext uri="{FF2B5EF4-FFF2-40B4-BE49-F238E27FC236}">
                <a16:creationId xmlns:a16="http://schemas.microsoft.com/office/drawing/2014/main" id="{79C23A90-63E0-7448-8BE5-8ABFEFB2C32E}"/>
              </a:ext>
            </a:extLst>
          </p:cNvPr>
          <p:cNvGrpSpPr/>
          <p:nvPr/>
        </p:nvGrpSpPr>
        <p:grpSpPr>
          <a:xfrm>
            <a:off x="58422" y="3600133"/>
            <a:ext cx="9597408" cy="579614"/>
            <a:chOff x="58422" y="3600133"/>
            <a:chExt cx="9597408" cy="579614"/>
          </a:xfrm>
        </p:grpSpPr>
        <mc:AlternateContent xmlns:mc="http://schemas.openxmlformats.org/markup-compatibility/2006" xmlns:a14="http://schemas.microsoft.com/office/drawing/2010/main">
          <mc:Choice Requires="a14">
            <p:sp>
              <p:nvSpPr>
                <p:cNvPr id="65" name="Rectangle 64">
                  <a:extLst>
                    <a:ext uri="{FF2B5EF4-FFF2-40B4-BE49-F238E27FC236}">
                      <a16:creationId xmlns:a16="http://schemas.microsoft.com/office/drawing/2014/main" id="{2D7A6426-F314-EB41-AB6D-0F0885CF377F}"/>
                    </a:ext>
                  </a:extLst>
                </p:cNvPr>
                <p:cNvSpPr/>
                <p:nvPr/>
              </p:nvSpPr>
              <p:spPr>
                <a:xfrm>
                  <a:off x="3234457" y="3600133"/>
                  <a:ext cx="6421373" cy="53957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i="1">
                                <a:latin typeface="Cambria Math" panose="02040503050406030204" pitchFamily="18" charset="0"/>
                              </a:rPr>
                              <m:t>𝑛𝑜𝑟𝑚</m:t>
                            </m:r>
                          </m:sub>
                        </m:sSub>
                        <m:r>
                          <a:rPr lang="en-US" sz="2400" b="0" i="1" smtClean="0">
                            <a:latin typeface="Cambria Math" panose="02040503050406030204" pitchFamily="18" charset="0"/>
                          </a:rPr>
                          <m:t>=</m:t>
                        </m:r>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m:t>
                            </m:r>
                            <m:sSup>
                              <m:sSupPr>
                                <m:ctrlPr>
                                  <a:rPr lang="en-US" sz="2400" i="1">
                                    <a:latin typeface="Cambria Math" panose="02040503050406030204" pitchFamily="18" charset="0"/>
                                  </a:rPr>
                                </m:ctrlPr>
                              </m:sSupPr>
                              <m:e>
                                <m:r>
                                  <a:rPr lang="en-US" sz="2400" b="0" i="1" smtClean="0">
                                    <a:latin typeface="Cambria Math" panose="02040503050406030204" pitchFamily="18" charset="0"/>
                                  </a:rPr>
                                  <m:t>2)</m:t>
                                </m:r>
                              </m:e>
                              <m:sup>
                                <m:r>
                                  <a:rPr lang="en-US" sz="2400" i="1">
                                    <a:latin typeface="Cambria Math" panose="02040503050406030204" pitchFamily="18" charset="0"/>
                                  </a:rPr>
                                  <m:t>2</m:t>
                                </m:r>
                              </m:sup>
                            </m:sSup>
                            <m:r>
                              <a:rPr lang="en-US" sz="2400" b="0" i="1" smtClean="0">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2.82</m:t>
                                </m:r>
                              </m:e>
                              <m:sup>
                                <m:r>
                                  <a:rPr lang="en-US" sz="2400" i="1">
                                    <a:latin typeface="Cambria Math" panose="02040503050406030204" pitchFamily="18" charset="0"/>
                                  </a:rPr>
                                  <m:t>2</m:t>
                                </m:r>
                              </m:sup>
                            </m:sSup>
                            <m:r>
                              <a:rPr lang="en-US" sz="2400" b="0" i="1" smtClean="0">
                                <a:latin typeface="Cambria Math" panose="02040503050406030204" pitchFamily="18" charset="0"/>
                              </a:rPr>
                              <m:t>+</m:t>
                            </m:r>
                            <m:sSup>
                              <m:sSupPr>
                                <m:ctrlPr>
                                  <a:rPr lang="en-US" sz="2400" i="1">
                                    <a:latin typeface="Cambria Math" panose="02040503050406030204" pitchFamily="18" charset="0"/>
                                  </a:rPr>
                                </m:ctrlPr>
                              </m:sSupPr>
                              <m:e>
                                <m:r>
                                  <a:rPr lang="en-US" sz="2400" b="0" i="1" smtClean="0">
                                    <a:latin typeface="Cambria Math" panose="02040503050406030204" pitchFamily="18" charset="0"/>
                                  </a:rPr>
                                  <m:t>2</m:t>
                                </m:r>
                              </m:e>
                              <m:sup>
                                <m:r>
                                  <a:rPr lang="en-US" sz="2400" i="1">
                                    <a:latin typeface="Cambria Math" panose="02040503050406030204" pitchFamily="18" charset="0"/>
                                  </a:rPr>
                                  <m:t>2</m:t>
                                </m:r>
                              </m:sup>
                            </m:sSup>
                            <m:r>
                              <a:rPr lang="en-US" sz="2400" b="0" i="1" smtClean="0">
                                <a:latin typeface="Cambria Math" panose="02040503050406030204" pitchFamily="18" charset="0"/>
                              </a:rPr>
                              <m:t>+</m:t>
                            </m:r>
                            <m:sSup>
                              <m:sSupPr>
                                <m:ctrlPr>
                                  <a:rPr lang="en-US" sz="2400" i="1">
                                    <a:latin typeface="Cambria Math" panose="02040503050406030204" pitchFamily="18" charset="0"/>
                                  </a:rPr>
                                </m:ctrlPr>
                              </m:sSupPr>
                              <m:e>
                                <m:r>
                                  <a:rPr lang="en-US" sz="2400" b="0" i="1" smtClean="0">
                                    <a:latin typeface="Cambria Math" panose="02040503050406030204" pitchFamily="18" charset="0"/>
                                  </a:rPr>
                                  <m:t>0</m:t>
                                </m:r>
                              </m:e>
                              <m:sup>
                                <m:r>
                                  <a:rPr lang="en-US" sz="2400" i="1">
                                    <a:latin typeface="Cambria Math" panose="02040503050406030204" pitchFamily="18" charset="0"/>
                                  </a:rPr>
                                  <m:t>2</m:t>
                                </m:r>
                              </m:sup>
                            </m:sSup>
                          </m:e>
                        </m:rad>
                        <m:r>
                          <a:rPr lang="en-US" sz="2400" b="0" i="1" smtClean="0">
                            <a:latin typeface="Cambria Math" panose="02040503050406030204" pitchFamily="18" charset="0"/>
                          </a:rPr>
                          <m:t>=</m:t>
                        </m:r>
                        <m:rad>
                          <m:radPr>
                            <m:degHide m:val="on"/>
                            <m:ctrlPr>
                              <a:rPr lang="en-US" sz="2400" i="1">
                                <a:latin typeface="Cambria Math" panose="02040503050406030204" pitchFamily="18" charset="0"/>
                              </a:rPr>
                            </m:ctrlPr>
                          </m:radPr>
                          <m:deg/>
                          <m:e>
                            <m:r>
                              <a:rPr lang="en-US" sz="2400" b="0" i="1" smtClean="0">
                                <a:latin typeface="Cambria Math" panose="02040503050406030204" pitchFamily="18" charset="0"/>
                              </a:rPr>
                              <m:t>16</m:t>
                            </m:r>
                          </m:e>
                        </m:rad>
                        <m:r>
                          <a:rPr lang="en-US" sz="2400" b="0" i="1" smtClean="0">
                            <a:latin typeface="Cambria Math" panose="02040503050406030204" pitchFamily="18" charset="0"/>
                          </a:rPr>
                          <m:t>=4</m:t>
                        </m:r>
                      </m:oMath>
                    </m:oMathPara>
                  </a14:m>
                  <a:endParaRPr lang="en-US" sz="2400" dirty="0"/>
                </a:p>
              </p:txBody>
            </p:sp>
          </mc:Choice>
          <mc:Fallback xmlns="">
            <p:sp>
              <p:nvSpPr>
                <p:cNvPr id="65" name="Rectangle 64">
                  <a:extLst>
                    <a:ext uri="{FF2B5EF4-FFF2-40B4-BE49-F238E27FC236}">
                      <a16:creationId xmlns:a16="http://schemas.microsoft.com/office/drawing/2014/main" id="{2D7A6426-F314-EB41-AB6D-0F0885CF377F}"/>
                    </a:ext>
                  </a:extLst>
                </p:cNvPr>
                <p:cNvSpPr>
                  <a:spLocks noRot="1" noChangeAspect="1" noMove="1" noResize="1" noEditPoints="1" noAdjustHandles="1" noChangeArrowheads="1" noChangeShapeType="1" noTextEdit="1"/>
                </p:cNvSpPr>
                <p:nvPr/>
              </p:nvSpPr>
              <p:spPr>
                <a:xfrm>
                  <a:off x="3234457" y="3600133"/>
                  <a:ext cx="6421373" cy="539571"/>
                </a:xfrm>
                <a:prstGeom prst="rect">
                  <a:avLst/>
                </a:prstGeom>
                <a:blipFill>
                  <a:blip r:embed="rId8"/>
                  <a:stretch>
                    <a:fillRect b="-13636"/>
                  </a:stretch>
                </a:blipFill>
              </p:spPr>
              <p:txBody>
                <a:bodyPr/>
                <a:lstStyle/>
                <a:p>
                  <a:r>
                    <a:rPr lang="en-US">
                      <a:noFill/>
                    </a:rPr>
                    <a:t> </a:t>
                  </a:r>
                </a:p>
              </p:txBody>
            </p:sp>
          </mc:Fallback>
        </mc:AlternateContent>
        <p:sp>
          <p:nvSpPr>
            <p:cNvPr id="57" name="TextBox 56">
              <a:extLst>
                <a:ext uri="{FF2B5EF4-FFF2-40B4-BE49-F238E27FC236}">
                  <a16:creationId xmlns:a16="http://schemas.microsoft.com/office/drawing/2014/main" id="{CC4473FC-4C58-E047-BC8A-211E57594F55}"/>
                </a:ext>
              </a:extLst>
            </p:cNvPr>
            <p:cNvSpPr txBox="1"/>
            <p:nvPr/>
          </p:nvSpPr>
          <p:spPr>
            <a:xfrm>
              <a:off x="58422" y="3718082"/>
              <a:ext cx="3011465" cy="461665"/>
            </a:xfrm>
            <a:prstGeom prst="rect">
              <a:avLst/>
            </a:prstGeom>
            <a:noFill/>
          </p:spPr>
          <p:txBody>
            <a:bodyPr wrap="none" rtlCol="0">
              <a:spAutoFit/>
            </a:bodyPr>
            <a:lstStyle/>
            <a:p>
              <a:r>
                <a:rPr lang="en-US" sz="2400" dirty="0">
                  <a:latin typeface="+mj-lt"/>
                </a:rPr>
                <a:t>normalization constant</a:t>
              </a:r>
            </a:p>
          </p:txBody>
        </p:sp>
      </p:grpSp>
    </p:spTree>
    <p:extLst>
      <p:ext uri="{BB962C8B-B14F-4D97-AF65-F5344CB8AC3E}">
        <p14:creationId xmlns:p14="http://schemas.microsoft.com/office/powerpoint/2010/main" val="4194283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7C404-AA47-D94D-A1F0-DCE37DA9B72B}"/>
              </a:ext>
            </a:extLst>
          </p:cNvPr>
          <p:cNvSpPr>
            <a:spLocks noGrp="1"/>
          </p:cNvSpPr>
          <p:nvPr>
            <p:ph type="title"/>
          </p:nvPr>
        </p:nvSpPr>
        <p:spPr/>
        <p:txBody>
          <a:bodyPr/>
          <a:lstStyle/>
          <a:p>
            <a:r>
              <a:rPr lang="en-ZA" dirty="0"/>
              <a:t>Preparing the Quantum State</a:t>
            </a:r>
            <a:endParaRPr lang="en-US" dirty="0"/>
          </a:p>
        </p:txBody>
      </p:sp>
      <p:sp>
        <p:nvSpPr>
          <p:cNvPr id="3" name="Slide Number Placeholder 2">
            <a:extLst>
              <a:ext uri="{FF2B5EF4-FFF2-40B4-BE49-F238E27FC236}">
                <a16:creationId xmlns:a16="http://schemas.microsoft.com/office/drawing/2014/main" id="{5568DDA6-C382-4846-9E4D-2A121CCE41D5}"/>
              </a:ext>
            </a:extLst>
          </p:cNvPr>
          <p:cNvSpPr>
            <a:spLocks noGrp="1"/>
          </p:cNvSpPr>
          <p:nvPr>
            <p:ph type="sldNum" sz="quarter" idx="12"/>
          </p:nvPr>
        </p:nvSpPr>
        <p:spPr/>
        <p:txBody>
          <a:bodyPr/>
          <a:lstStyle/>
          <a:p>
            <a:fld id="{591A223C-FA10-BC46-A853-03BA373D023C}" type="slidenum">
              <a:rPr lang="en-US" smtClean="0"/>
              <a:t>7</a:t>
            </a:fld>
            <a:endParaRPr lang="en-US"/>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EB949B18-EF06-5C4A-B36B-F3D763577AE7}"/>
                  </a:ext>
                </a:extLst>
              </p:cNvPr>
              <p:cNvSpPr/>
              <p:nvPr/>
            </p:nvSpPr>
            <p:spPr>
              <a:xfrm>
                <a:off x="3310838" y="1065381"/>
                <a:ext cx="6720942" cy="61414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m:t>
                      </m:r>
                      <m:r>
                        <a:rPr lang="en-US" sz="2800" b="0" i="1" smtClean="0">
                          <a:latin typeface="Cambria Math" panose="02040503050406030204" pitchFamily="18" charset="0"/>
                        </a:rPr>
                        <m:t>1/2</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0</m:t>
                          </m:r>
                          <m:r>
                            <a:rPr lang="en-US" sz="2800" b="0" i="1" smtClean="0">
                              <a:latin typeface="Cambria Math" panose="02040503050406030204" pitchFamily="18" charset="0"/>
                            </a:rPr>
                            <m:t>0</m:t>
                          </m:r>
                        </m:e>
                      </m:d>
                      <m:r>
                        <a:rPr lang="en-US" sz="2800" b="0" i="1" smtClean="0">
                          <a:latin typeface="Cambria Math" panose="02040503050406030204" pitchFamily="18" charset="0"/>
                        </a:rPr>
                        <m:t>+</m:t>
                      </m:r>
                      <m:rad>
                        <m:radPr>
                          <m:degHide m:val="on"/>
                          <m:ctrlPr>
                            <a:rPr lang="en-US" sz="2800" i="1" smtClean="0">
                              <a:latin typeface="Cambria Math" panose="02040503050406030204" pitchFamily="18" charset="0"/>
                            </a:rPr>
                          </m:ctrlPr>
                        </m:radPr>
                        <m:deg/>
                        <m:e>
                          <m:r>
                            <a:rPr lang="en-US" sz="2800" i="1">
                              <a:latin typeface="Cambria Math" panose="02040503050406030204" pitchFamily="18" charset="0"/>
                            </a:rPr>
                            <m:t>1/2</m:t>
                          </m:r>
                        </m:e>
                      </m:rad>
                      <m:d>
                        <m:dPr>
                          <m:begChr m:val="|"/>
                          <m:endChr m:val="⟩"/>
                          <m:ctrlPr>
                            <a:rPr lang="en-US" sz="2800" i="1">
                              <a:latin typeface="Cambria Math" panose="02040503050406030204" pitchFamily="18" charset="0"/>
                            </a:rPr>
                          </m:ctrlPr>
                        </m:dPr>
                        <m:e>
                          <m:r>
                            <a:rPr lang="en-US" sz="2800" i="1">
                              <a:latin typeface="Cambria Math" panose="02040503050406030204" pitchFamily="18" charset="0"/>
                            </a:rPr>
                            <m:t>0</m:t>
                          </m:r>
                          <m:r>
                            <a:rPr lang="en-US" sz="2800" b="0" i="1" smtClean="0">
                              <a:latin typeface="Cambria Math" panose="02040503050406030204" pitchFamily="18" charset="0"/>
                            </a:rPr>
                            <m:t>1</m:t>
                          </m:r>
                        </m:e>
                      </m:d>
                      <m:r>
                        <a:rPr lang="en-US" sz="2800" b="0" i="1" smtClean="0">
                          <a:latin typeface="Cambria Math" panose="02040503050406030204" pitchFamily="18" charset="0"/>
                        </a:rPr>
                        <m:t>−</m:t>
                      </m:r>
                      <m:r>
                        <a:rPr lang="en-US" sz="2800" i="1">
                          <a:latin typeface="Cambria Math" panose="02040503050406030204" pitchFamily="18" charset="0"/>
                        </a:rPr>
                        <m:t>1/2 </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10</m:t>
                          </m:r>
                        </m:e>
                      </m:d>
                      <m:r>
                        <a:rPr lang="en-US" sz="2800" i="1">
                          <a:latin typeface="Cambria Math" panose="02040503050406030204" pitchFamily="18" charset="0"/>
                        </a:rPr>
                        <m:t>+0 </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11</m:t>
                          </m:r>
                        </m:e>
                      </m:d>
                    </m:oMath>
                  </m:oMathPara>
                </a14:m>
                <a:endParaRPr lang="en-US" sz="2800" dirty="0"/>
              </a:p>
            </p:txBody>
          </p:sp>
        </mc:Choice>
        <mc:Fallback xmlns="">
          <p:sp>
            <p:nvSpPr>
              <p:cNvPr id="6" name="Rectangle 5">
                <a:extLst>
                  <a:ext uri="{FF2B5EF4-FFF2-40B4-BE49-F238E27FC236}">
                    <a16:creationId xmlns:a16="http://schemas.microsoft.com/office/drawing/2014/main" id="{EB949B18-EF06-5C4A-B36B-F3D763577AE7}"/>
                  </a:ext>
                </a:extLst>
              </p:cNvPr>
              <p:cNvSpPr>
                <a:spLocks noRot="1" noChangeAspect="1" noMove="1" noResize="1" noEditPoints="1" noAdjustHandles="1" noChangeArrowheads="1" noChangeShapeType="1" noTextEdit="1"/>
              </p:cNvSpPr>
              <p:nvPr/>
            </p:nvSpPr>
            <p:spPr>
              <a:xfrm>
                <a:off x="3310838" y="1065381"/>
                <a:ext cx="6720942" cy="614142"/>
              </a:xfrm>
              <a:prstGeom prst="rect">
                <a:avLst/>
              </a:prstGeom>
              <a:blipFill>
                <a:blip r:embed="rId3"/>
                <a:stretch>
                  <a:fillRect b="-16667"/>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D3340283-9699-2C46-97E8-A33BBFD8A5A2}"/>
              </a:ext>
            </a:extLst>
          </p:cNvPr>
          <p:cNvSpPr/>
          <p:nvPr/>
        </p:nvSpPr>
        <p:spPr>
          <a:xfrm>
            <a:off x="921829" y="2236750"/>
            <a:ext cx="9770623" cy="461665"/>
          </a:xfrm>
          <a:prstGeom prst="rect">
            <a:avLst/>
          </a:prstGeom>
        </p:spPr>
        <p:txBody>
          <a:bodyPr wrap="none">
            <a:spAutoFit/>
          </a:bodyPr>
          <a:lstStyle/>
          <a:p>
            <a:r>
              <a:rPr lang="en-US" sz="2400" dirty="0" err="1">
                <a:latin typeface="Andale Mono" panose="020B0509000000000004" pitchFamily="49" charset="0"/>
              </a:rPr>
              <a:t>qc.initialize</a:t>
            </a:r>
            <a:r>
              <a:rPr lang="en-US" sz="2400" dirty="0">
                <a:latin typeface="Andale Mono" panose="020B0509000000000004" pitchFamily="49" charset="0"/>
              </a:rPr>
              <a:t>([-0.5, </a:t>
            </a:r>
            <a:r>
              <a:rPr lang="en-US" sz="2400" dirty="0" err="1">
                <a:latin typeface="Andale Mono" panose="020B0509000000000004" pitchFamily="49" charset="0"/>
              </a:rPr>
              <a:t>np.sqrt</a:t>
            </a:r>
            <a:r>
              <a:rPr lang="en-US" sz="2400" dirty="0">
                <a:latin typeface="Andale Mono" panose="020B0509000000000004" pitchFamily="49" charset="0"/>
              </a:rPr>
              <a:t>(0.5), -0.5, 0], [0, 1])</a:t>
            </a:r>
          </a:p>
        </p:txBody>
      </p:sp>
      <p:pic>
        <p:nvPicPr>
          <p:cNvPr id="11" name="Graphic 10">
            <a:extLst>
              <a:ext uri="{FF2B5EF4-FFF2-40B4-BE49-F238E27FC236}">
                <a16:creationId xmlns:a16="http://schemas.microsoft.com/office/drawing/2014/main" id="{80139E72-6E75-D242-A503-7034466CDF9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3584864"/>
            <a:ext cx="11614283" cy="1901536"/>
          </a:xfrm>
          <a:prstGeom prst="rect">
            <a:avLst/>
          </a:prstGeom>
        </p:spPr>
      </p:pic>
    </p:spTree>
    <p:extLst>
      <p:ext uri="{BB962C8B-B14F-4D97-AF65-F5344CB8AC3E}">
        <p14:creationId xmlns:p14="http://schemas.microsoft.com/office/powerpoint/2010/main" val="2127197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BBB20-76E8-614C-AA41-E2DAA6C4F492}"/>
              </a:ext>
            </a:extLst>
          </p:cNvPr>
          <p:cNvSpPr>
            <a:spLocks noGrp="1"/>
          </p:cNvSpPr>
          <p:nvPr>
            <p:ph type="title"/>
          </p:nvPr>
        </p:nvSpPr>
        <p:spPr>
          <a:xfrm>
            <a:off x="0" y="0"/>
            <a:ext cx="12192000" cy="928688"/>
          </a:xfrm>
        </p:spPr>
        <p:txBody>
          <a:bodyPr/>
          <a:lstStyle/>
          <a:p>
            <a:r>
              <a:rPr lang="en-US" dirty="0"/>
              <a:t>Angle Encoding</a:t>
            </a:r>
          </a:p>
        </p:txBody>
      </p:sp>
      <p:sp>
        <p:nvSpPr>
          <p:cNvPr id="3" name="Slide Number Placeholder 2">
            <a:extLst>
              <a:ext uri="{FF2B5EF4-FFF2-40B4-BE49-F238E27FC236}">
                <a16:creationId xmlns:a16="http://schemas.microsoft.com/office/drawing/2014/main" id="{64B25291-D941-294E-B656-CE4EE08F0396}"/>
              </a:ext>
            </a:extLst>
          </p:cNvPr>
          <p:cNvSpPr>
            <a:spLocks noGrp="1"/>
          </p:cNvSpPr>
          <p:nvPr>
            <p:ph type="sldNum" sz="quarter" idx="12"/>
          </p:nvPr>
        </p:nvSpPr>
        <p:spPr/>
        <p:txBody>
          <a:bodyPr/>
          <a:lstStyle/>
          <a:p>
            <a:fld id="{591A223C-FA10-BC46-A853-03BA373D023C}" type="slidenum">
              <a:rPr lang="en-US" smtClean="0"/>
              <a:t>8</a:t>
            </a:fld>
            <a:endParaRPr lang="en-US"/>
          </a:p>
        </p:txBody>
      </p:sp>
      <p:sp>
        <p:nvSpPr>
          <p:cNvPr id="63" name="Rounded Rectangle 62">
            <a:extLst>
              <a:ext uri="{FF2B5EF4-FFF2-40B4-BE49-F238E27FC236}">
                <a16:creationId xmlns:a16="http://schemas.microsoft.com/office/drawing/2014/main" id="{21882D85-03D4-DF47-8237-0A5555CAF5B3}"/>
              </a:ext>
            </a:extLst>
          </p:cNvPr>
          <p:cNvSpPr/>
          <p:nvPr/>
        </p:nvSpPr>
        <p:spPr>
          <a:xfrm>
            <a:off x="1563575" y="1175993"/>
            <a:ext cx="3009724" cy="1200559"/>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41D0D50B-C6D6-CC45-B67B-55FF74A54451}"/>
                  </a:ext>
                </a:extLst>
              </p:cNvPr>
              <p:cNvSpPr/>
              <p:nvPr/>
            </p:nvSpPr>
            <p:spPr>
              <a:xfrm>
                <a:off x="1563575" y="1385426"/>
                <a:ext cx="548099"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a:latin typeface="Cambria Math" panose="02040503050406030204" pitchFamily="18" charset="0"/>
                        </a:rPr>
                        <m:t>𝑥</m:t>
                      </m:r>
                    </m:oMath>
                  </m:oMathPara>
                </a14:m>
                <a:endParaRPr lang="en-US" sz="3600" dirty="0"/>
              </a:p>
            </p:txBody>
          </p:sp>
        </mc:Choice>
        <mc:Fallback xmlns="">
          <p:sp>
            <p:nvSpPr>
              <p:cNvPr id="49" name="Rectangle 48">
                <a:extLst>
                  <a:ext uri="{FF2B5EF4-FFF2-40B4-BE49-F238E27FC236}">
                    <a16:creationId xmlns:a16="http://schemas.microsoft.com/office/drawing/2014/main" id="{41D0D50B-C6D6-CC45-B67B-55FF74A54451}"/>
                  </a:ext>
                </a:extLst>
              </p:cNvPr>
              <p:cNvSpPr>
                <a:spLocks noRot="1" noChangeAspect="1" noMove="1" noResize="1" noEditPoints="1" noAdjustHandles="1" noChangeArrowheads="1" noChangeShapeType="1" noTextEdit="1"/>
              </p:cNvSpPr>
              <p:nvPr/>
            </p:nvSpPr>
            <p:spPr>
              <a:xfrm>
                <a:off x="1563575" y="1385426"/>
                <a:ext cx="548099" cy="646331"/>
              </a:xfrm>
              <a:prstGeom prst="rect">
                <a:avLst/>
              </a:prstGeom>
              <a:blipFill>
                <a:blip r:embed="rId7"/>
                <a:stretch>
                  <a:fillRect/>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49D3D1B7-B9F8-2D45-8634-9012A7118B14}"/>
              </a:ext>
            </a:extLst>
          </p:cNvPr>
          <p:cNvCxnSpPr>
            <a:cxnSpLocks/>
          </p:cNvCxnSpPr>
          <p:nvPr/>
        </p:nvCxnSpPr>
        <p:spPr>
          <a:xfrm flipV="1">
            <a:off x="2883918" y="2089951"/>
            <a:ext cx="1386395" cy="3601"/>
          </a:xfrm>
          <a:prstGeom prst="line">
            <a:avLst/>
          </a:prstGeom>
          <a:ln w="63500" cap="rnd"/>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58FE0CE-386A-EA4A-8437-940A66E46C79}"/>
              </a:ext>
            </a:extLst>
          </p:cNvPr>
          <p:cNvCxnSpPr>
            <a:cxnSpLocks/>
          </p:cNvCxnSpPr>
          <p:nvPr/>
        </p:nvCxnSpPr>
        <p:spPr>
          <a:xfrm flipV="1">
            <a:off x="2883918" y="1377724"/>
            <a:ext cx="1297495" cy="712228"/>
          </a:xfrm>
          <a:prstGeom prst="line">
            <a:avLst/>
          </a:prstGeom>
          <a:ln w="63500" cap="rnd"/>
        </p:spPr>
        <p:style>
          <a:lnRef idx="1">
            <a:schemeClr val="accent1"/>
          </a:lnRef>
          <a:fillRef idx="0">
            <a:schemeClr val="accent1"/>
          </a:fillRef>
          <a:effectRef idx="0">
            <a:schemeClr val="accent1"/>
          </a:effectRef>
          <a:fontRef idx="minor">
            <a:schemeClr val="tx1"/>
          </a:fontRef>
        </p:style>
      </p:cxnSp>
      <p:sp>
        <p:nvSpPr>
          <p:cNvPr id="59" name="Arc 58">
            <a:extLst>
              <a:ext uri="{FF2B5EF4-FFF2-40B4-BE49-F238E27FC236}">
                <a16:creationId xmlns:a16="http://schemas.microsoft.com/office/drawing/2014/main" id="{8BB2559E-3BCD-414E-86F0-438CE32E8EF5}"/>
              </a:ext>
            </a:extLst>
          </p:cNvPr>
          <p:cNvSpPr/>
          <p:nvPr/>
        </p:nvSpPr>
        <p:spPr>
          <a:xfrm rot="20501575">
            <a:off x="3845456" y="1558479"/>
            <a:ext cx="272182" cy="535016"/>
          </a:xfrm>
          <a:prstGeom prst="arc">
            <a:avLst>
              <a:gd name="adj1" fmla="val 16200000"/>
              <a:gd name="adj2" fmla="val 500212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1" name="Rectangle 60">
                <a:extLst>
                  <a:ext uri="{FF2B5EF4-FFF2-40B4-BE49-F238E27FC236}">
                    <a16:creationId xmlns:a16="http://schemas.microsoft.com/office/drawing/2014/main" id="{E40E63A4-3D45-C745-8938-59C6EF11C171}"/>
                  </a:ext>
                </a:extLst>
              </p:cNvPr>
              <p:cNvSpPr/>
              <p:nvPr/>
            </p:nvSpPr>
            <p:spPr>
              <a:xfrm>
                <a:off x="3505158" y="1515687"/>
                <a:ext cx="548099"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a:latin typeface="Cambria Math" panose="02040503050406030204" pitchFamily="18" charset="0"/>
                        </a:rPr>
                        <m:t>𝑥</m:t>
                      </m:r>
                    </m:oMath>
                  </m:oMathPara>
                </a14:m>
                <a:endParaRPr lang="en-US" sz="3600" dirty="0"/>
              </a:p>
            </p:txBody>
          </p:sp>
        </mc:Choice>
        <mc:Fallback xmlns="">
          <p:sp>
            <p:nvSpPr>
              <p:cNvPr id="61" name="Rectangle 60">
                <a:extLst>
                  <a:ext uri="{FF2B5EF4-FFF2-40B4-BE49-F238E27FC236}">
                    <a16:creationId xmlns:a16="http://schemas.microsoft.com/office/drawing/2014/main" id="{E40E63A4-3D45-C745-8938-59C6EF11C171}"/>
                  </a:ext>
                </a:extLst>
              </p:cNvPr>
              <p:cNvSpPr>
                <a:spLocks noRot="1" noChangeAspect="1" noMove="1" noResize="1" noEditPoints="1" noAdjustHandles="1" noChangeArrowheads="1" noChangeShapeType="1" noTextEdit="1"/>
              </p:cNvSpPr>
              <p:nvPr/>
            </p:nvSpPr>
            <p:spPr>
              <a:xfrm>
                <a:off x="3505158" y="1515687"/>
                <a:ext cx="548099" cy="646331"/>
              </a:xfrm>
              <a:prstGeom prst="rect">
                <a:avLst/>
              </a:prstGeom>
              <a:blipFill>
                <a:blip r:embed="rId8"/>
                <a:stretch>
                  <a:fillRect/>
                </a:stretch>
              </a:blipFill>
            </p:spPr>
            <p:txBody>
              <a:bodyPr/>
              <a:lstStyle/>
              <a:p>
                <a:r>
                  <a:rPr lang="en-US">
                    <a:noFill/>
                  </a:rPr>
                  <a:t> </a:t>
                </a:r>
              </a:p>
            </p:txBody>
          </p:sp>
        </mc:Fallback>
      </mc:AlternateContent>
      <p:sp>
        <p:nvSpPr>
          <p:cNvPr id="62" name="Right Arrow 61">
            <a:extLst>
              <a:ext uri="{FF2B5EF4-FFF2-40B4-BE49-F238E27FC236}">
                <a16:creationId xmlns:a16="http://schemas.microsoft.com/office/drawing/2014/main" id="{FC5E1CA4-223A-C642-B049-13C644F7D667}"/>
              </a:ext>
            </a:extLst>
          </p:cNvPr>
          <p:cNvSpPr/>
          <p:nvPr/>
        </p:nvSpPr>
        <p:spPr>
          <a:xfrm>
            <a:off x="2278036" y="1531714"/>
            <a:ext cx="510993" cy="409171"/>
          </a:xfrm>
          <a:prstGeom prst="rightArrow">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8" name="Group 77">
            <a:extLst>
              <a:ext uri="{FF2B5EF4-FFF2-40B4-BE49-F238E27FC236}">
                <a16:creationId xmlns:a16="http://schemas.microsoft.com/office/drawing/2014/main" id="{D75852D3-3AAC-4F4D-9DFA-AB19FB024CC6}"/>
              </a:ext>
            </a:extLst>
          </p:cNvPr>
          <p:cNvGrpSpPr/>
          <p:nvPr/>
        </p:nvGrpSpPr>
        <p:grpSpPr>
          <a:xfrm>
            <a:off x="5065260" y="3736414"/>
            <a:ext cx="6787749" cy="2948694"/>
            <a:chOff x="5065260" y="3736414"/>
            <a:chExt cx="6787749" cy="2948694"/>
          </a:xfrm>
        </p:grpSpPr>
        <p:sp>
          <p:nvSpPr>
            <p:cNvPr id="74" name="Rectangle 73">
              <a:extLst>
                <a:ext uri="{FF2B5EF4-FFF2-40B4-BE49-F238E27FC236}">
                  <a16:creationId xmlns:a16="http://schemas.microsoft.com/office/drawing/2014/main" id="{A99F54E8-9793-A549-B34B-2986CF8FC2EF}"/>
                </a:ext>
              </a:extLst>
            </p:cNvPr>
            <p:cNvSpPr/>
            <p:nvPr/>
          </p:nvSpPr>
          <p:spPr>
            <a:xfrm>
              <a:off x="5887232" y="5379313"/>
              <a:ext cx="2297398" cy="1296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3" name="Rectangle 72">
              <a:extLst>
                <a:ext uri="{FF2B5EF4-FFF2-40B4-BE49-F238E27FC236}">
                  <a16:creationId xmlns:a16="http://schemas.microsoft.com/office/drawing/2014/main" id="{E2DFD076-6969-C74B-AD6A-823C72F2A39F}"/>
                </a:ext>
              </a:extLst>
            </p:cNvPr>
            <p:cNvSpPr/>
            <p:nvPr/>
          </p:nvSpPr>
          <p:spPr>
            <a:xfrm>
              <a:off x="5887232" y="3736414"/>
              <a:ext cx="2297397" cy="1296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589CC6FA-1919-F64B-9E25-623F05676F65}"/>
                    </a:ext>
                  </a:extLst>
                </p:cNvPr>
                <p:cNvSpPr/>
                <p:nvPr/>
              </p:nvSpPr>
              <p:spPr>
                <a:xfrm>
                  <a:off x="5735373" y="3736414"/>
                  <a:ext cx="6098016" cy="12961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200" i="1" smtClean="0">
                                <a:solidFill>
                                  <a:schemeClr val="tx1"/>
                                </a:solidFill>
                                <a:latin typeface="Cambria Math" panose="02040503050406030204" pitchFamily="18" charset="0"/>
                              </a:rPr>
                            </m:ctrlPr>
                          </m:dPr>
                          <m:e>
                            <m:m>
                              <m:mPr>
                                <m:mcs>
                                  <m:mc>
                                    <m:mcPr>
                                      <m:count m:val="2"/>
                                      <m:mcJc m:val="center"/>
                                    </m:mcPr>
                                  </m:mc>
                                </m:mcs>
                                <m:ctrlPr>
                                  <a:rPr lang="en-US" sz="2200" i="1" smtClean="0">
                                    <a:solidFill>
                                      <a:schemeClr val="tx1"/>
                                    </a:solidFill>
                                    <a:latin typeface="Cambria Math" panose="02040503050406030204" pitchFamily="18" charset="0"/>
                                  </a:rPr>
                                </m:ctrlPr>
                              </m:mPr>
                              <m:mr>
                                <m:e>
                                  <m:func>
                                    <m:funcPr>
                                      <m:ctrlPr>
                                        <a:rPr lang="en-US" sz="2200" i="1" smtClean="0">
                                          <a:solidFill>
                                            <a:schemeClr val="tx1"/>
                                          </a:solidFill>
                                          <a:latin typeface="Cambria Math" panose="02040503050406030204" pitchFamily="18" charset="0"/>
                                        </a:rPr>
                                      </m:ctrlPr>
                                    </m:funcPr>
                                    <m:fName>
                                      <m:r>
                                        <m:rPr>
                                          <m:brk m:alnAt="7"/>
                                        </m:rPr>
                                        <a:rPr lang="en-US" sz="2200" i="1" smtClean="0">
                                          <a:solidFill>
                                            <a:schemeClr val="tx1"/>
                                          </a:solidFill>
                                          <a:latin typeface="Cambria Math" panose="02040503050406030204" pitchFamily="18" charset="0"/>
                                        </a:rPr>
                                        <m:t>𝑐</m:t>
                                      </m:r>
                                      <m:r>
                                        <a:rPr lang="en-US" sz="2200" i="1" smtClean="0">
                                          <a:solidFill>
                                            <a:schemeClr val="tx1"/>
                                          </a:solidFill>
                                          <a:latin typeface="Cambria Math" panose="02040503050406030204" pitchFamily="18" charset="0"/>
                                        </a:rPr>
                                        <m:t>𝑜𝑠</m:t>
                                      </m:r>
                                    </m:fName>
                                    <m:e>
                                      <m:f>
                                        <m:fPr>
                                          <m:ctrlPr>
                                            <a:rPr lang="en-US" sz="2200" i="1" smtClean="0">
                                              <a:solidFill>
                                                <a:schemeClr val="tx1"/>
                                              </a:solidFill>
                                              <a:latin typeface="Cambria Math" panose="02040503050406030204" pitchFamily="18" charset="0"/>
                                            </a:rPr>
                                          </m:ctrlPr>
                                        </m:fPr>
                                        <m:num>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𝑥</m:t>
                                              </m:r>
                                            </m:e>
                                            <m:sub>
                                              <m:r>
                                                <a:rPr lang="sr-Latn-RS" sz="2200" b="0" i="1" smtClean="0">
                                                  <a:solidFill>
                                                    <a:schemeClr val="tx1"/>
                                                  </a:solidFill>
                                                  <a:latin typeface="Cambria Math" panose="02040503050406030204" pitchFamily="18" charset="0"/>
                                                </a:rPr>
                                                <m:t>0</m:t>
                                              </m:r>
                                            </m:sub>
                                          </m:sSub>
                                        </m:num>
                                        <m:den>
                                          <m:r>
                                            <a:rPr lang="en-US" sz="2200" b="0" i="1" smtClean="0">
                                              <a:solidFill>
                                                <a:schemeClr val="tx1"/>
                                              </a:solidFill>
                                              <a:latin typeface="Cambria Math" panose="02040503050406030204" pitchFamily="18" charset="0"/>
                                            </a:rPr>
                                            <m:t>2</m:t>
                                          </m:r>
                                        </m:den>
                                      </m:f>
                                    </m:e>
                                  </m:func>
                                </m:e>
                                <m:e>
                                  <m:func>
                                    <m:funcPr>
                                      <m:ctrlPr>
                                        <a:rPr lang="en-US" sz="2200" i="1">
                                          <a:solidFill>
                                            <a:schemeClr val="tx1"/>
                                          </a:solidFill>
                                          <a:latin typeface="Cambria Math" panose="02040503050406030204" pitchFamily="18" charset="0"/>
                                        </a:rPr>
                                      </m:ctrlPr>
                                    </m:funcPr>
                                    <m:fName>
                                      <m:r>
                                        <a:rPr lang="en-US" sz="2200" b="0" i="1" smtClean="0">
                                          <a:solidFill>
                                            <a:schemeClr val="tx1"/>
                                          </a:solidFill>
                                          <a:latin typeface="Cambria Math" panose="02040503050406030204" pitchFamily="18" charset="0"/>
                                        </a:rPr>
                                        <m:t>−</m:t>
                                      </m:r>
                                      <m:r>
                                        <a:rPr lang="en-US" sz="2200" b="0" i="1" smtClean="0">
                                          <a:solidFill>
                                            <a:schemeClr val="tx1"/>
                                          </a:solidFill>
                                          <a:latin typeface="Cambria Math" panose="02040503050406030204" pitchFamily="18" charset="0"/>
                                        </a:rPr>
                                        <m:t>𝑠𝑖𝑛</m:t>
                                      </m:r>
                                    </m:fName>
                                    <m:e>
                                      <m:f>
                                        <m:fPr>
                                          <m:ctrlPr>
                                            <a:rPr lang="en-US" sz="2200" i="1">
                                              <a:solidFill>
                                                <a:schemeClr val="tx1"/>
                                              </a:solidFill>
                                              <a:latin typeface="Cambria Math" panose="02040503050406030204" pitchFamily="18" charset="0"/>
                                            </a:rPr>
                                          </m:ctrlPr>
                                        </m:fPr>
                                        <m:num>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𝑥</m:t>
                                              </m:r>
                                            </m:e>
                                            <m:sub>
                                              <m:r>
                                                <a:rPr lang="sr-Latn-RS" sz="2200" b="0" i="1" smtClean="0">
                                                  <a:solidFill>
                                                    <a:schemeClr val="tx1"/>
                                                  </a:solidFill>
                                                  <a:latin typeface="Cambria Math" panose="02040503050406030204" pitchFamily="18" charset="0"/>
                                                </a:rPr>
                                                <m:t>0</m:t>
                                              </m:r>
                                            </m:sub>
                                          </m:sSub>
                                        </m:num>
                                        <m:den>
                                          <m:r>
                                            <a:rPr lang="en-US" sz="2200" b="0" i="1" smtClean="0">
                                              <a:solidFill>
                                                <a:schemeClr val="tx1"/>
                                              </a:solidFill>
                                              <a:latin typeface="Cambria Math" panose="02040503050406030204" pitchFamily="18" charset="0"/>
                                            </a:rPr>
                                            <m:t>2</m:t>
                                          </m:r>
                                        </m:den>
                                      </m:f>
                                    </m:e>
                                  </m:func>
                                </m:e>
                              </m:mr>
                              <m:mr>
                                <m:e>
                                  <m:func>
                                    <m:funcPr>
                                      <m:ctrlPr>
                                        <a:rPr lang="en-US" sz="2200" i="1">
                                          <a:solidFill>
                                            <a:schemeClr val="tx1"/>
                                          </a:solidFill>
                                          <a:latin typeface="Cambria Math" panose="02040503050406030204" pitchFamily="18" charset="0"/>
                                        </a:rPr>
                                      </m:ctrlPr>
                                    </m:funcPr>
                                    <m:fName>
                                      <m:r>
                                        <a:rPr lang="en-US" sz="2200" b="0" i="1" smtClean="0">
                                          <a:solidFill>
                                            <a:schemeClr val="tx1"/>
                                          </a:solidFill>
                                          <a:latin typeface="Cambria Math" panose="02040503050406030204" pitchFamily="18" charset="0"/>
                                        </a:rPr>
                                        <m:t>𝑠𝑖𝑛</m:t>
                                      </m:r>
                                    </m:fName>
                                    <m:e>
                                      <m:f>
                                        <m:fPr>
                                          <m:ctrlPr>
                                            <a:rPr lang="en-US" sz="2200" i="1">
                                              <a:solidFill>
                                                <a:schemeClr val="tx1"/>
                                              </a:solidFill>
                                              <a:latin typeface="Cambria Math" panose="02040503050406030204" pitchFamily="18" charset="0"/>
                                            </a:rPr>
                                          </m:ctrlPr>
                                        </m:fPr>
                                        <m:num>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𝑥</m:t>
                                              </m:r>
                                            </m:e>
                                            <m:sub>
                                              <m:r>
                                                <a:rPr lang="sr-Latn-RS" sz="2200" b="0" i="1" smtClean="0">
                                                  <a:solidFill>
                                                    <a:schemeClr val="tx1"/>
                                                  </a:solidFill>
                                                  <a:latin typeface="Cambria Math" panose="02040503050406030204" pitchFamily="18" charset="0"/>
                                                </a:rPr>
                                                <m:t>0</m:t>
                                              </m:r>
                                            </m:sub>
                                          </m:sSub>
                                        </m:num>
                                        <m:den>
                                          <m:r>
                                            <a:rPr lang="en-US" sz="2200" b="0" i="1" smtClean="0">
                                              <a:solidFill>
                                                <a:schemeClr val="tx1"/>
                                              </a:solidFill>
                                              <a:latin typeface="Cambria Math" panose="02040503050406030204" pitchFamily="18" charset="0"/>
                                            </a:rPr>
                                            <m:t>2</m:t>
                                          </m:r>
                                        </m:den>
                                      </m:f>
                                    </m:e>
                                  </m:func>
                                </m:e>
                                <m:e>
                                  <m:func>
                                    <m:funcPr>
                                      <m:ctrlPr>
                                        <a:rPr lang="en-US" sz="2200" i="1">
                                          <a:solidFill>
                                            <a:schemeClr val="tx1"/>
                                          </a:solidFill>
                                          <a:latin typeface="Cambria Math" panose="02040503050406030204" pitchFamily="18" charset="0"/>
                                        </a:rPr>
                                      </m:ctrlPr>
                                    </m:funcPr>
                                    <m:fName>
                                      <m:r>
                                        <m:rPr>
                                          <m:brk m:alnAt="7"/>
                                        </m:rPr>
                                        <a:rPr lang="en-US" sz="2200" i="1">
                                          <a:solidFill>
                                            <a:schemeClr val="tx1"/>
                                          </a:solidFill>
                                          <a:latin typeface="Cambria Math" panose="02040503050406030204" pitchFamily="18" charset="0"/>
                                        </a:rPr>
                                        <m:t>𝑐</m:t>
                                      </m:r>
                                      <m:r>
                                        <a:rPr lang="en-US" sz="2200" i="1">
                                          <a:solidFill>
                                            <a:schemeClr val="tx1"/>
                                          </a:solidFill>
                                          <a:latin typeface="Cambria Math" panose="02040503050406030204" pitchFamily="18" charset="0"/>
                                        </a:rPr>
                                        <m:t>𝑜𝑠</m:t>
                                      </m:r>
                                    </m:fName>
                                    <m:e>
                                      <m:f>
                                        <m:fPr>
                                          <m:ctrlPr>
                                            <a:rPr lang="en-US" sz="2200" i="1">
                                              <a:solidFill>
                                                <a:schemeClr val="tx1"/>
                                              </a:solidFill>
                                              <a:latin typeface="Cambria Math" panose="02040503050406030204" pitchFamily="18" charset="0"/>
                                            </a:rPr>
                                          </m:ctrlPr>
                                        </m:fPr>
                                        <m:num>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𝑥</m:t>
                                              </m:r>
                                            </m:e>
                                            <m:sub>
                                              <m:r>
                                                <a:rPr lang="sr-Latn-RS" sz="2200" b="0" i="1" smtClean="0">
                                                  <a:solidFill>
                                                    <a:schemeClr val="tx1"/>
                                                  </a:solidFill>
                                                  <a:latin typeface="Cambria Math" panose="02040503050406030204" pitchFamily="18" charset="0"/>
                                                </a:rPr>
                                                <m:t>0</m:t>
                                              </m:r>
                                            </m:sub>
                                          </m:sSub>
                                        </m:num>
                                        <m:den>
                                          <m:r>
                                            <a:rPr lang="en-US" sz="2200" b="0" i="1" smtClean="0">
                                              <a:solidFill>
                                                <a:schemeClr val="tx1"/>
                                              </a:solidFill>
                                              <a:latin typeface="Cambria Math" panose="02040503050406030204" pitchFamily="18" charset="0"/>
                                            </a:rPr>
                                            <m:t>2</m:t>
                                          </m:r>
                                        </m:den>
                                      </m:f>
                                    </m:e>
                                  </m:func>
                                </m:e>
                              </m:mr>
                            </m:m>
                          </m:e>
                        </m:d>
                        <m:d>
                          <m:dPr>
                            <m:ctrlPr>
                              <a:rPr lang="en-US" sz="2200" i="1" smtClean="0">
                                <a:solidFill>
                                  <a:schemeClr val="tx1"/>
                                </a:solidFill>
                                <a:latin typeface="Cambria Math" panose="02040503050406030204" pitchFamily="18" charset="0"/>
                              </a:rPr>
                            </m:ctrlPr>
                          </m:dPr>
                          <m:e>
                            <m:m>
                              <m:mPr>
                                <m:mcs>
                                  <m:mc>
                                    <m:mcPr>
                                      <m:count m:val="1"/>
                                      <m:mcJc m:val="center"/>
                                    </m:mcPr>
                                  </m:mc>
                                </m:mcs>
                                <m:ctrlPr>
                                  <a:rPr lang="en-US" sz="2200" i="1" smtClean="0">
                                    <a:solidFill>
                                      <a:schemeClr val="tx1"/>
                                    </a:solidFill>
                                    <a:latin typeface="Cambria Math" panose="02040503050406030204" pitchFamily="18" charset="0"/>
                                  </a:rPr>
                                </m:ctrlPr>
                              </m:mPr>
                              <m:mr>
                                <m:e>
                                  <m:r>
                                    <m:rPr>
                                      <m:brk m:alnAt="7"/>
                                    </m:rPr>
                                    <a:rPr lang="en-US" sz="2200" b="0" i="1" smtClean="0">
                                      <a:solidFill>
                                        <a:schemeClr val="tx1"/>
                                      </a:solidFill>
                                      <a:latin typeface="Cambria Math" panose="02040503050406030204" pitchFamily="18" charset="0"/>
                                    </a:rPr>
                                    <m:t>1</m:t>
                                  </m:r>
                                </m:e>
                              </m:mr>
                              <m:mr>
                                <m:e>
                                  <m:r>
                                    <a:rPr lang="en-US" sz="2200" b="0" i="1" smtClean="0">
                                      <a:solidFill>
                                        <a:schemeClr val="tx1"/>
                                      </a:solidFill>
                                      <a:latin typeface="Cambria Math" panose="02040503050406030204" pitchFamily="18" charset="0"/>
                                    </a:rPr>
                                    <m:t>0</m:t>
                                  </m:r>
                                </m:e>
                              </m:mr>
                            </m:m>
                          </m:e>
                        </m:d>
                        <m:r>
                          <a:rPr lang="en-US" sz="2200" b="0" i="1" smtClean="0">
                            <a:solidFill>
                              <a:schemeClr val="tx1"/>
                            </a:solidFill>
                            <a:latin typeface="Cambria Math" panose="02040503050406030204" pitchFamily="18" charset="0"/>
                          </a:rPr>
                          <m:t>=</m:t>
                        </m:r>
                        <m:func>
                          <m:funcPr>
                            <m:ctrlPr>
                              <a:rPr lang="en-US" sz="2200" i="1">
                                <a:solidFill>
                                  <a:schemeClr val="tx1"/>
                                </a:solidFill>
                                <a:latin typeface="Cambria Math" panose="02040503050406030204" pitchFamily="18" charset="0"/>
                              </a:rPr>
                            </m:ctrlPr>
                          </m:funcPr>
                          <m:fName>
                            <m:r>
                              <m:rPr>
                                <m:brk m:alnAt="7"/>
                              </m:rPr>
                              <a:rPr lang="en-US" sz="2200" i="1">
                                <a:solidFill>
                                  <a:schemeClr val="tx1"/>
                                </a:solidFill>
                                <a:latin typeface="Cambria Math" panose="02040503050406030204" pitchFamily="18" charset="0"/>
                              </a:rPr>
                              <m:t>𝑐</m:t>
                            </m:r>
                            <m:r>
                              <a:rPr lang="en-US" sz="2200" i="1">
                                <a:solidFill>
                                  <a:schemeClr val="tx1"/>
                                </a:solidFill>
                                <a:latin typeface="Cambria Math" panose="02040503050406030204" pitchFamily="18" charset="0"/>
                              </a:rPr>
                              <m:t>𝑜𝑠</m:t>
                            </m:r>
                          </m:fName>
                          <m:e>
                            <m:f>
                              <m:fPr>
                                <m:ctrlPr>
                                  <a:rPr lang="en-US" sz="2200" i="1">
                                    <a:solidFill>
                                      <a:schemeClr val="tx1"/>
                                    </a:solidFill>
                                    <a:latin typeface="Cambria Math" panose="02040503050406030204" pitchFamily="18" charset="0"/>
                                  </a:rPr>
                                </m:ctrlPr>
                              </m:fPr>
                              <m:num>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𝑥</m:t>
                                    </m:r>
                                  </m:e>
                                  <m:sub>
                                    <m:r>
                                      <a:rPr lang="sr-Latn-RS" sz="2200" b="0" i="1" smtClean="0">
                                        <a:solidFill>
                                          <a:schemeClr val="tx1"/>
                                        </a:solidFill>
                                        <a:latin typeface="Cambria Math" panose="02040503050406030204" pitchFamily="18" charset="0"/>
                                      </a:rPr>
                                      <m:t>0</m:t>
                                    </m:r>
                                  </m:sub>
                                </m:sSub>
                              </m:num>
                              <m:den>
                                <m:r>
                                  <a:rPr lang="en-US" sz="2200" i="1">
                                    <a:solidFill>
                                      <a:schemeClr val="tx1"/>
                                    </a:solidFill>
                                    <a:latin typeface="Cambria Math" panose="02040503050406030204" pitchFamily="18" charset="0"/>
                                  </a:rPr>
                                  <m:t>2</m:t>
                                </m:r>
                              </m:den>
                            </m:f>
                          </m:e>
                        </m:func>
                        <m:d>
                          <m:dPr>
                            <m:begChr m:val="|"/>
                            <m:endChr m:val="⟩"/>
                            <m:ctrlPr>
                              <a:rPr lang="en-US" sz="2200" i="1">
                                <a:solidFill>
                                  <a:schemeClr val="tx1"/>
                                </a:solidFill>
                                <a:latin typeface="Cambria Math" panose="02040503050406030204" pitchFamily="18" charset="0"/>
                              </a:rPr>
                            </m:ctrlPr>
                          </m:dPr>
                          <m:e>
                            <m:r>
                              <a:rPr lang="en-US" sz="2200" i="1">
                                <a:solidFill>
                                  <a:schemeClr val="tx1"/>
                                </a:solidFill>
                                <a:latin typeface="Cambria Math" panose="02040503050406030204" pitchFamily="18" charset="0"/>
                              </a:rPr>
                              <m:t>0</m:t>
                            </m:r>
                          </m:e>
                        </m:d>
                        <m:r>
                          <a:rPr lang="en-US" sz="2200" b="0" i="1" smtClean="0">
                            <a:solidFill>
                              <a:schemeClr val="tx1"/>
                            </a:solidFill>
                            <a:latin typeface="Cambria Math" panose="02040503050406030204" pitchFamily="18" charset="0"/>
                          </a:rPr>
                          <m:t>+</m:t>
                        </m:r>
                        <m:func>
                          <m:funcPr>
                            <m:ctrlPr>
                              <a:rPr lang="en-US" sz="2200" i="1">
                                <a:solidFill>
                                  <a:schemeClr val="tx1"/>
                                </a:solidFill>
                                <a:latin typeface="Cambria Math" panose="02040503050406030204" pitchFamily="18" charset="0"/>
                              </a:rPr>
                            </m:ctrlPr>
                          </m:funcPr>
                          <m:fName>
                            <m:r>
                              <a:rPr lang="en-US" sz="2200" b="0" i="1" smtClean="0">
                                <a:solidFill>
                                  <a:schemeClr val="tx1"/>
                                </a:solidFill>
                                <a:latin typeface="Cambria Math" panose="02040503050406030204" pitchFamily="18" charset="0"/>
                              </a:rPr>
                              <m:t>𝑠𝑖𝑛</m:t>
                            </m:r>
                          </m:fName>
                          <m:e>
                            <m:f>
                              <m:fPr>
                                <m:ctrlPr>
                                  <a:rPr lang="en-US" sz="2200" i="1">
                                    <a:solidFill>
                                      <a:schemeClr val="tx1"/>
                                    </a:solidFill>
                                    <a:latin typeface="Cambria Math" panose="02040503050406030204" pitchFamily="18" charset="0"/>
                                  </a:rPr>
                                </m:ctrlPr>
                              </m:fPr>
                              <m:num>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𝑥</m:t>
                                    </m:r>
                                  </m:e>
                                  <m:sub>
                                    <m:r>
                                      <a:rPr lang="sr-Latn-RS" sz="2200" b="0" i="1" smtClean="0">
                                        <a:solidFill>
                                          <a:schemeClr val="tx1"/>
                                        </a:solidFill>
                                        <a:latin typeface="Cambria Math" panose="02040503050406030204" pitchFamily="18" charset="0"/>
                                      </a:rPr>
                                      <m:t>0</m:t>
                                    </m:r>
                                  </m:sub>
                                </m:sSub>
                              </m:num>
                              <m:den>
                                <m:r>
                                  <a:rPr lang="en-US" sz="2200" i="1">
                                    <a:solidFill>
                                      <a:schemeClr val="tx1"/>
                                    </a:solidFill>
                                    <a:latin typeface="Cambria Math" panose="02040503050406030204" pitchFamily="18" charset="0"/>
                                  </a:rPr>
                                  <m:t>2</m:t>
                                </m:r>
                              </m:den>
                            </m:f>
                          </m:e>
                        </m:func>
                        <m:d>
                          <m:dPr>
                            <m:begChr m:val="|"/>
                            <m:endChr m:val="⟩"/>
                            <m:ctrlPr>
                              <a:rPr lang="en-US" sz="2200" i="1">
                                <a:solidFill>
                                  <a:schemeClr val="tx1"/>
                                </a:solidFill>
                                <a:latin typeface="Cambria Math" panose="02040503050406030204" pitchFamily="18" charset="0"/>
                              </a:rPr>
                            </m:ctrlPr>
                          </m:dPr>
                          <m:e>
                            <m:r>
                              <a:rPr lang="en-US" sz="2200" b="0" i="1" smtClean="0">
                                <a:solidFill>
                                  <a:schemeClr val="tx1"/>
                                </a:solidFill>
                                <a:latin typeface="Cambria Math" panose="02040503050406030204" pitchFamily="18" charset="0"/>
                              </a:rPr>
                              <m:t>1</m:t>
                            </m:r>
                          </m:e>
                        </m:d>
                      </m:oMath>
                    </m:oMathPara>
                  </a14:m>
                  <a:endParaRPr lang="en-US" sz="2200" dirty="0">
                    <a:solidFill>
                      <a:schemeClr val="tx1"/>
                    </a:solidFill>
                  </a:endParaRPr>
                </a:p>
              </p:txBody>
            </p:sp>
          </mc:Choice>
          <mc:Fallback xmlns="">
            <p:sp>
              <p:nvSpPr>
                <p:cNvPr id="66" name="Rectangle 65">
                  <a:extLst>
                    <a:ext uri="{FF2B5EF4-FFF2-40B4-BE49-F238E27FC236}">
                      <a16:creationId xmlns:a16="http://schemas.microsoft.com/office/drawing/2014/main" id="{589CC6FA-1919-F64B-9E25-623F05676F65}"/>
                    </a:ext>
                  </a:extLst>
                </p:cNvPr>
                <p:cNvSpPr>
                  <a:spLocks noRot="1" noChangeAspect="1" noMove="1" noResize="1" noEditPoints="1" noAdjustHandles="1" noChangeArrowheads="1" noChangeShapeType="1" noTextEdit="1"/>
                </p:cNvSpPr>
                <p:nvPr/>
              </p:nvSpPr>
              <p:spPr>
                <a:xfrm>
                  <a:off x="5735373" y="3736414"/>
                  <a:ext cx="6098016" cy="1296124"/>
                </a:xfrm>
                <a:prstGeom prst="rect">
                  <a:avLst/>
                </a:prstGeom>
                <a:blipFill>
                  <a:blip r:embed="rId9"/>
                  <a:stretch>
                    <a:fillRect b="-2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Rectangle 66">
                  <a:extLst>
                    <a:ext uri="{FF2B5EF4-FFF2-40B4-BE49-F238E27FC236}">
                      <a16:creationId xmlns:a16="http://schemas.microsoft.com/office/drawing/2014/main" id="{16D905ED-78B6-5447-9E21-808C9BD39A56}"/>
                    </a:ext>
                  </a:extLst>
                </p:cNvPr>
                <p:cNvSpPr/>
                <p:nvPr/>
              </p:nvSpPr>
              <p:spPr>
                <a:xfrm>
                  <a:off x="5735373" y="5388984"/>
                  <a:ext cx="6117636" cy="1296124"/>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200" i="1" smtClean="0">
                                <a:solidFill>
                                  <a:schemeClr val="tx1"/>
                                </a:solidFill>
                                <a:latin typeface="Cambria Math" panose="02040503050406030204" pitchFamily="18" charset="0"/>
                              </a:rPr>
                            </m:ctrlPr>
                          </m:dPr>
                          <m:e>
                            <m:m>
                              <m:mPr>
                                <m:mcs>
                                  <m:mc>
                                    <m:mcPr>
                                      <m:count m:val="2"/>
                                      <m:mcJc m:val="center"/>
                                    </m:mcPr>
                                  </m:mc>
                                </m:mcs>
                                <m:ctrlPr>
                                  <a:rPr lang="en-US" sz="2200" i="1" smtClean="0">
                                    <a:solidFill>
                                      <a:schemeClr val="tx1"/>
                                    </a:solidFill>
                                    <a:latin typeface="Cambria Math" panose="02040503050406030204" pitchFamily="18" charset="0"/>
                                  </a:rPr>
                                </m:ctrlPr>
                              </m:mPr>
                              <m:mr>
                                <m:e>
                                  <m:func>
                                    <m:funcPr>
                                      <m:ctrlPr>
                                        <a:rPr lang="en-US" sz="2200" i="1" smtClean="0">
                                          <a:solidFill>
                                            <a:schemeClr val="tx1"/>
                                          </a:solidFill>
                                          <a:latin typeface="Cambria Math" panose="02040503050406030204" pitchFamily="18" charset="0"/>
                                        </a:rPr>
                                      </m:ctrlPr>
                                    </m:funcPr>
                                    <m:fName>
                                      <m:r>
                                        <m:rPr>
                                          <m:brk m:alnAt="7"/>
                                        </m:rPr>
                                        <a:rPr lang="en-US" sz="2200" i="1" smtClean="0">
                                          <a:solidFill>
                                            <a:schemeClr val="tx1"/>
                                          </a:solidFill>
                                          <a:latin typeface="Cambria Math" panose="02040503050406030204" pitchFamily="18" charset="0"/>
                                        </a:rPr>
                                        <m:t>𝑐</m:t>
                                      </m:r>
                                      <m:r>
                                        <a:rPr lang="en-US" sz="2200" i="1" smtClean="0">
                                          <a:solidFill>
                                            <a:schemeClr val="tx1"/>
                                          </a:solidFill>
                                          <a:latin typeface="Cambria Math" panose="02040503050406030204" pitchFamily="18" charset="0"/>
                                        </a:rPr>
                                        <m:t>𝑜𝑠</m:t>
                                      </m:r>
                                    </m:fName>
                                    <m:e>
                                      <m:f>
                                        <m:fPr>
                                          <m:ctrlPr>
                                            <a:rPr lang="en-US" sz="2200" i="1" smtClean="0">
                                              <a:solidFill>
                                                <a:schemeClr val="tx1"/>
                                              </a:solidFill>
                                              <a:latin typeface="Cambria Math" panose="02040503050406030204" pitchFamily="18" charset="0"/>
                                            </a:rPr>
                                          </m:ctrlPr>
                                        </m:fPr>
                                        <m:num>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𝑥</m:t>
                                              </m:r>
                                            </m:e>
                                            <m:sub>
                                              <m:r>
                                                <a:rPr lang="sr-Latn-RS" sz="2200" b="0" i="1" smtClean="0">
                                                  <a:solidFill>
                                                    <a:schemeClr val="tx1"/>
                                                  </a:solidFill>
                                                  <a:latin typeface="Cambria Math" panose="02040503050406030204" pitchFamily="18" charset="0"/>
                                                </a:rPr>
                                                <m:t>1</m:t>
                                              </m:r>
                                            </m:sub>
                                          </m:sSub>
                                        </m:num>
                                        <m:den>
                                          <m:r>
                                            <a:rPr lang="en-US" sz="2200" b="0" i="1" smtClean="0">
                                              <a:solidFill>
                                                <a:schemeClr val="tx1"/>
                                              </a:solidFill>
                                              <a:latin typeface="Cambria Math" panose="02040503050406030204" pitchFamily="18" charset="0"/>
                                            </a:rPr>
                                            <m:t>2</m:t>
                                          </m:r>
                                        </m:den>
                                      </m:f>
                                    </m:e>
                                  </m:func>
                                </m:e>
                                <m:e>
                                  <m:func>
                                    <m:funcPr>
                                      <m:ctrlPr>
                                        <a:rPr lang="en-US" sz="2200" i="1">
                                          <a:solidFill>
                                            <a:schemeClr val="tx1"/>
                                          </a:solidFill>
                                          <a:latin typeface="Cambria Math" panose="02040503050406030204" pitchFamily="18" charset="0"/>
                                        </a:rPr>
                                      </m:ctrlPr>
                                    </m:funcPr>
                                    <m:fName>
                                      <m:r>
                                        <a:rPr lang="en-US" sz="2200" b="0" i="1" smtClean="0">
                                          <a:solidFill>
                                            <a:schemeClr val="tx1"/>
                                          </a:solidFill>
                                          <a:latin typeface="Cambria Math" panose="02040503050406030204" pitchFamily="18" charset="0"/>
                                        </a:rPr>
                                        <m:t>−</m:t>
                                      </m:r>
                                      <m:r>
                                        <a:rPr lang="en-US" sz="2200" b="0" i="1" smtClean="0">
                                          <a:solidFill>
                                            <a:schemeClr val="tx1"/>
                                          </a:solidFill>
                                          <a:latin typeface="Cambria Math" panose="02040503050406030204" pitchFamily="18" charset="0"/>
                                        </a:rPr>
                                        <m:t>𝑠𝑖𝑛</m:t>
                                      </m:r>
                                    </m:fName>
                                    <m:e>
                                      <m:f>
                                        <m:fPr>
                                          <m:ctrlPr>
                                            <a:rPr lang="en-US" sz="2200" i="1">
                                              <a:solidFill>
                                                <a:schemeClr val="tx1"/>
                                              </a:solidFill>
                                              <a:latin typeface="Cambria Math" panose="02040503050406030204" pitchFamily="18" charset="0"/>
                                            </a:rPr>
                                          </m:ctrlPr>
                                        </m:fPr>
                                        <m:num>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𝑥</m:t>
                                              </m:r>
                                            </m:e>
                                            <m:sub>
                                              <m:r>
                                                <a:rPr lang="sr-Latn-RS" sz="2200" b="0" i="1" smtClean="0">
                                                  <a:solidFill>
                                                    <a:schemeClr val="tx1"/>
                                                  </a:solidFill>
                                                  <a:latin typeface="Cambria Math" panose="02040503050406030204" pitchFamily="18" charset="0"/>
                                                </a:rPr>
                                                <m:t>1</m:t>
                                              </m:r>
                                            </m:sub>
                                          </m:sSub>
                                        </m:num>
                                        <m:den>
                                          <m:r>
                                            <a:rPr lang="en-US" sz="2200" b="0" i="1" smtClean="0">
                                              <a:solidFill>
                                                <a:schemeClr val="tx1"/>
                                              </a:solidFill>
                                              <a:latin typeface="Cambria Math" panose="02040503050406030204" pitchFamily="18" charset="0"/>
                                            </a:rPr>
                                            <m:t>2</m:t>
                                          </m:r>
                                        </m:den>
                                      </m:f>
                                    </m:e>
                                  </m:func>
                                </m:e>
                              </m:mr>
                              <m:mr>
                                <m:e>
                                  <m:func>
                                    <m:funcPr>
                                      <m:ctrlPr>
                                        <a:rPr lang="en-US" sz="2200" i="1">
                                          <a:solidFill>
                                            <a:schemeClr val="tx1"/>
                                          </a:solidFill>
                                          <a:latin typeface="Cambria Math" panose="02040503050406030204" pitchFamily="18" charset="0"/>
                                        </a:rPr>
                                      </m:ctrlPr>
                                    </m:funcPr>
                                    <m:fName>
                                      <m:r>
                                        <a:rPr lang="en-US" sz="2200" b="0" i="1" smtClean="0">
                                          <a:solidFill>
                                            <a:schemeClr val="tx1"/>
                                          </a:solidFill>
                                          <a:latin typeface="Cambria Math" panose="02040503050406030204" pitchFamily="18" charset="0"/>
                                        </a:rPr>
                                        <m:t>𝑠𝑖𝑛</m:t>
                                      </m:r>
                                    </m:fName>
                                    <m:e>
                                      <m:f>
                                        <m:fPr>
                                          <m:ctrlPr>
                                            <a:rPr lang="en-US" sz="2200" i="1">
                                              <a:solidFill>
                                                <a:schemeClr val="tx1"/>
                                              </a:solidFill>
                                              <a:latin typeface="Cambria Math" panose="02040503050406030204" pitchFamily="18" charset="0"/>
                                            </a:rPr>
                                          </m:ctrlPr>
                                        </m:fPr>
                                        <m:num>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𝑥</m:t>
                                              </m:r>
                                            </m:e>
                                            <m:sub>
                                              <m:r>
                                                <a:rPr lang="sr-Latn-RS" sz="2200" b="0" i="1" smtClean="0">
                                                  <a:solidFill>
                                                    <a:schemeClr val="tx1"/>
                                                  </a:solidFill>
                                                  <a:latin typeface="Cambria Math" panose="02040503050406030204" pitchFamily="18" charset="0"/>
                                                </a:rPr>
                                                <m:t>1</m:t>
                                              </m:r>
                                            </m:sub>
                                          </m:sSub>
                                        </m:num>
                                        <m:den>
                                          <m:r>
                                            <a:rPr lang="en-US" sz="2200" b="0" i="1" smtClean="0">
                                              <a:solidFill>
                                                <a:schemeClr val="tx1"/>
                                              </a:solidFill>
                                              <a:latin typeface="Cambria Math" panose="02040503050406030204" pitchFamily="18" charset="0"/>
                                            </a:rPr>
                                            <m:t>2</m:t>
                                          </m:r>
                                        </m:den>
                                      </m:f>
                                    </m:e>
                                  </m:func>
                                </m:e>
                                <m:e>
                                  <m:func>
                                    <m:funcPr>
                                      <m:ctrlPr>
                                        <a:rPr lang="en-US" sz="2200" i="1">
                                          <a:solidFill>
                                            <a:schemeClr val="tx1"/>
                                          </a:solidFill>
                                          <a:latin typeface="Cambria Math" panose="02040503050406030204" pitchFamily="18" charset="0"/>
                                        </a:rPr>
                                      </m:ctrlPr>
                                    </m:funcPr>
                                    <m:fName>
                                      <m:r>
                                        <m:rPr>
                                          <m:brk m:alnAt="7"/>
                                        </m:rPr>
                                        <a:rPr lang="en-US" sz="2200" i="1">
                                          <a:solidFill>
                                            <a:schemeClr val="tx1"/>
                                          </a:solidFill>
                                          <a:latin typeface="Cambria Math" panose="02040503050406030204" pitchFamily="18" charset="0"/>
                                        </a:rPr>
                                        <m:t>𝑐</m:t>
                                      </m:r>
                                      <m:r>
                                        <a:rPr lang="en-US" sz="2200" i="1">
                                          <a:solidFill>
                                            <a:schemeClr val="tx1"/>
                                          </a:solidFill>
                                          <a:latin typeface="Cambria Math" panose="02040503050406030204" pitchFamily="18" charset="0"/>
                                        </a:rPr>
                                        <m:t>𝑜𝑠</m:t>
                                      </m:r>
                                    </m:fName>
                                    <m:e>
                                      <m:f>
                                        <m:fPr>
                                          <m:ctrlPr>
                                            <a:rPr lang="en-US" sz="2200" i="1">
                                              <a:solidFill>
                                                <a:schemeClr val="tx1"/>
                                              </a:solidFill>
                                              <a:latin typeface="Cambria Math" panose="02040503050406030204" pitchFamily="18" charset="0"/>
                                            </a:rPr>
                                          </m:ctrlPr>
                                        </m:fPr>
                                        <m:num>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𝑥</m:t>
                                              </m:r>
                                            </m:e>
                                            <m:sub>
                                              <m:r>
                                                <a:rPr lang="sr-Latn-RS" sz="2200" b="0" i="1" smtClean="0">
                                                  <a:solidFill>
                                                    <a:schemeClr val="tx1"/>
                                                  </a:solidFill>
                                                  <a:latin typeface="Cambria Math" panose="02040503050406030204" pitchFamily="18" charset="0"/>
                                                </a:rPr>
                                                <m:t>1</m:t>
                                              </m:r>
                                            </m:sub>
                                          </m:sSub>
                                        </m:num>
                                        <m:den>
                                          <m:r>
                                            <a:rPr lang="en-US" sz="2200" b="0" i="1" smtClean="0">
                                              <a:solidFill>
                                                <a:schemeClr val="tx1"/>
                                              </a:solidFill>
                                              <a:latin typeface="Cambria Math" panose="02040503050406030204" pitchFamily="18" charset="0"/>
                                            </a:rPr>
                                            <m:t>2</m:t>
                                          </m:r>
                                        </m:den>
                                      </m:f>
                                    </m:e>
                                  </m:func>
                                </m:e>
                              </m:mr>
                            </m:m>
                          </m:e>
                        </m:d>
                        <m:d>
                          <m:dPr>
                            <m:ctrlPr>
                              <a:rPr lang="en-US" sz="2200" i="1">
                                <a:solidFill>
                                  <a:schemeClr val="tx1"/>
                                </a:solidFill>
                                <a:latin typeface="Cambria Math" panose="02040503050406030204" pitchFamily="18" charset="0"/>
                              </a:rPr>
                            </m:ctrlPr>
                          </m:dPr>
                          <m:e>
                            <m:m>
                              <m:mPr>
                                <m:mcs>
                                  <m:mc>
                                    <m:mcPr>
                                      <m:count m:val="1"/>
                                      <m:mcJc m:val="center"/>
                                    </m:mcPr>
                                  </m:mc>
                                </m:mcs>
                                <m:ctrlPr>
                                  <a:rPr lang="en-US" sz="2200" i="1">
                                    <a:solidFill>
                                      <a:schemeClr val="tx1"/>
                                    </a:solidFill>
                                    <a:latin typeface="Cambria Math" panose="02040503050406030204" pitchFamily="18" charset="0"/>
                                  </a:rPr>
                                </m:ctrlPr>
                              </m:mPr>
                              <m:mr>
                                <m:e>
                                  <m:r>
                                    <m:rPr>
                                      <m:brk m:alnAt="7"/>
                                    </m:rPr>
                                    <a:rPr lang="en-US" sz="2200" i="1">
                                      <a:solidFill>
                                        <a:schemeClr val="tx1"/>
                                      </a:solidFill>
                                      <a:latin typeface="Cambria Math" panose="02040503050406030204" pitchFamily="18" charset="0"/>
                                    </a:rPr>
                                    <m:t>1</m:t>
                                  </m:r>
                                </m:e>
                              </m:mr>
                              <m:mr>
                                <m:e>
                                  <m:r>
                                    <a:rPr lang="en-US" sz="2200" i="1">
                                      <a:solidFill>
                                        <a:schemeClr val="tx1"/>
                                      </a:solidFill>
                                      <a:latin typeface="Cambria Math" panose="02040503050406030204" pitchFamily="18" charset="0"/>
                                    </a:rPr>
                                    <m:t>0</m:t>
                                  </m:r>
                                </m:e>
                              </m:mr>
                            </m:m>
                          </m:e>
                        </m:d>
                        <m:r>
                          <a:rPr lang="en-US" sz="2200" i="1">
                            <a:solidFill>
                              <a:schemeClr val="tx1"/>
                            </a:solidFill>
                            <a:latin typeface="Cambria Math" panose="02040503050406030204" pitchFamily="18" charset="0"/>
                          </a:rPr>
                          <m:t>=</m:t>
                        </m:r>
                        <m:func>
                          <m:funcPr>
                            <m:ctrlPr>
                              <a:rPr lang="en-US" sz="2200" i="1">
                                <a:solidFill>
                                  <a:schemeClr val="tx1"/>
                                </a:solidFill>
                                <a:latin typeface="Cambria Math" panose="02040503050406030204" pitchFamily="18" charset="0"/>
                              </a:rPr>
                            </m:ctrlPr>
                          </m:funcPr>
                          <m:fName>
                            <m:r>
                              <m:rPr>
                                <m:brk m:alnAt="7"/>
                              </m:rPr>
                              <a:rPr lang="en-US" sz="2200" i="1">
                                <a:solidFill>
                                  <a:schemeClr val="tx1"/>
                                </a:solidFill>
                                <a:latin typeface="Cambria Math" panose="02040503050406030204" pitchFamily="18" charset="0"/>
                              </a:rPr>
                              <m:t>𝑐</m:t>
                            </m:r>
                            <m:r>
                              <a:rPr lang="en-US" sz="2200" i="1">
                                <a:solidFill>
                                  <a:schemeClr val="tx1"/>
                                </a:solidFill>
                                <a:latin typeface="Cambria Math" panose="02040503050406030204" pitchFamily="18" charset="0"/>
                              </a:rPr>
                              <m:t>𝑜𝑠</m:t>
                            </m:r>
                          </m:fName>
                          <m:e>
                            <m:f>
                              <m:fPr>
                                <m:ctrlPr>
                                  <a:rPr lang="en-US" sz="2200" i="1">
                                    <a:solidFill>
                                      <a:schemeClr val="tx1"/>
                                    </a:solidFill>
                                    <a:latin typeface="Cambria Math" panose="02040503050406030204" pitchFamily="18" charset="0"/>
                                  </a:rPr>
                                </m:ctrlPr>
                              </m:fPr>
                              <m:num>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𝑥</m:t>
                                    </m:r>
                                  </m:e>
                                  <m:sub>
                                    <m:r>
                                      <a:rPr lang="sr-Latn-RS" sz="2200" b="0" i="1" smtClean="0">
                                        <a:solidFill>
                                          <a:schemeClr val="tx1"/>
                                        </a:solidFill>
                                        <a:latin typeface="Cambria Math" panose="02040503050406030204" pitchFamily="18" charset="0"/>
                                      </a:rPr>
                                      <m:t>1</m:t>
                                    </m:r>
                                  </m:sub>
                                </m:sSub>
                              </m:num>
                              <m:den>
                                <m:r>
                                  <a:rPr lang="en-US" sz="2200" i="1">
                                    <a:solidFill>
                                      <a:schemeClr val="tx1"/>
                                    </a:solidFill>
                                    <a:latin typeface="Cambria Math" panose="02040503050406030204" pitchFamily="18" charset="0"/>
                                  </a:rPr>
                                  <m:t>2</m:t>
                                </m:r>
                              </m:den>
                            </m:f>
                          </m:e>
                        </m:func>
                        <m:d>
                          <m:dPr>
                            <m:begChr m:val="|"/>
                            <m:endChr m:val="⟩"/>
                            <m:ctrlPr>
                              <a:rPr lang="en-US" sz="2200" i="1">
                                <a:solidFill>
                                  <a:schemeClr val="tx1"/>
                                </a:solidFill>
                                <a:latin typeface="Cambria Math" panose="02040503050406030204" pitchFamily="18" charset="0"/>
                              </a:rPr>
                            </m:ctrlPr>
                          </m:dPr>
                          <m:e>
                            <m:r>
                              <a:rPr lang="en-US" sz="2200" i="1">
                                <a:solidFill>
                                  <a:schemeClr val="tx1"/>
                                </a:solidFill>
                                <a:latin typeface="Cambria Math" panose="02040503050406030204" pitchFamily="18" charset="0"/>
                              </a:rPr>
                              <m:t>0</m:t>
                            </m:r>
                          </m:e>
                        </m:d>
                        <m:r>
                          <a:rPr lang="en-US" sz="2200" i="1">
                            <a:solidFill>
                              <a:schemeClr val="tx1"/>
                            </a:solidFill>
                            <a:latin typeface="Cambria Math" panose="02040503050406030204" pitchFamily="18" charset="0"/>
                          </a:rPr>
                          <m:t>+</m:t>
                        </m:r>
                        <m:func>
                          <m:funcPr>
                            <m:ctrlPr>
                              <a:rPr lang="en-US" sz="2200" i="1">
                                <a:solidFill>
                                  <a:schemeClr val="tx1"/>
                                </a:solidFill>
                                <a:latin typeface="Cambria Math" panose="02040503050406030204" pitchFamily="18" charset="0"/>
                              </a:rPr>
                            </m:ctrlPr>
                          </m:funcPr>
                          <m:fName>
                            <m:r>
                              <a:rPr lang="en-US" sz="2200" i="1">
                                <a:solidFill>
                                  <a:schemeClr val="tx1"/>
                                </a:solidFill>
                                <a:latin typeface="Cambria Math" panose="02040503050406030204" pitchFamily="18" charset="0"/>
                              </a:rPr>
                              <m:t>𝑠𝑖𝑛</m:t>
                            </m:r>
                          </m:fName>
                          <m:e>
                            <m:f>
                              <m:fPr>
                                <m:ctrlPr>
                                  <a:rPr lang="en-US" sz="2200" i="1">
                                    <a:solidFill>
                                      <a:schemeClr val="tx1"/>
                                    </a:solidFill>
                                    <a:latin typeface="Cambria Math" panose="02040503050406030204" pitchFamily="18" charset="0"/>
                                  </a:rPr>
                                </m:ctrlPr>
                              </m:fPr>
                              <m:num>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𝑥</m:t>
                                    </m:r>
                                  </m:e>
                                  <m:sub>
                                    <m:r>
                                      <a:rPr lang="sr-Latn-RS" sz="2200" b="0" i="1" smtClean="0">
                                        <a:solidFill>
                                          <a:schemeClr val="tx1"/>
                                        </a:solidFill>
                                        <a:latin typeface="Cambria Math" panose="02040503050406030204" pitchFamily="18" charset="0"/>
                                      </a:rPr>
                                      <m:t>1</m:t>
                                    </m:r>
                                  </m:sub>
                                </m:sSub>
                              </m:num>
                              <m:den>
                                <m:r>
                                  <a:rPr lang="en-US" sz="2200" i="1">
                                    <a:solidFill>
                                      <a:schemeClr val="tx1"/>
                                    </a:solidFill>
                                    <a:latin typeface="Cambria Math" panose="02040503050406030204" pitchFamily="18" charset="0"/>
                                  </a:rPr>
                                  <m:t>2</m:t>
                                </m:r>
                              </m:den>
                            </m:f>
                          </m:e>
                        </m:func>
                        <m:d>
                          <m:dPr>
                            <m:begChr m:val="|"/>
                            <m:endChr m:val="⟩"/>
                            <m:ctrlPr>
                              <a:rPr lang="en-US" sz="2200" i="1">
                                <a:solidFill>
                                  <a:schemeClr val="tx1"/>
                                </a:solidFill>
                                <a:latin typeface="Cambria Math" panose="02040503050406030204" pitchFamily="18" charset="0"/>
                              </a:rPr>
                            </m:ctrlPr>
                          </m:dPr>
                          <m:e>
                            <m:r>
                              <a:rPr lang="en-US" sz="2200" i="1">
                                <a:solidFill>
                                  <a:schemeClr val="tx1"/>
                                </a:solidFill>
                                <a:latin typeface="Cambria Math" panose="02040503050406030204" pitchFamily="18" charset="0"/>
                              </a:rPr>
                              <m:t>1</m:t>
                            </m:r>
                          </m:e>
                        </m:d>
                      </m:oMath>
                    </m:oMathPara>
                  </a14:m>
                  <a:endParaRPr lang="en-US" sz="2200" dirty="0">
                    <a:solidFill>
                      <a:schemeClr val="tx1"/>
                    </a:solidFill>
                  </a:endParaRPr>
                </a:p>
              </p:txBody>
            </p:sp>
          </mc:Choice>
          <mc:Fallback xmlns="">
            <p:sp>
              <p:nvSpPr>
                <p:cNvPr id="67" name="Rectangle 66">
                  <a:extLst>
                    <a:ext uri="{FF2B5EF4-FFF2-40B4-BE49-F238E27FC236}">
                      <a16:creationId xmlns:a16="http://schemas.microsoft.com/office/drawing/2014/main" id="{16D905ED-78B6-5447-9E21-808C9BD39A56}"/>
                    </a:ext>
                  </a:extLst>
                </p:cNvPr>
                <p:cNvSpPr>
                  <a:spLocks noRot="1" noChangeAspect="1" noMove="1" noResize="1" noEditPoints="1" noAdjustHandles="1" noChangeArrowheads="1" noChangeShapeType="1" noTextEdit="1"/>
                </p:cNvSpPr>
                <p:nvPr/>
              </p:nvSpPr>
              <p:spPr>
                <a:xfrm>
                  <a:off x="5735373" y="5388984"/>
                  <a:ext cx="6117636" cy="1296124"/>
                </a:xfrm>
                <a:prstGeom prst="rect">
                  <a:avLst/>
                </a:prstGeom>
                <a:blipFill>
                  <a:blip r:embed="rId10"/>
                  <a:stretch>
                    <a:fillRect b="-2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Rectangle 67">
                  <a:extLst>
                    <a:ext uri="{FF2B5EF4-FFF2-40B4-BE49-F238E27FC236}">
                      <a16:creationId xmlns:a16="http://schemas.microsoft.com/office/drawing/2014/main" id="{74914670-0B38-3C48-8B75-B51B01E8DDB1}"/>
                    </a:ext>
                  </a:extLst>
                </p:cNvPr>
                <p:cNvSpPr/>
                <p:nvPr/>
              </p:nvSpPr>
              <p:spPr>
                <a:xfrm>
                  <a:off x="9780157" y="4836033"/>
                  <a:ext cx="635109"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ea typeface="Cambria Math" panose="02040503050406030204" pitchFamily="18" charset="0"/>
                          </a:rPr>
                          <m:t>⨂</m:t>
                        </m:r>
                      </m:oMath>
                    </m:oMathPara>
                  </a14:m>
                  <a:endParaRPr lang="en-US" sz="3200" dirty="0"/>
                </a:p>
              </p:txBody>
            </p:sp>
          </mc:Choice>
          <mc:Fallback xmlns="">
            <p:sp>
              <p:nvSpPr>
                <p:cNvPr id="68" name="Rectangle 67">
                  <a:extLst>
                    <a:ext uri="{FF2B5EF4-FFF2-40B4-BE49-F238E27FC236}">
                      <a16:creationId xmlns:a16="http://schemas.microsoft.com/office/drawing/2014/main" id="{74914670-0B38-3C48-8B75-B51B01E8DDB1}"/>
                    </a:ext>
                  </a:extLst>
                </p:cNvPr>
                <p:cNvSpPr>
                  <a:spLocks noRot="1" noChangeAspect="1" noMove="1" noResize="1" noEditPoints="1" noAdjustHandles="1" noChangeArrowheads="1" noChangeShapeType="1" noTextEdit="1"/>
                </p:cNvSpPr>
                <p:nvPr/>
              </p:nvSpPr>
              <p:spPr>
                <a:xfrm>
                  <a:off x="9780157" y="4836033"/>
                  <a:ext cx="635109" cy="584775"/>
                </a:xfrm>
                <a:prstGeom prst="rect">
                  <a:avLst/>
                </a:prstGeom>
                <a:blipFill>
                  <a:blip r:embed="rId12"/>
                  <a:stretch>
                    <a:fillRect l="-1961" r="-1961" b="-4255"/>
                  </a:stretch>
                </a:blipFill>
              </p:spPr>
              <p:txBody>
                <a:bodyPr/>
                <a:lstStyle/>
                <a:p>
                  <a:r>
                    <a:rPr lang="en-US">
                      <a:noFill/>
                    </a:rPr>
                    <a:t> </a:t>
                  </a:r>
                </a:p>
              </p:txBody>
            </p:sp>
          </mc:Fallback>
        </mc:AlternateContent>
        <p:sp>
          <p:nvSpPr>
            <p:cNvPr id="75" name="Right Brace 74">
              <a:extLst>
                <a:ext uri="{FF2B5EF4-FFF2-40B4-BE49-F238E27FC236}">
                  <a16:creationId xmlns:a16="http://schemas.microsoft.com/office/drawing/2014/main" id="{612E37ED-6AC2-8D47-B1F8-4A50C12B2F33}"/>
                </a:ext>
              </a:extLst>
            </p:cNvPr>
            <p:cNvSpPr/>
            <p:nvPr/>
          </p:nvSpPr>
          <p:spPr>
            <a:xfrm>
              <a:off x="5065260" y="4018176"/>
              <a:ext cx="421501" cy="2474699"/>
            </a:xfrm>
            <a:prstGeom prst="rightBrace">
              <a:avLst>
                <a:gd name="adj1" fmla="val 52071"/>
                <a:gd name="adj2" fmla="val 50000"/>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1B591EEF-0993-6F47-AF0C-C8136152A186}"/>
                  </a:ext>
                </a:extLst>
              </p:cNvPr>
              <p:cNvSpPr/>
              <p:nvPr/>
            </p:nvSpPr>
            <p:spPr>
              <a:xfrm>
                <a:off x="2034660" y="2971294"/>
                <a:ext cx="206755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𝑥</m:t>
                      </m:r>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sr-Latn-RS" sz="2800" b="0" i="1" smtClean="0">
                              <a:latin typeface="Cambria Math" panose="02040503050406030204" pitchFamily="18" charset="0"/>
                            </a:rPr>
                            <m:t>0</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sr-Latn-RS" sz="2800" b="0" i="1" smtClean="0">
                              <a:latin typeface="Cambria Math" panose="02040503050406030204" pitchFamily="18" charset="0"/>
                            </a:rPr>
                            <m:t>1</m:t>
                          </m:r>
                        </m:sub>
                      </m:sSub>
                      <m:r>
                        <a:rPr lang="en-US" sz="2800" b="0" i="1" smtClean="0">
                          <a:latin typeface="Cambria Math" panose="02040503050406030204" pitchFamily="18" charset="0"/>
                        </a:rPr>
                        <m:t>)</m:t>
                      </m:r>
                    </m:oMath>
                  </m:oMathPara>
                </a14:m>
                <a:endParaRPr lang="en-US" sz="2800" dirty="0"/>
              </a:p>
            </p:txBody>
          </p:sp>
        </mc:Choice>
        <mc:Fallback xmlns="">
          <p:sp>
            <p:nvSpPr>
              <p:cNvPr id="7" name="Rectangle 6">
                <a:extLst>
                  <a:ext uri="{FF2B5EF4-FFF2-40B4-BE49-F238E27FC236}">
                    <a16:creationId xmlns:a16="http://schemas.microsoft.com/office/drawing/2014/main" id="{1B591EEF-0993-6F47-AF0C-C8136152A186}"/>
                  </a:ext>
                </a:extLst>
              </p:cNvPr>
              <p:cNvSpPr>
                <a:spLocks noRot="1" noChangeAspect="1" noMove="1" noResize="1" noEditPoints="1" noAdjustHandles="1" noChangeArrowheads="1" noChangeShapeType="1" noTextEdit="1"/>
              </p:cNvSpPr>
              <p:nvPr/>
            </p:nvSpPr>
            <p:spPr>
              <a:xfrm>
                <a:off x="2034660" y="2971294"/>
                <a:ext cx="2067554" cy="523220"/>
              </a:xfrm>
              <a:prstGeom prst="rect">
                <a:avLst/>
              </a:prstGeom>
              <a:blipFill>
                <a:blip r:embed="rId13"/>
                <a:stretch>
                  <a:fillRect r="-610" b="-16667"/>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6B948AA2-8172-2044-BCB0-AC1C667B9303}"/>
              </a:ext>
            </a:extLst>
          </p:cNvPr>
          <p:cNvGrpSpPr/>
          <p:nvPr/>
        </p:nvGrpSpPr>
        <p:grpSpPr>
          <a:xfrm>
            <a:off x="496086" y="3929386"/>
            <a:ext cx="4472882" cy="2555614"/>
            <a:chOff x="496086" y="3929386"/>
            <a:chExt cx="4472882" cy="2555614"/>
          </a:xfrm>
        </p:grpSpPr>
        <p:grpSp>
          <p:nvGrpSpPr>
            <p:cNvPr id="77" name="Group 76">
              <a:extLst>
                <a:ext uri="{FF2B5EF4-FFF2-40B4-BE49-F238E27FC236}">
                  <a16:creationId xmlns:a16="http://schemas.microsoft.com/office/drawing/2014/main" id="{AE7E7392-0C85-1A45-9F0A-4999BF16B273}"/>
                </a:ext>
              </a:extLst>
            </p:cNvPr>
            <p:cNvGrpSpPr/>
            <p:nvPr/>
          </p:nvGrpSpPr>
          <p:grpSpPr>
            <a:xfrm>
              <a:off x="496086" y="4010301"/>
              <a:ext cx="4472882" cy="2474699"/>
              <a:chOff x="496086" y="4010301"/>
              <a:chExt cx="4472882" cy="2474699"/>
            </a:xfrm>
          </p:grpSpPr>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076505F3-38FE-684A-98D8-6C7DA1BBBE0C}"/>
                      </a:ext>
                    </a:extLst>
                  </p:cNvPr>
                  <p:cNvSpPr/>
                  <p:nvPr/>
                </p:nvSpPr>
                <p:spPr>
                  <a:xfrm>
                    <a:off x="496086" y="4137136"/>
                    <a:ext cx="85574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600" i="1" smtClean="0">
                                  <a:latin typeface="Cambria Math" panose="02040503050406030204" pitchFamily="18" charset="0"/>
                                </a:rPr>
                              </m:ctrlPr>
                            </m:dPr>
                            <m:e>
                              <m:r>
                                <a:rPr lang="en-US" sz="3600" b="0" i="1" smtClean="0">
                                  <a:latin typeface="Cambria Math" panose="02040503050406030204" pitchFamily="18" charset="0"/>
                                </a:rPr>
                                <m:t>0</m:t>
                              </m:r>
                            </m:e>
                          </m:d>
                        </m:oMath>
                      </m:oMathPara>
                    </a14:m>
                    <a:endParaRPr lang="en-US" sz="3600" dirty="0"/>
                  </a:p>
                </p:txBody>
              </p:sp>
            </mc:Choice>
            <mc:Fallback xmlns="">
              <p:sp>
                <p:nvSpPr>
                  <p:cNvPr id="32" name="Rectangle 31">
                    <a:extLst>
                      <a:ext uri="{FF2B5EF4-FFF2-40B4-BE49-F238E27FC236}">
                        <a16:creationId xmlns:a16="http://schemas.microsoft.com/office/drawing/2014/main" id="{076505F3-38FE-684A-98D8-6C7DA1BBBE0C}"/>
                      </a:ext>
                    </a:extLst>
                  </p:cNvPr>
                  <p:cNvSpPr>
                    <a:spLocks noRot="1" noChangeAspect="1" noMove="1" noResize="1" noEditPoints="1" noAdjustHandles="1" noChangeArrowheads="1" noChangeShapeType="1" noTextEdit="1"/>
                  </p:cNvSpPr>
                  <p:nvPr/>
                </p:nvSpPr>
                <p:spPr>
                  <a:xfrm>
                    <a:off x="496086" y="4137136"/>
                    <a:ext cx="855747" cy="646331"/>
                  </a:xfrm>
                  <a:prstGeom prst="rect">
                    <a:avLst/>
                  </a:prstGeom>
                  <a:blipFill>
                    <a:blip r:embed="rId3"/>
                    <a:stretch>
                      <a:fillRect/>
                    </a:stretch>
                  </a:blipFill>
                </p:spPr>
                <p:txBody>
                  <a:bodyPr/>
                  <a:lstStyle/>
                  <a:p>
                    <a:r>
                      <a:rPr lang="en-US">
                        <a:noFill/>
                      </a:rPr>
                      <a:t> </a:t>
                    </a:r>
                  </a:p>
                </p:txBody>
              </p:sp>
            </mc:Fallback>
          </mc:AlternateContent>
          <p:cxnSp>
            <p:nvCxnSpPr>
              <p:cNvPr id="35" name="Straight Connector 34">
                <a:extLst>
                  <a:ext uri="{FF2B5EF4-FFF2-40B4-BE49-F238E27FC236}">
                    <a16:creationId xmlns:a16="http://schemas.microsoft.com/office/drawing/2014/main" id="{821FA675-D54B-DA4B-8DC7-58099A8BEFBA}"/>
                  </a:ext>
                </a:extLst>
              </p:cNvPr>
              <p:cNvCxnSpPr>
                <a:cxnSpLocks/>
              </p:cNvCxnSpPr>
              <p:nvPr/>
            </p:nvCxnSpPr>
            <p:spPr>
              <a:xfrm flipV="1">
                <a:off x="1367646" y="4460301"/>
                <a:ext cx="36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0F41611-DB88-5D41-9127-796E03071F30}"/>
                  </a:ext>
                </a:extLst>
              </p:cNvPr>
              <p:cNvCxnSpPr>
                <a:cxnSpLocks/>
              </p:cNvCxnSpPr>
              <p:nvPr/>
            </p:nvCxnSpPr>
            <p:spPr>
              <a:xfrm>
                <a:off x="1368968" y="6064614"/>
                <a:ext cx="36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A8040F78-EB15-0546-B66F-0C27E474DE20}"/>
                      </a:ext>
                    </a:extLst>
                  </p:cNvPr>
                  <p:cNvSpPr/>
                  <p:nvPr/>
                </p:nvSpPr>
                <p:spPr>
                  <a:xfrm>
                    <a:off x="513221" y="5741448"/>
                    <a:ext cx="85574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600" i="1" smtClean="0">
                                  <a:latin typeface="Cambria Math" panose="02040503050406030204" pitchFamily="18" charset="0"/>
                                </a:rPr>
                              </m:ctrlPr>
                            </m:dPr>
                            <m:e>
                              <m:r>
                                <a:rPr lang="en-US" sz="3600" b="0" i="1" smtClean="0">
                                  <a:latin typeface="Cambria Math" panose="02040503050406030204" pitchFamily="18" charset="0"/>
                                </a:rPr>
                                <m:t>0</m:t>
                              </m:r>
                            </m:e>
                          </m:d>
                        </m:oMath>
                      </m:oMathPara>
                    </a14:m>
                    <a:endParaRPr lang="en-US" sz="3600" dirty="0"/>
                  </a:p>
                </p:txBody>
              </p:sp>
            </mc:Choice>
            <mc:Fallback xmlns="">
              <p:sp>
                <p:nvSpPr>
                  <p:cNvPr id="40" name="Rectangle 39">
                    <a:extLst>
                      <a:ext uri="{FF2B5EF4-FFF2-40B4-BE49-F238E27FC236}">
                        <a16:creationId xmlns:a16="http://schemas.microsoft.com/office/drawing/2014/main" id="{A8040F78-EB15-0546-B66F-0C27E474DE20}"/>
                      </a:ext>
                    </a:extLst>
                  </p:cNvPr>
                  <p:cNvSpPr>
                    <a:spLocks noRot="1" noChangeAspect="1" noMove="1" noResize="1" noEditPoints="1" noAdjustHandles="1" noChangeArrowheads="1" noChangeShapeType="1" noTextEdit="1"/>
                  </p:cNvSpPr>
                  <p:nvPr/>
                </p:nvSpPr>
                <p:spPr>
                  <a:xfrm>
                    <a:off x="513221" y="5741448"/>
                    <a:ext cx="855747" cy="646331"/>
                  </a:xfrm>
                  <a:prstGeom prst="rect">
                    <a:avLst/>
                  </a:prstGeom>
                  <a:blipFill>
                    <a:blip r:embed="rId4"/>
                    <a:stretch>
                      <a:fillRect/>
                    </a:stretch>
                  </a:blipFill>
                </p:spPr>
                <p:txBody>
                  <a:bodyPr/>
                  <a:lstStyle/>
                  <a:p>
                    <a:r>
                      <a:rPr lang="en-US">
                        <a:noFill/>
                      </a:rPr>
                      <a:t> </a:t>
                    </a:r>
                  </a:p>
                </p:txBody>
              </p:sp>
            </mc:Fallback>
          </mc:AlternateContent>
          <p:sp>
            <p:nvSpPr>
              <p:cNvPr id="43" name="Rectangle 42">
                <a:extLst>
                  <a:ext uri="{FF2B5EF4-FFF2-40B4-BE49-F238E27FC236}">
                    <a16:creationId xmlns:a16="http://schemas.microsoft.com/office/drawing/2014/main" id="{6DBA325A-FB2D-9F48-927D-35FF19B9D3D7}"/>
                  </a:ext>
                </a:extLst>
              </p:cNvPr>
              <p:cNvSpPr/>
              <p:nvPr/>
            </p:nvSpPr>
            <p:spPr>
              <a:xfrm>
                <a:off x="1857044" y="4010301"/>
                <a:ext cx="2520000" cy="90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927ADFD4-64AC-3649-BB87-4CA90F770CE0}"/>
                      </a:ext>
                    </a:extLst>
                  </p:cNvPr>
                  <p:cNvSpPr/>
                  <p:nvPr/>
                </p:nvSpPr>
                <p:spPr>
                  <a:xfrm>
                    <a:off x="2084771" y="4133016"/>
                    <a:ext cx="2110006" cy="64633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3600">
                              <a:solidFill>
                                <a:schemeClr val="bg1"/>
                              </a:solidFill>
                              <a:latin typeface="Cambria Math" panose="02040503050406030204" pitchFamily="18" charset="0"/>
                            </a:rPr>
                            <m:t>RY</m:t>
                          </m:r>
                          <m:d>
                            <m:dPr>
                              <m:ctrlPr>
                                <a:rPr lang="en-US" sz="3600" i="1" smtClean="0">
                                  <a:solidFill>
                                    <a:schemeClr val="bg1"/>
                                  </a:solidFill>
                                  <a:latin typeface="Cambria Math" panose="02040503050406030204" pitchFamily="18" charset="0"/>
                                </a:rPr>
                              </m:ctrlPr>
                            </m:dPr>
                            <m:e>
                              <m:sSub>
                                <m:sSubPr>
                                  <m:ctrlPr>
                                    <a:rPr lang="en-US" sz="3600" i="1">
                                      <a:solidFill>
                                        <a:schemeClr val="bg1"/>
                                      </a:solidFill>
                                      <a:latin typeface="Cambria Math" panose="02040503050406030204" pitchFamily="18" charset="0"/>
                                    </a:rPr>
                                  </m:ctrlPr>
                                </m:sSubPr>
                                <m:e>
                                  <m:r>
                                    <a:rPr lang="en-US" sz="3600" i="1">
                                      <a:solidFill>
                                        <a:schemeClr val="bg1"/>
                                      </a:solidFill>
                                      <a:latin typeface="Cambria Math" panose="02040503050406030204" pitchFamily="18" charset="0"/>
                                    </a:rPr>
                                    <m:t>𝑥</m:t>
                                  </m:r>
                                </m:e>
                                <m:sub>
                                  <m:r>
                                    <a:rPr lang="sr-Latn-RS" sz="3600" b="0" i="1" smtClean="0">
                                      <a:solidFill>
                                        <a:schemeClr val="bg1"/>
                                      </a:solidFill>
                                      <a:latin typeface="Cambria Math" panose="02040503050406030204" pitchFamily="18" charset="0"/>
                                    </a:rPr>
                                    <m:t>0</m:t>
                                  </m:r>
                                </m:sub>
                              </m:sSub>
                            </m:e>
                          </m:d>
                        </m:oMath>
                      </m:oMathPara>
                    </a14:m>
                    <a:endParaRPr lang="en-US" sz="3600" dirty="0">
                      <a:solidFill>
                        <a:schemeClr val="bg1"/>
                      </a:solidFill>
                    </a:endParaRPr>
                  </a:p>
                </p:txBody>
              </p:sp>
            </mc:Choice>
            <mc:Fallback xmlns="">
              <p:sp>
                <p:nvSpPr>
                  <p:cNvPr id="15" name="Rectangle 14">
                    <a:extLst>
                      <a:ext uri="{FF2B5EF4-FFF2-40B4-BE49-F238E27FC236}">
                        <a16:creationId xmlns:a16="http://schemas.microsoft.com/office/drawing/2014/main" id="{927ADFD4-64AC-3649-BB87-4CA90F770CE0}"/>
                      </a:ext>
                    </a:extLst>
                  </p:cNvPr>
                  <p:cNvSpPr>
                    <a:spLocks noRot="1" noChangeAspect="1" noMove="1" noResize="1" noEditPoints="1" noAdjustHandles="1" noChangeArrowheads="1" noChangeShapeType="1" noTextEdit="1"/>
                  </p:cNvSpPr>
                  <p:nvPr/>
                </p:nvSpPr>
                <p:spPr>
                  <a:xfrm>
                    <a:off x="2084771" y="4133016"/>
                    <a:ext cx="2110006" cy="646331"/>
                  </a:xfrm>
                  <a:prstGeom prst="rect">
                    <a:avLst/>
                  </a:prstGeom>
                  <a:blipFill>
                    <a:blip r:embed="rId14"/>
                    <a:stretch>
                      <a:fillRect b="-5769"/>
                    </a:stretch>
                  </a:blipFill>
                </p:spPr>
                <p:txBody>
                  <a:bodyPr/>
                  <a:lstStyle/>
                  <a:p>
                    <a:r>
                      <a:rPr lang="en-US">
                        <a:noFill/>
                      </a:rPr>
                      <a:t> </a:t>
                    </a:r>
                  </a:p>
                </p:txBody>
              </p:sp>
            </mc:Fallback>
          </mc:AlternateContent>
          <p:sp>
            <p:nvSpPr>
              <p:cNvPr id="45" name="Rectangle 44">
                <a:extLst>
                  <a:ext uri="{FF2B5EF4-FFF2-40B4-BE49-F238E27FC236}">
                    <a16:creationId xmlns:a16="http://schemas.microsoft.com/office/drawing/2014/main" id="{794D4D22-1395-5F43-B840-FB530E86ECBB}"/>
                  </a:ext>
                </a:extLst>
              </p:cNvPr>
              <p:cNvSpPr/>
              <p:nvPr/>
            </p:nvSpPr>
            <p:spPr>
              <a:xfrm>
                <a:off x="1857044" y="5585000"/>
                <a:ext cx="2520000" cy="90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6592D5AE-7AA5-C848-AE4D-5903FFA99DB8}"/>
                      </a:ext>
                    </a:extLst>
                  </p:cNvPr>
                  <p:cNvSpPr/>
                  <p:nvPr/>
                </p:nvSpPr>
                <p:spPr>
                  <a:xfrm>
                    <a:off x="1960685" y="5692465"/>
                    <a:ext cx="2365718" cy="64633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3600">
                              <a:solidFill>
                                <a:schemeClr val="bg1"/>
                              </a:solidFill>
                              <a:latin typeface="Cambria Math" panose="02040503050406030204" pitchFamily="18" charset="0"/>
                            </a:rPr>
                            <m:t>RY</m:t>
                          </m:r>
                          <m:d>
                            <m:dPr>
                              <m:ctrlPr>
                                <a:rPr lang="en-US" sz="3600" i="1" smtClean="0">
                                  <a:solidFill>
                                    <a:schemeClr val="bg1"/>
                                  </a:solidFill>
                                  <a:latin typeface="Cambria Math" panose="02040503050406030204" pitchFamily="18" charset="0"/>
                                </a:rPr>
                              </m:ctrlPr>
                            </m:dPr>
                            <m:e>
                              <m:sSub>
                                <m:sSubPr>
                                  <m:ctrlPr>
                                    <a:rPr lang="en-US" sz="3600" i="1">
                                      <a:solidFill>
                                        <a:schemeClr val="bg1"/>
                                      </a:solidFill>
                                      <a:latin typeface="Cambria Math" panose="02040503050406030204" pitchFamily="18" charset="0"/>
                                    </a:rPr>
                                  </m:ctrlPr>
                                </m:sSubPr>
                                <m:e>
                                  <m:r>
                                    <a:rPr lang="en-US" sz="3600" i="1">
                                      <a:solidFill>
                                        <a:schemeClr val="bg1"/>
                                      </a:solidFill>
                                      <a:latin typeface="Cambria Math" panose="02040503050406030204" pitchFamily="18" charset="0"/>
                                    </a:rPr>
                                    <m:t>𝑥</m:t>
                                  </m:r>
                                </m:e>
                                <m:sub>
                                  <m:r>
                                    <a:rPr lang="sr-Latn-RS" sz="3600" b="0" i="1" smtClean="0">
                                      <a:solidFill>
                                        <a:schemeClr val="bg1"/>
                                      </a:solidFill>
                                      <a:latin typeface="Cambria Math" panose="02040503050406030204" pitchFamily="18" charset="0"/>
                                    </a:rPr>
                                    <m:t>1</m:t>
                                  </m:r>
                                </m:sub>
                              </m:sSub>
                            </m:e>
                          </m:d>
                        </m:oMath>
                      </m:oMathPara>
                    </a14:m>
                    <a:endParaRPr lang="en-US" sz="3600" dirty="0">
                      <a:solidFill>
                        <a:schemeClr val="bg1"/>
                      </a:solidFill>
                    </a:endParaRPr>
                  </a:p>
                </p:txBody>
              </p:sp>
            </mc:Choice>
            <mc:Fallback xmlns="">
              <p:sp>
                <p:nvSpPr>
                  <p:cNvPr id="46" name="Rectangle 45">
                    <a:extLst>
                      <a:ext uri="{FF2B5EF4-FFF2-40B4-BE49-F238E27FC236}">
                        <a16:creationId xmlns:a16="http://schemas.microsoft.com/office/drawing/2014/main" id="{6592D5AE-7AA5-C848-AE4D-5903FFA99DB8}"/>
                      </a:ext>
                    </a:extLst>
                  </p:cNvPr>
                  <p:cNvSpPr>
                    <a:spLocks noRot="1" noChangeAspect="1" noMove="1" noResize="1" noEditPoints="1" noAdjustHandles="1" noChangeArrowheads="1" noChangeShapeType="1" noTextEdit="1"/>
                  </p:cNvSpPr>
                  <p:nvPr/>
                </p:nvSpPr>
                <p:spPr>
                  <a:xfrm>
                    <a:off x="1960685" y="5692465"/>
                    <a:ext cx="2365718" cy="646331"/>
                  </a:xfrm>
                  <a:prstGeom prst="rect">
                    <a:avLst/>
                  </a:prstGeom>
                  <a:blipFill>
                    <a:blip r:embed="rId15"/>
                    <a:stretch>
                      <a:fillRect b="-5769"/>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C39139F5-16F3-CD40-9EA1-7E193078A7D5}"/>
                    </a:ext>
                  </a:extLst>
                </p:cNvPr>
                <p:cNvSpPr/>
                <p:nvPr/>
              </p:nvSpPr>
              <p:spPr>
                <a:xfrm>
                  <a:off x="1235815" y="3929386"/>
                  <a:ext cx="55528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sr-Latn-RS" sz="2400" i="1">
                                <a:latin typeface="Cambria Math" panose="02040503050406030204" pitchFamily="18" charset="0"/>
                              </a:rPr>
                              <m:t>𝑞</m:t>
                            </m:r>
                          </m:e>
                          <m:sub>
                            <m:r>
                              <a:rPr lang="sr-Latn-RS" sz="2400" b="0" i="1" smtClean="0">
                                <a:latin typeface="Cambria Math" panose="02040503050406030204" pitchFamily="18" charset="0"/>
                              </a:rPr>
                              <m:t>0</m:t>
                            </m:r>
                          </m:sub>
                        </m:sSub>
                      </m:oMath>
                    </m:oMathPara>
                  </a14:m>
                  <a:endParaRPr lang="en-US" sz="2400" dirty="0"/>
                </a:p>
              </p:txBody>
            </p:sp>
          </mc:Choice>
          <mc:Fallback xmlns="">
            <p:sp>
              <p:nvSpPr>
                <p:cNvPr id="6" name="Rectangle 5">
                  <a:extLst>
                    <a:ext uri="{FF2B5EF4-FFF2-40B4-BE49-F238E27FC236}">
                      <a16:creationId xmlns:a16="http://schemas.microsoft.com/office/drawing/2014/main" id="{C39139F5-16F3-CD40-9EA1-7E193078A7D5}"/>
                    </a:ext>
                  </a:extLst>
                </p:cNvPr>
                <p:cNvSpPr>
                  <a:spLocks noRot="1" noChangeAspect="1" noMove="1" noResize="1" noEditPoints="1" noAdjustHandles="1" noChangeArrowheads="1" noChangeShapeType="1" noTextEdit="1"/>
                </p:cNvSpPr>
                <p:nvPr/>
              </p:nvSpPr>
              <p:spPr>
                <a:xfrm>
                  <a:off x="1235815" y="3929386"/>
                  <a:ext cx="555280" cy="461665"/>
                </a:xfrm>
                <a:prstGeom prst="rect">
                  <a:avLst/>
                </a:prstGeom>
                <a:blipFill>
                  <a:blip r:embed="rId18"/>
                  <a:stretch>
                    <a:fillRect b="-7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F6FDB4D9-58FB-8F44-B4D8-40E34EA8FB4F}"/>
                    </a:ext>
                  </a:extLst>
                </p:cNvPr>
                <p:cNvSpPr/>
                <p:nvPr/>
              </p:nvSpPr>
              <p:spPr>
                <a:xfrm>
                  <a:off x="1246745" y="5510615"/>
                  <a:ext cx="54816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sr-Latn-RS" sz="2400" i="1">
                                <a:latin typeface="Cambria Math" panose="02040503050406030204" pitchFamily="18" charset="0"/>
                              </a:rPr>
                              <m:t>𝑞</m:t>
                            </m:r>
                          </m:e>
                          <m:sub>
                            <m:r>
                              <a:rPr lang="sr-Latn-RS" sz="2400" b="0" i="1" smtClean="0">
                                <a:latin typeface="Cambria Math" panose="02040503050406030204" pitchFamily="18" charset="0"/>
                              </a:rPr>
                              <m:t>1</m:t>
                            </m:r>
                          </m:sub>
                        </m:sSub>
                      </m:oMath>
                    </m:oMathPara>
                  </a14:m>
                  <a:endParaRPr lang="en-US" sz="2400" dirty="0"/>
                </a:p>
              </p:txBody>
            </p:sp>
          </mc:Choice>
          <mc:Fallback xmlns="">
            <p:sp>
              <p:nvSpPr>
                <p:cNvPr id="48" name="Rectangle 47">
                  <a:extLst>
                    <a:ext uri="{FF2B5EF4-FFF2-40B4-BE49-F238E27FC236}">
                      <a16:creationId xmlns:a16="http://schemas.microsoft.com/office/drawing/2014/main" id="{F6FDB4D9-58FB-8F44-B4D8-40E34EA8FB4F}"/>
                    </a:ext>
                  </a:extLst>
                </p:cNvPr>
                <p:cNvSpPr>
                  <a:spLocks noRot="1" noChangeAspect="1" noMove="1" noResize="1" noEditPoints="1" noAdjustHandles="1" noChangeArrowheads="1" noChangeShapeType="1" noTextEdit="1"/>
                </p:cNvSpPr>
                <p:nvPr/>
              </p:nvSpPr>
              <p:spPr>
                <a:xfrm>
                  <a:off x="1246745" y="5510615"/>
                  <a:ext cx="548163" cy="461665"/>
                </a:xfrm>
                <a:prstGeom prst="rect">
                  <a:avLst/>
                </a:prstGeom>
                <a:blipFill>
                  <a:blip r:embed="rId19"/>
                  <a:stretch>
                    <a:fillRect b="-8108"/>
                  </a:stretch>
                </a:blipFill>
              </p:spPr>
              <p:txBody>
                <a:bodyPr/>
                <a:lstStyle/>
                <a:p>
                  <a:r>
                    <a:rPr lang="en-US">
                      <a:noFill/>
                    </a:rPr>
                    <a:t> </a:t>
                  </a:r>
                </a:p>
              </p:txBody>
            </p:sp>
          </mc:Fallback>
        </mc:AlternateContent>
      </p:grpSp>
      <p:sp>
        <p:nvSpPr>
          <p:cNvPr id="36" name="Oval 35">
            <a:extLst>
              <a:ext uri="{FF2B5EF4-FFF2-40B4-BE49-F238E27FC236}">
                <a16:creationId xmlns:a16="http://schemas.microsoft.com/office/drawing/2014/main" id="{502324D9-0BD9-D449-AF56-07E21AA05045}"/>
              </a:ext>
            </a:extLst>
          </p:cNvPr>
          <p:cNvSpPr/>
          <p:nvPr/>
        </p:nvSpPr>
        <p:spPr>
          <a:xfrm>
            <a:off x="7775573" y="1735968"/>
            <a:ext cx="2208351" cy="839284"/>
          </a:xfrm>
          <a:prstGeom prst="ellipse">
            <a:avLst/>
          </a:prstGeom>
          <a:solidFill>
            <a:schemeClr val="bg1">
              <a:lumMod val="95000"/>
              <a:alpha val="54000"/>
            </a:schemeClr>
          </a:solid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7" name="Parallelogram 109">
            <a:extLst>
              <a:ext uri="{FF2B5EF4-FFF2-40B4-BE49-F238E27FC236}">
                <a16:creationId xmlns:a16="http://schemas.microsoft.com/office/drawing/2014/main" id="{438E2D66-0A6A-F043-9F27-CD797B6C2080}"/>
              </a:ext>
            </a:extLst>
          </p:cNvPr>
          <p:cNvSpPr/>
          <p:nvPr/>
        </p:nvSpPr>
        <p:spPr>
          <a:xfrm rot="21030453">
            <a:off x="8688403" y="903763"/>
            <a:ext cx="569739" cy="1227675"/>
          </a:xfrm>
          <a:custGeom>
            <a:avLst/>
            <a:gdLst>
              <a:gd name="connsiteX0" fmla="*/ 0 w 1251599"/>
              <a:gd name="connsiteY0" fmla="*/ 1553702 h 1553702"/>
              <a:gd name="connsiteX1" fmla="*/ 279482 w 1251599"/>
              <a:gd name="connsiteY1" fmla="*/ 0 h 1553702"/>
              <a:gd name="connsiteX2" fmla="*/ 1251599 w 1251599"/>
              <a:gd name="connsiteY2" fmla="*/ 0 h 1553702"/>
              <a:gd name="connsiteX3" fmla="*/ 972117 w 1251599"/>
              <a:gd name="connsiteY3" fmla="*/ 1553702 h 1553702"/>
              <a:gd name="connsiteX4" fmla="*/ 0 w 1251599"/>
              <a:gd name="connsiteY4" fmla="*/ 1553702 h 1553702"/>
              <a:gd name="connsiteX0" fmla="*/ 0 w 1584484"/>
              <a:gd name="connsiteY0" fmla="*/ 2497243 h 2497243"/>
              <a:gd name="connsiteX1" fmla="*/ 612367 w 1584484"/>
              <a:gd name="connsiteY1" fmla="*/ 0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36210 w 1584484"/>
              <a:gd name="connsiteY1" fmla="*/ 647876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346472 w 1584484"/>
              <a:gd name="connsiteY1" fmla="*/ 604506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09369 w 1584484"/>
              <a:gd name="connsiteY1" fmla="*/ 870011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44459 w 1584484"/>
              <a:gd name="connsiteY1" fmla="*/ 844975 h 2497243"/>
              <a:gd name="connsiteX2" fmla="*/ 1584484 w 1584484"/>
              <a:gd name="connsiteY2" fmla="*/ 0 h 2497243"/>
              <a:gd name="connsiteX3" fmla="*/ 1305002 w 1584484"/>
              <a:gd name="connsiteY3" fmla="*/ 1553702 h 2497243"/>
              <a:gd name="connsiteX4" fmla="*/ 0 w 1584484"/>
              <a:gd name="connsiteY4" fmla="*/ 2497243 h 2497243"/>
              <a:gd name="connsiteX0" fmla="*/ 98089 w 1340025"/>
              <a:gd name="connsiteY0" fmla="*/ 2235187 h 2235187"/>
              <a:gd name="connsiteX1" fmla="*/ 0 w 1340025"/>
              <a:gd name="connsiteY1" fmla="*/ 844975 h 2235187"/>
              <a:gd name="connsiteX2" fmla="*/ 1340025 w 1340025"/>
              <a:gd name="connsiteY2" fmla="*/ 0 h 2235187"/>
              <a:gd name="connsiteX3" fmla="*/ 1060543 w 1340025"/>
              <a:gd name="connsiteY3" fmla="*/ 1553702 h 2235187"/>
              <a:gd name="connsiteX4" fmla="*/ 98089 w 1340025"/>
              <a:gd name="connsiteY4" fmla="*/ 2235187 h 2235187"/>
              <a:gd name="connsiteX0" fmla="*/ 0 w 1241936"/>
              <a:gd name="connsiteY0" fmla="*/ 2235187 h 2235187"/>
              <a:gd name="connsiteX1" fmla="*/ 154206 w 1241936"/>
              <a:gd name="connsiteY1" fmla="*/ 691441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157622 w 1241936"/>
              <a:gd name="connsiteY1" fmla="*/ 547797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11012 w 1241936"/>
              <a:gd name="connsiteY1" fmla="*/ 659735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37691 w 1241936"/>
              <a:gd name="connsiteY1" fmla="*/ 746604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37691 w 1241936"/>
              <a:gd name="connsiteY1" fmla="*/ 746604 h 2235187"/>
              <a:gd name="connsiteX2" fmla="*/ 1241936 w 1241936"/>
              <a:gd name="connsiteY2" fmla="*/ 0 h 2235187"/>
              <a:gd name="connsiteX3" fmla="*/ 949042 w 1241936"/>
              <a:gd name="connsiteY3" fmla="*/ 1534904 h 2235187"/>
              <a:gd name="connsiteX4" fmla="*/ 0 w 1241936"/>
              <a:gd name="connsiteY4" fmla="*/ 2235187 h 2235187"/>
              <a:gd name="connsiteX0" fmla="*/ 0 w 1224933"/>
              <a:gd name="connsiteY0" fmla="*/ 2232511 h 2232511"/>
              <a:gd name="connsiteX1" fmla="*/ 237691 w 1224933"/>
              <a:gd name="connsiteY1" fmla="*/ 743928 h 2232511"/>
              <a:gd name="connsiteX2" fmla="*/ 1224933 w 1224933"/>
              <a:gd name="connsiteY2" fmla="*/ 0 h 2232511"/>
              <a:gd name="connsiteX3" fmla="*/ 949042 w 1224933"/>
              <a:gd name="connsiteY3" fmla="*/ 1532228 h 2232511"/>
              <a:gd name="connsiteX4" fmla="*/ 0 w 1224933"/>
              <a:gd name="connsiteY4" fmla="*/ 2232511 h 2232511"/>
              <a:gd name="connsiteX0" fmla="*/ 0 w 1279925"/>
              <a:gd name="connsiteY0" fmla="*/ 2165460 h 2165460"/>
              <a:gd name="connsiteX1" fmla="*/ 237691 w 1279925"/>
              <a:gd name="connsiteY1" fmla="*/ 676877 h 2165460"/>
              <a:gd name="connsiteX2" fmla="*/ 1279925 w 1279925"/>
              <a:gd name="connsiteY2" fmla="*/ 0 h 2165460"/>
              <a:gd name="connsiteX3" fmla="*/ 949042 w 1279925"/>
              <a:gd name="connsiteY3" fmla="*/ 1465177 h 2165460"/>
              <a:gd name="connsiteX4" fmla="*/ 0 w 1279925"/>
              <a:gd name="connsiteY4" fmla="*/ 2165460 h 2165460"/>
              <a:gd name="connsiteX0" fmla="*/ 0 w 1286902"/>
              <a:gd name="connsiteY0" fmla="*/ 2148537 h 2148537"/>
              <a:gd name="connsiteX1" fmla="*/ 237691 w 1286902"/>
              <a:gd name="connsiteY1" fmla="*/ 659954 h 2148537"/>
              <a:gd name="connsiteX2" fmla="*/ 1286902 w 1286902"/>
              <a:gd name="connsiteY2" fmla="*/ 0 h 2148537"/>
              <a:gd name="connsiteX3" fmla="*/ 949042 w 1286902"/>
              <a:gd name="connsiteY3" fmla="*/ 1448254 h 2148537"/>
              <a:gd name="connsiteX4" fmla="*/ 0 w 1286902"/>
              <a:gd name="connsiteY4" fmla="*/ 2148537 h 2148537"/>
              <a:gd name="connsiteX0" fmla="*/ 0 w 1295987"/>
              <a:gd name="connsiteY0" fmla="*/ 2111996 h 2111996"/>
              <a:gd name="connsiteX1" fmla="*/ 237691 w 1295987"/>
              <a:gd name="connsiteY1" fmla="*/ 623413 h 2111996"/>
              <a:gd name="connsiteX2" fmla="*/ 1295987 w 1295987"/>
              <a:gd name="connsiteY2" fmla="*/ 0 h 2111996"/>
              <a:gd name="connsiteX3" fmla="*/ 949042 w 1295987"/>
              <a:gd name="connsiteY3" fmla="*/ 1411713 h 2111996"/>
              <a:gd name="connsiteX4" fmla="*/ 0 w 1295987"/>
              <a:gd name="connsiteY4" fmla="*/ 2111996 h 2111996"/>
              <a:gd name="connsiteX0" fmla="*/ 0 w 1295987"/>
              <a:gd name="connsiteY0" fmla="*/ 2111996 h 2111996"/>
              <a:gd name="connsiteX1" fmla="*/ 351973 w 1295987"/>
              <a:gd name="connsiteY1" fmla="*/ 537856 h 2111996"/>
              <a:gd name="connsiteX2" fmla="*/ 1295987 w 1295987"/>
              <a:gd name="connsiteY2" fmla="*/ 0 h 2111996"/>
              <a:gd name="connsiteX3" fmla="*/ 949042 w 1295987"/>
              <a:gd name="connsiteY3" fmla="*/ 1411713 h 2111996"/>
              <a:gd name="connsiteX4" fmla="*/ 0 w 1295987"/>
              <a:gd name="connsiteY4" fmla="*/ 2111996 h 2111996"/>
              <a:gd name="connsiteX0" fmla="*/ 0 w 1295987"/>
              <a:gd name="connsiteY0" fmla="*/ 2111996 h 2111996"/>
              <a:gd name="connsiteX1" fmla="*/ 351973 w 1295987"/>
              <a:gd name="connsiteY1" fmla="*/ 537856 h 2111996"/>
              <a:gd name="connsiteX2" fmla="*/ 1295987 w 1295987"/>
              <a:gd name="connsiteY2" fmla="*/ 0 h 2111996"/>
              <a:gd name="connsiteX3" fmla="*/ 953754 w 1295987"/>
              <a:gd name="connsiteY3" fmla="*/ 1485311 h 2111996"/>
              <a:gd name="connsiteX4" fmla="*/ 0 w 1295987"/>
              <a:gd name="connsiteY4" fmla="*/ 2111996 h 2111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5987" h="2111996">
                <a:moveTo>
                  <a:pt x="0" y="2111996"/>
                </a:moveTo>
                <a:lnTo>
                  <a:pt x="351973" y="537856"/>
                </a:lnTo>
                <a:lnTo>
                  <a:pt x="1295987" y="0"/>
                </a:lnTo>
                <a:lnTo>
                  <a:pt x="953754" y="1485311"/>
                </a:lnTo>
                <a:lnTo>
                  <a:pt x="0" y="2111996"/>
                </a:lnTo>
                <a:close/>
              </a:path>
            </a:pathLst>
          </a:custGeom>
          <a:solidFill>
            <a:schemeClr val="accent6">
              <a:lumMod val="20000"/>
              <a:lumOff val="80000"/>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8" name="Oval 37">
            <a:extLst>
              <a:ext uri="{FF2B5EF4-FFF2-40B4-BE49-F238E27FC236}">
                <a16:creationId xmlns:a16="http://schemas.microsoft.com/office/drawing/2014/main" id="{9A0E4EAC-8E2E-4B4F-8E28-0FE8F01F29CD}"/>
              </a:ext>
            </a:extLst>
          </p:cNvPr>
          <p:cNvSpPr>
            <a:spLocks noChangeAspect="1"/>
          </p:cNvSpPr>
          <p:nvPr/>
        </p:nvSpPr>
        <p:spPr>
          <a:xfrm>
            <a:off x="7764275" y="970866"/>
            <a:ext cx="2210669" cy="221066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1" name="Straight Arrow Connector 40">
            <a:extLst>
              <a:ext uri="{FF2B5EF4-FFF2-40B4-BE49-F238E27FC236}">
                <a16:creationId xmlns:a16="http://schemas.microsoft.com/office/drawing/2014/main" id="{D8168B1D-8A0D-D04A-A402-A0FE5565F4C1}"/>
              </a:ext>
            </a:extLst>
          </p:cNvPr>
          <p:cNvCxnSpPr>
            <a:cxnSpLocks/>
          </p:cNvCxnSpPr>
          <p:nvPr/>
        </p:nvCxnSpPr>
        <p:spPr>
          <a:xfrm>
            <a:off x="8869609" y="2047733"/>
            <a:ext cx="1237660" cy="400014"/>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C05388A0-B3A9-3F4E-AC82-79D283FC0F62}"/>
              </a:ext>
            </a:extLst>
          </p:cNvPr>
          <p:cNvSpPr/>
          <p:nvPr/>
        </p:nvSpPr>
        <p:spPr>
          <a:xfrm>
            <a:off x="8203098" y="984476"/>
            <a:ext cx="1350738" cy="669090"/>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4" name="Arc 43">
            <a:extLst>
              <a:ext uri="{FF2B5EF4-FFF2-40B4-BE49-F238E27FC236}">
                <a16:creationId xmlns:a16="http://schemas.microsoft.com/office/drawing/2014/main" id="{90190765-2688-0646-9237-E4A3CC5C2282}"/>
              </a:ext>
            </a:extLst>
          </p:cNvPr>
          <p:cNvSpPr/>
          <p:nvPr/>
        </p:nvSpPr>
        <p:spPr>
          <a:xfrm rot="9527851" flipH="1">
            <a:off x="8305362" y="930970"/>
            <a:ext cx="1050195" cy="2254166"/>
          </a:xfrm>
          <a:prstGeom prst="arc">
            <a:avLst>
              <a:gd name="adj1" fmla="val 16079390"/>
              <a:gd name="adj2" fmla="val 4769972"/>
            </a:avLst>
          </a:prstGeom>
          <a:ln w="12700">
            <a:solidFill>
              <a:srgbClr val="7030A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sp>
        <p:nvSpPr>
          <p:cNvPr id="52" name="Oval 51">
            <a:extLst>
              <a:ext uri="{FF2B5EF4-FFF2-40B4-BE49-F238E27FC236}">
                <a16:creationId xmlns:a16="http://schemas.microsoft.com/office/drawing/2014/main" id="{DC14372E-5546-2D48-A579-EAFB9CED000E}"/>
              </a:ext>
            </a:extLst>
          </p:cNvPr>
          <p:cNvSpPr/>
          <p:nvPr/>
        </p:nvSpPr>
        <p:spPr>
          <a:xfrm>
            <a:off x="8786331" y="1121433"/>
            <a:ext cx="183580" cy="111847"/>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3" name="Oval 52">
            <a:extLst>
              <a:ext uri="{FF2B5EF4-FFF2-40B4-BE49-F238E27FC236}">
                <a16:creationId xmlns:a16="http://schemas.microsoft.com/office/drawing/2014/main" id="{2DBA87B8-DF8B-AC46-8190-35FDF48A4F62}"/>
              </a:ext>
            </a:extLst>
          </p:cNvPr>
          <p:cNvSpPr/>
          <p:nvPr/>
        </p:nvSpPr>
        <p:spPr>
          <a:xfrm>
            <a:off x="8786542" y="2871564"/>
            <a:ext cx="183580" cy="111847"/>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9B1476AA-84E7-6848-BCCA-DB9DF4F1B140}"/>
                  </a:ext>
                </a:extLst>
              </p:cNvPr>
              <p:cNvSpPr txBox="1"/>
              <p:nvPr/>
            </p:nvSpPr>
            <p:spPr>
              <a:xfrm>
                <a:off x="7826821" y="2754911"/>
                <a:ext cx="32637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𝑥</m:t>
                      </m:r>
                    </m:oMath>
                  </m:oMathPara>
                </a14:m>
                <a:endParaRPr lang="en-US" sz="1400" dirty="0"/>
              </a:p>
            </p:txBody>
          </p:sp>
        </mc:Choice>
        <mc:Fallback xmlns="">
          <p:sp>
            <p:nvSpPr>
              <p:cNvPr id="54" name="TextBox 53">
                <a:extLst>
                  <a:ext uri="{FF2B5EF4-FFF2-40B4-BE49-F238E27FC236}">
                    <a16:creationId xmlns:a16="http://schemas.microsoft.com/office/drawing/2014/main" id="{9B1476AA-84E7-6848-BCCA-DB9DF4F1B140}"/>
                  </a:ext>
                </a:extLst>
              </p:cNvPr>
              <p:cNvSpPr txBox="1">
                <a:spLocks noRot="1" noChangeAspect="1" noMove="1" noResize="1" noEditPoints="1" noAdjustHandles="1" noChangeArrowheads="1" noChangeShapeType="1" noTextEdit="1"/>
              </p:cNvSpPr>
              <p:nvPr/>
            </p:nvSpPr>
            <p:spPr>
              <a:xfrm>
                <a:off x="7826821" y="2754911"/>
                <a:ext cx="326371" cy="307777"/>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BBAE62A9-2C33-7D43-9D82-A1A99CACAF02}"/>
                  </a:ext>
                </a:extLst>
              </p:cNvPr>
              <p:cNvSpPr txBox="1"/>
              <p:nvPr/>
            </p:nvSpPr>
            <p:spPr>
              <a:xfrm>
                <a:off x="8645737" y="634420"/>
                <a:ext cx="210910"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𝑧</m:t>
                      </m:r>
                    </m:oMath>
                  </m:oMathPara>
                </a14:m>
                <a:endParaRPr lang="en-US" sz="1400" dirty="0"/>
              </a:p>
            </p:txBody>
          </p:sp>
        </mc:Choice>
        <mc:Fallback xmlns="">
          <p:sp>
            <p:nvSpPr>
              <p:cNvPr id="56" name="TextBox 55">
                <a:extLst>
                  <a:ext uri="{FF2B5EF4-FFF2-40B4-BE49-F238E27FC236}">
                    <a16:creationId xmlns:a16="http://schemas.microsoft.com/office/drawing/2014/main" id="{BBAE62A9-2C33-7D43-9D82-A1A99CACAF02}"/>
                  </a:ext>
                </a:extLst>
              </p:cNvPr>
              <p:cNvSpPr txBox="1">
                <a:spLocks noRot="1" noChangeAspect="1" noMove="1" noResize="1" noEditPoints="1" noAdjustHandles="1" noChangeArrowheads="1" noChangeShapeType="1" noTextEdit="1"/>
              </p:cNvSpPr>
              <p:nvPr/>
            </p:nvSpPr>
            <p:spPr>
              <a:xfrm>
                <a:off x="8645737" y="634420"/>
                <a:ext cx="210910" cy="307777"/>
              </a:xfrm>
              <a:prstGeom prst="rect">
                <a:avLst/>
              </a:prstGeom>
              <a:blipFill>
                <a:blip r:embed="rId21"/>
                <a:stretch>
                  <a:fillRect r="-58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156899BA-EED8-FC4F-A454-53FD6A7E6726}"/>
                  </a:ext>
                </a:extLst>
              </p:cNvPr>
              <p:cNvSpPr txBox="1"/>
              <p:nvPr/>
            </p:nvSpPr>
            <p:spPr>
              <a:xfrm>
                <a:off x="10044253" y="2170738"/>
                <a:ext cx="32880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𝑦</m:t>
                      </m:r>
                    </m:oMath>
                  </m:oMathPara>
                </a14:m>
                <a:endParaRPr lang="en-US" sz="1400" dirty="0"/>
              </a:p>
            </p:txBody>
          </p:sp>
        </mc:Choice>
        <mc:Fallback xmlns="">
          <p:sp>
            <p:nvSpPr>
              <p:cNvPr id="57" name="TextBox 56">
                <a:extLst>
                  <a:ext uri="{FF2B5EF4-FFF2-40B4-BE49-F238E27FC236}">
                    <a16:creationId xmlns:a16="http://schemas.microsoft.com/office/drawing/2014/main" id="{156899BA-EED8-FC4F-A454-53FD6A7E6726}"/>
                  </a:ext>
                </a:extLst>
              </p:cNvPr>
              <p:cNvSpPr txBox="1">
                <a:spLocks noRot="1" noChangeAspect="1" noMove="1" noResize="1" noEditPoints="1" noAdjustHandles="1" noChangeArrowheads="1" noChangeShapeType="1" noTextEdit="1"/>
              </p:cNvSpPr>
              <p:nvPr/>
            </p:nvSpPr>
            <p:spPr>
              <a:xfrm>
                <a:off x="10044253" y="2170738"/>
                <a:ext cx="328808" cy="307777"/>
              </a:xfrm>
              <a:prstGeom prst="rect">
                <a:avLst/>
              </a:prstGeom>
              <a:blipFill>
                <a:blip r:embed="rId22"/>
                <a:stretch>
                  <a:fillRect/>
                </a:stretch>
              </a:blipFill>
            </p:spPr>
            <p:txBody>
              <a:bodyPr/>
              <a:lstStyle/>
              <a:p>
                <a:r>
                  <a:rPr lang="en-US">
                    <a:noFill/>
                  </a:rPr>
                  <a:t> </a:t>
                </a:r>
              </a:p>
            </p:txBody>
          </p:sp>
        </mc:Fallback>
      </mc:AlternateContent>
      <p:cxnSp>
        <p:nvCxnSpPr>
          <p:cNvPr id="58" name="Straight Connector 57">
            <a:extLst>
              <a:ext uri="{FF2B5EF4-FFF2-40B4-BE49-F238E27FC236}">
                <a16:creationId xmlns:a16="http://schemas.microsoft.com/office/drawing/2014/main" id="{0A86B133-64E9-104E-95A8-ACC44EBF7794}"/>
              </a:ext>
            </a:extLst>
          </p:cNvPr>
          <p:cNvCxnSpPr>
            <a:cxnSpLocks/>
          </p:cNvCxnSpPr>
          <p:nvPr/>
        </p:nvCxnSpPr>
        <p:spPr>
          <a:xfrm flipH="1" flipV="1">
            <a:off x="8167081" y="1812817"/>
            <a:ext cx="717885" cy="234917"/>
          </a:xfrm>
          <a:prstGeom prst="line">
            <a:avLst/>
          </a:prstGeom>
          <a:ln w="889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Rectangle 63">
                <a:extLst>
                  <a:ext uri="{FF2B5EF4-FFF2-40B4-BE49-F238E27FC236}">
                    <a16:creationId xmlns:a16="http://schemas.microsoft.com/office/drawing/2014/main" id="{3F4C130B-E92B-0F4B-8920-24271AE4DA59}"/>
                  </a:ext>
                </a:extLst>
              </p:cNvPr>
              <p:cNvSpPr/>
              <p:nvPr/>
            </p:nvSpPr>
            <p:spPr>
              <a:xfrm>
                <a:off x="8846067" y="649374"/>
                <a:ext cx="445443"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400" i="1" smtClean="0">
                              <a:latin typeface="Cambria Math" panose="02040503050406030204" pitchFamily="18" charset="0"/>
                              <a:ea typeface="Cambria Math" panose="02040503050406030204" pitchFamily="18" charset="0"/>
                            </a:rPr>
                          </m:ctrlPr>
                        </m:dPr>
                        <m:e>
                          <m:r>
                            <a:rPr lang="sr-Latn-RS" sz="1400" b="0" i="1" smtClean="0">
                              <a:latin typeface="Cambria Math" panose="02040503050406030204" pitchFamily="18" charset="0"/>
                              <a:ea typeface="Cambria Math" panose="02040503050406030204" pitchFamily="18" charset="0"/>
                            </a:rPr>
                            <m:t>0</m:t>
                          </m:r>
                        </m:e>
                      </m:d>
                    </m:oMath>
                  </m:oMathPara>
                </a14:m>
                <a:endParaRPr lang="en-US" sz="1400" dirty="0"/>
              </a:p>
            </p:txBody>
          </p:sp>
        </mc:Choice>
        <mc:Fallback xmlns="">
          <p:sp>
            <p:nvSpPr>
              <p:cNvPr id="64" name="Rectangle 63">
                <a:extLst>
                  <a:ext uri="{FF2B5EF4-FFF2-40B4-BE49-F238E27FC236}">
                    <a16:creationId xmlns:a16="http://schemas.microsoft.com/office/drawing/2014/main" id="{3F4C130B-E92B-0F4B-8920-24271AE4DA59}"/>
                  </a:ext>
                </a:extLst>
              </p:cNvPr>
              <p:cNvSpPr>
                <a:spLocks noRot="1" noChangeAspect="1" noMove="1" noResize="1" noEditPoints="1" noAdjustHandles="1" noChangeArrowheads="1" noChangeShapeType="1" noTextEdit="1"/>
              </p:cNvSpPr>
              <p:nvPr/>
            </p:nvSpPr>
            <p:spPr>
              <a:xfrm>
                <a:off x="8846067" y="649374"/>
                <a:ext cx="445443" cy="307777"/>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Rectangle 64">
                <a:extLst>
                  <a:ext uri="{FF2B5EF4-FFF2-40B4-BE49-F238E27FC236}">
                    <a16:creationId xmlns:a16="http://schemas.microsoft.com/office/drawing/2014/main" id="{931DEA63-3C61-0A46-B6B9-671C347D4E35}"/>
                  </a:ext>
                </a:extLst>
              </p:cNvPr>
              <p:cNvSpPr/>
              <p:nvPr/>
            </p:nvSpPr>
            <p:spPr>
              <a:xfrm>
                <a:off x="8701821" y="2991046"/>
                <a:ext cx="445443"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400" i="1" smtClean="0">
                              <a:latin typeface="Cambria Math" panose="02040503050406030204" pitchFamily="18" charset="0"/>
                              <a:ea typeface="Cambria Math" panose="02040503050406030204" pitchFamily="18" charset="0"/>
                            </a:rPr>
                          </m:ctrlPr>
                        </m:dPr>
                        <m:e>
                          <m:r>
                            <a:rPr lang="sr-Latn-RS" sz="1400" b="0" i="1" smtClean="0">
                              <a:latin typeface="Cambria Math" panose="02040503050406030204" pitchFamily="18" charset="0"/>
                              <a:ea typeface="Cambria Math" panose="02040503050406030204" pitchFamily="18" charset="0"/>
                            </a:rPr>
                            <m:t>1</m:t>
                          </m:r>
                        </m:e>
                      </m:d>
                    </m:oMath>
                  </m:oMathPara>
                </a14:m>
                <a:endParaRPr lang="en-US" sz="1400" dirty="0"/>
              </a:p>
            </p:txBody>
          </p:sp>
        </mc:Choice>
        <mc:Fallback xmlns="">
          <p:sp>
            <p:nvSpPr>
              <p:cNvPr id="65" name="Rectangle 64">
                <a:extLst>
                  <a:ext uri="{FF2B5EF4-FFF2-40B4-BE49-F238E27FC236}">
                    <a16:creationId xmlns:a16="http://schemas.microsoft.com/office/drawing/2014/main" id="{931DEA63-3C61-0A46-B6B9-671C347D4E35}"/>
                  </a:ext>
                </a:extLst>
              </p:cNvPr>
              <p:cNvSpPr>
                <a:spLocks noRot="1" noChangeAspect="1" noMove="1" noResize="1" noEditPoints="1" noAdjustHandles="1" noChangeArrowheads="1" noChangeShapeType="1" noTextEdit="1"/>
              </p:cNvSpPr>
              <p:nvPr/>
            </p:nvSpPr>
            <p:spPr>
              <a:xfrm>
                <a:off x="8701821" y="2991046"/>
                <a:ext cx="445443" cy="307777"/>
              </a:xfrm>
              <a:prstGeom prst="rect">
                <a:avLst/>
              </a:prstGeom>
              <a:blipFill>
                <a:blip r:embed="rId24"/>
                <a:stretch>
                  <a:fillRect/>
                </a:stretch>
              </a:blipFill>
            </p:spPr>
            <p:txBody>
              <a:bodyPr/>
              <a:lstStyle/>
              <a:p>
                <a:r>
                  <a:rPr lang="en-US">
                    <a:noFill/>
                  </a:rPr>
                  <a:t> </a:t>
                </a:r>
              </a:p>
            </p:txBody>
          </p:sp>
        </mc:Fallback>
      </mc:AlternateContent>
      <p:cxnSp>
        <p:nvCxnSpPr>
          <p:cNvPr id="70" name="Straight Connector 69">
            <a:extLst>
              <a:ext uri="{FF2B5EF4-FFF2-40B4-BE49-F238E27FC236}">
                <a16:creationId xmlns:a16="http://schemas.microsoft.com/office/drawing/2014/main" id="{42B0EA29-87B2-2E4D-91AA-FCF67CC4C50A}"/>
              </a:ext>
            </a:extLst>
          </p:cNvPr>
          <p:cNvCxnSpPr>
            <a:cxnSpLocks/>
          </p:cNvCxnSpPr>
          <p:nvPr/>
        </p:nvCxnSpPr>
        <p:spPr>
          <a:xfrm>
            <a:off x="8904683" y="2087317"/>
            <a:ext cx="387855" cy="341925"/>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CB0E238B-E5C1-B745-BD8C-A80DA6697217}"/>
              </a:ext>
            </a:extLst>
          </p:cNvPr>
          <p:cNvCxnSpPr>
            <a:cxnSpLocks/>
          </p:cNvCxnSpPr>
          <p:nvPr/>
        </p:nvCxnSpPr>
        <p:spPr>
          <a:xfrm>
            <a:off x="9287270" y="1780674"/>
            <a:ext cx="0" cy="617721"/>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81" name="Parallelogram 109">
            <a:extLst>
              <a:ext uri="{FF2B5EF4-FFF2-40B4-BE49-F238E27FC236}">
                <a16:creationId xmlns:a16="http://schemas.microsoft.com/office/drawing/2014/main" id="{C35D757D-27F6-B94F-BD64-A2B1AF26B7C4}"/>
              </a:ext>
            </a:extLst>
          </p:cNvPr>
          <p:cNvSpPr/>
          <p:nvPr/>
        </p:nvSpPr>
        <p:spPr>
          <a:xfrm rot="21030453">
            <a:off x="8288874" y="1219159"/>
            <a:ext cx="702067" cy="1279558"/>
          </a:xfrm>
          <a:custGeom>
            <a:avLst/>
            <a:gdLst>
              <a:gd name="connsiteX0" fmla="*/ 0 w 1251599"/>
              <a:gd name="connsiteY0" fmla="*/ 1553702 h 1553702"/>
              <a:gd name="connsiteX1" fmla="*/ 279482 w 1251599"/>
              <a:gd name="connsiteY1" fmla="*/ 0 h 1553702"/>
              <a:gd name="connsiteX2" fmla="*/ 1251599 w 1251599"/>
              <a:gd name="connsiteY2" fmla="*/ 0 h 1553702"/>
              <a:gd name="connsiteX3" fmla="*/ 972117 w 1251599"/>
              <a:gd name="connsiteY3" fmla="*/ 1553702 h 1553702"/>
              <a:gd name="connsiteX4" fmla="*/ 0 w 1251599"/>
              <a:gd name="connsiteY4" fmla="*/ 1553702 h 1553702"/>
              <a:gd name="connsiteX0" fmla="*/ 0 w 1584484"/>
              <a:gd name="connsiteY0" fmla="*/ 2497243 h 2497243"/>
              <a:gd name="connsiteX1" fmla="*/ 612367 w 1584484"/>
              <a:gd name="connsiteY1" fmla="*/ 0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36210 w 1584484"/>
              <a:gd name="connsiteY1" fmla="*/ 647876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346472 w 1584484"/>
              <a:gd name="connsiteY1" fmla="*/ 604506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09369 w 1584484"/>
              <a:gd name="connsiteY1" fmla="*/ 870011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44459 w 1584484"/>
              <a:gd name="connsiteY1" fmla="*/ 844975 h 2497243"/>
              <a:gd name="connsiteX2" fmla="*/ 1584484 w 1584484"/>
              <a:gd name="connsiteY2" fmla="*/ 0 h 2497243"/>
              <a:gd name="connsiteX3" fmla="*/ 1305002 w 1584484"/>
              <a:gd name="connsiteY3" fmla="*/ 1553702 h 2497243"/>
              <a:gd name="connsiteX4" fmla="*/ 0 w 1584484"/>
              <a:gd name="connsiteY4" fmla="*/ 2497243 h 2497243"/>
              <a:gd name="connsiteX0" fmla="*/ 98089 w 1340025"/>
              <a:gd name="connsiteY0" fmla="*/ 2235187 h 2235187"/>
              <a:gd name="connsiteX1" fmla="*/ 0 w 1340025"/>
              <a:gd name="connsiteY1" fmla="*/ 844975 h 2235187"/>
              <a:gd name="connsiteX2" fmla="*/ 1340025 w 1340025"/>
              <a:gd name="connsiteY2" fmla="*/ 0 h 2235187"/>
              <a:gd name="connsiteX3" fmla="*/ 1060543 w 1340025"/>
              <a:gd name="connsiteY3" fmla="*/ 1553702 h 2235187"/>
              <a:gd name="connsiteX4" fmla="*/ 98089 w 1340025"/>
              <a:gd name="connsiteY4" fmla="*/ 2235187 h 2235187"/>
              <a:gd name="connsiteX0" fmla="*/ 0 w 1241936"/>
              <a:gd name="connsiteY0" fmla="*/ 2235187 h 2235187"/>
              <a:gd name="connsiteX1" fmla="*/ 154206 w 1241936"/>
              <a:gd name="connsiteY1" fmla="*/ 691441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157622 w 1241936"/>
              <a:gd name="connsiteY1" fmla="*/ 547797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11012 w 1241936"/>
              <a:gd name="connsiteY1" fmla="*/ 659735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37691 w 1241936"/>
              <a:gd name="connsiteY1" fmla="*/ 746604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37691 w 1241936"/>
              <a:gd name="connsiteY1" fmla="*/ 746604 h 2235187"/>
              <a:gd name="connsiteX2" fmla="*/ 1241936 w 1241936"/>
              <a:gd name="connsiteY2" fmla="*/ 0 h 2235187"/>
              <a:gd name="connsiteX3" fmla="*/ 949042 w 1241936"/>
              <a:gd name="connsiteY3" fmla="*/ 1534904 h 2235187"/>
              <a:gd name="connsiteX4" fmla="*/ 0 w 1241936"/>
              <a:gd name="connsiteY4" fmla="*/ 2235187 h 2235187"/>
              <a:gd name="connsiteX0" fmla="*/ 0 w 1224933"/>
              <a:gd name="connsiteY0" fmla="*/ 2232511 h 2232511"/>
              <a:gd name="connsiteX1" fmla="*/ 237691 w 1224933"/>
              <a:gd name="connsiteY1" fmla="*/ 743928 h 2232511"/>
              <a:gd name="connsiteX2" fmla="*/ 1224933 w 1224933"/>
              <a:gd name="connsiteY2" fmla="*/ 0 h 2232511"/>
              <a:gd name="connsiteX3" fmla="*/ 949042 w 1224933"/>
              <a:gd name="connsiteY3" fmla="*/ 1532228 h 2232511"/>
              <a:gd name="connsiteX4" fmla="*/ 0 w 1224933"/>
              <a:gd name="connsiteY4" fmla="*/ 2232511 h 2232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4933" h="2232511">
                <a:moveTo>
                  <a:pt x="0" y="2232511"/>
                </a:moveTo>
                <a:lnTo>
                  <a:pt x="237691" y="743928"/>
                </a:lnTo>
                <a:lnTo>
                  <a:pt x="1224933" y="0"/>
                </a:lnTo>
                <a:lnTo>
                  <a:pt x="949042" y="1532228"/>
                </a:lnTo>
                <a:lnTo>
                  <a:pt x="0" y="2232511"/>
                </a:lnTo>
                <a:close/>
              </a:path>
            </a:pathLst>
          </a:custGeom>
          <a:solidFill>
            <a:schemeClr val="accent6">
              <a:lumMod val="20000"/>
              <a:lumOff val="80000"/>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82" name="Straight Arrow Connector 81">
            <a:extLst>
              <a:ext uri="{FF2B5EF4-FFF2-40B4-BE49-F238E27FC236}">
                <a16:creationId xmlns:a16="http://schemas.microsoft.com/office/drawing/2014/main" id="{C1279462-CB50-924E-BAC4-960E1D85593E}"/>
              </a:ext>
            </a:extLst>
          </p:cNvPr>
          <p:cNvCxnSpPr>
            <a:cxnSpLocks/>
          </p:cNvCxnSpPr>
          <p:nvPr/>
        </p:nvCxnSpPr>
        <p:spPr>
          <a:xfrm flipH="1">
            <a:off x="8026043" y="2047929"/>
            <a:ext cx="847021" cy="934632"/>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03674BEA-74E0-AE41-98B2-80109352B6B7}"/>
              </a:ext>
            </a:extLst>
          </p:cNvPr>
          <p:cNvCxnSpPr>
            <a:cxnSpLocks/>
          </p:cNvCxnSpPr>
          <p:nvPr/>
        </p:nvCxnSpPr>
        <p:spPr>
          <a:xfrm flipV="1">
            <a:off x="8873065" y="784396"/>
            <a:ext cx="0" cy="1268937"/>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Line Callout 1 (Border and Accent Bar) 86">
            <a:extLst>
              <a:ext uri="{FF2B5EF4-FFF2-40B4-BE49-F238E27FC236}">
                <a16:creationId xmlns:a16="http://schemas.microsoft.com/office/drawing/2014/main" id="{B63D398A-318A-D04E-8D7B-510463156278}"/>
              </a:ext>
            </a:extLst>
          </p:cNvPr>
          <p:cNvSpPr/>
          <p:nvPr/>
        </p:nvSpPr>
        <p:spPr>
          <a:xfrm>
            <a:off x="9519755" y="606979"/>
            <a:ext cx="900715" cy="442900"/>
          </a:xfrm>
          <a:prstGeom prst="accentBorderCallout1">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Real</a:t>
            </a:r>
          </a:p>
          <a:p>
            <a:pPr algn="ctr"/>
            <a:r>
              <a:rPr lang="en-US" sz="1400" dirty="0">
                <a:solidFill>
                  <a:schemeClr val="tx1"/>
                </a:solidFill>
              </a:rPr>
              <a:t>plane</a:t>
            </a:r>
          </a:p>
        </p:txBody>
      </p:sp>
      <p:sp>
        <p:nvSpPr>
          <p:cNvPr id="89" name="Parallelogram 109">
            <a:extLst>
              <a:ext uri="{FF2B5EF4-FFF2-40B4-BE49-F238E27FC236}">
                <a16:creationId xmlns:a16="http://schemas.microsoft.com/office/drawing/2014/main" id="{692D57C5-7784-7445-9AD3-AB776139B657}"/>
              </a:ext>
            </a:extLst>
          </p:cNvPr>
          <p:cNvSpPr/>
          <p:nvPr/>
        </p:nvSpPr>
        <p:spPr>
          <a:xfrm rot="21030453">
            <a:off x="8763329" y="1750876"/>
            <a:ext cx="496206" cy="1161913"/>
          </a:xfrm>
          <a:custGeom>
            <a:avLst/>
            <a:gdLst>
              <a:gd name="connsiteX0" fmla="*/ 0 w 1251599"/>
              <a:gd name="connsiteY0" fmla="*/ 1553702 h 1553702"/>
              <a:gd name="connsiteX1" fmla="*/ 279482 w 1251599"/>
              <a:gd name="connsiteY1" fmla="*/ 0 h 1553702"/>
              <a:gd name="connsiteX2" fmla="*/ 1251599 w 1251599"/>
              <a:gd name="connsiteY2" fmla="*/ 0 h 1553702"/>
              <a:gd name="connsiteX3" fmla="*/ 972117 w 1251599"/>
              <a:gd name="connsiteY3" fmla="*/ 1553702 h 1553702"/>
              <a:gd name="connsiteX4" fmla="*/ 0 w 1251599"/>
              <a:gd name="connsiteY4" fmla="*/ 1553702 h 1553702"/>
              <a:gd name="connsiteX0" fmla="*/ 0 w 1584484"/>
              <a:gd name="connsiteY0" fmla="*/ 2497243 h 2497243"/>
              <a:gd name="connsiteX1" fmla="*/ 612367 w 1584484"/>
              <a:gd name="connsiteY1" fmla="*/ 0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36210 w 1584484"/>
              <a:gd name="connsiteY1" fmla="*/ 647876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346472 w 1584484"/>
              <a:gd name="connsiteY1" fmla="*/ 604506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09369 w 1584484"/>
              <a:gd name="connsiteY1" fmla="*/ 870011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44459 w 1584484"/>
              <a:gd name="connsiteY1" fmla="*/ 844975 h 2497243"/>
              <a:gd name="connsiteX2" fmla="*/ 1584484 w 1584484"/>
              <a:gd name="connsiteY2" fmla="*/ 0 h 2497243"/>
              <a:gd name="connsiteX3" fmla="*/ 1305002 w 1584484"/>
              <a:gd name="connsiteY3" fmla="*/ 1553702 h 2497243"/>
              <a:gd name="connsiteX4" fmla="*/ 0 w 1584484"/>
              <a:gd name="connsiteY4" fmla="*/ 2497243 h 2497243"/>
              <a:gd name="connsiteX0" fmla="*/ 98089 w 1340025"/>
              <a:gd name="connsiteY0" fmla="*/ 2235187 h 2235187"/>
              <a:gd name="connsiteX1" fmla="*/ 0 w 1340025"/>
              <a:gd name="connsiteY1" fmla="*/ 844975 h 2235187"/>
              <a:gd name="connsiteX2" fmla="*/ 1340025 w 1340025"/>
              <a:gd name="connsiteY2" fmla="*/ 0 h 2235187"/>
              <a:gd name="connsiteX3" fmla="*/ 1060543 w 1340025"/>
              <a:gd name="connsiteY3" fmla="*/ 1553702 h 2235187"/>
              <a:gd name="connsiteX4" fmla="*/ 98089 w 1340025"/>
              <a:gd name="connsiteY4" fmla="*/ 2235187 h 2235187"/>
              <a:gd name="connsiteX0" fmla="*/ 0 w 1241936"/>
              <a:gd name="connsiteY0" fmla="*/ 2235187 h 2235187"/>
              <a:gd name="connsiteX1" fmla="*/ 154206 w 1241936"/>
              <a:gd name="connsiteY1" fmla="*/ 691441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157622 w 1241936"/>
              <a:gd name="connsiteY1" fmla="*/ 547797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11012 w 1241936"/>
              <a:gd name="connsiteY1" fmla="*/ 659735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37691 w 1241936"/>
              <a:gd name="connsiteY1" fmla="*/ 746604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37691 w 1241936"/>
              <a:gd name="connsiteY1" fmla="*/ 746604 h 2235187"/>
              <a:gd name="connsiteX2" fmla="*/ 1241936 w 1241936"/>
              <a:gd name="connsiteY2" fmla="*/ 0 h 2235187"/>
              <a:gd name="connsiteX3" fmla="*/ 949042 w 1241936"/>
              <a:gd name="connsiteY3" fmla="*/ 1534904 h 2235187"/>
              <a:gd name="connsiteX4" fmla="*/ 0 w 1241936"/>
              <a:gd name="connsiteY4" fmla="*/ 2235187 h 2235187"/>
              <a:gd name="connsiteX0" fmla="*/ 0 w 1224933"/>
              <a:gd name="connsiteY0" fmla="*/ 2232511 h 2232511"/>
              <a:gd name="connsiteX1" fmla="*/ 237691 w 1224933"/>
              <a:gd name="connsiteY1" fmla="*/ 743928 h 2232511"/>
              <a:gd name="connsiteX2" fmla="*/ 1224933 w 1224933"/>
              <a:gd name="connsiteY2" fmla="*/ 0 h 2232511"/>
              <a:gd name="connsiteX3" fmla="*/ 949042 w 1224933"/>
              <a:gd name="connsiteY3" fmla="*/ 1532228 h 2232511"/>
              <a:gd name="connsiteX4" fmla="*/ 0 w 1224933"/>
              <a:gd name="connsiteY4" fmla="*/ 2232511 h 2232511"/>
              <a:gd name="connsiteX0" fmla="*/ 0 w 1279925"/>
              <a:gd name="connsiteY0" fmla="*/ 2165460 h 2165460"/>
              <a:gd name="connsiteX1" fmla="*/ 237691 w 1279925"/>
              <a:gd name="connsiteY1" fmla="*/ 676877 h 2165460"/>
              <a:gd name="connsiteX2" fmla="*/ 1279925 w 1279925"/>
              <a:gd name="connsiteY2" fmla="*/ 0 h 2165460"/>
              <a:gd name="connsiteX3" fmla="*/ 949042 w 1279925"/>
              <a:gd name="connsiteY3" fmla="*/ 1465177 h 2165460"/>
              <a:gd name="connsiteX4" fmla="*/ 0 w 1279925"/>
              <a:gd name="connsiteY4" fmla="*/ 2165460 h 2165460"/>
              <a:gd name="connsiteX0" fmla="*/ 0 w 1286902"/>
              <a:gd name="connsiteY0" fmla="*/ 2148537 h 2148537"/>
              <a:gd name="connsiteX1" fmla="*/ 237691 w 1286902"/>
              <a:gd name="connsiteY1" fmla="*/ 659954 h 2148537"/>
              <a:gd name="connsiteX2" fmla="*/ 1286902 w 1286902"/>
              <a:gd name="connsiteY2" fmla="*/ 0 h 2148537"/>
              <a:gd name="connsiteX3" fmla="*/ 949042 w 1286902"/>
              <a:gd name="connsiteY3" fmla="*/ 1448254 h 2148537"/>
              <a:gd name="connsiteX4" fmla="*/ 0 w 1286902"/>
              <a:gd name="connsiteY4" fmla="*/ 2148537 h 2148537"/>
              <a:gd name="connsiteX0" fmla="*/ 0 w 1295987"/>
              <a:gd name="connsiteY0" fmla="*/ 2111996 h 2111996"/>
              <a:gd name="connsiteX1" fmla="*/ 237691 w 1295987"/>
              <a:gd name="connsiteY1" fmla="*/ 623413 h 2111996"/>
              <a:gd name="connsiteX2" fmla="*/ 1295987 w 1295987"/>
              <a:gd name="connsiteY2" fmla="*/ 0 h 2111996"/>
              <a:gd name="connsiteX3" fmla="*/ 949042 w 1295987"/>
              <a:gd name="connsiteY3" fmla="*/ 1411713 h 2111996"/>
              <a:gd name="connsiteX4" fmla="*/ 0 w 1295987"/>
              <a:gd name="connsiteY4" fmla="*/ 2111996 h 2111996"/>
              <a:gd name="connsiteX0" fmla="*/ 0 w 1295987"/>
              <a:gd name="connsiteY0" fmla="*/ 2111996 h 2111996"/>
              <a:gd name="connsiteX1" fmla="*/ 351973 w 1295987"/>
              <a:gd name="connsiteY1" fmla="*/ 537856 h 2111996"/>
              <a:gd name="connsiteX2" fmla="*/ 1295987 w 1295987"/>
              <a:gd name="connsiteY2" fmla="*/ 0 h 2111996"/>
              <a:gd name="connsiteX3" fmla="*/ 949042 w 1295987"/>
              <a:gd name="connsiteY3" fmla="*/ 1411713 h 2111996"/>
              <a:gd name="connsiteX4" fmla="*/ 0 w 1295987"/>
              <a:gd name="connsiteY4" fmla="*/ 2111996 h 2111996"/>
              <a:gd name="connsiteX0" fmla="*/ 0 w 1295987"/>
              <a:gd name="connsiteY0" fmla="*/ 2111996 h 2111996"/>
              <a:gd name="connsiteX1" fmla="*/ 351973 w 1295987"/>
              <a:gd name="connsiteY1" fmla="*/ 537856 h 2111996"/>
              <a:gd name="connsiteX2" fmla="*/ 1295987 w 1295987"/>
              <a:gd name="connsiteY2" fmla="*/ 0 h 2111996"/>
              <a:gd name="connsiteX3" fmla="*/ 953754 w 1295987"/>
              <a:gd name="connsiteY3" fmla="*/ 1485311 h 2111996"/>
              <a:gd name="connsiteX4" fmla="*/ 0 w 1295987"/>
              <a:gd name="connsiteY4" fmla="*/ 2111996 h 2111996"/>
              <a:gd name="connsiteX0" fmla="*/ -1 w 1267890"/>
              <a:gd name="connsiteY0" fmla="*/ 1998864 h 1998864"/>
              <a:gd name="connsiteX1" fmla="*/ 323876 w 1267890"/>
              <a:gd name="connsiteY1" fmla="*/ 537856 h 1998864"/>
              <a:gd name="connsiteX2" fmla="*/ 1267890 w 1267890"/>
              <a:gd name="connsiteY2" fmla="*/ 0 h 1998864"/>
              <a:gd name="connsiteX3" fmla="*/ 925657 w 1267890"/>
              <a:gd name="connsiteY3" fmla="*/ 1485311 h 1998864"/>
              <a:gd name="connsiteX4" fmla="*/ -1 w 1267890"/>
              <a:gd name="connsiteY4" fmla="*/ 1998864 h 1998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7890" h="1998864">
                <a:moveTo>
                  <a:pt x="-1" y="1998864"/>
                </a:moveTo>
                <a:lnTo>
                  <a:pt x="323876" y="537856"/>
                </a:lnTo>
                <a:lnTo>
                  <a:pt x="1267890" y="0"/>
                </a:lnTo>
                <a:lnTo>
                  <a:pt x="925657" y="1485311"/>
                </a:lnTo>
                <a:lnTo>
                  <a:pt x="-1" y="1998864"/>
                </a:lnTo>
                <a:close/>
              </a:path>
            </a:pathLst>
          </a:custGeom>
          <a:solidFill>
            <a:schemeClr val="accent6">
              <a:lumMod val="20000"/>
              <a:lumOff val="80000"/>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 name="Parallelogram 109">
            <a:extLst>
              <a:ext uri="{FF2B5EF4-FFF2-40B4-BE49-F238E27FC236}">
                <a16:creationId xmlns:a16="http://schemas.microsoft.com/office/drawing/2014/main" id="{4EA6C6FC-1A46-0042-9D60-E89C99C914E5}"/>
              </a:ext>
            </a:extLst>
          </p:cNvPr>
          <p:cNvSpPr/>
          <p:nvPr/>
        </p:nvSpPr>
        <p:spPr>
          <a:xfrm rot="21030453">
            <a:off x="8287850" y="2091418"/>
            <a:ext cx="702067" cy="1279558"/>
          </a:xfrm>
          <a:custGeom>
            <a:avLst/>
            <a:gdLst>
              <a:gd name="connsiteX0" fmla="*/ 0 w 1251599"/>
              <a:gd name="connsiteY0" fmla="*/ 1553702 h 1553702"/>
              <a:gd name="connsiteX1" fmla="*/ 279482 w 1251599"/>
              <a:gd name="connsiteY1" fmla="*/ 0 h 1553702"/>
              <a:gd name="connsiteX2" fmla="*/ 1251599 w 1251599"/>
              <a:gd name="connsiteY2" fmla="*/ 0 h 1553702"/>
              <a:gd name="connsiteX3" fmla="*/ 972117 w 1251599"/>
              <a:gd name="connsiteY3" fmla="*/ 1553702 h 1553702"/>
              <a:gd name="connsiteX4" fmla="*/ 0 w 1251599"/>
              <a:gd name="connsiteY4" fmla="*/ 1553702 h 1553702"/>
              <a:gd name="connsiteX0" fmla="*/ 0 w 1584484"/>
              <a:gd name="connsiteY0" fmla="*/ 2497243 h 2497243"/>
              <a:gd name="connsiteX1" fmla="*/ 612367 w 1584484"/>
              <a:gd name="connsiteY1" fmla="*/ 0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36210 w 1584484"/>
              <a:gd name="connsiteY1" fmla="*/ 647876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346472 w 1584484"/>
              <a:gd name="connsiteY1" fmla="*/ 604506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09369 w 1584484"/>
              <a:gd name="connsiteY1" fmla="*/ 870011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44459 w 1584484"/>
              <a:gd name="connsiteY1" fmla="*/ 844975 h 2497243"/>
              <a:gd name="connsiteX2" fmla="*/ 1584484 w 1584484"/>
              <a:gd name="connsiteY2" fmla="*/ 0 h 2497243"/>
              <a:gd name="connsiteX3" fmla="*/ 1305002 w 1584484"/>
              <a:gd name="connsiteY3" fmla="*/ 1553702 h 2497243"/>
              <a:gd name="connsiteX4" fmla="*/ 0 w 1584484"/>
              <a:gd name="connsiteY4" fmla="*/ 2497243 h 2497243"/>
              <a:gd name="connsiteX0" fmla="*/ 98089 w 1340025"/>
              <a:gd name="connsiteY0" fmla="*/ 2235187 h 2235187"/>
              <a:gd name="connsiteX1" fmla="*/ 0 w 1340025"/>
              <a:gd name="connsiteY1" fmla="*/ 844975 h 2235187"/>
              <a:gd name="connsiteX2" fmla="*/ 1340025 w 1340025"/>
              <a:gd name="connsiteY2" fmla="*/ 0 h 2235187"/>
              <a:gd name="connsiteX3" fmla="*/ 1060543 w 1340025"/>
              <a:gd name="connsiteY3" fmla="*/ 1553702 h 2235187"/>
              <a:gd name="connsiteX4" fmla="*/ 98089 w 1340025"/>
              <a:gd name="connsiteY4" fmla="*/ 2235187 h 2235187"/>
              <a:gd name="connsiteX0" fmla="*/ 0 w 1241936"/>
              <a:gd name="connsiteY0" fmla="*/ 2235187 h 2235187"/>
              <a:gd name="connsiteX1" fmla="*/ 154206 w 1241936"/>
              <a:gd name="connsiteY1" fmla="*/ 691441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157622 w 1241936"/>
              <a:gd name="connsiteY1" fmla="*/ 547797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11012 w 1241936"/>
              <a:gd name="connsiteY1" fmla="*/ 659735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37691 w 1241936"/>
              <a:gd name="connsiteY1" fmla="*/ 746604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37691 w 1241936"/>
              <a:gd name="connsiteY1" fmla="*/ 746604 h 2235187"/>
              <a:gd name="connsiteX2" fmla="*/ 1241936 w 1241936"/>
              <a:gd name="connsiteY2" fmla="*/ 0 h 2235187"/>
              <a:gd name="connsiteX3" fmla="*/ 949042 w 1241936"/>
              <a:gd name="connsiteY3" fmla="*/ 1534904 h 2235187"/>
              <a:gd name="connsiteX4" fmla="*/ 0 w 1241936"/>
              <a:gd name="connsiteY4" fmla="*/ 2235187 h 2235187"/>
              <a:gd name="connsiteX0" fmla="*/ 0 w 1224933"/>
              <a:gd name="connsiteY0" fmla="*/ 2232511 h 2232511"/>
              <a:gd name="connsiteX1" fmla="*/ 237691 w 1224933"/>
              <a:gd name="connsiteY1" fmla="*/ 743928 h 2232511"/>
              <a:gd name="connsiteX2" fmla="*/ 1224933 w 1224933"/>
              <a:gd name="connsiteY2" fmla="*/ 0 h 2232511"/>
              <a:gd name="connsiteX3" fmla="*/ 949042 w 1224933"/>
              <a:gd name="connsiteY3" fmla="*/ 1532228 h 2232511"/>
              <a:gd name="connsiteX4" fmla="*/ 0 w 1224933"/>
              <a:gd name="connsiteY4" fmla="*/ 2232511 h 2232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4933" h="2232511">
                <a:moveTo>
                  <a:pt x="0" y="2232511"/>
                </a:moveTo>
                <a:lnTo>
                  <a:pt x="237691" y="743928"/>
                </a:lnTo>
                <a:lnTo>
                  <a:pt x="1224933" y="0"/>
                </a:lnTo>
                <a:lnTo>
                  <a:pt x="949042" y="1532228"/>
                </a:lnTo>
                <a:lnTo>
                  <a:pt x="0" y="2232511"/>
                </a:lnTo>
                <a:close/>
              </a:path>
            </a:pathLst>
          </a:custGeom>
          <a:solidFill>
            <a:schemeClr val="accent6">
              <a:lumMod val="20000"/>
              <a:lumOff val="80000"/>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86" name="Straight Arrow Connector 85">
            <a:extLst>
              <a:ext uri="{FF2B5EF4-FFF2-40B4-BE49-F238E27FC236}">
                <a16:creationId xmlns:a16="http://schemas.microsoft.com/office/drawing/2014/main" id="{1E1325E7-2425-3848-B619-6E0335357378}"/>
              </a:ext>
            </a:extLst>
          </p:cNvPr>
          <p:cNvCxnSpPr>
            <a:cxnSpLocks/>
          </p:cNvCxnSpPr>
          <p:nvPr/>
        </p:nvCxnSpPr>
        <p:spPr>
          <a:xfrm flipH="1" flipV="1">
            <a:off x="8526023" y="1593188"/>
            <a:ext cx="348273" cy="460146"/>
          </a:xfrm>
          <a:prstGeom prst="straightConnector1">
            <a:avLst/>
          </a:prstGeom>
          <a:ln w="38100">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95C1CAC-046D-B148-82C6-40F337CB43F4}"/>
                  </a:ext>
                </a:extLst>
              </p:cNvPr>
              <p:cNvSpPr txBox="1"/>
              <p:nvPr/>
            </p:nvSpPr>
            <p:spPr>
              <a:xfrm>
                <a:off x="8625144" y="1609646"/>
                <a:ext cx="36798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0000"/>
                          </a:solidFill>
                          <a:latin typeface="Cambria Math" panose="02040503050406030204" pitchFamily="18" charset="0"/>
                        </a:rPr>
                        <m:t>𝑥</m:t>
                      </m:r>
                    </m:oMath>
                  </m:oMathPara>
                </a14:m>
                <a:endParaRPr lang="en-US" dirty="0">
                  <a:solidFill>
                    <a:srgbClr val="FF0000"/>
                  </a:solidFill>
                </a:endParaRPr>
              </a:p>
            </p:txBody>
          </p:sp>
        </mc:Choice>
        <mc:Fallback xmlns="">
          <p:sp>
            <p:nvSpPr>
              <p:cNvPr id="11" name="TextBox 10">
                <a:extLst>
                  <a:ext uri="{FF2B5EF4-FFF2-40B4-BE49-F238E27FC236}">
                    <a16:creationId xmlns:a16="http://schemas.microsoft.com/office/drawing/2014/main" id="{495C1CAC-046D-B148-82C6-40F337CB43F4}"/>
                  </a:ext>
                </a:extLst>
              </p:cNvPr>
              <p:cNvSpPr txBox="1">
                <a:spLocks noRot="1" noChangeAspect="1" noMove="1" noResize="1" noEditPoints="1" noAdjustHandles="1" noChangeArrowheads="1" noChangeShapeType="1" noTextEdit="1"/>
              </p:cNvSpPr>
              <p:nvPr/>
            </p:nvSpPr>
            <p:spPr>
              <a:xfrm>
                <a:off x="8625144" y="1609646"/>
                <a:ext cx="367985" cy="369332"/>
              </a:xfrm>
              <a:prstGeom prst="rect">
                <a:avLst/>
              </a:prstGeom>
              <a:blipFill>
                <a:blip r:embed="rId25"/>
                <a:stretch>
                  <a:fillRect/>
                </a:stretch>
              </a:blipFill>
            </p:spPr>
            <p:txBody>
              <a:bodyPr/>
              <a:lstStyle/>
              <a:p>
                <a:r>
                  <a:rPr lang="en-US">
                    <a:noFill/>
                  </a:rPr>
                  <a:t> </a:t>
                </a:r>
              </a:p>
            </p:txBody>
          </p:sp>
        </mc:Fallback>
      </mc:AlternateContent>
      <p:sp>
        <p:nvSpPr>
          <p:cNvPr id="12" name="Freeform 11">
            <a:extLst>
              <a:ext uri="{FF2B5EF4-FFF2-40B4-BE49-F238E27FC236}">
                <a16:creationId xmlns:a16="http://schemas.microsoft.com/office/drawing/2014/main" id="{1A21C9AB-EE0B-7A47-BA0D-826EA659A40D}"/>
              </a:ext>
            </a:extLst>
          </p:cNvPr>
          <p:cNvSpPr/>
          <p:nvPr/>
        </p:nvSpPr>
        <p:spPr>
          <a:xfrm>
            <a:off x="8689975" y="1686395"/>
            <a:ext cx="193675" cy="91605"/>
          </a:xfrm>
          <a:custGeom>
            <a:avLst/>
            <a:gdLst>
              <a:gd name="connsiteX0" fmla="*/ 0 w 193675"/>
              <a:gd name="connsiteY0" fmla="*/ 91605 h 91605"/>
              <a:gd name="connsiteX1" fmla="*/ 63500 w 193675"/>
              <a:gd name="connsiteY1" fmla="*/ 9055 h 91605"/>
              <a:gd name="connsiteX2" fmla="*/ 193675 w 193675"/>
              <a:gd name="connsiteY2" fmla="*/ 5880 h 91605"/>
            </a:gdLst>
            <a:ahLst/>
            <a:cxnLst>
              <a:cxn ang="0">
                <a:pos x="connsiteX0" y="connsiteY0"/>
              </a:cxn>
              <a:cxn ang="0">
                <a:pos x="connsiteX1" y="connsiteY1"/>
              </a:cxn>
              <a:cxn ang="0">
                <a:pos x="connsiteX2" y="connsiteY2"/>
              </a:cxn>
            </a:cxnLst>
            <a:rect l="l" t="t" r="r" b="b"/>
            <a:pathLst>
              <a:path w="193675" h="91605">
                <a:moveTo>
                  <a:pt x="0" y="91605"/>
                </a:moveTo>
                <a:cubicBezTo>
                  <a:pt x="15610" y="57473"/>
                  <a:pt x="31221" y="23342"/>
                  <a:pt x="63500" y="9055"/>
                </a:cubicBezTo>
                <a:cubicBezTo>
                  <a:pt x="95779" y="-5233"/>
                  <a:pt x="144727" y="323"/>
                  <a:pt x="193675" y="588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574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8"/>
                                        </p:tgtEl>
                                        <p:attrNameLst>
                                          <p:attrName>style.visibility</p:attrName>
                                        </p:attrNameLst>
                                      </p:cBhvr>
                                      <p:to>
                                        <p:strVal val="visible"/>
                                      </p:to>
                                    </p:set>
                                    <p:animEffect transition="in" filter="blinds(horizontal)">
                                      <p:cBhvr>
                                        <p:cTn id="12"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4309E-7FAF-0A4E-BCFD-0CA839EE509E}"/>
              </a:ext>
            </a:extLst>
          </p:cNvPr>
          <p:cNvSpPr>
            <a:spLocks noGrp="1"/>
          </p:cNvSpPr>
          <p:nvPr>
            <p:ph type="title"/>
          </p:nvPr>
        </p:nvSpPr>
        <p:spPr/>
        <p:txBody>
          <a:bodyPr/>
          <a:lstStyle/>
          <a:p>
            <a:r>
              <a:rPr lang="en-US" dirty="0"/>
              <a:t>Example of Angle Encoding</a:t>
            </a:r>
          </a:p>
        </p:txBody>
      </p:sp>
      <p:sp>
        <p:nvSpPr>
          <p:cNvPr id="3" name="Slide Number Placeholder 2">
            <a:extLst>
              <a:ext uri="{FF2B5EF4-FFF2-40B4-BE49-F238E27FC236}">
                <a16:creationId xmlns:a16="http://schemas.microsoft.com/office/drawing/2014/main" id="{7DB5B022-14F1-C744-992C-F92AF9FB6F4C}"/>
              </a:ext>
            </a:extLst>
          </p:cNvPr>
          <p:cNvSpPr>
            <a:spLocks noGrp="1"/>
          </p:cNvSpPr>
          <p:nvPr>
            <p:ph type="sldNum" sz="quarter" idx="12"/>
          </p:nvPr>
        </p:nvSpPr>
        <p:spPr/>
        <p:txBody>
          <a:bodyPr/>
          <a:lstStyle/>
          <a:p>
            <a:fld id="{591A223C-FA10-BC46-A853-03BA373D023C}" type="slidenum">
              <a:rPr lang="en-US" smtClean="0"/>
              <a:t>9</a:t>
            </a:fld>
            <a:endParaRPr lang="en-US"/>
          </a:p>
        </p:txBody>
      </p:sp>
      <mc:AlternateContent xmlns:mc="http://schemas.openxmlformats.org/markup-compatibility/2006" xmlns:a14="http://schemas.microsoft.com/office/drawing/2010/main">
        <mc:Choice Requires="a14">
          <p:graphicFrame>
            <p:nvGraphicFramePr>
              <p:cNvPr id="6" name="Diagram 5">
                <a:extLst>
                  <a:ext uri="{FF2B5EF4-FFF2-40B4-BE49-F238E27FC236}">
                    <a16:creationId xmlns:a16="http://schemas.microsoft.com/office/drawing/2014/main" id="{82D4FEC6-CD46-8E43-91E9-8052BF079B67}"/>
                  </a:ext>
                </a:extLst>
              </p:cNvPr>
              <p:cNvGraphicFramePr/>
              <p:nvPr>
                <p:extLst>
                  <p:ext uri="{D42A27DB-BD31-4B8C-83A1-F6EECF244321}">
                    <p14:modId xmlns:p14="http://schemas.microsoft.com/office/powerpoint/2010/main" val="1888548279"/>
                  </p:ext>
                </p:extLst>
              </p:nvPr>
            </p:nvGraphicFramePr>
            <p:xfrm>
              <a:off x="1429885" y="1218334"/>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6" name="Diagram 5">
                <a:extLst>
                  <a:ext uri="{FF2B5EF4-FFF2-40B4-BE49-F238E27FC236}">
                    <a16:creationId xmlns:a16="http://schemas.microsoft.com/office/drawing/2014/main" id="{82D4FEC6-CD46-8E43-91E9-8052BF079B67}"/>
                  </a:ext>
                </a:extLst>
              </p:cNvPr>
              <p:cNvGraphicFramePr/>
              <p:nvPr>
                <p:extLst>
                  <p:ext uri="{D42A27DB-BD31-4B8C-83A1-F6EECF244321}">
                    <p14:modId xmlns:p14="http://schemas.microsoft.com/office/powerpoint/2010/main" val="1888548279"/>
                  </p:ext>
                </p:extLst>
              </p:nvPr>
            </p:nvGraphicFramePr>
            <p:xfrm>
              <a:off x="1429885" y="1218334"/>
              <a:ext cx="8128000" cy="541866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spTree>
    <p:extLst>
      <p:ext uri="{BB962C8B-B14F-4D97-AF65-F5344CB8AC3E}">
        <p14:creationId xmlns:p14="http://schemas.microsoft.com/office/powerpoint/2010/main" val="1024589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20285AB-08AE-3B48-A7B5-18F9C0963A9A}"/>
              </a:ext>
            </a:extLst>
          </p:cNvPr>
          <p:cNvSpPr txBox="1"/>
          <p:nvPr/>
        </p:nvSpPr>
        <p:spPr>
          <a:xfrm>
            <a:off x="6831611" y="3289263"/>
            <a:ext cx="4134465" cy="1938992"/>
          </a:xfrm>
          <a:prstGeom prst="rect">
            <a:avLst/>
          </a:prstGeom>
          <a:noFill/>
        </p:spPr>
        <p:txBody>
          <a:bodyPr wrap="none" rtlCol="0">
            <a:spAutoFit/>
          </a:bodyPr>
          <a:lstStyle/>
          <a:p>
            <a:pPr algn="ctr"/>
            <a:r>
              <a:rPr lang="en-US" sz="6000" dirty="0">
                <a:latin typeface="Comic Sans MS" panose="030F0902030302020204" pitchFamily="66" charset="0"/>
              </a:rPr>
              <a:t>Quantum</a:t>
            </a:r>
          </a:p>
          <a:p>
            <a:pPr algn="ctr"/>
            <a:r>
              <a:rPr lang="en-US" sz="6000" dirty="0">
                <a:latin typeface="Comic Sans MS" panose="030F0902030302020204" pitchFamily="66" charset="0"/>
              </a:rPr>
              <a:t>Arithmetic</a:t>
            </a:r>
          </a:p>
        </p:txBody>
      </p:sp>
      <p:sp>
        <p:nvSpPr>
          <p:cNvPr id="7" name="TextBox 6">
            <a:extLst>
              <a:ext uri="{FF2B5EF4-FFF2-40B4-BE49-F238E27FC236}">
                <a16:creationId xmlns:a16="http://schemas.microsoft.com/office/drawing/2014/main" id="{68D6D4AE-9126-9D40-86D5-0CA4B0E03A33}"/>
              </a:ext>
            </a:extLst>
          </p:cNvPr>
          <p:cNvSpPr txBox="1"/>
          <p:nvPr/>
        </p:nvSpPr>
        <p:spPr>
          <a:xfrm>
            <a:off x="4821123" y="1348773"/>
            <a:ext cx="2109873" cy="1015663"/>
          </a:xfrm>
          <a:prstGeom prst="rect">
            <a:avLst/>
          </a:prstGeom>
          <a:noFill/>
        </p:spPr>
        <p:txBody>
          <a:bodyPr wrap="none" rtlCol="0">
            <a:spAutoFit/>
          </a:bodyPr>
          <a:lstStyle/>
          <a:p>
            <a:pPr algn="ctr"/>
            <a:r>
              <a:rPr lang="en-US" sz="6000" dirty="0">
                <a:latin typeface="Comic Sans MS" panose="030F0902030302020204" pitchFamily="66" charset="0"/>
              </a:rPr>
              <a:t>1+1=0</a:t>
            </a:r>
          </a:p>
        </p:txBody>
      </p:sp>
      <p:sp>
        <p:nvSpPr>
          <p:cNvPr id="8" name="TextBox 7">
            <a:extLst>
              <a:ext uri="{FF2B5EF4-FFF2-40B4-BE49-F238E27FC236}">
                <a16:creationId xmlns:a16="http://schemas.microsoft.com/office/drawing/2014/main" id="{8BEDD4A4-5EAE-5244-9B5D-BD53673AAE94}"/>
              </a:ext>
            </a:extLst>
          </p:cNvPr>
          <p:cNvSpPr txBox="1"/>
          <p:nvPr/>
        </p:nvSpPr>
        <p:spPr>
          <a:xfrm>
            <a:off x="1677118" y="0"/>
            <a:ext cx="829074" cy="1569660"/>
          </a:xfrm>
          <a:prstGeom prst="rect">
            <a:avLst/>
          </a:prstGeom>
          <a:noFill/>
        </p:spPr>
        <p:txBody>
          <a:bodyPr wrap="none" rtlCol="0">
            <a:spAutoFit/>
          </a:bodyPr>
          <a:lstStyle/>
          <a:p>
            <a:pPr algn="ctr"/>
            <a:r>
              <a:rPr lang="en-US" sz="9600" dirty="0">
                <a:latin typeface="Comic Sans MS" panose="030F0902030302020204" pitchFamily="66" charset="0"/>
              </a:rPr>
              <a:t>?</a:t>
            </a:r>
          </a:p>
        </p:txBody>
      </p:sp>
      <p:pic>
        <p:nvPicPr>
          <p:cNvPr id="4" name="Picture 3">
            <a:extLst>
              <a:ext uri="{FF2B5EF4-FFF2-40B4-BE49-F238E27FC236}">
                <a16:creationId xmlns:a16="http://schemas.microsoft.com/office/drawing/2014/main" id="{90738501-88B2-3C4E-BDBB-9E6D38AECF8D}"/>
              </a:ext>
            </a:extLst>
          </p:cNvPr>
          <p:cNvPicPr>
            <a:picLocks noChangeAspect="1"/>
          </p:cNvPicPr>
          <p:nvPr/>
        </p:nvPicPr>
        <p:blipFill>
          <a:blip r:embed="rId3"/>
          <a:stretch>
            <a:fillRect/>
          </a:stretch>
        </p:blipFill>
        <p:spPr>
          <a:xfrm>
            <a:off x="921114" y="1569660"/>
            <a:ext cx="3563861" cy="4493564"/>
          </a:xfrm>
          <a:prstGeom prst="rect">
            <a:avLst/>
          </a:prstGeom>
        </p:spPr>
      </p:pic>
      <p:sp>
        <p:nvSpPr>
          <p:cNvPr id="9" name="Slide Number Placeholder 2">
            <a:extLst>
              <a:ext uri="{FF2B5EF4-FFF2-40B4-BE49-F238E27FC236}">
                <a16:creationId xmlns:a16="http://schemas.microsoft.com/office/drawing/2014/main" id="{F023E190-5D40-FA4E-830C-54100BA3B336}"/>
              </a:ext>
            </a:extLst>
          </p:cNvPr>
          <p:cNvSpPr>
            <a:spLocks noGrp="1"/>
          </p:cNvSpPr>
          <p:nvPr>
            <p:ph type="sldNum" sz="quarter" idx="12"/>
          </p:nvPr>
        </p:nvSpPr>
        <p:spPr>
          <a:xfrm>
            <a:off x="0" y="6492875"/>
            <a:ext cx="587829" cy="365125"/>
          </a:xfrm>
        </p:spPr>
        <p:txBody>
          <a:bodyPr/>
          <a:lstStyle/>
          <a:p>
            <a:fld id="{591A223C-FA10-BC46-A853-03BA373D023C}" type="slidenum">
              <a:rPr lang="en-US" smtClean="0"/>
              <a:t>10</a:t>
            </a:fld>
            <a:endParaRPr lang="en-US"/>
          </a:p>
        </p:txBody>
      </p:sp>
    </p:spTree>
    <p:extLst>
      <p:ext uri="{BB962C8B-B14F-4D97-AF65-F5344CB8AC3E}">
        <p14:creationId xmlns:p14="http://schemas.microsoft.com/office/powerpoint/2010/main" val="3199303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E0C7D73-1938-1E46-BE01-44690EB231D0}"/>
              </a:ext>
            </a:extLst>
          </p:cNvPr>
          <p:cNvSpPr>
            <a:spLocks noGrp="1"/>
          </p:cNvSpPr>
          <p:nvPr>
            <p:ph type="title"/>
          </p:nvPr>
        </p:nvSpPr>
        <p:spPr/>
        <p:txBody>
          <a:bodyPr/>
          <a:lstStyle/>
          <a:p>
            <a:r>
              <a:rPr lang="en-ZA" dirty="0" err="1"/>
              <a:t>MathBox</a:t>
            </a:r>
            <a:r>
              <a:rPr lang="en-ZA" dirty="0"/>
              <a:t>: Modular Arithmetic in Quantum Computing</a:t>
            </a:r>
            <a:endParaRPr lang="en-US" dirty="0"/>
          </a:p>
        </p:txBody>
      </p:sp>
      <p:sp>
        <p:nvSpPr>
          <p:cNvPr id="3" name="Slide Number Placeholder 2">
            <a:extLst>
              <a:ext uri="{FF2B5EF4-FFF2-40B4-BE49-F238E27FC236}">
                <a16:creationId xmlns:a16="http://schemas.microsoft.com/office/drawing/2014/main" id="{B3313DED-9497-F24F-8BFF-F075A5AB1B1F}"/>
              </a:ext>
            </a:extLst>
          </p:cNvPr>
          <p:cNvSpPr>
            <a:spLocks noGrp="1"/>
          </p:cNvSpPr>
          <p:nvPr>
            <p:ph type="sldNum" sz="quarter" idx="12"/>
          </p:nvPr>
        </p:nvSpPr>
        <p:spPr/>
        <p:txBody>
          <a:bodyPr/>
          <a:lstStyle/>
          <a:p>
            <a:fld id="{591A223C-FA10-BC46-A853-03BA373D023C}" type="slidenum">
              <a:rPr lang="en-US" smtClean="0"/>
              <a:t>11</a:t>
            </a:fld>
            <a:endParaRPr lang="en-US"/>
          </a:p>
        </p:txBody>
      </p:sp>
      <p:pic>
        <p:nvPicPr>
          <p:cNvPr id="6" name="Picture 5">
            <a:extLst>
              <a:ext uri="{FF2B5EF4-FFF2-40B4-BE49-F238E27FC236}">
                <a16:creationId xmlns:a16="http://schemas.microsoft.com/office/drawing/2014/main" id="{05B69DD8-4D2D-5047-896D-679BE5F07D95}"/>
              </a:ext>
            </a:extLst>
          </p:cNvPr>
          <p:cNvPicPr>
            <a:picLocks noChangeAspect="1"/>
          </p:cNvPicPr>
          <p:nvPr/>
        </p:nvPicPr>
        <p:blipFill>
          <a:blip r:embed="rId3"/>
          <a:stretch>
            <a:fillRect/>
          </a:stretch>
        </p:blipFill>
        <p:spPr>
          <a:xfrm>
            <a:off x="2934219" y="1439075"/>
            <a:ext cx="6140175" cy="3199810"/>
          </a:xfrm>
          <a:prstGeom prst="rect">
            <a:avLst/>
          </a:prstGeom>
        </p:spPr>
      </p:pic>
      <p:grpSp>
        <p:nvGrpSpPr>
          <p:cNvPr id="9" name="Group 8">
            <a:extLst>
              <a:ext uri="{FF2B5EF4-FFF2-40B4-BE49-F238E27FC236}">
                <a16:creationId xmlns:a16="http://schemas.microsoft.com/office/drawing/2014/main" id="{8E964B4D-7635-8F43-8D29-0BFBF90F28D3}"/>
              </a:ext>
            </a:extLst>
          </p:cNvPr>
          <p:cNvGrpSpPr/>
          <p:nvPr/>
        </p:nvGrpSpPr>
        <p:grpSpPr>
          <a:xfrm>
            <a:off x="2892531" y="4751735"/>
            <a:ext cx="8956649" cy="1741140"/>
            <a:chOff x="2736362" y="5047634"/>
            <a:chExt cx="8956649" cy="1741140"/>
          </a:xfrm>
        </p:grpSpPr>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3CC2391A-DD7D-DD4C-BA03-E4E8C99FD42C}"/>
                    </a:ext>
                  </a:extLst>
                </p:cNvPr>
                <p:cNvSpPr/>
                <p:nvPr/>
              </p:nvSpPr>
              <p:spPr>
                <a:xfrm>
                  <a:off x="4501685" y="5606277"/>
                  <a:ext cx="3188630"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en-US" sz="3600" i="1">
                                <a:latin typeface="Cambria Math" panose="02040503050406030204" pitchFamily="18" charset="0"/>
                              </a:rPr>
                            </m:ctrlPr>
                          </m:dPr>
                          <m:e>
                            <m:r>
                              <a:rPr lang="en-US" sz="3600" i="1">
                                <a:latin typeface="Cambria Math" panose="02040503050406030204" pitchFamily="18" charset="0"/>
                              </a:rPr>
                              <m:t>𝑎</m:t>
                            </m:r>
                            <m:r>
                              <a:rPr lang="en-US" sz="3600" i="0">
                                <a:latin typeface="Cambria Math" panose="02040503050406030204" pitchFamily="18" charset="0"/>
                              </a:rPr>
                              <m:t>≡</m:t>
                            </m:r>
                            <m:r>
                              <a:rPr lang="en-US" sz="3600" i="1">
                                <a:latin typeface="Cambria Math" panose="02040503050406030204" pitchFamily="18" charset="0"/>
                              </a:rPr>
                              <m:t>𝑏</m:t>
                            </m:r>
                            <m:r>
                              <a:rPr lang="en-US" sz="3600" i="0">
                                <a:latin typeface="Cambria Math" panose="02040503050406030204" pitchFamily="18" charset="0"/>
                              </a:rPr>
                              <m:t> (</m:t>
                            </m:r>
                            <m:r>
                              <m:rPr>
                                <m:sty m:val="p"/>
                              </m:rPr>
                              <a:rPr lang="en-US" sz="3600" i="0">
                                <a:latin typeface="Cambria Math" panose="02040503050406030204" pitchFamily="18" charset="0"/>
                              </a:rPr>
                              <m:t>mod</m:t>
                            </m:r>
                            <m:r>
                              <a:rPr lang="en-US" sz="3600" i="0">
                                <a:latin typeface="Cambria Math" panose="02040503050406030204" pitchFamily="18" charset="0"/>
                              </a:rPr>
                              <m:t> </m:t>
                            </m:r>
                            <m:r>
                              <a:rPr lang="en-US" sz="3600" i="1">
                                <a:latin typeface="Cambria Math" panose="02040503050406030204" pitchFamily="18" charset="0"/>
                              </a:rPr>
                              <m:t>𝑛</m:t>
                            </m:r>
                          </m:e>
                        </m:d>
                      </m:oMath>
                    </m:oMathPara>
                  </a14:m>
                  <a:endParaRPr lang="en-US" sz="3600" dirty="0"/>
                </a:p>
              </p:txBody>
            </p:sp>
          </mc:Choice>
          <mc:Fallback xmlns="">
            <p:sp>
              <p:nvSpPr>
                <p:cNvPr id="7" name="Rectangle 6">
                  <a:extLst>
                    <a:ext uri="{FF2B5EF4-FFF2-40B4-BE49-F238E27FC236}">
                      <a16:creationId xmlns:a16="http://schemas.microsoft.com/office/drawing/2014/main" id="{3CC2391A-DD7D-DD4C-BA03-E4E8C99FD42C}"/>
                    </a:ext>
                  </a:extLst>
                </p:cNvPr>
                <p:cNvSpPr>
                  <a:spLocks noRot="1" noChangeAspect="1" noMove="1" noResize="1" noEditPoints="1" noAdjustHandles="1" noChangeArrowheads="1" noChangeShapeType="1" noTextEdit="1"/>
                </p:cNvSpPr>
                <p:nvPr/>
              </p:nvSpPr>
              <p:spPr>
                <a:xfrm>
                  <a:off x="4501685" y="5606277"/>
                  <a:ext cx="3188630" cy="646331"/>
                </a:xfrm>
                <a:prstGeom prst="rect">
                  <a:avLst/>
                </a:prstGeom>
                <a:blipFill>
                  <a:blip r:embed="rId4"/>
                  <a:stretch>
                    <a:fillRect t="-134615" r="-14683" b="-209615"/>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5541BAA3-9387-984D-8649-C48734EE0CE9}"/>
                </a:ext>
              </a:extLst>
            </p:cNvPr>
            <p:cNvSpPr txBox="1"/>
            <p:nvPr/>
          </p:nvSpPr>
          <p:spPr>
            <a:xfrm>
              <a:off x="4502455" y="5047634"/>
              <a:ext cx="3161956" cy="523220"/>
            </a:xfrm>
            <a:prstGeom prst="rect">
              <a:avLst/>
            </a:prstGeom>
            <a:solidFill>
              <a:schemeClr val="accent4">
                <a:lumMod val="20000"/>
                <a:lumOff val="80000"/>
              </a:schemeClr>
            </a:solidFill>
          </p:spPr>
          <p:txBody>
            <a:bodyPr wrap="none" rtlCol="0">
              <a:spAutoFit/>
            </a:bodyPr>
            <a:lstStyle/>
            <a:p>
              <a:r>
                <a:rPr lang="en-ZA" sz="2800" dirty="0"/>
                <a:t>congruence relation</a:t>
              </a:r>
              <a:endParaRPr lang="en-US" sz="2800"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DD1AE57-3367-EA4B-9BF6-886742FF7824}"/>
                    </a:ext>
                  </a:extLst>
                </p:cNvPr>
                <p:cNvSpPr txBox="1"/>
                <p:nvPr/>
              </p:nvSpPr>
              <p:spPr>
                <a:xfrm>
                  <a:off x="7994050" y="5744776"/>
                  <a:ext cx="3698961" cy="430887"/>
                </a:xfrm>
                <a:prstGeom prst="rect">
                  <a:avLst/>
                </a:prstGeom>
                <a:solidFill>
                  <a:schemeClr val="accent4">
                    <a:lumMod val="20000"/>
                    <a:lumOff val="80000"/>
                  </a:schemeClr>
                </a:solidFill>
              </p:spPr>
              <p:txBody>
                <a:bodyPr wrap="none" rtlCol="0">
                  <a:spAutoFit/>
                </a:bodyPr>
                <a:lstStyle/>
                <a:p>
                  <a:r>
                    <a:rPr lang="en-ZA" sz="2200" dirty="0"/>
                    <a:t>(</a:t>
                  </a:r>
                  <a14:m>
                    <m:oMath xmlns:m="http://schemas.openxmlformats.org/officeDocument/2006/math">
                      <m:r>
                        <a:rPr lang="en-US" sz="2200" i="1">
                          <a:latin typeface="Cambria Math" panose="02040503050406030204" pitchFamily="18" charset="0"/>
                        </a:rPr>
                        <m:t>𝑎</m:t>
                      </m:r>
                    </m:oMath>
                  </a14:m>
                  <a:r>
                    <a:rPr lang="en-ZA" sz="2200" dirty="0"/>
                    <a:t> is congruent to </a:t>
                  </a:r>
                  <a14:m>
                    <m:oMath xmlns:m="http://schemas.openxmlformats.org/officeDocument/2006/math">
                      <m:r>
                        <a:rPr lang="en-US" sz="2200" i="1">
                          <a:latin typeface="Cambria Math" panose="02040503050406030204" pitchFamily="18" charset="0"/>
                        </a:rPr>
                        <m:t>𝑏</m:t>
                      </m:r>
                    </m:oMath>
                  </a14:m>
                  <a:r>
                    <a:rPr lang="en-ZA" sz="2200" dirty="0"/>
                    <a:t> modulo </a:t>
                  </a:r>
                  <a14:m>
                    <m:oMath xmlns:m="http://schemas.openxmlformats.org/officeDocument/2006/math">
                      <m:r>
                        <a:rPr lang="en-US" sz="2200" i="1">
                          <a:latin typeface="Cambria Math" panose="02040503050406030204" pitchFamily="18" charset="0"/>
                        </a:rPr>
                        <m:t>𝑛</m:t>
                      </m:r>
                    </m:oMath>
                  </a14:m>
                  <a:r>
                    <a:rPr lang="en-ZA" sz="2200" dirty="0"/>
                    <a:t>)</a:t>
                  </a:r>
                  <a:endParaRPr lang="en-US" sz="2200" dirty="0"/>
                </a:p>
              </p:txBody>
            </p:sp>
          </mc:Choice>
          <mc:Fallback xmlns="">
            <p:sp>
              <p:nvSpPr>
                <p:cNvPr id="11" name="TextBox 10">
                  <a:extLst>
                    <a:ext uri="{FF2B5EF4-FFF2-40B4-BE49-F238E27FC236}">
                      <a16:creationId xmlns:a16="http://schemas.microsoft.com/office/drawing/2014/main" id="{6DD1AE57-3367-EA4B-9BF6-886742FF7824}"/>
                    </a:ext>
                  </a:extLst>
                </p:cNvPr>
                <p:cNvSpPr txBox="1">
                  <a:spLocks noRot="1" noChangeAspect="1" noMove="1" noResize="1" noEditPoints="1" noAdjustHandles="1" noChangeArrowheads="1" noChangeShapeType="1" noTextEdit="1"/>
                </p:cNvSpPr>
                <p:nvPr/>
              </p:nvSpPr>
              <p:spPr>
                <a:xfrm>
                  <a:off x="7994050" y="5744776"/>
                  <a:ext cx="3698961" cy="430887"/>
                </a:xfrm>
                <a:prstGeom prst="rect">
                  <a:avLst/>
                </a:prstGeom>
                <a:blipFill>
                  <a:blip r:embed="rId5"/>
                  <a:stretch>
                    <a:fillRect l="-2055" t="-8571" r="-1027" b="-2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5180BFC-B9B1-8A46-8043-AE3BD7375BCF}"/>
                    </a:ext>
                  </a:extLst>
                </p:cNvPr>
                <p:cNvSpPr txBox="1"/>
                <p:nvPr/>
              </p:nvSpPr>
              <p:spPr>
                <a:xfrm>
                  <a:off x="2736362" y="6327109"/>
                  <a:ext cx="6777881" cy="461665"/>
                </a:xfrm>
                <a:prstGeom prst="rect">
                  <a:avLst/>
                </a:prstGeom>
                <a:noFill/>
              </p:spPr>
              <p:txBody>
                <a:bodyPr wrap="none" rtlCol="0">
                  <a:spAutoFit/>
                </a:bodyPr>
                <a:lstStyle/>
                <a:p>
                  <a14:m>
                    <m:oMath xmlns:m="http://schemas.openxmlformats.org/officeDocument/2006/math">
                      <m:r>
                        <a:rPr lang="en-US" sz="2400" i="1" smtClean="0">
                          <a:latin typeface="Cambria Math" panose="02040503050406030204" pitchFamily="18" charset="0"/>
                        </a:rPr>
                        <m:t>𝑎</m:t>
                      </m:r>
                    </m:oMath>
                  </a14:m>
                  <a:r>
                    <a:rPr lang="en-ZA" sz="2400" dirty="0"/>
                    <a:t> and </a:t>
                  </a:r>
                  <a14:m>
                    <m:oMath xmlns:m="http://schemas.openxmlformats.org/officeDocument/2006/math">
                      <m:r>
                        <a:rPr lang="en-US" sz="2400" b="0" i="1" smtClean="0">
                          <a:latin typeface="Cambria Math" panose="02040503050406030204" pitchFamily="18" charset="0"/>
                        </a:rPr>
                        <m:t>𝑏</m:t>
                      </m:r>
                    </m:oMath>
                  </a14:m>
                  <a:r>
                    <a:rPr lang="en-ZA" sz="2400" dirty="0"/>
                    <a:t> have the same remainder when divided by </a:t>
                  </a:r>
                  <a14:m>
                    <m:oMath xmlns:m="http://schemas.openxmlformats.org/officeDocument/2006/math">
                      <m:r>
                        <a:rPr lang="en-US" sz="2400" b="0" i="1" smtClean="0">
                          <a:latin typeface="Cambria Math" panose="02040503050406030204" pitchFamily="18" charset="0"/>
                        </a:rPr>
                        <m:t>𝑛</m:t>
                      </m:r>
                    </m:oMath>
                  </a14:m>
                  <a:endParaRPr lang="en-US" sz="2200" dirty="0"/>
                </a:p>
              </p:txBody>
            </p:sp>
          </mc:Choice>
          <mc:Fallback xmlns="">
            <p:sp>
              <p:nvSpPr>
                <p:cNvPr id="12" name="TextBox 11">
                  <a:extLst>
                    <a:ext uri="{FF2B5EF4-FFF2-40B4-BE49-F238E27FC236}">
                      <a16:creationId xmlns:a16="http://schemas.microsoft.com/office/drawing/2014/main" id="{A5180BFC-B9B1-8A46-8043-AE3BD7375BCF}"/>
                    </a:ext>
                  </a:extLst>
                </p:cNvPr>
                <p:cNvSpPr txBox="1">
                  <a:spLocks noRot="1" noChangeAspect="1" noMove="1" noResize="1" noEditPoints="1" noAdjustHandles="1" noChangeArrowheads="1" noChangeShapeType="1" noTextEdit="1"/>
                </p:cNvSpPr>
                <p:nvPr/>
              </p:nvSpPr>
              <p:spPr>
                <a:xfrm>
                  <a:off x="2736362" y="6327109"/>
                  <a:ext cx="6777881" cy="461665"/>
                </a:xfrm>
                <a:prstGeom prst="rect">
                  <a:avLst/>
                </a:prstGeom>
                <a:blipFill>
                  <a:blip r:embed="rId6"/>
                  <a:stretch>
                    <a:fillRect t="-8108" b="-29730"/>
                  </a:stretch>
                </a:blipFill>
              </p:spPr>
              <p:txBody>
                <a:bodyPr/>
                <a:lstStyle/>
                <a:p>
                  <a:r>
                    <a:rPr lang="en-US">
                      <a:noFill/>
                    </a:rPr>
                    <a:t> </a:t>
                  </a:r>
                </a:p>
              </p:txBody>
            </p:sp>
          </mc:Fallback>
        </mc:AlternateContent>
      </p:grpSp>
      <p:sp>
        <p:nvSpPr>
          <p:cNvPr id="2" name="TextBox 1">
            <a:extLst>
              <a:ext uri="{FF2B5EF4-FFF2-40B4-BE49-F238E27FC236}">
                <a16:creationId xmlns:a16="http://schemas.microsoft.com/office/drawing/2014/main" id="{7259093A-819F-CC43-92A2-FA5DC841359D}"/>
              </a:ext>
            </a:extLst>
          </p:cNvPr>
          <p:cNvSpPr txBox="1"/>
          <p:nvPr/>
        </p:nvSpPr>
        <p:spPr>
          <a:xfrm>
            <a:off x="3620080" y="1009524"/>
            <a:ext cx="1140056" cy="369332"/>
          </a:xfrm>
          <a:prstGeom prst="rect">
            <a:avLst/>
          </a:prstGeom>
          <a:noFill/>
        </p:spPr>
        <p:txBody>
          <a:bodyPr wrap="none" rtlCol="0">
            <a:spAutoFit/>
          </a:bodyPr>
          <a:lstStyle/>
          <a:p>
            <a:r>
              <a:rPr lang="en-ZA" dirty="0"/>
              <a:t>(modulus)</a:t>
            </a:r>
            <a:endParaRPr lang="en-US" dirty="0"/>
          </a:p>
        </p:txBody>
      </p:sp>
      <p:sp>
        <p:nvSpPr>
          <p:cNvPr id="10" name="TextBox 9">
            <a:extLst>
              <a:ext uri="{FF2B5EF4-FFF2-40B4-BE49-F238E27FC236}">
                <a16:creationId xmlns:a16="http://schemas.microsoft.com/office/drawing/2014/main" id="{9C4DAECF-A235-6C49-9184-954F7077F900}"/>
              </a:ext>
            </a:extLst>
          </p:cNvPr>
          <p:cNvSpPr txBox="1"/>
          <p:nvPr/>
        </p:nvSpPr>
        <p:spPr>
          <a:xfrm>
            <a:off x="7370856" y="999215"/>
            <a:ext cx="1140056" cy="369332"/>
          </a:xfrm>
          <a:prstGeom prst="rect">
            <a:avLst/>
          </a:prstGeom>
          <a:noFill/>
        </p:spPr>
        <p:txBody>
          <a:bodyPr wrap="none" rtlCol="0">
            <a:spAutoFit/>
          </a:bodyPr>
          <a:lstStyle/>
          <a:p>
            <a:r>
              <a:rPr lang="en-ZA" dirty="0"/>
              <a:t>(modulus)</a:t>
            </a:r>
            <a:endParaRPr lang="en-US" dirty="0"/>
          </a:p>
        </p:txBody>
      </p:sp>
    </p:spTree>
    <p:extLst>
      <p:ext uri="{BB962C8B-B14F-4D97-AF65-F5344CB8AC3E}">
        <p14:creationId xmlns:p14="http://schemas.microsoft.com/office/powerpoint/2010/main" val="480804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47BA4-CE9A-F74B-A95C-2543E75C666A}"/>
              </a:ext>
            </a:extLst>
          </p:cNvPr>
          <p:cNvSpPr>
            <a:spLocks noGrp="1"/>
          </p:cNvSpPr>
          <p:nvPr>
            <p:ph type="title"/>
          </p:nvPr>
        </p:nvSpPr>
        <p:spPr/>
        <p:txBody>
          <a:bodyPr/>
          <a:lstStyle/>
          <a:p>
            <a:r>
              <a:rPr lang="en-ZA" dirty="0"/>
              <a:t>Quantum Half-Adder</a:t>
            </a:r>
            <a:endParaRPr lang="en-US" dirty="0"/>
          </a:p>
        </p:txBody>
      </p:sp>
      <p:sp>
        <p:nvSpPr>
          <p:cNvPr id="3" name="Slide Number Placeholder 2">
            <a:extLst>
              <a:ext uri="{FF2B5EF4-FFF2-40B4-BE49-F238E27FC236}">
                <a16:creationId xmlns:a16="http://schemas.microsoft.com/office/drawing/2014/main" id="{051F194A-D932-A444-8E0F-2F3A44458B87}"/>
              </a:ext>
            </a:extLst>
          </p:cNvPr>
          <p:cNvSpPr>
            <a:spLocks noGrp="1"/>
          </p:cNvSpPr>
          <p:nvPr>
            <p:ph type="sldNum" sz="quarter" idx="12"/>
          </p:nvPr>
        </p:nvSpPr>
        <p:spPr/>
        <p:txBody>
          <a:bodyPr/>
          <a:lstStyle/>
          <a:p>
            <a:fld id="{591A223C-FA10-BC46-A853-03BA373D023C}" type="slidenum">
              <a:rPr lang="en-US" smtClean="0"/>
              <a:t>12</a:t>
            </a:fld>
            <a:endParaRPr lang="en-US"/>
          </a:p>
        </p:txBody>
      </p:sp>
      <p:pic>
        <p:nvPicPr>
          <p:cNvPr id="5" name="Picture 4">
            <a:extLst>
              <a:ext uri="{FF2B5EF4-FFF2-40B4-BE49-F238E27FC236}">
                <a16:creationId xmlns:a16="http://schemas.microsoft.com/office/drawing/2014/main" id="{F20FCE1E-9960-A74A-9ECD-29300A5B7E0D}"/>
              </a:ext>
            </a:extLst>
          </p:cNvPr>
          <p:cNvPicPr>
            <a:picLocks noChangeAspect="1"/>
          </p:cNvPicPr>
          <p:nvPr/>
        </p:nvPicPr>
        <p:blipFill>
          <a:blip r:embed="rId3"/>
          <a:stretch>
            <a:fillRect/>
          </a:stretch>
        </p:blipFill>
        <p:spPr>
          <a:xfrm>
            <a:off x="462638" y="1405638"/>
            <a:ext cx="11201713" cy="2451988"/>
          </a:xfrm>
          <a:prstGeom prst="rect">
            <a:avLst/>
          </a:prstGeom>
        </p:spPr>
      </p:pic>
      <p:graphicFrame>
        <p:nvGraphicFramePr>
          <p:cNvPr id="7" name="Table 6">
            <a:extLst>
              <a:ext uri="{FF2B5EF4-FFF2-40B4-BE49-F238E27FC236}">
                <a16:creationId xmlns:a16="http://schemas.microsoft.com/office/drawing/2014/main" id="{3B8EDD15-0B73-9C43-91EC-51E5ABE77FC7}"/>
              </a:ext>
            </a:extLst>
          </p:cNvPr>
          <p:cNvGraphicFramePr>
            <a:graphicFrameLocks noGrp="1"/>
          </p:cNvGraphicFramePr>
          <p:nvPr>
            <p:extLst>
              <p:ext uri="{D42A27DB-BD31-4B8C-83A1-F6EECF244321}">
                <p14:modId xmlns:p14="http://schemas.microsoft.com/office/powerpoint/2010/main" val="3322317350"/>
              </p:ext>
            </p:extLst>
          </p:nvPr>
        </p:nvGraphicFramePr>
        <p:xfrm>
          <a:off x="1469013" y="3857626"/>
          <a:ext cx="2245736" cy="2286000"/>
        </p:xfrm>
        <a:graphic>
          <a:graphicData uri="http://schemas.openxmlformats.org/drawingml/2006/table">
            <a:tbl>
              <a:tblPr firstRow="1" bandRow="1">
                <a:tableStyleId>{5C22544A-7EE6-4342-B048-85BDC9FD1C3A}</a:tableStyleId>
              </a:tblPr>
              <a:tblGrid>
                <a:gridCol w="561434">
                  <a:extLst>
                    <a:ext uri="{9D8B030D-6E8A-4147-A177-3AD203B41FA5}">
                      <a16:colId xmlns:a16="http://schemas.microsoft.com/office/drawing/2014/main" val="2977188447"/>
                    </a:ext>
                  </a:extLst>
                </a:gridCol>
                <a:gridCol w="561434">
                  <a:extLst>
                    <a:ext uri="{9D8B030D-6E8A-4147-A177-3AD203B41FA5}">
                      <a16:colId xmlns:a16="http://schemas.microsoft.com/office/drawing/2014/main" val="1418539512"/>
                    </a:ext>
                  </a:extLst>
                </a:gridCol>
                <a:gridCol w="561434">
                  <a:extLst>
                    <a:ext uri="{9D8B030D-6E8A-4147-A177-3AD203B41FA5}">
                      <a16:colId xmlns:a16="http://schemas.microsoft.com/office/drawing/2014/main" val="2909951048"/>
                    </a:ext>
                  </a:extLst>
                </a:gridCol>
                <a:gridCol w="561434">
                  <a:extLst>
                    <a:ext uri="{9D8B030D-6E8A-4147-A177-3AD203B41FA5}">
                      <a16:colId xmlns:a16="http://schemas.microsoft.com/office/drawing/2014/main" val="678780028"/>
                    </a:ext>
                  </a:extLst>
                </a:gridCol>
              </a:tblGrid>
              <a:tr h="370840">
                <a:tc>
                  <a:txBody>
                    <a:bodyPr/>
                    <a:lstStyle/>
                    <a:p>
                      <a:pPr algn="ctr"/>
                      <a:r>
                        <a:rPr lang="en-US" sz="2400" dirty="0"/>
                        <a:t>x</a:t>
                      </a:r>
                      <a:r>
                        <a:rPr lang="en-US" sz="2400" baseline="-25000"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x</a:t>
                      </a:r>
                      <a:r>
                        <a:rPr lang="en-US" sz="2400" baseline="-25000" dirty="0"/>
                        <a:t>2</a:t>
                      </a:r>
                    </a:p>
                  </a:txBody>
                  <a:tcPr/>
                </a:tc>
                <a:tc>
                  <a:txBody>
                    <a:bodyPr/>
                    <a:lstStyle/>
                    <a:p>
                      <a:pPr algn="ctr"/>
                      <a:r>
                        <a:rPr lang="en-US" sz="2400" dirty="0"/>
                        <a:t>S</a:t>
                      </a:r>
                    </a:p>
                  </a:txBody>
                  <a:tcPr/>
                </a:tc>
                <a:tc>
                  <a:txBody>
                    <a:bodyPr/>
                    <a:lstStyle/>
                    <a:p>
                      <a:pPr algn="ctr"/>
                      <a:r>
                        <a:rPr lang="en-US" sz="2400" dirty="0"/>
                        <a:t>C</a:t>
                      </a:r>
                    </a:p>
                  </a:txBody>
                  <a:tcPr/>
                </a:tc>
                <a:extLst>
                  <a:ext uri="{0D108BD9-81ED-4DB2-BD59-A6C34878D82A}">
                    <a16:rowId xmlns:a16="http://schemas.microsoft.com/office/drawing/2014/main" val="1324016280"/>
                  </a:ext>
                </a:extLst>
              </a:tr>
              <a:tr h="370840">
                <a:tc>
                  <a:txBody>
                    <a:bodyPr/>
                    <a:lstStyle/>
                    <a:p>
                      <a:pPr algn="ctr"/>
                      <a:r>
                        <a:rPr lang="en-US" sz="2400" dirty="0"/>
                        <a:t>0</a:t>
                      </a:r>
                    </a:p>
                  </a:txBody>
                  <a:tcPr/>
                </a:tc>
                <a:tc>
                  <a:txBody>
                    <a:bodyPr/>
                    <a:lstStyle/>
                    <a:p>
                      <a:pPr algn="ctr"/>
                      <a:r>
                        <a:rPr lang="en-US" sz="2400" dirty="0"/>
                        <a:t>0</a:t>
                      </a:r>
                    </a:p>
                  </a:txBody>
                  <a:tcPr/>
                </a:tc>
                <a:tc>
                  <a:txBody>
                    <a:bodyPr/>
                    <a:lstStyle/>
                    <a:p>
                      <a:pPr algn="ctr"/>
                      <a:r>
                        <a:rPr lang="en-US" sz="2400" dirty="0"/>
                        <a:t>0</a:t>
                      </a:r>
                    </a:p>
                  </a:txBody>
                  <a:tcPr/>
                </a:tc>
                <a:tc>
                  <a:txBody>
                    <a:bodyPr/>
                    <a:lstStyle/>
                    <a:p>
                      <a:pPr algn="ctr"/>
                      <a:r>
                        <a:rPr lang="en-US" sz="2400" dirty="0"/>
                        <a:t>0</a:t>
                      </a:r>
                    </a:p>
                  </a:txBody>
                  <a:tcPr/>
                </a:tc>
                <a:extLst>
                  <a:ext uri="{0D108BD9-81ED-4DB2-BD59-A6C34878D82A}">
                    <a16:rowId xmlns:a16="http://schemas.microsoft.com/office/drawing/2014/main" val="2539053379"/>
                  </a:ext>
                </a:extLst>
              </a:tr>
              <a:tr h="370840">
                <a:tc>
                  <a:txBody>
                    <a:bodyPr/>
                    <a:lstStyle/>
                    <a:p>
                      <a:pPr algn="ctr"/>
                      <a:r>
                        <a:rPr lang="en-US" sz="2400" dirty="0"/>
                        <a:t>0</a:t>
                      </a:r>
                    </a:p>
                  </a:txBody>
                  <a:tcPr/>
                </a:tc>
                <a:tc>
                  <a:txBody>
                    <a:bodyPr/>
                    <a:lstStyle/>
                    <a:p>
                      <a:pPr algn="ctr"/>
                      <a:r>
                        <a:rPr lang="en-US" sz="2400" dirty="0"/>
                        <a:t>1</a:t>
                      </a:r>
                    </a:p>
                  </a:txBody>
                  <a:tcPr/>
                </a:tc>
                <a:tc>
                  <a:txBody>
                    <a:bodyPr/>
                    <a:lstStyle/>
                    <a:p>
                      <a:pPr algn="ctr"/>
                      <a:r>
                        <a:rPr lang="en-US" sz="2400" dirty="0"/>
                        <a:t>1</a:t>
                      </a:r>
                    </a:p>
                  </a:txBody>
                  <a:tcPr/>
                </a:tc>
                <a:tc>
                  <a:txBody>
                    <a:bodyPr/>
                    <a:lstStyle/>
                    <a:p>
                      <a:pPr algn="ctr"/>
                      <a:r>
                        <a:rPr lang="en-US" sz="2400" dirty="0"/>
                        <a:t>0</a:t>
                      </a:r>
                    </a:p>
                  </a:txBody>
                  <a:tcPr/>
                </a:tc>
                <a:extLst>
                  <a:ext uri="{0D108BD9-81ED-4DB2-BD59-A6C34878D82A}">
                    <a16:rowId xmlns:a16="http://schemas.microsoft.com/office/drawing/2014/main" val="1584350074"/>
                  </a:ext>
                </a:extLst>
              </a:tr>
              <a:tr h="370840">
                <a:tc>
                  <a:txBody>
                    <a:bodyPr/>
                    <a:lstStyle/>
                    <a:p>
                      <a:pPr algn="ctr"/>
                      <a:r>
                        <a:rPr lang="en-US" sz="2400" dirty="0"/>
                        <a:t>1</a:t>
                      </a:r>
                    </a:p>
                  </a:txBody>
                  <a:tcPr/>
                </a:tc>
                <a:tc>
                  <a:txBody>
                    <a:bodyPr/>
                    <a:lstStyle/>
                    <a:p>
                      <a:pPr algn="ctr"/>
                      <a:r>
                        <a:rPr lang="en-US" sz="2400" dirty="0"/>
                        <a:t>0</a:t>
                      </a:r>
                    </a:p>
                  </a:txBody>
                  <a:tcPr/>
                </a:tc>
                <a:tc>
                  <a:txBody>
                    <a:bodyPr/>
                    <a:lstStyle/>
                    <a:p>
                      <a:pPr algn="ctr"/>
                      <a:r>
                        <a:rPr lang="en-US" sz="2400" dirty="0"/>
                        <a:t>1</a:t>
                      </a:r>
                    </a:p>
                  </a:txBody>
                  <a:tcPr/>
                </a:tc>
                <a:tc>
                  <a:txBody>
                    <a:bodyPr/>
                    <a:lstStyle/>
                    <a:p>
                      <a:pPr algn="ctr"/>
                      <a:r>
                        <a:rPr lang="en-US" sz="2400" dirty="0"/>
                        <a:t>0</a:t>
                      </a:r>
                    </a:p>
                  </a:txBody>
                  <a:tcPr/>
                </a:tc>
                <a:extLst>
                  <a:ext uri="{0D108BD9-81ED-4DB2-BD59-A6C34878D82A}">
                    <a16:rowId xmlns:a16="http://schemas.microsoft.com/office/drawing/2014/main" val="656506072"/>
                  </a:ext>
                </a:extLst>
              </a:tr>
              <a:tr h="370840">
                <a:tc>
                  <a:txBody>
                    <a:bodyPr/>
                    <a:lstStyle/>
                    <a:p>
                      <a:pPr algn="ctr"/>
                      <a:r>
                        <a:rPr lang="en-US" sz="2400" dirty="0"/>
                        <a:t>1</a:t>
                      </a:r>
                    </a:p>
                  </a:txBody>
                  <a:tcPr/>
                </a:tc>
                <a:tc>
                  <a:txBody>
                    <a:bodyPr/>
                    <a:lstStyle/>
                    <a:p>
                      <a:pPr algn="ctr"/>
                      <a:r>
                        <a:rPr lang="en-US" sz="2400" dirty="0"/>
                        <a:t>1</a:t>
                      </a:r>
                    </a:p>
                  </a:txBody>
                  <a:tcPr/>
                </a:tc>
                <a:tc>
                  <a:txBody>
                    <a:bodyPr/>
                    <a:lstStyle/>
                    <a:p>
                      <a:pPr algn="ctr"/>
                      <a:r>
                        <a:rPr lang="en-US" sz="2400" dirty="0"/>
                        <a:t>0</a:t>
                      </a:r>
                    </a:p>
                  </a:txBody>
                  <a:tcPr/>
                </a:tc>
                <a:tc>
                  <a:txBody>
                    <a:bodyPr/>
                    <a:lstStyle/>
                    <a:p>
                      <a:pPr algn="ctr"/>
                      <a:r>
                        <a:rPr lang="en-US" sz="2400" dirty="0"/>
                        <a:t>1</a:t>
                      </a:r>
                    </a:p>
                  </a:txBody>
                  <a:tcPr/>
                </a:tc>
                <a:extLst>
                  <a:ext uri="{0D108BD9-81ED-4DB2-BD59-A6C34878D82A}">
                    <a16:rowId xmlns:a16="http://schemas.microsoft.com/office/drawing/2014/main" val="2778261440"/>
                  </a:ext>
                </a:extLst>
              </a:tr>
            </a:tbl>
          </a:graphicData>
        </a:graphic>
      </p:graphicFrame>
      <p:sp>
        <p:nvSpPr>
          <p:cNvPr id="4" name="TextBox 3">
            <a:extLst>
              <a:ext uri="{FF2B5EF4-FFF2-40B4-BE49-F238E27FC236}">
                <a16:creationId xmlns:a16="http://schemas.microsoft.com/office/drawing/2014/main" id="{0C43A184-5F58-F140-BF69-45B4BD026A3E}"/>
              </a:ext>
            </a:extLst>
          </p:cNvPr>
          <p:cNvSpPr txBox="1"/>
          <p:nvPr/>
        </p:nvSpPr>
        <p:spPr>
          <a:xfrm>
            <a:off x="1650206" y="2431577"/>
            <a:ext cx="1614488" cy="400110"/>
          </a:xfrm>
          <a:prstGeom prst="rect">
            <a:avLst/>
          </a:prstGeom>
          <a:solidFill>
            <a:schemeClr val="bg1"/>
          </a:solidFill>
        </p:spPr>
        <p:txBody>
          <a:bodyPr wrap="square" rtlCol="0">
            <a:spAutoFit/>
          </a:bodyPr>
          <a:lstStyle/>
          <a:p>
            <a:pPr algn="ctr"/>
            <a:r>
              <a:rPr lang="en-ZA" sz="2000" dirty="0">
                <a:latin typeface="+mj-lt"/>
              </a:rPr>
              <a:t>half-adder</a:t>
            </a:r>
            <a:endParaRPr lang="en-US" sz="2000" dirty="0">
              <a:latin typeface="+mj-lt"/>
            </a:endParaRPr>
          </a:p>
        </p:txBody>
      </p:sp>
      <p:sp>
        <p:nvSpPr>
          <p:cNvPr id="8" name="TextBox 7">
            <a:extLst>
              <a:ext uri="{FF2B5EF4-FFF2-40B4-BE49-F238E27FC236}">
                <a16:creationId xmlns:a16="http://schemas.microsoft.com/office/drawing/2014/main" id="{6E62EBEF-8656-0045-B9BB-4D0756576E92}"/>
              </a:ext>
            </a:extLst>
          </p:cNvPr>
          <p:cNvSpPr txBox="1"/>
          <p:nvPr/>
        </p:nvSpPr>
        <p:spPr>
          <a:xfrm>
            <a:off x="4645818" y="2739141"/>
            <a:ext cx="1033463" cy="461665"/>
          </a:xfrm>
          <a:prstGeom prst="rect">
            <a:avLst/>
          </a:prstGeom>
          <a:solidFill>
            <a:schemeClr val="bg1"/>
          </a:solidFill>
        </p:spPr>
        <p:txBody>
          <a:bodyPr wrap="square" rtlCol="0">
            <a:spAutoFit/>
          </a:bodyPr>
          <a:lstStyle/>
          <a:p>
            <a:r>
              <a:rPr lang="en-ZA" sz="2400" dirty="0">
                <a:latin typeface="+mj-lt"/>
              </a:rPr>
              <a:t>carry</a:t>
            </a:r>
            <a:endParaRPr lang="en-US" sz="2400" dirty="0">
              <a:latin typeface="+mj-lt"/>
            </a:endParaRPr>
          </a:p>
        </p:txBody>
      </p:sp>
    </p:spTree>
    <p:extLst>
      <p:ext uri="{BB962C8B-B14F-4D97-AF65-F5344CB8AC3E}">
        <p14:creationId xmlns:p14="http://schemas.microsoft.com/office/powerpoint/2010/main" val="3655056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1B0F6-34C4-CF4B-8BF7-0984137DBCFF}"/>
              </a:ext>
            </a:extLst>
          </p:cNvPr>
          <p:cNvSpPr>
            <a:spLocks noGrp="1"/>
          </p:cNvSpPr>
          <p:nvPr>
            <p:ph type="title"/>
          </p:nvPr>
        </p:nvSpPr>
        <p:spPr/>
        <p:txBody>
          <a:bodyPr/>
          <a:lstStyle/>
          <a:p>
            <a:r>
              <a:rPr lang="en-US" dirty="0"/>
              <a:t>Quantum Adder</a:t>
            </a:r>
          </a:p>
        </p:txBody>
      </p:sp>
      <p:sp>
        <p:nvSpPr>
          <p:cNvPr id="3" name="Slide Number Placeholder 2">
            <a:extLst>
              <a:ext uri="{FF2B5EF4-FFF2-40B4-BE49-F238E27FC236}">
                <a16:creationId xmlns:a16="http://schemas.microsoft.com/office/drawing/2014/main" id="{AACA2130-8C44-5A45-B614-C961FE54BA29}"/>
              </a:ext>
            </a:extLst>
          </p:cNvPr>
          <p:cNvSpPr>
            <a:spLocks noGrp="1"/>
          </p:cNvSpPr>
          <p:nvPr>
            <p:ph type="sldNum" sz="quarter" idx="12"/>
          </p:nvPr>
        </p:nvSpPr>
        <p:spPr/>
        <p:txBody>
          <a:bodyPr/>
          <a:lstStyle/>
          <a:p>
            <a:fld id="{591A223C-FA10-BC46-A853-03BA373D023C}" type="slidenum">
              <a:rPr lang="en-US" smtClean="0"/>
              <a:t>13</a:t>
            </a:fld>
            <a:endParaRPr lang="en-US"/>
          </a:p>
        </p:txBody>
      </p:sp>
      <p:pic>
        <p:nvPicPr>
          <p:cNvPr id="5" name="Picture 4">
            <a:extLst>
              <a:ext uri="{FF2B5EF4-FFF2-40B4-BE49-F238E27FC236}">
                <a16:creationId xmlns:a16="http://schemas.microsoft.com/office/drawing/2014/main" id="{670FA9B5-E4F6-054C-A62B-BF65C08055F8}"/>
              </a:ext>
            </a:extLst>
          </p:cNvPr>
          <p:cNvPicPr>
            <a:picLocks noChangeAspect="1"/>
          </p:cNvPicPr>
          <p:nvPr/>
        </p:nvPicPr>
        <p:blipFill>
          <a:blip r:embed="rId3"/>
          <a:stretch>
            <a:fillRect/>
          </a:stretch>
        </p:blipFill>
        <p:spPr>
          <a:xfrm>
            <a:off x="2559049" y="928688"/>
            <a:ext cx="6521085" cy="5564187"/>
          </a:xfrm>
          <a:prstGeom prst="rect">
            <a:avLst/>
          </a:prstGeom>
        </p:spPr>
      </p:pic>
      <p:sp>
        <p:nvSpPr>
          <p:cNvPr id="6" name="TextBox 5">
            <a:extLst>
              <a:ext uri="{FF2B5EF4-FFF2-40B4-BE49-F238E27FC236}">
                <a16:creationId xmlns:a16="http://schemas.microsoft.com/office/drawing/2014/main" id="{39C6CA10-0221-5E41-8922-29856D200EA5}"/>
              </a:ext>
            </a:extLst>
          </p:cNvPr>
          <p:cNvSpPr txBox="1"/>
          <p:nvPr/>
        </p:nvSpPr>
        <p:spPr>
          <a:xfrm>
            <a:off x="3757188" y="1536928"/>
            <a:ext cx="1050202" cy="338554"/>
          </a:xfrm>
          <a:prstGeom prst="rect">
            <a:avLst/>
          </a:prstGeom>
          <a:solidFill>
            <a:schemeClr val="bg1"/>
          </a:solidFill>
        </p:spPr>
        <p:txBody>
          <a:bodyPr wrap="square" rtlCol="0">
            <a:spAutoFit/>
          </a:bodyPr>
          <a:lstStyle/>
          <a:p>
            <a:pPr algn="ctr"/>
            <a:r>
              <a:rPr lang="en-ZA" sz="1600" dirty="0">
                <a:latin typeface="+mj-lt"/>
              </a:rPr>
              <a:t>half-adder</a:t>
            </a:r>
            <a:endParaRPr lang="en-US" sz="1600" dirty="0">
              <a:latin typeface="+mj-lt"/>
            </a:endParaRPr>
          </a:p>
        </p:txBody>
      </p:sp>
      <p:sp>
        <p:nvSpPr>
          <p:cNvPr id="7" name="TextBox 6">
            <a:extLst>
              <a:ext uri="{FF2B5EF4-FFF2-40B4-BE49-F238E27FC236}">
                <a16:creationId xmlns:a16="http://schemas.microsoft.com/office/drawing/2014/main" id="{4B9600DC-479C-5B43-BA62-60F6F5FF7114}"/>
              </a:ext>
            </a:extLst>
          </p:cNvPr>
          <p:cNvSpPr txBox="1"/>
          <p:nvPr/>
        </p:nvSpPr>
        <p:spPr>
          <a:xfrm>
            <a:off x="6182008" y="1536928"/>
            <a:ext cx="1050202" cy="338554"/>
          </a:xfrm>
          <a:prstGeom prst="rect">
            <a:avLst/>
          </a:prstGeom>
          <a:solidFill>
            <a:schemeClr val="bg1"/>
          </a:solidFill>
        </p:spPr>
        <p:txBody>
          <a:bodyPr wrap="square" rtlCol="0">
            <a:spAutoFit/>
          </a:bodyPr>
          <a:lstStyle/>
          <a:p>
            <a:pPr algn="ctr"/>
            <a:r>
              <a:rPr lang="en-ZA" sz="1600" dirty="0">
                <a:latin typeface="+mj-lt"/>
              </a:rPr>
              <a:t>half-adder</a:t>
            </a:r>
            <a:endParaRPr lang="en-US" sz="1600" dirty="0">
              <a:latin typeface="+mj-lt"/>
            </a:endParaRPr>
          </a:p>
        </p:txBody>
      </p:sp>
      <p:sp>
        <p:nvSpPr>
          <p:cNvPr id="8" name="TextBox 7">
            <a:extLst>
              <a:ext uri="{FF2B5EF4-FFF2-40B4-BE49-F238E27FC236}">
                <a16:creationId xmlns:a16="http://schemas.microsoft.com/office/drawing/2014/main" id="{19CD036D-DE79-FE49-B467-A62793C957E3}"/>
              </a:ext>
            </a:extLst>
          </p:cNvPr>
          <p:cNvSpPr txBox="1"/>
          <p:nvPr/>
        </p:nvSpPr>
        <p:spPr>
          <a:xfrm>
            <a:off x="7741282" y="2302755"/>
            <a:ext cx="406933" cy="276999"/>
          </a:xfrm>
          <a:prstGeom prst="rect">
            <a:avLst/>
          </a:prstGeom>
          <a:solidFill>
            <a:schemeClr val="bg1"/>
          </a:solidFill>
        </p:spPr>
        <p:txBody>
          <a:bodyPr wrap="square" rtlCol="0">
            <a:spAutoFit/>
          </a:bodyPr>
          <a:lstStyle/>
          <a:p>
            <a:pPr algn="ctr"/>
            <a:r>
              <a:rPr lang="en-ZA" sz="1200" dirty="0">
                <a:latin typeface="+mj-lt"/>
              </a:rPr>
              <a:t>OR</a:t>
            </a:r>
            <a:endParaRPr lang="en-US" sz="1200" dirty="0">
              <a:latin typeface="+mj-lt"/>
            </a:endParaRPr>
          </a:p>
        </p:txBody>
      </p:sp>
      <p:sp>
        <p:nvSpPr>
          <p:cNvPr id="4" name="TextBox 3">
            <a:extLst>
              <a:ext uri="{FF2B5EF4-FFF2-40B4-BE49-F238E27FC236}">
                <a16:creationId xmlns:a16="http://schemas.microsoft.com/office/drawing/2014/main" id="{2CC9EE91-FA09-F940-9ED0-F3F2F980494F}"/>
              </a:ext>
            </a:extLst>
          </p:cNvPr>
          <p:cNvSpPr txBox="1"/>
          <p:nvPr/>
        </p:nvSpPr>
        <p:spPr>
          <a:xfrm>
            <a:off x="8765177" y="2271977"/>
            <a:ext cx="445956" cy="307777"/>
          </a:xfrm>
          <a:prstGeom prst="rect">
            <a:avLst/>
          </a:prstGeom>
          <a:solidFill>
            <a:schemeClr val="bg1"/>
          </a:solidFill>
        </p:spPr>
        <p:txBody>
          <a:bodyPr wrap="none" rtlCol="0">
            <a:spAutoFit/>
          </a:bodyPr>
          <a:lstStyle/>
          <a:p>
            <a:r>
              <a:rPr lang="en-US" sz="1400" dirty="0" err="1">
                <a:latin typeface="+mj-lt"/>
              </a:rPr>
              <a:t>C</a:t>
            </a:r>
            <a:r>
              <a:rPr lang="en-US" sz="1400" baseline="-25000" dirty="0" err="1">
                <a:latin typeface="+mj-lt"/>
              </a:rPr>
              <a:t>out</a:t>
            </a:r>
            <a:endParaRPr lang="en-US" sz="1400" baseline="-25000" dirty="0">
              <a:latin typeface="+mj-lt"/>
            </a:endParaRPr>
          </a:p>
        </p:txBody>
      </p:sp>
      <p:sp>
        <p:nvSpPr>
          <p:cNvPr id="9" name="TextBox 8">
            <a:extLst>
              <a:ext uri="{FF2B5EF4-FFF2-40B4-BE49-F238E27FC236}">
                <a16:creationId xmlns:a16="http://schemas.microsoft.com/office/drawing/2014/main" id="{A19953E0-3189-134A-A2D6-84EAEE8916CF}"/>
              </a:ext>
            </a:extLst>
          </p:cNvPr>
          <p:cNvSpPr txBox="1"/>
          <p:nvPr/>
        </p:nvSpPr>
        <p:spPr>
          <a:xfrm>
            <a:off x="8246881" y="5768469"/>
            <a:ext cx="678391" cy="338554"/>
          </a:xfrm>
          <a:prstGeom prst="rect">
            <a:avLst/>
          </a:prstGeom>
          <a:solidFill>
            <a:schemeClr val="bg1"/>
          </a:solidFill>
        </p:spPr>
        <p:txBody>
          <a:bodyPr wrap="none" rtlCol="0">
            <a:spAutoFit/>
          </a:bodyPr>
          <a:lstStyle/>
          <a:p>
            <a:r>
              <a:rPr lang="en-US" sz="1600" dirty="0">
                <a:latin typeface="+mj-lt"/>
              </a:rPr>
              <a:t>|</a:t>
            </a:r>
            <a:r>
              <a:rPr lang="en-US" sz="1600" dirty="0" err="1">
                <a:latin typeface="+mj-lt"/>
              </a:rPr>
              <a:t>C</a:t>
            </a:r>
            <a:r>
              <a:rPr lang="en-US" sz="1600" baseline="-25000" dirty="0" err="1">
                <a:latin typeface="+mj-lt"/>
              </a:rPr>
              <a:t>out</a:t>
            </a:r>
            <a:r>
              <a:rPr lang="en-US" sz="1600" baseline="-25000" dirty="0">
                <a:latin typeface="+mj-lt"/>
              </a:rPr>
              <a:t> </a:t>
            </a:r>
            <a:r>
              <a:rPr lang="en-ZA" sz="1600" dirty="0">
                <a:latin typeface="+mj-lt"/>
              </a:rPr>
              <a:t>⟩</a:t>
            </a:r>
            <a:endParaRPr lang="en-US" sz="1600" baseline="-25000" dirty="0">
              <a:latin typeface="+mj-lt"/>
            </a:endParaRPr>
          </a:p>
        </p:txBody>
      </p:sp>
      <p:sp>
        <p:nvSpPr>
          <p:cNvPr id="10" name="TextBox 9">
            <a:extLst>
              <a:ext uri="{FF2B5EF4-FFF2-40B4-BE49-F238E27FC236}">
                <a16:creationId xmlns:a16="http://schemas.microsoft.com/office/drawing/2014/main" id="{6E164D89-D0D6-B84C-B51B-B9779349A0E8}"/>
              </a:ext>
            </a:extLst>
          </p:cNvPr>
          <p:cNvSpPr txBox="1"/>
          <p:nvPr/>
        </p:nvSpPr>
        <p:spPr>
          <a:xfrm>
            <a:off x="3460472" y="4951679"/>
            <a:ext cx="593432" cy="338554"/>
          </a:xfrm>
          <a:prstGeom prst="rect">
            <a:avLst/>
          </a:prstGeom>
          <a:solidFill>
            <a:schemeClr val="bg1"/>
          </a:solidFill>
        </p:spPr>
        <p:txBody>
          <a:bodyPr wrap="none" rtlCol="0">
            <a:spAutoFit/>
          </a:bodyPr>
          <a:lstStyle/>
          <a:p>
            <a:r>
              <a:rPr lang="en-US" sz="1600" dirty="0">
                <a:latin typeface="+mj-lt"/>
              </a:rPr>
              <a:t>|</a:t>
            </a:r>
            <a:r>
              <a:rPr lang="en-US" sz="1600" dirty="0" err="1">
                <a:latin typeface="+mj-lt"/>
              </a:rPr>
              <a:t>C</a:t>
            </a:r>
            <a:r>
              <a:rPr lang="en-US" sz="1600" baseline="-25000" dirty="0" err="1">
                <a:latin typeface="+mj-lt"/>
              </a:rPr>
              <a:t>in</a:t>
            </a:r>
            <a:r>
              <a:rPr lang="en-US" sz="1600" baseline="-25000" dirty="0">
                <a:latin typeface="+mj-lt"/>
              </a:rPr>
              <a:t> </a:t>
            </a:r>
            <a:r>
              <a:rPr lang="en-ZA" sz="1600" dirty="0">
                <a:latin typeface="+mj-lt"/>
              </a:rPr>
              <a:t>⟩</a:t>
            </a:r>
            <a:endParaRPr lang="en-US" sz="1600" baseline="-25000" dirty="0">
              <a:latin typeface="+mj-lt"/>
            </a:endParaRPr>
          </a:p>
        </p:txBody>
      </p:sp>
    </p:spTree>
    <p:extLst>
      <p:ext uri="{BB962C8B-B14F-4D97-AF65-F5344CB8AC3E}">
        <p14:creationId xmlns:p14="http://schemas.microsoft.com/office/powerpoint/2010/main" val="1994624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489F561-A3C5-5948-9BFB-F362BC186AD1}"/>
              </a:ext>
            </a:extLst>
          </p:cNvPr>
          <p:cNvPicPr>
            <a:picLocks noChangeAspect="1"/>
          </p:cNvPicPr>
          <p:nvPr/>
        </p:nvPicPr>
        <p:blipFill>
          <a:blip r:embed="rId3"/>
          <a:stretch>
            <a:fillRect/>
          </a:stretch>
        </p:blipFill>
        <p:spPr>
          <a:xfrm>
            <a:off x="6037978" y="1930400"/>
            <a:ext cx="5723744" cy="3162192"/>
          </a:xfrm>
          <a:prstGeom prst="rect">
            <a:avLst/>
          </a:prstGeom>
        </p:spPr>
      </p:pic>
      <p:sp>
        <p:nvSpPr>
          <p:cNvPr id="6" name="TextBox 5">
            <a:extLst>
              <a:ext uri="{FF2B5EF4-FFF2-40B4-BE49-F238E27FC236}">
                <a16:creationId xmlns:a16="http://schemas.microsoft.com/office/drawing/2014/main" id="{820285AB-08AE-3B48-A7B5-18F9C0963A9A}"/>
              </a:ext>
            </a:extLst>
          </p:cNvPr>
          <p:cNvSpPr txBox="1"/>
          <p:nvPr/>
        </p:nvSpPr>
        <p:spPr>
          <a:xfrm>
            <a:off x="6222035" y="205101"/>
            <a:ext cx="3764172" cy="1938992"/>
          </a:xfrm>
          <a:prstGeom prst="rect">
            <a:avLst/>
          </a:prstGeom>
          <a:noFill/>
        </p:spPr>
        <p:txBody>
          <a:bodyPr wrap="none" rtlCol="0">
            <a:spAutoFit/>
          </a:bodyPr>
          <a:lstStyle/>
          <a:p>
            <a:pPr algn="ctr"/>
            <a:r>
              <a:rPr lang="en-ZA" sz="6000" dirty="0">
                <a:latin typeface="Comic Sans MS" panose="030F0902030302020204" pitchFamily="66" charset="0"/>
              </a:rPr>
              <a:t>Function</a:t>
            </a:r>
          </a:p>
          <a:p>
            <a:pPr algn="ctr"/>
            <a:r>
              <a:rPr lang="en-ZA" sz="6000" dirty="0">
                <a:latin typeface="Comic Sans MS" panose="030F0902030302020204" pitchFamily="66" charset="0"/>
              </a:rPr>
              <a:t>evaluation</a:t>
            </a:r>
            <a:endParaRPr lang="en-US" sz="6000" dirty="0">
              <a:latin typeface="Comic Sans MS" panose="030F0902030302020204" pitchFamily="66" charset="0"/>
            </a:endParaRPr>
          </a:p>
        </p:txBody>
      </p:sp>
      <p:pic>
        <p:nvPicPr>
          <p:cNvPr id="5" name="Picture 4">
            <a:extLst>
              <a:ext uri="{FF2B5EF4-FFF2-40B4-BE49-F238E27FC236}">
                <a16:creationId xmlns:a16="http://schemas.microsoft.com/office/drawing/2014/main" id="{9881C2B5-B138-CA48-889E-26FF65E501E3}"/>
              </a:ext>
            </a:extLst>
          </p:cNvPr>
          <p:cNvPicPr>
            <a:picLocks noChangeAspect="1"/>
          </p:cNvPicPr>
          <p:nvPr/>
        </p:nvPicPr>
        <p:blipFill>
          <a:blip r:embed="rId4"/>
          <a:stretch>
            <a:fillRect/>
          </a:stretch>
        </p:blipFill>
        <p:spPr>
          <a:xfrm>
            <a:off x="742030" y="1461789"/>
            <a:ext cx="5203919" cy="4099414"/>
          </a:xfrm>
          <a:prstGeom prst="rect">
            <a:avLst/>
          </a:prstGeom>
        </p:spPr>
      </p:pic>
      <p:sp>
        <p:nvSpPr>
          <p:cNvPr id="7" name="Slide Number Placeholder 2">
            <a:extLst>
              <a:ext uri="{FF2B5EF4-FFF2-40B4-BE49-F238E27FC236}">
                <a16:creationId xmlns:a16="http://schemas.microsoft.com/office/drawing/2014/main" id="{5067892A-F5BF-B444-8B34-9218246334EE}"/>
              </a:ext>
            </a:extLst>
          </p:cNvPr>
          <p:cNvSpPr>
            <a:spLocks noGrp="1"/>
          </p:cNvSpPr>
          <p:nvPr>
            <p:ph type="sldNum" sz="quarter" idx="12"/>
          </p:nvPr>
        </p:nvSpPr>
        <p:spPr>
          <a:xfrm>
            <a:off x="0" y="6492875"/>
            <a:ext cx="587829" cy="365125"/>
          </a:xfrm>
        </p:spPr>
        <p:txBody>
          <a:bodyPr/>
          <a:lstStyle/>
          <a:p>
            <a:fld id="{591A223C-FA10-BC46-A853-03BA373D023C}" type="slidenum">
              <a:rPr lang="en-US" smtClean="0"/>
              <a:t>14</a:t>
            </a:fld>
            <a:endParaRPr lang="en-US"/>
          </a:p>
        </p:txBody>
      </p:sp>
    </p:spTree>
    <p:extLst>
      <p:ext uri="{BB962C8B-B14F-4D97-AF65-F5344CB8AC3E}">
        <p14:creationId xmlns:p14="http://schemas.microsoft.com/office/powerpoint/2010/main" val="4058693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ounded Rectangle 12">
            <a:extLst>
              <a:ext uri="{FF2B5EF4-FFF2-40B4-BE49-F238E27FC236}">
                <a16:creationId xmlns:a16="http://schemas.microsoft.com/office/drawing/2014/main" id="{D7F8D2AD-39C2-6945-9C8E-9678054014AC}"/>
              </a:ext>
            </a:extLst>
          </p:cNvPr>
          <p:cNvSpPr/>
          <p:nvPr/>
        </p:nvSpPr>
        <p:spPr>
          <a:xfrm>
            <a:off x="3565169" y="5173000"/>
            <a:ext cx="7032876" cy="1386245"/>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ounded Rectangle 38">
            <a:extLst>
              <a:ext uri="{FF2B5EF4-FFF2-40B4-BE49-F238E27FC236}">
                <a16:creationId xmlns:a16="http://schemas.microsoft.com/office/drawing/2014/main" id="{E77C3EFE-13C4-D649-9FA6-B61D8B8D8198}"/>
              </a:ext>
            </a:extLst>
          </p:cNvPr>
          <p:cNvSpPr/>
          <p:nvPr/>
        </p:nvSpPr>
        <p:spPr>
          <a:xfrm>
            <a:off x="378800" y="3050844"/>
            <a:ext cx="4737259" cy="1386245"/>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ounded Rectangle 36">
            <a:extLst>
              <a:ext uri="{FF2B5EF4-FFF2-40B4-BE49-F238E27FC236}">
                <a16:creationId xmlns:a16="http://schemas.microsoft.com/office/drawing/2014/main" id="{7FF76945-5515-764D-9D74-CADB0B9E6B59}"/>
              </a:ext>
            </a:extLst>
          </p:cNvPr>
          <p:cNvSpPr/>
          <p:nvPr/>
        </p:nvSpPr>
        <p:spPr>
          <a:xfrm>
            <a:off x="378800" y="1314866"/>
            <a:ext cx="11434399" cy="1014153"/>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DB881FBA-FFC9-A641-8F42-03AE74E0B567}"/>
              </a:ext>
            </a:extLst>
          </p:cNvPr>
          <p:cNvSpPr>
            <a:spLocks noGrp="1"/>
          </p:cNvSpPr>
          <p:nvPr>
            <p:ph type="title"/>
          </p:nvPr>
        </p:nvSpPr>
        <p:spPr/>
        <p:txBody>
          <a:bodyPr/>
          <a:lstStyle/>
          <a:p>
            <a:r>
              <a:rPr lang="en-US" dirty="0"/>
              <a:t>Boolean Functions Evaluation</a:t>
            </a:r>
          </a:p>
        </p:txBody>
      </p:sp>
      <p:sp>
        <p:nvSpPr>
          <p:cNvPr id="3" name="Slide Number Placeholder 2">
            <a:extLst>
              <a:ext uri="{FF2B5EF4-FFF2-40B4-BE49-F238E27FC236}">
                <a16:creationId xmlns:a16="http://schemas.microsoft.com/office/drawing/2014/main" id="{36BBC851-ECA4-B74F-940E-EFE76E3CACF2}"/>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15</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B4AC9EA-C310-004A-BD47-2545D5DD36F5}"/>
                  </a:ext>
                </a:extLst>
              </p:cNvPr>
              <p:cNvSpPr txBox="1"/>
              <p:nvPr/>
            </p:nvSpPr>
            <p:spPr>
              <a:xfrm>
                <a:off x="495175" y="1575026"/>
                <a:ext cx="5313186" cy="523220"/>
              </a:xfrm>
              <a:prstGeom prst="rect">
                <a:avLst/>
              </a:prstGeom>
              <a:noFill/>
            </p:spPr>
            <p:txBody>
              <a:bodyPr wrap="none" rtlCol="0">
                <a:spAutoFit/>
              </a:bodyPr>
              <a:lstStyle/>
              <a:p>
                <a:r>
                  <a:rPr lang="en-US" sz="2800" dirty="0">
                    <a:latin typeface="+mj-lt"/>
                  </a:rPr>
                  <a:t>Boolean function</a:t>
                </a:r>
                <a:r>
                  <a:rPr lang="sr-Latn-RS" sz="2800" dirty="0">
                    <a:solidFill>
                      <a:schemeClr val="tx1"/>
                    </a:solidFill>
                    <a:latin typeface="+mj-lt"/>
                  </a:rPr>
                  <a:t> </a:t>
                </a:r>
                <a14:m>
                  <m:oMath xmlns:m="http://schemas.openxmlformats.org/officeDocument/2006/math">
                    <m:r>
                      <a:rPr lang="sr-Latn-RS" sz="2800" i="1">
                        <a:solidFill>
                          <a:schemeClr val="tx1"/>
                        </a:solidFill>
                        <a:latin typeface="Cambria Math" panose="02040503050406030204" pitchFamily="18" charset="0"/>
                      </a:rPr>
                      <m:t>𝑓</m:t>
                    </m:r>
                    <m:r>
                      <a:rPr lang="sr-Latn-RS" sz="2800" i="1">
                        <a:solidFill>
                          <a:schemeClr val="tx1"/>
                        </a:solidFill>
                        <a:latin typeface="Cambria Math" panose="02040503050406030204" pitchFamily="18" charset="0"/>
                      </a:rPr>
                      <m:t>:</m:t>
                    </m:r>
                    <m:sSup>
                      <m:sSupPr>
                        <m:ctrlPr>
                          <a:rPr lang="en-ZA" sz="2800" i="1">
                            <a:solidFill>
                              <a:schemeClr val="tx1"/>
                            </a:solidFill>
                            <a:latin typeface="Cambria Math" panose="02040503050406030204" pitchFamily="18" charset="0"/>
                          </a:rPr>
                        </m:ctrlPr>
                      </m:sSupPr>
                      <m:e>
                        <m:d>
                          <m:dPr>
                            <m:begChr m:val="{"/>
                            <m:endChr m:val="}"/>
                            <m:ctrlPr>
                              <a:rPr lang="en-ZA" sz="2800" i="1">
                                <a:solidFill>
                                  <a:schemeClr val="tx1"/>
                                </a:solidFill>
                                <a:latin typeface="Cambria Math" panose="02040503050406030204" pitchFamily="18" charset="0"/>
                              </a:rPr>
                            </m:ctrlPr>
                          </m:dPr>
                          <m:e>
                            <m:r>
                              <a:rPr lang="sr-Latn-RS" sz="2800" i="1">
                                <a:solidFill>
                                  <a:schemeClr val="tx1"/>
                                </a:solidFill>
                                <a:latin typeface="Cambria Math" panose="02040503050406030204" pitchFamily="18" charset="0"/>
                              </a:rPr>
                              <m:t>0,1</m:t>
                            </m:r>
                          </m:e>
                        </m:d>
                      </m:e>
                      <m:sup>
                        <m:r>
                          <a:rPr lang="sr-Latn-RS" sz="2800" i="1">
                            <a:solidFill>
                              <a:schemeClr val="tx1"/>
                            </a:solidFill>
                            <a:latin typeface="Cambria Math" panose="02040503050406030204" pitchFamily="18" charset="0"/>
                          </a:rPr>
                          <m:t>𝑛</m:t>
                        </m:r>
                      </m:sup>
                    </m:sSup>
                    <m:r>
                      <a:rPr lang="sr-Latn-RS" sz="2800" i="1">
                        <a:solidFill>
                          <a:schemeClr val="tx1"/>
                        </a:solidFill>
                        <a:latin typeface="Cambria Math" panose="02040503050406030204" pitchFamily="18" charset="0"/>
                      </a:rPr>
                      <m:t>→</m:t>
                    </m:r>
                    <m:d>
                      <m:dPr>
                        <m:begChr m:val="{"/>
                        <m:endChr m:val="}"/>
                        <m:ctrlPr>
                          <a:rPr lang="en-ZA" sz="2800" i="1">
                            <a:solidFill>
                              <a:schemeClr val="tx1"/>
                            </a:solidFill>
                            <a:latin typeface="Cambria Math" panose="02040503050406030204" pitchFamily="18" charset="0"/>
                          </a:rPr>
                        </m:ctrlPr>
                      </m:dPr>
                      <m:e>
                        <m:r>
                          <a:rPr lang="sr-Latn-RS" sz="2800" i="1">
                            <a:solidFill>
                              <a:schemeClr val="tx1"/>
                            </a:solidFill>
                            <a:latin typeface="Cambria Math" panose="02040503050406030204" pitchFamily="18" charset="0"/>
                          </a:rPr>
                          <m:t>0,1</m:t>
                        </m:r>
                      </m:e>
                    </m:d>
                  </m:oMath>
                </a14:m>
                <a:endParaRPr lang="en-US" sz="2800" dirty="0">
                  <a:solidFill>
                    <a:schemeClr val="tx1"/>
                  </a:solidFill>
                </a:endParaRPr>
              </a:p>
            </p:txBody>
          </p:sp>
        </mc:Choice>
        <mc:Fallback xmlns="">
          <p:sp>
            <p:nvSpPr>
              <p:cNvPr id="5" name="TextBox 4">
                <a:extLst>
                  <a:ext uri="{FF2B5EF4-FFF2-40B4-BE49-F238E27FC236}">
                    <a16:creationId xmlns:a16="http://schemas.microsoft.com/office/drawing/2014/main" id="{6B4AC9EA-C310-004A-BD47-2545D5DD36F5}"/>
                  </a:ext>
                </a:extLst>
              </p:cNvPr>
              <p:cNvSpPr txBox="1">
                <a:spLocks noRot="1" noChangeAspect="1" noMove="1" noResize="1" noEditPoints="1" noAdjustHandles="1" noChangeArrowheads="1" noChangeShapeType="1" noTextEdit="1"/>
              </p:cNvSpPr>
              <p:nvPr/>
            </p:nvSpPr>
            <p:spPr>
              <a:xfrm>
                <a:off x="495175" y="1575026"/>
                <a:ext cx="5313186" cy="523220"/>
              </a:xfrm>
              <a:prstGeom prst="rect">
                <a:avLst/>
              </a:prstGeom>
              <a:blipFill>
                <a:blip r:embed="rId3"/>
                <a:stretch>
                  <a:fillRect l="-2387" t="-9524" b="-309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273F241-3A72-7741-99A0-EC4AD29BDEF4}"/>
                  </a:ext>
                </a:extLst>
              </p:cNvPr>
              <p:cNvSpPr txBox="1"/>
              <p:nvPr/>
            </p:nvSpPr>
            <p:spPr>
              <a:xfrm>
                <a:off x="6175978" y="1575026"/>
                <a:ext cx="549894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sz="2800" i="1" smtClean="0">
                          <a:solidFill>
                            <a:schemeClr val="tx1"/>
                          </a:solidFill>
                          <a:latin typeface="Cambria Math" panose="02040503050406030204" pitchFamily="18" charset="0"/>
                        </a:rPr>
                        <m:t>𝑓</m:t>
                      </m:r>
                      <m:d>
                        <m:dPr>
                          <m:ctrlPr>
                            <a:rPr lang="sr-Latn-RS" sz="2800" b="0" i="1" smtClean="0">
                              <a:solidFill>
                                <a:schemeClr val="tx1"/>
                              </a:solidFill>
                              <a:latin typeface="Cambria Math" panose="02040503050406030204" pitchFamily="18" charset="0"/>
                            </a:rPr>
                          </m:ctrlPr>
                        </m:dPr>
                        <m:e>
                          <m:sSub>
                            <m:sSubPr>
                              <m:ctrlPr>
                                <a:rPr lang="en-ZA" sz="2800" i="1">
                                  <a:solidFill>
                                    <a:schemeClr val="tx1"/>
                                  </a:solidFill>
                                  <a:latin typeface="Cambria Math" panose="02040503050406030204" pitchFamily="18" charset="0"/>
                                </a:rPr>
                              </m:ctrlPr>
                            </m:sSubPr>
                            <m:e>
                              <m:r>
                                <a:rPr lang="sr-Latn-RS" sz="2800" i="1">
                                  <a:solidFill>
                                    <a:schemeClr val="tx1"/>
                                  </a:solidFill>
                                  <a:latin typeface="Cambria Math" panose="02040503050406030204" pitchFamily="18" charset="0"/>
                                </a:rPr>
                                <m:t>𝑥</m:t>
                              </m:r>
                            </m:e>
                            <m:sub>
                              <m:r>
                                <a:rPr lang="sr-Latn-RS" sz="2800" i="1">
                                  <a:solidFill>
                                    <a:schemeClr val="tx1"/>
                                  </a:solidFill>
                                  <a:latin typeface="Cambria Math" panose="02040503050406030204" pitchFamily="18" charset="0"/>
                                </a:rPr>
                                <m:t>1</m:t>
                              </m:r>
                            </m:sub>
                          </m:sSub>
                          <m:r>
                            <a:rPr lang="sr-Latn-RS" sz="2800" i="1">
                              <a:solidFill>
                                <a:schemeClr val="tx1"/>
                              </a:solidFill>
                              <a:latin typeface="Cambria Math" panose="02040503050406030204" pitchFamily="18" charset="0"/>
                            </a:rPr>
                            <m:t>,</m:t>
                          </m:r>
                          <m:sSub>
                            <m:sSubPr>
                              <m:ctrlPr>
                                <a:rPr lang="en-ZA" sz="2800" i="1">
                                  <a:solidFill>
                                    <a:schemeClr val="tx1"/>
                                  </a:solidFill>
                                  <a:latin typeface="Cambria Math" panose="02040503050406030204" pitchFamily="18" charset="0"/>
                                </a:rPr>
                              </m:ctrlPr>
                            </m:sSubPr>
                            <m:e>
                              <m:r>
                                <a:rPr lang="sr-Latn-RS" sz="2800" i="1">
                                  <a:solidFill>
                                    <a:schemeClr val="tx1"/>
                                  </a:solidFill>
                                  <a:latin typeface="Cambria Math" panose="02040503050406030204" pitchFamily="18" charset="0"/>
                                </a:rPr>
                                <m:t>𝑥</m:t>
                              </m:r>
                            </m:e>
                            <m:sub>
                              <m:r>
                                <a:rPr lang="sr-Latn-RS" sz="2800" i="1">
                                  <a:solidFill>
                                    <a:schemeClr val="tx1"/>
                                  </a:solidFill>
                                  <a:latin typeface="Cambria Math" panose="02040503050406030204" pitchFamily="18" charset="0"/>
                                </a:rPr>
                                <m:t>2</m:t>
                              </m:r>
                            </m:sub>
                          </m:sSub>
                          <m:r>
                            <a:rPr lang="sr-Latn-RS" sz="2800" i="1">
                              <a:solidFill>
                                <a:schemeClr val="tx1"/>
                              </a:solidFill>
                              <a:latin typeface="Cambria Math" panose="02040503050406030204" pitchFamily="18" charset="0"/>
                            </a:rPr>
                            <m:t>,</m:t>
                          </m:r>
                          <m:sSub>
                            <m:sSubPr>
                              <m:ctrlPr>
                                <a:rPr lang="en-ZA" sz="2800" i="1">
                                  <a:solidFill>
                                    <a:schemeClr val="tx1"/>
                                  </a:solidFill>
                                  <a:latin typeface="Cambria Math" panose="02040503050406030204" pitchFamily="18" charset="0"/>
                                </a:rPr>
                              </m:ctrlPr>
                            </m:sSubPr>
                            <m:e>
                              <m:r>
                                <a:rPr lang="sr-Latn-RS" sz="2800" i="1">
                                  <a:solidFill>
                                    <a:schemeClr val="tx1"/>
                                  </a:solidFill>
                                  <a:latin typeface="Cambria Math" panose="02040503050406030204" pitchFamily="18" charset="0"/>
                                </a:rPr>
                                <m:t>⋯,</m:t>
                              </m:r>
                              <m:r>
                                <a:rPr lang="sr-Latn-RS" sz="2800" i="1">
                                  <a:solidFill>
                                    <a:schemeClr val="tx1"/>
                                  </a:solidFill>
                                  <a:latin typeface="Cambria Math" panose="02040503050406030204" pitchFamily="18" charset="0"/>
                                </a:rPr>
                                <m:t>𝑥</m:t>
                              </m:r>
                            </m:e>
                            <m:sub>
                              <m:r>
                                <a:rPr lang="sr-Latn-RS" sz="2800" i="1">
                                  <a:solidFill>
                                    <a:schemeClr val="tx1"/>
                                  </a:solidFill>
                                  <a:latin typeface="Cambria Math" panose="02040503050406030204" pitchFamily="18" charset="0"/>
                                </a:rPr>
                                <m:t>𝑛</m:t>
                              </m:r>
                            </m:sub>
                          </m:sSub>
                        </m:e>
                      </m:d>
                      <m:r>
                        <a:rPr lang="sr-Latn-RS" sz="2800" b="0" i="1" smtClean="0">
                          <a:solidFill>
                            <a:schemeClr val="tx1"/>
                          </a:solidFill>
                          <a:latin typeface="Cambria Math" panose="02040503050406030204" pitchFamily="18" charset="0"/>
                        </a:rPr>
                        <m:t>=</m:t>
                      </m:r>
                      <m:r>
                        <a:rPr lang="sr-Latn-RS" sz="2800" b="0" i="1" smtClean="0">
                          <a:solidFill>
                            <a:schemeClr val="tx1"/>
                          </a:solidFill>
                          <a:latin typeface="Cambria Math" panose="02040503050406030204" pitchFamily="18" charset="0"/>
                        </a:rPr>
                        <m:t>𝑦</m:t>
                      </m:r>
                      <m:r>
                        <a:rPr lang="sr-Latn-RS" sz="2800" b="0" i="1" smtClean="0">
                          <a:solidFill>
                            <a:schemeClr val="tx1"/>
                          </a:solidFill>
                          <a:latin typeface="Cambria Math" panose="02040503050406030204" pitchFamily="18" charset="0"/>
                        </a:rPr>
                        <m:t>,  </m:t>
                      </m:r>
                      <m:r>
                        <a:rPr lang="sr-Latn-RS" sz="2800" b="0" i="1" smtClean="0">
                          <a:solidFill>
                            <a:schemeClr val="tx1"/>
                          </a:solidFill>
                          <a:latin typeface="Cambria Math" panose="02040503050406030204" pitchFamily="18" charset="0"/>
                        </a:rPr>
                        <m:t>𝑦</m:t>
                      </m:r>
                      <m:r>
                        <a:rPr lang="sr-Latn-RS" sz="2800" b="0" i="1" smtClean="0">
                          <a:solidFill>
                            <a:schemeClr val="tx1"/>
                          </a:solidFill>
                          <a:latin typeface="Cambria Math" panose="02040503050406030204" pitchFamily="18" charset="0"/>
                          <a:ea typeface="Cambria Math" panose="02040503050406030204" pitchFamily="18" charset="0"/>
                        </a:rPr>
                        <m:t>∈</m:t>
                      </m:r>
                      <m:d>
                        <m:dPr>
                          <m:begChr m:val="{"/>
                          <m:endChr m:val="}"/>
                          <m:ctrlPr>
                            <a:rPr lang="en-ZA" sz="2800" i="1">
                              <a:solidFill>
                                <a:schemeClr val="tx1"/>
                              </a:solidFill>
                              <a:latin typeface="Cambria Math" panose="02040503050406030204" pitchFamily="18" charset="0"/>
                            </a:rPr>
                          </m:ctrlPr>
                        </m:dPr>
                        <m:e>
                          <m:r>
                            <a:rPr lang="sr-Latn-RS" sz="2800" i="1">
                              <a:solidFill>
                                <a:schemeClr val="tx1"/>
                              </a:solidFill>
                              <a:latin typeface="Cambria Math" panose="02040503050406030204" pitchFamily="18" charset="0"/>
                            </a:rPr>
                            <m:t>0,1</m:t>
                          </m:r>
                        </m:e>
                      </m:d>
                    </m:oMath>
                  </m:oMathPara>
                </a14:m>
                <a:endParaRPr lang="en-US" sz="2800" dirty="0">
                  <a:solidFill>
                    <a:schemeClr val="tx1"/>
                  </a:solidFill>
                </a:endParaRPr>
              </a:p>
            </p:txBody>
          </p:sp>
        </mc:Choice>
        <mc:Fallback xmlns="">
          <p:sp>
            <p:nvSpPr>
              <p:cNvPr id="6" name="TextBox 5">
                <a:extLst>
                  <a:ext uri="{FF2B5EF4-FFF2-40B4-BE49-F238E27FC236}">
                    <a16:creationId xmlns:a16="http://schemas.microsoft.com/office/drawing/2014/main" id="{F273F241-3A72-7741-99A0-EC4AD29BDEF4}"/>
                  </a:ext>
                </a:extLst>
              </p:cNvPr>
              <p:cNvSpPr txBox="1">
                <a:spLocks noRot="1" noChangeAspect="1" noMove="1" noResize="1" noEditPoints="1" noAdjustHandles="1" noChangeArrowheads="1" noChangeShapeType="1" noTextEdit="1"/>
              </p:cNvSpPr>
              <p:nvPr/>
            </p:nvSpPr>
            <p:spPr>
              <a:xfrm>
                <a:off x="6175978" y="1575026"/>
                <a:ext cx="5498941" cy="523220"/>
              </a:xfrm>
              <a:prstGeom prst="rect">
                <a:avLst/>
              </a:prstGeom>
              <a:blipFill>
                <a:blip r:embed="rId4"/>
                <a:stretch>
                  <a:fillRect b="-16667"/>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2117F493-F42C-A048-BF4C-A13F0790C18A}"/>
              </a:ext>
            </a:extLst>
          </p:cNvPr>
          <p:cNvSpPr txBox="1"/>
          <p:nvPr/>
        </p:nvSpPr>
        <p:spPr>
          <a:xfrm>
            <a:off x="495175" y="2589179"/>
            <a:ext cx="3835665" cy="461665"/>
          </a:xfrm>
          <a:prstGeom prst="rect">
            <a:avLst/>
          </a:prstGeom>
          <a:solidFill>
            <a:schemeClr val="accent4">
              <a:lumMod val="40000"/>
              <a:lumOff val="60000"/>
            </a:schemeClr>
          </a:solidFill>
        </p:spPr>
        <p:txBody>
          <a:bodyPr wrap="none" rtlCol="0">
            <a:spAutoFit/>
          </a:bodyPr>
          <a:lstStyle/>
          <a:p>
            <a:r>
              <a:rPr lang="en-ZA" sz="2400" dirty="0">
                <a:latin typeface="+mj-lt"/>
              </a:rPr>
              <a:t>Complete function evaluation</a:t>
            </a:r>
            <a:endParaRPr lang="en-US" sz="2400" dirty="0">
              <a:latin typeface="+mj-lt"/>
            </a:endParaRP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D5CE7A3-49CA-9B43-ACC8-5B51F1F9CD2A}"/>
                  </a:ext>
                </a:extLst>
              </p:cNvPr>
              <p:cNvSpPr txBox="1"/>
              <p:nvPr/>
            </p:nvSpPr>
            <p:spPr>
              <a:xfrm>
                <a:off x="630883" y="3473295"/>
                <a:ext cx="3954288" cy="492443"/>
              </a:xfrm>
              <a:prstGeom prst="rect">
                <a:avLst/>
              </a:prstGeom>
              <a:noFill/>
            </p:spPr>
            <p:txBody>
              <a:bodyPr wrap="none" rtlCol="0">
                <a:spAutoFit/>
              </a:bodyPr>
              <a:lstStyle/>
              <a:p>
                <a:r>
                  <a:rPr lang="en-US" sz="2600" dirty="0">
                    <a:latin typeface="+mj-lt"/>
                  </a:rPr>
                  <a:t>For all </a:t>
                </a:r>
                <a14:m>
                  <m:oMath xmlns:m="http://schemas.openxmlformats.org/officeDocument/2006/math">
                    <m:sSup>
                      <m:sSupPr>
                        <m:ctrlPr>
                          <a:rPr lang="en-ZA" sz="2600" i="1">
                            <a:latin typeface="Cambria Math" panose="02040503050406030204" pitchFamily="18" charset="0"/>
                          </a:rPr>
                        </m:ctrlPr>
                      </m:sSupPr>
                      <m:e>
                        <m:r>
                          <a:rPr lang="sr-Latn-RS" sz="2600" b="0" i="1" smtClean="0">
                            <a:latin typeface="Cambria Math" panose="02040503050406030204" pitchFamily="18" charset="0"/>
                          </a:rPr>
                          <m:t>𝑥</m:t>
                        </m:r>
                        <m:r>
                          <a:rPr lang="sr-Latn-RS" sz="2600" i="1">
                            <a:latin typeface="Cambria Math" panose="02040503050406030204" pitchFamily="18" charset="0"/>
                            <a:ea typeface="Cambria Math" panose="02040503050406030204" pitchFamily="18" charset="0"/>
                          </a:rPr>
                          <m:t>∈</m:t>
                        </m:r>
                        <m:d>
                          <m:dPr>
                            <m:begChr m:val="{"/>
                            <m:endChr m:val="}"/>
                            <m:ctrlPr>
                              <a:rPr lang="en-ZA" sz="2600" i="1">
                                <a:latin typeface="Cambria Math" panose="02040503050406030204" pitchFamily="18" charset="0"/>
                              </a:rPr>
                            </m:ctrlPr>
                          </m:dPr>
                          <m:e>
                            <m:r>
                              <a:rPr lang="sr-Latn-RS" sz="2600" i="1">
                                <a:latin typeface="Cambria Math" panose="02040503050406030204" pitchFamily="18" charset="0"/>
                              </a:rPr>
                              <m:t>0,1</m:t>
                            </m:r>
                          </m:e>
                        </m:d>
                      </m:e>
                      <m:sup>
                        <m:r>
                          <a:rPr lang="sr-Latn-RS" sz="2600" i="1">
                            <a:latin typeface="Cambria Math" panose="02040503050406030204" pitchFamily="18" charset="0"/>
                          </a:rPr>
                          <m:t>𝑛</m:t>
                        </m:r>
                      </m:sup>
                    </m:sSup>
                  </m:oMath>
                </a14:m>
                <a:r>
                  <a:rPr lang="en-US" sz="2600" dirty="0">
                    <a:latin typeface="+mj-lt"/>
                  </a:rPr>
                  <a:t> find </a:t>
                </a:r>
                <a14:m>
                  <m:oMath xmlns:m="http://schemas.openxmlformats.org/officeDocument/2006/math">
                    <m:r>
                      <a:rPr lang="sr-Latn-RS" sz="2600" b="0" i="0" smtClean="0">
                        <a:latin typeface="Cambria Math" panose="02040503050406030204" pitchFamily="18" charset="0"/>
                      </a:rPr>
                      <m:t> </m:t>
                    </m:r>
                    <m:r>
                      <a:rPr lang="sr-Latn-RS" sz="2600" b="0" i="1" smtClean="0">
                        <a:latin typeface="Cambria Math" panose="02040503050406030204" pitchFamily="18" charset="0"/>
                      </a:rPr>
                      <m:t>𝑓</m:t>
                    </m:r>
                    <m:r>
                      <a:rPr lang="sr-Latn-RS" sz="2600" b="0" i="1" smtClean="0">
                        <a:latin typeface="Cambria Math" panose="02040503050406030204" pitchFamily="18" charset="0"/>
                      </a:rPr>
                      <m:t>(</m:t>
                    </m:r>
                    <m:r>
                      <a:rPr lang="sr-Latn-RS" sz="2600" i="1">
                        <a:latin typeface="Cambria Math" panose="02040503050406030204" pitchFamily="18" charset="0"/>
                      </a:rPr>
                      <m:t>𝑥</m:t>
                    </m:r>
                    <m:r>
                      <a:rPr lang="sr-Latn-RS" sz="2600" b="0" i="1" smtClean="0">
                        <a:latin typeface="Cambria Math" panose="02040503050406030204" pitchFamily="18" charset="0"/>
                      </a:rPr>
                      <m:t>)</m:t>
                    </m:r>
                  </m:oMath>
                </a14:m>
                <a:endParaRPr lang="en-US" sz="2600" i="1" dirty="0">
                  <a:latin typeface="+mj-lt"/>
                </a:endParaRPr>
              </a:p>
            </p:txBody>
          </p:sp>
        </mc:Choice>
        <mc:Fallback xmlns="">
          <p:sp>
            <p:nvSpPr>
              <p:cNvPr id="32" name="TextBox 31">
                <a:extLst>
                  <a:ext uri="{FF2B5EF4-FFF2-40B4-BE49-F238E27FC236}">
                    <a16:creationId xmlns:a16="http://schemas.microsoft.com/office/drawing/2014/main" id="{4D5CE7A3-49CA-9B43-ACC8-5B51F1F9CD2A}"/>
                  </a:ext>
                </a:extLst>
              </p:cNvPr>
              <p:cNvSpPr txBox="1">
                <a:spLocks noRot="1" noChangeAspect="1" noMove="1" noResize="1" noEditPoints="1" noAdjustHandles="1" noChangeArrowheads="1" noChangeShapeType="1" noTextEdit="1"/>
              </p:cNvSpPr>
              <p:nvPr/>
            </p:nvSpPr>
            <p:spPr>
              <a:xfrm>
                <a:off x="630883" y="3473295"/>
                <a:ext cx="3954288" cy="492443"/>
              </a:xfrm>
              <a:prstGeom prst="rect">
                <a:avLst/>
              </a:prstGeom>
              <a:blipFill>
                <a:blip r:embed="rId5"/>
                <a:stretch>
                  <a:fillRect l="-2564" t="-7500" b="-30000"/>
                </a:stretch>
              </a:blipFill>
            </p:spPr>
            <p:txBody>
              <a:bodyPr/>
              <a:lstStyle/>
              <a:p>
                <a:r>
                  <a:rPr lang="en-US">
                    <a:noFill/>
                  </a:rPr>
                  <a:t> </a:t>
                </a:r>
              </a:p>
            </p:txBody>
          </p:sp>
        </mc:Fallback>
      </mc:AlternateContent>
      <p:sp>
        <p:nvSpPr>
          <p:cNvPr id="34" name="TextBox 33">
            <a:extLst>
              <a:ext uri="{FF2B5EF4-FFF2-40B4-BE49-F238E27FC236}">
                <a16:creationId xmlns:a16="http://schemas.microsoft.com/office/drawing/2014/main" id="{117B58F0-D3F3-8846-B7CE-99C4A69E13C7}"/>
              </a:ext>
            </a:extLst>
          </p:cNvPr>
          <p:cNvSpPr txBox="1"/>
          <p:nvPr/>
        </p:nvSpPr>
        <p:spPr>
          <a:xfrm>
            <a:off x="3716044" y="4740475"/>
            <a:ext cx="4586384" cy="461665"/>
          </a:xfrm>
          <a:prstGeom prst="rect">
            <a:avLst/>
          </a:prstGeom>
          <a:solidFill>
            <a:schemeClr val="accent4">
              <a:lumMod val="40000"/>
              <a:lumOff val="60000"/>
            </a:schemeClr>
          </a:solidFill>
        </p:spPr>
        <p:txBody>
          <a:bodyPr wrap="none" rtlCol="0">
            <a:spAutoFit/>
          </a:bodyPr>
          <a:lstStyle/>
          <a:p>
            <a:r>
              <a:rPr lang="en-ZA" sz="2400" dirty="0"/>
              <a:t>Boolean satisfiability (SAT) problem</a:t>
            </a:r>
            <a:endParaRPr lang="en-US" sz="2400"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5D5916D-50A2-7E4C-B8A5-0D68A9CDFDDE}"/>
                  </a:ext>
                </a:extLst>
              </p:cNvPr>
              <p:cNvSpPr txBox="1"/>
              <p:nvPr/>
            </p:nvSpPr>
            <p:spPr>
              <a:xfrm>
                <a:off x="3629253" y="5633215"/>
                <a:ext cx="6904707" cy="523220"/>
              </a:xfrm>
              <a:prstGeom prst="rect">
                <a:avLst/>
              </a:prstGeom>
              <a:noFill/>
            </p:spPr>
            <p:txBody>
              <a:bodyPr wrap="square" rtlCol="0">
                <a:spAutoFit/>
              </a:bodyPr>
              <a:lstStyle/>
              <a:p>
                <a:pPr algn="ctr"/>
                <a:r>
                  <a:rPr lang="en-ZA" sz="2800" dirty="0">
                    <a:latin typeface="+mj-lt"/>
                  </a:rPr>
                  <a:t>Find all values</a:t>
                </a:r>
                <a:r>
                  <a:rPr lang="en-ZA" sz="2600" dirty="0">
                    <a:latin typeface="+mj-lt"/>
                  </a:rPr>
                  <a:t>  </a:t>
                </a:r>
                <a14:m>
                  <m:oMath xmlns:m="http://schemas.openxmlformats.org/officeDocument/2006/math">
                    <m:sSup>
                      <m:sSupPr>
                        <m:ctrlPr>
                          <a:rPr lang="en-ZA" sz="2600" i="1">
                            <a:latin typeface="Cambria Math" panose="02040503050406030204" pitchFamily="18" charset="0"/>
                          </a:rPr>
                        </m:ctrlPr>
                      </m:sSupPr>
                      <m:e>
                        <m:r>
                          <a:rPr lang="sr-Latn-RS" sz="2600" i="1">
                            <a:latin typeface="Cambria Math" panose="02040503050406030204" pitchFamily="18" charset="0"/>
                          </a:rPr>
                          <m:t>𝑥</m:t>
                        </m:r>
                        <m:r>
                          <a:rPr lang="sr-Latn-RS" sz="2600" i="1">
                            <a:latin typeface="Cambria Math" panose="02040503050406030204" pitchFamily="18" charset="0"/>
                            <a:ea typeface="Cambria Math" panose="02040503050406030204" pitchFamily="18" charset="0"/>
                          </a:rPr>
                          <m:t>∈</m:t>
                        </m:r>
                        <m:d>
                          <m:dPr>
                            <m:begChr m:val="{"/>
                            <m:endChr m:val="}"/>
                            <m:ctrlPr>
                              <a:rPr lang="en-ZA" sz="2600" i="1">
                                <a:latin typeface="Cambria Math" panose="02040503050406030204" pitchFamily="18" charset="0"/>
                              </a:rPr>
                            </m:ctrlPr>
                          </m:dPr>
                          <m:e>
                            <m:r>
                              <a:rPr lang="sr-Latn-RS" sz="2600" i="1">
                                <a:latin typeface="Cambria Math" panose="02040503050406030204" pitchFamily="18" charset="0"/>
                              </a:rPr>
                              <m:t>0,1</m:t>
                            </m:r>
                          </m:e>
                        </m:d>
                      </m:e>
                      <m:sup>
                        <m:r>
                          <a:rPr lang="sr-Latn-RS" sz="2600" i="1">
                            <a:latin typeface="Cambria Math" panose="02040503050406030204" pitchFamily="18" charset="0"/>
                          </a:rPr>
                          <m:t>𝑛</m:t>
                        </m:r>
                      </m:sup>
                    </m:sSup>
                    <m:r>
                      <a:rPr lang="sr-Latn-RS" sz="2600" i="1">
                        <a:latin typeface="Cambria Math" panose="02040503050406030204" pitchFamily="18" charset="0"/>
                      </a:rPr>
                      <m:t> </m:t>
                    </m:r>
                  </m:oMath>
                </a14:m>
                <a:r>
                  <a:rPr lang="en-ZA" sz="2600" dirty="0">
                    <a:latin typeface="+mj-lt"/>
                  </a:rPr>
                  <a:t>  </a:t>
                </a:r>
                <a:r>
                  <a:rPr lang="en-ZA" sz="2800" dirty="0">
                    <a:latin typeface="+mj-lt"/>
                  </a:rPr>
                  <a:t>for which</a:t>
                </a:r>
                <a:r>
                  <a:rPr lang="sr-Latn-RS" sz="2600" dirty="0">
                    <a:latin typeface="+mj-lt"/>
                  </a:rPr>
                  <a:t> </a:t>
                </a:r>
                <a14:m>
                  <m:oMath xmlns:m="http://schemas.openxmlformats.org/officeDocument/2006/math">
                    <m:r>
                      <a:rPr lang="sr-Latn-RS" sz="2600" i="1">
                        <a:latin typeface="Cambria Math" panose="02040503050406030204" pitchFamily="18" charset="0"/>
                      </a:rPr>
                      <m:t>𝑓</m:t>
                    </m:r>
                    <m:d>
                      <m:dPr>
                        <m:ctrlPr>
                          <a:rPr lang="sr-Latn-RS" sz="2600" i="1">
                            <a:latin typeface="Cambria Math" panose="02040503050406030204" pitchFamily="18" charset="0"/>
                          </a:rPr>
                        </m:ctrlPr>
                      </m:dPr>
                      <m:e>
                        <m:r>
                          <a:rPr lang="sr-Latn-RS" sz="2600" i="1">
                            <a:latin typeface="Cambria Math" panose="02040503050406030204" pitchFamily="18" charset="0"/>
                          </a:rPr>
                          <m:t>𝑥</m:t>
                        </m:r>
                      </m:e>
                    </m:d>
                    <m:r>
                      <a:rPr lang="sr-Latn-RS" sz="2600" b="0" i="1" smtClean="0">
                        <a:latin typeface="Cambria Math" panose="02040503050406030204" pitchFamily="18" charset="0"/>
                      </a:rPr>
                      <m:t>=1</m:t>
                    </m:r>
                  </m:oMath>
                </a14:m>
                <a:endParaRPr lang="en-US" sz="2600" dirty="0">
                  <a:latin typeface="+mj-lt"/>
                </a:endParaRPr>
              </a:p>
            </p:txBody>
          </p:sp>
        </mc:Choice>
        <mc:Fallback xmlns="">
          <p:sp>
            <p:nvSpPr>
              <p:cNvPr id="36" name="TextBox 35">
                <a:extLst>
                  <a:ext uri="{FF2B5EF4-FFF2-40B4-BE49-F238E27FC236}">
                    <a16:creationId xmlns:a16="http://schemas.microsoft.com/office/drawing/2014/main" id="{55D5916D-50A2-7E4C-B8A5-0D68A9CDFDDE}"/>
                  </a:ext>
                </a:extLst>
              </p:cNvPr>
              <p:cNvSpPr txBox="1">
                <a:spLocks noRot="1" noChangeAspect="1" noMove="1" noResize="1" noEditPoints="1" noAdjustHandles="1" noChangeArrowheads="1" noChangeShapeType="1" noTextEdit="1"/>
              </p:cNvSpPr>
              <p:nvPr/>
            </p:nvSpPr>
            <p:spPr>
              <a:xfrm>
                <a:off x="3629253" y="5633215"/>
                <a:ext cx="6904707" cy="523220"/>
              </a:xfrm>
              <a:prstGeom prst="rect">
                <a:avLst/>
              </a:prstGeom>
              <a:blipFill>
                <a:blip r:embed="rId6"/>
                <a:stretch>
                  <a:fillRect t="-14634" b="-29268"/>
                </a:stretch>
              </a:blipFill>
            </p:spPr>
            <p:txBody>
              <a:bodyPr/>
              <a:lstStyle/>
              <a:p>
                <a:r>
                  <a:rPr lang="en-US">
                    <a:noFill/>
                  </a:rPr>
                  <a:t> </a:t>
                </a:r>
              </a:p>
            </p:txBody>
          </p:sp>
        </mc:Fallback>
      </mc:AlternateContent>
    </p:spTree>
    <p:extLst>
      <p:ext uri="{BB962C8B-B14F-4D97-AF65-F5344CB8AC3E}">
        <p14:creationId xmlns:p14="http://schemas.microsoft.com/office/powerpoint/2010/main" val="1343103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B881FBA-FFC9-A641-8F42-03AE74E0B567}"/>
              </a:ext>
            </a:extLst>
          </p:cNvPr>
          <p:cNvSpPr>
            <a:spLocks noGrp="1"/>
          </p:cNvSpPr>
          <p:nvPr>
            <p:ph type="title"/>
          </p:nvPr>
        </p:nvSpPr>
        <p:spPr/>
        <p:txBody>
          <a:bodyPr/>
          <a:lstStyle/>
          <a:p>
            <a:r>
              <a:rPr lang="en-ZA" dirty="0"/>
              <a:t>Encoding Boolean Functions in Quantum Circuits</a:t>
            </a:r>
            <a:endParaRPr lang="en-US" dirty="0"/>
          </a:p>
        </p:txBody>
      </p:sp>
      <p:sp>
        <p:nvSpPr>
          <p:cNvPr id="3" name="Slide Number Placeholder 2">
            <a:extLst>
              <a:ext uri="{FF2B5EF4-FFF2-40B4-BE49-F238E27FC236}">
                <a16:creationId xmlns:a16="http://schemas.microsoft.com/office/drawing/2014/main" id="{36BBC851-ECA4-B74F-940E-EFE76E3CACF2}"/>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16</a:t>
            </a:fld>
            <a:endParaRPr lang="en-US"/>
          </a:p>
        </p:txBody>
      </p:sp>
      <p:cxnSp>
        <p:nvCxnSpPr>
          <p:cNvPr id="9" name="Straight Connector 8">
            <a:extLst>
              <a:ext uri="{FF2B5EF4-FFF2-40B4-BE49-F238E27FC236}">
                <a16:creationId xmlns:a16="http://schemas.microsoft.com/office/drawing/2014/main" id="{AF883057-F172-A147-9337-3E645DF908F2}"/>
              </a:ext>
            </a:extLst>
          </p:cNvPr>
          <p:cNvCxnSpPr>
            <a:cxnSpLocks/>
          </p:cNvCxnSpPr>
          <p:nvPr/>
        </p:nvCxnSpPr>
        <p:spPr>
          <a:xfrm flipH="1" flipV="1">
            <a:off x="3871640" y="2296438"/>
            <a:ext cx="4670302" cy="1053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F89A6C6-3629-2448-A7D1-C2EF0C24201E}"/>
              </a:ext>
            </a:extLst>
          </p:cNvPr>
          <p:cNvCxnSpPr>
            <a:cxnSpLocks/>
          </p:cNvCxnSpPr>
          <p:nvPr/>
        </p:nvCxnSpPr>
        <p:spPr>
          <a:xfrm flipH="1">
            <a:off x="3871640" y="4169277"/>
            <a:ext cx="467030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AEB5D3E-E0D0-3D43-BF9F-642F183BAB7D}"/>
              </a:ext>
            </a:extLst>
          </p:cNvPr>
          <p:cNvCxnSpPr>
            <a:cxnSpLocks/>
          </p:cNvCxnSpPr>
          <p:nvPr/>
        </p:nvCxnSpPr>
        <p:spPr>
          <a:xfrm flipH="1">
            <a:off x="3871640" y="3240719"/>
            <a:ext cx="467030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E4AB808F-D497-1D48-B987-57FC07691C1E}"/>
              </a:ext>
            </a:extLst>
          </p:cNvPr>
          <p:cNvGrpSpPr/>
          <p:nvPr/>
        </p:nvGrpSpPr>
        <p:grpSpPr>
          <a:xfrm rot="10800000" flipH="1">
            <a:off x="7033699" y="2162124"/>
            <a:ext cx="720000" cy="2344303"/>
            <a:chOff x="2596286" y="1207649"/>
            <a:chExt cx="720000" cy="2344303"/>
          </a:xfrm>
        </p:grpSpPr>
        <p:sp>
          <p:nvSpPr>
            <p:cNvPr id="22" name="Oval 21">
              <a:extLst>
                <a:ext uri="{FF2B5EF4-FFF2-40B4-BE49-F238E27FC236}">
                  <a16:creationId xmlns:a16="http://schemas.microsoft.com/office/drawing/2014/main" id="{F48DC7BA-F16D-FE4B-A484-7D663178A9FA}"/>
                </a:ext>
              </a:extLst>
            </p:cNvPr>
            <p:cNvSpPr/>
            <p:nvPr/>
          </p:nvSpPr>
          <p:spPr>
            <a:xfrm flipV="1">
              <a:off x="2596286" y="120764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23" name="Oval 22">
              <a:extLst>
                <a:ext uri="{FF2B5EF4-FFF2-40B4-BE49-F238E27FC236}">
                  <a16:creationId xmlns:a16="http://schemas.microsoft.com/office/drawing/2014/main" id="{DDDBFBC5-A135-334C-8772-2B46E87761C7}"/>
                </a:ext>
              </a:extLst>
            </p:cNvPr>
            <p:cNvSpPr/>
            <p:nvPr/>
          </p:nvSpPr>
          <p:spPr>
            <a:xfrm flipV="1">
              <a:off x="2831897" y="3281952"/>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24" name="Straight Connector 23">
              <a:extLst>
                <a:ext uri="{FF2B5EF4-FFF2-40B4-BE49-F238E27FC236}">
                  <a16:creationId xmlns:a16="http://schemas.microsoft.com/office/drawing/2014/main" id="{FAB50A9D-870C-C649-9990-CD47E3CC6478}"/>
                </a:ext>
              </a:extLst>
            </p:cNvPr>
            <p:cNvCxnSpPr>
              <a:cxnSpLocks/>
              <a:stCxn id="23" idx="4"/>
              <a:endCxn id="22" idx="0"/>
            </p:cNvCxnSpPr>
            <p:nvPr/>
          </p:nvCxnSpPr>
          <p:spPr>
            <a:xfrm>
              <a:off x="2956286" y="1927649"/>
              <a:ext cx="10611" cy="135430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Oval 12">
            <a:extLst>
              <a:ext uri="{FF2B5EF4-FFF2-40B4-BE49-F238E27FC236}">
                <a16:creationId xmlns:a16="http://schemas.microsoft.com/office/drawing/2014/main" id="{AC4C06A1-CBC9-D847-8C65-177C7B4DC0D1}"/>
              </a:ext>
            </a:extLst>
          </p:cNvPr>
          <p:cNvSpPr/>
          <p:nvPr/>
        </p:nvSpPr>
        <p:spPr>
          <a:xfrm rot="10800000" flipH="1" flipV="1">
            <a:off x="5698118" y="3778056"/>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14" name="Oval 13">
            <a:extLst>
              <a:ext uri="{FF2B5EF4-FFF2-40B4-BE49-F238E27FC236}">
                <a16:creationId xmlns:a16="http://schemas.microsoft.com/office/drawing/2014/main" id="{BA9E600F-4551-0B45-8F28-CB1CD8264A78}"/>
              </a:ext>
            </a:extLst>
          </p:cNvPr>
          <p:cNvSpPr/>
          <p:nvPr/>
        </p:nvSpPr>
        <p:spPr>
          <a:xfrm rot="10800000" flipH="1" flipV="1">
            <a:off x="5910584" y="3102892"/>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15" name="Straight Connector 14">
            <a:extLst>
              <a:ext uri="{FF2B5EF4-FFF2-40B4-BE49-F238E27FC236}">
                <a16:creationId xmlns:a16="http://schemas.microsoft.com/office/drawing/2014/main" id="{0494A2C5-4449-C64D-9553-445E8F2F8939}"/>
              </a:ext>
            </a:extLst>
          </p:cNvPr>
          <p:cNvCxnSpPr>
            <a:cxnSpLocks/>
            <a:stCxn id="14" idx="4"/>
            <a:endCxn id="13" idx="0"/>
          </p:cNvCxnSpPr>
          <p:nvPr/>
        </p:nvCxnSpPr>
        <p:spPr>
          <a:xfrm>
            <a:off x="6045584" y="3372892"/>
            <a:ext cx="12534" cy="4051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CA509241-E632-D94F-A769-9F3C8C511FF6}"/>
              </a:ext>
            </a:extLst>
          </p:cNvPr>
          <p:cNvSpPr/>
          <p:nvPr/>
        </p:nvSpPr>
        <p:spPr>
          <a:xfrm rot="10800000" flipH="1" flipV="1">
            <a:off x="4362536" y="3778056"/>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2F56A7CB-794B-054A-8CF4-C59E64565AFF}"/>
                  </a:ext>
                </a:extLst>
              </p:cNvPr>
              <p:cNvSpPr/>
              <p:nvPr/>
            </p:nvSpPr>
            <p:spPr>
              <a:xfrm>
                <a:off x="2990260" y="1986577"/>
                <a:ext cx="82432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800" i="1" smtClean="0">
                              <a:latin typeface="Cambria Math" panose="02040503050406030204" pitchFamily="18" charset="0"/>
                            </a:rPr>
                          </m:ctrlPr>
                        </m:dPr>
                        <m:e>
                          <m:sSub>
                            <m:sSubPr>
                              <m:ctrlPr>
                                <a:rPr lang="en-ZA" sz="2800" i="1">
                                  <a:latin typeface="Cambria Math" panose="02040503050406030204" pitchFamily="18" charset="0"/>
                                </a:rPr>
                              </m:ctrlPr>
                            </m:sSubPr>
                            <m:e>
                              <m:r>
                                <a:rPr lang="sr-Latn-RS" sz="2800" b="0" i="1" smtClean="0">
                                  <a:latin typeface="Cambria Math" panose="02040503050406030204" pitchFamily="18" charset="0"/>
                                </a:rPr>
                                <m:t>𝑐</m:t>
                              </m:r>
                            </m:e>
                            <m:sub>
                              <m:r>
                                <a:rPr lang="sr-Latn-RS" sz="2800" b="0" i="1">
                                  <a:latin typeface="Cambria Math" panose="02040503050406030204" pitchFamily="18" charset="0"/>
                                </a:rPr>
                                <m:t>1</m:t>
                              </m:r>
                            </m:sub>
                          </m:sSub>
                        </m:e>
                      </m:d>
                    </m:oMath>
                  </m:oMathPara>
                </a14:m>
                <a:endParaRPr lang="en-US" sz="2800" dirty="0"/>
              </a:p>
            </p:txBody>
          </p:sp>
        </mc:Choice>
        <mc:Fallback xmlns="">
          <p:sp>
            <p:nvSpPr>
              <p:cNvPr id="17" name="Rectangle 16">
                <a:extLst>
                  <a:ext uri="{FF2B5EF4-FFF2-40B4-BE49-F238E27FC236}">
                    <a16:creationId xmlns:a16="http://schemas.microsoft.com/office/drawing/2014/main" id="{2F56A7CB-794B-054A-8CF4-C59E64565AFF}"/>
                  </a:ext>
                </a:extLst>
              </p:cNvPr>
              <p:cNvSpPr>
                <a:spLocks noRot="1" noChangeAspect="1" noMove="1" noResize="1" noEditPoints="1" noAdjustHandles="1" noChangeArrowheads="1" noChangeShapeType="1" noTextEdit="1"/>
              </p:cNvSpPr>
              <p:nvPr/>
            </p:nvSpPr>
            <p:spPr>
              <a:xfrm>
                <a:off x="2990260" y="1986577"/>
                <a:ext cx="824328"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0CA5A32A-5A58-7849-A237-8AE96237C028}"/>
                  </a:ext>
                </a:extLst>
              </p:cNvPr>
              <p:cNvSpPr/>
              <p:nvPr/>
            </p:nvSpPr>
            <p:spPr>
              <a:xfrm>
                <a:off x="2971289" y="2976282"/>
                <a:ext cx="83260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800" i="1" smtClean="0">
                              <a:latin typeface="Cambria Math" panose="02040503050406030204" pitchFamily="18" charset="0"/>
                            </a:rPr>
                          </m:ctrlPr>
                        </m:dPr>
                        <m:e>
                          <m:sSub>
                            <m:sSubPr>
                              <m:ctrlPr>
                                <a:rPr lang="en-ZA" sz="2800" i="1">
                                  <a:latin typeface="Cambria Math" panose="02040503050406030204" pitchFamily="18" charset="0"/>
                                </a:rPr>
                              </m:ctrlPr>
                            </m:sSubPr>
                            <m:e>
                              <m:r>
                                <a:rPr lang="sr-Latn-RS" sz="2800" b="0" i="1" smtClean="0">
                                  <a:latin typeface="Cambria Math" panose="02040503050406030204" pitchFamily="18" charset="0"/>
                                </a:rPr>
                                <m:t>𝑐</m:t>
                              </m:r>
                            </m:e>
                            <m:sub>
                              <m:r>
                                <a:rPr lang="en-US" sz="2800" b="0" i="1" smtClean="0">
                                  <a:latin typeface="Cambria Math" panose="02040503050406030204" pitchFamily="18" charset="0"/>
                                </a:rPr>
                                <m:t>2</m:t>
                              </m:r>
                            </m:sub>
                          </m:sSub>
                        </m:e>
                      </m:d>
                    </m:oMath>
                  </m:oMathPara>
                </a14:m>
                <a:endParaRPr lang="en-US" sz="2800" dirty="0"/>
              </a:p>
            </p:txBody>
          </p:sp>
        </mc:Choice>
        <mc:Fallback xmlns="">
          <p:sp>
            <p:nvSpPr>
              <p:cNvPr id="18" name="Rectangle 17">
                <a:extLst>
                  <a:ext uri="{FF2B5EF4-FFF2-40B4-BE49-F238E27FC236}">
                    <a16:creationId xmlns:a16="http://schemas.microsoft.com/office/drawing/2014/main" id="{0CA5A32A-5A58-7849-A237-8AE96237C028}"/>
                  </a:ext>
                </a:extLst>
              </p:cNvPr>
              <p:cNvSpPr>
                <a:spLocks noRot="1" noChangeAspect="1" noMove="1" noResize="1" noEditPoints="1" noAdjustHandles="1" noChangeArrowheads="1" noChangeShapeType="1" noTextEdit="1"/>
              </p:cNvSpPr>
              <p:nvPr/>
            </p:nvSpPr>
            <p:spPr>
              <a:xfrm>
                <a:off x="2971289" y="2976282"/>
                <a:ext cx="832600" cy="5232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B7DA8CC2-E7D8-F144-997A-898BAEF84302}"/>
                  </a:ext>
                </a:extLst>
              </p:cNvPr>
              <p:cNvSpPr/>
              <p:nvPr/>
            </p:nvSpPr>
            <p:spPr>
              <a:xfrm>
                <a:off x="2952318" y="3965987"/>
                <a:ext cx="65896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800" i="1" smtClean="0">
                              <a:latin typeface="Cambria Math" panose="02040503050406030204" pitchFamily="18" charset="0"/>
                            </a:rPr>
                          </m:ctrlPr>
                        </m:dPr>
                        <m:e>
                          <m:r>
                            <a:rPr lang="sr-Latn-RS" sz="2800" b="0" i="1" smtClean="0">
                              <a:latin typeface="Cambria Math" panose="02040503050406030204" pitchFamily="18" charset="0"/>
                            </a:rPr>
                            <m:t>𝑡</m:t>
                          </m:r>
                        </m:e>
                      </m:d>
                    </m:oMath>
                  </m:oMathPara>
                </a14:m>
                <a:endParaRPr lang="en-US" sz="2800" dirty="0"/>
              </a:p>
            </p:txBody>
          </p:sp>
        </mc:Choice>
        <mc:Fallback xmlns="">
          <p:sp>
            <p:nvSpPr>
              <p:cNvPr id="19" name="Rectangle 18">
                <a:extLst>
                  <a:ext uri="{FF2B5EF4-FFF2-40B4-BE49-F238E27FC236}">
                    <a16:creationId xmlns:a16="http://schemas.microsoft.com/office/drawing/2014/main" id="{B7DA8CC2-E7D8-F144-997A-898BAEF84302}"/>
                  </a:ext>
                </a:extLst>
              </p:cNvPr>
              <p:cNvSpPr>
                <a:spLocks noRot="1" noChangeAspect="1" noMove="1" noResize="1" noEditPoints="1" noAdjustHandles="1" noChangeArrowheads="1" noChangeShapeType="1" noTextEdit="1"/>
              </p:cNvSpPr>
              <p:nvPr/>
            </p:nvSpPr>
            <p:spPr>
              <a:xfrm>
                <a:off x="2952318" y="3965987"/>
                <a:ext cx="658962" cy="523220"/>
              </a:xfrm>
              <a:prstGeom prst="rect">
                <a:avLst/>
              </a:prstGeom>
              <a:blipFill>
                <a:blip r:embed="rId5"/>
                <a:stretch>
                  <a:fillRect/>
                </a:stretch>
              </a:blipFill>
            </p:spPr>
            <p:txBody>
              <a:bodyPr/>
              <a:lstStyle/>
              <a:p>
                <a:r>
                  <a:rPr lang="en-US">
                    <a:noFill/>
                  </a:rPr>
                  <a:t> </a:t>
                </a:r>
              </a:p>
            </p:txBody>
          </p:sp>
        </mc:Fallback>
      </mc:AlternateContent>
      <p:sp>
        <p:nvSpPr>
          <p:cNvPr id="26" name="TextBox 25">
            <a:extLst>
              <a:ext uri="{FF2B5EF4-FFF2-40B4-BE49-F238E27FC236}">
                <a16:creationId xmlns:a16="http://schemas.microsoft.com/office/drawing/2014/main" id="{3BA75811-7066-884A-BFBC-4EB63EA02E6D}"/>
              </a:ext>
            </a:extLst>
          </p:cNvPr>
          <p:cNvSpPr txBox="1"/>
          <p:nvPr/>
        </p:nvSpPr>
        <p:spPr>
          <a:xfrm>
            <a:off x="4493515" y="4774669"/>
            <a:ext cx="423514" cy="646331"/>
          </a:xfrm>
          <a:prstGeom prst="rect">
            <a:avLst/>
          </a:prstGeom>
          <a:noFill/>
        </p:spPr>
        <p:txBody>
          <a:bodyPr wrap="none" rtlCol="0">
            <a:spAutoFit/>
          </a:bodyPr>
          <a:lstStyle/>
          <a:p>
            <a:r>
              <a:rPr lang="en-US" sz="3600" dirty="0">
                <a:latin typeface="+mj-lt"/>
              </a:rPr>
              <a:t>X</a:t>
            </a:r>
          </a:p>
        </p:txBody>
      </p:sp>
      <p:sp>
        <p:nvSpPr>
          <p:cNvPr id="27" name="TextBox 26">
            <a:extLst>
              <a:ext uri="{FF2B5EF4-FFF2-40B4-BE49-F238E27FC236}">
                <a16:creationId xmlns:a16="http://schemas.microsoft.com/office/drawing/2014/main" id="{3C914F2E-6AE2-3849-87A2-987468A299D0}"/>
              </a:ext>
            </a:extLst>
          </p:cNvPr>
          <p:cNvSpPr txBox="1"/>
          <p:nvPr/>
        </p:nvSpPr>
        <p:spPr>
          <a:xfrm>
            <a:off x="5434164" y="4788654"/>
            <a:ext cx="1247906" cy="646331"/>
          </a:xfrm>
          <a:prstGeom prst="rect">
            <a:avLst/>
          </a:prstGeom>
          <a:noFill/>
        </p:spPr>
        <p:txBody>
          <a:bodyPr wrap="none" rtlCol="0">
            <a:spAutoFit/>
          </a:bodyPr>
          <a:lstStyle/>
          <a:p>
            <a:r>
              <a:rPr lang="en-US" sz="3600" dirty="0">
                <a:latin typeface="+mj-lt"/>
              </a:rPr>
              <a:t>CNOT</a:t>
            </a:r>
          </a:p>
        </p:txBody>
      </p:sp>
      <p:sp>
        <p:nvSpPr>
          <p:cNvPr id="28" name="TextBox 27">
            <a:extLst>
              <a:ext uri="{FF2B5EF4-FFF2-40B4-BE49-F238E27FC236}">
                <a16:creationId xmlns:a16="http://schemas.microsoft.com/office/drawing/2014/main" id="{F3C5E073-279B-F144-8831-0B5EB46DA1C2}"/>
              </a:ext>
            </a:extLst>
          </p:cNvPr>
          <p:cNvSpPr txBox="1"/>
          <p:nvPr/>
        </p:nvSpPr>
        <p:spPr>
          <a:xfrm>
            <a:off x="6646314" y="4788654"/>
            <a:ext cx="1494768" cy="646331"/>
          </a:xfrm>
          <a:prstGeom prst="rect">
            <a:avLst/>
          </a:prstGeom>
          <a:noFill/>
        </p:spPr>
        <p:txBody>
          <a:bodyPr wrap="none" rtlCol="0">
            <a:spAutoFit/>
          </a:bodyPr>
          <a:lstStyle/>
          <a:p>
            <a:r>
              <a:rPr lang="en-US" sz="3600" dirty="0">
                <a:latin typeface="+mj-lt"/>
              </a:rPr>
              <a:t>CCNOT</a:t>
            </a:r>
          </a:p>
        </p:txBody>
      </p:sp>
      <p:sp>
        <p:nvSpPr>
          <p:cNvPr id="25" name="Oval 24">
            <a:extLst>
              <a:ext uri="{FF2B5EF4-FFF2-40B4-BE49-F238E27FC236}">
                <a16:creationId xmlns:a16="http://schemas.microsoft.com/office/drawing/2014/main" id="{4D8CA491-568E-9847-AD08-BDC4D114A897}"/>
              </a:ext>
            </a:extLst>
          </p:cNvPr>
          <p:cNvSpPr/>
          <p:nvPr/>
        </p:nvSpPr>
        <p:spPr>
          <a:xfrm rot="10800000" flipH="1" flipV="1">
            <a:off x="7266490" y="3098274"/>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spTree>
    <p:extLst>
      <p:ext uri="{BB962C8B-B14F-4D97-AF65-F5344CB8AC3E}">
        <p14:creationId xmlns:p14="http://schemas.microsoft.com/office/powerpoint/2010/main" val="2276200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704FB64-01A3-3748-A3FA-12B91043F9D5}"/>
                  </a:ext>
                </a:extLst>
              </p:cNvPr>
              <p:cNvSpPr>
                <a:spLocks noGrp="1"/>
              </p:cNvSpPr>
              <p:nvPr>
                <p:ph type="title"/>
              </p:nvPr>
            </p:nvSpPr>
            <p:spPr/>
            <p:txBody>
              <a:bodyPr>
                <a:normAutofit/>
              </a:bodyPr>
              <a:lstStyle/>
              <a:p>
                <a:r>
                  <a:rPr lang="en-ZA" dirty="0"/>
                  <a:t>Implementing </a:t>
                </a:r>
                <a14:m>
                  <m:oMath xmlns:m="http://schemas.openxmlformats.org/officeDocument/2006/math">
                    <m:r>
                      <a:rPr lang="sr-Latn-RS" sz="2800" i="1">
                        <a:latin typeface="Cambria Math" panose="02040503050406030204" pitchFamily="18" charset="0"/>
                      </a:rPr>
                      <m:t>𝑓</m:t>
                    </m:r>
                    <m:d>
                      <m:dPr>
                        <m:ctrlPr>
                          <a:rPr lang="sr-Latn-RS" sz="2800" i="1">
                            <a:latin typeface="Cambria Math" panose="02040503050406030204" pitchFamily="18" charset="0"/>
                          </a:rPr>
                        </m:ctrlPr>
                      </m:dPr>
                      <m:e>
                        <m:r>
                          <a:rPr lang="sr-Latn-RS" sz="2800" i="1">
                            <a:latin typeface="Cambria Math" panose="02040503050406030204" pitchFamily="18" charset="0"/>
                          </a:rPr>
                          <m:t>𝑥</m:t>
                        </m:r>
                      </m:e>
                    </m:d>
                    <m:r>
                      <a:rPr lang="sr-Latn-RS" sz="2800" i="1">
                        <a:latin typeface="Cambria Math" panose="02040503050406030204" pitchFamily="18" charset="0"/>
                      </a:rPr>
                      <m:t>=</m:t>
                    </m:r>
                    <m:r>
                      <a:rPr lang="sr-Latn-RS" sz="2800" i="1">
                        <a:latin typeface="Cambria Math" panose="02040503050406030204" pitchFamily="18" charset="0"/>
                      </a:rPr>
                      <m:t>𝑥</m:t>
                    </m:r>
                  </m:oMath>
                </a14:m>
                <a:r>
                  <a:rPr lang="en-ZA" dirty="0"/>
                  <a:t> with a CNOT gate</a:t>
                </a:r>
                <a:endParaRPr lang="en-US" sz="3200" dirty="0"/>
              </a:p>
            </p:txBody>
          </p:sp>
        </mc:Choice>
        <mc:Fallback xmlns="">
          <p:sp>
            <p:nvSpPr>
              <p:cNvPr id="2" name="Title 1">
                <a:extLst>
                  <a:ext uri="{FF2B5EF4-FFF2-40B4-BE49-F238E27FC236}">
                    <a16:creationId xmlns:a16="http://schemas.microsoft.com/office/drawing/2014/main" id="{C704FB64-01A3-3748-A3FA-12B91043F9D5}"/>
                  </a:ext>
                </a:extLst>
              </p:cNvPr>
              <p:cNvSpPr>
                <a:spLocks noGrp="1" noRot="1" noChangeAspect="1" noMove="1" noResize="1" noEditPoints="1" noAdjustHandles="1" noChangeArrowheads="1" noChangeShapeType="1" noTextEdit="1"/>
              </p:cNvSpPr>
              <p:nvPr>
                <p:ph type="title"/>
              </p:nvPr>
            </p:nvSpPr>
            <p:spPr>
              <a:blipFill>
                <a:blip r:embed="rId3"/>
                <a:stretch>
                  <a:fillRect l="-1354" b="-2740"/>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C1050901-AB58-774E-B93B-3A3DD51AB0A8}"/>
              </a:ext>
            </a:extLst>
          </p:cNvPr>
          <p:cNvSpPr>
            <a:spLocks noGrp="1"/>
          </p:cNvSpPr>
          <p:nvPr>
            <p:ph type="sldNum" sz="quarter" idx="12"/>
          </p:nvPr>
        </p:nvSpPr>
        <p:spPr/>
        <p:txBody>
          <a:bodyPr/>
          <a:lstStyle/>
          <a:p>
            <a:fld id="{591A223C-FA10-BC46-A853-03BA373D023C}" type="slidenum">
              <a:rPr lang="en-US" smtClean="0"/>
              <a:t>17</a:t>
            </a:fld>
            <a:endParaRPr lang="en-US"/>
          </a:p>
        </p:txBody>
      </p:sp>
      <p:cxnSp>
        <p:nvCxnSpPr>
          <p:cNvPr id="5" name="Straight Connector 4">
            <a:extLst>
              <a:ext uri="{FF2B5EF4-FFF2-40B4-BE49-F238E27FC236}">
                <a16:creationId xmlns:a16="http://schemas.microsoft.com/office/drawing/2014/main" id="{1C0538B8-9D66-E048-B454-3819B8B663D0}"/>
              </a:ext>
            </a:extLst>
          </p:cNvPr>
          <p:cNvCxnSpPr>
            <a:cxnSpLocks/>
          </p:cNvCxnSpPr>
          <p:nvPr/>
        </p:nvCxnSpPr>
        <p:spPr>
          <a:xfrm flipH="1" flipV="1">
            <a:off x="2311505" y="2859860"/>
            <a:ext cx="1961370" cy="1053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B4F109-780E-1946-8C3B-958745DCAAF6}"/>
              </a:ext>
            </a:extLst>
          </p:cNvPr>
          <p:cNvCxnSpPr>
            <a:cxnSpLocks/>
          </p:cNvCxnSpPr>
          <p:nvPr/>
        </p:nvCxnSpPr>
        <p:spPr>
          <a:xfrm flipH="1">
            <a:off x="2311505" y="4079564"/>
            <a:ext cx="19613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CFE862AE-1C23-5045-94DC-9E3E9877036C}"/>
              </a:ext>
            </a:extLst>
          </p:cNvPr>
          <p:cNvSpPr/>
          <p:nvPr/>
        </p:nvSpPr>
        <p:spPr>
          <a:xfrm rot="10800000" flipH="1" flipV="1">
            <a:off x="2823670" y="3679494"/>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10" name="Oval 9">
            <a:extLst>
              <a:ext uri="{FF2B5EF4-FFF2-40B4-BE49-F238E27FC236}">
                <a16:creationId xmlns:a16="http://schemas.microsoft.com/office/drawing/2014/main" id="{EB28A34D-C329-944C-8DB0-EA582C93B35A}"/>
              </a:ext>
            </a:extLst>
          </p:cNvPr>
          <p:cNvSpPr/>
          <p:nvPr/>
        </p:nvSpPr>
        <p:spPr>
          <a:xfrm rot="10800000" flipH="1" flipV="1">
            <a:off x="3059281" y="2708326"/>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11" name="Straight Connector 10">
            <a:extLst>
              <a:ext uri="{FF2B5EF4-FFF2-40B4-BE49-F238E27FC236}">
                <a16:creationId xmlns:a16="http://schemas.microsoft.com/office/drawing/2014/main" id="{14EAED0F-ABCC-6D42-BD88-D2D99390A7DC}"/>
              </a:ext>
            </a:extLst>
          </p:cNvPr>
          <p:cNvCxnSpPr>
            <a:cxnSpLocks/>
            <a:stCxn id="10" idx="4"/>
            <a:endCxn id="9" idx="0"/>
          </p:cNvCxnSpPr>
          <p:nvPr/>
        </p:nvCxnSpPr>
        <p:spPr>
          <a:xfrm flipH="1">
            <a:off x="3183670" y="2978326"/>
            <a:ext cx="10611" cy="70116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341E4D23-C90E-6748-87AD-D121420F84D6}"/>
                  </a:ext>
                </a:extLst>
              </p:cNvPr>
              <p:cNvSpPr/>
              <p:nvPr/>
            </p:nvSpPr>
            <p:spPr>
              <a:xfrm>
                <a:off x="-26884" y="2405225"/>
                <a:ext cx="2156488"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400" i="1" smtClean="0">
                              <a:latin typeface="Cambria Math" panose="02040503050406030204" pitchFamily="18" charset="0"/>
                            </a:rPr>
                          </m:ctrlPr>
                        </m:dPr>
                        <m:e>
                          <m:r>
                            <a:rPr lang="sr-Latn-RS" sz="2400" b="0" i="1" smtClean="0">
                              <a:latin typeface="Cambria Math" panose="02040503050406030204" pitchFamily="18" charset="0"/>
                            </a:rPr>
                            <m:t>𝑥</m:t>
                          </m:r>
                        </m:e>
                      </m:d>
                      <m:r>
                        <a:rPr lang="sr-Latn-RS" sz="2400" b="0" i="1" smtClean="0">
                          <a:latin typeface="Cambria Math" panose="02040503050406030204" pitchFamily="18" charset="0"/>
                        </a:rPr>
                        <m:t>=</m:t>
                      </m:r>
                      <m:f>
                        <m:fPr>
                          <m:ctrlPr>
                            <a:rPr lang="en-ZA" sz="2400" i="1">
                              <a:latin typeface="Cambria Math" panose="02040503050406030204" pitchFamily="18" charset="0"/>
                            </a:rPr>
                          </m:ctrlPr>
                        </m:fPr>
                        <m:num>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0</m:t>
                              </m:r>
                            </m:e>
                          </m:d>
                          <m:r>
                            <a:rPr lang="sr-Latn-RS" sz="2400" i="1">
                              <a:latin typeface="Cambria Math" panose="02040503050406030204" pitchFamily="18" charset="0"/>
                            </a:rPr>
                            <m:t>+</m:t>
                          </m:r>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1</m:t>
                              </m:r>
                            </m:e>
                          </m:d>
                        </m:num>
                        <m:den>
                          <m:rad>
                            <m:radPr>
                              <m:degHide m:val="on"/>
                              <m:ctrlPr>
                                <a:rPr lang="en-ZA" sz="2400" i="1">
                                  <a:latin typeface="Cambria Math" panose="02040503050406030204" pitchFamily="18" charset="0"/>
                                </a:rPr>
                              </m:ctrlPr>
                            </m:radPr>
                            <m:deg/>
                            <m:e>
                              <m:r>
                                <a:rPr lang="sr-Latn-RS" sz="2400" i="1">
                                  <a:latin typeface="Cambria Math" panose="02040503050406030204" pitchFamily="18" charset="0"/>
                                </a:rPr>
                                <m:t>2</m:t>
                              </m:r>
                            </m:e>
                          </m:rad>
                        </m:den>
                      </m:f>
                    </m:oMath>
                  </m:oMathPara>
                </a14:m>
                <a:endParaRPr lang="en-US" sz="2400" dirty="0"/>
              </a:p>
            </p:txBody>
          </p:sp>
        </mc:Choice>
        <mc:Fallback xmlns="">
          <p:sp>
            <p:nvSpPr>
              <p:cNvPr id="17" name="Rectangle 16">
                <a:extLst>
                  <a:ext uri="{FF2B5EF4-FFF2-40B4-BE49-F238E27FC236}">
                    <a16:creationId xmlns:a16="http://schemas.microsoft.com/office/drawing/2014/main" id="{341E4D23-C90E-6748-87AD-D121420F84D6}"/>
                  </a:ext>
                </a:extLst>
              </p:cNvPr>
              <p:cNvSpPr>
                <a:spLocks noRot="1" noChangeAspect="1" noMove="1" noResize="1" noEditPoints="1" noAdjustHandles="1" noChangeArrowheads="1" noChangeShapeType="1" noTextEdit="1"/>
              </p:cNvSpPr>
              <p:nvPr/>
            </p:nvSpPr>
            <p:spPr>
              <a:xfrm>
                <a:off x="-26884" y="2405225"/>
                <a:ext cx="2156488" cy="876202"/>
              </a:xfrm>
              <a:prstGeom prst="rect">
                <a:avLst/>
              </a:prstGeom>
              <a:blipFill>
                <a:blip r:embed="rId4"/>
                <a:stretch>
                  <a:fillRect b="-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4015DFA8-F331-C044-85F9-ECCCBC3597FA}"/>
                  </a:ext>
                </a:extLst>
              </p:cNvPr>
              <p:cNvSpPr/>
              <p:nvPr/>
            </p:nvSpPr>
            <p:spPr>
              <a:xfrm>
                <a:off x="-62026" y="3817954"/>
                <a:ext cx="141647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400" i="1" smtClean="0">
                              <a:latin typeface="Cambria Math" panose="02040503050406030204" pitchFamily="18" charset="0"/>
                            </a:rPr>
                          </m:ctrlPr>
                        </m:dPr>
                        <m:e>
                          <m:r>
                            <a:rPr lang="sr-Latn-RS" sz="2400" b="0" i="1" smtClean="0">
                              <a:latin typeface="Cambria Math" panose="02040503050406030204" pitchFamily="18" charset="0"/>
                            </a:rPr>
                            <m:t>𝑦</m:t>
                          </m:r>
                        </m:e>
                      </m:d>
                      <m:r>
                        <a:rPr lang="sr-Latn-RS" sz="2400" b="0" i="1" smtClean="0">
                          <a:latin typeface="Cambria Math" panose="02040503050406030204" pitchFamily="18" charset="0"/>
                        </a:rPr>
                        <m:t>=</m:t>
                      </m:r>
                      <m:d>
                        <m:dPr>
                          <m:begChr m:val="|"/>
                          <m:endChr m:val="⟩"/>
                          <m:ctrlPr>
                            <a:rPr lang="en-ZA" sz="2400" i="1">
                              <a:latin typeface="Cambria Math" panose="02040503050406030204" pitchFamily="18" charset="0"/>
                            </a:rPr>
                          </m:ctrlPr>
                        </m:dPr>
                        <m:e>
                          <m:r>
                            <a:rPr lang="sr-Latn-RS" sz="2400" b="0" i="1" smtClean="0">
                              <a:latin typeface="Cambria Math" panose="02040503050406030204" pitchFamily="18" charset="0"/>
                            </a:rPr>
                            <m:t>0</m:t>
                          </m:r>
                        </m:e>
                      </m:d>
                    </m:oMath>
                  </m:oMathPara>
                </a14:m>
                <a:endParaRPr lang="en-US" sz="2400" dirty="0"/>
              </a:p>
            </p:txBody>
          </p:sp>
        </mc:Choice>
        <mc:Fallback xmlns="">
          <p:sp>
            <p:nvSpPr>
              <p:cNvPr id="19" name="Rectangle 18">
                <a:extLst>
                  <a:ext uri="{FF2B5EF4-FFF2-40B4-BE49-F238E27FC236}">
                    <a16:creationId xmlns:a16="http://schemas.microsoft.com/office/drawing/2014/main" id="{4015DFA8-F331-C044-85F9-ECCCBC3597FA}"/>
                  </a:ext>
                </a:extLst>
              </p:cNvPr>
              <p:cNvSpPr>
                <a:spLocks noRot="1" noChangeAspect="1" noMove="1" noResize="1" noEditPoints="1" noAdjustHandles="1" noChangeArrowheads="1" noChangeShapeType="1" noTextEdit="1"/>
              </p:cNvSpPr>
              <p:nvPr/>
            </p:nvSpPr>
            <p:spPr>
              <a:xfrm>
                <a:off x="-62026" y="3817954"/>
                <a:ext cx="1416477" cy="461665"/>
              </a:xfrm>
              <a:prstGeom prst="rect">
                <a:avLst/>
              </a:prstGeom>
              <a:blipFill>
                <a:blip r:embed="rId5"/>
                <a:stretch>
                  <a:fillRect b="-81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22FCEC2-D56F-874E-B7B9-0BDD63FE2AE3}"/>
                  </a:ext>
                </a:extLst>
              </p:cNvPr>
              <p:cNvSpPr txBox="1"/>
              <p:nvPr/>
            </p:nvSpPr>
            <p:spPr>
              <a:xfrm>
                <a:off x="398508" y="5488788"/>
                <a:ext cx="4694683" cy="124553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ZA" sz="2400" i="1">
                              <a:latin typeface="Cambria Math" panose="02040503050406030204" pitchFamily="18" charset="0"/>
                            </a:rPr>
                          </m:ctrlPr>
                        </m:fPr>
                        <m:num>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00</m:t>
                              </m:r>
                            </m:e>
                          </m:d>
                          <m:r>
                            <a:rPr lang="sr-Latn-RS" sz="2400" i="1">
                              <a:latin typeface="Cambria Math" panose="02040503050406030204" pitchFamily="18" charset="0"/>
                            </a:rPr>
                            <m:t>+</m:t>
                          </m:r>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10</m:t>
                              </m:r>
                            </m:e>
                          </m:d>
                        </m:num>
                        <m:den>
                          <m:rad>
                            <m:radPr>
                              <m:degHide m:val="on"/>
                              <m:ctrlPr>
                                <a:rPr lang="en-ZA" sz="2400" i="1">
                                  <a:latin typeface="Cambria Math" panose="02040503050406030204" pitchFamily="18" charset="0"/>
                                </a:rPr>
                              </m:ctrlPr>
                            </m:radPr>
                            <m:deg/>
                            <m:e>
                              <m:r>
                                <a:rPr lang="sr-Latn-RS" sz="2400" i="1">
                                  <a:latin typeface="Cambria Math" panose="02040503050406030204" pitchFamily="18" charset="0"/>
                                </a:rPr>
                                <m:t>2</m:t>
                              </m:r>
                            </m:e>
                          </m:rad>
                        </m:den>
                      </m:f>
                      <m:groupChr>
                        <m:groupChrPr>
                          <m:chr m:val="→"/>
                          <m:vertJc m:val="bot"/>
                          <m:ctrlPr>
                            <a:rPr lang="sr-Latn-RS" sz="2400" i="1" smtClean="0">
                              <a:latin typeface="Cambria Math" panose="02040503050406030204" pitchFamily="18" charset="0"/>
                            </a:rPr>
                          </m:ctrlPr>
                        </m:groupChrPr>
                        <m:e>
                          <m:r>
                            <m:rPr>
                              <m:brk m:alnAt="2"/>
                            </m:rPr>
                            <a:rPr lang="sr-Latn-RS" sz="2400" b="0" i="1" smtClean="0">
                              <a:latin typeface="Cambria Math" panose="02040503050406030204" pitchFamily="18" charset="0"/>
                            </a:rPr>
                            <m:t>𝐶</m:t>
                          </m:r>
                          <m:r>
                            <a:rPr lang="sr-Latn-RS" sz="2400" b="0" i="1" smtClean="0">
                              <a:latin typeface="Cambria Math" panose="02040503050406030204" pitchFamily="18" charset="0"/>
                            </a:rPr>
                            <m:t>𝑁𝑂𝑇</m:t>
                          </m:r>
                        </m:e>
                      </m:groupChr>
                      <m:f>
                        <m:fPr>
                          <m:ctrlPr>
                            <a:rPr lang="en-ZA" sz="2400" i="1">
                              <a:latin typeface="Cambria Math" panose="02040503050406030204" pitchFamily="18" charset="0"/>
                            </a:rPr>
                          </m:ctrlPr>
                        </m:fPr>
                        <m:num>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00</m:t>
                              </m:r>
                            </m:e>
                          </m:d>
                          <m:r>
                            <a:rPr lang="sr-Latn-RS" sz="2400" i="1">
                              <a:latin typeface="Cambria Math" panose="02040503050406030204" pitchFamily="18" charset="0"/>
                            </a:rPr>
                            <m:t>+</m:t>
                          </m:r>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1</m:t>
                              </m:r>
                              <m:r>
                                <a:rPr lang="sr-Latn-RS" sz="2400" b="0" i="1" smtClean="0">
                                  <a:latin typeface="Cambria Math" panose="02040503050406030204" pitchFamily="18" charset="0"/>
                                </a:rPr>
                                <m:t>1</m:t>
                              </m:r>
                            </m:e>
                          </m:d>
                        </m:num>
                        <m:den>
                          <m:rad>
                            <m:radPr>
                              <m:degHide m:val="on"/>
                              <m:ctrlPr>
                                <a:rPr lang="en-ZA" sz="2400" i="1">
                                  <a:latin typeface="Cambria Math" panose="02040503050406030204" pitchFamily="18" charset="0"/>
                                </a:rPr>
                              </m:ctrlPr>
                            </m:radPr>
                            <m:deg/>
                            <m:e>
                              <m:r>
                                <a:rPr lang="sr-Latn-RS" sz="2400" i="1">
                                  <a:latin typeface="Cambria Math" panose="02040503050406030204" pitchFamily="18" charset="0"/>
                                </a:rPr>
                                <m:t>2</m:t>
                              </m:r>
                            </m:e>
                          </m:rad>
                        </m:den>
                      </m:f>
                    </m:oMath>
                  </m:oMathPara>
                </a14:m>
                <a:endParaRPr lang="en-ZA" sz="2400" dirty="0"/>
              </a:p>
              <a:p>
                <a:endParaRPr lang="en-US" sz="2400" dirty="0"/>
              </a:p>
            </p:txBody>
          </p:sp>
        </mc:Choice>
        <mc:Fallback xmlns="">
          <p:sp>
            <p:nvSpPr>
              <p:cNvPr id="24" name="TextBox 23">
                <a:extLst>
                  <a:ext uri="{FF2B5EF4-FFF2-40B4-BE49-F238E27FC236}">
                    <a16:creationId xmlns:a16="http://schemas.microsoft.com/office/drawing/2014/main" id="{A22FCEC2-D56F-874E-B7B9-0BDD63FE2AE3}"/>
                  </a:ext>
                </a:extLst>
              </p:cNvPr>
              <p:cNvSpPr txBox="1">
                <a:spLocks noRot="1" noChangeAspect="1" noMove="1" noResize="1" noEditPoints="1" noAdjustHandles="1" noChangeArrowheads="1" noChangeShapeType="1" noTextEdit="1"/>
              </p:cNvSpPr>
              <p:nvPr/>
            </p:nvSpPr>
            <p:spPr>
              <a:xfrm>
                <a:off x="398508" y="5488788"/>
                <a:ext cx="4694683" cy="1245534"/>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5B567519-FD9D-0D47-A05A-BA3F4A208619}"/>
                  </a:ext>
                </a:extLst>
              </p:cNvPr>
              <p:cNvSpPr/>
              <p:nvPr/>
            </p:nvSpPr>
            <p:spPr>
              <a:xfrm>
                <a:off x="2745850" y="4479548"/>
                <a:ext cx="1986378" cy="461665"/>
              </a:xfrm>
              <a:prstGeom prst="rect">
                <a:avLst/>
              </a:prstGeom>
            </p:spPr>
            <p:txBody>
              <a:bodyPr wrap="none">
                <a:spAutoFit/>
              </a:bodyPr>
              <a:lstStyle/>
              <a:p>
                <a14:m>
                  <m:oMath xmlns:m="http://schemas.openxmlformats.org/officeDocument/2006/math">
                    <m:d>
                      <m:dPr>
                        <m:begChr m:val="|"/>
                        <m:endChr m:val="⟩"/>
                        <m:ctrlPr>
                          <a:rPr lang="en-ZA" sz="2400" i="1" smtClean="0">
                            <a:latin typeface="Cambria Math" panose="02040503050406030204" pitchFamily="18" charset="0"/>
                          </a:rPr>
                        </m:ctrlPr>
                      </m:dPr>
                      <m:e>
                        <m:r>
                          <a:rPr lang="sr-Latn-RS" sz="2400" b="0" i="1" smtClean="0">
                            <a:latin typeface="Cambria Math" panose="02040503050406030204" pitchFamily="18" charset="0"/>
                          </a:rPr>
                          <m:t>𝑦</m:t>
                        </m:r>
                      </m:e>
                    </m:d>
                    <m:r>
                      <a:rPr lang="sr-Latn-RS" sz="2400" b="0" i="1" smtClean="0">
                        <a:latin typeface="Cambria Math" panose="02040503050406030204" pitchFamily="18" charset="0"/>
                      </a:rPr>
                      <m:t>=</m:t>
                    </m:r>
                  </m:oMath>
                </a14:m>
                <a:r>
                  <a:rPr lang="en-ZA" sz="2400" dirty="0"/>
                  <a:t> </a:t>
                </a:r>
                <a14:m>
                  <m:oMath xmlns:m="http://schemas.openxmlformats.org/officeDocument/2006/math">
                    <m:d>
                      <m:dPr>
                        <m:begChr m:val="|"/>
                        <m:endChr m:val="⟩"/>
                        <m:ctrlPr>
                          <a:rPr lang="en-ZA" sz="2400" i="1">
                            <a:latin typeface="Cambria Math" panose="02040503050406030204" pitchFamily="18" charset="0"/>
                          </a:rPr>
                        </m:ctrlPr>
                      </m:dPr>
                      <m:e>
                        <m:r>
                          <a:rPr lang="sr-Latn-RS" sz="2400" b="0" i="1" smtClean="0">
                            <a:latin typeface="Cambria Math" panose="02040503050406030204" pitchFamily="18" charset="0"/>
                          </a:rPr>
                          <m:t>𝑦</m:t>
                        </m:r>
                      </m:e>
                    </m:d>
                    <m:r>
                      <a:rPr lang="sr-Latn-RS" sz="2400" i="1" smtClean="0">
                        <a:latin typeface="Cambria Math" panose="02040503050406030204" pitchFamily="18" charset="0"/>
                        <a:ea typeface="Cambria Math" panose="02040503050406030204" pitchFamily="18" charset="0"/>
                      </a:rPr>
                      <m:t>⨁</m:t>
                    </m:r>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𝑥</m:t>
                        </m:r>
                      </m:e>
                    </m:d>
                  </m:oMath>
                </a14:m>
                <a:endParaRPr lang="en-US" sz="2400" dirty="0"/>
              </a:p>
            </p:txBody>
          </p:sp>
        </mc:Choice>
        <mc:Fallback xmlns="">
          <p:sp>
            <p:nvSpPr>
              <p:cNvPr id="37" name="Rectangle 36">
                <a:extLst>
                  <a:ext uri="{FF2B5EF4-FFF2-40B4-BE49-F238E27FC236}">
                    <a16:creationId xmlns:a16="http://schemas.microsoft.com/office/drawing/2014/main" id="{5B567519-FD9D-0D47-A05A-BA3F4A208619}"/>
                  </a:ext>
                </a:extLst>
              </p:cNvPr>
              <p:cNvSpPr>
                <a:spLocks noRot="1" noChangeAspect="1" noMove="1" noResize="1" noEditPoints="1" noAdjustHandles="1" noChangeArrowheads="1" noChangeShapeType="1" noTextEdit="1"/>
              </p:cNvSpPr>
              <p:nvPr/>
            </p:nvSpPr>
            <p:spPr>
              <a:xfrm>
                <a:off x="2745850" y="4479548"/>
                <a:ext cx="1986378" cy="461665"/>
              </a:xfrm>
              <a:prstGeom prst="rect">
                <a:avLst/>
              </a:prstGeom>
              <a:blipFill>
                <a:blip r:embed="rId7"/>
                <a:stretch>
                  <a:fillRect b="-8108"/>
                </a:stretch>
              </a:blipFill>
            </p:spPr>
            <p:txBody>
              <a:bodyPr/>
              <a:lstStyle/>
              <a:p>
                <a:r>
                  <a:rPr lang="en-US">
                    <a:noFill/>
                  </a:rPr>
                  <a:t> </a:t>
                </a:r>
              </a:p>
            </p:txBody>
          </p:sp>
        </mc:Fallback>
      </mc:AlternateContent>
      <p:sp>
        <p:nvSpPr>
          <p:cNvPr id="34" name="TextBox 33">
            <a:extLst>
              <a:ext uri="{FF2B5EF4-FFF2-40B4-BE49-F238E27FC236}">
                <a16:creationId xmlns:a16="http://schemas.microsoft.com/office/drawing/2014/main" id="{9F171650-4A45-3049-B588-98A1A992D4BB}"/>
              </a:ext>
            </a:extLst>
          </p:cNvPr>
          <p:cNvSpPr txBox="1"/>
          <p:nvPr/>
        </p:nvSpPr>
        <p:spPr>
          <a:xfrm>
            <a:off x="874243" y="1245430"/>
            <a:ext cx="2618666" cy="461665"/>
          </a:xfrm>
          <a:prstGeom prst="rect">
            <a:avLst/>
          </a:prstGeom>
          <a:solidFill>
            <a:schemeClr val="accent4">
              <a:lumMod val="40000"/>
              <a:lumOff val="60000"/>
            </a:schemeClr>
          </a:solidFill>
        </p:spPr>
        <p:txBody>
          <a:bodyPr wrap="none" rtlCol="0">
            <a:spAutoFit/>
          </a:bodyPr>
          <a:lstStyle/>
          <a:p>
            <a:r>
              <a:rPr lang="en-ZA" sz="2400" dirty="0">
                <a:latin typeface="+mj-lt"/>
              </a:rPr>
              <a:t>Function evaluation</a:t>
            </a:r>
            <a:endParaRPr lang="en-US" sz="2400" dirty="0">
              <a:latin typeface="+mj-lt"/>
            </a:endParaRPr>
          </a:p>
        </p:txBody>
      </p:sp>
      <p:grpSp>
        <p:nvGrpSpPr>
          <p:cNvPr id="12" name="Group 11">
            <a:extLst>
              <a:ext uri="{FF2B5EF4-FFF2-40B4-BE49-F238E27FC236}">
                <a16:creationId xmlns:a16="http://schemas.microsoft.com/office/drawing/2014/main" id="{B610BCCE-606B-2648-A251-03FCB7DA9D98}"/>
              </a:ext>
            </a:extLst>
          </p:cNvPr>
          <p:cNvGrpSpPr/>
          <p:nvPr/>
        </p:nvGrpSpPr>
        <p:grpSpPr>
          <a:xfrm>
            <a:off x="4994128" y="1245429"/>
            <a:ext cx="7197872" cy="5367048"/>
            <a:chOff x="4994128" y="1245429"/>
            <a:chExt cx="7197872" cy="5367048"/>
          </a:xfrm>
        </p:grpSpPr>
        <p:sp>
          <p:nvSpPr>
            <p:cNvPr id="36" name="TextBox 35">
              <a:extLst>
                <a:ext uri="{FF2B5EF4-FFF2-40B4-BE49-F238E27FC236}">
                  <a16:creationId xmlns:a16="http://schemas.microsoft.com/office/drawing/2014/main" id="{821EC51D-6901-9F4A-BDFA-0E8C3C6C267B}"/>
                </a:ext>
              </a:extLst>
            </p:cNvPr>
            <p:cNvSpPr txBox="1"/>
            <p:nvPr/>
          </p:nvSpPr>
          <p:spPr>
            <a:xfrm>
              <a:off x="7375724" y="1245429"/>
              <a:ext cx="2713435" cy="461665"/>
            </a:xfrm>
            <a:prstGeom prst="rect">
              <a:avLst/>
            </a:prstGeom>
            <a:solidFill>
              <a:schemeClr val="accent4">
                <a:lumMod val="40000"/>
                <a:lumOff val="60000"/>
              </a:schemeClr>
            </a:solidFill>
          </p:spPr>
          <p:txBody>
            <a:bodyPr wrap="none" rtlCol="0">
              <a:spAutoFit/>
            </a:bodyPr>
            <a:lstStyle/>
            <a:p>
              <a:r>
                <a:rPr lang="en-ZA" sz="2400" dirty="0"/>
                <a:t>Solving SAT problem</a:t>
              </a:r>
              <a:endParaRPr lang="en-US" sz="2400" dirty="0">
                <a:latin typeface="+mj-lt"/>
              </a:endParaRPr>
            </a:p>
          </p:txBody>
        </p:sp>
        <p:cxnSp>
          <p:nvCxnSpPr>
            <p:cNvPr id="25" name="Straight Connector 24">
              <a:extLst>
                <a:ext uri="{FF2B5EF4-FFF2-40B4-BE49-F238E27FC236}">
                  <a16:creationId xmlns:a16="http://schemas.microsoft.com/office/drawing/2014/main" id="{9A5A0BF5-51AE-114F-9612-678F1C8256C4}"/>
                </a:ext>
              </a:extLst>
            </p:cNvPr>
            <p:cNvCxnSpPr>
              <a:cxnSpLocks/>
            </p:cNvCxnSpPr>
            <p:nvPr/>
          </p:nvCxnSpPr>
          <p:spPr>
            <a:xfrm flipH="1" flipV="1">
              <a:off x="8947250" y="2859860"/>
              <a:ext cx="1961370" cy="1053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C8357B9-79E5-4148-9933-4344BCB2A6C8}"/>
                </a:ext>
              </a:extLst>
            </p:cNvPr>
            <p:cNvCxnSpPr>
              <a:cxnSpLocks/>
            </p:cNvCxnSpPr>
            <p:nvPr/>
          </p:nvCxnSpPr>
          <p:spPr>
            <a:xfrm flipH="1">
              <a:off x="8947250" y="4079564"/>
              <a:ext cx="19613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2908BEF6-BE43-CB4B-A891-60DCE4C643D1}"/>
                </a:ext>
              </a:extLst>
            </p:cNvPr>
            <p:cNvSpPr/>
            <p:nvPr/>
          </p:nvSpPr>
          <p:spPr>
            <a:xfrm rot="10800000" flipH="1" flipV="1">
              <a:off x="9459415" y="3679494"/>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28" name="Oval 27">
              <a:extLst>
                <a:ext uri="{FF2B5EF4-FFF2-40B4-BE49-F238E27FC236}">
                  <a16:creationId xmlns:a16="http://schemas.microsoft.com/office/drawing/2014/main" id="{172DADA3-DFEC-874A-A7DC-4CCFA12E760F}"/>
                </a:ext>
              </a:extLst>
            </p:cNvPr>
            <p:cNvSpPr/>
            <p:nvPr/>
          </p:nvSpPr>
          <p:spPr>
            <a:xfrm rot="10800000" flipH="1" flipV="1">
              <a:off x="9695026" y="2708326"/>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29" name="Straight Connector 28">
              <a:extLst>
                <a:ext uri="{FF2B5EF4-FFF2-40B4-BE49-F238E27FC236}">
                  <a16:creationId xmlns:a16="http://schemas.microsoft.com/office/drawing/2014/main" id="{5E165373-58DC-8441-8069-DFA5854A924D}"/>
                </a:ext>
              </a:extLst>
            </p:cNvPr>
            <p:cNvCxnSpPr>
              <a:cxnSpLocks/>
              <a:stCxn id="28" idx="4"/>
              <a:endCxn id="27" idx="0"/>
            </p:cNvCxnSpPr>
            <p:nvPr/>
          </p:nvCxnSpPr>
          <p:spPr>
            <a:xfrm flipH="1">
              <a:off x="9819415" y="2978326"/>
              <a:ext cx="10611" cy="70116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97FF70D6-0A85-1848-AD2F-4ABB46FF4867}"/>
                    </a:ext>
                  </a:extLst>
                </p:cNvPr>
                <p:cNvSpPr/>
                <p:nvPr/>
              </p:nvSpPr>
              <p:spPr>
                <a:xfrm>
                  <a:off x="6608861" y="2405225"/>
                  <a:ext cx="2156488"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400" i="1" smtClean="0">
                                <a:latin typeface="Cambria Math" panose="02040503050406030204" pitchFamily="18" charset="0"/>
                              </a:rPr>
                            </m:ctrlPr>
                          </m:dPr>
                          <m:e>
                            <m:r>
                              <a:rPr lang="sr-Latn-RS" sz="2400" b="0" i="1" smtClean="0">
                                <a:latin typeface="Cambria Math" panose="02040503050406030204" pitchFamily="18" charset="0"/>
                              </a:rPr>
                              <m:t>𝑥</m:t>
                            </m:r>
                          </m:e>
                        </m:d>
                        <m:r>
                          <a:rPr lang="sr-Latn-RS" sz="2400" b="0" i="1" smtClean="0">
                            <a:latin typeface="Cambria Math" panose="02040503050406030204" pitchFamily="18" charset="0"/>
                          </a:rPr>
                          <m:t>=</m:t>
                        </m:r>
                        <m:f>
                          <m:fPr>
                            <m:ctrlPr>
                              <a:rPr lang="en-ZA" sz="2400" i="1">
                                <a:latin typeface="Cambria Math" panose="02040503050406030204" pitchFamily="18" charset="0"/>
                              </a:rPr>
                            </m:ctrlPr>
                          </m:fPr>
                          <m:num>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0</m:t>
                                </m:r>
                              </m:e>
                            </m:d>
                            <m:r>
                              <a:rPr lang="sr-Latn-RS" sz="2400" i="1">
                                <a:latin typeface="Cambria Math" panose="02040503050406030204" pitchFamily="18" charset="0"/>
                              </a:rPr>
                              <m:t>+</m:t>
                            </m:r>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1</m:t>
                                </m:r>
                              </m:e>
                            </m:d>
                          </m:num>
                          <m:den>
                            <m:rad>
                              <m:radPr>
                                <m:degHide m:val="on"/>
                                <m:ctrlPr>
                                  <a:rPr lang="en-ZA" sz="2400" i="1">
                                    <a:latin typeface="Cambria Math" panose="02040503050406030204" pitchFamily="18" charset="0"/>
                                  </a:rPr>
                                </m:ctrlPr>
                              </m:radPr>
                              <m:deg/>
                              <m:e>
                                <m:r>
                                  <a:rPr lang="sr-Latn-RS" sz="2400" i="1">
                                    <a:latin typeface="Cambria Math" panose="02040503050406030204" pitchFamily="18" charset="0"/>
                                  </a:rPr>
                                  <m:t>2</m:t>
                                </m:r>
                              </m:e>
                            </m:rad>
                          </m:den>
                        </m:f>
                      </m:oMath>
                    </m:oMathPara>
                  </a14:m>
                  <a:endParaRPr lang="en-US" sz="2400" dirty="0"/>
                </a:p>
              </p:txBody>
            </p:sp>
          </mc:Choice>
          <mc:Fallback xmlns="">
            <p:sp>
              <p:nvSpPr>
                <p:cNvPr id="30" name="Rectangle 29">
                  <a:extLst>
                    <a:ext uri="{FF2B5EF4-FFF2-40B4-BE49-F238E27FC236}">
                      <a16:creationId xmlns:a16="http://schemas.microsoft.com/office/drawing/2014/main" id="{97FF70D6-0A85-1848-AD2F-4ABB46FF4867}"/>
                    </a:ext>
                  </a:extLst>
                </p:cNvPr>
                <p:cNvSpPr>
                  <a:spLocks noRot="1" noChangeAspect="1" noMove="1" noResize="1" noEditPoints="1" noAdjustHandles="1" noChangeArrowheads="1" noChangeShapeType="1" noTextEdit="1"/>
                </p:cNvSpPr>
                <p:nvPr/>
              </p:nvSpPr>
              <p:spPr>
                <a:xfrm>
                  <a:off x="6608861" y="2405225"/>
                  <a:ext cx="2156488" cy="876202"/>
                </a:xfrm>
                <a:prstGeom prst="rect">
                  <a:avLst/>
                </a:prstGeom>
                <a:blipFill>
                  <a:blip r:embed="rId8"/>
                  <a:stretch>
                    <a:fillRect b="-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4558E22E-FB4C-4C42-9190-CEB8A1A9FCF4}"/>
                    </a:ext>
                  </a:extLst>
                </p:cNvPr>
                <p:cNvSpPr/>
                <p:nvPr/>
              </p:nvSpPr>
              <p:spPr>
                <a:xfrm>
                  <a:off x="5882138" y="3679493"/>
                  <a:ext cx="2997872"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400" i="1" smtClean="0">
                                <a:latin typeface="Cambria Math" panose="02040503050406030204" pitchFamily="18" charset="0"/>
                              </a:rPr>
                            </m:ctrlPr>
                          </m:dPr>
                          <m:e>
                            <m:r>
                              <a:rPr lang="sr-Latn-RS" sz="2400" b="0" i="1" smtClean="0">
                                <a:latin typeface="Cambria Math" panose="02040503050406030204" pitchFamily="18" charset="0"/>
                              </a:rPr>
                              <m:t>𝑦</m:t>
                            </m:r>
                          </m:e>
                        </m:d>
                        <m:r>
                          <a:rPr lang="sr-Latn-RS" sz="2400" b="0" i="1" smtClean="0">
                            <a:latin typeface="Cambria Math" panose="02040503050406030204" pitchFamily="18" charset="0"/>
                          </a:rPr>
                          <m:t>=</m:t>
                        </m:r>
                        <m:d>
                          <m:dPr>
                            <m:begChr m:val="|"/>
                            <m:endChr m:val="⟩"/>
                            <m:ctrlPr>
                              <a:rPr lang="en-ZA" sz="2400" i="1" smtClean="0">
                                <a:solidFill>
                                  <a:srgbClr val="0000FF"/>
                                </a:solidFill>
                                <a:latin typeface="Cambria Math" panose="02040503050406030204" pitchFamily="18" charset="0"/>
                              </a:rPr>
                            </m:ctrlPr>
                          </m:dPr>
                          <m:e>
                            <m:r>
                              <a:rPr lang="sr-Latn-RS" sz="2400" b="0" i="1" smtClean="0">
                                <a:solidFill>
                                  <a:srgbClr val="0000FF"/>
                                </a:solidFill>
                                <a:latin typeface="Cambria Math" panose="02040503050406030204" pitchFamily="18" charset="0"/>
                              </a:rPr>
                              <m:t>−</m:t>
                            </m:r>
                          </m:e>
                        </m:d>
                        <m:r>
                          <a:rPr lang="en-US" sz="2400" b="0" i="1" smtClean="0">
                            <a:latin typeface="Cambria Math" panose="02040503050406030204" pitchFamily="18" charset="0"/>
                          </a:rPr>
                          <m:t>=</m:t>
                        </m:r>
                        <m:f>
                          <m:fPr>
                            <m:ctrlPr>
                              <a:rPr lang="en-ZA" sz="2400" i="1">
                                <a:solidFill>
                                  <a:srgbClr val="0000FF"/>
                                </a:solidFill>
                                <a:latin typeface="Cambria Math" panose="02040503050406030204" pitchFamily="18" charset="0"/>
                              </a:rPr>
                            </m:ctrlPr>
                          </m:fPr>
                          <m:num>
                            <m:d>
                              <m:dPr>
                                <m:begChr m:val="|"/>
                                <m:endChr m:val="⟩"/>
                                <m:ctrlPr>
                                  <a:rPr lang="en-ZA" sz="2400" i="1">
                                    <a:solidFill>
                                      <a:srgbClr val="0000FF"/>
                                    </a:solidFill>
                                    <a:latin typeface="Cambria Math" panose="02040503050406030204" pitchFamily="18" charset="0"/>
                                  </a:rPr>
                                </m:ctrlPr>
                              </m:dPr>
                              <m:e>
                                <m:r>
                                  <a:rPr lang="sr-Latn-RS" sz="2400" i="1">
                                    <a:solidFill>
                                      <a:srgbClr val="0000FF"/>
                                    </a:solidFill>
                                    <a:latin typeface="Cambria Math" panose="02040503050406030204" pitchFamily="18" charset="0"/>
                                  </a:rPr>
                                  <m:t>0</m:t>
                                </m:r>
                              </m:e>
                            </m:d>
                            <m:r>
                              <a:rPr lang="en-US" sz="2400" i="1">
                                <a:solidFill>
                                  <a:srgbClr val="0000FF"/>
                                </a:solidFill>
                                <a:latin typeface="Cambria Math" panose="02040503050406030204" pitchFamily="18" charset="0"/>
                              </a:rPr>
                              <m:t>−</m:t>
                            </m:r>
                            <m:d>
                              <m:dPr>
                                <m:begChr m:val="|"/>
                                <m:endChr m:val="⟩"/>
                                <m:ctrlPr>
                                  <a:rPr lang="en-ZA" sz="2400" i="1">
                                    <a:solidFill>
                                      <a:srgbClr val="0000FF"/>
                                    </a:solidFill>
                                    <a:latin typeface="Cambria Math" panose="02040503050406030204" pitchFamily="18" charset="0"/>
                                  </a:rPr>
                                </m:ctrlPr>
                              </m:dPr>
                              <m:e>
                                <m:r>
                                  <a:rPr lang="sr-Latn-RS" sz="2400" i="1">
                                    <a:solidFill>
                                      <a:srgbClr val="0000FF"/>
                                    </a:solidFill>
                                    <a:latin typeface="Cambria Math" panose="02040503050406030204" pitchFamily="18" charset="0"/>
                                  </a:rPr>
                                  <m:t>1</m:t>
                                </m:r>
                              </m:e>
                            </m:d>
                          </m:num>
                          <m:den>
                            <m:rad>
                              <m:radPr>
                                <m:degHide m:val="on"/>
                                <m:ctrlPr>
                                  <a:rPr lang="en-ZA" sz="2400" i="1">
                                    <a:solidFill>
                                      <a:srgbClr val="0000FF"/>
                                    </a:solidFill>
                                    <a:latin typeface="Cambria Math" panose="02040503050406030204" pitchFamily="18" charset="0"/>
                                  </a:rPr>
                                </m:ctrlPr>
                              </m:radPr>
                              <m:deg/>
                              <m:e>
                                <m:r>
                                  <a:rPr lang="sr-Latn-RS" sz="2400" i="1">
                                    <a:solidFill>
                                      <a:srgbClr val="0000FF"/>
                                    </a:solidFill>
                                    <a:latin typeface="Cambria Math" panose="02040503050406030204" pitchFamily="18" charset="0"/>
                                  </a:rPr>
                                  <m:t>2</m:t>
                                </m:r>
                              </m:e>
                            </m:rad>
                          </m:den>
                        </m:f>
                      </m:oMath>
                    </m:oMathPara>
                  </a14:m>
                  <a:endParaRPr lang="en-US" sz="2400" dirty="0"/>
                </a:p>
              </p:txBody>
            </p:sp>
          </mc:Choice>
          <mc:Fallback xmlns="">
            <p:sp>
              <p:nvSpPr>
                <p:cNvPr id="31" name="Rectangle 30">
                  <a:extLst>
                    <a:ext uri="{FF2B5EF4-FFF2-40B4-BE49-F238E27FC236}">
                      <a16:creationId xmlns:a16="http://schemas.microsoft.com/office/drawing/2014/main" id="{4558E22E-FB4C-4C42-9190-CEB8A1A9FCF4}"/>
                    </a:ext>
                  </a:extLst>
                </p:cNvPr>
                <p:cNvSpPr>
                  <a:spLocks noRot="1" noChangeAspect="1" noMove="1" noResize="1" noEditPoints="1" noAdjustHandles="1" noChangeArrowheads="1" noChangeShapeType="1" noTextEdit="1"/>
                </p:cNvSpPr>
                <p:nvPr/>
              </p:nvSpPr>
              <p:spPr>
                <a:xfrm>
                  <a:off x="5882138" y="3679493"/>
                  <a:ext cx="2997872" cy="876202"/>
                </a:xfrm>
                <a:prstGeom prst="rect">
                  <a:avLst/>
                </a:prstGeom>
                <a:blipFill>
                  <a:blip r:embed="rId9"/>
                  <a:stretch>
                    <a:fillRect b="-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563B8CF3-FCFD-9A47-8CB2-F9BEAC26A711}"/>
                    </a:ext>
                  </a:extLst>
                </p:cNvPr>
                <p:cNvSpPr txBox="1"/>
                <p:nvPr/>
              </p:nvSpPr>
              <p:spPr>
                <a:xfrm>
                  <a:off x="5002852" y="5559112"/>
                  <a:ext cx="7189148" cy="10533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ZA" sz="2000" i="1">
                                <a:latin typeface="Cambria Math" panose="02040503050406030204" pitchFamily="18" charset="0"/>
                              </a:rPr>
                            </m:ctrlPr>
                          </m:fPr>
                          <m:num>
                            <m:d>
                              <m:dPr>
                                <m:begChr m:val="|"/>
                                <m:endChr m:val="⟩"/>
                                <m:ctrlPr>
                                  <a:rPr lang="en-ZA" sz="2000" i="1">
                                    <a:latin typeface="Cambria Math" panose="02040503050406030204" pitchFamily="18" charset="0"/>
                                  </a:rPr>
                                </m:ctrlPr>
                              </m:dPr>
                              <m:e>
                                <m:r>
                                  <a:rPr lang="sr-Latn-RS" sz="2000" i="1">
                                    <a:latin typeface="Cambria Math" panose="02040503050406030204" pitchFamily="18" charset="0"/>
                                  </a:rPr>
                                  <m:t>0</m:t>
                                </m:r>
                              </m:e>
                            </m:d>
                            <m:r>
                              <a:rPr lang="sr-Latn-RS" sz="2000" i="1">
                                <a:latin typeface="Cambria Math" panose="02040503050406030204" pitchFamily="18" charset="0"/>
                              </a:rPr>
                              <m:t>+</m:t>
                            </m:r>
                            <m:d>
                              <m:dPr>
                                <m:begChr m:val="|"/>
                                <m:endChr m:val="⟩"/>
                                <m:ctrlPr>
                                  <a:rPr lang="en-ZA" sz="2000" i="1">
                                    <a:latin typeface="Cambria Math" panose="02040503050406030204" pitchFamily="18" charset="0"/>
                                  </a:rPr>
                                </m:ctrlPr>
                              </m:dPr>
                              <m:e>
                                <m:r>
                                  <a:rPr lang="sr-Latn-RS" sz="2000" i="1">
                                    <a:latin typeface="Cambria Math" panose="02040503050406030204" pitchFamily="18" charset="0"/>
                                  </a:rPr>
                                  <m:t>1</m:t>
                                </m:r>
                              </m:e>
                            </m:d>
                          </m:num>
                          <m:den>
                            <m:rad>
                              <m:radPr>
                                <m:degHide m:val="on"/>
                                <m:ctrlPr>
                                  <a:rPr lang="en-ZA" sz="2000" i="1">
                                    <a:latin typeface="Cambria Math" panose="02040503050406030204" pitchFamily="18" charset="0"/>
                                  </a:rPr>
                                </m:ctrlPr>
                              </m:radPr>
                              <m:deg/>
                              <m:e>
                                <m:r>
                                  <a:rPr lang="sr-Latn-RS" sz="2000" i="1">
                                    <a:latin typeface="Cambria Math" panose="02040503050406030204" pitchFamily="18" charset="0"/>
                                  </a:rPr>
                                  <m:t>2</m:t>
                                </m:r>
                              </m:e>
                            </m:rad>
                          </m:den>
                        </m:f>
                        <m:f>
                          <m:fPr>
                            <m:ctrlPr>
                              <a:rPr lang="en-ZA" sz="2000" i="1">
                                <a:solidFill>
                                  <a:srgbClr val="0000FF"/>
                                </a:solidFill>
                                <a:latin typeface="Cambria Math" panose="02040503050406030204" pitchFamily="18" charset="0"/>
                              </a:rPr>
                            </m:ctrlPr>
                          </m:fPr>
                          <m:num>
                            <m:d>
                              <m:dPr>
                                <m:begChr m:val="|"/>
                                <m:endChr m:val="⟩"/>
                                <m:ctrlPr>
                                  <a:rPr lang="en-ZA" sz="2000" i="1">
                                    <a:solidFill>
                                      <a:srgbClr val="0000FF"/>
                                    </a:solidFill>
                                    <a:latin typeface="Cambria Math" panose="02040503050406030204" pitchFamily="18" charset="0"/>
                                  </a:rPr>
                                </m:ctrlPr>
                              </m:dPr>
                              <m:e>
                                <m:r>
                                  <a:rPr lang="sr-Latn-RS" sz="2000" i="1">
                                    <a:solidFill>
                                      <a:srgbClr val="0000FF"/>
                                    </a:solidFill>
                                    <a:latin typeface="Cambria Math" panose="02040503050406030204" pitchFamily="18" charset="0"/>
                                  </a:rPr>
                                  <m:t>0</m:t>
                                </m:r>
                              </m:e>
                            </m:d>
                            <m:r>
                              <a:rPr lang="en-US" sz="2000" i="1">
                                <a:solidFill>
                                  <a:srgbClr val="0000FF"/>
                                </a:solidFill>
                                <a:latin typeface="Cambria Math" panose="02040503050406030204" pitchFamily="18" charset="0"/>
                              </a:rPr>
                              <m:t>−</m:t>
                            </m:r>
                            <m:d>
                              <m:dPr>
                                <m:begChr m:val="|"/>
                                <m:endChr m:val="⟩"/>
                                <m:ctrlPr>
                                  <a:rPr lang="en-ZA" sz="2000" i="1">
                                    <a:solidFill>
                                      <a:srgbClr val="0000FF"/>
                                    </a:solidFill>
                                    <a:latin typeface="Cambria Math" panose="02040503050406030204" pitchFamily="18" charset="0"/>
                                  </a:rPr>
                                </m:ctrlPr>
                              </m:dPr>
                              <m:e>
                                <m:r>
                                  <a:rPr lang="sr-Latn-RS" sz="2000" i="1">
                                    <a:solidFill>
                                      <a:srgbClr val="0000FF"/>
                                    </a:solidFill>
                                    <a:latin typeface="Cambria Math" panose="02040503050406030204" pitchFamily="18" charset="0"/>
                                  </a:rPr>
                                  <m:t>1</m:t>
                                </m:r>
                              </m:e>
                            </m:d>
                          </m:num>
                          <m:den>
                            <m:rad>
                              <m:radPr>
                                <m:degHide m:val="on"/>
                                <m:ctrlPr>
                                  <a:rPr lang="en-ZA" sz="2000" i="1">
                                    <a:solidFill>
                                      <a:srgbClr val="0000FF"/>
                                    </a:solidFill>
                                    <a:latin typeface="Cambria Math" panose="02040503050406030204" pitchFamily="18" charset="0"/>
                                  </a:rPr>
                                </m:ctrlPr>
                              </m:radPr>
                              <m:deg/>
                              <m:e>
                                <m:r>
                                  <a:rPr lang="sr-Latn-RS" sz="2000" i="1">
                                    <a:solidFill>
                                      <a:srgbClr val="0000FF"/>
                                    </a:solidFill>
                                    <a:latin typeface="Cambria Math" panose="02040503050406030204" pitchFamily="18" charset="0"/>
                                  </a:rPr>
                                  <m:t>2</m:t>
                                </m:r>
                              </m:e>
                            </m:rad>
                          </m:den>
                        </m:f>
                        <m:r>
                          <a:rPr lang="en-US" sz="2000" i="1">
                            <a:latin typeface="Cambria Math" panose="02040503050406030204" pitchFamily="18" charset="0"/>
                          </a:rPr>
                          <m:t>=</m:t>
                        </m:r>
                        <m:f>
                          <m:fPr>
                            <m:ctrlPr>
                              <a:rPr lang="en-ZA" sz="2000" i="1">
                                <a:latin typeface="Cambria Math" panose="02040503050406030204" pitchFamily="18" charset="0"/>
                              </a:rPr>
                            </m:ctrlPr>
                          </m:fPr>
                          <m:num>
                            <m:d>
                              <m:dPr>
                                <m:begChr m:val="|"/>
                                <m:endChr m:val="⟩"/>
                                <m:ctrlPr>
                                  <a:rPr lang="en-ZA" sz="2000" i="1">
                                    <a:latin typeface="Cambria Math" panose="02040503050406030204" pitchFamily="18" charset="0"/>
                                  </a:rPr>
                                </m:ctrlPr>
                              </m:dPr>
                              <m:e>
                                <m:r>
                                  <a:rPr lang="sr-Latn-RS" sz="2000" i="1">
                                    <a:latin typeface="Cambria Math" panose="02040503050406030204" pitchFamily="18" charset="0"/>
                                  </a:rPr>
                                  <m:t>0</m:t>
                                </m:r>
                                <m:r>
                                  <a:rPr lang="en-US" sz="2000" i="1">
                                    <a:latin typeface="Cambria Math" panose="02040503050406030204" pitchFamily="18" charset="0"/>
                                  </a:rPr>
                                  <m:t>0</m:t>
                                </m:r>
                              </m:e>
                            </m:d>
                            <m:r>
                              <a:rPr lang="en-US" sz="2000" i="1">
                                <a:latin typeface="Cambria Math" panose="02040503050406030204" pitchFamily="18" charset="0"/>
                              </a:rPr>
                              <m:t>−</m:t>
                            </m:r>
                            <m:d>
                              <m:dPr>
                                <m:begChr m:val="|"/>
                                <m:endChr m:val="⟩"/>
                                <m:ctrlPr>
                                  <a:rPr lang="en-ZA" sz="2000" i="1">
                                    <a:latin typeface="Cambria Math" panose="02040503050406030204" pitchFamily="18" charset="0"/>
                                  </a:rPr>
                                </m:ctrlPr>
                              </m:dPr>
                              <m:e>
                                <m:r>
                                  <a:rPr lang="en-US" sz="2000" i="1">
                                    <a:latin typeface="Cambria Math" panose="02040503050406030204" pitchFamily="18" charset="0"/>
                                  </a:rPr>
                                  <m:t>0</m:t>
                                </m:r>
                                <m:r>
                                  <a:rPr lang="sr-Latn-RS" sz="2000" i="1">
                                    <a:latin typeface="Cambria Math" panose="02040503050406030204" pitchFamily="18" charset="0"/>
                                  </a:rPr>
                                  <m:t>1</m:t>
                                </m:r>
                              </m:e>
                            </m:d>
                            <m:r>
                              <a:rPr lang="en-US" sz="2000" i="1">
                                <a:latin typeface="Cambria Math" panose="02040503050406030204" pitchFamily="18" charset="0"/>
                              </a:rPr>
                              <m:t>−</m:t>
                            </m:r>
                            <m:d>
                              <m:dPr>
                                <m:begChr m:val="|"/>
                                <m:endChr m:val="⟩"/>
                                <m:ctrlPr>
                                  <a:rPr lang="en-ZA" sz="2000" i="1">
                                    <a:latin typeface="Cambria Math" panose="02040503050406030204" pitchFamily="18" charset="0"/>
                                  </a:rPr>
                                </m:ctrlPr>
                              </m:dPr>
                              <m:e>
                                <m:r>
                                  <a:rPr lang="sr-Latn-RS" sz="2000" i="1">
                                    <a:latin typeface="Cambria Math" panose="02040503050406030204" pitchFamily="18" charset="0"/>
                                  </a:rPr>
                                  <m:t>1</m:t>
                                </m:r>
                                <m:r>
                                  <a:rPr lang="en-US" sz="2000" i="1">
                                    <a:latin typeface="Cambria Math" panose="02040503050406030204" pitchFamily="18" charset="0"/>
                                  </a:rPr>
                                  <m:t>0</m:t>
                                </m:r>
                              </m:e>
                            </m:d>
                            <m:r>
                              <a:rPr lang="en-US" sz="2000" i="1">
                                <a:latin typeface="Cambria Math" panose="02040503050406030204" pitchFamily="18" charset="0"/>
                              </a:rPr>
                              <m:t>+</m:t>
                            </m:r>
                            <m:d>
                              <m:dPr>
                                <m:begChr m:val="|"/>
                                <m:endChr m:val="⟩"/>
                                <m:ctrlPr>
                                  <a:rPr lang="en-ZA" sz="2000" i="1">
                                    <a:latin typeface="Cambria Math" panose="02040503050406030204" pitchFamily="18" charset="0"/>
                                  </a:rPr>
                                </m:ctrlPr>
                              </m:dPr>
                              <m:e>
                                <m:r>
                                  <a:rPr lang="en-US" sz="2000" i="1">
                                    <a:latin typeface="Cambria Math" panose="02040503050406030204" pitchFamily="18" charset="0"/>
                                  </a:rPr>
                                  <m:t>1</m:t>
                                </m:r>
                                <m:r>
                                  <a:rPr lang="sr-Latn-RS" sz="2000" i="1">
                                    <a:latin typeface="Cambria Math" panose="02040503050406030204" pitchFamily="18" charset="0"/>
                                  </a:rPr>
                                  <m:t>1</m:t>
                                </m:r>
                              </m:e>
                            </m:d>
                          </m:num>
                          <m:den>
                            <m:rad>
                              <m:radPr>
                                <m:degHide m:val="on"/>
                                <m:ctrlPr>
                                  <a:rPr lang="en-ZA" sz="2000" i="1">
                                    <a:latin typeface="Cambria Math" panose="02040503050406030204" pitchFamily="18" charset="0"/>
                                  </a:rPr>
                                </m:ctrlPr>
                              </m:radPr>
                              <m:deg/>
                              <m:e>
                                <m:r>
                                  <a:rPr lang="sr-Latn-RS" sz="2000" i="1">
                                    <a:latin typeface="Cambria Math" panose="02040503050406030204" pitchFamily="18" charset="0"/>
                                  </a:rPr>
                                  <m:t>2</m:t>
                                </m:r>
                              </m:e>
                            </m:rad>
                          </m:den>
                        </m:f>
                        <m:groupChr>
                          <m:groupChrPr>
                            <m:chr m:val="→"/>
                            <m:vertJc m:val="bot"/>
                            <m:ctrlPr>
                              <a:rPr lang="sr-Latn-RS" sz="2000" i="1">
                                <a:latin typeface="Cambria Math" panose="02040503050406030204" pitchFamily="18" charset="0"/>
                              </a:rPr>
                            </m:ctrlPr>
                          </m:groupChrPr>
                          <m:e>
                            <m:r>
                              <m:rPr>
                                <m:brk m:alnAt="2"/>
                              </m:rPr>
                              <a:rPr lang="sr-Latn-RS" sz="2000" i="1">
                                <a:latin typeface="Cambria Math" panose="02040503050406030204" pitchFamily="18" charset="0"/>
                              </a:rPr>
                              <m:t>𝐶</m:t>
                            </m:r>
                            <m:r>
                              <a:rPr lang="sr-Latn-RS" sz="2000" i="1">
                                <a:latin typeface="Cambria Math" panose="02040503050406030204" pitchFamily="18" charset="0"/>
                              </a:rPr>
                              <m:t>𝑁𝑂𝑇</m:t>
                            </m:r>
                          </m:e>
                        </m:groupChr>
                        <m:f>
                          <m:fPr>
                            <m:ctrlPr>
                              <a:rPr lang="en-ZA" sz="2000" i="1">
                                <a:latin typeface="Cambria Math" panose="02040503050406030204" pitchFamily="18" charset="0"/>
                              </a:rPr>
                            </m:ctrlPr>
                          </m:fPr>
                          <m:num>
                            <m:d>
                              <m:dPr>
                                <m:begChr m:val="|"/>
                                <m:endChr m:val="⟩"/>
                                <m:ctrlPr>
                                  <a:rPr lang="en-ZA" sz="2000" i="1">
                                    <a:latin typeface="Cambria Math" panose="02040503050406030204" pitchFamily="18" charset="0"/>
                                  </a:rPr>
                                </m:ctrlPr>
                              </m:dPr>
                              <m:e>
                                <m:r>
                                  <a:rPr lang="sr-Latn-RS" sz="2000" i="1">
                                    <a:latin typeface="Cambria Math" panose="02040503050406030204" pitchFamily="18" charset="0"/>
                                  </a:rPr>
                                  <m:t>0</m:t>
                                </m:r>
                              </m:e>
                            </m:d>
                            <m:r>
                              <a:rPr lang="sr-Latn-RS" sz="2000" i="1">
                                <a:solidFill>
                                  <a:srgbClr val="FF0000"/>
                                </a:solidFill>
                                <a:latin typeface="Cambria Math" panose="02040503050406030204" pitchFamily="18" charset="0"/>
                              </a:rPr>
                              <m:t>−</m:t>
                            </m:r>
                            <m:d>
                              <m:dPr>
                                <m:begChr m:val="|"/>
                                <m:endChr m:val="⟩"/>
                                <m:ctrlPr>
                                  <a:rPr lang="en-ZA" sz="2000" i="1">
                                    <a:solidFill>
                                      <a:srgbClr val="FF0000"/>
                                    </a:solidFill>
                                    <a:latin typeface="Cambria Math" panose="02040503050406030204" pitchFamily="18" charset="0"/>
                                  </a:rPr>
                                </m:ctrlPr>
                              </m:dPr>
                              <m:e>
                                <m:r>
                                  <a:rPr lang="sr-Latn-RS" sz="2000" i="1">
                                    <a:solidFill>
                                      <a:srgbClr val="FF0000"/>
                                    </a:solidFill>
                                    <a:latin typeface="Cambria Math" panose="02040503050406030204" pitchFamily="18" charset="0"/>
                                  </a:rPr>
                                  <m:t>1</m:t>
                                </m:r>
                              </m:e>
                            </m:d>
                          </m:num>
                          <m:den>
                            <m:rad>
                              <m:radPr>
                                <m:degHide m:val="on"/>
                                <m:ctrlPr>
                                  <a:rPr lang="en-ZA" sz="2000" i="1">
                                    <a:latin typeface="Cambria Math" panose="02040503050406030204" pitchFamily="18" charset="0"/>
                                  </a:rPr>
                                </m:ctrlPr>
                              </m:radPr>
                              <m:deg/>
                              <m:e>
                                <m:r>
                                  <a:rPr lang="sr-Latn-RS" sz="2000" i="1">
                                    <a:latin typeface="Cambria Math" panose="02040503050406030204" pitchFamily="18" charset="0"/>
                                  </a:rPr>
                                  <m:t>2</m:t>
                                </m:r>
                              </m:e>
                            </m:rad>
                          </m:den>
                        </m:f>
                        <m:d>
                          <m:dPr>
                            <m:begChr m:val="|"/>
                            <m:endChr m:val="⟩"/>
                            <m:ctrlPr>
                              <a:rPr lang="en-ZA" sz="2000" i="1">
                                <a:solidFill>
                                  <a:srgbClr val="0000FF"/>
                                </a:solidFill>
                                <a:latin typeface="Cambria Math" panose="02040503050406030204" pitchFamily="18" charset="0"/>
                              </a:rPr>
                            </m:ctrlPr>
                          </m:dPr>
                          <m:e>
                            <m:r>
                              <a:rPr lang="sr-Latn-RS" sz="2000" i="1">
                                <a:solidFill>
                                  <a:srgbClr val="0000FF"/>
                                </a:solidFill>
                                <a:latin typeface="Cambria Math" panose="02040503050406030204" pitchFamily="18" charset="0"/>
                              </a:rPr>
                              <m:t>−</m:t>
                            </m:r>
                          </m:e>
                        </m:d>
                      </m:oMath>
                    </m:oMathPara>
                  </a14:m>
                  <a:endParaRPr lang="en-ZA" sz="2000" dirty="0"/>
                </a:p>
                <a:p>
                  <a:endParaRPr lang="en-US" sz="2000" dirty="0"/>
                </a:p>
              </p:txBody>
            </p:sp>
          </mc:Choice>
          <mc:Fallback xmlns="">
            <p:sp>
              <p:nvSpPr>
                <p:cNvPr id="32" name="TextBox 31">
                  <a:extLst>
                    <a:ext uri="{FF2B5EF4-FFF2-40B4-BE49-F238E27FC236}">
                      <a16:creationId xmlns:a16="http://schemas.microsoft.com/office/drawing/2014/main" id="{563B8CF3-FCFD-9A47-8CB2-F9BEAC26A711}"/>
                    </a:ext>
                  </a:extLst>
                </p:cNvPr>
                <p:cNvSpPr txBox="1">
                  <a:spLocks noRot="1" noChangeAspect="1" noMove="1" noResize="1" noEditPoints="1" noAdjustHandles="1" noChangeArrowheads="1" noChangeShapeType="1" noTextEdit="1"/>
                </p:cNvSpPr>
                <p:nvPr/>
              </p:nvSpPr>
              <p:spPr>
                <a:xfrm>
                  <a:off x="5002852" y="5559112"/>
                  <a:ext cx="7189148" cy="1053365"/>
                </a:xfrm>
                <a:prstGeom prst="rect">
                  <a:avLst/>
                </a:prstGeom>
                <a:blipFill>
                  <a:blip r:embed="rId10"/>
                  <a:stretch>
                    <a:fillRect/>
                  </a:stretch>
                </a:blipFill>
              </p:spPr>
              <p:txBody>
                <a:bodyPr/>
                <a:lstStyle/>
                <a:p>
                  <a:r>
                    <a:rPr lang="en-US">
                      <a:noFill/>
                    </a:rPr>
                    <a:t> </a:t>
                  </a:r>
                </a:p>
              </p:txBody>
            </p:sp>
          </mc:Fallback>
        </mc:AlternateContent>
        <p:cxnSp>
          <p:nvCxnSpPr>
            <p:cNvPr id="35" name="Straight Connector 34">
              <a:extLst>
                <a:ext uri="{FF2B5EF4-FFF2-40B4-BE49-F238E27FC236}">
                  <a16:creationId xmlns:a16="http://schemas.microsoft.com/office/drawing/2014/main" id="{C75108A9-C42C-1D4A-BBF8-B33C95F9A4AE}"/>
                </a:ext>
              </a:extLst>
            </p:cNvPr>
            <p:cNvCxnSpPr>
              <a:cxnSpLocks/>
            </p:cNvCxnSpPr>
            <p:nvPr/>
          </p:nvCxnSpPr>
          <p:spPr>
            <a:xfrm>
              <a:off x="4994128" y="1731600"/>
              <a:ext cx="0" cy="4634372"/>
            </a:xfrm>
            <a:prstGeom prst="line">
              <a:avLst/>
            </a:prstGeom>
            <a:ln w="0"/>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F9D91B4-32DC-2744-B216-6BF1648ED54D}"/>
                </a:ext>
              </a:extLst>
            </p:cNvPr>
            <p:cNvSpPr/>
            <p:nvPr/>
          </p:nvSpPr>
          <p:spPr>
            <a:xfrm>
              <a:off x="7027733" y="5717440"/>
              <a:ext cx="184731" cy="400110"/>
            </a:xfrm>
            <a:prstGeom prst="rect">
              <a:avLst/>
            </a:prstGeom>
          </p:spPr>
          <p:txBody>
            <a:bodyPr wrap="none">
              <a:spAutoFit/>
            </a:bodyPr>
            <a:lstStyle/>
            <a:p>
              <a:endParaRPr lang="en-US" sz="2000" dirty="0"/>
            </a:p>
          </p:txBody>
        </p:sp>
      </p:grpSp>
    </p:spTree>
    <p:extLst>
      <p:ext uri="{BB962C8B-B14F-4D97-AF65-F5344CB8AC3E}">
        <p14:creationId xmlns:p14="http://schemas.microsoft.com/office/powerpoint/2010/main" val="1560583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B2DDD-B458-BD4C-8E68-F48415659017}"/>
              </a:ext>
            </a:extLst>
          </p:cNvPr>
          <p:cNvSpPr>
            <a:spLocks noGrp="1"/>
          </p:cNvSpPr>
          <p:nvPr>
            <p:ph type="title"/>
          </p:nvPr>
        </p:nvSpPr>
        <p:spPr/>
        <p:txBody>
          <a:bodyPr/>
          <a:lstStyle/>
          <a:p>
            <a:r>
              <a:rPr lang="en-ZA" dirty="0"/>
              <a:t>Example: Two-Variable Boolean Function</a:t>
            </a:r>
            <a:endParaRPr lang="en-US" dirty="0"/>
          </a:p>
        </p:txBody>
      </p:sp>
      <p:sp>
        <p:nvSpPr>
          <p:cNvPr id="3" name="Slide Number Placeholder 2">
            <a:extLst>
              <a:ext uri="{FF2B5EF4-FFF2-40B4-BE49-F238E27FC236}">
                <a16:creationId xmlns:a16="http://schemas.microsoft.com/office/drawing/2014/main" id="{019F9943-0C1E-0B4F-B2F9-BB76A8632F62}"/>
              </a:ext>
            </a:extLst>
          </p:cNvPr>
          <p:cNvSpPr>
            <a:spLocks noGrp="1"/>
          </p:cNvSpPr>
          <p:nvPr>
            <p:ph type="sldNum" sz="quarter" idx="12"/>
          </p:nvPr>
        </p:nvSpPr>
        <p:spPr/>
        <p:txBody>
          <a:bodyPr/>
          <a:lstStyle/>
          <a:p>
            <a:fld id="{591A223C-FA10-BC46-A853-03BA373D023C}" type="slidenum">
              <a:rPr lang="en-US" smtClean="0"/>
              <a:t>18</a:t>
            </a:fld>
            <a:endParaRPr lang="en-US"/>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94F885D5-4687-EB47-8E7A-4363E3753687}"/>
                  </a:ext>
                </a:extLst>
              </p:cNvPr>
              <p:cNvGraphicFramePr>
                <a:graphicFrameLocks noGrp="1"/>
              </p:cNvGraphicFramePr>
              <p:nvPr>
                <p:extLst/>
              </p:nvPr>
            </p:nvGraphicFramePr>
            <p:xfrm>
              <a:off x="141207" y="1980006"/>
              <a:ext cx="4663265" cy="914400"/>
            </p:xfrm>
            <a:graphic>
              <a:graphicData uri="http://schemas.openxmlformats.org/drawingml/2006/table">
                <a:tbl>
                  <a:tblPr firstRow="1" bandRow="1">
                    <a:tableStyleId>{D27102A9-8310-4765-A935-A1911B00CA55}</a:tableStyleId>
                  </a:tblPr>
                  <a:tblGrid>
                    <a:gridCol w="932653">
                      <a:extLst>
                        <a:ext uri="{9D8B030D-6E8A-4147-A177-3AD203B41FA5}">
                          <a16:colId xmlns:a16="http://schemas.microsoft.com/office/drawing/2014/main" val="1238342120"/>
                        </a:ext>
                      </a:extLst>
                    </a:gridCol>
                    <a:gridCol w="932653">
                      <a:extLst>
                        <a:ext uri="{9D8B030D-6E8A-4147-A177-3AD203B41FA5}">
                          <a16:colId xmlns:a16="http://schemas.microsoft.com/office/drawing/2014/main" val="1871747483"/>
                        </a:ext>
                      </a:extLst>
                    </a:gridCol>
                    <a:gridCol w="932653">
                      <a:extLst>
                        <a:ext uri="{9D8B030D-6E8A-4147-A177-3AD203B41FA5}">
                          <a16:colId xmlns:a16="http://schemas.microsoft.com/office/drawing/2014/main" val="2929495625"/>
                        </a:ext>
                      </a:extLst>
                    </a:gridCol>
                    <a:gridCol w="932653">
                      <a:extLst>
                        <a:ext uri="{9D8B030D-6E8A-4147-A177-3AD203B41FA5}">
                          <a16:colId xmlns:a16="http://schemas.microsoft.com/office/drawing/2014/main" val="1957510720"/>
                        </a:ext>
                      </a:extLst>
                    </a:gridCol>
                    <a:gridCol w="932653">
                      <a:extLst>
                        <a:ext uri="{9D8B030D-6E8A-4147-A177-3AD203B41FA5}">
                          <a16:colId xmlns:a16="http://schemas.microsoft.com/office/drawing/2014/main" val="3903062360"/>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sr-Latn-RS" sz="2400" i="1" kern="1200" smtClean="0">
                                    <a:solidFill>
                                      <a:schemeClr val="tx1"/>
                                    </a:solidFill>
                                    <a:effectLst/>
                                    <a:latin typeface="Cambria Math" panose="02040503050406030204" pitchFamily="18" charset="0"/>
                                    <a:ea typeface="+mn-ea"/>
                                    <a:cs typeface="+mn-cs"/>
                                  </a:rPr>
                                  <m:t>𝑥</m:t>
                                </m:r>
                              </m:oMath>
                            </m:oMathPara>
                          </a14:m>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824627"/>
                      </a:ext>
                    </a:extLst>
                  </a:tr>
                  <a:tr h="370840">
                    <a:tc>
                      <a:txBody>
                        <a:bodyPr/>
                        <a:lstStyle/>
                        <a:p>
                          <a:pPr algn="ctr"/>
                          <a14:m>
                            <m:oMathPara xmlns:m="http://schemas.openxmlformats.org/officeDocument/2006/math">
                              <m:oMathParaPr>
                                <m:jc m:val="centerGroup"/>
                              </m:oMathParaPr>
                              <m:oMath xmlns:m="http://schemas.openxmlformats.org/officeDocument/2006/math">
                                <m:r>
                                  <a:rPr lang="sr-Latn-RS" sz="2400" i="1" kern="1200" smtClean="0">
                                    <a:solidFill>
                                      <a:schemeClr val="tx1"/>
                                    </a:solidFill>
                                    <a:effectLst/>
                                    <a:latin typeface="Cambria Math" panose="02040503050406030204" pitchFamily="18" charset="0"/>
                                    <a:ea typeface="+mn-ea"/>
                                    <a:cs typeface="+mn-cs"/>
                                  </a:rPr>
                                  <m:t>𝑓</m:t>
                                </m:r>
                                <m:r>
                                  <a:rPr lang="sr-Latn-RS" sz="2400" i="1" kern="1200" smtClean="0">
                                    <a:solidFill>
                                      <a:schemeClr val="tx1"/>
                                    </a:solidFill>
                                    <a:effectLst/>
                                    <a:latin typeface="Cambria Math" panose="02040503050406030204" pitchFamily="18" charset="0"/>
                                    <a:ea typeface="+mn-ea"/>
                                    <a:cs typeface="+mn-cs"/>
                                  </a:rPr>
                                  <m:t>(</m:t>
                                </m:r>
                                <m:r>
                                  <a:rPr lang="sr-Latn-RS" sz="2400" i="1" kern="1200" smtClean="0">
                                    <a:solidFill>
                                      <a:schemeClr val="tx1"/>
                                    </a:solidFill>
                                    <a:effectLst/>
                                    <a:latin typeface="Cambria Math" panose="02040503050406030204" pitchFamily="18" charset="0"/>
                                    <a:ea typeface="+mn-ea"/>
                                    <a:cs typeface="+mn-cs"/>
                                  </a:rPr>
                                  <m:t>𝑥</m:t>
                                </m:r>
                                <m:r>
                                  <a:rPr lang="sr-Latn-RS" sz="2400" i="1" kern="1200" smtClean="0">
                                    <a:solidFill>
                                      <a:schemeClr val="tx1"/>
                                    </a:solidFill>
                                    <a:effectLst/>
                                    <a:latin typeface="Cambria Math" panose="02040503050406030204" pitchFamily="18" charset="0"/>
                                    <a:ea typeface="+mn-ea"/>
                                    <a:cs typeface="+mn-cs"/>
                                  </a:rPr>
                                  <m:t>)</m:t>
                                </m:r>
                              </m:oMath>
                            </m:oMathPara>
                          </a14:m>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0936163"/>
                      </a:ext>
                    </a:extLst>
                  </a:tr>
                </a:tbl>
              </a:graphicData>
            </a:graphic>
          </p:graphicFrame>
        </mc:Choice>
        <mc:Fallback xmlns="">
          <p:graphicFrame>
            <p:nvGraphicFramePr>
              <p:cNvPr id="4" name="Table 3">
                <a:extLst>
                  <a:ext uri="{FF2B5EF4-FFF2-40B4-BE49-F238E27FC236}">
                    <a16:creationId xmlns:a16="http://schemas.microsoft.com/office/drawing/2014/main" id="{94F885D5-4687-EB47-8E7A-4363E3753687}"/>
                  </a:ext>
                </a:extLst>
              </p:cNvPr>
              <p:cNvGraphicFramePr>
                <a:graphicFrameLocks noGrp="1"/>
              </p:cNvGraphicFramePr>
              <p:nvPr>
                <p:extLst/>
              </p:nvPr>
            </p:nvGraphicFramePr>
            <p:xfrm>
              <a:off x="141207" y="1980006"/>
              <a:ext cx="4663265" cy="914400"/>
            </p:xfrm>
            <a:graphic>
              <a:graphicData uri="http://schemas.openxmlformats.org/drawingml/2006/table">
                <a:tbl>
                  <a:tblPr firstRow="1" bandRow="1">
                    <a:tableStyleId>{D27102A9-8310-4765-A935-A1911B00CA55}</a:tableStyleId>
                  </a:tblPr>
                  <a:tblGrid>
                    <a:gridCol w="932653">
                      <a:extLst>
                        <a:ext uri="{9D8B030D-6E8A-4147-A177-3AD203B41FA5}">
                          <a16:colId xmlns:a16="http://schemas.microsoft.com/office/drawing/2014/main" val="1238342120"/>
                        </a:ext>
                      </a:extLst>
                    </a:gridCol>
                    <a:gridCol w="932653">
                      <a:extLst>
                        <a:ext uri="{9D8B030D-6E8A-4147-A177-3AD203B41FA5}">
                          <a16:colId xmlns:a16="http://schemas.microsoft.com/office/drawing/2014/main" val="1871747483"/>
                        </a:ext>
                      </a:extLst>
                    </a:gridCol>
                    <a:gridCol w="932653">
                      <a:extLst>
                        <a:ext uri="{9D8B030D-6E8A-4147-A177-3AD203B41FA5}">
                          <a16:colId xmlns:a16="http://schemas.microsoft.com/office/drawing/2014/main" val="2929495625"/>
                        </a:ext>
                      </a:extLst>
                    </a:gridCol>
                    <a:gridCol w="932653">
                      <a:extLst>
                        <a:ext uri="{9D8B030D-6E8A-4147-A177-3AD203B41FA5}">
                          <a16:colId xmlns:a16="http://schemas.microsoft.com/office/drawing/2014/main" val="1957510720"/>
                        </a:ext>
                      </a:extLst>
                    </a:gridCol>
                    <a:gridCol w="932653">
                      <a:extLst>
                        <a:ext uri="{9D8B030D-6E8A-4147-A177-3AD203B41FA5}">
                          <a16:colId xmlns:a16="http://schemas.microsoft.com/office/drawing/2014/main" val="3903062360"/>
                        </a:ext>
                      </a:extLst>
                    </a:gridCol>
                  </a:tblGrid>
                  <a:tr h="4572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351" t="-8108" r="-397297" b="-124324"/>
                          </a:stretch>
                        </a:blipFill>
                      </a:tcPr>
                    </a:tc>
                    <a:tc>
                      <a:txBody>
                        <a:bodyPr/>
                        <a:lstStyle/>
                        <a:p>
                          <a:pPr algn="ctr"/>
                          <a:r>
                            <a:rPr lang="en-US" sz="240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824627"/>
                      </a:ext>
                    </a:extLst>
                  </a:tr>
                  <a:tr h="4572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351" t="-111111" r="-397297" b="-27778"/>
                          </a:stretch>
                        </a:blip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093616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FB4967FE-84F6-B041-9A26-B776B98B2461}"/>
                  </a:ext>
                </a:extLst>
              </p:cNvPr>
              <p:cNvGraphicFramePr>
                <a:graphicFrameLocks noGrp="1"/>
              </p:cNvGraphicFramePr>
              <p:nvPr>
                <p:extLst/>
              </p:nvPr>
            </p:nvGraphicFramePr>
            <p:xfrm>
              <a:off x="5362415" y="2004259"/>
              <a:ext cx="6586780" cy="914400"/>
            </p:xfrm>
            <a:graphic>
              <a:graphicData uri="http://schemas.openxmlformats.org/drawingml/2006/table">
                <a:tbl>
                  <a:tblPr firstRow="1" bandRow="1">
                    <a:tableStyleId>{D27102A9-8310-4765-A935-A1911B00CA55}</a:tableStyleId>
                  </a:tblPr>
                  <a:tblGrid>
                    <a:gridCol w="1317356">
                      <a:extLst>
                        <a:ext uri="{9D8B030D-6E8A-4147-A177-3AD203B41FA5}">
                          <a16:colId xmlns:a16="http://schemas.microsoft.com/office/drawing/2014/main" val="1238342120"/>
                        </a:ext>
                      </a:extLst>
                    </a:gridCol>
                    <a:gridCol w="1317356">
                      <a:extLst>
                        <a:ext uri="{9D8B030D-6E8A-4147-A177-3AD203B41FA5}">
                          <a16:colId xmlns:a16="http://schemas.microsoft.com/office/drawing/2014/main" val="1871747483"/>
                        </a:ext>
                      </a:extLst>
                    </a:gridCol>
                    <a:gridCol w="1317356">
                      <a:extLst>
                        <a:ext uri="{9D8B030D-6E8A-4147-A177-3AD203B41FA5}">
                          <a16:colId xmlns:a16="http://schemas.microsoft.com/office/drawing/2014/main" val="2929495625"/>
                        </a:ext>
                      </a:extLst>
                    </a:gridCol>
                    <a:gridCol w="1317356">
                      <a:extLst>
                        <a:ext uri="{9D8B030D-6E8A-4147-A177-3AD203B41FA5}">
                          <a16:colId xmlns:a16="http://schemas.microsoft.com/office/drawing/2014/main" val="1957510720"/>
                        </a:ext>
                      </a:extLst>
                    </a:gridCol>
                    <a:gridCol w="1317356">
                      <a:extLst>
                        <a:ext uri="{9D8B030D-6E8A-4147-A177-3AD203B41FA5}">
                          <a16:colId xmlns:a16="http://schemas.microsoft.com/office/drawing/2014/main" val="3903062360"/>
                        </a:ext>
                      </a:extLst>
                    </a:gridCol>
                  </a:tblGrid>
                  <a:tr h="370840">
                    <a:tc>
                      <a:txBody>
                        <a:bodyPr/>
                        <a:lstStyle/>
                        <a:p>
                          <a:pPr algn="ctr"/>
                          <a14:m>
                            <m:oMath xmlns:m="http://schemas.openxmlformats.org/officeDocument/2006/math">
                              <m:d>
                                <m:dPr>
                                  <m:begChr m:val="|"/>
                                  <m:endChr m:val="⟩"/>
                                  <m:ctrlPr>
                                    <a:rPr lang="en-ZA" sz="2400" b="1" i="1" kern="1200" smtClean="0">
                                      <a:solidFill>
                                        <a:schemeClr val="tx1"/>
                                      </a:solidFill>
                                      <a:effectLst/>
                                      <a:latin typeface="Cambria Math" panose="02040503050406030204" pitchFamily="18" charset="0"/>
                                      <a:ea typeface="+mn-ea"/>
                                      <a:cs typeface="+mn-cs"/>
                                    </a:rPr>
                                  </m:ctrlPr>
                                </m:dPr>
                                <m:e>
                                  <m:sSub>
                                    <m:sSubPr>
                                      <m:ctrlPr>
                                        <a:rPr lang="en-ZA" sz="2400" b="1" i="1" kern="1200">
                                          <a:solidFill>
                                            <a:schemeClr val="tx1"/>
                                          </a:solidFill>
                                          <a:effectLst/>
                                          <a:latin typeface="Cambria Math" panose="02040503050406030204" pitchFamily="18" charset="0"/>
                                          <a:ea typeface="+mn-ea"/>
                                          <a:cs typeface="+mn-cs"/>
                                        </a:rPr>
                                      </m:ctrlPr>
                                    </m:sSubPr>
                                    <m:e>
                                      <m:r>
                                        <a:rPr lang="sr-Latn-RS" sz="2400" b="1" i="1" kern="1200">
                                          <a:solidFill>
                                            <a:schemeClr val="tx1"/>
                                          </a:solidFill>
                                          <a:effectLst/>
                                          <a:latin typeface="Cambria Math" panose="02040503050406030204" pitchFamily="18" charset="0"/>
                                          <a:ea typeface="+mn-ea"/>
                                          <a:cs typeface="+mn-cs"/>
                                        </a:rPr>
                                        <m:t>𝑥</m:t>
                                      </m:r>
                                    </m:e>
                                    <m:sub>
                                      <m:r>
                                        <a:rPr lang="sr-Latn-RS" sz="2400" b="1" i="1" kern="1200">
                                          <a:solidFill>
                                            <a:schemeClr val="tx1"/>
                                          </a:solidFill>
                                          <a:effectLst/>
                                          <a:latin typeface="Cambria Math" panose="02040503050406030204" pitchFamily="18" charset="0"/>
                                          <a:ea typeface="+mn-ea"/>
                                          <a:cs typeface="+mn-cs"/>
                                        </a:rPr>
                                        <m:t>1</m:t>
                                      </m:r>
                                    </m:sub>
                                  </m:sSub>
                                  <m:sSub>
                                    <m:sSubPr>
                                      <m:ctrlPr>
                                        <a:rPr lang="en-ZA" sz="2400" b="1" i="1" kern="1200">
                                          <a:solidFill>
                                            <a:schemeClr val="tx1"/>
                                          </a:solidFill>
                                          <a:effectLst/>
                                          <a:latin typeface="Cambria Math" panose="02040503050406030204" pitchFamily="18" charset="0"/>
                                          <a:ea typeface="+mn-ea"/>
                                          <a:cs typeface="+mn-cs"/>
                                        </a:rPr>
                                      </m:ctrlPr>
                                    </m:sSubPr>
                                    <m:e>
                                      <m:r>
                                        <a:rPr lang="sr-Latn-RS" sz="2400" b="1" i="1" kern="1200">
                                          <a:solidFill>
                                            <a:schemeClr val="tx1"/>
                                          </a:solidFill>
                                          <a:effectLst/>
                                          <a:latin typeface="Cambria Math" panose="02040503050406030204" pitchFamily="18" charset="0"/>
                                          <a:ea typeface="+mn-ea"/>
                                          <a:cs typeface="+mn-cs"/>
                                        </a:rPr>
                                        <m:t>𝑥</m:t>
                                      </m:r>
                                    </m:e>
                                    <m:sub>
                                      <m:r>
                                        <a:rPr lang="sr-Latn-RS" sz="2400" b="1" i="1" kern="1200">
                                          <a:solidFill>
                                            <a:schemeClr val="tx1"/>
                                          </a:solidFill>
                                          <a:effectLst/>
                                          <a:latin typeface="Cambria Math" panose="02040503050406030204" pitchFamily="18" charset="0"/>
                                          <a:ea typeface="+mn-ea"/>
                                          <a:cs typeface="+mn-cs"/>
                                        </a:rPr>
                                        <m:t>2</m:t>
                                      </m:r>
                                    </m:sub>
                                  </m:sSub>
                                </m:e>
                              </m:d>
                              <m:d>
                                <m:dPr>
                                  <m:begChr m:val="|"/>
                                  <m:endChr m:val="⟩"/>
                                  <m:ctrlPr>
                                    <a:rPr lang="en-ZA" sz="2400" b="1" i="1" kern="1200">
                                      <a:solidFill>
                                        <a:schemeClr val="tx1"/>
                                      </a:solidFill>
                                      <a:effectLst/>
                                      <a:latin typeface="Cambria Math" panose="02040503050406030204" pitchFamily="18" charset="0"/>
                                      <a:ea typeface="+mn-ea"/>
                                      <a:cs typeface="+mn-cs"/>
                                    </a:rPr>
                                  </m:ctrlPr>
                                </m:dPr>
                                <m:e>
                                  <m:r>
                                    <a:rPr lang="sr-Latn-RS" sz="2400" b="1" i="1" kern="1200">
                                      <a:solidFill>
                                        <a:schemeClr val="tx1"/>
                                      </a:solidFill>
                                      <a:effectLst/>
                                      <a:latin typeface="Cambria Math" panose="02040503050406030204" pitchFamily="18" charset="0"/>
                                      <a:ea typeface="+mn-ea"/>
                                      <a:cs typeface="+mn-cs"/>
                                    </a:rPr>
                                    <m:t>0</m:t>
                                  </m:r>
                                </m:e>
                              </m:d>
                            </m:oMath>
                          </a14:m>
                          <a:r>
                            <a:rPr lang="en-ZA" sz="2400" dirty="0">
                              <a:effectLst/>
                            </a:rPr>
                            <a:t> </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 xmlns:m="http://schemas.openxmlformats.org/officeDocument/2006/math">
                              <m:d>
                                <m:dPr>
                                  <m:begChr m:val="|"/>
                                  <m:endChr m:val="⟩"/>
                                  <m:ctrlPr>
                                    <a:rPr lang="en-ZA" sz="2400" b="1" i="1" kern="1200" smtClean="0">
                                      <a:solidFill>
                                        <a:schemeClr val="tx1"/>
                                      </a:solidFill>
                                      <a:effectLst/>
                                      <a:latin typeface="Cambria Math" panose="02040503050406030204" pitchFamily="18" charset="0"/>
                                      <a:ea typeface="+mn-ea"/>
                                      <a:cs typeface="+mn-cs"/>
                                    </a:rPr>
                                  </m:ctrlPr>
                                </m:dPr>
                                <m:e>
                                  <m:r>
                                    <a:rPr lang="sr-Latn-RS" sz="2400" b="1" i="1" kern="1200">
                                      <a:solidFill>
                                        <a:schemeClr val="tx1"/>
                                      </a:solidFill>
                                      <a:effectLst/>
                                      <a:latin typeface="Cambria Math" panose="02040503050406030204" pitchFamily="18" charset="0"/>
                                      <a:ea typeface="+mn-ea"/>
                                      <a:cs typeface="+mn-cs"/>
                                    </a:rPr>
                                    <m:t>00</m:t>
                                  </m:r>
                                </m:e>
                              </m:d>
                              <m:d>
                                <m:dPr>
                                  <m:begChr m:val="|"/>
                                  <m:endChr m:val="⟩"/>
                                  <m:ctrlPr>
                                    <a:rPr lang="en-ZA" sz="2400" b="1" i="1" kern="1200">
                                      <a:solidFill>
                                        <a:schemeClr val="tx1"/>
                                      </a:solidFill>
                                      <a:effectLst/>
                                      <a:latin typeface="Cambria Math" panose="02040503050406030204" pitchFamily="18" charset="0"/>
                                      <a:ea typeface="+mn-ea"/>
                                      <a:cs typeface="+mn-cs"/>
                                    </a:rPr>
                                  </m:ctrlPr>
                                </m:dPr>
                                <m:e>
                                  <m:r>
                                    <a:rPr lang="sr-Latn-RS" sz="2400" b="1" i="1" kern="1200">
                                      <a:solidFill>
                                        <a:schemeClr val="tx1"/>
                                      </a:solidFill>
                                      <a:effectLst/>
                                      <a:latin typeface="Cambria Math" panose="02040503050406030204" pitchFamily="18" charset="0"/>
                                      <a:ea typeface="+mn-ea"/>
                                      <a:cs typeface="+mn-cs"/>
                                    </a:rPr>
                                    <m:t>0</m:t>
                                  </m:r>
                                </m:e>
                              </m:d>
                            </m:oMath>
                          </a14:m>
                          <a:r>
                            <a:rPr lang="en-ZA" sz="2400" dirty="0">
                              <a:effectLst/>
                            </a:rPr>
                            <a:t> </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 xmlns:m="http://schemas.openxmlformats.org/officeDocument/2006/math">
                              <m:d>
                                <m:dPr>
                                  <m:begChr m:val="|"/>
                                  <m:endChr m:val="⟩"/>
                                  <m:ctrlPr>
                                    <a:rPr lang="en-ZA" sz="2400" b="1" i="1" kern="1200" smtClean="0">
                                      <a:solidFill>
                                        <a:schemeClr val="tx1"/>
                                      </a:solidFill>
                                      <a:effectLst/>
                                      <a:latin typeface="Cambria Math" panose="02040503050406030204" pitchFamily="18" charset="0"/>
                                      <a:ea typeface="+mn-ea"/>
                                      <a:cs typeface="+mn-cs"/>
                                    </a:rPr>
                                  </m:ctrlPr>
                                </m:dPr>
                                <m:e>
                                  <m:r>
                                    <a:rPr lang="sr-Latn-RS" sz="2400" b="1" i="1" kern="1200">
                                      <a:solidFill>
                                        <a:schemeClr val="tx1"/>
                                      </a:solidFill>
                                      <a:effectLst/>
                                      <a:latin typeface="Cambria Math" panose="02040503050406030204" pitchFamily="18" charset="0"/>
                                      <a:ea typeface="+mn-ea"/>
                                      <a:cs typeface="+mn-cs"/>
                                    </a:rPr>
                                    <m:t>01</m:t>
                                  </m:r>
                                </m:e>
                              </m:d>
                              <m:d>
                                <m:dPr>
                                  <m:begChr m:val="|"/>
                                  <m:endChr m:val="⟩"/>
                                  <m:ctrlPr>
                                    <a:rPr lang="en-ZA" sz="2400" b="1" i="1" kern="1200">
                                      <a:solidFill>
                                        <a:schemeClr val="tx1"/>
                                      </a:solidFill>
                                      <a:effectLst/>
                                      <a:latin typeface="Cambria Math" panose="02040503050406030204" pitchFamily="18" charset="0"/>
                                      <a:ea typeface="+mn-ea"/>
                                      <a:cs typeface="+mn-cs"/>
                                    </a:rPr>
                                  </m:ctrlPr>
                                </m:dPr>
                                <m:e>
                                  <m:r>
                                    <a:rPr lang="sr-Latn-RS" sz="2400" b="1" i="1" kern="1200">
                                      <a:solidFill>
                                        <a:schemeClr val="tx1"/>
                                      </a:solidFill>
                                      <a:effectLst/>
                                      <a:latin typeface="Cambria Math" panose="02040503050406030204" pitchFamily="18" charset="0"/>
                                      <a:ea typeface="+mn-ea"/>
                                      <a:cs typeface="+mn-cs"/>
                                    </a:rPr>
                                    <m:t>0</m:t>
                                  </m:r>
                                </m:e>
                              </m:d>
                            </m:oMath>
                          </a14:m>
                          <a:r>
                            <a:rPr lang="en-ZA" sz="2400" dirty="0">
                              <a:effectLst/>
                            </a:rPr>
                            <a:t> </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 xmlns:m="http://schemas.openxmlformats.org/officeDocument/2006/math">
                              <m:d>
                                <m:dPr>
                                  <m:begChr m:val="|"/>
                                  <m:endChr m:val="⟩"/>
                                  <m:ctrlPr>
                                    <a:rPr lang="en-ZA" sz="2400" b="1" i="1" kern="1200" smtClean="0">
                                      <a:solidFill>
                                        <a:schemeClr val="tx1"/>
                                      </a:solidFill>
                                      <a:effectLst/>
                                      <a:latin typeface="Cambria Math" panose="02040503050406030204" pitchFamily="18" charset="0"/>
                                      <a:ea typeface="+mn-ea"/>
                                      <a:cs typeface="+mn-cs"/>
                                    </a:rPr>
                                  </m:ctrlPr>
                                </m:dPr>
                                <m:e>
                                  <m:r>
                                    <a:rPr lang="sr-Latn-RS" sz="2400" b="1" i="1" kern="1200">
                                      <a:solidFill>
                                        <a:schemeClr val="tx1"/>
                                      </a:solidFill>
                                      <a:effectLst/>
                                      <a:latin typeface="Cambria Math" panose="02040503050406030204" pitchFamily="18" charset="0"/>
                                      <a:ea typeface="+mn-ea"/>
                                      <a:cs typeface="+mn-cs"/>
                                    </a:rPr>
                                    <m:t>10</m:t>
                                  </m:r>
                                </m:e>
                              </m:d>
                              <m:d>
                                <m:dPr>
                                  <m:begChr m:val="|"/>
                                  <m:endChr m:val="⟩"/>
                                  <m:ctrlPr>
                                    <a:rPr lang="en-ZA" sz="2400" b="1" i="1" kern="1200">
                                      <a:solidFill>
                                        <a:schemeClr val="tx1"/>
                                      </a:solidFill>
                                      <a:effectLst/>
                                      <a:latin typeface="Cambria Math" panose="02040503050406030204" pitchFamily="18" charset="0"/>
                                      <a:ea typeface="+mn-ea"/>
                                      <a:cs typeface="+mn-cs"/>
                                    </a:rPr>
                                  </m:ctrlPr>
                                </m:dPr>
                                <m:e>
                                  <m:r>
                                    <a:rPr lang="sr-Latn-RS" sz="2400" b="1" i="1" kern="1200">
                                      <a:solidFill>
                                        <a:schemeClr val="tx1"/>
                                      </a:solidFill>
                                      <a:effectLst/>
                                      <a:latin typeface="Cambria Math" panose="02040503050406030204" pitchFamily="18" charset="0"/>
                                      <a:ea typeface="+mn-ea"/>
                                      <a:cs typeface="+mn-cs"/>
                                    </a:rPr>
                                    <m:t>0</m:t>
                                  </m:r>
                                </m:e>
                              </m:d>
                            </m:oMath>
                          </a14:m>
                          <a:r>
                            <a:rPr lang="en-ZA" sz="2400" dirty="0">
                              <a:effectLst/>
                            </a:rPr>
                            <a:t> </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 xmlns:m="http://schemas.openxmlformats.org/officeDocument/2006/math">
                              <m:d>
                                <m:dPr>
                                  <m:begChr m:val="|"/>
                                  <m:endChr m:val="⟩"/>
                                  <m:ctrlPr>
                                    <a:rPr lang="en-ZA" sz="2400" b="1" i="1" kern="1200" smtClean="0">
                                      <a:solidFill>
                                        <a:schemeClr val="tx1"/>
                                      </a:solidFill>
                                      <a:effectLst/>
                                      <a:latin typeface="Cambria Math" panose="02040503050406030204" pitchFamily="18" charset="0"/>
                                      <a:ea typeface="+mn-ea"/>
                                      <a:cs typeface="+mn-cs"/>
                                    </a:rPr>
                                  </m:ctrlPr>
                                </m:dPr>
                                <m:e>
                                  <m:r>
                                    <a:rPr lang="sr-Latn-RS" sz="2400" b="1" i="1" kern="1200">
                                      <a:solidFill>
                                        <a:schemeClr val="tx1"/>
                                      </a:solidFill>
                                      <a:effectLst/>
                                      <a:latin typeface="Cambria Math" panose="02040503050406030204" pitchFamily="18" charset="0"/>
                                      <a:ea typeface="+mn-ea"/>
                                      <a:cs typeface="+mn-cs"/>
                                    </a:rPr>
                                    <m:t>11</m:t>
                                  </m:r>
                                </m:e>
                              </m:d>
                              <m:d>
                                <m:dPr>
                                  <m:begChr m:val="|"/>
                                  <m:endChr m:val="⟩"/>
                                  <m:ctrlPr>
                                    <a:rPr lang="en-ZA" sz="2400" b="1" i="1" kern="1200">
                                      <a:solidFill>
                                        <a:schemeClr val="tx1"/>
                                      </a:solidFill>
                                      <a:effectLst/>
                                      <a:latin typeface="Cambria Math" panose="02040503050406030204" pitchFamily="18" charset="0"/>
                                      <a:ea typeface="+mn-ea"/>
                                      <a:cs typeface="+mn-cs"/>
                                    </a:rPr>
                                  </m:ctrlPr>
                                </m:dPr>
                                <m:e>
                                  <m:r>
                                    <a:rPr lang="sr-Latn-RS" sz="2400" b="1" i="1" kern="1200">
                                      <a:solidFill>
                                        <a:schemeClr val="tx1"/>
                                      </a:solidFill>
                                      <a:effectLst/>
                                      <a:latin typeface="Cambria Math" panose="02040503050406030204" pitchFamily="18" charset="0"/>
                                      <a:ea typeface="+mn-ea"/>
                                      <a:cs typeface="+mn-cs"/>
                                    </a:rPr>
                                    <m:t>0</m:t>
                                  </m:r>
                                </m:e>
                              </m:d>
                            </m:oMath>
                          </a14:m>
                          <a:r>
                            <a:rPr lang="en-ZA" sz="2400" dirty="0">
                              <a:effectLst/>
                            </a:rPr>
                            <a:t> </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824627"/>
                      </a:ext>
                    </a:extLst>
                  </a:tr>
                  <a:tr h="370840">
                    <a:tc>
                      <a:txBody>
                        <a:bodyPr/>
                        <a:lstStyle/>
                        <a:p>
                          <a:pPr algn="ctr"/>
                          <a14:m>
                            <m:oMath xmlns:m="http://schemas.openxmlformats.org/officeDocument/2006/math">
                              <m:d>
                                <m:dPr>
                                  <m:begChr m:val="|"/>
                                  <m:endChr m:val="⟩"/>
                                  <m:ctrlPr>
                                    <a:rPr lang="en-ZA" sz="2400" i="1" kern="1200" smtClean="0">
                                      <a:solidFill>
                                        <a:schemeClr val="tx1"/>
                                      </a:solidFill>
                                      <a:effectLst/>
                                      <a:latin typeface="Cambria Math" panose="02040503050406030204" pitchFamily="18" charset="0"/>
                                      <a:ea typeface="+mn-ea"/>
                                      <a:cs typeface="+mn-cs"/>
                                    </a:rPr>
                                  </m:ctrlPr>
                                </m:dPr>
                                <m:e>
                                  <m:r>
                                    <a:rPr lang="sr-Latn-RS" sz="2400" i="1" kern="1200">
                                      <a:solidFill>
                                        <a:schemeClr val="tx1"/>
                                      </a:solidFill>
                                      <a:effectLst/>
                                      <a:latin typeface="Cambria Math" panose="02040503050406030204" pitchFamily="18" charset="0"/>
                                      <a:ea typeface="+mn-ea"/>
                                      <a:cs typeface="+mn-cs"/>
                                    </a:rPr>
                                    <m:t>𝑥</m:t>
                                  </m:r>
                                </m:e>
                              </m:d>
                              <m:d>
                                <m:dPr>
                                  <m:begChr m:val="|"/>
                                  <m:endChr m:val="⟩"/>
                                  <m:ctrlPr>
                                    <a:rPr lang="en-ZA" sz="2400" i="1" kern="1200">
                                      <a:solidFill>
                                        <a:schemeClr val="tx1"/>
                                      </a:solidFill>
                                      <a:effectLst/>
                                      <a:latin typeface="Cambria Math" panose="02040503050406030204" pitchFamily="18" charset="0"/>
                                      <a:ea typeface="+mn-ea"/>
                                      <a:cs typeface="+mn-cs"/>
                                    </a:rPr>
                                  </m:ctrlPr>
                                </m:dPr>
                                <m:e>
                                  <m:r>
                                    <a:rPr lang="sr-Latn-RS" sz="2400" i="1" kern="1200">
                                      <a:solidFill>
                                        <a:schemeClr val="tx1"/>
                                      </a:solidFill>
                                      <a:effectLst/>
                                      <a:latin typeface="Cambria Math" panose="02040503050406030204" pitchFamily="18" charset="0"/>
                                      <a:ea typeface="+mn-ea"/>
                                      <a:cs typeface="+mn-cs"/>
                                    </a:rPr>
                                    <m:t>𝑓</m:t>
                                  </m:r>
                                  <m:r>
                                    <a:rPr lang="sr-Latn-RS" sz="2400" i="1" kern="1200">
                                      <a:solidFill>
                                        <a:schemeClr val="tx1"/>
                                      </a:solidFill>
                                      <a:effectLst/>
                                      <a:latin typeface="Cambria Math" panose="02040503050406030204" pitchFamily="18" charset="0"/>
                                      <a:ea typeface="+mn-ea"/>
                                      <a:cs typeface="+mn-cs"/>
                                    </a:rPr>
                                    <m:t>(</m:t>
                                  </m:r>
                                  <m:r>
                                    <a:rPr lang="sr-Latn-RS" sz="2400" i="1" kern="1200">
                                      <a:solidFill>
                                        <a:schemeClr val="tx1"/>
                                      </a:solidFill>
                                      <a:effectLst/>
                                      <a:latin typeface="Cambria Math" panose="02040503050406030204" pitchFamily="18" charset="0"/>
                                      <a:ea typeface="+mn-ea"/>
                                      <a:cs typeface="+mn-cs"/>
                                    </a:rPr>
                                    <m:t>𝑥</m:t>
                                  </m:r>
                                  <m:r>
                                    <a:rPr lang="sr-Latn-RS" sz="2400" i="1" kern="1200">
                                      <a:solidFill>
                                        <a:schemeClr val="tx1"/>
                                      </a:solidFill>
                                      <a:effectLst/>
                                      <a:latin typeface="Cambria Math" panose="02040503050406030204" pitchFamily="18" charset="0"/>
                                      <a:ea typeface="+mn-ea"/>
                                      <a:cs typeface="+mn-cs"/>
                                    </a:rPr>
                                    <m:t>)</m:t>
                                  </m:r>
                                </m:e>
                              </m:d>
                            </m:oMath>
                          </a14:m>
                          <a:r>
                            <a:rPr lang="en-ZA" sz="2400" dirty="0">
                              <a:effectLst/>
                            </a:rPr>
                            <a:t> </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a:latin typeface="Cambria Math" panose="02040503050406030204" pitchFamily="18" charset="0"/>
                                      </a:rPr>
                                      <m:t>00</m:t>
                                    </m:r>
                                  </m:e>
                                </m:d>
                                <m:d>
                                  <m:dPr>
                                    <m:begChr m:val="|"/>
                                    <m:endChr m:val="⟩"/>
                                    <m:ctrlPr>
                                      <a:rPr lang="en-US" sz="2400" i="1">
                                        <a:latin typeface="Cambria Math" panose="02040503050406030204" pitchFamily="18" charset="0"/>
                                      </a:rPr>
                                    </m:ctrlPr>
                                  </m:dPr>
                                  <m:e>
                                    <m:r>
                                      <a:rPr lang="en-US" sz="2400" i="0">
                                        <a:latin typeface="Cambria Math" panose="02040503050406030204" pitchFamily="18" charset="0"/>
                                      </a:rPr>
                                      <m:t>1</m:t>
                                    </m:r>
                                  </m:e>
                                </m:d>
                              </m:oMath>
                            </m:oMathPara>
                          </a14:m>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a:latin typeface="Cambria Math" panose="02040503050406030204" pitchFamily="18" charset="0"/>
                                      </a:rPr>
                                      <m:t>01</m:t>
                                    </m:r>
                                  </m:e>
                                </m:d>
                                <m:d>
                                  <m:dPr>
                                    <m:begChr m:val="|"/>
                                    <m:endChr m:val="⟩"/>
                                    <m:ctrlPr>
                                      <a:rPr lang="en-US" sz="2400" i="1">
                                        <a:latin typeface="Cambria Math" panose="02040503050406030204" pitchFamily="18" charset="0"/>
                                      </a:rPr>
                                    </m:ctrlPr>
                                  </m:dPr>
                                  <m:e>
                                    <m:r>
                                      <a:rPr lang="en-US" sz="2400" i="0">
                                        <a:latin typeface="Cambria Math" panose="02040503050406030204" pitchFamily="18" charset="0"/>
                                      </a:rPr>
                                      <m:t>0</m:t>
                                    </m:r>
                                  </m:e>
                                </m:d>
                              </m:oMath>
                            </m:oMathPara>
                          </a14:m>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a:latin typeface="Cambria Math" panose="02040503050406030204" pitchFamily="18" charset="0"/>
                                      </a:rPr>
                                      <m:t>10</m:t>
                                    </m:r>
                                  </m:e>
                                </m:d>
                                <m:d>
                                  <m:dPr>
                                    <m:begChr m:val="|"/>
                                    <m:endChr m:val="⟩"/>
                                    <m:ctrlPr>
                                      <a:rPr lang="en-US" sz="2400" i="1">
                                        <a:latin typeface="Cambria Math" panose="02040503050406030204" pitchFamily="18" charset="0"/>
                                      </a:rPr>
                                    </m:ctrlPr>
                                  </m:dPr>
                                  <m:e>
                                    <m:r>
                                      <a:rPr lang="en-US" sz="2400" i="0">
                                        <a:latin typeface="Cambria Math" panose="02040503050406030204" pitchFamily="18" charset="0"/>
                                      </a:rPr>
                                      <m:t>0</m:t>
                                    </m:r>
                                  </m:e>
                                </m:d>
                              </m:oMath>
                            </m:oMathPara>
                          </a14:m>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a:latin typeface="Cambria Math" panose="02040503050406030204" pitchFamily="18" charset="0"/>
                                      </a:rPr>
                                      <m:t>11</m:t>
                                    </m:r>
                                  </m:e>
                                </m:d>
                                <m:d>
                                  <m:dPr>
                                    <m:begChr m:val="|"/>
                                    <m:endChr m:val="⟩"/>
                                    <m:ctrlPr>
                                      <a:rPr lang="en-US" sz="2400" i="1">
                                        <a:latin typeface="Cambria Math" panose="02040503050406030204" pitchFamily="18" charset="0"/>
                                      </a:rPr>
                                    </m:ctrlPr>
                                  </m:dPr>
                                  <m:e>
                                    <m:r>
                                      <a:rPr lang="en-US" sz="2400" i="0">
                                        <a:latin typeface="Cambria Math" panose="02040503050406030204" pitchFamily="18" charset="0"/>
                                      </a:rPr>
                                      <m:t>1</m:t>
                                    </m:r>
                                  </m:e>
                                </m:d>
                              </m:oMath>
                            </m:oMathPara>
                          </a14:m>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0936163"/>
                      </a:ext>
                    </a:extLst>
                  </a:tr>
                </a:tbl>
              </a:graphicData>
            </a:graphic>
          </p:graphicFrame>
        </mc:Choice>
        <mc:Fallback xmlns="">
          <p:graphicFrame>
            <p:nvGraphicFramePr>
              <p:cNvPr id="5" name="Table 4">
                <a:extLst>
                  <a:ext uri="{FF2B5EF4-FFF2-40B4-BE49-F238E27FC236}">
                    <a16:creationId xmlns:a16="http://schemas.microsoft.com/office/drawing/2014/main" id="{FB4967FE-84F6-B041-9A26-B776B98B2461}"/>
                  </a:ext>
                </a:extLst>
              </p:cNvPr>
              <p:cNvGraphicFramePr>
                <a:graphicFrameLocks noGrp="1"/>
              </p:cNvGraphicFramePr>
              <p:nvPr>
                <p:extLst>
                  <p:ext uri="{D42A27DB-BD31-4B8C-83A1-F6EECF244321}">
                    <p14:modId xmlns:p14="http://schemas.microsoft.com/office/powerpoint/2010/main" val="3537863804"/>
                  </p:ext>
                </p:extLst>
              </p:nvPr>
            </p:nvGraphicFramePr>
            <p:xfrm>
              <a:off x="5362415" y="2004259"/>
              <a:ext cx="6586780" cy="914400"/>
            </p:xfrm>
            <a:graphic>
              <a:graphicData uri="http://schemas.openxmlformats.org/drawingml/2006/table">
                <a:tbl>
                  <a:tblPr firstRow="1" bandRow="1">
                    <a:tableStyleId>{D27102A9-8310-4765-A935-A1911B00CA55}</a:tableStyleId>
                  </a:tblPr>
                  <a:tblGrid>
                    <a:gridCol w="1317356">
                      <a:extLst>
                        <a:ext uri="{9D8B030D-6E8A-4147-A177-3AD203B41FA5}">
                          <a16:colId xmlns:a16="http://schemas.microsoft.com/office/drawing/2014/main" val="1238342120"/>
                        </a:ext>
                      </a:extLst>
                    </a:gridCol>
                    <a:gridCol w="1317356">
                      <a:extLst>
                        <a:ext uri="{9D8B030D-6E8A-4147-A177-3AD203B41FA5}">
                          <a16:colId xmlns:a16="http://schemas.microsoft.com/office/drawing/2014/main" val="1871747483"/>
                        </a:ext>
                      </a:extLst>
                    </a:gridCol>
                    <a:gridCol w="1317356">
                      <a:extLst>
                        <a:ext uri="{9D8B030D-6E8A-4147-A177-3AD203B41FA5}">
                          <a16:colId xmlns:a16="http://schemas.microsoft.com/office/drawing/2014/main" val="2929495625"/>
                        </a:ext>
                      </a:extLst>
                    </a:gridCol>
                    <a:gridCol w="1317356">
                      <a:extLst>
                        <a:ext uri="{9D8B030D-6E8A-4147-A177-3AD203B41FA5}">
                          <a16:colId xmlns:a16="http://schemas.microsoft.com/office/drawing/2014/main" val="1957510720"/>
                        </a:ext>
                      </a:extLst>
                    </a:gridCol>
                    <a:gridCol w="1317356">
                      <a:extLst>
                        <a:ext uri="{9D8B030D-6E8A-4147-A177-3AD203B41FA5}">
                          <a16:colId xmlns:a16="http://schemas.microsoft.com/office/drawing/2014/main" val="3903062360"/>
                        </a:ext>
                      </a:extLst>
                    </a:gridCol>
                  </a:tblGrid>
                  <a:tr h="4572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62" t="-2703" r="-400000" b="-11351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962" t="-2703" r="-300000" b="-11351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2913" t="-2703" r="-202913" b="-11351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0000" t="-2703" r="-100962" b="-11351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0000" t="-2703" r="-962" b="-113514"/>
                          </a:stretch>
                        </a:blipFill>
                      </a:tcPr>
                    </a:tc>
                    <a:extLst>
                      <a:ext uri="{0D108BD9-81ED-4DB2-BD59-A6C34878D82A}">
                        <a16:rowId xmlns:a16="http://schemas.microsoft.com/office/drawing/2014/main" val="341824627"/>
                      </a:ext>
                    </a:extLst>
                  </a:tr>
                  <a:tr h="4572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62" t="-105556" r="-400000" b="-16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962" t="-105556" r="-300000" b="-16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2913" t="-105556" r="-202913" b="-16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0000" t="-105556" r="-100962" b="-16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0000" t="-105556" r="-962" b="-16667"/>
                          </a:stretch>
                        </a:blipFill>
                      </a:tcPr>
                    </a:tc>
                    <a:extLst>
                      <a:ext uri="{0D108BD9-81ED-4DB2-BD59-A6C34878D82A}">
                        <a16:rowId xmlns:a16="http://schemas.microsoft.com/office/drawing/2014/main" val="1010936163"/>
                      </a:ext>
                    </a:extLst>
                  </a:tr>
                </a:tbl>
              </a:graphicData>
            </a:graphic>
          </p:graphicFrame>
        </mc:Fallback>
      </mc:AlternateContent>
      <p:grpSp>
        <p:nvGrpSpPr>
          <p:cNvPr id="11" name="Group 10">
            <a:extLst>
              <a:ext uri="{FF2B5EF4-FFF2-40B4-BE49-F238E27FC236}">
                <a16:creationId xmlns:a16="http://schemas.microsoft.com/office/drawing/2014/main" id="{B9C05B7E-441D-4347-85A7-B79F1554F69A}"/>
              </a:ext>
            </a:extLst>
          </p:cNvPr>
          <p:cNvGrpSpPr/>
          <p:nvPr/>
        </p:nvGrpSpPr>
        <p:grpSpPr>
          <a:xfrm>
            <a:off x="4073038" y="1211388"/>
            <a:ext cx="2420598" cy="492661"/>
            <a:chOff x="4073038" y="1211388"/>
            <a:chExt cx="2420598" cy="492661"/>
          </a:xfrm>
        </p:grpSpPr>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751DCFCB-6FF9-2944-8B13-EEAA0DD485E6}"/>
                    </a:ext>
                  </a:extLst>
                </p:cNvPr>
                <p:cNvSpPr/>
                <p:nvPr/>
              </p:nvSpPr>
              <p:spPr>
                <a:xfrm>
                  <a:off x="4073038" y="1211388"/>
                  <a:ext cx="242059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r>
                              <a:rPr lang="sr-Latn-RS" sz="2400" b="0" i="1" smtClean="0">
                                <a:latin typeface="Cambria Math" panose="02040503050406030204" pitchFamily="18" charset="0"/>
                              </a:rPr>
                              <m:t>𝑥</m:t>
                            </m:r>
                            <m:r>
                              <a:rPr lang="en-US" sz="2400" i="0">
                                <a:latin typeface="Cambria Math" panose="02040503050406030204" pitchFamily="18" charset="0"/>
                              </a:rPr>
                              <m:t>0</m:t>
                            </m:r>
                          </m:e>
                        </m:d>
                        <m:r>
                          <a:rPr lang="en-US" sz="2400" i="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𝑥</m:t>
                            </m:r>
                          </m:e>
                        </m:d>
                        <m:d>
                          <m:dPr>
                            <m:begChr m:val="|"/>
                            <m:endChr m:val="⟩"/>
                            <m:ctrlPr>
                              <a:rPr lang="en-US" sz="2400" i="1">
                                <a:latin typeface="Cambria Math" panose="02040503050406030204" pitchFamily="18" charset="0"/>
                              </a:rPr>
                            </m:ctrlPr>
                          </m:dPr>
                          <m:e>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i="0">
                                    <a:latin typeface="Cambria Math" panose="02040503050406030204" pitchFamily="18" charset="0"/>
                                  </a:rPr>
                                  <m:t>(</m:t>
                                </m:r>
                                <m:r>
                                  <a:rPr lang="en-US" sz="2400" i="1">
                                    <a:latin typeface="Cambria Math" panose="02040503050406030204" pitchFamily="18" charset="0"/>
                                  </a:rPr>
                                  <m:t>𝑥</m:t>
                                </m:r>
                              </m:e>
                            </m:d>
                          </m:e>
                        </m:d>
                      </m:oMath>
                    </m:oMathPara>
                  </a14:m>
                  <a:endParaRPr lang="en-US" sz="2400" dirty="0"/>
                </a:p>
              </p:txBody>
            </p:sp>
          </mc:Choice>
          <mc:Fallback xmlns="">
            <p:sp>
              <p:nvSpPr>
                <p:cNvPr id="7" name="Rectangle 6">
                  <a:extLst>
                    <a:ext uri="{FF2B5EF4-FFF2-40B4-BE49-F238E27FC236}">
                      <a16:creationId xmlns:a16="http://schemas.microsoft.com/office/drawing/2014/main" id="{751DCFCB-6FF9-2944-8B13-EEAA0DD485E6}"/>
                    </a:ext>
                  </a:extLst>
                </p:cNvPr>
                <p:cNvSpPr>
                  <a:spLocks noRot="1" noChangeAspect="1" noMove="1" noResize="1" noEditPoints="1" noAdjustHandles="1" noChangeArrowheads="1" noChangeShapeType="1" noTextEdit="1"/>
                </p:cNvSpPr>
                <p:nvPr/>
              </p:nvSpPr>
              <p:spPr>
                <a:xfrm>
                  <a:off x="4073038" y="1211388"/>
                  <a:ext cx="2420598" cy="461665"/>
                </a:xfrm>
                <a:prstGeom prst="rect">
                  <a:avLst/>
                </a:prstGeom>
                <a:blipFill>
                  <a:blip r:embed="rId5"/>
                  <a:stretch>
                    <a:fillRect t="-121053" r="-7853" b="-186842"/>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588964AD-EBC8-1F4F-849E-A97B7A5F4033}"/>
                </a:ext>
              </a:extLst>
            </p:cNvPr>
            <p:cNvCxnSpPr>
              <a:cxnSpLocks/>
            </p:cNvCxnSpPr>
            <p:nvPr/>
          </p:nvCxnSpPr>
          <p:spPr>
            <a:xfrm>
              <a:off x="4135033" y="1704049"/>
              <a:ext cx="2281267"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63" name="TextBox 62">
            <a:extLst>
              <a:ext uri="{FF2B5EF4-FFF2-40B4-BE49-F238E27FC236}">
                <a16:creationId xmlns:a16="http://schemas.microsoft.com/office/drawing/2014/main" id="{6FFE5DB8-599A-A14B-A9B4-50169C61D99D}"/>
              </a:ext>
            </a:extLst>
          </p:cNvPr>
          <p:cNvSpPr txBox="1"/>
          <p:nvPr/>
        </p:nvSpPr>
        <p:spPr>
          <a:xfrm>
            <a:off x="1812658" y="3028477"/>
            <a:ext cx="1320361" cy="461665"/>
          </a:xfrm>
          <a:prstGeom prst="rect">
            <a:avLst/>
          </a:prstGeom>
          <a:noFill/>
        </p:spPr>
        <p:txBody>
          <a:bodyPr wrap="none" rtlCol="0">
            <a:spAutoFit/>
          </a:bodyPr>
          <a:lstStyle/>
          <a:p>
            <a:r>
              <a:rPr lang="en-US" sz="2400" dirty="0"/>
              <a:t>NOT XOR</a:t>
            </a:r>
          </a:p>
        </p:txBody>
      </p:sp>
      <p:grpSp>
        <p:nvGrpSpPr>
          <p:cNvPr id="6" name="Group 5">
            <a:extLst>
              <a:ext uri="{FF2B5EF4-FFF2-40B4-BE49-F238E27FC236}">
                <a16:creationId xmlns:a16="http://schemas.microsoft.com/office/drawing/2014/main" id="{E7DE96D9-6A1D-494D-A6B3-681AA44EA1C7}"/>
              </a:ext>
            </a:extLst>
          </p:cNvPr>
          <p:cNvGrpSpPr/>
          <p:nvPr/>
        </p:nvGrpSpPr>
        <p:grpSpPr>
          <a:xfrm>
            <a:off x="3423276" y="2545780"/>
            <a:ext cx="6310060" cy="3792753"/>
            <a:chOff x="3423276" y="2545780"/>
            <a:chExt cx="6310060" cy="3792753"/>
          </a:xfrm>
        </p:grpSpPr>
        <p:pic>
          <p:nvPicPr>
            <p:cNvPr id="65" name="Graphic 64">
              <a:extLst>
                <a:ext uri="{FF2B5EF4-FFF2-40B4-BE49-F238E27FC236}">
                  <a16:creationId xmlns:a16="http://schemas.microsoft.com/office/drawing/2014/main" id="{FDF40A8B-1572-C045-A65B-1F5CEA4EC63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8149185" flipV="1">
              <a:off x="5443617" y="2545780"/>
              <a:ext cx="2178301" cy="2178301"/>
            </a:xfrm>
            <a:prstGeom prst="rect">
              <a:avLst/>
            </a:prstGeom>
          </p:spPr>
        </p:pic>
        <p:cxnSp>
          <p:nvCxnSpPr>
            <p:cNvPr id="15" name="Straight Connector 14">
              <a:extLst>
                <a:ext uri="{FF2B5EF4-FFF2-40B4-BE49-F238E27FC236}">
                  <a16:creationId xmlns:a16="http://schemas.microsoft.com/office/drawing/2014/main" id="{CBD8D3B0-C808-C846-8304-203147689281}"/>
                </a:ext>
              </a:extLst>
            </p:cNvPr>
            <p:cNvCxnSpPr>
              <a:cxnSpLocks/>
            </p:cNvCxnSpPr>
            <p:nvPr/>
          </p:nvCxnSpPr>
          <p:spPr>
            <a:xfrm flipV="1">
              <a:off x="4342598" y="4128544"/>
              <a:ext cx="3960000" cy="1053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83E984D-A5F3-2342-83D8-5DE898BC0BAC}"/>
                </a:ext>
              </a:extLst>
            </p:cNvPr>
            <p:cNvCxnSpPr>
              <a:cxnSpLocks/>
            </p:cNvCxnSpPr>
            <p:nvPr/>
          </p:nvCxnSpPr>
          <p:spPr>
            <a:xfrm>
              <a:off x="4342598" y="6001383"/>
              <a:ext cx="39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11C781C-78A1-404D-BF66-6C1E1ADA0A6B}"/>
                </a:ext>
              </a:extLst>
            </p:cNvPr>
            <p:cNvCxnSpPr>
              <a:cxnSpLocks/>
            </p:cNvCxnSpPr>
            <p:nvPr/>
          </p:nvCxnSpPr>
          <p:spPr>
            <a:xfrm>
              <a:off x="4342598" y="5072825"/>
              <a:ext cx="39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DBCE7132-98E6-6341-8E91-934ADC8B36B2}"/>
                </a:ext>
              </a:extLst>
            </p:cNvPr>
            <p:cNvGrpSpPr/>
            <p:nvPr/>
          </p:nvGrpSpPr>
          <p:grpSpPr>
            <a:xfrm rot="10800000">
              <a:off x="5002415" y="3994230"/>
              <a:ext cx="720000" cy="2344303"/>
              <a:chOff x="2596286" y="1207649"/>
              <a:chExt cx="720000" cy="2344303"/>
            </a:xfrm>
          </p:grpSpPr>
          <p:sp>
            <p:nvSpPr>
              <p:cNvPr id="20" name="Oval 19">
                <a:extLst>
                  <a:ext uri="{FF2B5EF4-FFF2-40B4-BE49-F238E27FC236}">
                    <a16:creationId xmlns:a16="http://schemas.microsoft.com/office/drawing/2014/main" id="{85C9EA4D-BFEF-074F-970E-24491EAA2700}"/>
                  </a:ext>
                </a:extLst>
              </p:cNvPr>
              <p:cNvSpPr/>
              <p:nvPr/>
            </p:nvSpPr>
            <p:spPr>
              <a:xfrm flipV="1">
                <a:off x="2596286" y="120764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21" name="Oval 20">
                <a:extLst>
                  <a:ext uri="{FF2B5EF4-FFF2-40B4-BE49-F238E27FC236}">
                    <a16:creationId xmlns:a16="http://schemas.microsoft.com/office/drawing/2014/main" id="{33496391-3536-7842-B93A-971931A2DE7C}"/>
                  </a:ext>
                </a:extLst>
              </p:cNvPr>
              <p:cNvSpPr/>
              <p:nvPr/>
            </p:nvSpPr>
            <p:spPr>
              <a:xfrm flipV="1">
                <a:off x="2831897" y="3281952"/>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22" name="Straight Connector 21">
                <a:extLst>
                  <a:ext uri="{FF2B5EF4-FFF2-40B4-BE49-F238E27FC236}">
                    <a16:creationId xmlns:a16="http://schemas.microsoft.com/office/drawing/2014/main" id="{56166343-08F1-3949-A36F-55170FFA85D5}"/>
                  </a:ext>
                </a:extLst>
              </p:cNvPr>
              <p:cNvCxnSpPr>
                <a:cxnSpLocks/>
                <a:stCxn id="21" idx="4"/>
                <a:endCxn id="20" idx="0"/>
              </p:cNvCxnSpPr>
              <p:nvPr/>
            </p:nvCxnSpPr>
            <p:spPr>
              <a:xfrm>
                <a:off x="2956286" y="1927649"/>
                <a:ext cx="10611" cy="135430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Oval 25">
              <a:extLst>
                <a:ext uri="{FF2B5EF4-FFF2-40B4-BE49-F238E27FC236}">
                  <a16:creationId xmlns:a16="http://schemas.microsoft.com/office/drawing/2014/main" id="{86414195-FB11-B14F-A8CD-CEE22AD6258C}"/>
                </a:ext>
              </a:extLst>
            </p:cNvPr>
            <p:cNvSpPr/>
            <p:nvPr/>
          </p:nvSpPr>
          <p:spPr>
            <a:xfrm rot="10800000" flipV="1">
              <a:off x="6025233" y="5610162"/>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27" name="Oval 26">
              <a:extLst>
                <a:ext uri="{FF2B5EF4-FFF2-40B4-BE49-F238E27FC236}">
                  <a16:creationId xmlns:a16="http://schemas.microsoft.com/office/drawing/2014/main" id="{2796D433-F2C8-E341-8B5C-0F7AC579A40D}"/>
                </a:ext>
              </a:extLst>
            </p:cNvPr>
            <p:cNvSpPr/>
            <p:nvPr/>
          </p:nvSpPr>
          <p:spPr>
            <a:xfrm rot="10800000" flipV="1">
              <a:off x="6262767" y="4934998"/>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28" name="Straight Connector 27">
              <a:extLst>
                <a:ext uri="{FF2B5EF4-FFF2-40B4-BE49-F238E27FC236}">
                  <a16:creationId xmlns:a16="http://schemas.microsoft.com/office/drawing/2014/main" id="{629721EC-AF21-5E47-B7CB-DBB66B21228E}"/>
                </a:ext>
              </a:extLst>
            </p:cNvPr>
            <p:cNvCxnSpPr>
              <a:cxnSpLocks/>
              <a:stCxn id="27" idx="4"/>
              <a:endCxn id="26" idx="0"/>
            </p:cNvCxnSpPr>
            <p:nvPr/>
          </p:nvCxnSpPr>
          <p:spPr>
            <a:xfrm flipH="1">
              <a:off x="6385233" y="5204998"/>
              <a:ext cx="12534" cy="4051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Oval 43">
              <a:extLst>
                <a:ext uri="{FF2B5EF4-FFF2-40B4-BE49-F238E27FC236}">
                  <a16:creationId xmlns:a16="http://schemas.microsoft.com/office/drawing/2014/main" id="{A7BE6956-2CDA-2044-BBA8-140DF5439B73}"/>
                </a:ext>
              </a:extLst>
            </p:cNvPr>
            <p:cNvSpPr/>
            <p:nvPr/>
          </p:nvSpPr>
          <p:spPr>
            <a:xfrm rot="10800000" flipV="1">
              <a:off x="7091702" y="5610162"/>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97BB483B-7E93-D640-92E1-F6805F8A0B22}"/>
                    </a:ext>
                  </a:extLst>
                </p:cNvPr>
                <p:cNvSpPr/>
                <p:nvPr/>
              </p:nvSpPr>
              <p:spPr>
                <a:xfrm>
                  <a:off x="3461218" y="3818683"/>
                  <a:ext cx="88787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800" i="1">
                                <a:latin typeface="Cambria Math" panose="02040503050406030204" pitchFamily="18" charset="0"/>
                              </a:rPr>
                            </m:ctrlPr>
                          </m:dPr>
                          <m:e>
                            <m:sSub>
                              <m:sSubPr>
                                <m:ctrlPr>
                                  <a:rPr lang="en-ZA" sz="2800" i="1">
                                    <a:latin typeface="Cambria Math" panose="02040503050406030204" pitchFamily="18" charset="0"/>
                                  </a:rPr>
                                </m:ctrlPr>
                              </m:sSubPr>
                              <m:e>
                                <m:r>
                                  <a:rPr lang="sr-Latn-RS" sz="2800" b="0" i="1">
                                    <a:latin typeface="Cambria Math" panose="02040503050406030204" pitchFamily="18" charset="0"/>
                                  </a:rPr>
                                  <m:t>𝑥</m:t>
                                </m:r>
                              </m:e>
                              <m:sub>
                                <m:r>
                                  <a:rPr lang="sr-Latn-RS" sz="2800" b="0" i="1">
                                    <a:latin typeface="Cambria Math" panose="02040503050406030204" pitchFamily="18" charset="0"/>
                                  </a:rPr>
                                  <m:t>1</m:t>
                                </m:r>
                              </m:sub>
                            </m:sSub>
                          </m:e>
                        </m:d>
                      </m:oMath>
                    </m:oMathPara>
                  </a14:m>
                  <a:endParaRPr lang="en-US" sz="2800" dirty="0"/>
                </a:p>
              </p:txBody>
            </p:sp>
          </mc:Choice>
          <mc:Fallback xmlns="">
            <p:sp>
              <p:nvSpPr>
                <p:cNvPr id="60" name="Rectangle 59">
                  <a:extLst>
                    <a:ext uri="{FF2B5EF4-FFF2-40B4-BE49-F238E27FC236}">
                      <a16:creationId xmlns:a16="http://schemas.microsoft.com/office/drawing/2014/main" id="{97BB483B-7E93-D640-92E1-F6805F8A0B22}"/>
                    </a:ext>
                  </a:extLst>
                </p:cNvPr>
                <p:cNvSpPr>
                  <a:spLocks noRot="1" noChangeAspect="1" noMove="1" noResize="1" noEditPoints="1" noAdjustHandles="1" noChangeArrowheads="1" noChangeShapeType="1" noTextEdit="1"/>
                </p:cNvSpPr>
                <p:nvPr/>
              </p:nvSpPr>
              <p:spPr>
                <a:xfrm>
                  <a:off x="3461218" y="3818683"/>
                  <a:ext cx="887871"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Rectangle 60">
                  <a:extLst>
                    <a:ext uri="{FF2B5EF4-FFF2-40B4-BE49-F238E27FC236}">
                      <a16:creationId xmlns:a16="http://schemas.microsoft.com/office/drawing/2014/main" id="{BB1130C8-983C-9C45-9EA2-4538F20D3040}"/>
                    </a:ext>
                  </a:extLst>
                </p:cNvPr>
                <p:cNvSpPr/>
                <p:nvPr/>
              </p:nvSpPr>
              <p:spPr>
                <a:xfrm>
                  <a:off x="3442247" y="4808388"/>
                  <a:ext cx="88787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800" i="1" smtClean="0">
                                <a:latin typeface="Cambria Math" panose="02040503050406030204" pitchFamily="18" charset="0"/>
                              </a:rPr>
                            </m:ctrlPr>
                          </m:dPr>
                          <m:e>
                            <m:sSub>
                              <m:sSubPr>
                                <m:ctrlPr>
                                  <a:rPr lang="en-ZA" sz="2800" i="1">
                                    <a:latin typeface="Cambria Math" panose="02040503050406030204" pitchFamily="18" charset="0"/>
                                  </a:rPr>
                                </m:ctrlPr>
                              </m:sSubPr>
                              <m:e>
                                <m:r>
                                  <a:rPr lang="sr-Latn-RS" sz="2800" b="0" i="1">
                                    <a:latin typeface="Cambria Math" panose="02040503050406030204" pitchFamily="18" charset="0"/>
                                  </a:rPr>
                                  <m:t>𝑥</m:t>
                                </m:r>
                              </m:e>
                              <m:sub>
                                <m:r>
                                  <a:rPr lang="en-US" sz="2800" b="0" i="1" smtClean="0">
                                    <a:latin typeface="Cambria Math" panose="02040503050406030204" pitchFamily="18" charset="0"/>
                                  </a:rPr>
                                  <m:t>2</m:t>
                                </m:r>
                              </m:sub>
                            </m:sSub>
                          </m:e>
                        </m:d>
                      </m:oMath>
                    </m:oMathPara>
                  </a14:m>
                  <a:endParaRPr lang="en-US" sz="2800" dirty="0"/>
                </a:p>
              </p:txBody>
            </p:sp>
          </mc:Choice>
          <mc:Fallback xmlns="">
            <p:sp>
              <p:nvSpPr>
                <p:cNvPr id="61" name="Rectangle 60">
                  <a:extLst>
                    <a:ext uri="{FF2B5EF4-FFF2-40B4-BE49-F238E27FC236}">
                      <a16:creationId xmlns:a16="http://schemas.microsoft.com/office/drawing/2014/main" id="{BB1130C8-983C-9C45-9EA2-4538F20D3040}"/>
                    </a:ext>
                  </a:extLst>
                </p:cNvPr>
                <p:cNvSpPr>
                  <a:spLocks noRot="1" noChangeAspect="1" noMove="1" noResize="1" noEditPoints="1" noAdjustHandles="1" noChangeArrowheads="1" noChangeShapeType="1" noTextEdit="1"/>
                </p:cNvSpPr>
                <p:nvPr/>
              </p:nvSpPr>
              <p:spPr>
                <a:xfrm>
                  <a:off x="3442247" y="4808388"/>
                  <a:ext cx="887871"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Rectangle 61">
                  <a:extLst>
                    <a:ext uri="{FF2B5EF4-FFF2-40B4-BE49-F238E27FC236}">
                      <a16:creationId xmlns:a16="http://schemas.microsoft.com/office/drawing/2014/main" id="{8B4F0FE3-175A-4A48-BE77-1E981B156987}"/>
                    </a:ext>
                  </a:extLst>
                </p:cNvPr>
                <p:cNvSpPr/>
                <p:nvPr/>
              </p:nvSpPr>
              <p:spPr>
                <a:xfrm>
                  <a:off x="3423276" y="5798093"/>
                  <a:ext cx="72391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800" i="1" smtClean="0">
                                <a:latin typeface="Cambria Math" panose="02040503050406030204" pitchFamily="18" charset="0"/>
                              </a:rPr>
                            </m:ctrlPr>
                          </m:dPr>
                          <m:e>
                            <m:r>
                              <a:rPr lang="en-US" sz="2800" b="0" i="1" smtClean="0">
                                <a:latin typeface="Cambria Math" panose="02040503050406030204" pitchFamily="18" charset="0"/>
                              </a:rPr>
                              <m:t>0</m:t>
                            </m:r>
                          </m:e>
                        </m:d>
                      </m:oMath>
                    </m:oMathPara>
                  </a14:m>
                  <a:endParaRPr lang="en-US" sz="2800" dirty="0"/>
                </a:p>
              </p:txBody>
            </p:sp>
          </mc:Choice>
          <mc:Fallback xmlns="">
            <p:sp>
              <p:nvSpPr>
                <p:cNvPr id="62" name="Rectangle 61">
                  <a:extLst>
                    <a:ext uri="{FF2B5EF4-FFF2-40B4-BE49-F238E27FC236}">
                      <a16:creationId xmlns:a16="http://schemas.microsoft.com/office/drawing/2014/main" id="{8B4F0FE3-175A-4A48-BE77-1E981B156987}"/>
                    </a:ext>
                  </a:extLst>
                </p:cNvPr>
                <p:cNvSpPr>
                  <a:spLocks noRot="1" noChangeAspect="1" noMove="1" noResize="1" noEditPoints="1" noAdjustHandles="1" noChangeArrowheads="1" noChangeShapeType="1" noTextEdit="1"/>
                </p:cNvSpPr>
                <p:nvPr/>
              </p:nvSpPr>
              <p:spPr>
                <a:xfrm>
                  <a:off x="3423276" y="5798093"/>
                  <a:ext cx="723916"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Rectangle 63">
                  <a:extLst>
                    <a:ext uri="{FF2B5EF4-FFF2-40B4-BE49-F238E27FC236}">
                      <a16:creationId xmlns:a16="http://schemas.microsoft.com/office/drawing/2014/main" id="{7CB77764-57BD-7C47-B62E-9816CD918F85}"/>
                    </a:ext>
                  </a:extLst>
                </p:cNvPr>
                <p:cNvSpPr/>
                <p:nvPr/>
              </p:nvSpPr>
              <p:spPr>
                <a:xfrm>
                  <a:off x="8516721" y="5708552"/>
                  <a:ext cx="121661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800" i="1">
                                <a:latin typeface="Cambria Math" panose="02040503050406030204" pitchFamily="18" charset="0"/>
                              </a:rPr>
                            </m:ctrlPr>
                          </m:dPr>
                          <m:e>
                            <m:r>
                              <a:rPr lang="sr-Latn-RS" sz="2800" i="1">
                                <a:latin typeface="Cambria Math" panose="02040503050406030204" pitchFamily="18" charset="0"/>
                              </a:rPr>
                              <m:t>𝑓</m:t>
                            </m:r>
                            <m:r>
                              <a:rPr lang="sr-Latn-RS" sz="2800" i="1">
                                <a:latin typeface="Cambria Math" panose="02040503050406030204" pitchFamily="18" charset="0"/>
                              </a:rPr>
                              <m:t>(</m:t>
                            </m:r>
                            <m:r>
                              <a:rPr lang="sr-Latn-RS" sz="2800" i="1">
                                <a:latin typeface="Cambria Math" panose="02040503050406030204" pitchFamily="18" charset="0"/>
                              </a:rPr>
                              <m:t>𝑥</m:t>
                            </m:r>
                            <m:r>
                              <a:rPr lang="sr-Latn-RS" sz="2800" i="1">
                                <a:latin typeface="Cambria Math" panose="02040503050406030204" pitchFamily="18" charset="0"/>
                              </a:rPr>
                              <m:t>)</m:t>
                            </m:r>
                          </m:e>
                        </m:d>
                      </m:oMath>
                    </m:oMathPara>
                  </a14:m>
                  <a:endParaRPr lang="en-US" sz="2800" dirty="0"/>
                </a:p>
              </p:txBody>
            </p:sp>
          </mc:Choice>
          <mc:Fallback xmlns="">
            <p:sp>
              <p:nvSpPr>
                <p:cNvPr id="64" name="Rectangle 63">
                  <a:extLst>
                    <a:ext uri="{FF2B5EF4-FFF2-40B4-BE49-F238E27FC236}">
                      <a16:creationId xmlns:a16="http://schemas.microsoft.com/office/drawing/2014/main" id="{7CB77764-57BD-7C47-B62E-9816CD918F85}"/>
                    </a:ext>
                  </a:extLst>
                </p:cNvPr>
                <p:cNvSpPr>
                  <a:spLocks noRot="1" noChangeAspect="1" noMove="1" noResize="1" noEditPoints="1" noAdjustHandles="1" noChangeArrowheads="1" noChangeShapeType="1" noTextEdit="1"/>
                </p:cNvSpPr>
                <p:nvPr/>
              </p:nvSpPr>
              <p:spPr>
                <a:xfrm>
                  <a:off x="8516721" y="5708552"/>
                  <a:ext cx="1216615" cy="523220"/>
                </a:xfrm>
                <a:prstGeom prst="rect">
                  <a:avLst/>
                </a:prstGeom>
                <a:blipFill>
                  <a:blip r:embed="rId11"/>
                  <a:stretch>
                    <a:fillRect b="-16279"/>
                  </a:stretch>
                </a:blipFill>
              </p:spPr>
              <p:txBody>
                <a:bodyPr/>
                <a:lstStyle/>
                <a:p>
                  <a:r>
                    <a:rPr lang="en-US">
                      <a:noFill/>
                    </a:rPr>
                    <a:t> </a:t>
                  </a:r>
                </a:p>
              </p:txBody>
            </p:sp>
          </mc:Fallback>
        </mc:AlternateContent>
      </p:grpSp>
    </p:spTree>
    <p:extLst>
      <p:ext uri="{BB962C8B-B14F-4D97-AF65-F5344CB8AC3E}">
        <p14:creationId xmlns:p14="http://schemas.microsoft.com/office/powerpoint/2010/main" val="218176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dissolv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153DE-2911-F84D-8513-24E2E427C4A6}"/>
              </a:ext>
            </a:extLst>
          </p:cNvPr>
          <p:cNvSpPr>
            <a:spLocks noGrp="1"/>
          </p:cNvSpPr>
          <p:nvPr>
            <p:ph type="title"/>
          </p:nvPr>
        </p:nvSpPr>
        <p:spPr/>
        <p:txBody>
          <a:bodyPr/>
          <a:lstStyle/>
          <a:p>
            <a:r>
              <a:rPr lang="en-US" dirty="0"/>
              <a:t>Example: </a:t>
            </a:r>
            <a:r>
              <a:rPr lang="en-ZA" dirty="0"/>
              <a:t>NOT XOR Function Implementation</a:t>
            </a:r>
            <a:endParaRPr lang="en-US" dirty="0"/>
          </a:p>
        </p:txBody>
      </p:sp>
      <p:sp>
        <p:nvSpPr>
          <p:cNvPr id="3" name="Slide Number Placeholder 2">
            <a:extLst>
              <a:ext uri="{FF2B5EF4-FFF2-40B4-BE49-F238E27FC236}">
                <a16:creationId xmlns:a16="http://schemas.microsoft.com/office/drawing/2014/main" id="{AC249D1D-B025-7E48-8C23-CCDA57A84BCA}"/>
              </a:ext>
            </a:extLst>
          </p:cNvPr>
          <p:cNvSpPr>
            <a:spLocks noGrp="1"/>
          </p:cNvSpPr>
          <p:nvPr>
            <p:ph type="sldNum" sz="quarter" idx="12"/>
          </p:nvPr>
        </p:nvSpPr>
        <p:spPr/>
        <p:txBody>
          <a:bodyPr/>
          <a:lstStyle/>
          <a:p>
            <a:fld id="{591A223C-FA10-BC46-A853-03BA373D023C}" type="slidenum">
              <a:rPr lang="en-US" smtClean="0"/>
              <a:t>19</a:t>
            </a:fld>
            <a:endParaRPr lang="en-US"/>
          </a:p>
        </p:txBody>
      </p:sp>
      <p:cxnSp>
        <p:nvCxnSpPr>
          <p:cNvPr id="6" name="Straight Connector 5">
            <a:extLst>
              <a:ext uri="{FF2B5EF4-FFF2-40B4-BE49-F238E27FC236}">
                <a16:creationId xmlns:a16="http://schemas.microsoft.com/office/drawing/2014/main" id="{CBEE0CAE-D124-AA45-AE22-9B36B3BB89EE}"/>
              </a:ext>
            </a:extLst>
          </p:cNvPr>
          <p:cNvCxnSpPr>
            <a:cxnSpLocks/>
          </p:cNvCxnSpPr>
          <p:nvPr/>
        </p:nvCxnSpPr>
        <p:spPr>
          <a:xfrm flipV="1">
            <a:off x="1196441" y="1571323"/>
            <a:ext cx="3600000" cy="1053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C9C812D-45E0-664E-A847-E04DE0F62FE9}"/>
              </a:ext>
            </a:extLst>
          </p:cNvPr>
          <p:cNvCxnSpPr>
            <a:cxnSpLocks/>
          </p:cNvCxnSpPr>
          <p:nvPr/>
        </p:nvCxnSpPr>
        <p:spPr>
          <a:xfrm>
            <a:off x="1196441" y="3444162"/>
            <a:ext cx="36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7BBFF58-619D-474E-81B1-6AA71F6DD324}"/>
              </a:ext>
            </a:extLst>
          </p:cNvPr>
          <p:cNvCxnSpPr>
            <a:cxnSpLocks/>
          </p:cNvCxnSpPr>
          <p:nvPr/>
        </p:nvCxnSpPr>
        <p:spPr>
          <a:xfrm>
            <a:off x="1196441" y="2515604"/>
            <a:ext cx="36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E8ADE92B-266E-5345-A4EE-599D8BDB9EC6}"/>
              </a:ext>
            </a:extLst>
          </p:cNvPr>
          <p:cNvGrpSpPr/>
          <p:nvPr/>
        </p:nvGrpSpPr>
        <p:grpSpPr>
          <a:xfrm rot="10800000">
            <a:off x="1561793" y="1437009"/>
            <a:ext cx="720000" cy="2344303"/>
            <a:chOff x="2596286" y="1207649"/>
            <a:chExt cx="720000" cy="2344303"/>
          </a:xfrm>
        </p:grpSpPr>
        <p:sp>
          <p:nvSpPr>
            <p:cNvPr id="19" name="Oval 18">
              <a:extLst>
                <a:ext uri="{FF2B5EF4-FFF2-40B4-BE49-F238E27FC236}">
                  <a16:creationId xmlns:a16="http://schemas.microsoft.com/office/drawing/2014/main" id="{DF583343-7A1A-444B-8956-276A48F63688}"/>
                </a:ext>
              </a:extLst>
            </p:cNvPr>
            <p:cNvSpPr/>
            <p:nvPr/>
          </p:nvSpPr>
          <p:spPr>
            <a:xfrm flipV="1">
              <a:off x="2596286" y="120764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20" name="Oval 19">
              <a:extLst>
                <a:ext uri="{FF2B5EF4-FFF2-40B4-BE49-F238E27FC236}">
                  <a16:creationId xmlns:a16="http://schemas.microsoft.com/office/drawing/2014/main" id="{0AABFAD4-CCE8-DA48-920C-B00995EB636B}"/>
                </a:ext>
              </a:extLst>
            </p:cNvPr>
            <p:cNvSpPr/>
            <p:nvPr/>
          </p:nvSpPr>
          <p:spPr>
            <a:xfrm flipV="1">
              <a:off x="2831897" y="3281952"/>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21" name="Straight Connector 20">
              <a:extLst>
                <a:ext uri="{FF2B5EF4-FFF2-40B4-BE49-F238E27FC236}">
                  <a16:creationId xmlns:a16="http://schemas.microsoft.com/office/drawing/2014/main" id="{F7967545-30B4-E946-973D-3DD93D1BC1A6}"/>
                </a:ext>
              </a:extLst>
            </p:cNvPr>
            <p:cNvCxnSpPr>
              <a:cxnSpLocks/>
              <a:stCxn id="20" idx="4"/>
              <a:endCxn id="19" idx="0"/>
            </p:cNvCxnSpPr>
            <p:nvPr/>
          </p:nvCxnSpPr>
          <p:spPr>
            <a:xfrm>
              <a:off x="2956286" y="1927649"/>
              <a:ext cx="10611" cy="135430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Oval 9">
            <a:extLst>
              <a:ext uri="{FF2B5EF4-FFF2-40B4-BE49-F238E27FC236}">
                <a16:creationId xmlns:a16="http://schemas.microsoft.com/office/drawing/2014/main" id="{BA52F1A6-9F15-1D4C-B6D5-E6894161696A}"/>
              </a:ext>
            </a:extLst>
          </p:cNvPr>
          <p:cNvSpPr/>
          <p:nvPr/>
        </p:nvSpPr>
        <p:spPr>
          <a:xfrm rot="10800000" flipV="1">
            <a:off x="2584611" y="3052941"/>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11" name="Oval 10">
            <a:extLst>
              <a:ext uri="{FF2B5EF4-FFF2-40B4-BE49-F238E27FC236}">
                <a16:creationId xmlns:a16="http://schemas.microsoft.com/office/drawing/2014/main" id="{294CCC4E-DCAC-0045-8B1E-6E7107C1F224}"/>
              </a:ext>
            </a:extLst>
          </p:cNvPr>
          <p:cNvSpPr/>
          <p:nvPr/>
        </p:nvSpPr>
        <p:spPr>
          <a:xfrm rot="10800000" flipV="1">
            <a:off x="2822145" y="2377777"/>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12" name="Straight Connector 11">
            <a:extLst>
              <a:ext uri="{FF2B5EF4-FFF2-40B4-BE49-F238E27FC236}">
                <a16:creationId xmlns:a16="http://schemas.microsoft.com/office/drawing/2014/main" id="{2AA6E63D-D435-704B-ACF3-39644F42CF29}"/>
              </a:ext>
            </a:extLst>
          </p:cNvPr>
          <p:cNvCxnSpPr>
            <a:cxnSpLocks/>
            <a:stCxn id="11" idx="4"/>
            <a:endCxn id="10" idx="0"/>
          </p:cNvCxnSpPr>
          <p:nvPr/>
        </p:nvCxnSpPr>
        <p:spPr>
          <a:xfrm flipH="1">
            <a:off x="2944611" y="2647777"/>
            <a:ext cx="12534" cy="4051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123F732-484A-044C-AEB2-0D6D043D5C7C}"/>
              </a:ext>
            </a:extLst>
          </p:cNvPr>
          <p:cNvSpPr/>
          <p:nvPr/>
        </p:nvSpPr>
        <p:spPr>
          <a:xfrm rot="10800000" flipV="1">
            <a:off x="3651080" y="3052941"/>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1DFFDE8A-A5D8-8E42-B737-EC3EBDD3B038}"/>
                  </a:ext>
                </a:extLst>
              </p:cNvPr>
              <p:cNvSpPr/>
              <p:nvPr/>
            </p:nvSpPr>
            <p:spPr>
              <a:xfrm>
                <a:off x="524912" y="1288507"/>
                <a:ext cx="594906"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200" i="1" smtClean="0">
                              <a:latin typeface="Cambria Math" panose="02040503050406030204" pitchFamily="18" charset="0"/>
                            </a:rPr>
                          </m:ctrlPr>
                        </m:dPr>
                        <m:e>
                          <m:r>
                            <a:rPr lang="sr-Latn-RS" sz="2200" b="0" i="1" smtClean="0">
                              <a:latin typeface="Cambria Math" panose="02040503050406030204" pitchFamily="18" charset="0"/>
                            </a:rPr>
                            <m:t>0</m:t>
                          </m:r>
                        </m:e>
                      </m:d>
                    </m:oMath>
                  </m:oMathPara>
                </a14:m>
                <a:endParaRPr lang="en-US" sz="2200" dirty="0"/>
              </a:p>
            </p:txBody>
          </p:sp>
        </mc:Choice>
        <mc:Fallback xmlns="">
          <p:sp>
            <p:nvSpPr>
              <p:cNvPr id="14" name="Rectangle 13">
                <a:extLst>
                  <a:ext uri="{FF2B5EF4-FFF2-40B4-BE49-F238E27FC236}">
                    <a16:creationId xmlns:a16="http://schemas.microsoft.com/office/drawing/2014/main" id="{1DFFDE8A-A5D8-8E42-B737-EC3EBDD3B038}"/>
                  </a:ext>
                </a:extLst>
              </p:cNvPr>
              <p:cNvSpPr>
                <a:spLocks noRot="1" noChangeAspect="1" noMove="1" noResize="1" noEditPoints="1" noAdjustHandles="1" noChangeArrowheads="1" noChangeShapeType="1" noTextEdit="1"/>
              </p:cNvSpPr>
              <p:nvPr/>
            </p:nvSpPr>
            <p:spPr>
              <a:xfrm>
                <a:off x="524912" y="1288507"/>
                <a:ext cx="594906" cy="43088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DBE7C815-FDEA-344F-AECD-F21980C81CAA}"/>
                  </a:ext>
                </a:extLst>
              </p:cNvPr>
              <p:cNvSpPr/>
              <p:nvPr/>
            </p:nvSpPr>
            <p:spPr>
              <a:xfrm>
                <a:off x="505941" y="2278212"/>
                <a:ext cx="594906"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200" i="1" smtClean="0">
                              <a:latin typeface="Cambria Math" panose="02040503050406030204" pitchFamily="18" charset="0"/>
                            </a:rPr>
                          </m:ctrlPr>
                        </m:dPr>
                        <m:e>
                          <m:r>
                            <a:rPr lang="sr-Latn-RS" sz="2200" b="0" i="1" smtClean="0">
                              <a:latin typeface="Cambria Math" panose="02040503050406030204" pitchFamily="18" charset="0"/>
                            </a:rPr>
                            <m:t>0</m:t>
                          </m:r>
                        </m:e>
                      </m:d>
                    </m:oMath>
                  </m:oMathPara>
                </a14:m>
                <a:endParaRPr lang="en-US" sz="2200" dirty="0"/>
              </a:p>
            </p:txBody>
          </p:sp>
        </mc:Choice>
        <mc:Fallback xmlns="">
          <p:sp>
            <p:nvSpPr>
              <p:cNvPr id="15" name="Rectangle 14">
                <a:extLst>
                  <a:ext uri="{FF2B5EF4-FFF2-40B4-BE49-F238E27FC236}">
                    <a16:creationId xmlns:a16="http://schemas.microsoft.com/office/drawing/2014/main" id="{DBE7C815-FDEA-344F-AECD-F21980C81CAA}"/>
                  </a:ext>
                </a:extLst>
              </p:cNvPr>
              <p:cNvSpPr>
                <a:spLocks noRot="1" noChangeAspect="1" noMove="1" noResize="1" noEditPoints="1" noAdjustHandles="1" noChangeArrowheads="1" noChangeShapeType="1" noTextEdit="1"/>
              </p:cNvSpPr>
              <p:nvPr/>
            </p:nvSpPr>
            <p:spPr>
              <a:xfrm>
                <a:off x="505941" y="2278212"/>
                <a:ext cx="594906" cy="43088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02F28B5A-34B1-E940-8BBD-2D516CCD8BC2}"/>
                  </a:ext>
                </a:extLst>
              </p:cNvPr>
              <p:cNvSpPr/>
              <p:nvPr/>
            </p:nvSpPr>
            <p:spPr>
              <a:xfrm>
                <a:off x="486970" y="3267917"/>
                <a:ext cx="594906"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200" i="1" smtClean="0">
                              <a:latin typeface="Cambria Math" panose="02040503050406030204" pitchFamily="18" charset="0"/>
                            </a:rPr>
                          </m:ctrlPr>
                        </m:dPr>
                        <m:e>
                          <m:r>
                            <a:rPr lang="en-US" sz="2200" b="0" i="1" smtClean="0">
                              <a:latin typeface="Cambria Math" panose="02040503050406030204" pitchFamily="18" charset="0"/>
                            </a:rPr>
                            <m:t>0</m:t>
                          </m:r>
                        </m:e>
                      </m:d>
                    </m:oMath>
                  </m:oMathPara>
                </a14:m>
                <a:endParaRPr lang="en-US" sz="2200" dirty="0"/>
              </a:p>
            </p:txBody>
          </p:sp>
        </mc:Choice>
        <mc:Fallback xmlns="">
          <p:sp>
            <p:nvSpPr>
              <p:cNvPr id="16" name="Rectangle 15">
                <a:extLst>
                  <a:ext uri="{FF2B5EF4-FFF2-40B4-BE49-F238E27FC236}">
                    <a16:creationId xmlns:a16="http://schemas.microsoft.com/office/drawing/2014/main" id="{02F28B5A-34B1-E940-8BBD-2D516CCD8BC2}"/>
                  </a:ext>
                </a:extLst>
              </p:cNvPr>
              <p:cNvSpPr>
                <a:spLocks noRot="1" noChangeAspect="1" noMove="1" noResize="1" noEditPoints="1" noAdjustHandles="1" noChangeArrowheads="1" noChangeShapeType="1" noTextEdit="1"/>
              </p:cNvSpPr>
              <p:nvPr/>
            </p:nvSpPr>
            <p:spPr>
              <a:xfrm>
                <a:off x="486970" y="3267917"/>
                <a:ext cx="594906" cy="43088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8AE8789A-4F99-C54C-A78F-ABCF494DAC04}"/>
                  </a:ext>
                </a:extLst>
              </p:cNvPr>
              <p:cNvSpPr/>
              <p:nvPr/>
            </p:nvSpPr>
            <p:spPr>
              <a:xfrm>
                <a:off x="4395317" y="2906826"/>
                <a:ext cx="996427"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200" i="1">
                              <a:latin typeface="Cambria Math" panose="02040503050406030204" pitchFamily="18" charset="0"/>
                            </a:rPr>
                          </m:ctrlPr>
                        </m:dPr>
                        <m:e>
                          <m:r>
                            <a:rPr lang="sr-Latn-RS" sz="2200" i="1">
                              <a:latin typeface="Cambria Math" panose="02040503050406030204" pitchFamily="18" charset="0"/>
                            </a:rPr>
                            <m:t>𝑓</m:t>
                          </m:r>
                          <m:r>
                            <a:rPr lang="sr-Latn-RS" sz="2200" i="1">
                              <a:latin typeface="Cambria Math" panose="02040503050406030204" pitchFamily="18" charset="0"/>
                            </a:rPr>
                            <m:t>(</m:t>
                          </m:r>
                          <m:r>
                            <a:rPr lang="sr-Latn-RS" sz="2200" i="1">
                              <a:latin typeface="Cambria Math" panose="02040503050406030204" pitchFamily="18" charset="0"/>
                            </a:rPr>
                            <m:t>𝑥</m:t>
                          </m:r>
                          <m:r>
                            <a:rPr lang="sr-Latn-RS" sz="2200" i="1">
                              <a:latin typeface="Cambria Math" panose="02040503050406030204" pitchFamily="18" charset="0"/>
                            </a:rPr>
                            <m:t>)</m:t>
                          </m:r>
                        </m:e>
                      </m:d>
                    </m:oMath>
                  </m:oMathPara>
                </a14:m>
                <a:endParaRPr lang="en-US" sz="2200" dirty="0"/>
              </a:p>
            </p:txBody>
          </p:sp>
        </mc:Choice>
        <mc:Fallback xmlns="">
          <p:sp>
            <p:nvSpPr>
              <p:cNvPr id="18" name="Rectangle 17">
                <a:extLst>
                  <a:ext uri="{FF2B5EF4-FFF2-40B4-BE49-F238E27FC236}">
                    <a16:creationId xmlns:a16="http://schemas.microsoft.com/office/drawing/2014/main" id="{8AE8789A-4F99-C54C-A78F-ABCF494DAC04}"/>
                  </a:ext>
                </a:extLst>
              </p:cNvPr>
              <p:cNvSpPr>
                <a:spLocks noRot="1" noChangeAspect="1" noMove="1" noResize="1" noEditPoints="1" noAdjustHandles="1" noChangeArrowheads="1" noChangeShapeType="1" noTextEdit="1"/>
              </p:cNvSpPr>
              <p:nvPr/>
            </p:nvSpPr>
            <p:spPr>
              <a:xfrm>
                <a:off x="4395317" y="2906826"/>
                <a:ext cx="996427" cy="430887"/>
              </a:xfrm>
              <a:prstGeom prst="rect">
                <a:avLst/>
              </a:prstGeom>
              <a:blipFill>
                <a:blip r:embed="rId6"/>
                <a:stretch>
                  <a:fillRect b="-17143"/>
                </a:stretch>
              </a:blipFill>
            </p:spPr>
            <p:txBody>
              <a:bodyPr/>
              <a:lstStyle/>
              <a:p>
                <a:r>
                  <a:rPr lang="en-US">
                    <a:noFill/>
                  </a:rPr>
                  <a:t> </a:t>
                </a:r>
              </a:p>
            </p:txBody>
          </p:sp>
        </mc:Fallback>
      </mc:AlternateContent>
      <p:grpSp>
        <p:nvGrpSpPr>
          <p:cNvPr id="43" name="Group 42">
            <a:extLst>
              <a:ext uri="{FF2B5EF4-FFF2-40B4-BE49-F238E27FC236}">
                <a16:creationId xmlns:a16="http://schemas.microsoft.com/office/drawing/2014/main" id="{0CB5A2B5-EAB3-DE43-9C28-CFE7530F2C2A}"/>
              </a:ext>
            </a:extLst>
          </p:cNvPr>
          <p:cNvGrpSpPr/>
          <p:nvPr/>
        </p:nvGrpSpPr>
        <p:grpSpPr>
          <a:xfrm>
            <a:off x="6445071" y="1032174"/>
            <a:ext cx="5419230" cy="5715342"/>
            <a:chOff x="6445071" y="1032174"/>
            <a:chExt cx="5419230" cy="5715342"/>
          </a:xfrm>
        </p:grpSpPr>
        <p:cxnSp>
          <p:nvCxnSpPr>
            <p:cNvPr id="22" name="Straight Connector 21">
              <a:extLst>
                <a:ext uri="{FF2B5EF4-FFF2-40B4-BE49-F238E27FC236}">
                  <a16:creationId xmlns:a16="http://schemas.microsoft.com/office/drawing/2014/main" id="{8C1EBC18-A691-DC4B-B5DC-419EC6DC8DC7}"/>
                </a:ext>
              </a:extLst>
            </p:cNvPr>
            <p:cNvCxnSpPr>
              <a:cxnSpLocks/>
            </p:cNvCxnSpPr>
            <p:nvPr/>
          </p:nvCxnSpPr>
          <p:spPr>
            <a:xfrm flipV="1">
              <a:off x="7154542" y="1422821"/>
              <a:ext cx="3960000" cy="1053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9ECBC40-FB46-9A41-8362-6C558B4B8711}"/>
                </a:ext>
              </a:extLst>
            </p:cNvPr>
            <p:cNvCxnSpPr>
              <a:cxnSpLocks/>
            </p:cNvCxnSpPr>
            <p:nvPr/>
          </p:nvCxnSpPr>
          <p:spPr>
            <a:xfrm>
              <a:off x="7154542" y="3295660"/>
              <a:ext cx="39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14FAAA0-85B1-654D-A1AD-2C53EFE0A4ED}"/>
                </a:ext>
              </a:extLst>
            </p:cNvPr>
            <p:cNvCxnSpPr>
              <a:cxnSpLocks/>
            </p:cNvCxnSpPr>
            <p:nvPr/>
          </p:nvCxnSpPr>
          <p:spPr>
            <a:xfrm>
              <a:off x="7154542" y="2367102"/>
              <a:ext cx="39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4C507E04-F6D4-264F-B323-78CC5A27D50B}"/>
                </a:ext>
              </a:extLst>
            </p:cNvPr>
            <p:cNvGrpSpPr/>
            <p:nvPr/>
          </p:nvGrpSpPr>
          <p:grpSpPr>
            <a:xfrm rot="10800000">
              <a:off x="8093328" y="1288507"/>
              <a:ext cx="720000" cy="2344303"/>
              <a:chOff x="2596286" y="1207649"/>
              <a:chExt cx="720000" cy="2344303"/>
            </a:xfrm>
          </p:grpSpPr>
          <p:sp>
            <p:nvSpPr>
              <p:cNvPr id="26" name="Oval 25">
                <a:extLst>
                  <a:ext uri="{FF2B5EF4-FFF2-40B4-BE49-F238E27FC236}">
                    <a16:creationId xmlns:a16="http://schemas.microsoft.com/office/drawing/2014/main" id="{8936D8A7-8421-8044-B013-A00503AC61BB}"/>
                  </a:ext>
                </a:extLst>
              </p:cNvPr>
              <p:cNvSpPr/>
              <p:nvPr/>
            </p:nvSpPr>
            <p:spPr>
              <a:xfrm flipV="1">
                <a:off x="2596286" y="120764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27" name="Oval 26">
                <a:extLst>
                  <a:ext uri="{FF2B5EF4-FFF2-40B4-BE49-F238E27FC236}">
                    <a16:creationId xmlns:a16="http://schemas.microsoft.com/office/drawing/2014/main" id="{17AA954E-0446-BA48-9DC3-9378F196F7FA}"/>
                  </a:ext>
                </a:extLst>
              </p:cNvPr>
              <p:cNvSpPr/>
              <p:nvPr/>
            </p:nvSpPr>
            <p:spPr>
              <a:xfrm flipV="1">
                <a:off x="2831897" y="3281952"/>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28" name="Straight Connector 27">
                <a:extLst>
                  <a:ext uri="{FF2B5EF4-FFF2-40B4-BE49-F238E27FC236}">
                    <a16:creationId xmlns:a16="http://schemas.microsoft.com/office/drawing/2014/main" id="{A964127E-C2B6-8846-96F8-E94DB98147DF}"/>
                  </a:ext>
                </a:extLst>
              </p:cNvPr>
              <p:cNvCxnSpPr>
                <a:cxnSpLocks/>
                <a:stCxn id="27" idx="4"/>
                <a:endCxn id="26" idx="0"/>
              </p:cNvCxnSpPr>
              <p:nvPr/>
            </p:nvCxnSpPr>
            <p:spPr>
              <a:xfrm>
                <a:off x="2956286" y="1927649"/>
                <a:ext cx="10611" cy="135430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Oval 28">
              <a:extLst>
                <a:ext uri="{FF2B5EF4-FFF2-40B4-BE49-F238E27FC236}">
                  <a16:creationId xmlns:a16="http://schemas.microsoft.com/office/drawing/2014/main" id="{8DA09ABD-9133-CB4D-96DB-EBAEB5255645}"/>
                </a:ext>
              </a:extLst>
            </p:cNvPr>
            <p:cNvSpPr/>
            <p:nvPr/>
          </p:nvSpPr>
          <p:spPr>
            <a:xfrm rot="10800000" flipV="1">
              <a:off x="9116146" y="290443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30" name="Oval 29">
              <a:extLst>
                <a:ext uri="{FF2B5EF4-FFF2-40B4-BE49-F238E27FC236}">
                  <a16:creationId xmlns:a16="http://schemas.microsoft.com/office/drawing/2014/main" id="{B0362724-B3BA-E443-9ED7-21FB1DCEDF02}"/>
                </a:ext>
              </a:extLst>
            </p:cNvPr>
            <p:cNvSpPr/>
            <p:nvPr/>
          </p:nvSpPr>
          <p:spPr>
            <a:xfrm rot="10800000" flipV="1">
              <a:off x="9353680" y="2229275"/>
              <a:ext cx="270000" cy="27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31" name="Straight Connector 30">
              <a:extLst>
                <a:ext uri="{FF2B5EF4-FFF2-40B4-BE49-F238E27FC236}">
                  <a16:creationId xmlns:a16="http://schemas.microsoft.com/office/drawing/2014/main" id="{B96C95FF-BFD5-2F4D-8731-66E130D0FA7D}"/>
                </a:ext>
              </a:extLst>
            </p:cNvPr>
            <p:cNvCxnSpPr>
              <a:cxnSpLocks/>
              <a:stCxn id="30" idx="4"/>
              <a:endCxn id="29" idx="0"/>
            </p:cNvCxnSpPr>
            <p:nvPr/>
          </p:nvCxnSpPr>
          <p:spPr>
            <a:xfrm flipH="1">
              <a:off x="9476146" y="2499275"/>
              <a:ext cx="12534" cy="4051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B1564029-47C0-114A-9889-D03F7195F0D8}"/>
                </a:ext>
              </a:extLst>
            </p:cNvPr>
            <p:cNvSpPr/>
            <p:nvPr/>
          </p:nvSpPr>
          <p:spPr>
            <a:xfrm rot="10800000" flipV="1">
              <a:off x="10182615" y="290443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6769522F-1188-0842-B697-BBD3EFB4F2E4}"/>
                    </a:ext>
                  </a:extLst>
                </p:cNvPr>
                <p:cNvSpPr/>
                <p:nvPr/>
              </p:nvSpPr>
              <p:spPr>
                <a:xfrm>
                  <a:off x="6483013" y="1140005"/>
                  <a:ext cx="594906"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200" i="1" smtClean="0">
                                <a:latin typeface="Cambria Math" panose="02040503050406030204" pitchFamily="18" charset="0"/>
                              </a:rPr>
                            </m:ctrlPr>
                          </m:dPr>
                          <m:e>
                            <m:r>
                              <a:rPr lang="sr-Latn-RS" sz="2200" b="0" i="1" smtClean="0">
                                <a:latin typeface="Cambria Math" panose="02040503050406030204" pitchFamily="18" charset="0"/>
                              </a:rPr>
                              <m:t>0</m:t>
                            </m:r>
                          </m:e>
                        </m:d>
                      </m:oMath>
                    </m:oMathPara>
                  </a14:m>
                  <a:endParaRPr lang="en-US" sz="2200" dirty="0"/>
                </a:p>
              </p:txBody>
            </p:sp>
          </mc:Choice>
          <mc:Fallback xmlns="">
            <p:sp>
              <p:nvSpPr>
                <p:cNvPr id="33" name="Rectangle 32">
                  <a:extLst>
                    <a:ext uri="{FF2B5EF4-FFF2-40B4-BE49-F238E27FC236}">
                      <a16:creationId xmlns:a16="http://schemas.microsoft.com/office/drawing/2014/main" id="{6769522F-1188-0842-B697-BBD3EFB4F2E4}"/>
                    </a:ext>
                  </a:extLst>
                </p:cNvPr>
                <p:cNvSpPr>
                  <a:spLocks noRot="1" noChangeAspect="1" noMove="1" noResize="1" noEditPoints="1" noAdjustHandles="1" noChangeArrowheads="1" noChangeShapeType="1" noTextEdit="1"/>
                </p:cNvSpPr>
                <p:nvPr/>
              </p:nvSpPr>
              <p:spPr>
                <a:xfrm>
                  <a:off x="6483013" y="1140005"/>
                  <a:ext cx="594906" cy="43088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83BC46DD-EB1E-8B4F-9B84-5EB10FDA6175}"/>
                    </a:ext>
                  </a:extLst>
                </p:cNvPr>
                <p:cNvSpPr/>
                <p:nvPr/>
              </p:nvSpPr>
              <p:spPr>
                <a:xfrm>
                  <a:off x="6464042" y="2129710"/>
                  <a:ext cx="594906"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200" i="1" smtClean="0">
                                <a:latin typeface="Cambria Math" panose="02040503050406030204" pitchFamily="18" charset="0"/>
                              </a:rPr>
                            </m:ctrlPr>
                          </m:dPr>
                          <m:e>
                            <m:r>
                              <a:rPr lang="sr-Latn-RS" sz="2200" b="0" i="1" smtClean="0">
                                <a:latin typeface="Cambria Math" panose="02040503050406030204" pitchFamily="18" charset="0"/>
                              </a:rPr>
                              <m:t>0</m:t>
                            </m:r>
                          </m:e>
                        </m:d>
                      </m:oMath>
                    </m:oMathPara>
                  </a14:m>
                  <a:endParaRPr lang="en-US" sz="2200" dirty="0"/>
                </a:p>
              </p:txBody>
            </p:sp>
          </mc:Choice>
          <mc:Fallback xmlns="">
            <p:sp>
              <p:nvSpPr>
                <p:cNvPr id="34" name="Rectangle 33">
                  <a:extLst>
                    <a:ext uri="{FF2B5EF4-FFF2-40B4-BE49-F238E27FC236}">
                      <a16:creationId xmlns:a16="http://schemas.microsoft.com/office/drawing/2014/main" id="{83BC46DD-EB1E-8B4F-9B84-5EB10FDA6175}"/>
                    </a:ext>
                  </a:extLst>
                </p:cNvPr>
                <p:cNvSpPr>
                  <a:spLocks noRot="1" noChangeAspect="1" noMove="1" noResize="1" noEditPoints="1" noAdjustHandles="1" noChangeArrowheads="1" noChangeShapeType="1" noTextEdit="1"/>
                </p:cNvSpPr>
                <p:nvPr/>
              </p:nvSpPr>
              <p:spPr>
                <a:xfrm>
                  <a:off x="6464042" y="2129710"/>
                  <a:ext cx="594906" cy="43088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A3B29E30-5CD9-9D48-9FB1-1C98BB5CC46D}"/>
                    </a:ext>
                  </a:extLst>
                </p:cNvPr>
                <p:cNvSpPr/>
                <p:nvPr/>
              </p:nvSpPr>
              <p:spPr>
                <a:xfrm>
                  <a:off x="6445071" y="3119415"/>
                  <a:ext cx="594906"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200" i="1" smtClean="0">
                                <a:latin typeface="Cambria Math" panose="02040503050406030204" pitchFamily="18" charset="0"/>
                              </a:rPr>
                            </m:ctrlPr>
                          </m:dPr>
                          <m:e>
                            <m:r>
                              <a:rPr lang="en-US" sz="2200" b="0" i="1" smtClean="0">
                                <a:latin typeface="Cambria Math" panose="02040503050406030204" pitchFamily="18" charset="0"/>
                              </a:rPr>
                              <m:t>0</m:t>
                            </m:r>
                          </m:e>
                        </m:d>
                      </m:oMath>
                    </m:oMathPara>
                  </a14:m>
                  <a:endParaRPr lang="en-US" sz="2200" dirty="0"/>
                </a:p>
              </p:txBody>
            </p:sp>
          </mc:Choice>
          <mc:Fallback xmlns="">
            <p:sp>
              <p:nvSpPr>
                <p:cNvPr id="35" name="Rectangle 34">
                  <a:extLst>
                    <a:ext uri="{FF2B5EF4-FFF2-40B4-BE49-F238E27FC236}">
                      <a16:creationId xmlns:a16="http://schemas.microsoft.com/office/drawing/2014/main" id="{A3B29E30-5CD9-9D48-9FB1-1C98BB5CC46D}"/>
                    </a:ext>
                  </a:extLst>
                </p:cNvPr>
                <p:cNvSpPr>
                  <a:spLocks noRot="1" noChangeAspect="1" noMove="1" noResize="1" noEditPoints="1" noAdjustHandles="1" noChangeArrowheads="1" noChangeShapeType="1" noTextEdit="1"/>
                </p:cNvSpPr>
                <p:nvPr/>
              </p:nvSpPr>
              <p:spPr>
                <a:xfrm>
                  <a:off x="6445071" y="3119415"/>
                  <a:ext cx="594906" cy="43088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D343598A-242B-D748-AD00-D6D1C5B81E0E}"/>
                    </a:ext>
                  </a:extLst>
                </p:cNvPr>
                <p:cNvSpPr/>
                <p:nvPr/>
              </p:nvSpPr>
              <p:spPr>
                <a:xfrm>
                  <a:off x="10867874" y="2788772"/>
                  <a:ext cx="996427"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ZA" sz="2200" i="1">
                                <a:latin typeface="Cambria Math" panose="02040503050406030204" pitchFamily="18" charset="0"/>
                              </a:rPr>
                            </m:ctrlPr>
                          </m:dPr>
                          <m:e>
                            <m:r>
                              <a:rPr lang="sr-Latn-RS" sz="2200" i="1">
                                <a:latin typeface="Cambria Math" panose="02040503050406030204" pitchFamily="18" charset="0"/>
                              </a:rPr>
                              <m:t>𝑓</m:t>
                            </m:r>
                            <m:r>
                              <a:rPr lang="sr-Latn-RS" sz="2200" i="1">
                                <a:latin typeface="Cambria Math" panose="02040503050406030204" pitchFamily="18" charset="0"/>
                              </a:rPr>
                              <m:t>(</m:t>
                            </m:r>
                            <m:r>
                              <a:rPr lang="sr-Latn-RS" sz="2200" i="1">
                                <a:latin typeface="Cambria Math" panose="02040503050406030204" pitchFamily="18" charset="0"/>
                              </a:rPr>
                              <m:t>𝑥</m:t>
                            </m:r>
                            <m:r>
                              <a:rPr lang="sr-Latn-RS" sz="2200" i="1">
                                <a:latin typeface="Cambria Math" panose="02040503050406030204" pitchFamily="18" charset="0"/>
                              </a:rPr>
                              <m:t>)</m:t>
                            </m:r>
                          </m:e>
                        </m:d>
                      </m:oMath>
                    </m:oMathPara>
                  </a14:m>
                  <a:endParaRPr lang="en-US" sz="2200" dirty="0"/>
                </a:p>
              </p:txBody>
            </p:sp>
          </mc:Choice>
          <mc:Fallback xmlns="">
            <p:sp>
              <p:nvSpPr>
                <p:cNvPr id="36" name="Rectangle 35">
                  <a:extLst>
                    <a:ext uri="{FF2B5EF4-FFF2-40B4-BE49-F238E27FC236}">
                      <a16:creationId xmlns:a16="http://schemas.microsoft.com/office/drawing/2014/main" id="{D343598A-242B-D748-AD00-D6D1C5B81E0E}"/>
                    </a:ext>
                  </a:extLst>
                </p:cNvPr>
                <p:cNvSpPr>
                  <a:spLocks noRot="1" noChangeAspect="1" noMove="1" noResize="1" noEditPoints="1" noAdjustHandles="1" noChangeArrowheads="1" noChangeShapeType="1" noTextEdit="1"/>
                </p:cNvSpPr>
                <p:nvPr/>
              </p:nvSpPr>
              <p:spPr>
                <a:xfrm>
                  <a:off x="10867874" y="2788772"/>
                  <a:ext cx="996427" cy="430887"/>
                </a:xfrm>
                <a:prstGeom prst="rect">
                  <a:avLst/>
                </a:prstGeom>
                <a:blipFill>
                  <a:blip r:embed="rId10"/>
                  <a:stretch>
                    <a:fillRect b="-17143"/>
                  </a:stretch>
                </a:blipFill>
              </p:spPr>
              <p:txBody>
                <a:bodyPr/>
                <a:lstStyle/>
                <a:p>
                  <a:r>
                    <a:rPr lang="en-US">
                      <a:noFill/>
                    </a:rPr>
                    <a:t> </a:t>
                  </a:r>
                </a:p>
              </p:txBody>
            </p:sp>
          </mc:Fallback>
        </mc:AlternateContent>
        <p:sp>
          <p:nvSpPr>
            <p:cNvPr id="39" name="Rectangle 38">
              <a:extLst>
                <a:ext uri="{FF2B5EF4-FFF2-40B4-BE49-F238E27FC236}">
                  <a16:creationId xmlns:a16="http://schemas.microsoft.com/office/drawing/2014/main" id="{E784B679-FA1B-524A-A210-9C69C4026EF0}"/>
                </a:ext>
              </a:extLst>
            </p:cNvPr>
            <p:cNvSpPr/>
            <p:nvPr/>
          </p:nvSpPr>
          <p:spPr>
            <a:xfrm>
              <a:off x="7371130" y="1032174"/>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sp>
          <p:nvSpPr>
            <p:cNvPr id="40" name="Rectangle 39">
              <a:extLst>
                <a:ext uri="{FF2B5EF4-FFF2-40B4-BE49-F238E27FC236}">
                  <a16:creationId xmlns:a16="http://schemas.microsoft.com/office/drawing/2014/main" id="{E470C449-6379-A644-BDDE-F99F6ED393B1}"/>
                </a:ext>
              </a:extLst>
            </p:cNvPr>
            <p:cNvSpPr/>
            <p:nvPr/>
          </p:nvSpPr>
          <p:spPr>
            <a:xfrm>
              <a:off x="7371130" y="2005452"/>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pic>
          <p:nvPicPr>
            <p:cNvPr id="41" name="Picture 40">
              <a:extLst>
                <a:ext uri="{FF2B5EF4-FFF2-40B4-BE49-F238E27FC236}">
                  <a16:creationId xmlns:a16="http://schemas.microsoft.com/office/drawing/2014/main" id="{465C4E29-D794-2141-8F8E-B60E4A8963A4}"/>
                </a:ext>
              </a:extLst>
            </p:cNvPr>
            <p:cNvPicPr>
              <a:picLocks noChangeAspect="1"/>
            </p:cNvPicPr>
            <p:nvPr/>
          </p:nvPicPr>
          <p:blipFill>
            <a:blip r:embed="rId11"/>
            <a:stretch>
              <a:fillRect/>
            </a:stretch>
          </p:blipFill>
          <p:spPr>
            <a:xfrm>
              <a:off x="7039977" y="4017016"/>
              <a:ext cx="4521200" cy="2730500"/>
            </a:xfrm>
            <a:prstGeom prst="rect">
              <a:avLst/>
            </a:prstGeom>
          </p:spPr>
        </p:pic>
      </p:grpSp>
      <p:pic>
        <p:nvPicPr>
          <p:cNvPr id="42" name="Picture 41">
            <a:extLst>
              <a:ext uri="{FF2B5EF4-FFF2-40B4-BE49-F238E27FC236}">
                <a16:creationId xmlns:a16="http://schemas.microsoft.com/office/drawing/2014/main" id="{6C5CF9F8-75C0-904A-928A-2357BD16C944}"/>
              </a:ext>
            </a:extLst>
          </p:cNvPr>
          <p:cNvPicPr>
            <a:picLocks noChangeAspect="1"/>
          </p:cNvPicPr>
          <p:nvPr/>
        </p:nvPicPr>
        <p:blipFill>
          <a:blip r:embed="rId12"/>
          <a:stretch>
            <a:fillRect/>
          </a:stretch>
        </p:blipFill>
        <p:spPr>
          <a:xfrm>
            <a:off x="524601" y="4058623"/>
            <a:ext cx="4521200" cy="2730500"/>
          </a:xfrm>
          <a:prstGeom prst="rect">
            <a:avLst/>
          </a:prstGeom>
        </p:spPr>
      </p:pic>
    </p:spTree>
    <p:extLst>
      <p:ext uri="{BB962C8B-B14F-4D97-AF65-F5344CB8AC3E}">
        <p14:creationId xmlns:p14="http://schemas.microsoft.com/office/powerpoint/2010/main" val="4085137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dissolve">
                                      <p:cBhvr>
                                        <p:cTn id="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0BA9879-3B41-6848-9B2C-FA064A20B71C}"/>
              </a:ext>
            </a:extLst>
          </p:cNvPr>
          <p:cNvPicPr>
            <a:picLocks noChangeAspect="1"/>
          </p:cNvPicPr>
          <p:nvPr/>
        </p:nvPicPr>
        <p:blipFill>
          <a:blip r:embed="rId3"/>
          <a:stretch>
            <a:fillRect/>
          </a:stretch>
        </p:blipFill>
        <p:spPr>
          <a:xfrm>
            <a:off x="4381405" y="692013"/>
            <a:ext cx="2578100" cy="3162300"/>
          </a:xfrm>
          <a:prstGeom prst="rect">
            <a:avLst/>
          </a:prstGeom>
        </p:spPr>
      </p:pic>
      <p:pic>
        <p:nvPicPr>
          <p:cNvPr id="7" name="Picture 6">
            <a:extLst>
              <a:ext uri="{FF2B5EF4-FFF2-40B4-BE49-F238E27FC236}">
                <a16:creationId xmlns:a16="http://schemas.microsoft.com/office/drawing/2014/main" id="{2E75FD4D-61BC-3444-87CB-2A95C60352B7}"/>
              </a:ext>
            </a:extLst>
          </p:cNvPr>
          <p:cNvPicPr>
            <a:picLocks noChangeAspect="1"/>
          </p:cNvPicPr>
          <p:nvPr/>
        </p:nvPicPr>
        <p:blipFill>
          <a:blip r:embed="rId4"/>
          <a:stretch>
            <a:fillRect/>
          </a:stretch>
        </p:blipFill>
        <p:spPr>
          <a:xfrm>
            <a:off x="2629958" y="561385"/>
            <a:ext cx="3502894" cy="5614747"/>
          </a:xfrm>
          <a:prstGeom prst="rect">
            <a:avLst/>
          </a:prstGeom>
        </p:spPr>
      </p:pic>
      <p:sp>
        <p:nvSpPr>
          <p:cNvPr id="8" name="TextBox 7">
            <a:extLst>
              <a:ext uri="{FF2B5EF4-FFF2-40B4-BE49-F238E27FC236}">
                <a16:creationId xmlns:a16="http://schemas.microsoft.com/office/drawing/2014/main" id="{CAA6324D-768C-F244-B63D-7D965E647570}"/>
              </a:ext>
            </a:extLst>
          </p:cNvPr>
          <p:cNvSpPr txBox="1"/>
          <p:nvPr/>
        </p:nvSpPr>
        <p:spPr>
          <a:xfrm>
            <a:off x="7358160" y="1745719"/>
            <a:ext cx="3417923" cy="1938992"/>
          </a:xfrm>
          <a:prstGeom prst="rect">
            <a:avLst/>
          </a:prstGeom>
          <a:noFill/>
        </p:spPr>
        <p:txBody>
          <a:bodyPr wrap="none" rtlCol="0">
            <a:spAutoFit/>
          </a:bodyPr>
          <a:lstStyle/>
          <a:p>
            <a:pPr algn="ctr"/>
            <a:r>
              <a:rPr lang="en-US" sz="6000" dirty="0">
                <a:latin typeface="Comic Sans MS" panose="030F0902030302020204" pitchFamily="66" charset="0"/>
              </a:rPr>
              <a:t>Quantum</a:t>
            </a:r>
          </a:p>
          <a:p>
            <a:pPr algn="ctr"/>
            <a:r>
              <a:rPr lang="en-US" sz="6000" dirty="0">
                <a:latin typeface="Comic Sans MS" panose="030F0902030302020204" pitchFamily="66" charset="0"/>
              </a:rPr>
              <a:t>oracle</a:t>
            </a:r>
          </a:p>
        </p:txBody>
      </p:sp>
      <p:pic>
        <p:nvPicPr>
          <p:cNvPr id="9" name="Picture 8">
            <a:extLst>
              <a:ext uri="{FF2B5EF4-FFF2-40B4-BE49-F238E27FC236}">
                <a16:creationId xmlns:a16="http://schemas.microsoft.com/office/drawing/2014/main" id="{2B6B0503-4F7A-8347-8CA7-1147CAA4C71B}"/>
              </a:ext>
            </a:extLst>
          </p:cNvPr>
          <p:cNvPicPr>
            <a:picLocks noChangeAspect="1"/>
          </p:cNvPicPr>
          <p:nvPr/>
        </p:nvPicPr>
        <p:blipFill>
          <a:blip r:embed="rId5"/>
          <a:stretch>
            <a:fillRect/>
          </a:stretch>
        </p:blipFill>
        <p:spPr>
          <a:xfrm>
            <a:off x="1542550" y="3054350"/>
            <a:ext cx="2653943" cy="3302000"/>
          </a:xfrm>
          <a:prstGeom prst="rect">
            <a:avLst/>
          </a:prstGeom>
        </p:spPr>
      </p:pic>
      <p:pic>
        <p:nvPicPr>
          <p:cNvPr id="2" name="Picture 1">
            <a:extLst>
              <a:ext uri="{FF2B5EF4-FFF2-40B4-BE49-F238E27FC236}">
                <a16:creationId xmlns:a16="http://schemas.microsoft.com/office/drawing/2014/main" id="{13A8D825-C8A4-ED47-924F-91EB368CCA9A}"/>
              </a:ext>
            </a:extLst>
          </p:cNvPr>
          <p:cNvPicPr>
            <a:picLocks noChangeAspect="1"/>
          </p:cNvPicPr>
          <p:nvPr/>
        </p:nvPicPr>
        <p:blipFill>
          <a:blip r:embed="rId6"/>
          <a:stretch>
            <a:fillRect/>
          </a:stretch>
        </p:blipFill>
        <p:spPr>
          <a:xfrm>
            <a:off x="1542550" y="2912534"/>
            <a:ext cx="2286000" cy="1155700"/>
          </a:xfrm>
          <a:prstGeom prst="rect">
            <a:avLst/>
          </a:prstGeom>
        </p:spPr>
      </p:pic>
      <p:sp>
        <p:nvSpPr>
          <p:cNvPr id="10" name="Slide Number Placeholder 2">
            <a:extLst>
              <a:ext uri="{FF2B5EF4-FFF2-40B4-BE49-F238E27FC236}">
                <a16:creationId xmlns:a16="http://schemas.microsoft.com/office/drawing/2014/main" id="{1C365CD7-3267-2347-9C79-2CACEFB03EF1}"/>
              </a:ext>
            </a:extLst>
          </p:cNvPr>
          <p:cNvSpPr>
            <a:spLocks noGrp="1"/>
          </p:cNvSpPr>
          <p:nvPr>
            <p:ph type="sldNum" sz="quarter" idx="12"/>
          </p:nvPr>
        </p:nvSpPr>
        <p:spPr>
          <a:xfrm>
            <a:off x="0" y="6492875"/>
            <a:ext cx="587829" cy="365125"/>
          </a:xfrm>
        </p:spPr>
        <p:txBody>
          <a:bodyPr/>
          <a:lstStyle/>
          <a:p>
            <a:fld id="{591A223C-FA10-BC46-A853-03BA373D023C}" type="slidenum">
              <a:rPr lang="en-US" smtClean="0"/>
              <a:t>20</a:t>
            </a:fld>
            <a:endParaRPr lang="en-US"/>
          </a:p>
        </p:txBody>
      </p:sp>
    </p:spTree>
    <p:extLst>
      <p:ext uri="{BB962C8B-B14F-4D97-AF65-F5344CB8AC3E}">
        <p14:creationId xmlns:p14="http://schemas.microsoft.com/office/powerpoint/2010/main" val="785656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C9BEC7B-F4DB-9E48-B6C5-A9DFFDD8549B}"/>
              </a:ext>
            </a:extLst>
          </p:cNvPr>
          <p:cNvSpPr>
            <a:spLocks noGrp="1"/>
          </p:cNvSpPr>
          <p:nvPr>
            <p:ph type="title"/>
          </p:nvPr>
        </p:nvSpPr>
        <p:spPr/>
        <p:txBody>
          <a:bodyPr>
            <a:normAutofit/>
          </a:bodyPr>
          <a:lstStyle/>
          <a:p>
            <a:r>
              <a:rPr lang="en-ZA" dirty="0"/>
              <a:t>Oracle as a Black Box</a:t>
            </a:r>
            <a:endParaRPr lang="en-US" dirty="0"/>
          </a:p>
        </p:txBody>
      </p:sp>
      <p:sp>
        <p:nvSpPr>
          <p:cNvPr id="3" name="Slide Number Placeholder 2">
            <a:extLst>
              <a:ext uri="{FF2B5EF4-FFF2-40B4-BE49-F238E27FC236}">
                <a16:creationId xmlns:a16="http://schemas.microsoft.com/office/drawing/2014/main" id="{0715B3C2-688F-794C-8F03-169E25AA4299}"/>
              </a:ext>
            </a:extLst>
          </p:cNvPr>
          <p:cNvSpPr>
            <a:spLocks noGrp="1"/>
          </p:cNvSpPr>
          <p:nvPr>
            <p:ph type="sldNum" sz="quarter" idx="12"/>
          </p:nvPr>
        </p:nvSpPr>
        <p:spPr/>
        <p:txBody>
          <a:bodyPr/>
          <a:lstStyle/>
          <a:p>
            <a:fld id="{591A223C-FA10-BC46-A853-03BA373D023C}" type="slidenum">
              <a:rPr lang="en-US" smtClean="0"/>
              <a:t>21</a:t>
            </a:fld>
            <a:endParaRPr lang="en-US"/>
          </a:p>
        </p:txBody>
      </p:sp>
      <p:sp>
        <p:nvSpPr>
          <p:cNvPr id="5" name="Rounded Rectangle 4">
            <a:extLst>
              <a:ext uri="{FF2B5EF4-FFF2-40B4-BE49-F238E27FC236}">
                <a16:creationId xmlns:a16="http://schemas.microsoft.com/office/drawing/2014/main" id="{7387765A-AB1A-2946-AC1F-F9AF8DCBC227}"/>
              </a:ext>
            </a:extLst>
          </p:cNvPr>
          <p:cNvSpPr/>
          <p:nvPr/>
        </p:nvSpPr>
        <p:spPr>
          <a:xfrm>
            <a:off x="3042459" y="3052542"/>
            <a:ext cx="1778924" cy="89777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i="1" dirty="0">
                <a:solidFill>
                  <a:schemeClr val="bg1"/>
                </a:solidFill>
                <a:latin typeface="Times" pitchFamily="2" charset="0"/>
              </a:rPr>
              <a:t>f(x)</a:t>
            </a:r>
          </a:p>
        </p:txBody>
      </p:sp>
      <p:sp>
        <p:nvSpPr>
          <p:cNvPr id="6" name="Right Arrow 5">
            <a:extLst>
              <a:ext uri="{FF2B5EF4-FFF2-40B4-BE49-F238E27FC236}">
                <a16:creationId xmlns:a16="http://schemas.microsoft.com/office/drawing/2014/main" id="{D9372163-6EAB-1548-839E-E43C3BD01F27}"/>
              </a:ext>
            </a:extLst>
          </p:cNvPr>
          <p:cNvSpPr/>
          <p:nvPr/>
        </p:nvSpPr>
        <p:spPr>
          <a:xfrm>
            <a:off x="2028306" y="3310236"/>
            <a:ext cx="864524" cy="3823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a:extLst>
              <a:ext uri="{FF2B5EF4-FFF2-40B4-BE49-F238E27FC236}">
                <a16:creationId xmlns:a16="http://schemas.microsoft.com/office/drawing/2014/main" id="{7CE9EFE3-2058-BF42-BB32-91E54CF104E6}"/>
              </a:ext>
            </a:extLst>
          </p:cNvPr>
          <p:cNvSpPr/>
          <p:nvPr/>
        </p:nvSpPr>
        <p:spPr>
          <a:xfrm>
            <a:off x="4923906" y="3310235"/>
            <a:ext cx="864524" cy="3823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5E73542-D04B-324A-944E-3E810F73C68D}"/>
              </a:ext>
            </a:extLst>
          </p:cNvPr>
          <p:cNvSpPr txBox="1"/>
          <p:nvPr/>
        </p:nvSpPr>
        <p:spPr>
          <a:xfrm>
            <a:off x="1513491" y="3052542"/>
            <a:ext cx="412292" cy="707886"/>
          </a:xfrm>
          <a:prstGeom prst="rect">
            <a:avLst/>
          </a:prstGeom>
          <a:noFill/>
        </p:spPr>
        <p:txBody>
          <a:bodyPr wrap="none" rtlCol="0">
            <a:spAutoFit/>
          </a:bodyPr>
          <a:lstStyle/>
          <a:p>
            <a:r>
              <a:rPr lang="en-US" sz="4000" i="1" dirty="0">
                <a:latin typeface="Times" pitchFamily="2" charset="0"/>
              </a:rPr>
              <a:t>x</a:t>
            </a:r>
          </a:p>
        </p:txBody>
      </p:sp>
      <p:sp>
        <p:nvSpPr>
          <p:cNvPr id="10" name="TextBox 9">
            <a:extLst>
              <a:ext uri="{FF2B5EF4-FFF2-40B4-BE49-F238E27FC236}">
                <a16:creationId xmlns:a16="http://schemas.microsoft.com/office/drawing/2014/main" id="{350AD116-C30C-7C4F-8DA1-87F0CEE2AC7E}"/>
              </a:ext>
            </a:extLst>
          </p:cNvPr>
          <p:cNvSpPr txBox="1"/>
          <p:nvPr/>
        </p:nvSpPr>
        <p:spPr>
          <a:xfrm>
            <a:off x="1925783" y="2488652"/>
            <a:ext cx="954107" cy="523220"/>
          </a:xfrm>
          <a:prstGeom prst="rect">
            <a:avLst/>
          </a:prstGeom>
          <a:noFill/>
        </p:spPr>
        <p:txBody>
          <a:bodyPr wrap="none" rtlCol="0">
            <a:spAutoFit/>
          </a:bodyPr>
          <a:lstStyle/>
          <a:p>
            <a:r>
              <a:rPr lang="en-US" sz="2800" dirty="0"/>
              <a:t>input</a:t>
            </a:r>
          </a:p>
        </p:txBody>
      </p:sp>
      <p:sp>
        <p:nvSpPr>
          <p:cNvPr id="11" name="TextBox 10">
            <a:extLst>
              <a:ext uri="{FF2B5EF4-FFF2-40B4-BE49-F238E27FC236}">
                <a16:creationId xmlns:a16="http://schemas.microsoft.com/office/drawing/2014/main" id="{7161F36E-C1E9-F946-8ED5-57CC9BC9ECD9}"/>
              </a:ext>
            </a:extLst>
          </p:cNvPr>
          <p:cNvSpPr txBox="1"/>
          <p:nvPr/>
        </p:nvSpPr>
        <p:spPr>
          <a:xfrm>
            <a:off x="3207261" y="2488652"/>
            <a:ext cx="1074974" cy="523220"/>
          </a:xfrm>
          <a:prstGeom prst="rect">
            <a:avLst/>
          </a:prstGeom>
          <a:noFill/>
        </p:spPr>
        <p:txBody>
          <a:bodyPr wrap="none" rtlCol="0">
            <a:spAutoFit/>
          </a:bodyPr>
          <a:lstStyle/>
          <a:p>
            <a:r>
              <a:rPr lang="en-US" sz="2800" dirty="0"/>
              <a:t>oracle</a:t>
            </a:r>
          </a:p>
        </p:txBody>
      </p:sp>
      <p:sp>
        <p:nvSpPr>
          <p:cNvPr id="12" name="TextBox 11">
            <a:extLst>
              <a:ext uri="{FF2B5EF4-FFF2-40B4-BE49-F238E27FC236}">
                <a16:creationId xmlns:a16="http://schemas.microsoft.com/office/drawing/2014/main" id="{2BC60CBC-9F71-3449-95BF-38BC24AEB5D1}"/>
              </a:ext>
            </a:extLst>
          </p:cNvPr>
          <p:cNvSpPr txBox="1"/>
          <p:nvPr/>
        </p:nvSpPr>
        <p:spPr>
          <a:xfrm>
            <a:off x="4821780" y="2488652"/>
            <a:ext cx="1181734" cy="523220"/>
          </a:xfrm>
          <a:prstGeom prst="rect">
            <a:avLst/>
          </a:prstGeom>
          <a:noFill/>
        </p:spPr>
        <p:txBody>
          <a:bodyPr wrap="none" rtlCol="0">
            <a:spAutoFit/>
          </a:bodyPr>
          <a:lstStyle/>
          <a:p>
            <a:r>
              <a:rPr lang="en-US" sz="2800" dirty="0"/>
              <a:t>output</a:t>
            </a: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663E5D79-D196-D544-A495-106349EB383F}"/>
                  </a:ext>
                </a:extLst>
              </p:cNvPr>
              <p:cNvSpPr/>
              <p:nvPr/>
            </p:nvSpPr>
            <p:spPr>
              <a:xfrm>
                <a:off x="6431952" y="3821753"/>
                <a:ext cx="5208669" cy="10534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𝑓</m:t>
                      </m:r>
                      <m:d>
                        <m:dPr>
                          <m:ctrlPr>
                            <a:rPr lang="en-US" sz="2800" i="1">
                              <a:latin typeface="Cambria Math" panose="02040503050406030204" pitchFamily="18" charset="0"/>
                            </a:rPr>
                          </m:ctrlPr>
                        </m:dPr>
                        <m:e>
                          <m:r>
                            <a:rPr lang="en-US" sz="2800" i="1">
                              <a:latin typeface="Cambria Math" panose="02040503050406030204" pitchFamily="18" charset="0"/>
                            </a:rPr>
                            <m:t>𝑥</m:t>
                          </m:r>
                        </m:e>
                      </m:d>
                      <m:r>
                        <a:rPr lang="en-US" sz="2800" i="0">
                          <a:latin typeface="Cambria Math" panose="02040503050406030204" pitchFamily="18" charset="0"/>
                        </a:rPr>
                        <m:t>=</m:t>
                      </m:r>
                      <m:d>
                        <m:dPr>
                          <m:begChr m:val="{"/>
                          <m:endChr m:val=""/>
                          <m:ctrlPr>
                            <a:rPr lang="en-US" sz="2800" i="1">
                              <a:latin typeface="Cambria Math" panose="02040503050406030204" pitchFamily="18" charset="0"/>
                            </a:rPr>
                          </m:ctrlPr>
                        </m:dPr>
                        <m:e>
                          <m:m>
                            <m:mPr>
                              <m:plcHide m:val="on"/>
                              <m:mcs>
                                <m:mc>
                                  <m:mcPr>
                                    <m:count m:val="2"/>
                                    <m:mcJc m:val="center"/>
                                  </m:mcPr>
                                </m:mc>
                              </m:mcs>
                              <m:ctrlPr>
                                <a:rPr lang="en-US" sz="2800" i="1">
                                  <a:latin typeface="Cambria Math" panose="02040503050406030204" pitchFamily="18" charset="0"/>
                                </a:rPr>
                              </m:ctrlPr>
                            </m:mPr>
                            <m:mr>
                              <m:e>
                                <m:r>
                                  <a:rPr lang="en-US" sz="2800" i="0">
                                    <a:latin typeface="Cambria Math" panose="02040503050406030204" pitchFamily="18" charset="0"/>
                                  </a:rPr>
                                  <m:t>1</m:t>
                                </m:r>
                              </m:e>
                              <m:e>
                                <m:r>
                                  <a:rPr lang="en-US" sz="2800" i="0">
                                    <a:latin typeface="Cambria Math" panose="02040503050406030204" pitchFamily="18" charset="0"/>
                                  </a:rPr>
                                  <m:t> </m:t>
                                </m:r>
                                <m:r>
                                  <a:rPr lang="en-US" sz="2800" i="1">
                                    <a:latin typeface="Cambria Math" panose="02040503050406030204" pitchFamily="18" charset="0"/>
                                  </a:rPr>
                                  <m:t>𝑥</m:t>
                                </m:r>
                                <m:r>
                                  <a:rPr lang="en-US" sz="2800" i="0">
                                    <a:latin typeface="Cambria Math" panose="02040503050406030204" pitchFamily="18" charset="0"/>
                                  </a:rPr>
                                  <m:t> </m:t>
                                </m:r>
                                <m:r>
                                  <m:rPr>
                                    <m:sty m:val="p"/>
                                  </m:rPr>
                                  <a:rPr lang="en-US" sz="2800" b="0" i="0" smtClean="0">
                                    <a:latin typeface="Cambria Math" panose="02040503050406030204" pitchFamily="18" charset="0"/>
                                  </a:rPr>
                                  <m:t>is</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the</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solution</m:t>
                                </m:r>
                              </m:e>
                            </m:mr>
                            <m:mr>
                              <m:e>
                                <m:r>
                                  <a:rPr lang="en-US" sz="2800" i="0">
                                    <a:latin typeface="Cambria Math" panose="02040503050406030204" pitchFamily="18" charset="0"/>
                                  </a:rPr>
                                  <m:t>0</m:t>
                                </m:r>
                              </m:e>
                              <m:e>
                                <m:r>
                                  <a:rPr lang="en-US" sz="2800" i="1">
                                    <a:latin typeface="Cambria Math" panose="02040503050406030204" pitchFamily="18" charset="0"/>
                                  </a:rPr>
                                  <m:t>𝑥</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is</m:t>
                                </m:r>
                                <m:r>
                                  <a:rPr lang="en-US" sz="2800">
                                    <a:latin typeface="Cambria Math" panose="02040503050406030204" pitchFamily="18" charset="0"/>
                                  </a:rPr>
                                  <m:t> </m:t>
                                </m:r>
                                <m:r>
                                  <m:rPr>
                                    <m:sty m:val="p"/>
                                  </m:rPr>
                                  <a:rPr lang="en-US" sz="2800" b="0" i="0" smtClean="0">
                                    <a:latin typeface="Cambria Math" panose="02040503050406030204" pitchFamily="18" charset="0"/>
                                  </a:rPr>
                                  <m:t>not</m:t>
                                </m:r>
                                <m:r>
                                  <a:rPr lang="en-US" sz="2800" b="0" i="0" smtClean="0">
                                    <a:latin typeface="Cambria Math" panose="02040503050406030204" pitchFamily="18" charset="0"/>
                                  </a:rPr>
                                  <m:t> </m:t>
                                </m:r>
                                <m:r>
                                  <m:rPr>
                                    <m:sty m:val="p"/>
                                  </m:rPr>
                                  <a:rPr lang="en-US" sz="2800">
                                    <a:latin typeface="Cambria Math" panose="02040503050406030204" pitchFamily="18" charset="0"/>
                                  </a:rPr>
                                  <m:t>the</m:t>
                                </m:r>
                                <m:r>
                                  <a:rPr lang="en-US" sz="2800">
                                    <a:latin typeface="Cambria Math" panose="02040503050406030204" pitchFamily="18" charset="0"/>
                                  </a:rPr>
                                  <m:t> </m:t>
                                </m:r>
                                <m:r>
                                  <m:rPr>
                                    <m:sty m:val="p"/>
                                  </m:rPr>
                                  <a:rPr lang="en-US" sz="2800">
                                    <a:latin typeface="Cambria Math" panose="02040503050406030204" pitchFamily="18" charset="0"/>
                                  </a:rPr>
                                  <m:t>solution</m:t>
                                </m:r>
                              </m:e>
                            </m:mr>
                          </m:m>
                        </m:e>
                      </m:d>
                    </m:oMath>
                  </m:oMathPara>
                </a14:m>
                <a:endParaRPr lang="en-US" sz="2800" dirty="0"/>
              </a:p>
            </p:txBody>
          </p:sp>
        </mc:Choice>
        <mc:Fallback xmlns="">
          <p:sp>
            <p:nvSpPr>
              <p:cNvPr id="13" name="Rectangle 12">
                <a:extLst>
                  <a:ext uri="{FF2B5EF4-FFF2-40B4-BE49-F238E27FC236}">
                    <a16:creationId xmlns:a16="http://schemas.microsoft.com/office/drawing/2014/main" id="{663E5D79-D196-D544-A495-106349EB383F}"/>
                  </a:ext>
                </a:extLst>
              </p:cNvPr>
              <p:cNvSpPr>
                <a:spLocks noRot="1" noChangeAspect="1" noMove="1" noResize="1" noEditPoints="1" noAdjustHandles="1" noChangeArrowheads="1" noChangeShapeType="1" noTextEdit="1"/>
              </p:cNvSpPr>
              <p:nvPr/>
            </p:nvSpPr>
            <p:spPr>
              <a:xfrm>
                <a:off x="6431952" y="3821753"/>
                <a:ext cx="5208669" cy="1053494"/>
              </a:xfrm>
              <a:prstGeom prst="rect">
                <a:avLst/>
              </a:prstGeom>
              <a:blipFill>
                <a:blip r:embed="rId3"/>
                <a:stretch>
                  <a:fillRect l="-8981" t="-200000" b="-291667"/>
                </a:stretch>
              </a:blipFill>
            </p:spPr>
            <p:txBody>
              <a:bodyPr/>
              <a:lstStyle/>
              <a:p>
                <a:r>
                  <a:rPr lang="en-US">
                    <a:noFill/>
                  </a:rPr>
                  <a:t> </a:t>
                </a:r>
              </a:p>
            </p:txBody>
          </p:sp>
        </mc:Fallback>
      </mc:AlternateContent>
      <p:sp>
        <p:nvSpPr>
          <p:cNvPr id="14" name="Rectangle 13">
            <a:extLst>
              <a:ext uri="{FF2B5EF4-FFF2-40B4-BE49-F238E27FC236}">
                <a16:creationId xmlns:a16="http://schemas.microsoft.com/office/drawing/2014/main" id="{44DDAD8A-7789-B24A-AFA0-44EB6F11BF39}"/>
              </a:ext>
            </a:extLst>
          </p:cNvPr>
          <p:cNvSpPr/>
          <p:nvPr/>
        </p:nvSpPr>
        <p:spPr>
          <a:xfrm>
            <a:off x="6623143" y="2023096"/>
            <a:ext cx="3061287" cy="523220"/>
          </a:xfrm>
          <a:prstGeom prst="rect">
            <a:avLst/>
          </a:prstGeom>
        </p:spPr>
        <p:txBody>
          <a:bodyPr wrap="none">
            <a:spAutoFit/>
          </a:bodyPr>
          <a:lstStyle/>
          <a:p>
            <a:r>
              <a:rPr lang="en-ZA" sz="2800" dirty="0"/>
              <a:t>1. provides answers</a:t>
            </a:r>
            <a:endParaRPr lang="en-US" sz="2800" dirty="0"/>
          </a:p>
        </p:txBody>
      </p:sp>
      <p:sp>
        <p:nvSpPr>
          <p:cNvPr id="15" name="Left Brace 14">
            <a:extLst>
              <a:ext uri="{FF2B5EF4-FFF2-40B4-BE49-F238E27FC236}">
                <a16:creationId xmlns:a16="http://schemas.microsoft.com/office/drawing/2014/main" id="{D32A22EC-30BE-4F41-BE1C-F0A219ABD05E}"/>
              </a:ext>
            </a:extLst>
          </p:cNvPr>
          <p:cNvSpPr/>
          <p:nvPr/>
        </p:nvSpPr>
        <p:spPr>
          <a:xfrm>
            <a:off x="5948332" y="1782177"/>
            <a:ext cx="514909" cy="3438500"/>
          </a:xfrm>
          <a:prstGeom prst="leftBrace">
            <a:avLst>
              <a:gd name="adj1" fmla="val 4385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459B9D3-910E-8740-9DCA-2E573B7994C5}"/>
                  </a:ext>
                </a:extLst>
              </p:cNvPr>
              <p:cNvSpPr txBox="1"/>
              <p:nvPr/>
            </p:nvSpPr>
            <p:spPr>
              <a:xfrm>
                <a:off x="2603687" y="4274948"/>
                <a:ext cx="286687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𝑥</m:t>
                          </m:r>
                        </m:e>
                      </m:d>
                      <m:r>
                        <a:rPr lang="en-US" sz="2400" i="1">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0,1</m:t>
                              </m:r>
                            </m:e>
                          </m:d>
                        </m:e>
                        <m:sup>
                          <m:r>
                            <a:rPr lang="en-US" sz="2400" i="1">
                              <a:latin typeface="Cambria Math" panose="02040503050406030204" pitchFamily="18" charset="0"/>
                            </a:rPr>
                            <m:t>𝑛</m:t>
                          </m:r>
                        </m:sup>
                      </m:sSup>
                      <m:r>
                        <a:rPr lang="en-US" sz="2400" i="1">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0,1</m:t>
                          </m:r>
                        </m:e>
                      </m:d>
                    </m:oMath>
                  </m:oMathPara>
                </a14:m>
                <a:endParaRPr lang="en-US" sz="2400" dirty="0"/>
              </a:p>
            </p:txBody>
          </p:sp>
        </mc:Choice>
        <mc:Fallback xmlns="">
          <p:sp>
            <p:nvSpPr>
              <p:cNvPr id="2" name="TextBox 1">
                <a:extLst>
                  <a:ext uri="{FF2B5EF4-FFF2-40B4-BE49-F238E27FC236}">
                    <a16:creationId xmlns:a16="http://schemas.microsoft.com/office/drawing/2014/main" id="{7459B9D3-910E-8740-9DCA-2E573B7994C5}"/>
                  </a:ext>
                </a:extLst>
              </p:cNvPr>
              <p:cNvSpPr txBox="1">
                <a:spLocks noRot="1" noChangeAspect="1" noMove="1" noResize="1" noEditPoints="1" noAdjustHandles="1" noChangeArrowheads="1" noChangeShapeType="1" noTextEdit="1"/>
              </p:cNvSpPr>
              <p:nvPr/>
            </p:nvSpPr>
            <p:spPr>
              <a:xfrm>
                <a:off x="2603687" y="4274948"/>
                <a:ext cx="2866875" cy="461665"/>
              </a:xfrm>
              <a:prstGeom prst="rect">
                <a:avLst/>
              </a:prstGeom>
              <a:blipFill>
                <a:blip r:embed="rId5"/>
                <a:stretch>
                  <a:fillRect b="-16216"/>
                </a:stretch>
              </a:blipFill>
            </p:spPr>
            <p:txBody>
              <a:bodyPr/>
              <a:lstStyle/>
              <a:p>
                <a:r>
                  <a:rPr lang="en-US">
                    <a:noFill/>
                  </a:rPr>
                  <a:t> </a:t>
                </a:r>
              </a:p>
            </p:txBody>
          </p:sp>
        </mc:Fallback>
      </mc:AlternateContent>
      <p:sp>
        <p:nvSpPr>
          <p:cNvPr id="17" name="Rectangle 16">
            <a:extLst>
              <a:ext uri="{FF2B5EF4-FFF2-40B4-BE49-F238E27FC236}">
                <a16:creationId xmlns:a16="http://schemas.microsoft.com/office/drawing/2014/main" id="{BC78E0E7-C452-3643-8B97-E98FF6EFFA1F}"/>
              </a:ext>
            </a:extLst>
          </p:cNvPr>
          <p:cNvSpPr/>
          <p:nvPr/>
        </p:nvSpPr>
        <p:spPr>
          <a:xfrm>
            <a:off x="6623143" y="3187561"/>
            <a:ext cx="2638864" cy="523220"/>
          </a:xfrm>
          <a:prstGeom prst="rect">
            <a:avLst/>
          </a:prstGeom>
        </p:spPr>
        <p:txBody>
          <a:bodyPr wrap="none">
            <a:spAutoFit/>
          </a:bodyPr>
          <a:lstStyle/>
          <a:p>
            <a:r>
              <a:rPr lang="en-ZA" sz="2800" dirty="0"/>
              <a:t>2. check solution</a:t>
            </a:r>
            <a:endParaRPr lang="en-US" sz="2800" dirty="0"/>
          </a:p>
        </p:txBody>
      </p:sp>
    </p:spTree>
    <p:extLst>
      <p:ext uri="{BB962C8B-B14F-4D97-AF65-F5344CB8AC3E}">
        <p14:creationId xmlns:p14="http://schemas.microsoft.com/office/powerpoint/2010/main" val="18418902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DC060E10-06A4-7646-AAFD-CD4794DEE1F6}"/>
              </a:ext>
            </a:extLst>
          </p:cNvPr>
          <p:cNvCxnSpPr>
            <a:cxnSpLocks/>
          </p:cNvCxnSpPr>
          <p:nvPr/>
        </p:nvCxnSpPr>
        <p:spPr>
          <a:xfrm>
            <a:off x="1769961" y="3485684"/>
            <a:ext cx="27643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0C48E8F-06E8-DF4E-A12F-4F14980BE02F}"/>
              </a:ext>
            </a:extLst>
          </p:cNvPr>
          <p:cNvSpPr>
            <a:spLocks noGrp="1"/>
          </p:cNvSpPr>
          <p:nvPr>
            <p:ph type="title"/>
          </p:nvPr>
        </p:nvSpPr>
        <p:spPr/>
        <p:txBody>
          <a:bodyPr/>
          <a:lstStyle/>
          <a:p>
            <a:r>
              <a:rPr lang="en-ZA"/>
              <a:t>Quantum </a:t>
            </a:r>
            <a:r>
              <a:rPr lang="en-ZA" dirty="0"/>
              <a:t>Oracle</a:t>
            </a:r>
            <a:endParaRPr lang="en-US" dirty="0"/>
          </a:p>
        </p:txBody>
      </p:sp>
      <p:sp>
        <p:nvSpPr>
          <p:cNvPr id="3" name="Slide Number Placeholder 2">
            <a:extLst>
              <a:ext uri="{FF2B5EF4-FFF2-40B4-BE49-F238E27FC236}">
                <a16:creationId xmlns:a16="http://schemas.microsoft.com/office/drawing/2014/main" id="{BC9A3C24-DF32-574C-8890-55BB719E4634}"/>
              </a:ext>
            </a:extLst>
          </p:cNvPr>
          <p:cNvSpPr>
            <a:spLocks noGrp="1"/>
          </p:cNvSpPr>
          <p:nvPr>
            <p:ph type="sldNum" sz="quarter" idx="12"/>
          </p:nvPr>
        </p:nvSpPr>
        <p:spPr/>
        <p:txBody>
          <a:bodyPr/>
          <a:lstStyle/>
          <a:p>
            <a:fld id="{591A223C-FA10-BC46-A853-03BA373D023C}" type="slidenum">
              <a:rPr lang="en-US" smtClean="0"/>
              <a:t>22</a:t>
            </a:fld>
            <a:endParaRPr lang="en-US"/>
          </a:p>
        </p:txBody>
      </p:sp>
      <p:cxnSp>
        <p:nvCxnSpPr>
          <p:cNvPr id="10" name="Straight Connector 9">
            <a:extLst>
              <a:ext uri="{FF2B5EF4-FFF2-40B4-BE49-F238E27FC236}">
                <a16:creationId xmlns:a16="http://schemas.microsoft.com/office/drawing/2014/main" id="{EE348288-4056-B24B-87E2-037C31244143}"/>
              </a:ext>
            </a:extLst>
          </p:cNvPr>
          <p:cNvCxnSpPr>
            <a:cxnSpLocks/>
          </p:cNvCxnSpPr>
          <p:nvPr/>
        </p:nvCxnSpPr>
        <p:spPr>
          <a:xfrm>
            <a:off x="1769961" y="2713205"/>
            <a:ext cx="27643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ounded Rectangle 11">
            <a:extLst>
              <a:ext uri="{FF2B5EF4-FFF2-40B4-BE49-F238E27FC236}">
                <a16:creationId xmlns:a16="http://schemas.microsoft.com/office/drawing/2014/main" id="{DA7CDF0A-91B5-5348-88C2-2B4D1CA61715}"/>
              </a:ext>
            </a:extLst>
          </p:cNvPr>
          <p:cNvSpPr/>
          <p:nvPr/>
        </p:nvSpPr>
        <p:spPr>
          <a:xfrm>
            <a:off x="2106721" y="2302584"/>
            <a:ext cx="1959092" cy="1530419"/>
          </a:xfrm>
          <a:prstGeom prst="roundRect">
            <a:avLst>
              <a:gd name="adj" fmla="val 4804"/>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i="1" baseline="-25000" dirty="0">
                <a:solidFill>
                  <a:schemeClr val="bg1"/>
                </a:solidFill>
                <a:latin typeface="Times New Roman" panose="02020603050405020304" pitchFamily="18" charset="0"/>
                <a:cs typeface="Times New Roman" panose="02020603050405020304" pitchFamily="18" charset="0"/>
              </a:rPr>
              <a:t>f(x)</a:t>
            </a:r>
            <a:br>
              <a:rPr lang="en-US" sz="4800" i="1" baseline="-25000" dirty="0">
                <a:solidFill>
                  <a:schemeClr val="bg1"/>
                </a:solidFill>
                <a:latin typeface="Times New Roman" panose="02020603050405020304" pitchFamily="18" charset="0"/>
                <a:cs typeface="Times New Roman" panose="02020603050405020304" pitchFamily="18" charset="0"/>
              </a:rPr>
            </a:br>
            <a:endParaRPr lang="en-US" sz="3900" i="1" baseline="-25000" dirty="0">
              <a:solidFill>
                <a:schemeClr val="bg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BDBC4062-18D1-F448-895B-7EC754A2289A}"/>
                  </a:ext>
                </a:extLst>
              </p:cNvPr>
              <p:cNvSpPr/>
              <p:nvPr/>
            </p:nvSpPr>
            <p:spPr>
              <a:xfrm>
                <a:off x="650075" y="3245892"/>
                <a:ext cx="1102033" cy="461665"/>
              </a:xfrm>
              <a:prstGeom prst="rect">
                <a:avLst/>
              </a:prstGeom>
            </p:spPr>
            <p:txBody>
              <a:bodyPr wrap="none">
                <a:spAutoFit/>
              </a:bodyPr>
              <a:lstStyle/>
              <a:p>
                <a14:m>
                  <m:oMath xmlns:m="http://schemas.openxmlformats.org/officeDocument/2006/math">
                    <m:d>
                      <m:dPr>
                        <m:begChr m:val=""/>
                        <m:endChr m:val="⟩"/>
                        <m:ctrlPr>
                          <a:rPr lang="en-US" sz="2400" i="1" smtClean="0">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𝑦</m:t>
                        </m:r>
                      </m:e>
                    </m:d>
                  </m:oMath>
                </a14:m>
                <a:r>
                  <a:rPr lang="en-US" sz="2400" dirty="0"/>
                  <a:t>=</a:t>
                </a:r>
                <a14:m>
                  <m:oMath xmlns:m="http://schemas.openxmlformats.org/officeDocument/2006/math">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0</m:t>
                        </m:r>
                      </m:e>
                    </m:d>
                  </m:oMath>
                </a14:m>
                <a:endParaRPr lang="en-US" sz="2400" dirty="0"/>
              </a:p>
            </p:txBody>
          </p:sp>
        </mc:Choice>
        <mc:Fallback xmlns="">
          <p:sp>
            <p:nvSpPr>
              <p:cNvPr id="13" name="Rectangle 12">
                <a:extLst>
                  <a:ext uri="{FF2B5EF4-FFF2-40B4-BE49-F238E27FC236}">
                    <a16:creationId xmlns:a16="http://schemas.microsoft.com/office/drawing/2014/main" id="{BDBC4062-18D1-F448-895B-7EC754A2289A}"/>
                  </a:ext>
                </a:extLst>
              </p:cNvPr>
              <p:cNvSpPr>
                <a:spLocks noRot="1" noChangeAspect="1" noMove="1" noResize="1" noEditPoints="1" noAdjustHandles="1" noChangeArrowheads="1" noChangeShapeType="1" noTextEdit="1"/>
              </p:cNvSpPr>
              <p:nvPr/>
            </p:nvSpPr>
            <p:spPr>
              <a:xfrm>
                <a:off x="650075" y="3245892"/>
                <a:ext cx="1102033" cy="461665"/>
              </a:xfrm>
              <a:prstGeom prst="rect">
                <a:avLst/>
              </a:prstGeom>
              <a:blipFill>
                <a:blip r:embed="rId3"/>
                <a:stretch>
                  <a:fillRect l="-17045" t="-127027" r="-30682"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A32B2286-C0C5-6245-B336-0032F997235B}"/>
                  </a:ext>
                </a:extLst>
              </p:cNvPr>
              <p:cNvSpPr/>
              <p:nvPr/>
            </p:nvSpPr>
            <p:spPr>
              <a:xfrm>
                <a:off x="1135066" y="2449255"/>
                <a:ext cx="63478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smtClean="0">
                              <a:latin typeface="Cambria Math" panose="02040503050406030204" pitchFamily="18" charset="0"/>
                            </a:rPr>
                            <m:t>|</m:t>
                          </m:r>
                          <m:r>
                            <a:rPr lang="sr-Latn-RS" sz="2400" b="0" i="1" smtClean="0">
                              <a:latin typeface="Cambria Math" panose="02040503050406030204" pitchFamily="18" charset="0"/>
                            </a:rPr>
                            <m:t>𝑥</m:t>
                          </m:r>
                        </m:e>
                      </m:d>
                    </m:oMath>
                  </m:oMathPara>
                </a14:m>
                <a:endParaRPr lang="en-US" sz="2400" dirty="0"/>
              </a:p>
            </p:txBody>
          </p:sp>
        </mc:Choice>
        <mc:Fallback xmlns="">
          <p:sp>
            <p:nvSpPr>
              <p:cNvPr id="15" name="Rectangle 14">
                <a:extLst>
                  <a:ext uri="{FF2B5EF4-FFF2-40B4-BE49-F238E27FC236}">
                    <a16:creationId xmlns:a16="http://schemas.microsoft.com/office/drawing/2014/main" id="{A32B2286-C0C5-6245-B336-0032F997235B}"/>
                  </a:ext>
                </a:extLst>
              </p:cNvPr>
              <p:cNvSpPr>
                <a:spLocks noRot="1" noChangeAspect="1" noMove="1" noResize="1" noEditPoints="1" noAdjustHandles="1" noChangeArrowheads="1" noChangeShapeType="1" noTextEdit="1"/>
              </p:cNvSpPr>
              <p:nvPr/>
            </p:nvSpPr>
            <p:spPr>
              <a:xfrm>
                <a:off x="1135066" y="2449255"/>
                <a:ext cx="634789" cy="461665"/>
              </a:xfrm>
              <a:prstGeom prst="rect">
                <a:avLst/>
              </a:prstGeom>
              <a:blipFill>
                <a:blip r:embed="rId4"/>
                <a:stretch>
                  <a:fillRect l="-23529" t="-124324" r="-5098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9E29BA4-ABBB-304A-8480-54B41D938B08}"/>
                  </a:ext>
                </a:extLst>
              </p:cNvPr>
              <p:cNvSpPr txBox="1"/>
              <p:nvPr/>
            </p:nvSpPr>
            <p:spPr>
              <a:xfrm>
                <a:off x="1272772" y="1346543"/>
                <a:ext cx="3345339" cy="523220"/>
              </a:xfrm>
              <a:prstGeom prst="rect">
                <a:avLst/>
              </a:prstGeom>
              <a:solidFill>
                <a:schemeClr val="accent4">
                  <a:lumMod val="20000"/>
                  <a:lumOff val="80000"/>
                </a:schemeClr>
              </a:solidFill>
            </p:spPr>
            <p:txBody>
              <a:bodyPr wrap="none" rtlCol="0">
                <a:spAutoFit/>
              </a:bodyPr>
              <a:lstStyle/>
              <a:p>
                <a:r>
                  <a:rPr lang="en-US" sz="2800" dirty="0"/>
                  <a:t>Binary oracle: </a:t>
                </a:r>
                <a14:m>
                  <m:oMath xmlns:m="http://schemas.openxmlformats.org/officeDocument/2006/math">
                    <m:r>
                      <a:rPr lang="en-US" sz="2800" i="1">
                        <a:latin typeface="Cambria Math" panose="02040503050406030204" pitchFamily="18" charset="0"/>
                      </a:rPr>
                      <m:t>𝑦</m:t>
                    </m:r>
                  </m:oMath>
                </a14:m>
                <a:r>
                  <a:rPr lang="en-US" sz="2800" dirty="0"/>
                  <a:t>= </a:t>
                </a:r>
                <a14:m>
                  <m:oMath xmlns:m="http://schemas.openxmlformats.org/officeDocument/2006/math">
                    <m:d>
                      <m:dPr>
                        <m:begChr m:val="|"/>
                        <m:endChr m:val="⟩"/>
                        <m:ctrlPr>
                          <a:rPr lang="en-US" sz="2800" i="1">
                            <a:latin typeface="Cambria Math" panose="02040503050406030204" pitchFamily="18" charset="0"/>
                          </a:rPr>
                        </m:ctrlPr>
                      </m:dPr>
                      <m:e>
                        <m:r>
                          <a:rPr lang="sr-Latn-RS" sz="2800" i="1">
                            <a:latin typeface="Cambria Math" panose="02040503050406030204" pitchFamily="18" charset="0"/>
                          </a:rPr>
                          <m:t>0</m:t>
                        </m:r>
                      </m:e>
                    </m:d>
                    <m:r>
                      <a:rPr lang="sr-Latn-RS" sz="2800" i="1">
                        <a:latin typeface="Cambria Math" panose="02040503050406030204" pitchFamily="18" charset="0"/>
                      </a:rPr>
                      <m:t> </m:t>
                    </m:r>
                  </m:oMath>
                </a14:m>
                <a:endParaRPr lang="en-US" sz="2800" dirty="0"/>
              </a:p>
            </p:txBody>
          </p:sp>
        </mc:Choice>
        <mc:Fallback xmlns="">
          <p:sp>
            <p:nvSpPr>
              <p:cNvPr id="22" name="TextBox 21">
                <a:extLst>
                  <a:ext uri="{FF2B5EF4-FFF2-40B4-BE49-F238E27FC236}">
                    <a16:creationId xmlns:a16="http://schemas.microsoft.com/office/drawing/2014/main" id="{E9E29BA4-ABBB-304A-8480-54B41D938B08}"/>
                  </a:ext>
                </a:extLst>
              </p:cNvPr>
              <p:cNvSpPr txBox="1">
                <a:spLocks noRot="1" noChangeAspect="1" noMove="1" noResize="1" noEditPoints="1" noAdjustHandles="1" noChangeArrowheads="1" noChangeShapeType="1" noTextEdit="1"/>
              </p:cNvSpPr>
              <p:nvPr/>
            </p:nvSpPr>
            <p:spPr>
              <a:xfrm>
                <a:off x="1272772" y="1346543"/>
                <a:ext cx="3345339" cy="523220"/>
              </a:xfrm>
              <a:prstGeom prst="rect">
                <a:avLst/>
              </a:prstGeom>
              <a:blipFill>
                <a:blip r:embed="rId5"/>
                <a:stretch>
                  <a:fillRect l="-3396" t="-11905" b="-2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1ED4EB45-593F-1540-837A-62D8656E4F24}"/>
                  </a:ext>
                </a:extLst>
              </p:cNvPr>
              <p:cNvSpPr/>
              <p:nvPr/>
            </p:nvSpPr>
            <p:spPr>
              <a:xfrm>
                <a:off x="1570545" y="4676714"/>
                <a:ext cx="304756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en-US" sz="2800" i="1">
                              <a:latin typeface="Cambria Math" panose="02040503050406030204" pitchFamily="18" charset="0"/>
                            </a:rPr>
                            <m:t>𝑥</m:t>
                          </m:r>
                        </m:e>
                      </m:d>
                      <m:d>
                        <m:dPr>
                          <m:begChr m:val="|"/>
                          <m:endChr m:val="⟩"/>
                          <m:ctrlPr>
                            <a:rPr lang="en-US" sz="2800" i="1">
                              <a:latin typeface="Cambria Math" panose="02040503050406030204" pitchFamily="18" charset="0"/>
                            </a:rPr>
                          </m:ctrlPr>
                        </m:dPr>
                        <m:e>
                          <m:r>
                            <a:rPr lang="sr-Latn-RS" sz="2800" b="0" i="1" smtClean="0">
                              <a:latin typeface="Cambria Math" panose="02040503050406030204" pitchFamily="18" charset="0"/>
                            </a:rPr>
                            <m:t>0</m:t>
                          </m:r>
                        </m:e>
                      </m:d>
                      <m:r>
                        <a:rPr lang="en-US" sz="2800" i="0">
                          <a:latin typeface="Cambria Math" panose="02040503050406030204" pitchFamily="18" charset="0"/>
                        </a:rPr>
                        <m:t>→</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𝑥</m:t>
                          </m:r>
                        </m:e>
                      </m:d>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𝑓</m:t>
                          </m:r>
                          <m:d>
                            <m:dPr>
                              <m:ctrlPr>
                                <a:rPr lang="en-US" sz="2800" i="1">
                                  <a:latin typeface="Cambria Math" panose="02040503050406030204" pitchFamily="18" charset="0"/>
                                </a:rPr>
                              </m:ctrlPr>
                            </m:dPr>
                            <m:e>
                              <m:r>
                                <a:rPr lang="en-US" sz="2800" i="1">
                                  <a:latin typeface="Cambria Math" panose="02040503050406030204" pitchFamily="18" charset="0"/>
                                </a:rPr>
                                <m:t>𝑥</m:t>
                              </m:r>
                            </m:e>
                          </m:d>
                        </m:e>
                      </m:d>
                    </m:oMath>
                  </m:oMathPara>
                </a14:m>
                <a:endParaRPr lang="en-US" sz="2800" dirty="0"/>
              </a:p>
            </p:txBody>
          </p:sp>
        </mc:Choice>
        <mc:Fallback xmlns="">
          <p:sp>
            <p:nvSpPr>
              <p:cNvPr id="24" name="Rectangle 23">
                <a:extLst>
                  <a:ext uri="{FF2B5EF4-FFF2-40B4-BE49-F238E27FC236}">
                    <a16:creationId xmlns:a16="http://schemas.microsoft.com/office/drawing/2014/main" id="{1ED4EB45-593F-1540-837A-62D8656E4F24}"/>
                  </a:ext>
                </a:extLst>
              </p:cNvPr>
              <p:cNvSpPr>
                <a:spLocks noRot="1" noChangeAspect="1" noMove="1" noResize="1" noEditPoints="1" noAdjustHandles="1" noChangeArrowheads="1" noChangeShapeType="1" noTextEdit="1"/>
              </p:cNvSpPr>
              <p:nvPr/>
            </p:nvSpPr>
            <p:spPr>
              <a:xfrm>
                <a:off x="1570545" y="4676714"/>
                <a:ext cx="3047566" cy="523220"/>
              </a:xfrm>
              <a:prstGeom prst="rect">
                <a:avLst/>
              </a:prstGeom>
              <a:blipFill>
                <a:blip r:embed="rId6"/>
                <a:stretch>
                  <a:fillRect b="-190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17689450-8665-6E43-96FC-118806A49AB9}"/>
                  </a:ext>
                </a:extLst>
              </p:cNvPr>
              <p:cNvSpPr txBox="1"/>
              <p:nvPr/>
            </p:nvSpPr>
            <p:spPr>
              <a:xfrm>
                <a:off x="7394331" y="1346543"/>
                <a:ext cx="3353226" cy="523220"/>
              </a:xfrm>
              <a:prstGeom prst="rect">
                <a:avLst/>
              </a:prstGeom>
              <a:solidFill>
                <a:schemeClr val="accent4">
                  <a:lumMod val="20000"/>
                  <a:lumOff val="80000"/>
                </a:schemeClr>
              </a:solidFill>
            </p:spPr>
            <p:txBody>
              <a:bodyPr wrap="none" rtlCol="0">
                <a:spAutoFit/>
              </a:bodyPr>
              <a:lstStyle/>
              <a:p>
                <a:r>
                  <a:rPr lang="en-US" sz="2800" dirty="0"/>
                  <a:t>Phase oracle: </a:t>
                </a:r>
                <a14:m>
                  <m:oMath xmlns:m="http://schemas.openxmlformats.org/officeDocument/2006/math">
                    <m:r>
                      <a:rPr lang="en-US" sz="2800" i="1">
                        <a:latin typeface="Cambria Math" panose="02040503050406030204" pitchFamily="18" charset="0"/>
                      </a:rPr>
                      <m:t>𝑦</m:t>
                    </m:r>
                  </m:oMath>
                </a14:m>
                <a:r>
                  <a:rPr lang="en-US" sz="2800" dirty="0"/>
                  <a:t>= </a:t>
                </a:r>
                <a14:m>
                  <m:oMath xmlns:m="http://schemas.openxmlformats.org/officeDocument/2006/math">
                    <m:d>
                      <m:dPr>
                        <m:begChr m:val="|"/>
                        <m:endChr m:val="⟩"/>
                        <m:ctrlPr>
                          <a:rPr lang="en-US" sz="2800" i="1">
                            <a:latin typeface="Cambria Math" panose="02040503050406030204" pitchFamily="18" charset="0"/>
                          </a:rPr>
                        </m:ctrlPr>
                      </m:dPr>
                      <m:e>
                        <m:r>
                          <a:rPr lang="sr-Latn-RS" sz="2800" b="0" i="1" smtClean="0">
                            <a:latin typeface="Cambria Math" panose="02040503050406030204" pitchFamily="18" charset="0"/>
                          </a:rPr>
                          <m:t>−</m:t>
                        </m:r>
                      </m:e>
                    </m:d>
                    <m:r>
                      <a:rPr lang="sr-Latn-RS" sz="2800" i="1">
                        <a:latin typeface="Cambria Math" panose="02040503050406030204" pitchFamily="18" charset="0"/>
                      </a:rPr>
                      <m:t> </m:t>
                    </m:r>
                  </m:oMath>
                </a14:m>
                <a:endParaRPr lang="en-US" sz="2800" dirty="0"/>
              </a:p>
            </p:txBody>
          </p:sp>
        </mc:Choice>
        <mc:Fallback xmlns="">
          <p:sp>
            <p:nvSpPr>
              <p:cNvPr id="25" name="TextBox 24">
                <a:extLst>
                  <a:ext uri="{FF2B5EF4-FFF2-40B4-BE49-F238E27FC236}">
                    <a16:creationId xmlns:a16="http://schemas.microsoft.com/office/drawing/2014/main" id="{17689450-8665-6E43-96FC-118806A49AB9}"/>
                  </a:ext>
                </a:extLst>
              </p:cNvPr>
              <p:cNvSpPr txBox="1">
                <a:spLocks noRot="1" noChangeAspect="1" noMove="1" noResize="1" noEditPoints="1" noAdjustHandles="1" noChangeArrowheads="1" noChangeShapeType="1" noTextEdit="1"/>
              </p:cNvSpPr>
              <p:nvPr/>
            </p:nvSpPr>
            <p:spPr>
              <a:xfrm>
                <a:off x="7394331" y="1346543"/>
                <a:ext cx="3353226" cy="523220"/>
              </a:xfrm>
              <a:prstGeom prst="rect">
                <a:avLst/>
              </a:prstGeom>
              <a:blipFill>
                <a:blip r:embed="rId7"/>
                <a:stretch>
                  <a:fillRect l="-3396" t="-11905" b="-2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B98E5439-F9BF-AA4F-BD4D-17CC55764EC6}"/>
                  </a:ext>
                </a:extLst>
              </p:cNvPr>
              <p:cNvSpPr/>
              <p:nvPr/>
            </p:nvSpPr>
            <p:spPr>
              <a:xfrm>
                <a:off x="7394331" y="4585500"/>
                <a:ext cx="4011226" cy="541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en-US" sz="2800" i="1">
                              <a:latin typeface="Cambria Math" panose="02040503050406030204" pitchFamily="18" charset="0"/>
                            </a:rPr>
                            <m:t>𝑥</m:t>
                          </m:r>
                        </m:e>
                      </m:d>
                      <m:d>
                        <m:dPr>
                          <m:begChr m:val="|"/>
                          <m:endChr m:val="⟩"/>
                          <m:ctrlPr>
                            <a:rPr lang="en-US" sz="2800" i="1">
                              <a:latin typeface="Cambria Math" panose="02040503050406030204" pitchFamily="18" charset="0"/>
                            </a:rPr>
                          </m:ctrlPr>
                        </m:dPr>
                        <m:e>
                          <m:r>
                            <a:rPr lang="sr-Latn-RS" sz="2800" b="0" i="1" smtClean="0">
                              <a:latin typeface="Cambria Math" panose="02040503050406030204" pitchFamily="18" charset="0"/>
                            </a:rPr>
                            <m:t>−</m:t>
                          </m:r>
                        </m:e>
                      </m:d>
                      <m:r>
                        <a:rPr lang="en-US" sz="2800" i="0">
                          <a:latin typeface="Cambria Math" panose="02040503050406030204" pitchFamily="18" charset="0"/>
                        </a:rPr>
                        <m:t>→</m:t>
                      </m:r>
                      <m:sSup>
                        <m:sSupPr>
                          <m:ctrlPr>
                            <a:rPr lang="en-US" sz="2800" i="1" smtClean="0">
                              <a:latin typeface="Cambria Math" panose="02040503050406030204" pitchFamily="18" charset="0"/>
                            </a:rPr>
                          </m:ctrlPr>
                        </m:sSupPr>
                        <m:e>
                          <m:r>
                            <a:rPr lang="sr-Latn-RS" sz="2800" b="0" i="1" smtClean="0">
                              <a:latin typeface="Cambria Math" panose="02040503050406030204" pitchFamily="18" charset="0"/>
                            </a:rPr>
                            <m:t>(−1)</m:t>
                          </m:r>
                        </m:e>
                        <m:sup>
                          <m:r>
                            <a:rPr lang="sr-Latn-RS" sz="2800" b="0" i="1" smtClean="0">
                              <a:latin typeface="Cambria Math" panose="02040503050406030204" pitchFamily="18" charset="0"/>
                            </a:rPr>
                            <m:t>𝑓</m:t>
                          </m:r>
                          <m:r>
                            <a:rPr lang="sr-Latn-RS" sz="2800" b="0" i="1" smtClean="0">
                              <a:latin typeface="Cambria Math" panose="02040503050406030204" pitchFamily="18" charset="0"/>
                            </a:rPr>
                            <m:t>(</m:t>
                          </m:r>
                          <m:r>
                            <a:rPr lang="sr-Latn-RS" sz="2800" b="0" i="1" smtClean="0">
                              <a:latin typeface="Cambria Math" panose="02040503050406030204" pitchFamily="18" charset="0"/>
                            </a:rPr>
                            <m:t>𝑥</m:t>
                          </m:r>
                          <m:r>
                            <a:rPr lang="sr-Latn-RS" sz="2800" b="0" i="1" smtClean="0">
                              <a:latin typeface="Cambria Math" panose="02040503050406030204" pitchFamily="18" charset="0"/>
                            </a:rPr>
                            <m:t>)</m:t>
                          </m:r>
                        </m:sup>
                      </m:sSup>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𝑥</m:t>
                          </m:r>
                        </m:e>
                      </m:d>
                      <m:d>
                        <m:dPr>
                          <m:begChr m:val="|"/>
                          <m:endChr m:val="⟩"/>
                          <m:ctrlPr>
                            <a:rPr lang="en-US" sz="2800" i="1">
                              <a:latin typeface="Cambria Math" panose="02040503050406030204" pitchFamily="18" charset="0"/>
                            </a:rPr>
                          </m:ctrlPr>
                        </m:dPr>
                        <m:e>
                          <m:r>
                            <a:rPr lang="sr-Latn-RS" sz="2800" b="0" i="1" smtClean="0">
                              <a:latin typeface="Cambria Math" panose="02040503050406030204" pitchFamily="18" charset="0"/>
                            </a:rPr>
                            <m:t>−</m:t>
                          </m:r>
                        </m:e>
                      </m:d>
                    </m:oMath>
                  </m:oMathPara>
                </a14:m>
                <a:endParaRPr lang="en-US" sz="2800" dirty="0"/>
              </a:p>
            </p:txBody>
          </p:sp>
        </mc:Choice>
        <mc:Fallback xmlns="">
          <p:sp>
            <p:nvSpPr>
              <p:cNvPr id="26" name="Rectangle 25">
                <a:extLst>
                  <a:ext uri="{FF2B5EF4-FFF2-40B4-BE49-F238E27FC236}">
                    <a16:creationId xmlns:a16="http://schemas.microsoft.com/office/drawing/2014/main" id="{B98E5439-F9BF-AA4F-BD4D-17CC55764EC6}"/>
                  </a:ext>
                </a:extLst>
              </p:cNvPr>
              <p:cNvSpPr>
                <a:spLocks noRot="1" noChangeAspect="1" noMove="1" noResize="1" noEditPoints="1" noAdjustHandles="1" noChangeArrowheads="1" noChangeShapeType="1" noTextEdit="1"/>
              </p:cNvSpPr>
              <p:nvPr/>
            </p:nvSpPr>
            <p:spPr>
              <a:xfrm>
                <a:off x="7394331" y="4585500"/>
                <a:ext cx="4011226" cy="541110"/>
              </a:xfrm>
              <a:prstGeom prst="rect">
                <a:avLst/>
              </a:prstGeom>
              <a:blipFill>
                <a:blip r:embed="rId8"/>
                <a:stretch>
                  <a:fillRect b="-1590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0CFC1A36-60EB-4B48-B71A-8242C5AE4A8D}"/>
              </a:ext>
            </a:extLst>
          </p:cNvPr>
          <p:cNvSpPr txBox="1"/>
          <p:nvPr/>
        </p:nvSpPr>
        <p:spPr>
          <a:xfrm>
            <a:off x="370316" y="3652991"/>
            <a:ext cx="1192634" cy="707886"/>
          </a:xfrm>
          <a:prstGeom prst="rect">
            <a:avLst/>
          </a:prstGeom>
          <a:noFill/>
        </p:spPr>
        <p:txBody>
          <a:bodyPr wrap="none" rtlCol="0">
            <a:spAutoFit/>
          </a:bodyPr>
          <a:lstStyle/>
          <a:p>
            <a:pPr algn="ctr"/>
            <a:r>
              <a:rPr lang="en-ZA" sz="2000" b="1" dirty="0">
                <a:latin typeface="+mj-lt"/>
              </a:rPr>
              <a:t>auxiliary</a:t>
            </a:r>
          </a:p>
          <a:p>
            <a:pPr algn="ctr"/>
            <a:r>
              <a:rPr lang="en-ZA" sz="2000" b="1" dirty="0">
                <a:latin typeface="+mj-lt"/>
              </a:rPr>
              <a:t>(ancillary)</a:t>
            </a:r>
          </a:p>
        </p:txBody>
      </p:sp>
      <p:sp>
        <p:nvSpPr>
          <p:cNvPr id="30" name="TextBox 29">
            <a:extLst>
              <a:ext uri="{FF2B5EF4-FFF2-40B4-BE49-F238E27FC236}">
                <a16:creationId xmlns:a16="http://schemas.microsoft.com/office/drawing/2014/main" id="{4A8874E0-4CBB-1A45-9F81-25C9E7B9516B}"/>
              </a:ext>
            </a:extLst>
          </p:cNvPr>
          <p:cNvSpPr txBox="1"/>
          <p:nvPr/>
        </p:nvSpPr>
        <p:spPr>
          <a:xfrm>
            <a:off x="235343" y="2098279"/>
            <a:ext cx="731290" cy="400110"/>
          </a:xfrm>
          <a:prstGeom prst="rect">
            <a:avLst/>
          </a:prstGeom>
          <a:noFill/>
        </p:spPr>
        <p:txBody>
          <a:bodyPr wrap="none" rtlCol="0">
            <a:spAutoFit/>
          </a:bodyPr>
          <a:lstStyle/>
          <a:p>
            <a:r>
              <a:rPr lang="en-ZA" sz="2000" b="1" dirty="0">
                <a:latin typeface="+mj-lt"/>
              </a:rPr>
              <a:t>Input</a:t>
            </a:r>
          </a:p>
        </p:txBody>
      </p:sp>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C7F05816-659F-2F40-B6E9-64199F70D7ED}"/>
                  </a:ext>
                </a:extLst>
              </p:cNvPr>
              <p:cNvSpPr/>
              <p:nvPr/>
            </p:nvSpPr>
            <p:spPr>
              <a:xfrm>
                <a:off x="4473826" y="2455286"/>
                <a:ext cx="63478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smtClean="0">
                              <a:latin typeface="Cambria Math" panose="02040503050406030204" pitchFamily="18" charset="0"/>
                            </a:rPr>
                            <m:t>|</m:t>
                          </m:r>
                          <m:r>
                            <a:rPr lang="sr-Latn-RS" sz="2400" b="0" i="1" smtClean="0">
                              <a:latin typeface="Cambria Math" panose="02040503050406030204" pitchFamily="18" charset="0"/>
                            </a:rPr>
                            <m:t>𝑥</m:t>
                          </m:r>
                        </m:e>
                      </m:d>
                    </m:oMath>
                  </m:oMathPara>
                </a14:m>
                <a:endParaRPr lang="en-US" sz="2400" dirty="0"/>
              </a:p>
            </p:txBody>
          </p:sp>
        </mc:Choice>
        <mc:Fallback xmlns="">
          <p:sp>
            <p:nvSpPr>
              <p:cNvPr id="31" name="Rectangle 30">
                <a:extLst>
                  <a:ext uri="{FF2B5EF4-FFF2-40B4-BE49-F238E27FC236}">
                    <a16:creationId xmlns:a16="http://schemas.microsoft.com/office/drawing/2014/main" id="{C7F05816-659F-2F40-B6E9-64199F70D7ED}"/>
                  </a:ext>
                </a:extLst>
              </p:cNvPr>
              <p:cNvSpPr>
                <a:spLocks noRot="1" noChangeAspect="1" noMove="1" noResize="1" noEditPoints="1" noAdjustHandles="1" noChangeArrowheads="1" noChangeShapeType="1" noTextEdit="1"/>
              </p:cNvSpPr>
              <p:nvPr/>
            </p:nvSpPr>
            <p:spPr>
              <a:xfrm>
                <a:off x="4473826" y="2455286"/>
                <a:ext cx="634789" cy="461665"/>
              </a:xfrm>
              <a:prstGeom prst="rect">
                <a:avLst/>
              </a:prstGeom>
              <a:blipFill>
                <a:blip r:embed="rId9"/>
                <a:stretch>
                  <a:fillRect l="-23529" t="-121053" r="-49020" b="-184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F42B1110-5AAD-0649-B3FB-FAFF922F9F8D}"/>
                  </a:ext>
                </a:extLst>
              </p:cNvPr>
              <p:cNvSpPr/>
              <p:nvPr/>
            </p:nvSpPr>
            <p:spPr>
              <a:xfrm>
                <a:off x="4512719" y="3254851"/>
                <a:ext cx="1450012" cy="461665"/>
              </a:xfrm>
              <a:prstGeom prst="rect">
                <a:avLst/>
              </a:prstGeom>
            </p:spPr>
            <p:txBody>
              <a:bodyPr wrap="none">
                <a:spAutoFit/>
              </a:bodyPr>
              <a:lstStyle/>
              <a:p>
                <a14:m>
                  <m:oMath xmlns:m="http://schemas.openxmlformats.org/officeDocument/2006/math">
                    <m:d>
                      <m:dPr>
                        <m:begChr m:val=""/>
                        <m:endChr m:val="⟩"/>
                        <m:ctrlPr>
                          <a:rPr lang="en-US" sz="2400" i="1" smtClean="0">
                            <a:latin typeface="Cambria Math" panose="02040503050406030204" pitchFamily="18" charset="0"/>
                          </a:rPr>
                        </m:ctrlPr>
                      </m:dPr>
                      <m:e>
                        <m:r>
                          <a:rPr lang="en-US" sz="2400" i="0" smtClean="0">
                            <a:latin typeface="Cambria Math" panose="02040503050406030204" pitchFamily="18" charset="0"/>
                          </a:rPr>
                          <m:t>|</m:t>
                        </m:r>
                        <m:r>
                          <a:rPr lang="sr-Latn-RS" sz="2400" b="0" i="1" smtClean="0">
                            <a:latin typeface="Cambria Math" panose="02040503050406030204" pitchFamily="18" charset="0"/>
                          </a:rPr>
                          <m:t>𝑥</m:t>
                        </m:r>
                      </m:e>
                    </m:d>
                  </m:oMath>
                </a14:m>
                <a:r>
                  <a:rPr lang="en-US" sz="2400" dirty="0"/>
                  <a:t> </a:t>
                </a:r>
                <a14:m>
                  <m:oMath xmlns:m="http://schemas.openxmlformats.org/officeDocument/2006/math">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𝑥</m:t>
                            </m:r>
                          </m:e>
                        </m:d>
                      </m:e>
                    </m:d>
                  </m:oMath>
                </a14:m>
                <a:endParaRPr lang="en-US" sz="2400" dirty="0"/>
              </a:p>
            </p:txBody>
          </p:sp>
        </mc:Choice>
        <mc:Fallback xmlns="">
          <p:sp>
            <p:nvSpPr>
              <p:cNvPr id="32" name="Rectangle 31">
                <a:extLst>
                  <a:ext uri="{FF2B5EF4-FFF2-40B4-BE49-F238E27FC236}">
                    <a16:creationId xmlns:a16="http://schemas.microsoft.com/office/drawing/2014/main" id="{F42B1110-5AAD-0649-B3FB-FAFF922F9F8D}"/>
                  </a:ext>
                </a:extLst>
              </p:cNvPr>
              <p:cNvSpPr>
                <a:spLocks noRot="1" noChangeAspect="1" noMove="1" noResize="1" noEditPoints="1" noAdjustHandles="1" noChangeArrowheads="1" noChangeShapeType="1" noTextEdit="1"/>
              </p:cNvSpPr>
              <p:nvPr/>
            </p:nvSpPr>
            <p:spPr>
              <a:xfrm>
                <a:off x="4512719" y="3254851"/>
                <a:ext cx="1450012" cy="461665"/>
              </a:xfrm>
              <a:prstGeom prst="rect">
                <a:avLst/>
              </a:prstGeom>
              <a:blipFill>
                <a:blip r:embed="rId10"/>
                <a:stretch>
                  <a:fillRect l="-12931" t="-121053" b="-186842"/>
                </a:stretch>
              </a:blipFill>
            </p:spPr>
            <p:txBody>
              <a:bodyPr/>
              <a:lstStyle/>
              <a:p>
                <a:r>
                  <a:rPr lang="en-US">
                    <a:noFill/>
                  </a:rPr>
                  <a:t> </a:t>
                </a:r>
              </a:p>
            </p:txBody>
          </p:sp>
        </mc:Fallback>
      </mc:AlternateContent>
      <p:cxnSp>
        <p:nvCxnSpPr>
          <p:cNvPr id="33" name="Straight Connector 32">
            <a:extLst>
              <a:ext uri="{FF2B5EF4-FFF2-40B4-BE49-F238E27FC236}">
                <a16:creationId xmlns:a16="http://schemas.microsoft.com/office/drawing/2014/main" id="{DC900778-9B2F-CA48-AA44-979C002A17EF}"/>
              </a:ext>
            </a:extLst>
          </p:cNvPr>
          <p:cNvCxnSpPr>
            <a:cxnSpLocks/>
          </p:cNvCxnSpPr>
          <p:nvPr/>
        </p:nvCxnSpPr>
        <p:spPr>
          <a:xfrm>
            <a:off x="7653386" y="3481434"/>
            <a:ext cx="27643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954CA80-B716-154D-AC6B-D3E1F86BEE12}"/>
              </a:ext>
            </a:extLst>
          </p:cNvPr>
          <p:cNvCxnSpPr>
            <a:cxnSpLocks/>
          </p:cNvCxnSpPr>
          <p:nvPr/>
        </p:nvCxnSpPr>
        <p:spPr>
          <a:xfrm>
            <a:off x="7653386" y="2708955"/>
            <a:ext cx="27643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Rounded Rectangle 34">
            <a:extLst>
              <a:ext uri="{FF2B5EF4-FFF2-40B4-BE49-F238E27FC236}">
                <a16:creationId xmlns:a16="http://schemas.microsoft.com/office/drawing/2014/main" id="{5F6268B4-ADBA-B945-BDDF-37250D92B9DF}"/>
              </a:ext>
            </a:extLst>
          </p:cNvPr>
          <p:cNvSpPr/>
          <p:nvPr/>
        </p:nvSpPr>
        <p:spPr>
          <a:xfrm>
            <a:off x="7990146" y="2298334"/>
            <a:ext cx="1959092" cy="1530419"/>
          </a:xfrm>
          <a:prstGeom prst="roundRect">
            <a:avLst>
              <a:gd name="adj" fmla="val 4804"/>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i="1" dirty="0">
                <a:solidFill>
                  <a:schemeClr val="bg1"/>
                </a:solidFill>
                <a:latin typeface="Times New Roman" panose="02020603050405020304" pitchFamily="18" charset="0"/>
                <a:cs typeface="Times New Roman" panose="02020603050405020304" pitchFamily="18" charset="0"/>
              </a:rPr>
              <a:t>O</a:t>
            </a:r>
            <a:endParaRPr lang="en-US" sz="4000" i="1" baseline="-25000" dirty="0">
              <a:solidFill>
                <a:schemeClr val="bg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E07F6964-68D9-BC40-86AA-0210D7D77197}"/>
                  </a:ext>
                </a:extLst>
              </p:cNvPr>
              <p:cNvSpPr/>
              <p:nvPr/>
            </p:nvSpPr>
            <p:spPr>
              <a:xfrm>
                <a:off x="7018491" y="2445005"/>
                <a:ext cx="63478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smtClean="0">
                              <a:latin typeface="Cambria Math" panose="02040503050406030204" pitchFamily="18" charset="0"/>
                            </a:rPr>
                            <m:t>|</m:t>
                          </m:r>
                          <m:r>
                            <a:rPr lang="sr-Latn-RS" sz="2400" b="0" i="1" smtClean="0">
                              <a:latin typeface="Cambria Math" panose="02040503050406030204" pitchFamily="18" charset="0"/>
                            </a:rPr>
                            <m:t>𝑥</m:t>
                          </m:r>
                        </m:e>
                      </m:d>
                    </m:oMath>
                  </m:oMathPara>
                </a14:m>
                <a:endParaRPr lang="en-US" sz="2400" dirty="0"/>
              </a:p>
            </p:txBody>
          </p:sp>
        </mc:Choice>
        <mc:Fallback xmlns="">
          <p:sp>
            <p:nvSpPr>
              <p:cNvPr id="37" name="Rectangle 36">
                <a:extLst>
                  <a:ext uri="{FF2B5EF4-FFF2-40B4-BE49-F238E27FC236}">
                    <a16:creationId xmlns:a16="http://schemas.microsoft.com/office/drawing/2014/main" id="{E07F6964-68D9-BC40-86AA-0210D7D77197}"/>
                  </a:ext>
                </a:extLst>
              </p:cNvPr>
              <p:cNvSpPr>
                <a:spLocks noRot="1" noChangeAspect="1" noMove="1" noResize="1" noEditPoints="1" noAdjustHandles="1" noChangeArrowheads="1" noChangeShapeType="1" noTextEdit="1"/>
              </p:cNvSpPr>
              <p:nvPr/>
            </p:nvSpPr>
            <p:spPr>
              <a:xfrm>
                <a:off x="7018491" y="2445005"/>
                <a:ext cx="634789" cy="461665"/>
              </a:xfrm>
              <a:prstGeom prst="rect">
                <a:avLst/>
              </a:prstGeom>
              <a:blipFill>
                <a:blip r:embed="rId11"/>
                <a:stretch>
                  <a:fillRect l="-25490" t="-127027" r="-4902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CF51359A-0587-3A48-B248-FF653AE0EE6E}"/>
                  </a:ext>
                </a:extLst>
              </p:cNvPr>
              <p:cNvSpPr/>
              <p:nvPr/>
            </p:nvSpPr>
            <p:spPr>
              <a:xfrm>
                <a:off x="10285998" y="2196677"/>
                <a:ext cx="1777666" cy="5057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sSup>
                            <m:sSupPr>
                              <m:ctrlPr>
                                <a:rPr lang="en-US" sz="2400" i="1">
                                  <a:latin typeface="Cambria Math" panose="02040503050406030204" pitchFamily="18" charset="0"/>
                                </a:rPr>
                              </m:ctrlPr>
                            </m:sSupPr>
                            <m:e>
                              <m:r>
                                <a:rPr lang="sr-Latn-RS" sz="2400" i="1">
                                  <a:latin typeface="Cambria Math" panose="02040503050406030204" pitchFamily="18" charset="0"/>
                                </a:rPr>
                                <m:t>(−1)</m:t>
                              </m:r>
                            </m:e>
                            <m:sup>
                              <m:r>
                                <a:rPr lang="sr-Latn-RS" sz="2400" i="1">
                                  <a:latin typeface="Cambria Math" panose="02040503050406030204" pitchFamily="18" charset="0"/>
                                </a:rPr>
                                <m:t>𝑓</m:t>
                              </m:r>
                              <m:r>
                                <a:rPr lang="sr-Latn-RS" sz="2400" i="1">
                                  <a:latin typeface="Cambria Math" panose="02040503050406030204" pitchFamily="18" charset="0"/>
                                </a:rPr>
                                <m:t>(</m:t>
                              </m:r>
                              <m:r>
                                <a:rPr lang="sr-Latn-RS" sz="2400" i="1">
                                  <a:latin typeface="Cambria Math" panose="02040503050406030204" pitchFamily="18" charset="0"/>
                                </a:rPr>
                                <m:t>𝑥</m:t>
                              </m:r>
                              <m:r>
                                <a:rPr lang="sr-Latn-RS" sz="2400" i="1">
                                  <a:latin typeface="Cambria Math" panose="02040503050406030204" pitchFamily="18" charset="0"/>
                                </a:rPr>
                                <m:t>)</m:t>
                              </m:r>
                            </m:sup>
                          </m:sSup>
                          <m:r>
                            <a:rPr lang="en-US" sz="2400" i="0" smtClean="0">
                              <a:latin typeface="Cambria Math" panose="02040503050406030204" pitchFamily="18" charset="0"/>
                            </a:rPr>
                            <m:t>|</m:t>
                          </m:r>
                          <m:r>
                            <a:rPr lang="sr-Latn-RS" sz="2400" b="0" i="1" smtClean="0">
                              <a:latin typeface="Cambria Math" panose="02040503050406030204" pitchFamily="18" charset="0"/>
                            </a:rPr>
                            <m:t>𝑥</m:t>
                          </m:r>
                        </m:e>
                      </m:d>
                    </m:oMath>
                  </m:oMathPara>
                </a14:m>
                <a:endParaRPr lang="en-US" sz="2400" dirty="0"/>
              </a:p>
            </p:txBody>
          </p:sp>
        </mc:Choice>
        <mc:Fallback xmlns="">
          <p:sp>
            <p:nvSpPr>
              <p:cNvPr id="40" name="Rectangle 39">
                <a:extLst>
                  <a:ext uri="{FF2B5EF4-FFF2-40B4-BE49-F238E27FC236}">
                    <a16:creationId xmlns:a16="http://schemas.microsoft.com/office/drawing/2014/main" id="{CF51359A-0587-3A48-B248-FF653AE0EE6E}"/>
                  </a:ext>
                </a:extLst>
              </p:cNvPr>
              <p:cNvSpPr>
                <a:spLocks noRot="1" noChangeAspect="1" noMove="1" noResize="1" noEditPoints="1" noAdjustHandles="1" noChangeArrowheads="1" noChangeShapeType="1" noTextEdit="1"/>
              </p:cNvSpPr>
              <p:nvPr/>
            </p:nvSpPr>
            <p:spPr>
              <a:xfrm>
                <a:off x="10285998" y="2196677"/>
                <a:ext cx="1777666" cy="505779"/>
              </a:xfrm>
              <a:prstGeom prst="rect">
                <a:avLst/>
              </a:prstGeom>
              <a:blipFill>
                <a:blip r:embed="rId12"/>
                <a:stretch>
                  <a:fillRect t="-156098" r="-26950" b="-2414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034812F4-9330-9F4D-9EEE-CB456D0D5D93}"/>
                  </a:ext>
                </a:extLst>
              </p:cNvPr>
              <p:cNvSpPr/>
              <p:nvPr/>
            </p:nvSpPr>
            <p:spPr>
              <a:xfrm>
                <a:off x="10396144" y="3250601"/>
                <a:ext cx="75963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smtClean="0">
                              <a:latin typeface="Cambria Math" panose="02040503050406030204" pitchFamily="18" charset="0"/>
                            </a:rPr>
                            <m:t>|</m:t>
                          </m:r>
                          <m:r>
                            <a:rPr lang="en-US" sz="2400" b="0" i="1" smtClean="0">
                              <a:latin typeface="Cambria Math" panose="02040503050406030204" pitchFamily="18" charset="0"/>
                            </a:rPr>
                            <m:t>−</m:t>
                          </m:r>
                        </m:e>
                      </m:d>
                    </m:oMath>
                  </m:oMathPara>
                </a14:m>
                <a:endParaRPr lang="en-US" sz="2400" dirty="0"/>
              </a:p>
            </p:txBody>
          </p:sp>
        </mc:Choice>
        <mc:Fallback xmlns="">
          <p:sp>
            <p:nvSpPr>
              <p:cNvPr id="41" name="Rectangle 40">
                <a:extLst>
                  <a:ext uri="{FF2B5EF4-FFF2-40B4-BE49-F238E27FC236}">
                    <a16:creationId xmlns:a16="http://schemas.microsoft.com/office/drawing/2014/main" id="{034812F4-9330-9F4D-9EEE-CB456D0D5D93}"/>
                  </a:ext>
                </a:extLst>
              </p:cNvPr>
              <p:cNvSpPr>
                <a:spLocks noRot="1" noChangeAspect="1" noMove="1" noResize="1" noEditPoints="1" noAdjustHandles="1" noChangeArrowheads="1" noChangeShapeType="1" noTextEdit="1"/>
              </p:cNvSpPr>
              <p:nvPr/>
            </p:nvSpPr>
            <p:spPr>
              <a:xfrm>
                <a:off x="10396144" y="3250601"/>
                <a:ext cx="759632" cy="461665"/>
              </a:xfrm>
              <a:prstGeom prst="rect">
                <a:avLst/>
              </a:prstGeom>
              <a:blipFill>
                <a:blip r:embed="rId13"/>
                <a:stretch>
                  <a:fillRect l="-5000" t="-124324" r="-41667"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2D00984A-4740-CD4D-AF78-1FE33D8D493C}"/>
                  </a:ext>
                </a:extLst>
              </p:cNvPr>
              <p:cNvSpPr/>
              <p:nvPr/>
            </p:nvSpPr>
            <p:spPr>
              <a:xfrm>
                <a:off x="6409637" y="3241652"/>
                <a:ext cx="1229760" cy="461665"/>
              </a:xfrm>
              <a:prstGeom prst="rect">
                <a:avLst/>
              </a:prstGeom>
            </p:spPr>
            <p:txBody>
              <a:bodyPr wrap="none">
                <a:spAutoFit/>
              </a:bodyPr>
              <a:lstStyle/>
              <a:p>
                <a14:m>
                  <m:oMath xmlns:m="http://schemas.openxmlformats.org/officeDocument/2006/math">
                    <m:d>
                      <m:dPr>
                        <m:begChr m:val=""/>
                        <m:endChr m:val="⟩"/>
                        <m:ctrlPr>
                          <a:rPr lang="en-US" sz="2400" i="1" smtClean="0">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𝑦</m:t>
                        </m:r>
                      </m:e>
                    </m:d>
                  </m:oMath>
                </a14:m>
                <a:r>
                  <a:rPr lang="en-US" sz="2400" dirty="0"/>
                  <a:t>=</a:t>
                </a:r>
                <a14:m>
                  <m:oMath xmlns:m="http://schemas.openxmlformats.org/officeDocument/2006/math">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m:t>
                        </m:r>
                      </m:e>
                    </m:d>
                  </m:oMath>
                </a14:m>
                <a:endParaRPr lang="en-US" sz="2400" dirty="0"/>
              </a:p>
            </p:txBody>
          </p:sp>
        </mc:Choice>
        <mc:Fallback xmlns="">
          <p:sp>
            <p:nvSpPr>
              <p:cNvPr id="44" name="Rectangle 43">
                <a:extLst>
                  <a:ext uri="{FF2B5EF4-FFF2-40B4-BE49-F238E27FC236}">
                    <a16:creationId xmlns:a16="http://schemas.microsoft.com/office/drawing/2014/main" id="{2D00984A-4740-CD4D-AF78-1FE33D8D493C}"/>
                  </a:ext>
                </a:extLst>
              </p:cNvPr>
              <p:cNvSpPr>
                <a:spLocks noRot="1" noChangeAspect="1" noMove="1" noResize="1" noEditPoints="1" noAdjustHandles="1" noChangeArrowheads="1" noChangeShapeType="1" noTextEdit="1"/>
              </p:cNvSpPr>
              <p:nvPr/>
            </p:nvSpPr>
            <p:spPr>
              <a:xfrm>
                <a:off x="6409637" y="3241652"/>
                <a:ext cx="1229760" cy="461665"/>
              </a:xfrm>
              <a:prstGeom prst="rect">
                <a:avLst/>
              </a:prstGeom>
              <a:blipFill>
                <a:blip r:embed="rId14"/>
                <a:stretch>
                  <a:fillRect l="-15306" t="-121053" r="-27551" b="-184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Rectangle 44">
                <a:extLst>
                  <a:ext uri="{FF2B5EF4-FFF2-40B4-BE49-F238E27FC236}">
                    <a16:creationId xmlns:a16="http://schemas.microsoft.com/office/drawing/2014/main" id="{5B4F86ED-5D1F-3B41-83DE-73E145EB4991}"/>
                  </a:ext>
                </a:extLst>
              </p:cNvPr>
              <p:cNvSpPr/>
              <p:nvPr/>
            </p:nvSpPr>
            <p:spPr>
              <a:xfrm>
                <a:off x="1377626" y="5346089"/>
                <a:ext cx="357444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en-US" sz="2800" i="1">
                              <a:latin typeface="Cambria Math" panose="02040503050406030204" pitchFamily="18" charset="0"/>
                            </a:rPr>
                            <m:t>𝑥</m:t>
                          </m:r>
                        </m:e>
                      </m:d>
                      <m:d>
                        <m:dPr>
                          <m:begChr m:val="|"/>
                          <m:endChr m:val="⟩"/>
                          <m:ctrlPr>
                            <a:rPr lang="en-US" sz="2800" i="1">
                              <a:latin typeface="Cambria Math" panose="02040503050406030204" pitchFamily="18" charset="0"/>
                            </a:rPr>
                          </m:ctrlPr>
                        </m:dPr>
                        <m:e>
                          <m:r>
                            <a:rPr lang="en-US" sz="2800" b="0" i="1" smtClean="0">
                              <a:latin typeface="Cambria Math" panose="02040503050406030204" pitchFamily="18" charset="0"/>
                            </a:rPr>
                            <m:t>𝑦</m:t>
                          </m:r>
                        </m:e>
                      </m:d>
                      <m:r>
                        <a:rPr lang="en-US" sz="2800" i="1">
                          <a:latin typeface="Cambria Math" panose="02040503050406030204" pitchFamily="18" charset="0"/>
                        </a:rPr>
                        <m:t>→</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𝑥</m:t>
                          </m:r>
                        </m:e>
                      </m:d>
                      <m:d>
                        <m:dPr>
                          <m:begChr m:val="|"/>
                          <m:endChr m:val="⟩"/>
                          <m:ctrlPr>
                            <a:rPr lang="en-US" sz="2800" i="1">
                              <a:latin typeface="Cambria Math" panose="02040503050406030204" pitchFamily="18" charset="0"/>
                            </a:rPr>
                          </m:ctrlPr>
                        </m:dPr>
                        <m:e>
                          <m:r>
                            <a:rPr lang="en-US" sz="2800" b="0" i="1" smtClean="0">
                              <a:latin typeface="Cambria Math" panose="02040503050406030204" pitchFamily="18" charset="0"/>
                            </a:rPr>
                            <m:t>𝑦</m:t>
                          </m:r>
                          <m:r>
                            <a:rPr lang="en-US" sz="2800" i="1">
                              <a:latin typeface="Cambria Math" panose="02040503050406030204" pitchFamily="18" charset="0"/>
                            </a:rPr>
                            <m:t>⨁</m:t>
                          </m:r>
                          <m:r>
                            <a:rPr lang="en-US" sz="2800" i="1">
                              <a:latin typeface="Cambria Math" panose="02040503050406030204" pitchFamily="18" charset="0"/>
                            </a:rPr>
                            <m:t>𝑓</m:t>
                          </m:r>
                          <m:d>
                            <m:dPr>
                              <m:ctrlPr>
                                <a:rPr lang="en-US" sz="2800" i="1">
                                  <a:latin typeface="Cambria Math" panose="02040503050406030204" pitchFamily="18" charset="0"/>
                                </a:rPr>
                              </m:ctrlPr>
                            </m:dPr>
                            <m:e>
                              <m:r>
                                <a:rPr lang="en-US" sz="2800" i="1">
                                  <a:latin typeface="Cambria Math" panose="02040503050406030204" pitchFamily="18" charset="0"/>
                                </a:rPr>
                                <m:t>𝑥</m:t>
                              </m:r>
                            </m:e>
                          </m:d>
                        </m:e>
                      </m:d>
                    </m:oMath>
                  </m:oMathPara>
                </a14:m>
                <a:endParaRPr lang="en-US" sz="2800" i="1" dirty="0"/>
              </a:p>
            </p:txBody>
          </p:sp>
        </mc:Choice>
        <mc:Fallback xmlns="">
          <p:sp>
            <p:nvSpPr>
              <p:cNvPr id="45" name="Rectangle 44">
                <a:extLst>
                  <a:ext uri="{FF2B5EF4-FFF2-40B4-BE49-F238E27FC236}">
                    <a16:creationId xmlns:a16="http://schemas.microsoft.com/office/drawing/2014/main" id="{5B4F86ED-5D1F-3B41-83DE-73E145EB4991}"/>
                  </a:ext>
                </a:extLst>
              </p:cNvPr>
              <p:cNvSpPr>
                <a:spLocks noRot="1" noChangeAspect="1" noMove="1" noResize="1" noEditPoints="1" noAdjustHandles="1" noChangeArrowheads="1" noChangeShapeType="1" noTextEdit="1"/>
              </p:cNvSpPr>
              <p:nvPr/>
            </p:nvSpPr>
            <p:spPr>
              <a:xfrm>
                <a:off x="1377626" y="5346089"/>
                <a:ext cx="3574440" cy="523220"/>
              </a:xfrm>
              <a:prstGeom prst="rect">
                <a:avLst/>
              </a:prstGeom>
              <a:blipFill>
                <a:blip r:embed="rId15"/>
                <a:stretch>
                  <a:fillRect b="-16667"/>
                </a:stretch>
              </a:blipFill>
            </p:spPr>
            <p:txBody>
              <a:bodyPr/>
              <a:lstStyle/>
              <a:p>
                <a:r>
                  <a:rPr lang="en-US">
                    <a:noFill/>
                  </a:rPr>
                  <a:t> </a:t>
                </a:r>
              </a:p>
            </p:txBody>
          </p:sp>
        </mc:Fallback>
      </mc:AlternateContent>
    </p:spTree>
    <p:extLst>
      <p:ext uri="{BB962C8B-B14F-4D97-AF65-F5344CB8AC3E}">
        <p14:creationId xmlns:p14="http://schemas.microsoft.com/office/powerpoint/2010/main" val="9679768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20285AB-08AE-3B48-A7B5-18F9C0963A9A}"/>
              </a:ext>
            </a:extLst>
          </p:cNvPr>
          <p:cNvSpPr txBox="1"/>
          <p:nvPr/>
        </p:nvSpPr>
        <p:spPr>
          <a:xfrm>
            <a:off x="6294935" y="1536192"/>
            <a:ext cx="4956806" cy="1938992"/>
          </a:xfrm>
          <a:prstGeom prst="rect">
            <a:avLst/>
          </a:prstGeom>
          <a:noFill/>
        </p:spPr>
        <p:txBody>
          <a:bodyPr wrap="none" rtlCol="0">
            <a:spAutoFit/>
          </a:bodyPr>
          <a:lstStyle/>
          <a:p>
            <a:pPr algn="ctr"/>
            <a:r>
              <a:rPr lang="en-US" sz="6000" dirty="0">
                <a:latin typeface="Comic Sans MS" panose="030F0902030302020204" pitchFamily="66" charset="0"/>
              </a:rPr>
              <a:t>Quantum</a:t>
            </a:r>
          </a:p>
          <a:p>
            <a:pPr algn="ctr"/>
            <a:r>
              <a:rPr lang="en-US" sz="6000" dirty="0">
                <a:latin typeface="Comic Sans MS" panose="030F0902030302020204" pitchFamily="66" charset="0"/>
              </a:rPr>
              <a:t>superposition</a:t>
            </a:r>
          </a:p>
        </p:txBody>
      </p:sp>
      <p:pic>
        <p:nvPicPr>
          <p:cNvPr id="7" name="Picture 6">
            <a:extLst>
              <a:ext uri="{FF2B5EF4-FFF2-40B4-BE49-F238E27FC236}">
                <a16:creationId xmlns:a16="http://schemas.microsoft.com/office/drawing/2014/main" id="{8CB86A50-B7E1-4E46-A696-521D83352BB8}"/>
              </a:ext>
            </a:extLst>
          </p:cNvPr>
          <p:cNvPicPr>
            <a:picLocks noChangeAspect="1"/>
          </p:cNvPicPr>
          <p:nvPr/>
        </p:nvPicPr>
        <p:blipFill>
          <a:blip r:embed="rId3"/>
          <a:stretch>
            <a:fillRect/>
          </a:stretch>
        </p:blipFill>
        <p:spPr>
          <a:xfrm>
            <a:off x="603250" y="4064000"/>
            <a:ext cx="4417848" cy="2609850"/>
          </a:xfrm>
          <a:prstGeom prst="rect">
            <a:avLst/>
          </a:prstGeom>
        </p:spPr>
      </p:pic>
      <p:pic>
        <p:nvPicPr>
          <p:cNvPr id="9" name="Picture 8">
            <a:extLst>
              <a:ext uri="{FF2B5EF4-FFF2-40B4-BE49-F238E27FC236}">
                <a16:creationId xmlns:a16="http://schemas.microsoft.com/office/drawing/2014/main" id="{7D6A7CB4-6109-CC4D-8329-F820E600FD19}"/>
              </a:ext>
            </a:extLst>
          </p:cNvPr>
          <p:cNvPicPr>
            <a:picLocks noChangeAspect="1"/>
          </p:cNvPicPr>
          <p:nvPr/>
        </p:nvPicPr>
        <p:blipFill>
          <a:blip r:embed="rId4"/>
          <a:stretch>
            <a:fillRect/>
          </a:stretch>
        </p:blipFill>
        <p:spPr>
          <a:xfrm>
            <a:off x="2960492" y="1500073"/>
            <a:ext cx="4049907" cy="5038839"/>
          </a:xfrm>
          <a:prstGeom prst="rect">
            <a:avLst/>
          </a:prstGeom>
        </p:spPr>
      </p:pic>
      <p:sp>
        <p:nvSpPr>
          <p:cNvPr id="8" name="Slide Number Placeholder 2">
            <a:extLst>
              <a:ext uri="{FF2B5EF4-FFF2-40B4-BE49-F238E27FC236}">
                <a16:creationId xmlns:a16="http://schemas.microsoft.com/office/drawing/2014/main" id="{C579387C-A3BC-DD49-862B-803810184306}"/>
              </a:ext>
            </a:extLst>
          </p:cNvPr>
          <p:cNvSpPr>
            <a:spLocks noGrp="1"/>
          </p:cNvSpPr>
          <p:nvPr>
            <p:ph type="sldNum" sz="quarter" idx="12"/>
          </p:nvPr>
        </p:nvSpPr>
        <p:spPr>
          <a:xfrm>
            <a:off x="0" y="6492875"/>
            <a:ext cx="587829" cy="365125"/>
          </a:xfrm>
        </p:spPr>
        <p:txBody>
          <a:bodyPr/>
          <a:lstStyle/>
          <a:p>
            <a:fld id="{591A223C-FA10-BC46-A853-03BA373D023C}" type="slidenum">
              <a:rPr lang="en-US" smtClean="0"/>
              <a:t>23</a:t>
            </a:fld>
            <a:endParaRPr lang="en-US"/>
          </a:p>
        </p:txBody>
      </p:sp>
    </p:spTree>
    <p:extLst>
      <p:ext uri="{BB962C8B-B14F-4D97-AF65-F5344CB8AC3E}">
        <p14:creationId xmlns:p14="http://schemas.microsoft.com/office/powerpoint/2010/main" val="38412526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Picture 44">
            <a:extLst>
              <a:ext uri="{FF2B5EF4-FFF2-40B4-BE49-F238E27FC236}">
                <a16:creationId xmlns:a16="http://schemas.microsoft.com/office/drawing/2014/main" id="{00385B25-3CF1-A247-8C71-C37C33C35421}"/>
              </a:ext>
            </a:extLst>
          </p:cNvPr>
          <p:cNvPicPr>
            <a:picLocks/>
          </p:cNvPicPr>
          <p:nvPr/>
        </p:nvPicPr>
        <p:blipFill>
          <a:blip r:embed="rId3"/>
          <a:stretch>
            <a:fillRect/>
          </a:stretch>
        </p:blipFill>
        <p:spPr>
          <a:xfrm flipV="1">
            <a:off x="2948789" y="1859493"/>
            <a:ext cx="7958829" cy="45719"/>
          </a:xfrm>
          <a:prstGeom prst="rect">
            <a:avLst/>
          </a:prstGeom>
        </p:spPr>
      </p:pic>
      <p:pic>
        <p:nvPicPr>
          <p:cNvPr id="46" name="Picture 45">
            <a:extLst>
              <a:ext uri="{FF2B5EF4-FFF2-40B4-BE49-F238E27FC236}">
                <a16:creationId xmlns:a16="http://schemas.microsoft.com/office/drawing/2014/main" id="{F42A2E7F-0A04-5B45-B389-2828815BD683}"/>
              </a:ext>
            </a:extLst>
          </p:cNvPr>
          <p:cNvPicPr>
            <a:picLocks/>
          </p:cNvPicPr>
          <p:nvPr/>
        </p:nvPicPr>
        <p:blipFill>
          <a:blip r:embed="rId3"/>
          <a:stretch>
            <a:fillRect/>
          </a:stretch>
        </p:blipFill>
        <p:spPr>
          <a:xfrm flipV="1">
            <a:off x="2948789" y="3153941"/>
            <a:ext cx="7958829" cy="45719"/>
          </a:xfrm>
          <a:prstGeom prst="rect">
            <a:avLst/>
          </a:prstGeom>
        </p:spPr>
      </p:pic>
      <p:pic>
        <p:nvPicPr>
          <p:cNvPr id="47" name="Picture 46">
            <a:extLst>
              <a:ext uri="{FF2B5EF4-FFF2-40B4-BE49-F238E27FC236}">
                <a16:creationId xmlns:a16="http://schemas.microsoft.com/office/drawing/2014/main" id="{9B27EE4A-8E2F-374D-B7EE-2E4950B6BA5D}"/>
              </a:ext>
            </a:extLst>
          </p:cNvPr>
          <p:cNvPicPr>
            <a:picLocks/>
          </p:cNvPicPr>
          <p:nvPr/>
        </p:nvPicPr>
        <p:blipFill>
          <a:blip r:embed="rId3"/>
          <a:stretch>
            <a:fillRect/>
          </a:stretch>
        </p:blipFill>
        <p:spPr>
          <a:xfrm flipV="1">
            <a:off x="2948788" y="5531920"/>
            <a:ext cx="7958829" cy="45719"/>
          </a:xfrm>
          <a:prstGeom prst="rect">
            <a:avLst/>
          </a:prstGeom>
        </p:spPr>
      </p:pic>
      <p:sp>
        <p:nvSpPr>
          <p:cNvPr id="4" name="Title 3">
            <a:extLst>
              <a:ext uri="{FF2B5EF4-FFF2-40B4-BE49-F238E27FC236}">
                <a16:creationId xmlns:a16="http://schemas.microsoft.com/office/drawing/2014/main" id="{75325EDE-E7C5-4C4C-82BF-F947302BAF43}"/>
              </a:ext>
            </a:extLst>
          </p:cNvPr>
          <p:cNvSpPr>
            <a:spLocks noGrp="1"/>
          </p:cNvSpPr>
          <p:nvPr>
            <p:ph type="title"/>
          </p:nvPr>
        </p:nvSpPr>
        <p:spPr/>
        <p:txBody>
          <a:bodyPr/>
          <a:lstStyle/>
          <a:p>
            <a:r>
              <a:rPr lang="en-US" dirty="0"/>
              <a:t>Quantum Superposition</a:t>
            </a:r>
          </a:p>
        </p:txBody>
      </p:sp>
      <p:sp>
        <p:nvSpPr>
          <p:cNvPr id="3" name="Slide Number Placeholder 2">
            <a:extLst>
              <a:ext uri="{FF2B5EF4-FFF2-40B4-BE49-F238E27FC236}">
                <a16:creationId xmlns:a16="http://schemas.microsoft.com/office/drawing/2014/main" id="{9FC6E789-482F-CA48-957C-A0758D3D611C}"/>
              </a:ext>
            </a:extLst>
          </p:cNvPr>
          <p:cNvSpPr>
            <a:spLocks noGrp="1"/>
          </p:cNvSpPr>
          <p:nvPr>
            <p:ph type="sldNum" sz="quarter" idx="12"/>
          </p:nvPr>
        </p:nvSpPr>
        <p:spPr/>
        <p:txBody>
          <a:bodyPr/>
          <a:lstStyle/>
          <a:p>
            <a:fld id="{591A223C-FA10-BC46-A853-03BA373D023C}" type="slidenum">
              <a:rPr lang="en-US" smtClean="0"/>
              <a:t>24</a:t>
            </a:fld>
            <a:endParaRPr lang="en-US"/>
          </a:p>
        </p:txBody>
      </p:sp>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7D20C014-8E6C-864C-8DC0-1107766722CB}"/>
                  </a:ext>
                </a:extLst>
              </p:cNvPr>
              <p:cNvSpPr/>
              <p:nvPr/>
            </p:nvSpPr>
            <p:spPr>
              <a:xfrm>
                <a:off x="1893982" y="1550126"/>
                <a:ext cx="70807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m:t>
                          </m:r>
                          <m:r>
                            <a:rPr lang="sr-Latn-RS" sz="2800" i="1" smtClean="0">
                              <a:solidFill>
                                <a:srgbClr val="002060"/>
                              </a:solidFill>
                              <a:latin typeface="Cambria Math" panose="02040503050406030204" pitchFamily="18" charset="0"/>
                              <a:ea typeface="Cambria Math" panose="02040503050406030204" pitchFamily="18" charset="0"/>
                            </a:rPr>
                            <m:t>0</m:t>
                          </m:r>
                        </m:e>
                      </m:d>
                    </m:oMath>
                  </m:oMathPara>
                </a14:m>
                <a:endParaRPr lang="en-US" sz="2800" dirty="0"/>
              </a:p>
            </p:txBody>
          </p:sp>
        </mc:Choice>
        <mc:Fallback xmlns="">
          <p:sp>
            <p:nvSpPr>
              <p:cNvPr id="28" name="Rectangle 27">
                <a:extLst>
                  <a:ext uri="{FF2B5EF4-FFF2-40B4-BE49-F238E27FC236}">
                    <a16:creationId xmlns:a16="http://schemas.microsoft.com/office/drawing/2014/main" id="{7D20C014-8E6C-864C-8DC0-1107766722CB}"/>
                  </a:ext>
                </a:extLst>
              </p:cNvPr>
              <p:cNvSpPr>
                <a:spLocks noRot="1" noChangeAspect="1" noMove="1" noResize="1" noEditPoints="1" noAdjustHandles="1" noChangeArrowheads="1" noChangeShapeType="1" noTextEdit="1"/>
              </p:cNvSpPr>
              <p:nvPr/>
            </p:nvSpPr>
            <p:spPr>
              <a:xfrm>
                <a:off x="1893982" y="1550126"/>
                <a:ext cx="708078" cy="523220"/>
              </a:xfrm>
              <a:prstGeom prst="rect">
                <a:avLst/>
              </a:prstGeom>
              <a:blipFill>
                <a:blip r:embed="rId4"/>
                <a:stretch>
                  <a:fillRect l="-28070" t="-133333" r="-54386" b="-20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203427EA-3CF4-B34F-A1F8-EC98026E334D}"/>
                  </a:ext>
                </a:extLst>
              </p:cNvPr>
              <p:cNvSpPr/>
              <p:nvPr/>
            </p:nvSpPr>
            <p:spPr>
              <a:xfrm>
                <a:off x="1893982" y="2830652"/>
                <a:ext cx="70807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m:t>
                          </m:r>
                          <m:r>
                            <a:rPr lang="sr-Latn-RS" sz="2800" i="1" smtClean="0">
                              <a:solidFill>
                                <a:srgbClr val="002060"/>
                              </a:solidFill>
                              <a:latin typeface="Cambria Math" panose="02040503050406030204" pitchFamily="18" charset="0"/>
                              <a:ea typeface="Cambria Math" panose="02040503050406030204" pitchFamily="18" charset="0"/>
                            </a:rPr>
                            <m:t>0</m:t>
                          </m:r>
                        </m:e>
                      </m:d>
                    </m:oMath>
                  </m:oMathPara>
                </a14:m>
                <a:endParaRPr lang="en-US" sz="2800" dirty="0"/>
              </a:p>
            </p:txBody>
          </p:sp>
        </mc:Choice>
        <mc:Fallback xmlns="">
          <p:sp>
            <p:nvSpPr>
              <p:cNvPr id="34" name="Rectangle 33">
                <a:extLst>
                  <a:ext uri="{FF2B5EF4-FFF2-40B4-BE49-F238E27FC236}">
                    <a16:creationId xmlns:a16="http://schemas.microsoft.com/office/drawing/2014/main" id="{203427EA-3CF4-B34F-A1F8-EC98026E334D}"/>
                  </a:ext>
                </a:extLst>
              </p:cNvPr>
              <p:cNvSpPr>
                <a:spLocks noRot="1" noChangeAspect="1" noMove="1" noResize="1" noEditPoints="1" noAdjustHandles="1" noChangeArrowheads="1" noChangeShapeType="1" noTextEdit="1"/>
              </p:cNvSpPr>
              <p:nvPr/>
            </p:nvSpPr>
            <p:spPr>
              <a:xfrm>
                <a:off x="1893982" y="2830652"/>
                <a:ext cx="708079" cy="523220"/>
              </a:xfrm>
              <a:prstGeom prst="rect">
                <a:avLst/>
              </a:prstGeom>
              <a:blipFill>
                <a:blip r:embed="rId5"/>
                <a:stretch>
                  <a:fillRect l="-28070" t="-133333" r="-54386" b="-20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25CB3BCE-9F2F-1A4C-BCB6-AB2938063643}"/>
                  </a:ext>
                </a:extLst>
              </p:cNvPr>
              <p:cNvSpPr/>
              <p:nvPr/>
            </p:nvSpPr>
            <p:spPr>
              <a:xfrm>
                <a:off x="1893982" y="5261510"/>
                <a:ext cx="70807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m:t>
                          </m:r>
                          <m:r>
                            <a:rPr lang="sr-Latn-RS" sz="2800" i="1" smtClean="0">
                              <a:solidFill>
                                <a:srgbClr val="002060"/>
                              </a:solidFill>
                              <a:latin typeface="Cambria Math" panose="02040503050406030204" pitchFamily="18" charset="0"/>
                              <a:ea typeface="Cambria Math" panose="02040503050406030204" pitchFamily="18" charset="0"/>
                            </a:rPr>
                            <m:t>0</m:t>
                          </m:r>
                        </m:e>
                      </m:d>
                    </m:oMath>
                  </m:oMathPara>
                </a14:m>
                <a:endParaRPr lang="en-US" sz="2800" dirty="0"/>
              </a:p>
            </p:txBody>
          </p:sp>
        </mc:Choice>
        <mc:Fallback xmlns="">
          <p:sp>
            <p:nvSpPr>
              <p:cNvPr id="38" name="Rectangle 37">
                <a:extLst>
                  <a:ext uri="{FF2B5EF4-FFF2-40B4-BE49-F238E27FC236}">
                    <a16:creationId xmlns:a16="http://schemas.microsoft.com/office/drawing/2014/main" id="{25CB3BCE-9F2F-1A4C-BCB6-AB2938063643}"/>
                  </a:ext>
                </a:extLst>
              </p:cNvPr>
              <p:cNvSpPr>
                <a:spLocks noRot="1" noChangeAspect="1" noMove="1" noResize="1" noEditPoints="1" noAdjustHandles="1" noChangeArrowheads="1" noChangeShapeType="1" noTextEdit="1"/>
              </p:cNvSpPr>
              <p:nvPr/>
            </p:nvSpPr>
            <p:spPr>
              <a:xfrm>
                <a:off x="1893982" y="5261510"/>
                <a:ext cx="708078" cy="523220"/>
              </a:xfrm>
              <a:prstGeom prst="rect">
                <a:avLst/>
              </a:prstGeom>
              <a:blipFill>
                <a:blip r:embed="rId6"/>
                <a:stretch>
                  <a:fillRect l="-28070" t="-133333" r="-54386" b="-202381"/>
                </a:stretch>
              </a:blipFill>
            </p:spPr>
            <p:txBody>
              <a:bodyPr/>
              <a:lstStyle/>
              <a:p>
                <a:r>
                  <a:rPr lang="en-US">
                    <a:noFill/>
                  </a:rPr>
                  <a:t> </a:t>
                </a:r>
              </a:p>
            </p:txBody>
          </p:sp>
        </mc:Fallback>
      </mc:AlternateContent>
      <p:sp>
        <p:nvSpPr>
          <p:cNvPr id="40" name="Oval 39">
            <a:extLst>
              <a:ext uri="{FF2B5EF4-FFF2-40B4-BE49-F238E27FC236}">
                <a16:creationId xmlns:a16="http://schemas.microsoft.com/office/drawing/2014/main" id="{4179BBE4-6C12-5D4C-A450-71D9213F4228}"/>
              </a:ext>
            </a:extLst>
          </p:cNvPr>
          <p:cNvSpPr/>
          <p:nvPr/>
        </p:nvSpPr>
        <p:spPr>
          <a:xfrm>
            <a:off x="3798783" y="3892074"/>
            <a:ext cx="180000" cy="18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55B8897E-57C9-534F-9538-6F9D7F540C98}"/>
              </a:ext>
            </a:extLst>
          </p:cNvPr>
          <p:cNvSpPr/>
          <p:nvPr/>
        </p:nvSpPr>
        <p:spPr>
          <a:xfrm>
            <a:off x="3798783" y="4250292"/>
            <a:ext cx="180000" cy="18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421A687F-296E-C840-A3C1-F1FC21BB3372}"/>
              </a:ext>
            </a:extLst>
          </p:cNvPr>
          <p:cNvSpPr/>
          <p:nvPr/>
        </p:nvSpPr>
        <p:spPr>
          <a:xfrm>
            <a:off x="3798783" y="4608510"/>
            <a:ext cx="180000" cy="18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a:extLst>
              <a:ext uri="{FF2B5EF4-FFF2-40B4-BE49-F238E27FC236}">
                <a16:creationId xmlns:a16="http://schemas.microsoft.com/office/drawing/2014/main" id="{C68BA5E1-A229-D843-94AC-E498FB6B0FA7}"/>
              </a:ext>
            </a:extLst>
          </p:cNvPr>
          <p:cNvSpPr/>
          <p:nvPr/>
        </p:nvSpPr>
        <p:spPr>
          <a:xfrm>
            <a:off x="3483008" y="1397818"/>
            <a:ext cx="902481" cy="923386"/>
          </a:xfrm>
          <a:custGeom>
            <a:avLst/>
            <a:gdLst>
              <a:gd name="connsiteX0" fmla="*/ 21489 w 745389"/>
              <a:gd name="connsiteY0" fmla="*/ 6710 h 734634"/>
              <a:gd name="connsiteX1" fmla="*/ 62764 w 745389"/>
              <a:gd name="connsiteY1" fmla="*/ 9885 h 734634"/>
              <a:gd name="connsiteX2" fmla="*/ 132614 w 745389"/>
              <a:gd name="connsiteY2" fmla="*/ 3535 h 734634"/>
              <a:gd name="connsiteX3" fmla="*/ 450114 w 745389"/>
              <a:gd name="connsiteY3" fmla="*/ 6710 h 734634"/>
              <a:gd name="connsiteX4" fmla="*/ 491389 w 745389"/>
              <a:gd name="connsiteY4" fmla="*/ 9885 h 734634"/>
              <a:gd name="connsiteX5" fmla="*/ 583464 w 745389"/>
              <a:gd name="connsiteY5" fmla="*/ 13060 h 734634"/>
              <a:gd name="connsiteX6" fmla="*/ 723164 w 745389"/>
              <a:gd name="connsiteY6" fmla="*/ 9885 h 734634"/>
              <a:gd name="connsiteX7" fmla="*/ 739039 w 745389"/>
              <a:gd name="connsiteY7" fmla="*/ 13060 h 734634"/>
              <a:gd name="connsiteX8" fmla="*/ 732689 w 745389"/>
              <a:gd name="connsiteY8" fmla="*/ 63860 h 734634"/>
              <a:gd name="connsiteX9" fmla="*/ 735864 w 745389"/>
              <a:gd name="connsiteY9" fmla="*/ 140060 h 734634"/>
              <a:gd name="connsiteX10" fmla="*/ 742214 w 745389"/>
              <a:gd name="connsiteY10" fmla="*/ 159110 h 734634"/>
              <a:gd name="connsiteX11" fmla="*/ 745389 w 745389"/>
              <a:gd name="connsiteY11" fmla="*/ 168635 h 734634"/>
              <a:gd name="connsiteX12" fmla="*/ 742214 w 745389"/>
              <a:gd name="connsiteY12" fmla="*/ 267060 h 734634"/>
              <a:gd name="connsiteX13" fmla="*/ 739039 w 745389"/>
              <a:gd name="connsiteY13" fmla="*/ 435335 h 734634"/>
              <a:gd name="connsiteX14" fmla="*/ 732689 w 745389"/>
              <a:gd name="connsiteY14" fmla="*/ 482960 h 734634"/>
              <a:gd name="connsiteX15" fmla="*/ 726339 w 745389"/>
              <a:gd name="connsiteY15" fmla="*/ 546460 h 734634"/>
              <a:gd name="connsiteX16" fmla="*/ 723164 w 745389"/>
              <a:gd name="connsiteY16" fmla="*/ 679810 h 734634"/>
              <a:gd name="connsiteX17" fmla="*/ 719989 w 745389"/>
              <a:gd name="connsiteY17" fmla="*/ 708385 h 734634"/>
              <a:gd name="connsiteX18" fmla="*/ 716814 w 745389"/>
              <a:gd name="connsiteY18" fmla="*/ 730610 h 734634"/>
              <a:gd name="connsiteX19" fmla="*/ 659664 w 745389"/>
              <a:gd name="connsiteY19" fmla="*/ 733785 h 734634"/>
              <a:gd name="connsiteX20" fmla="*/ 469164 w 745389"/>
              <a:gd name="connsiteY20" fmla="*/ 727435 h 734634"/>
              <a:gd name="connsiteX21" fmla="*/ 405664 w 745389"/>
              <a:gd name="connsiteY21" fmla="*/ 721085 h 734634"/>
              <a:gd name="connsiteX22" fmla="*/ 237389 w 745389"/>
              <a:gd name="connsiteY22" fmla="*/ 717910 h 734634"/>
              <a:gd name="connsiteX23" fmla="*/ 126264 w 745389"/>
              <a:gd name="connsiteY23" fmla="*/ 721085 h 734634"/>
              <a:gd name="connsiteX24" fmla="*/ 91339 w 745389"/>
              <a:gd name="connsiteY24" fmla="*/ 727435 h 734634"/>
              <a:gd name="connsiteX25" fmla="*/ 24664 w 745389"/>
              <a:gd name="connsiteY25" fmla="*/ 724260 h 734634"/>
              <a:gd name="connsiteX26" fmla="*/ 18314 w 745389"/>
              <a:gd name="connsiteY26" fmla="*/ 714735 h 734634"/>
              <a:gd name="connsiteX27" fmla="*/ 15139 w 745389"/>
              <a:gd name="connsiteY27" fmla="*/ 689335 h 734634"/>
              <a:gd name="connsiteX28" fmla="*/ 8789 w 745389"/>
              <a:gd name="connsiteY28" fmla="*/ 663935 h 734634"/>
              <a:gd name="connsiteX29" fmla="*/ 5614 w 745389"/>
              <a:gd name="connsiteY29" fmla="*/ 644885 h 734634"/>
              <a:gd name="connsiteX30" fmla="*/ 5614 w 745389"/>
              <a:gd name="connsiteY30" fmla="*/ 178160 h 734634"/>
              <a:gd name="connsiteX31" fmla="*/ 15139 w 745389"/>
              <a:gd name="connsiteY31" fmla="*/ 130535 h 734634"/>
              <a:gd name="connsiteX32" fmla="*/ 18314 w 745389"/>
              <a:gd name="connsiteY32" fmla="*/ 111485 h 734634"/>
              <a:gd name="connsiteX33" fmla="*/ 21489 w 745389"/>
              <a:gd name="connsiteY33" fmla="*/ 6710 h 734634"/>
              <a:gd name="connsiteX0" fmla="*/ 21489 w 745389"/>
              <a:gd name="connsiteY0" fmla="*/ 6710 h 734634"/>
              <a:gd name="connsiteX1" fmla="*/ 62764 w 745389"/>
              <a:gd name="connsiteY1" fmla="*/ 9885 h 734634"/>
              <a:gd name="connsiteX2" fmla="*/ 132614 w 745389"/>
              <a:gd name="connsiteY2" fmla="*/ 3535 h 734634"/>
              <a:gd name="connsiteX3" fmla="*/ 450114 w 745389"/>
              <a:gd name="connsiteY3" fmla="*/ 6710 h 734634"/>
              <a:gd name="connsiteX4" fmla="*/ 491389 w 745389"/>
              <a:gd name="connsiteY4" fmla="*/ 9885 h 734634"/>
              <a:gd name="connsiteX5" fmla="*/ 583464 w 745389"/>
              <a:gd name="connsiteY5" fmla="*/ 13060 h 734634"/>
              <a:gd name="connsiteX6" fmla="*/ 723164 w 745389"/>
              <a:gd name="connsiteY6" fmla="*/ 9885 h 734634"/>
              <a:gd name="connsiteX7" fmla="*/ 739039 w 745389"/>
              <a:gd name="connsiteY7" fmla="*/ 13060 h 734634"/>
              <a:gd name="connsiteX8" fmla="*/ 732689 w 745389"/>
              <a:gd name="connsiteY8" fmla="*/ 63860 h 734634"/>
              <a:gd name="connsiteX9" fmla="*/ 735864 w 745389"/>
              <a:gd name="connsiteY9" fmla="*/ 140060 h 734634"/>
              <a:gd name="connsiteX10" fmla="*/ 742214 w 745389"/>
              <a:gd name="connsiteY10" fmla="*/ 159110 h 734634"/>
              <a:gd name="connsiteX11" fmla="*/ 745389 w 745389"/>
              <a:gd name="connsiteY11" fmla="*/ 168635 h 734634"/>
              <a:gd name="connsiteX12" fmla="*/ 742214 w 745389"/>
              <a:gd name="connsiteY12" fmla="*/ 267060 h 734634"/>
              <a:gd name="connsiteX13" fmla="*/ 739039 w 745389"/>
              <a:gd name="connsiteY13" fmla="*/ 435335 h 734634"/>
              <a:gd name="connsiteX14" fmla="*/ 732689 w 745389"/>
              <a:gd name="connsiteY14" fmla="*/ 482960 h 734634"/>
              <a:gd name="connsiteX15" fmla="*/ 726339 w 745389"/>
              <a:gd name="connsiteY15" fmla="*/ 546460 h 734634"/>
              <a:gd name="connsiteX16" fmla="*/ 723164 w 745389"/>
              <a:gd name="connsiteY16" fmla="*/ 679810 h 734634"/>
              <a:gd name="connsiteX17" fmla="*/ 719989 w 745389"/>
              <a:gd name="connsiteY17" fmla="*/ 708385 h 734634"/>
              <a:gd name="connsiteX18" fmla="*/ 716814 w 745389"/>
              <a:gd name="connsiteY18" fmla="*/ 730610 h 734634"/>
              <a:gd name="connsiteX19" fmla="*/ 659664 w 745389"/>
              <a:gd name="connsiteY19" fmla="*/ 733785 h 734634"/>
              <a:gd name="connsiteX20" fmla="*/ 469164 w 745389"/>
              <a:gd name="connsiteY20" fmla="*/ 727435 h 734634"/>
              <a:gd name="connsiteX21" fmla="*/ 405664 w 745389"/>
              <a:gd name="connsiteY21" fmla="*/ 721085 h 734634"/>
              <a:gd name="connsiteX22" fmla="*/ 237389 w 745389"/>
              <a:gd name="connsiteY22" fmla="*/ 717910 h 734634"/>
              <a:gd name="connsiteX23" fmla="*/ 126264 w 745389"/>
              <a:gd name="connsiteY23" fmla="*/ 721085 h 734634"/>
              <a:gd name="connsiteX24" fmla="*/ 91339 w 745389"/>
              <a:gd name="connsiteY24" fmla="*/ 727435 h 734634"/>
              <a:gd name="connsiteX25" fmla="*/ 24664 w 745389"/>
              <a:gd name="connsiteY25" fmla="*/ 724260 h 734634"/>
              <a:gd name="connsiteX26" fmla="*/ 18314 w 745389"/>
              <a:gd name="connsiteY26" fmla="*/ 714735 h 734634"/>
              <a:gd name="connsiteX27" fmla="*/ 15139 w 745389"/>
              <a:gd name="connsiteY27" fmla="*/ 689335 h 734634"/>
              <a:gd name="connsiteX28" fmla="*/ 8789 w 745389"/>
              <a:gd name="connsiteY28" fmla="*/ 663935 h 734634"/>
              <a:gd name="connsiteX29" fmla="*/ 5614 w 745389"/>
              <a:gd name="connsiteY29" fmla="*/ 644885 h 734634"/>
              <a:gd name="connsiteX30" fmla="*/ 5614 w 745389"/>
              <a:gd name="connsiteY30" fmla="*/ 178160 h 734634"/>
              <a:gd name="connsiteX31" fmla="*/ 15139 w 745389"/>
              <a:gd name="connsiteY31" fmla="*/ 130535 h 734634"/>
              <a:gd name="connsiteX32" fmla="*/ 18314 w 745389"/>
              <a:gd name="connsiteY32" fmla="*/ 111485 h 734634"/>
              <a:gd name="connsiteX33" fmla="*/ 21489 w 745389"/>
              <a:gd name="connsiteY33" fmla="*/ 6710 h 734634"/>
              <a:gd name="connsiteX0" fmla="*/ 21489 w 745389"/>
              <a:gd name="connsiteY0" fmla="*/ 6710 h 734634"/>
              <a:gd name="connsiteX1" fmla="*/ 62764 w 745389"/>
              <a:gd name="connsiteY1" fmla="*/ 9885 h 734634"/>
              <a:gd name="connsiteX2" fmla="*/ 132614 w 745389"/>
              <a:gd name="connsiteY2" fmla="*/ 3535 h 734634"/>
              <a:gd name="connsiteX3" fmla="*/ 450114 w 745389"/>
              <a:gd name="connsiteY3" fmla="*/ 6710 h 734634"/>
              <a:gd name="connsiteX4" fmla="*/ 491389 w 745389"/>
              <a:gd name="connsiteY4" fmla="*/ 9885 h 734634"/>
              <a:gd name="connsiteX5" fmla="*/ 583464 w 745389"/>
              <a:gd name="connsiteY5" fmla="*/ 13060 h 734634"/>
              <a:gd name="connsiteX6" fmla="*/ 723164 w 745389"/>
              <a:gd name="connsiteY6" fmla="*/ 9885 h 734634"/>
              <a:gd name="connsiteX7" fmla="*/ 739039 w 745389"/>
              <a:gd name="connsiteY7" fmla="*/ 13060 h 734634"/>
              <a:gd name="connsiteX8" fmla="*/ 732689 w 745389"/>
              <a:gd name="connsiteY8" fmla="*/ 63860 h 734634"/>
              <a:gd name="connsiteX9" fmla="*/ 735864 w 745389"/>
              <a:gd name="connsiteY9" fmla="*/ 140060 h 734634"/>
              <a:gd name="connsiteX10" fmla="*/ 742214 w 745389"/>
              <a:gd name="connsiteY10" fmla="*/ 159110 h 734634"/>
              <a:gd name="connsiteX11" fmla="*/ 745389 w 745389"/>
              <a:gd name="connsiteY11" fmla="*/ 168635 h 734634"/>
              <a:gd name="connsiteX12" fmla="*/ 742214 w 745389"/>
              <a:gd name="connsiteY12" fmla="*/ 267060 h 734634"/>
              <a:gd name="connsiteX13" fmla="*/ 739039 w 745389"/>
              <a:gd name="connsiteY13" fmla="*/ 435335 h 734634"/>
              <a:gd name="connsiteX14" fmla="*/ 732689 w 745389"/>
              <a:gd name="connsiteY14" fmla="*/ 482960 h 734634"/>
              <a:gd name="connsiteX15" fmla="*/ 726339 w 745389"/>
              <a:gd name="connsiteY15" fmla="*/ 546460 h 734634"/>
              <a:gd name="connsiteX16" fmla="*/ 723164 w 745389"/>
              <a:gd name="connsiteY16" fmla="*/ 679810 h 734634"/>
              <a:gd name="connsiteX17" fmla="*/ 719989 w 745389"/>
              <a:gd name="connsiteY17" fmla="*/ 708385 h 734634"/>
              <a:gd name="connsiteX18" fmla="*/ 716814 w 745389"/>
              <a:gd name="connsiteY18" fmla="*/ 730610 h 734634"/>
              <a:gd name="connsiteX19" fmla="*/ 659664 w 745389"/>
              <a:gd name="connsiteY19" fmla="*/ 733785 h 734634"/>
              <a:gd name="connsiteX20" fmla="*/ 469164 w 745389"/>
              <a:gd name="connsiteY20" fmla="*/ 727435 h 734634"/>
              <a:gd name="connsiteX21" fmla="*/ 405664 w 745389"/>
              <a:gd name="connsiteY21" fmla="*/ 721085 h 734634"/>
              <a:gd name="connsiteX22" fmla="*/ 237389 w 745389"/>
              <a:gd name="connsiteY22" fmla="*/ 717910 h 734634"/>
              <a:gd name="connsiteX23" fmla="*/ 126264 w 745389"/>
              <a:gd name="connsiteY23" fmla="*/ 721085 h 734634"/>
              <a:gd name="connsiteX24" fmla="*/ 91339 w 745389"/>
              <a:gd name="connsiteY24" fmla="*/ 727435 h 734634"/>
              <a:gd name="connsiteX25" fmla="*/ 24664 w 745389"/>
              <a:gd name="connsiteY25" fmla="*/ 724260 h 734634"/>
              <a:gd name="connsiteX26" fmla="*/ 18314 w 745389"/>
              <a:gd name="connsiteY26" fmla="*/ 714735 h 734634"/>
              <a:gd name="connsiteX27" fmla="*/ 15139 w 745389"/>
              <a:gd name="connsiteY27" fmla="*/ 689335 h 734634"/>
              <a:gd name="connsiteX28" fmla="*/ 8789 w 745389"/>
              <a:gd name="connsiteY28" fmla="*/ 663935 h 734634"/>
              <a:gd name="connsiteX29" fmla="*/ 5614 w 745389"/>
              <a:gd name="connsiteY29" fmla="*/ 644885 h 734634"/>
              <a:gd name="connsiteX30" fmla="*/ 5614 w 745389"/>
              <a:gd name="connsiteY30" fmla="*/ 178160 h 734634"/>
              <a:gd name="connsiteX31" fmla="*/ 15139 w 745389"/>
              <a:gd name="connsiteY31" fmla="*/ 130535 h 734634"/>
              <a:gd name="connsiteX32" fmla="*/ 21489 w 745389"/>
              <a:gd name="connsiteY32" fmla="*/ 6710 h 734634"/>
              <a:gd name="connsiteX0" fmla="*/ 21489 w 745389"/>
              <a:gd name="connsiteY0" fmla="*/ 6014 h 733938"/>
              <a:gd name="connsiteX1" fmla="*/ 62764 w 745389"/>
              <a:gd name="connsiteY1" fmla="*/ 9189 h 733938"/>
              <a:gd name="connsiteX2" fmla="*/ 132614 w 745389"/>
              <a:gd name="connsiteY2" fmla="*/ 2839 h 733938"/>
              <a:gd name="connsiteX3" fmla="*/ 450114 w 745389"/>
              <a:gd name="connsiteY3" fmla="*/ 6014 h 733938"/>
              <a:gd name="connsiteX4" fmla="*/ 491389 w 745389"/>
              <a:gd name="connsiteY4" fmla="*/ 9189 h 733938"/>
              <a:gd name="connsiteX5" fmla="*/ 583464 w 745389"/>
              <a:gd name="connsiteY5" fmla="*/ 12364 h 733938"/>
              <a:gd name="connsiteX6" fmla="*/ 723164 w 745389"/>
              <a:gd name="connsiteY6" fmla="*/ 9189 h 733938"/>
              <a:gd name="connsiteX7" fmla="*/ 739039 w 745389"/>
              <a:gd name="connsiteY7" fmla="*/ 12364 h 733938"/>
              <a:gd name="connsiteX8" fmla="*/ 732689 w 745389"/>
              <a:gd name="connsiteY8" fmla="*/ 63164 h 733938"/>
              <a:gd name="connsiteX9" fmla="*/ 735864 w 745389"/>
              <a:gd name="connsiteY9" fmla="*/ 139364 h 733938"/>
              <a:gd name="connsiteX10" fmla="*/ 742214 w 745389"/>
              <a:gd name="connsiteY10" fmla="*/ 158414 h 733938"/>
              <a:gd name="connsiteX11" fmla="*/ 745389 w 745389"/>
              <a:gd name="connsiteY11" fmla="*/ 167939 h 733938"/>
              <a:gd name="connsiteX12" fmla="*/ 742214 w 745389"/>
              <a:gd name="connsiteY12" fmla="*/ 266364 h 733938"/>
              <a:gd name="connsiteX13" fmla="*/ 739039 w 745389"/>
              <a:gd name="connsiteY13" fmla="*/ 434639 h 733938"/>
              <a:gd name="connsiteX14" fmla="*/ 732689 w 745389"/>
              <a:gd name="connsiteY14" fmla="*/ 482264 h 733938"/>
              <a:gd name="connsiteX15" fmla="*/ 726339 w 745389"/>
              <a:gd name="connsiteY15" fmla="*/ 545764 h 733938"/>
              <a:gd name="connsiteX16" fmla="*/ 723164 w 745389"/>
              <a:gd name="connsiteY16" fmla="*/ 679114 h 733938"/>
              <a:gd name="connsiteX17" fmla="*/ 719989 w 745389"/>
              <a:gd name="connsiteY17" fmla="*/ 707689 h 733938"/>
              <a:gd name="connsiteX18" fmla="*/ 716814 w 745389"/>
              <a:gd name="connsiteY18" fmla="*/ 729914 h 733938"/>
              <a:gd name="connsiteX19" fmla="*/ 659664 w 745389"/>
              <a:gd name="connsiteY19" fmla="*/ 733089 h 733938"/>
              <a:gd name="connsiteX20" fmla="*/ 469164 w 745389"/>
              <a:gd name="connsiteY20" fmla="*/ 726739 h 733938"/>
              <a:gd name="connsiteX21" fmla="*/ 405664 w 745389"/>
              <a:gd name="connsiteY21" fmla="*/ 720389 h 733938"/>
              <a:gd name="connsiteX22" fmla="*/ 237389 w 745389"/>
              <a:gd name="connsiteY22" fmla="*/ 717214 h 733938"/>
              <a:gd name="connsiteX23" fmla="*/ 126264 w 745389"/>
              <a:gd name="connsiteY23" fmla="*/ 720389 h 733938"/>
              <a:gd name="connsiteX24" fmla="*/ 91339 w 745389"/>
              <a:gd name="connsiteY24" fmla="*/ 726739 h 733938"/>
              <a:gd name="connsiteX25" fmla="*/ 24664 w 745389"/>
              <a:gd name="connsiteY25" fmla="*/ 723564 h 733938"/>
              <a:gd name="connsiteX26" fmla="*/ 18314 w 745389"/>
              <a:gd name="connsiteY26" fmla="*/ 714039 h 733938"/>
              <a:gd name="connsiteX27" fmla="*/ 15139 w 745389"/>
              <a:gd name="connsiteY27" fmla="*/ 688639 h 733938"/>
              <a:gd name="connsiteX28" fmla="*/ 8789 w 745389"/>
              <a:gd name="connsiteY28" fmla="*/ 663239 h 733938"/>
              <a:gd name="connsiteX29" fmla="*/ 5614 w 745389"/>
              <a:gd name="connsiteY29" fmla="*/ 644189 h 733938"/>
              <a:gd name="connsiteX30" fmla="*/ 5614 w 745389"/>
              <a:gd name="connsiteY30" fmla="*/ 177464 h 733938"/>
              <a:gd name="connsiteX31" fmla="*/ 11964 w 745389"/>
              <a:gd name="connsiteY31" fmla="*/ 101264 h 733938"/>
              <a:gd name="connsiteX32" fmla="*/ 21489 w 745389"/>
              <a:gd name="connsiteY32" fmla="*/ 6014 h 733938"/>
              <a:gd name="connsiteX0" fmla="*/ 19035 w 742935"/>
              <a:gd name="connsiteY0" fmla="*/ 6014 h 733938"/>
              <a:gd name="connsiteX1" fmla="*/ 60310 w 742935"/>
              <a:gd name="connsiteY1" fmla="*/ 9189 h 733938"/>
              <a:gd name="connsiteX2" fmla="*/ 130160 w 742935"/>
              <a:gd name="connsiteY2" fmla="*/ 2839 h 733938"/>
              <a:gd name="connsiteX3" fmla="*/ 447660 w 742935"/>
              <a:gd name="connsiteY3" fmla="*/ 6014 h 733938"/>
              <a:gd name="connsiteX4" fmla="*/ 488935 w 742935"/>
              <a:gd name="connsiteY4" fmla="*/ 9189 h 733938"/>
              <a:gd name="connsiteX5" fmla="*/ 581010 w 742935"/>
              <a:gd name="connsiteY5" fmla="*/ 12364 h 733938"/>
              <a:gd name="connsiteX6" fmla="*/ 720710 w 742935"/>
              <a:gd name="connsiteY6" fmla="*/ 9189 h 733938"/>
              <a:gd name="connsiteX7" fmla="*/ 736585 w 742935"/>
              <a:gd name="connsiteY7" fmla="*/ 12364 h 733938"/>
              <a:gd name="connsiteX8" fmla="*/ 730235 w 742935"/>
              <a:gd name="connsiteY8" fmla="*/ 63164 h 733938"/>
              <a:gd name="connsiteX9" fmla="*/ 733410 w 742935"/>
              <a:gd name="connsiteY9" fmla="*/ 139364 h 733938"/>
              <a:gd name="connsiteX10" fmla="*/ 739760 w 742935"/>
              <a:gd name="connsiteY10" fmla="*/ 158414 h 733938"/>
              <a:gd name="connsiteX11" fmla="*/ 742935 w 742935"/>
              <a:gd name="connsiteY11" fmla="*/ 167939 h 733938"/>
              <a:gd name="connsiteX12" fmla="*/ 739760 w 742935"/>
              <a:gd name="connsiteY12" fmla="*/ 266364 h 733938"/>
              <a:gd name="connsiteX13" fmla="*/ 736585 w 742935"/>
              <a:gd name="connsiteY13" fmla="*/ 434639 h 733938"/>
              <a:gd name="connsiteX14" fmla="*/ 730235 w 742935"/>
              <a:gd name="connsiteY14" fmla="*/ 482264 h 733938"/>
              <a:gd name="connsiteX15" fmla="*/ 723885 w 742935"/>
              <a:gd name="connsiteY15" fmla="*/ 545764 h 733938"/>
              <a:gd name="connsiteX16" fmla="*/ 720710 w 742935"/>
              <a:gd name="connsiteY16" fmla="*/ 679114 h 733938"/>
              <a:gd name="connsiteX17" fmla="*/ 717535 w 742935"/>
              <a:gd name="connsiteY17" fmla="*/ 707689 h 733938"/>
              <a:gd name="connsiteX18" fmla="*/ 714360 w 742935"/>
              <a:gd name="connsiteY18" fmla="*/ 729914 h 733938"/>
              <a:gd name="connsiteX19" fmla="*/ 657210 w 742935"/>
              <a:gd name="connsiteY19" fmla="*/ 733089 h 733938"/>
              <a:gd name="connsiteX20" fmla="*/ 466710 w 742935"/>
              <a:gd name="connsiteY20" fmla="*/ 726739 h 733938"/>
              <a:gd name="connsiteX21" fmla="*/ 403210 w 742935"/>
              <a:gd name="connsiteY21" fmla="*/ 720389 h 733938"/>
              <a:gd name="connsiteX22" fmla="*/ 234935 w 742935"/>
              <a:gd name="connsiteY22" fmla="*/ 717214 h 733938"/>
              <a:gd name="connsiteX23" fmla="*/ 123810 w 742935"/>
              <a:gd name="connsiteY23" fmla="*/ 720389 h 733938"/>
              <a:gd name="connsiteX24" fmla="*/ 88885 w 742935"/>
              <a:gd name="connsiteY24" fmla="*/ 726739 h 733938"/>
              <a:gd name="connsiteX25" fmla="*/ 22210 w 742935"/>
              <a:gd name="connsiteY25" fmla="*/ 723564 h 733938"/>
              <a:gd name="connsiteX26" fmla="*/ 15860 w 742935"/>
              <a:gd name="connsiteY26" fmla="*/ 714039 h 733938"/>
              <a:gd name="connsiteX27" fmla="*/ 12685 w 742935"/>
              <a:gd name="connsiteY27" fmla="*/ 688639 h 733938"/>
              <a:gd name="connsiteX28" fmla="*/ 6335 w 742935"/>
              <a:gd name="connsiteY28" fmla="*/ 663239 h 733938"/>
              <a:gd name="connsiteX29" fmla="*/ 3160 w 742935"/>
              <a:gd name="connsiteY29" fmla="*/ 644189 h 733938"/>
              <a:gd name="connsiteX30" fmla="*/ 12685 w 742935"/>
              <a:gd name="connsiteY30" fmla="*/ 196514 h 733938"/>
              <a:gd name="connsiteX31" fmla="*/ 9510 w 742935"/>
              <a:gd name="connsiteY31" fmla="*/ 101264 h 733938"/>
              <a:gd name="connsiteX32" fmla="*/ 19035 w 742935"/>
              <a:gd name="connsiteY32" fmla="*/ 6014 h 733938"/>
              <a:gd name="connsiteX0" fmla="*/ 19035 w 742935"/>
              <a:gd name="connsiteY0" fmla="*/ 6014 h 733938"/>
              <a:gd name="connsiteX1" fmla="*/ 60310 w 742935"/>
              <a:gd name="connsiteY1" fmla="*/ 9189 h 733938"/>
              <a:gd name="connsiteX2" fmla="*/ 130160 w 742935"/>
              <a:gd name="connsiteY2" fmla="*/ 2839 h 733938"/>
              <a:gd name="connsiteX3" fmla="*/ 447660 w 742935"/>
              <a:gd name="connsiteY3" fmla="*/ 6014 h 733938"/>
              <a:gd name="connsiteX4" fmla="*/ 488935 w 742935"/>
              <a:gd name="connsiteY4" fmla="*/ 9189 h 733938"/>
              <a:gd name="connsiteX5" fmla="*/ 581010 w 742935"/>
              <a:gd name="connsiteY5" fmla="*/ 12364 h 733938"/>
              <a:gd name="connsiteX6" fmla="*/ 720710 w 742935"/>
              <a:gd name="connsiteY6" fmla="*/ 9189 h 733938"/>
              <a:gd name="connsiteX7" fmla="*/ 736585 w 742935"/>
              <a:gd name="connsiteY7" fmla="*/ 12364 h 733938"/>
              <a:gd name="connsiteX8" fmla="*/ 730235 w 742935"/>
              <a:gd name="connsiteY8" fmla="*/ 63164 h 733938"/>
              <a:gd name="connsiteX9" fmla="*/ 733410 w 742935"/>
              <a:gd name="connsiteY9" fmla="*/ 139364 h 733938"/>
              <a:gd name="connsiteX10" fmla="*/ 739760 w 742935"/>
              <a:gd name="connsiteY10" fmla="*/ 158414 h 733938"/>
              <a:gd name="connsiteX11" fmla="*/ 742935 w 742935"/>
              <a:gd name="connsiteY11" fmla="*/ 167939 h 733938"/>
              <a:gd name="connsiteX12" fmla="*/ 739760 w 742935"/>
              <a:gd name="connsiteY12" fmla="*/ 266364 h 733938"/>
              <a:gd name="connsiteX13" fmla="*/ 736585 w 742935"/>
              <a:gd name="connsiteY13" fmla="*/ 434639 h 733938"/>
              <a:gd name="connsiteX14" fmla="*/ 730235 w 742935"/>
              <a:gd name="connsiteY14" fmla="*/ 482264 h 733938"/>
              <a:gd name="connsiteX15" fmla="*/ 723885 w 742935"/>
              <a:gd name="connsiteY15" fmla="*/ 545764 h 733938"/>
              <a:gd name="connsiteX16" fmla="*/ 720710 w 742935"/>
              <a:gd name="connsiteY16" fmla="*/ 679114 h 733938"/>
              <a:gd name="connsiteX17" fmla="*/ 717535 w 742935"/>
              <a:gd name="connsiteY17" fmla="*/ 707689 h 733938"/>
              <a:gd name="connsiteX18" fmla="*/ 714360 w 742935"/>
              <a:gd name="connsiteY18" fmla="*/ 729914 h 733938"/>
              <a:gd name="connsiteX19" fmla="*/ 657210 w 742935"/>
              <a:gd name="connsiteY19" fmla="*/ 733089 h 733938"/>
              <a:gd name="connsiteX20" fmla="*/ 466710 w 742935"/>
              <a:gd name="connsiteY20" fmla="*/ 726739 h 733938"/>
              <a:gd name="connsiteX21" fmla="*/ 403210 w 742935"/>
              <a:gd name="connsiteY21" fmla="*/ 720389 h 733938"/>
              <a:gd name="connsiteX22" fmla="*/ 234935 w 742935"/>
              <a:gd name="connsiteY22" fmla="*/ 717214 h 733938"/>
              <a:gd name="connsiteX23" fmla="*/ 123810 w 742935"/>
              <a:gd name="connsiteY23" fmla="*/ 720389 h 733938"/>
              <a:gd name="connsiteX24" fmla="*/ 88885 w 742935"/>
              <a:gd name="connsiteY24" fmla="*/ 726739 h 733938"/>
              <a:gd name="connsiteX25" fmla="*/ 22210 w 742935"/>
              <a:gd name="connsiteY25" fmla="*/ 723564 h 733938"/>
              <a:gd name="connsiteX26" fmla="*/ 15860 w 742935"/>
              <a:gd name="connsiteY26" fmla="*/ 714039 h 733938"/>
              <a:gd name="connsiteX27" fmla="*/ 12685 w 742935"/>
              <a:gd name="connsiteY27" fmla="*/ 688639 h 733938"/>
              <a:gd name="connsiteX28" fmla="*/ 6335 w 742935"/>
              <a:gd name="connsiteY28" fmla="*/ 663239 h 733938"/>
              <a:gd name="connsiteX29" fmla="*/ 3160 w 742935"/>
              <a:gd name="connsiteY29" fmla="*/ 644189 h 733938"/>
              <a:gd name="connsiteX30" fmla="*/ 12685 w 742935"/>
              <a:gd name="connsiteY30" fmla="*/ 196514 h 733938"/>
              <a:gd name="connsiteX31" fmla="*/ 15860 w 742935"/>
              <a:gd name="connsiteY31" fmla="*/ 101264 h 733938"/>
              <a:gd name="connsiteX32" fmla="*/ 19035 w 742935"/>
              <a:gd name="connsiteY32" fmla="*/ 6014 h 733938"/>
              <a:gd name="connsiteX0" fmla="*/ 12700 w 736600"/>
              <a:gd name="connsiteY0" fmla="*/ 6014 h 733938"/>
              <a:gd name="connsiteX1" fmla="*/ 53975 w 736600"/>
              <a:gd name="connsiteY1" fmla="*/ 9189 h 733938"/>
              <a:gd name="connsiteX2" fmla="*/ 123825 w 736600"/>
              <a:gd name="connsiteY2" fmla="*/ 2839 h 733938"/>
              <a:gd name="connsiteX3" fmla="*/ 441325 w 736600"/>
              <a:gd name="connsiteY3" fmla="*/ 6014 h 733938"/>
              <a:gd name="connsiteX4" fmla="*/ 482600 w 736600"/>
              <a:gd name="connsiteY4" fmla="*/ 9189 h 733938"/>
              <a:gd name="connsiteX5" fmla="*/ 574675 w 736600"/>
              <a:gd name="connsiteY5" fmla="*/ 12364 h 733938"/>
              <a:gd name="connsiteX6" fmla="*/ 714375 w 736600"/>
              <a:gd name="connsiteY6" fmla="*/ 9189 h 733938"/>
              <a:gd name="connsiteX7" fmla="*/ 730250 w 736600"/>
              <a:gd name="connsiteY7" fmla="*/ 12364 h 733938"/>
              <a:gd name="connsiteX8" fmla="*/ 723900 w 736600"/>
              <a:gd name="connsiteY8" fmla="*/ 63164 h 733938"/>
              <a:gd name="connsiteX9" fmla="*/ 727075 w 736600"/>
              <a:gd name="connsiteY9" fmla="*/ 139364 h 733938"/>
              <a:gd name="connsiteX10" fmla="*/ 733425 w 736600"/>
              <a:gd name="connsiteY10" fmla="*/ 158414 h 733938"/>
              <a:gd name="connsiteX11" fmla="*/ 736600 w 736600"/>
              <a:gd name="connsiteY11" fmla="*/ 167939 h 733938"/>
              <a:gd name="connsiteX12" fmla="*/ 733425 w 736600"/>
              <a:gd name="connsiteY12" fmla="*/ 266364 h 733938"/>
              <a:gd name="connsiteX13" fmla="*/ 730250 w 736600"/>
              <a:gd name="connsiteY13" fmla="*/ 434639 h 733938"/>
              <a:gd name="connsiteX14" fmla="*/ 723900 w 736600"/>
              <a:gd name="connsiteY14" fmla="*/ 482264 h 733938"/>
              <a:gd name="connsiteX15" fmla="*/ 717550 w 736600"/>
              <a:gd name="connsiteY15" fmla="*/ 545764 h 733938"/>
              <a:gd name="connsiteX16" fmla="*/ 714375 w 736600"/>
              <a:gd name="connsiteY16" fmla="*/ 679114 h 733938"/>
              <a:gd name="connsiteX17" fmla="*/ 711200 w 736600"/>
              <a:gd name="connsiteY17" fmla="*/ 707689 h 733938"/>
              <a:gd name="connsiteX18" fmla="*/ 708025 w 736600"/>
              <a:gd name="connsiteY18" fmla="*/ 729914 h 733938"/>
              <a:gd name="connsiteX19" fmla="*/ 650875 w 736600"/>
              <a:gd name="connsiteY19" fmla="*/ 733089 h 733938"/>
              <a:gd name="connsiteX20" fmla="*/ 460375 w 736600"/>
              <a:gd name="connsiteY20" fmla="*/ 726739 h 733938"/>
              <a:gd name="connsiteX21" fmla="*/ 396875 w 736600"/>
              <a:gd name="connsiteY21" fmla="*/ 720389 h 733938"/>
              <a:gd name="connsiteX22" fmla="*/ 228600 w 736600"/>
              <a:gd name="connsiteY22" fmla="*/ 717214 h 733938"/>
              <a:gd name="connsiteX23" fmla="*/ 117475 w 736600"/>
              <a:gd name="connsiteY23" fmla="*/ 720389 h 733938"/>
              <a:gd name="connsiteX24" fmla="*/ 82550 w 736600"/>
              <a:gd name="connsiteY24" fmla="*/ 726739 h 733938"/>
              <a:gd name="connsiteX25" fmla="*/ 15875 w 736600"/>
              <a:gd name="connsiteY25" fmla="*/ 723564 h 733938"/>
              <a:gd name="connsiteX26" fmla="*/ 9525 w 736600"/>
              <a:gd name="connsiteY26" fmla="*/ 714039 h 733938"/>
              <a:gd name="connsiteX27" fmla="*/ 6350 w 736600"/>
              <a:gd name="connsiteY27" fmla="*/ 688639 h 733938"/>
              <a:gd name="connsiteX28" fmla="*/ 0 w 736600"/>
              <a:gd name="connsiteY28" fmla="*/ 663239 h 733938"/>
              <a:gd name="connsiteX29" fmla="*/ 6350 w 736600"/>
              <a:gd name="connsiteY29" fmla="*/ 196514 h 733938"/>
              <a:gd name="connsiteX30" fmla="*/ 9525 w 736600"/>
              <a:gd name="connsiteY30" fmla="*/ 101264 h 733938"/>
              <a:gd name="connsiteX31" fmla="*/ 12700 w 736600"/>
              <a:gd name="connsiteY31" fmla="*/ 6014 h 733938"/>
              <a:gd name="connsiteX0" fmla="*/ 6747 w 730647"/>
              <a:gd name="connsiteY0" fmla="*/ 6014 h 733938"/>
              <a:gd name="connsiteX1" fmla="*/ 48022 w 730647"/>
              <a:gd name="connsiteY1" fmla="*/ 9189 h 733938"/>
              <a:gd name="connsiteX2" fmla="*/ 117872 w 730647"/>
              <a:gd name="connsiteY2" fmla="*/ 2839 h 733938"/>
              <a:gd name="connsiteX3" fmla="*/ 435372 w 730647"/>
              <a:gd name="connsiteY3" fmla="*/ 6014 h 733938"/>
              <a:gd name="connsiteX4" fmla="*/ 476647 w 730647"/>
              <a:gd name="connsiteY4" fmla="*/ 9189 h 733938"/>
              <a:gd name="connsiteX5" fmla="*/ 568722 w 730647"/>
              <a:gd name="connsiteY5" fmla="*/ 12364 h 733938"/>
              <a:gd name="connsiteX6" fmla="*/ 708422 w 730647"/>
              <a:gd name="connsiteY6" fmla="*/ 9189 h 733938"/>
              <a:gd name="connsiteX7" fmla="*/ 724297 w 730647"/>
              <a:gd name="connsiteY7" fmla="*/ 12364 h 733938"/>
              <a:gd name="connsiteX8" fmla="*/ 717947 w 730647"/>
              <a:gd name="connsiteY8" fmla="*/ 63164 h 733938"/>
              <a:gd name="connsiteX9" fmla="*/ 721122 w 730647"/>
              <a:gd name="connsiteY9" fmla="*/ 139364 h 733938"/>
              <a:gd name="connsiteX10" fmla="*/ 727472 w 730647"/>
              <a:gd name="connsiteY10" fmla="*/ 158414 h 733938"/>
              <a:gd name="connsiteX11" fmla="*/ 730647 w 730647"/>
              <a:gd name="connsiteY11" fmla="*/ 167939 h 733938"/>
              <a:gd name="connsiteX12" fmla="*/ 727472 w 730647"/>
              <a:gd name="connsiteY12" fmla="*/ 266364 h 733938"/>
              <a:gd name="connsiteX13" fmla="*/ 724297 w 730647"/>
              <a:gd name="connsiteY13" fmla="*/ 434639 h 733938"/>
              <a:gd name="connsiteX14" fmla="*/ 717947 w 730647"/>
              <a:gd name="connsiteY14" fmla="*/ 482264 h 733938"/>
              <a:gd name="connsiteX15" fmla="*/ 711597 w 730647"/>
              <a:gd name="connsiteY15" fmla="*/ 545764 h 733938"/>
              <a:gd name="connsiteX16" fmla="*/ 708422 w 730647"/>
              <a:gd name="connsiteY16" fmla="*/ 679114 h 733938"/>
              <a:gd name="connsiteX17" fmla="*/ 705247 w 730647"/>
              <a:gd name="connsiteY17" fmla="*/ 707689 h 733938"/>
              <a:gd name="connsiteX18" fmla="*/ 702072 w 730647"/>
              <a:gd name="connsiteY18" fmla="*/ 729914 h 733938"/>
              <a:gd name="connsiteX19" fmla="*/ 644922 w 730647"/>
              <a:gd name="connsiteY19" fmla="*/ 733089 h 733938"/>
              <a:gd name="connsiteX20" fmla="*/ 454422 w 730647"/>
              <a:gd name="connsiteY20" fmla="*/ 726739 h 733938"/>
              <a:gd name="connsiteX21" fmla="*/ 390922 w 730647"/>
              <a:gd name="connsiteY21" fmla="*/ 720389 h 733938"/>
              <a:gd name="connsiteX22" fmla="*/ 222647 w 730647"/>
              <a:gd name="connsiteY22" fmla="*/ 717214 h 733938"/>
              <a:gd name="connsiteX23" fmla="*/ 111522 w 730647"/>
              <a:gd name="connsiteY23" fmla="*/ 720389 h 733938"/>
              <a:gd name="connsiteX24" fmla="*/ 76597 w 730647"/>
              <a:gd name="connsiteY24" fmla="*/ 726739 h 733938"/>
              <a:gd name="connsiteX25" fmla="*/ 9922 w 730647"/>
              <a:gd name="connsiteY25" fmla="*/ 723564 h 733938"/>
              <a:gd name="connsiteX26" fmla="*/ 3572 w 730647"/>
              <a:gd name="connsiteY26" fmla="*/ 714039 h 733938"/>
              <a:gd name="connsiteX27" fmla="*/ 397 w 730647"/>
              <a:gd name="connsiteY27" fmla="*/ 688639 h 733938"/>
              <a:gd name="connsiteX28" fmla="*/ 397 w 730647"/>
              <a:gd name="connsiteY28" fmla="*/ 196514 h 733938"/>
              <a:gd name="connsiteX29" fmla="*/ 3572 w 730647"/>
              <a:gd name="connsiteY29" fmla="*/ 101264 h 733938"/>
              <a:gd name="connsiteX30" fmla="*/ 6747 w 730647"/>
              <a:gd name="connsiteY30" fmla="*/ 6014 h 733938"/>
              <a:gd name="connsiteX0" fmla="*/ 6747 w 730647"/>
              <a:gd name="connsiteY0" fmla="*/ 6014 h 733938"/>
              <a:gd name="connsiteX1" fmla="*/ 48022 w 730647"/>
              <a:gd name="connsiteY1" fmla="*/ 9189 h 733938"/>
              <a:gd name="connsiteX2" fmla="*/ 117872 w 730647"/>
              <a:gd name="connsiteY2" fmla="*/ 2839 h 733938"/>
              <a:gd name="connsiteX3" fmla="*/ 435372 w 730647"/>
              <a:gd name="connsiteY3" fmla="*/ 6014 h 733938"/>
              <a:gd name="connsiteX4" fmla="*/ 476647 w 730647"/>
              <a:gd name="connsiteY4" fmla="*/ 9189 h 733938"/>
              <a:gd name="connsiteX5" fmla="*/ 568722 w 730647"/>
              <a:gd name="connsiteY5" fmla="*/ 12364 h 733938"/>
              <a:gd name="connsiteX6" fmla="*/ 708422 w 730647"/>
              <a:gd name="connsiteY6" fmla="*/ 9189 h 733938"/>
              <a:gd name="connsiteX7" fmla="*/ 724297 w 730647"/>
              <a:gd name="connsiteY7" fmla="*/ 12364 h 733938"/>
              <a:gd name="connsiteX8" fmla="*/ 717947 w 730647"/>
              <a:gd name="connsiteY8" fmla="*/ 63164 h 733938"/>
              <a:gd name="connsiteX9" fmla="*/ 721122 w 730647"/>
              <a:gd name="connsiteY9" fmla="*/ 139364 h 733938"/>
              <a:gd name="connsiteX10" fmla="*/ 727472 w 730647"/>
              <a:gd name="connsiteY10" fmla="*/ 158414 h 733938"/>
              <a:gd name="connsiteX11" fmla="*/ 730647 w 730647"/>
              <a:gd name="connsiteY11" fmla="*/ 167939 h 733938"/>
              <a:gd name="connsiteX12" fmla="*/ 727472 w 730647"/>
              <a:gd name="connsiteY12" fmla="*/ 266364 h 733938"/>
              <a:gd name="connsiteX13" fmla="*/ 724297 w 730647"/>
              <a:gd name="connsiteY13" fmla="*/ 434639 h 733938"/>
              <a:gd name="connsiteX14" fmla="*/ 717947 w 730647"/>
              <a:gd name="connsiteY14" fmla="*/ 482264 h 733938"/>
              <a:gd name="connsiteX15" fmla="*/ 711597 w 730647"/>
              <a:gd name="connsiteY15" fmla="*/ 545764 h 733938"/>
              <a:gd name="connsiteX16" fmla="*/ 708422 w 730647"/>
              <a:gd name="connsiteY16" fmla="*/ 679114 h 733938"/>
              <a:gd name="connsiteX17" fmla="*/ 705247 w 730647"/>
              <a:gd name="connsiteY17" fmla="*/ 707689 h 733938"/>
              <a:gd name="connsiteX18" fmla="*/ 702072 w 730647"/>
              <a:gd name="connsiteY18" fmla="*/ 729914 h 733938"/>
              <a:gd name="connsiteX19" fmla="*/ 644922 w 730647"/>
              <a:gd name="connsiteY19" fmla="*/ 733089 h 733938"/>
              <a:gd name="connsiteX20" fmla="*/ 454422 w 730647"/>
              <a:gd name="connsiteY20" fmla="*/ 726739 h 733938"/>
              <a:gd name="connsiteX21" fmla="*/ 390922 w 730647"/>
              <a:gd name="connsiteY21" fmla="*/ 720389 h 733938"/>
              <a:gd name="connsiteX22" fmla="*/ 222647 w 730647"/>
              <a:gd name="connsiteY22" fmla="*/ 733089 h 733938"/>
              <a:gd name="connsiteX23" fmla="*/ 111522 w 730647"/>
              <a:gd name="connsiteY23" fmla="*/ 720389 h 733938"/>
              <a:gd name="connsiteX24" fmla="*/ 76597 w 730647"/>
              <a:gd name="connsiteY24" fmla="*/ 726739 h 733938"/>
              <a:gd name="connsiteX25" fmla="*/ 9922 w 730647"/>
              <a:gd name="connsiteY25" fmla="*/ 723564 h 733938"/>
              <a:gd name="connsiteX26" fmla="*/ 3572 w 730647"/>
              <a:gd name="connsiteY26" fmla="*/ 714039 h 733938"/>
              <a:gd name="connsiteX27" fmla="*/ 397 w 730647"/>
              <a:gd name="connsiteY27" fmla="*/ 688639 h 733938"/>
              <a:gd name="connsiteX28" fmla="*/ 397 w 730647"/>
              <a:gd name="connsiteY28" fmla="*/ 196514 h 733938"/>
              <a:gd name="connsiteX29" fmla="*/ 3572 w 730647"/>
              <a:gd name="connsiteY29" fmla="*/ 101264 h 733938"/>
              <a:gd name="connsiteX30" fmla="*/ 6747 w 730647"/>
              <a:gd name="connsiteY30" fmla="*/ 6014 h 733938"/>
              <a:gd name="connsiteX0" fmla="*/ 6747 w 730647"/>
              <a:gd name="connsiteY0" fmla="*/ 6014 h 739557"/>
              <a:gd name="connsiteX1" fmla="*/ 48022 w 730647"/>
              <a:gd name="connsiteY1" fmla="*/ 9189 h 739557"/>
              <a:gd name="connsiteX2" fmla="*/ 117872 w 730647"/>
              <a:gd name="connsiteY2" fmla="*/ 2839 h 739557"/>
              <a:gd name="connsiteX3" fmla="*/ 435372 w 730647"/>
              <a:gd name="connsiteY3" fmla="*/ 6014 h 739557"/>
              <a:gd name="connsiteX4" fmla="*/ 476647 w 730647"/>
              <a:gd name="connsiteY4" fmla="*/ 9189 h 739557"/>
              <a:gd name="connsiteX5" fmla="*/ 568722 w 730647"/>
              <a:gd name="connsiteY5" fmla="*/ 12364 h 739557"/>
              <a:gd name="connsiteX6" fmla="*/ 708422 w 730647"/>
              <a:gd name="connsiteY6" fmla="*/ 9189 h 739557"/>
              <a:gd name="connsiteX7" fmla="*/ 724297 w 730647"/>
              <a:gd name="connsiteY7" fmla="*/ 12364 h 739557"/>
              <a:gd name="connsiteX8" fmla="*/ 717947 w 730647"/>
              <a:gd name="connsiteY8" fmla="*/ 63164 h 739557"/>
              <a:gd name="connsiteX9" fmla="*/ 721122 w 730647"/>
              <a:gd name="connsiteY9" fmla="*/ 139364 h 739557"/>
              <a:gd name="connsiteX10" fmla="*/ 727472 w 730647"/>
              <a:gd name="connsiteY10" fmla="*/ 158414 h 739557"/>
              <a:gd name="connsiteX11" fmla="*/ 730647 w 730647"/>
              <a:gd name="connsiteY11" fmla="*/ 167939 h 739557"/>
              <a:gd name="connsiteX12" fmla="*/ 727472 w 730647"/>
              <a:gd name="connsiteY12" fmla="*/ 266364 h 739557"/>
              <a:gd name="connsiteX13" fmla="*/ 724297 w 730647"/>
              <a:gd name="connsiteY13" fmla="*/ 434639 h 739557"/>
              <a:gd name="connsiteX14" fmla="*/ 717947 w 730647"/>
              <a:gd name="connsiteY14" fmla="*/ 482264 h 739557"/>
              <a:gd name="connsiteX15" fmla="*/ 711597 w 730647"/>
              <a:gd name="connsiteY15" fmla="*/ 545764 h 739557"/>
              <a:gd name="connsiteX16" fmla="*/ 708422 w 730647"/>
              <a:gd name="connsiteY16" fmla="*/ 679114 h 739557"/>
              <a:gd name="connsiteX17" fmla="*/ 705247 w 730647"/>
              <a:gd name="connsiteY17" fmla="*/ 707689 h 739557"/>
              <a:gd name="connsiteX18" fmla="*/ 702072 w 730647"/>
              <a:gd name="connsiteY18" fmla="*/ 729914 h 739557"/>
              <a:gd name="connsiteX19" fmla="*/ 644922 w 730647"/>
              <a:gd name="connsiteY19" fmla="*/ 733089 h 739557"/>
              <a:gd name="connsiteX20" fmla="*/ 454422 w 730647"/>
              <a:gd name="connsiteY20" fmla="*/ 726739 h 739557"/>
              <a:gd name="connsiteX21" fmla="*/ 390922 w 730647"/>
              <a:gd name="connsiteY21" fmla="*/ 739439 h 739557"/>
              <a:gd name="connsiteX22" fmla="*/ 222647 w 730647"/>
              <a:gd name="connsiteY22" fmla="*/ 733089 h 739557"/>
              <a:gd name="connsiteX23" fmla="*/ 111522 w 730647"/>
              <a:gd name="connsiteY23" fmla="*/ 720389 h 739557"/>
              <a:gd name="connsiteX24" fmla="*/ 76597 w 730647"/>
              <a:gd name="connsiteY24" fmla="*/ 726739 h 739557"/>
              <a:gd name="connsiteX25" fmla="*/ 9922 w 730647"/>
              <a:gd name="connsiteY25" fmla="*/ 723564 h 739557"/>
              <a:gd name="connsiteX26" fmla="*/ 3572 w 730647"/>
              <a:gd name="connsiteY26" fmla="*/ 714039 h 739557"/>
              <a:gd name="connsiteX27" fmla="*/ 397 w 730647"/>
              <a:gd name="connsiteY27" fmla="*/ 688639 h 739557"/>
              <a:gd name="connsiteX28" fmla="*/ 397 w 730647"/>
              <a:gd name="connsiteY28" fmla="*/ 196514 h 739557"/>
              <a:gd name="connsiteX29" fmla="*/ 3572 w 730647"/>
              <a:gd name="connsiteY29" fmla="*/ 101264 h 739557"/>
              <a:gd name="connsiteX30" fmla="*/ 6747 w 730647"/>
              <a:gd name="connsiteY30" fmla="*/ 6014 h 739557"/>
              <a:gd name="connsiteX0" fmla="*/ 6747 w 730647"/>
              <a:gd name="connsiteY0" fmla="*/ 6014 h 740232"/>
              <a:gd name="connsiteX1" fmla="*/ 48022 w 730647"/>
              <a:gd name="connsiteY1" fmla="*/ 9189 h 740232"/>
              <a:gd name="connsiteX2" fmla="*/ 117872 w 730647"/>
              <a:gd name="connsiteY2" fmla="*/ 2839 h 740232"/>
              <a:gd name="connsiteX3" fmla="*/ 435372 w 730647"/>
              <a:gd name="connsiteY3" fmla="*/ 6014 h 740232"/>
              <a:gd name="connsiteX4" fmla="*/ 476647 w 730647"/>
              <a:gd name="connsiteY4" fmla="*/ 9189 h 740232"/>
              <a:gd name="connsiteX5" fmla="*/ 568722 w 730647"/>
              <a:gd name="connsiteY5" fmla="*/ 12364 h 740232"/>
              <a:gd name="connsiteX6" fmla="*/ 708422 w 730647"/>
              <a:gd name="connsiteY6" fmla="*/ 9189 h 740232"/>
              <a:gd name="connsiteX7" fmla="*/ 724297 w 730647"/>
              <a:gd name="connsiteY7" fmla="*/ 12364 h 740232"/>
              <a:gd name="connsiteX8" fmla="*/ 717947 w 730647"/>
              <a:gd name="connsiteY8" fmla="*/ 63164 h 740232"/>
              <a:gd name="connsiteX9" fmla="*/ 721122 w 730647"/>
              <a:gd name="connsiteY9" fmla="*/ 139364 h 740232"/>
              <a:gd name="connsiteX10" fmla="*/ 727472 w 730647"/>
              <a:gd name="connsiteY10" fmla="*/ 158414 h 740232"/>
              <a:gd name="connsiteX11" fmla="*/ 730647 w 730647"/>
              <a:gd name="connsiteY11" fmla="*/ 167939 h 740232"/>
              <a:gd name="connsiteX12" fmla="*/ 727472 w 730647"/>
              <a:gd name="connsiteY12" fmla="*/ 266364 h 740232"/>
              <a:gd name="connsiteX13" fmla="*/ 724297 w 730647"/>
              <a:gd name="connsiteY13" fmla="*/ 434639 h 740232"/>
              <a:gd name="connsiteX14" fmla="*/ 717947 w 730647"/>
              <a:gd name="connsiteY14" fmla="*/ 482264 h 740232"/>
              <a:gd name="connsiteX15" fmla="*/ 711597 w 730647"/>
              <a:gd name="connsiteY15" fmla="*/ 545764 h 740232"/>
              <a:gd name="connsiteX16" fmla="*/ 708422 w 730647"/>
              <a:gd name="connsiteY16" fmla="*/ 679114 h 740232"/>
              <a:gd name="connsiteX17" fmla="*/ 705247 w 730647"/>
              <a:gd name="connsiteY17" fmla="*/ 707689 h 740232"/>
              <a:gd name="connsiteX18" fmla="*/ 702072 w 730647"/>
              <a:gd name="connsiteY18" fmla="*/ 729914 h 740232"/>
              <a:gd name="connsiteX19" fmla="*/ 644922 w 730647"/>
              <a:gd name="connsiteY19" fmla="*/ 733089 h 740232"/>
              <a:gd name="connsiteX20" fmla="*/ 521097 w 730647"/>
              <a:gd name="connsiteY20" fmla="*/ 739439 h 740232"/>
              <a:gd name="connsiteX21" fmla="*/ 390922 w 730647"/>
              <a:gd name="connsiteY21" fmla="*/ 739439 h 740232"/>
              <a:gd name="connsiteX22" fmla="*/ 222647 w 730647"/>
              <a:gd name="connsiteY22" fmla="*/ 733089 h 740232"/>
              <a:gd name="connsiteX23" fmla="*/ 111522 w 730647"/>
              <a:gd name="connsiteY23" fmla="*/ 720389 h 740232"/>
              <a:gd name="connsiteX24" fmla="*/ 76597 w 730647"/>
              <a:gd name="connsiteY24" fmla="*/ 726739 h 740232"/>
              <a:gd name="connsiteX25" fmla="*/ 9922 w 730647"/>
              <a:gd name="connsiteY25" fmla="*/ 723564 h 740232"/>
              <a:gd name="connsiteX26" fmla="*/ 3572 w 730647"/>
              <a:gd name="connsiteY26" fmla="*/ 714039 h 740232"/>
              <a:gd name="connsiteX27" fmla="*/ 397 w 730647"/>
              <a:gd name="connsiteY27" fmla="*/ 688639 h 740232"/>
              <a:gd name="connsiteX28" fmla="*/ 397 w 730647"/>
              <a:gd name="connsiteY28" fmla="*/ 196514 h 740232"/>
              <a:gd name="connsiteX29" fmla="*/ 3572 w 730647"/>
              <a:gd name="connsiteY29" fmla="*/ 101264 h 740232"/>
              <a:gd name="connsiteX30" fmla="*/ 6747 w 730647"/>
              <a:gd name="connsiteY30" fmla="*/ 6014 h 740232"/>
              <a:gd name="connsiteX0" fmla="*/ 6747 w 727541"/>
              <a:gd name="connsiteY0" fmla="*/ 6014 h 740232"/>
              <a:gd name="connsiteX1" fmla="*/ 48022 w 727541"/>
              <a:gd name="connsiteY1" fmla="*/ 9189 h 740232"/>
              <a:gd name="connsiteX2" fmla="*/ 117872 w 727541"/>
              <a:gd name="connsiteY2" fmla="*/ 2839 h 740232"/>
              <a:gd name="connsiteX3" fmla="*/ 435372 w 727541"/>
              <a:gd name="connsiteY3" fmla="*/ 6014 h 740232"/>
              <a:gd name="connsiteX4" fmla="*/ 476647 w 727541"/>
              <a:gd name="connsiteY4" fmla="*/ 9189 h 740232"/>
              <a:gd name="connsiteX5" fmla="*/ 568722 w 727541"/>
              <a:gd name="connsiteY5" fmla="*/ 12364 h 740232"/>
              <a:gd name="connsiteX6" fmla="*/ 708422 w 727541"/>
              <a:gd name="connsiteY6" fmla="*/ 9189 h 740232"/>
              <a:gd name="connsiteX7" fmla="*/ 724297 w 727541"/>
              <a:gd name="connsiteY7" fmla="*/ 12364 h 740232"/>
              <a:gd name="connsiteX8" fmla="*/ 717947 w 727541"/>
              <a:gd name="connsiteY8" fmla="*/ 63164 h 740232"/>
              <a:gd name="connsiteX9" fmla="*/ 721122 w 727541"/>
              <a:gd name="connsiteY9" fmla="*/ 139364 h 740232"/>
              <a:gd name="connsiteX10" fmla="*/ 727472 w 727541"/>
              <a:gd name="connsiteY10" fmla="*/ 158414 h 740232"/>
              <a:gd name="connsiteX11" fmla="*/ 724297 w 727541"/>
              <a:gd name="connsiteY11" fmla="*/ 202864 h 740232"/>
              <a:gd name="connsiteX12" fmla="*/ 727472 w 727541"/>
              <a:gd name="connsiteY12" fmla="*/ 266364 h 740232"/>
              <a:gd name="connsiteX13" fmla="*/ 724297 w 727541"/>
              <a:gd name="connsiteY13" fmla="*/ 434639 h 740232"/>
              <a:gd name="connsiteX14" fmla="*/ 717947 w 727541"/>
              <a:gd name="connsiteY14" fmla="*/ 482264 h 740232"/>
              <a:gd name="connsiteX15" fmla="*/ 711597 w 727541"/>
              <a:gd name="connsiteY15" fmla="*/ 545764 h 740232"/>
              <a:gd name="connsiteX16" fmla="*/ 708422 w 727541"/>
              <a:gd name="connsiteY16" fmla="*/ 679114 h 740232"/>
              <a:gd name="connsiteX17" fmla="*/ 705247 w 727541"/>
              <a:gd name="connsiteY17" fmla="*/ 707689 h 740232"/>
              <a:gd name="connsiteX18" fmla="*/ 702072 w 727541"/>
              <a:gd name="connsiteY18" fmla="*/ 729914 h 740232"/>
              <a:gd name="connsiteX19" fmla="*/ 644922 w 727541"/>
              <a:gd name="connsiteY19" fmla="*/ 733089 h 740232"/>
              <a:gd name="connsiteX20" fmla="*/ 521097 w 727541"/>
              <a:gd name="connsiteY20" fmla="*/ 739439 h 740232"/>
              <a:gd name="connsiteX21" fmla="*/ 390922 w 727541"/>
              <a:gd name="connsiteY21" fmla="*/ 739439 h 740232"/>
              <a:gd name="connsiteX22" fmla="*/ 222647 w 727541"/>
              <a:gd name="connsiteY22" fmla="*/ 733089 h 740232"/>
              <a:gd name="connsiteX23" fmla="*/ 111522 w 727541"/>
              <a:gd name="connsiteY23" fmla="*/ 720389 h 740232"/>
              <a:gd name="connsiteX24" fmla="*/ 76597 w 727541"/>
              <a:gd name="connsiteY24" fmla="*/ 726739 h 740232"/>
              <a:gd name="connsiteX25" fmla="*/ 9922 w 727541"/>
              <a:gd name="connsiteY25" fmla="*/ 723564 h 740232"/>
              <a:gd name="connsiteX26" fmla="*/ 3572 w 727541"/>
              <a:gd name="connsiteY26" fmla="*/ 714039 h 740232"/>
              <a:gd name="connsiteX27" fmla="*/ 397 w 727541"/>
              <a:gd name="connsiteY27" fmla="*/ 688639 h 740232"/>
              <a:gd name="connsiteX28" fmla="*/ 397 w 727541"/>
              <a:gd name="connsiteY28" fmla="*/ 196514 h 740232"/>
              <a:gd name="connsiteX29" fmla="*/ 3572 w 727541"/>
              <a:gd name="connsiteY29" fmla="*/ 101264 h 740232"/>
              <a:gd name="connsiteX30" fmla="*/ 6747 w 727541"/>
              <a:gd name="connsiteY30" fmla="*/ 6014 h 740232"/>
              <a:gd name="connsiteX0" fmla="*/ 6747 w 727472"/>
              <a:gd name="connsiteY0" fmla="*/ 6014 h 740232"/>
              <a:gd name="connsiteX1" fmla="*/ 48022 w 727472"/>
              <a:gd name="connsiteY1" fmla="*/ 9189 h 740232"/>
              <a:gd name="connsiteX2" fmla="*/ 117872 w 727472"/>
              <a:gd name="connsiteY2" fmla="*/ 2839 h 740232"/>
              <a:gd name="connsiteX3" fmla="*/ 435372 w 727472"/>
              <a:gd name="connsiteY3" fmla="*/ 6014 h 740232"/>
              <a:gd name="connsiteX4" fmla="*/ 476647 w 727472"/>
              <a:gd name="connsiteY4" fmla="*/ 9189 h 740232"/>
              <a:gd name="connsiteX5" fmla="*/ 568722 w 727472"/>
              <a:gd name="connsiteY5" fmla="*/ 12364 h 740232"/>
              <a:gd name="connsiteX6" fmla="*/ 708422 w 727472"/>
              <a:gd name="connsiteY6" fmla="*/ 9189 h 740232"/>
              <a:gd name="connsiteX7" fmla="*/ 724297 w 727472"/>
              <a:gd name="connsiteY7" fmla="*/ 12364 h 740232"/>
              <a:gd name="connsiteX8" fmla="*/ 717947 w 727472"/>
              <a:gd name="connsiteY8" fmla="*/ 63164 h 740232"/>
              <a:gd name="connsiteX9" fmla="*/ 721122 w 727472"/>
              <a:gd name="connsiteY9" fmla="*/ 139364 h 740232"/>
              <a:gd name="connsiteX10" fmla="*/ 724297 w 727472"/>
              <a:gd name="connsiteY10" fmla="*/ 202864 h 740232"/>
              <a:gd name="connsiteX11" fmla="*/ 727472 w 727472"/>
              <a:gd name="connsiteY11" fmla="*/ 266364 h 740232"/>
              <a:gd name="connsiteX12" fmla="*/ 724297 w 727472"/>
              <a:gd name="connsiteY12" fmla="*/ 434639 h 740232"/>
              <a:gd name="connsiteX13" fmla="*/ 717947 w 727472"/>
              <a:gd name="connsiteY13" fmla="*/ 482264 h 740232"/>
              <a:gd name="connsiteX14" fmla="*/ 711597 w 727472"/>
              <a:gd name="connsiteY14" fmla="*/ 545764 h 740232"/>
              <a:gd name="connsiteX15" fmla="*/ 708422 w 727472"/>
              <a:gd name="connsiteY15" fmla="*/ 679114 h 740232"/>
              <a:gd name="connsiteX16" fmla="*/ 705247 w 727472"/>
              <a:gd name="connsiteY16" fmla="*/ 707689 h 740232"/>
              <a:gd name="connsiteX17" fmla="*/ 702072 w 727472"/>
              <a:gd name="connsiteY17" fmla="*/ 729914 h 740232"/>
              <a:gd name="connsiteX18" fmla="*/ 644922 w 727472"/>
              <a:gd name="connsiteY18" fmla="*/ 733089 h 740232"/>
              <a:gd name="connsiteX19" fmla="*/ 521097 w 727472"/>
              <a:gd name="connsiteY19" fmla="*/ 739439 h 740232"/>
              <a:gd name="connsiteX20" fmla="*/ 390922 w 727472"/>
              <a:gd name="connsiteY20" fmla="*/ 739439 h 740232"/>
              <a:gd name="connsiteX21" fmla="*/ 222647 w 727472"/>
              <a:gd name="connsiteY21" fmla="*/ 733089 h 740232"/>
              <a:gd name="connsiteX22" fmla="*/ 111522 w 727472"/>
              <a:gd name="connsiteY22" fmla="*/ 720389 h 740232"/>
              <a:gd name="connsiteX23" fmla="*/ 76597 w 727472"/>
              <a:gd name="connsiteY23" fmla="*/ 726739 h 740232"/>
              <a:gd name="connsiteX24" fmla="*/ 9922 w 727472"/>
              <a:gd name="connsiteY24" fmla="*/ 723564 h 740232"/>
              <a:gd name="connsiteX25" fmla="*/ 3572 w 727472"/>
              <a:gd name="connsiteY25" fmla="*/ 714039 h 740232"/>
              <a:gd name="connsiteX26" fmla="*/ 397 w 727472"/>
              <a:gd name="connsiteY26" fmla="*/ 688639 h 740232"/>
              <a:gd name="connsiteX27" fmla="*/ 397 w 727472"/>
              <a:gd name="connsiteY27" fmla="*/ 196514 h 740232"/>
              <a:gd name="connsiteX28" fmla="*/ 3572 w 727472"/>
              <a:gd name="connsiteY28" fmla="*/ 101264 h 740232"/>
              <a:gd name="connsiteX29" fmla="*/ 6747 w 727472"/>
              <a:gd name="connsiteY29" fmla="*/ 6014 h 740232"/>
              <a:gd name="connsiteX0" fmla="*/ 6747 w 725498"/>
              <a:gd name="connsiteY0" fmla="*/ 6014 h 740232"/>
              <a:gd name="connsiteX1" fmla="*/ 48022 w 725498"/>
              <a:gd name="connsiteY1" fmla="*/ 9189 h 740232"/>
              <a:gd name="connsiteX2" fmla="*/ 117872 w 725498"/>
              <a:gd name="connsiteY2" fmla="*/ 2839 h 740232"/>
              <a:gd name="connsiteX3" fmla="*/ 435372 w 725498"/>
              <a:gd name="connsiteY3" fmla="*/ 6014 h 740232"/>
              <a:gd name="connsiteX4" fmla="*/ 476647 w 725498"/>
              <a:gd name="connsiteY4" fmla="*/ 9189 h 740232"/>
              <a:gd name="connsiteX5" fmla="*/ 568722 w 725498"/>
              <a:gd name="connsiteY5" fmla="*/ 12364 h 740232"/>
              <a:gd name="connsiteX6" fmla="*/ 708422 w 725498"/>
              <a:gd name="connsiteY6" fmla="*/ 9189 h 740232"/>
              <a:gd name="connsiteX7" fmla="*/ 724297 w 725498"/>
              <a:gd name="connsiteY7" fmla="*/ 12364 h 740232"/>
              <a:gd name="connsiteX8" fmla="*/ 717947 w 725498"/>
              <a:gd name="connsiteY8" fmla="*/ 63164 h 740232"/>
              <a:gd name="connsiteX9" fmla="*/ 721122 w 725498"/>
              <a:gd name="connsiteY9" fmla="*/ 139364 h 740232"/>
              <a:gd name="connsiteX10" fmla="*/ 724297 w 725498"/>
              <a:gd name="connsiteY10" fmla="*/ 202864 h 740232"/>
              <a:gd name="connsiteX11" fmla="*/ 717947 w 725498"/>
              <a:gd name="connsiteY11" fmla="*/ 323514 h 740232"/>
              <a:gd name="connsiteX12" fmla="*/ 724297 w 725498"/>
              <a:gd name="connsiteY12" fmla="*/ 434639 h 740232"/>
              <a:gd name="connsiteX13" fmla="*/ 717947 w 725498"/>
              <a:gd name="connsiteY13" fmla="*/ 482264 h 740232"/>
              <a:gd name="connsiteX14" fmla="*/ 711597 w 725498"/>
              <a:gd name="connsiteY14" fmla="*/ 545764 h 740232"/>
              <a:gd name="connsiteX15" fmla="*/ 708422 w 725498"/>
              <a:gd name="connsiteY15" fmla="*/ 679114 h 740232"/>
              <a:gd name="connsiteX16" fmla="*/ 705247 w 725498"/>
              <a:gd name="connsiteY16" fmla="*/ 707689 h 740232"/>
              <a:gd name="connsiteX17" fmla="*/ 702072 w 725498"/>
              <a:gd name="connsiteY17" fmla="*/ 729914 h 740232"/>
              <a:gd name="connsiteX18" fmla="*/ 644922 w 725498"/>
              <a:gd name="connsiteY18" fmla="*/ 733089 h 740232"/>
              <a:gd name="connsiteX19" fmla="*/ 521097 w 725498"/>
              <a:gd name="connsiteY19" fmla="*/ 739439 h 740232"/>
              <a:gd name="connsiteX20" fmla="*/ 390922 w 725498"/>
              <a:gd name="connsiteY20" fmla="*/ 739439 h 740232"/>
              <a:gd name="connsiteX21" fmla="*/ 222647 w 725498"/>
              <a:gd name="connsiteY21" fmla="*/ 733089 h 740232"/>
              <a:gd name="connsiteX22" fmla="*/ 111522 w 725498"/>
              <a:gd name="connsiteY22" fmla="*/ 720389 h 740232"/>
              <a:gd name="connsiteX23" fmla="*/ 76597 w 725498"/>
              <a:gd name="connsiteY23" fmla="*/ 726739 h 740232"/>
              <a:gd name="connsiteX24" fmla="*/ 9922 w 725498"/>
              <a:gd name="connsiteY24" fmla="*/ 723564 h 740232"/>
              <a:gd name="connsiteX25" fmla="*/ 3572 w 725498"/>
              <a:gd name="connsiteY25" fmla="*/ 714039 h 740232"/>
              <a:gd name="connsiteX26" fmla="*/ 397 w 725498"/>
              <a:gd name="connsiteY26" fmla="*/ 688639 h 740232"/>
              <a:gd name="connsiteX27" fmla="*/ 397 w 725498"/>
              <a:gd name="connsiteY27" fmla="*/ 196514 h 740232"/>
              <a:gd name="connsiteX28" fmla="*/ 3572 w 725498"/>
              <a:gd name="connsiteY28" fmla="*/ 101264 h 740232"/>
              <a:gd name="connsiteX29" fmla="*/ 6747 w 725498"/>
              <a:gd name="connsiteY29" fmla="*/ 6014 h 740232"/>
              <a:gd name="connsiteX0" fmla="*/ 6747 w 725498"/>
              <a:gd name="connsiteY0" fmla="*/ 6014 h 740232"/>
              <a:gd name="connsiteX1" fmla="*/ 48022 w 725498"/>
              <a:gd name="connsiteY1" fmla="*/ 9189 h 740232"/>
              <a:gd name="connsiteX2" fmla="*/ 117872 w 725498"/>
              <a:gd name="connsiteY2" fmla="*/ 2839 h 740232"/>
              <a:gd name="connsiteX3" fmla="*/ 435372 w 725498"/>
              <a:gd name="connsiteY3" fmla="*/ 6014 h 740232"/>
              <a:gd name="connsiteX4" fmla="*/ 476647 w 725498"/>
              <a:gd name="connsiteY4" fmla="*/ 9189 h 740232"/>
              <a:gd name="connsiteX5" fmla="*/ 568722 w 725498"/>
              <a:gd name="connsiteY5" fmla="*/ 12364 h 740232"/>
              <a:gd name="connsiteX6" fmla="*/ 708422 w 725498"/>
              <a:gd name="connsiteY6" fmla="*/ 9189 h 740232"/>
              <a:gd name="connsiteX7" fmla="*/ 724297 w 725498"/>
              <a:gd name="connsiteY7" fmla="*/ 12364 h 740232"/>
              <a:gd name="connsiteX8" fmla="*/ 717947 w 725498"/>
              <a:gd name="connsiteY8" fmla="*/ 63164 h 740232"/>
              <a:gd name="connsiteX9" fmla="*/ 721122 w 725498"/>
              <a:gd name="connsiteY9" fmla="*/ 139364 h 740232"/>
              <a:gd name="connsiteX10" fmla="*/ 724297 w 725498"/>
              <a:gd name="connsiteY10" fmla="*/ 202864 h 740232"/>
              <a:gd name="connsiteX11" fmla="*/ 717947 w 725498"/>
              <a:gd name="connsiteY11" fmla="*/ 323514 h 740232"/>
              <a:gd name="connsiteX12" fmla="*/ 711597 w 725498"/>
              <a:gd name="connsiteY12" fmla="*/ 437814 h 740232"/>
              <a:gd name="connsiteX13" fmla="*/ 717947 w 725498"/>
              <a:gd name="connsiteY13" fmla="*/ 482264 h 740232"/>
              <a:gd name="connsiteX14" fmla="*/ 711597 w 725498"/>
              <a:gd name="connsiteY14" fmla="*/ 545764 h 740232"/>
              <a:gd name="connsiteX15" fmla="*/ 708422 w 725498"/>
              <a:gd name="connsiteY15" fmla="*/ 679114 h 740232"/>
              <a:gd name="connsiteX16" fmla="*/ 705247 w 725498"/>
              <a:gd name="connsiteY16" fmla="*/ 707689 h 740232"/>
              <a:gd name="connsiteX17" fmla="*/ 702072 w 725498"/>
              <a:gd name="connsiteY17" fmla="*/ 729914 h 740232"/>
              <a:gd name="connsiteX18" fmla="*/ 644922 w 725498"/>
              <a:gd name="connsiteY18" fmla="*/ 733089 h 740232"/>
              <a:gd name="connsiteX19" fmla="*/ 521097 w 725498"/>
              <a:gd name="connsiteY19" fmla="*/ 739439 h 740232"/>
              <a:gd name="connsiteX20" fmla="*/ 390922 w 725498"/>
              <a:gd name="connsiteY20" fmla="*/ 739439 h 740232"/>
              <a:gd name="connsiteX21" fmla="*/ 222647 w 725498"/>
              <a:gd name="connsiteY21" fmla="*/ 733089 h 740232"/>
              <a:gd name="connsiteX22" fmla="*/ 111522 w 725498"/>
              <a:gd name="connsiteY22" fmla="*/ 720389 h 740232"/>
              <a:gd name="connsiteX23" fmla="*/ 76597 w 725498"/>
              <a:gd name="connsiteY23" fmla="*/ 726739 h 740232"/>
              <a:gd name="connsiteX24" fmla="*/ 9922 w 725498"/>
              <a:gd name="connsiteY24" fmla="*/ 723564 h 740232"/>
              <a:gd name="connsiteX25" fmla="*/ 3572 w 725498"/>
              <a:gd name="connsiteY25" fmla="*/ 714039 h 740232"/>
              <a:gd name="connsiteX26" fmla="*/ 397 w 725498"/>
              <a:gd name="connsiteY26" fmla="*/ 688639 h 740232"/>
              <a:gd name="connsiteX27" fmla="*/ 397 w 725498"/>
              <a:gd name="connsiteY27" fmla="*/ 196514 h 740232"/>
              <a:gd name="connsiteX28" fmla="*/ 3572 w 725498"/>
              <a:gd name="connsiteY28" fmla="*/ 101264 h 740232"/>
              <a:gd name="connsiteX29" fmla="*/ 6747 w 725498"/>
              <a:gd name="connsiteY29" fmla="*/ 6014 h 740232"/>
              <a:gd name="connsiteX0" fmla="*/ 6747 w 724366"/>
              <a:gd name="connsiteY0" fmla="*/ 6014 h 740232"/>
              <a:gd name="connsiteX1" fmla="*/ 48022 w 724366"/>
              <a:gd name="connsiteY1" fmla="*/ 9189 h 740232"/>
              <a:gd name="connsiteX2" fmla="*/ 117872 w 724366"/>
              <a:gd name="connsiteY2" fmla="*/ 2839 h 740232"/>
              <a:gd name="connsiteX3" fmla="*/ 435372 w 724366"/>
              <a:gd name="connsiteY3" fmla="*/ 6014 h 740232"/>
              <a:gd name="connsiteX4" fmla="*/ 476647 w 724366"/>
              <a:gd name="connsiteY4" fmla="*/ 9189 h 740232"/>
              <a:gd name="connsiteX5" fmla="*/ 568722 w 724366"/>
              <a:gd name="connsiteY5" fmla="*/ 12364 h 740232"/>
              <a:gd name="connsiteX6" fmla="*/ 708422 w 724366"/>
              <a:gd name="connsiteY6" fmla="*/ 9189 h 740232"/>
              <a:gd name="connsiteX7" fmla="*/ 714772 w 724366"/>
              <a:gd name="connsiteY7" fmla="*/ 15539 h 740232"/>
              <a:gd name="connsiteX8" fmla="*/ 717947 w 724366"/>
              <a:gd name="connsiteY8" fmla="*/ 63164 h 740232"/>
              <a:gd name="connsiteX9" fmla="*/ 721122 w 724366"/>
              <a:gd name="connsiteY9" fmla="*/ 139364 h 740232"/>
              <a:gd name="connsiteX10" fmla="*/ 724297 w 724366"/>
              <a:gd name="connsiteY10" fmla="*/ 202864 h 740232"/>
              <a:gd name="connsiteX11" fmla="*/ 717947 w 724366"/>
              <a:gd name="connsiteY11" fmla="*/ 323514 h 740232"/>
              <a:gd name="connsiteX12" fmla="*/ 711597 w 724366"/>
              <a:gd name="connsiteY12" fmla="*/ 437814 h 740232"/>
              <a:gd name="connsiteX13" fmla="*/ 717947 w 724366"/>
              <a:gd name="connsiteY13" fmla="*/ 482264 h 740232"/>
              <a:gd name="connsiteX14" fmla="*/ 711597 w 724366"/>
              <a:gd name="connsiteY14" fmla="*/ 545764 h 740232"/>
              <a:gd name="connsiteX15" fmla="*/ 708422 w 724366"/>
              <a:gd name="connsiteY15" fmla="*/ 679114 h 740232"/>
              <a:gd name="connsiteX16" fmla="*/ 705247 w 724366"/>
              <a:gd name="connsiteY16" fmla="*/ 707689 h 740232"/>
              <a:gd name="connsiteX17" fmla="*/ 702072 w 724366"/>
              <a:gd name="connsiteY17" fmla="*/ 729914 h 740232"/>
              <a:gd name="connsiteX18" fmla="*/ 644922 w 724366"/>
              <a:gd name="connsiteY18" fmla="*/ 733089 h 740232"/>
              <a:gd name="connsiteX19" fmla="*/ 521097 w 724366"/>
              <a:gd name="connsiteY19" fmla="*/ 739439 h 740232"/>
              <a:gd name="connsiteX20" fmla="*/ 390922 w 724366"/>
              <a:gd name="connsiteY20" fmla="*/ 739439 h 740232"/>
              <a:gd name="connsiteX21" fmla="*/ 222647 w 724366"/>
              <a:gd name="connsiteY21" fmla="*/ 733089 h 740232"/>
              <a:gd name="connsiteX22" fmla="*/ 111522 w 724366"/>
              <a:gd name="connsiteY22" fmla="*/ 720389 h 740232"/>
              <a:gd name="connsiteX23" fmla="*/ 76597 w 724366"/>
              <a:gd name="connsiteY23" fmla="*/ 726739 h 740232"/>
              <a:gd name="connsiteX24" fmla="*/ 9922 w 724366"/>
              <a:gd name="connsiteY24" fmla="*/ 723564 h 740232"/>
              <a:gd name="connsiteX25" fmla="*/ 3572 w 724366"/>
              <a:gd name="connsiteY25" fmla="*/ 714039 h 740232"/>
              <a:gd name="connsiteX26" fmla="*/ 397 w 724366"/>
              <a:gd name="connsiteY26" fmla="*/ 688639 h 740232"/>
              <a:gd name="connsiteX27" fmla="*/ 397 w 724366"/>
              <a:gd name="connsiteY27" fmla="*/ 196514 h 740232"/>
              <a:gd name="connsiteX28" fmla="*/ 3572 w 724366"/>
              <a:gd name="connsiteY28" fmla="*/ 101264 h 740232"/>
              <a:gd name="connsiteX29" fmla="*/ 6747 w 724366"/>
              <a:gd name="connsiteY29" fmla="*/ 6014 h 740232"/>
              <a:gd name="connsiteX0" fmla="*/ 6747 w 724366"/>
              <a:gd name="connsiteY0" fmla="*/ 6014 h 740232"/>
              <a:gd name="connsiteX1" fmla="*/ 48022 w 724366"/>
              <a:gd name="connsiteY1" fmla="*/ 9189 h 740232"/>
              <a:gd name="connsiteX2" fmla="*/ 117872 w 724366"/>
              <a:gd name="connsiteY2" fmla="*/ 2839 h 740232"/>
              <a:gd name="connsiteX3" fmla="*/ 435372 w 724366"/>
              <a:gd name="connsiteY3" fmla="*/ 6014 h 740232"/>
              <a:gd name="connsiteX4" fmla="*/ 476647 w 724366"/>
              <a:gd name="connsiteY4" fmla="*/ 9189 h 740232"/>
              <a:gd name="connsiteX5" fmla="*/ 568722 w 724366"/>
              <a:gd name="connsiteY5" fmla="*/ 12364 h 740232"/>
              <a:gd name="connsiteX6" fmla="*/ 708422 w 724366"/>
              <a:gd name="connsiteY6" fmla="*/ 9189 h 740232"/>
              <a:gd name="connsiteX7" fmla="*/ 714772 w 724366"/>
              <a:gd name="connsiteY7" fmla="*/ 15539 h 740232"/>
              <a:gd name="connsiteX8" fmla="*/ 717947 w 724366"/>
              <a:gd name="connsiteY8" fmla="*/ 63164 h 740232"/>
              <a:gd name="connsiteX9" fmla="*/ 721122 w 724366"/>
              <a:gd name="connsiteY9" fmla="*/ 139364 h 740232"/>
              <a:gd name="connsiteX10" fmla="*/ 724297 w 724366"/>
              <a:gd name="connsiteY10" fmla="*/ 202864 h 740232"/>
              <a:gd name="connsiteX11" fmla="*/ 717947 w 724366"/>
              <a:gd name="connsiteY11" fmla="*/ 323514 h 740232"/>
              <a:gd name="connsiteX12" fmla="*/ 711597 w 724366"/>
              <a:gd name="connsiteY12" fmla="*/ 437814 h 740232"/>
              <a:gd name="connsiteX13" fmla="*/ 717947 w 724366"/>
              <a:gd name="connsiteY13" fmla="*/ 482264 h 740232"/>
              <a:gd name="connsiteX14" fmla="*/ 711597 w 724366"/>
              <a:gd name="connsiteY14" fmla="*/ 545764 h 740232"/>
              <a:gd name="connsiteX15" fmla="*/ 708422 w 724366"/>
              <a:gd name="connsiteY15" fmla="*/ 679114 h 740232"/>
              <a:gd name="connsiteX16" fmla="*/ 705247 w 724366"/>
              <a:gd name="connsiteY16" fmla="*/ 707689 h 740232"/>
              <a:gd name="connsiteX17" fmla="*/ 702072 w 724366"/>
              <a:gd name="connsiteY17" fmla="*/ 729914 h 740232"/>
              <a:gd name="connsiteX18" fmla="*/ 644922 w 724366"/>
              <a:gd name="connsiteY18" fmla="*/ 733089 h 740232"/>
              <a:gd name="connsiteX19" fmla="*/ 521097 w 724366"/>
              <a:gd name="connsiteY19" fmla="*/ 739439 h 740232"/>
              <a:gd name="connsiteX20" fmla="*/ 390922 w 724366"/>
              <a:gd name="connsiteY20" fmla="*/ 739439 h 740232"/>
              <a:gd name="connsiteX21" fmla="*/ 222647 w 724366"/>
              <a:gd name="connsiteY21" fmla="*/ 733089 h 740232"/>
              <a:gd name="connsiteX22" fmla="*/ 76597 w 724366"/>
              <a:gd name="connsiteY22" fmla="*/ 726739 h 740232"/>
              <a:gd name="connsiteX23" fmla="*/ 9922 w 724366"/>
              <a:gd name="connsiteY23" fmla="*/ 723564 h 740232"/>
              <a:gd name="connsiteX24" fmla="*/ 3572 w 724366"/>
              <a:gd name="connsiteY24" fmla="*/ 714039 h 740232"/>
              <a:gd name="connsiteX25" fmla="*/ 397 w 724366"/>
              <a:gd name="connsiteY25" fmla="*/ 688639 h 740232"/>
              <a:gd name="connsiteX26" fmla="*/ 397 w 724366"/>
              <a:gd name="connsiteY26" fmla="*/ 196514 h 740232"/>
              <a:gd name="connsiteX27" fmla="*/ 3572 w 724366"/>
              <a:gd name="connsiteY27" fmla="*/ 101264 h 740232"/>
              <a:gd name="connsiteX28" fmla="*/ 6747 w 724366"/>
              <a:gd name="connsiteY28" fmla="*/ 6014 h 740232"/>
              <a:gd name="connsiteX0" fmla="*/ 7188 w 724807"/>
              <a:gd name="connsiteY0" fmla="*/ 6014 h 740232"/>
              <a:gd name="connsiteX1" fmla="*/ 48463 w 724807"/>
              <a:gd name="connsiteY1" fmla="*/ 9189 h 740232"/>
              <a:gd name="connsiteX2" fmla="*/ 118313 w 724807"/>
              <a:gd name="connsiteY2" fmla="*/ 2839 h 740232"/>
              <a:gd name="connsiteX3" fmla="*/ 435813 w 724807"/>
              <a:gd name="connsiteY3" fmla="*/ 6014 h 740232"/>
              <a:gd name="connsiteX4" fmla="*/ 477088 w 724807"/>
              <a:gd name="connsiteY4" fmla="*/ 9189 h 740232"/>
              <a:gd name="connsiteX5" fmla="*/ 569163 w 724807"/>
              <a:gd name="connsiteY5" fmla="*/ 12364 h 740232"/>
              <a:gd name="connsiteX6" fmla="*/ 708863 w 724807"/>
              <a:gd name="connsiteY6" fmla="*/ 9189 h 740232"/>
              <a:gd name="connsiteX7" fmla="*/ 715213 w 724807"/>
              <a:gd name="connsiteY7" fmla="*/ 15539 h 740232"/>
              <a:gd name="connsiteX8" fmla="*/ 718388 w 724807"/>
              <a:gd name="connsiteY8" fmla="*/ 63164 h 740232"/>
              <a:gd name="connsiteX9" fmla="*/ 721563 w 724807"/>
              <a:gd name="connsiteY9" fmla="*/ 139364 h 740232"/>
              <a:gd name="connsiteX10" fmla="*/ 724738 w 724807"/>
              <a:gd name="connsiteY10" fmla="*/ 202864 h 740232"/>
              <a:gd name="connsiteX11" fmla="*/ 718388 w 724807"/>
              <a:gd name="connsiteY11" fmla="*/ 323514 h 740232"/>
              <a:gd name="connsiteX12" fmla="*/ 712038 w 724807"/>
              <a:gd name="connsiteY12" fmla="*/ 437814 h 740232"/>
              <a:gd name="connsiteX13" fmla="*/ 718388 w 724807"/>
              <a:gd name="connsiteY13" fmla="*/ 482264 h 740232"/>
              <a:gd name="connsiteX14" fmla="*/ 712038 w 724807"/>
              <a:gd name="connsiteY14" fmla="*/ 545764 h 740232"/>
              <a:gd name="connsiteX15" fmla="*/ 708863 w 724807"/>
              <a:gd name="connsiteY15" fmla="*/ 679114 h 740232"/>
              <a:gd name="connsiteX16" fmla="*/ 705688 w 724807"/>
              <a:gd name="connsiteY16" fmla="*/ 707689 h 740232"/>
              <a:gd name="connsiteX17" fmla="*/ 702513 w 724807"/>
              <a:gd name="connsiteY17" fmla="*/ 729914 h 740232"/>
              <a:gd name="connsiteX18" fmla="*/ 645363 w 724807"/>
              <a:gd name="connsiteY18" fmla="*/ 733089 h 740232"/>
              <a:gd name="connsiteX19" fmla="*/ 521538 w 724807"/>
              <a:gd name="connsiteY19" fmla="*/ 739439 h 740232"/>
              <a:gd name="connsiteX20" fmla="*/ 391363 w 724807"/>
              <a:gd name="connsiteY20" fmla="*/ 739439 h 740232"/>
              <a:gd name="connsiteX21" fmla="*/ 223088 w 724807"/>
              <a:gd name="connsiteY21" fmla="*/ 733089 h 740232"/>
              <a:gd name="connsiteX22" fmla="*/ 77038 w 724807"/>
              <a:gd name="connsiteY22" fmla="*/ 726739 h 740232"/>
              <a:gd name="connsiteX23" fmla="*/ 10363 w 724807"/>
              <a:gd name="connsiteY23" fmla="*/ 723564 h 740232"/>
              <a:gd name="connsiteX24" fmla="*/ 838 w 724807"/>
              <a:gd name="connsiteY24" fmla="*/ 688639 h 740232"/>
              <a:gd name="connsiteX25" fmla="*/ 838 w 724807"/>
              <a:gd name="connsiteY25" fmla="*/ 196514 h 740232"/>
              <a:gd name="connsiteX26" fmla="*/ 4013 w 724807"/>
              <a:gd name="connsiteY26" fmla="*/ 101264 h 740232"/>
              <a:gd name="connsiteX27" fmla="*/ 7188 w 724807"/>
              <a:gd name="connsiteY27" fmla="*/ 6014 h 740232"/>
              <a:gd name="connsiteX0" fmla="*/ 7188 w 724807"/>
              <a:gd name="connsiteY0" fmla="*/ 6014 h 740232"/>
              <a:gd name="connsiteX1" fmla="*/ 48463 w 724807"/>
              <a:gd name="connsiteY1" fmla="*/ 9189 h 740232"/>
              <a:gd name="connsiteX2" fmla="*/ 118313 w 724807"/>
              <a:gd name="connsiteY2" fmla="*/ 2839 h 740232"/>
              <a:gd name="connsiteX3" fmla="*/ 435813 w 724807"/>
              <a:gd name="connsiteY3" fmla="*/ 6014 h 740232"/>
              <a:gd name="connsiteX4" fmla="*/ 477088 w 724807"/>
              <a:gd name="connsiteY4" fmla="*/ 9189 h 740232"/>
              <a:gd name="connsiteX5" fmla="*/ 569163 w 724807"/>
              <a:gd name="connsiteY5" fmla="*/ 12364 h 740232"/>
              <a:gd name="connsiteX6" fmla="*/ 708863 w 724807"/>
              <a:gd name="connsiteY6" fmla="*/ 9189 h 740232"/>
              <a:gd name="connsiteX7" fmla="*/ 715213 w 724807"/>
              <a:gd name="connsiteY7" fmla="*/ 15539 h 740232"/>
              <a:gd name="connsiteX8" fmla="*/ 718388 w 724807"/>
              <a:gd name="connsiteY8" fmla="*/ 63164 h 740232"/>
              <a:gd name="connsiteX9" fmla="*/ 721563 w 724807"/>
              <a:gd name="connsiteY9" fmla="*/ 139364 h 740232"/>
              <a:gd name="connsiteX10" fmla="*/ 724738 w 724807"/>
              <a:gd name="connsiteY10" fmla="*/ 202864 h 740232"/>
              <a:gd name="connsiteX11" fmla="*/ 718388 w 724807"/>
              <a:gd name="connsiteY11" fmla="*/ 323514 h 740232"/>
              <a:gd name="connsiteX12" fmla="*/ 712038 w 724807"/>
              <a:gd name="connsiteY12" fmla="*/ 437814 h 740232"/>
              <a:gd name="connsiteX13" fmla="*/ 718388 w 724807"/>
              <a:gd name="connsiteY13" fmla="*/ 482264 h 740232"/>
              <a:gd name="connsiteX14" fmla="*/ 712038 w 724807"/>
              <a:gd name="connsiteY14" fmla="*/ 545764 h 740232"/>
              <a:gd name="connsiteX15" fmla="*/ 708863 w 724807"/>
              <a:gd name="connsiteY15" fmla="*/ 679114 h 740232"/>
              <a:gd name="connsiteX16" fmla="*/ 705688 w 724807"/>
              <a:gd name="connsiteY16" fmla="*/ 707689 h 740232"/>
              <a:gd name="connsiteX17" fmla="*/ 702513 w 724807"/>
              <a:gd name="connsiteY17" fmla="*/ 729914 h 740232"/>
              <a:gd name="connsiteX18" fmla="*/ 645363 w 724807"/>
              <a:gd name="connsiteY18" fmla="*/ 733089 h 740232"/>
              <a:gd name="connsiteX19" fmla="*/ 521538 w 724807"/>
              <a:gd name="connsiteY19" fmla="*/ 739439 h 740232"/>
              <a:gd name="connsiteX20" fmla="*/ 391363 w 724807"/>
              <a:gd name="connsiteY20" fmla="*/ 739439 h 740232"/>
              <a:gd name="connsiteX21" fmla="*/ 223088 w 724807"/>
              <a:gd name="connsiteY21" fmla="*/ 733089 h 740232"/>
              <a:gd name="connsiteX22" fmla="*/ 77038 w 724807"/>
              <a:gd name="connsiteY22" fmla="*/ 726739 h 740232"/>
              <a:gd name="connsiteX23" fmla="*/ 10363 w 724807"/>
              <a:gd name="connsiteY23" fmla="*/ 723564 h 740232"/>
              <a:gd name="connsiteX24" fmla="*/ 838 w 724807"/>
              <a:gd name="connsiteY24" fmla="*/ 644189 h 740232"/>
              <a:gd name="connsiteX25" fmla="*/ 838 w 724807"/>
              <a:gd name="connsiteY25" fmla="*/ 196514 h 740232"/>
              <a:gd name="connsiteX26" fmla="*/ 4013 w 724807"/>
              <a:gd name="connsiteY26" fmla="*/ 101264 h 740232"/>
              <a:gd name="connsiteX27" fmla="*/ 7188 w 724807"/>
              <a:gd name="connsiteY27" fmla="*/ 6014 h 740232"/>
              <a:gd name="connsiteX0" fmla="*/ 7188 w 724807"/>
              <a:gd name="connsiteY0" fmla="*/ 6014 h 740232"/>
              <a:gd name="connsiteX1" fmla="*/ 48463 w 724807"/>
              <a:gd name="connsiteY1" fmla="*/ 9189 h 740232"/>
              <a:gd name="connsiteX2" fmla="*/ 118313 w 724807"/>
              <a:gd name="connsiteY2" fmla="*/ 2839 h 740232"/>
              <a:gd name="connsiteX3" fmla="*/ 435813 w 724807"/>
              <a:gd name="connsiteY3" fmla="*/ 6014 h 740232"/>
              <a:gd name="connsiteX4" fmla="*/ 477088 w 724807"/>
              <a:gd name="connsiteY4" fmla="*/ 9189 h 740232"/>
              <a:gd name="connsiteX5" fmla="*/ 569163 w 724807"/>
              <a:gd name="connsiteY5" fmla="*/ 12364 h 740232"/>
              <a:gd name="connsiteX6" fmla="*/ 708863 w 724807"/>
              <a:gd name="connsiteY6" fmla="*/ 9189 h 740232"/>
              <a:gd name="connsiteX7" fmla="*/ 715213 w 724807"/>
              <a:gd name="connsiteY7" fmla="*/ 15539 h 740232"/>
              <a:gd name="connsiteX8" fmla="*/ 718388 w 724807"/>
              <a:gd name="connsiteY8" fmla="*/ 63164 h 740232"/>
              <a:gd name="connsiteX9" fmla="*/ 721563 w 724807"/>
              <a:gd name="connsiteY9" fmla="*/ 139364 h 740232"/>
              <a:gd name="connsiteX10" fmla="*/ 724738 w 724807"/>
              <a:gd name="connsiteY10" fmla="*/ 202864 h 740232"/>
              <a:gd name="connsiteX11" fmla="*/ 718388 w 724807"/>
              <a:gd name="connsiteY11" fmla="*/ 323514 h 740232"/>
              <a:gd name="connsiteX12" fmla="*/ 712038 w 724807"/>
              <a:gd name="connsiteY12" fmla="*/ 437814 h 740232"/>
              <a:gd name="connsiteX13" fmla="*/ 718388 w 724807"/>
              <a:gd name="connsiteY13" fmla="*/ 482264 h 740232"/>
              <a:gd name="connsiteX14" fmla="*/ 712038 w 724807"/>
              <a:gd name="connsiteY14" fmla="*/ 545764 h 740232"/>
              <a:gd name="connsiteX15" fmla="*/ 708863 w 724807"/>
              <a:gd name="connsiteY15" fmla="*/ 679114 h 740232"/>
              <a:gd name="connsiteX16" fmla="*/ 705688 w 724807"/>
              <a:gd name="connsiteY16" fmla="*/ 707689 h 740232"/>
              <a:gd name="connsiteX17" fmla="*/ 702513 w 724807"/>
              <a:gd name="connsiteY17" fmla="*/ 729914 h 740232"/>
              <a:gd name="connsiteX18" fmla="*/ 645363 w 724807"/>
              <a:gd name="connsiteY18" fmla="*/ 733089 h 740232"/>
              <a:gd name="connsiteX19" fmla="*/ 521538 w 724807"/>
              <a:gd name="connsiteY19" fmla="*/ 739439 h 740232"/>
              <a:gd name="connsiteX20" fmla="*/ 391363 w 724807"/>
              <a:gd name="connsiteY20" fmla="*/ 739439 h 740232"/>
              <a:gd name="connsiteX21" fmla="*/ 223088 w 724807"/>
              <a:gd name="connsiteY21" fmla="*/ 733089 h 740232"/>
              <a:gd name="connsiteX22" fmla="*/ 96088 w 724807"/>
              <a:gd name="connsiteY22" fmla="*/ 733089 h 740232"/>
              <a:gd name="connsiteX23" fmla="*/ 10363 w 724807"/>
              <a:gd name="connsiteY23" fmla="*/ 723564 h 740232"/>
              <a:gd name="connsiteX24" fmla="*/ 838 w 724807"/>
              <a:gd name="connsiteY24" fmla="*/ 644189 h 740232"/>
              <a:gd name="connsiteX25" fmla="*/ 838 w 724807"/>
              <a:gd name="connsiteY25" fmla="*/ 196514 h 740232"/>
              <a:gd name="connsiteX26" fmla="*/ 4013 w 724807"/>
              <a:gd name="connsiteY26" fmla="*/ 101264 h 740232"/>
              <a:gd name="connsiteX27" fmla="*/ 7188 w 724807"/>
              <a:gd name="connsiteY27" fmla="*/ 6014 h 740232"/>
              <a:gd name="connsiteX0" fmla="*/ 7343 w 724962"/>
              <a:gd name="connsiteY0" fmla="*/ 6014 h 740232"/>
              <a:gd name="connsiteX1" fmla="*/ 48618 w 724962"/>
              <a:gd name="connsiteY1" fmla="*/ 9189 h 740232"/>
              <a:gd name="connsiteX2" fmla="*/ 118468 w 724962"/>
              <a:gd name="connsiteY2" fmla="*/ 2839 h 740232"/>
              <a:gd name="connsiteX3" fmla="*/ 435968 w 724962"/>
              <a:gd name="connsiteY3" fmla="*/ 6014 h 740232"/>
              <a:gd name="connsiteX4" fmla="*/ 477243 w 724962"/>
              <a:gd name="connsiteY4" fmla="*/ 9189 h 740232"/>
              <a:gd name="connsiteX5" fmla="*/ 569318 w 724962"/>
              <a:gd name="connsiteY5" fmla="*/ 12364 h 740232"/>
              <a:gd name="connsiteX6" fmla="*/ 709018 w 724962"/>
              <a:gd name="connsiteY6" fmla="*/ 9189 h 740232"/>
              <a:gd name="connsiteX7" fmla="*/ 715368 w 724962"/>
              <a:gd name="connsiteY7" fmla="*/ 15539 h 740232"/>
              <a:gd name="connsiteX8" fmla="*/ 718543 w 724962"/>
              <a:gd name="connsiteY8" fmla="*/ 63164 h 740232"/>
              <a:gd name="connsiteX9" fmla="*/ 721718 w 724962"/>
              <a:gd name="connsiteY9" fmla="*/ 139364 h 740232"/>
              <a:gd name="connsiteX10" fmla="*/ 724893 w 724962"/>
              <a:gd name="connsiteY10" fmla="*/ 202864 h 740232"/>
              <a:gd name="connsiteX11" fmla="*/ 718543 w 724962"/>
              <a:gd name="connsiteY11" fmla="*/ 323514 h 740232"/>
              <a:gd name="connsiteX12" fmla="*/ 712193 w 724962"/>
              <a:gd name="connsiteY12" fmla="*/ 437814 h 740232"/>
              <a:gd name="connsiteX13" fmla="*/ 718543 w 724962"/>
              <a:gd name="connsiteY13" fmla="*/ 482264 h 740232"/>
              <a:gd name="connsiteX14" fmla="*/ 712193 w 724962"/>
              <a:gd name="connsiteY14" fmla="*/ 545764 h 740232"/>
              <a:gd name="connsiteX15" fmla="*/ 709018 w 724962"/>
              <a:gd name="connsiteY15" fmla="*/ 679114 h 740232"/>
              <a:gd name="connsiteX16" fmla="*/ 705843 w 724962"/>
              <a:gd name="connsiteY16" fmla="*/ 707689 h 740232"/>
              <a:gd name="connsiteX17" fmla="*/ 702668 w 724962"/>
              <a:gd name="connsiteY17" fmla="*/ 729914 h 740232"/>
              <a:gd name="connsiteX18" fmla="*/ 645518 w 724962"/>
              <a:gd name="connsiteY18" fmla="*/ 733089 h 740232"/>
              <a:gd name="connsiteX19" fmla="*/ 521693 w 724962"/>
              <a:gd name="connsiteY19" fmla="*/ 739439 h 740232"/>
              <a:gd name="connsiteX20" fmla="*/ 391518 w 724962"/>
              <a:gd name="connsiteY20" fmla="*/ 739439 h 740232"/>
              <a:gd name="connsiteX21" fmla="*/ 223243 w 724962"/>
              <a:gd name="connsiteY21" fmla="*/ 733089 h 740232"/>
              <a:gd name="connsiteX22" fmla="*/ 102593 w 724962"/>
              <a:gd name="connsiteY22" fmla="*/ 720389 h 740232"/>
              <a:gd name="connsiteX23" fmla="*/ 10518 w 724962"/>
              <a:gd name="connsiteY23" fmla="*/ 723564 h 740232"/>
              <a:gd name="connsiteX24" fmla="*/ 993 w 724962"/>
              <a:gd name="connsiteY24" fmla="*/ 644189 h 740232"/>
              <a:gd name="connsiteX25" fmla="*/ 993 w 724962"/>
              <a:gd name="connsiteY25" fmla="*/ 196514 h 740232"/>
              <a:gd name="connsiteX26" fmla="*/ 4168 w 724962"/>
              <a:gd name="connsiteY26" fmla="*/ 101264 h 740232"/>
              <a:gd name="connsiteX27" fmla="*/ 7343 w 724962"/>
              <a:gd name="connsiteY27" fmla="*/ 6014 h 740232"/>
              <a:gd name="connsiteX0" fmla="*/ 7343 w 724962"/>
              <a:gd name="connsiteY0" fmla="*/ 6014 h 740232"/>
              <a:gd name="connsiteX1" fmla="*/ 48618 w 724962"/>
              <a:gd name="connsiteY1" fmla="*/ 9189 h 740232"/>
              <a:gd name="connsiteX2" fmla="*/ 118468 w 724962"/>
              <a:gd name="connsiteY2" fmla="*/ 2839 h 740232"/>
              <a:gd name="connsiteX3" fmla="*/ 435968 w 724962"/>
              <a:gd name="connsiteY3" fmla="*/ 6014 h 740232"/>
              <a:gd name="connsiteX4" fmla="*/ 477243 w 724962"/>
              <a:gd name="connsiteY4" fmla="*/ 9189 h 740232"/>
              <a:gd name="connsiteX5" fmla="*/ 569318 w 724962"/>
              <a:gd name="connsiteY5" fmla="*/ 12364 h 740232"/>
              <a:gd name="connsiteX6" fmla="*/ 709018 w 724962"/>
              <a:gd name="connsiteY6" fmla="*/ 9189 h 740232"/>
              <a:gd name="connsiteX7" fmla="*/ 715368 w 724962"/>
              <a:gd name="connsiteY7" fmla="*/ 15539 h 740232"/>
              <a:gd name="connsiteX8" fmla="*/ 718543 w 724962"/>
              <a:gd name="connsiteY8" fmla="*/ 63164 h 740232"/>
              <a:gd name="connsiteX9" fmla="*/ 721718 w 724962"/>
              <a:gd name="connsiteY9" fmla="*/ 139364 h 740232"/>
              <a:gd name="connsiteX10" fmla="*/ 724893 w 724962"/>
              <a:gd name="connsiteY10" fmla="*/ 202864 h 740232"/>
              <a:gd name="connsiteX11" fmla="*/ 718543 w 724962"/>
              <a:gd name="connsiteY11" fmla="*/ 323514 h 740232"/>
              <a:gd name="connsiteX12" fmla="*/ 712193 w 724962"/>
              <a:gd name="connsiteY12" fmla="*/ 437814 h 740232"/>
              <a:gd name="connsiteX13" fmla="*/ 718543 w 724962"/>
              <a:gd name="connsiteY13" fmla="*/ 482264 h 740232"/>
              <a:gd name="connsiteX14" fmla="*/ 712193 w 724962"/>
              <a:gd name="connsiteY14" fmla="*/ 545764 h 740232"/>
              <a:gd name="connsiteX15" fmla="*/ 709018 w 724962"/>
              <a:gd name="connsiteY15" fmla="*/ 679114 h 740232"/>
              <a:gd name="connsiteX16" fmla="*/ 705843 w 724962"/>
              <a:gd name="connsiteY16" fmla="*/ 707689 h 740232"/>
              <a:gd name="connsiteX17" fmla="*/ 702668 w 724962"/>
              <a:gd name="connsiteY17" fmla="*/ 729914 h 740232"/>
              <a:gd name="connsiteX18" fmla="*/ 645518 w 724962"/>
              <a:gd name="connsiteY18" fmla="*/ 733089 h 740232"/>
              <a:gd name="connsiteX19" fmla="*/ 521693 w 724962"/>
              <a:gd name="connsiteY19" fmla="*/ 739439 h 740232"/>
              <a:gd name="connsiteX20" fmla="*/ 391518 w 724962"/>
              <a:gd name="connsiteY20" fmla="*/ 739439 h 740232"/>
              <a:gd name="connsiteX21" fmla="*/ 223243 w 724962"/>
              <a:gd name="connsiteY21" fmla="*/ 733089 h 740232"/>
              <a:gd name="connsiteX22" fmla="*/ 102593 w 724962"/>
              <a:gd name="connsiteY22" fmla="*/ 733089 h 740232"/>
              <a:gd name="connsiteX23" fmla="*/ 10518 w 724962"/>
              <a:gd name="connsiteY23" fmla="*/ 723564 h 740232"/>
              <a:gd name="connsiteX24" fmla="*/ 993 w 724962"/>
              <a:gd name="connsiteY24" fmla="*/ 644189 h 740232"/>
              <a:gd name="connsiteX25" fmla="*/ 993 w 724962"/>
              <a:gd name="connsiteY25" fmla="*/ 196514 h 740232"/>
              <a:gd name="connsiteX26" fmla="*/ 4168 w 724962"/>
              <a:gd name="connsiteY26" fmla="*/ 101264 h 740232"/>
              <a:gd name="connsiteX27" fmla="*/ 7343 w 724962"/>
              <a:gd name="connsiteY27" fmla="*/ 6014 h 740232"/>
              <a:gd name="connsiteX0" fmla="*/ 7343 w 724962"/>
              <a:gd name="connsiteY0" fmla="*/ 8215 h 742433"/>
              <a:gd name="connsiteX1" fmla="*/ 118468 w 724962"/>
              <a:gd name="connsiteY1" fmla="*/ 5040 h 742433"/>
              <a:gd name="connsiteX2" fmla="*/ 435968 w 724962"/>
              <a:gd name="connsiteY2" fmla="*/ 8215 h 742433"/>
              <a:gd name="connsiteX3" fmla="*/ 477243 w 724962"/>
              <a:gd name="connsiteY3" fmla="*/ 11390 h 742433"/>
              <a:gd name="connsiteX4" fmla="*/ 569318 w 724962"/>
              <a:gd name="connsiteY4" fmla="*/ 14565 h 742433"/>
              <a:gd name="connsiteX5" fmla="*/ 709018 w 724962"/>
              <a:gd name="connsiteY5" fmla="*/ 11390 h 742433"/>
              <a:gd name="connsiteX6" fmla="*/ 715368 w 724962"/>
              <a:gd name="connsiteY6" fmla="*/ 17740 h 742433"/>
              <a:gd name="connsiteX7" fmla="*/ 718543 w 724962"/>
              <a:gd name="connsiteY7" fmla="*/ 65365 h 742433"/>
              <a:gd name="connsiteX8" fmla="*/ 721718 w 724962"/>
              <a:gd name="connsiteY8" fmla="*/ 141565 h 742433"/>
              <a:gd name="connsiteX9" fmla="*/ 724893 w 724962"/>
              <a:gd name="connsiteY9" fmla="*/ 205065 h 742433"/>
              <a:gd name="connsiteX10" fmla="*/ 718543 w 724962"/>
              <a:gd name="connsiteY10" fmla="*/ 325715 h 742433"/>
              <a:gd name="connsiteX11" fmla="*/ 712193 w 724962"/>
              <a:gd name="connsiteY11" fmla="*/ 440015 h 742433"/>
              <a:gd name="connsiteX12" fmla="*/ 718543 w 724962"/>
              <a:gd name="connsiteY12" fmla="*/ 484465 h 742433"/>
              <a:gd name="connsiteX13" fmla="*/ 712193 w 724962"/>
              <a:gd name="connsiteY13" fmla="*/ 547965 h 742433"/>
              <a:gd name="connsiteX14" fmla="*/ 709018 w 724962"/>
              <a:gd name="connsiteY14" fmla="*/ 681315 h 742433"/>
              <a:gd name="connsiteX15" fmla="*/ 705843 w 724962"/>
              <a:gd name="connsiteY15" fmla="*/ 709890 h 742433"/>
              <a:gd name="connsiteX16" fmla="*/ 702668 w 724962"/>
              <a:gd name="connsiteY16" fmla="*/ 732115 h 742433"/>
              <a:gd name="connsiteX17" fmla="*/ 645518 w 724962"/>
              <a:gd name="connsiteY17" fmla="*/ 735290 h 742433"/>
              <a:gd name="connsiteX18" fmla="*/ 521693 w 724962"/>
              <a:gd name="connsiteY18" fmla="*/ 741640 h 742433"/>
              <a:gd name="connsiteX19" fmla="*/ 391518 w 724962"/>
              <a:gd name="connsiteY19" fmla="*/ 741640 h 742433"/>
              <a:gd name="connsiteX20" fmla="*/ 223243 w 724962"/>
              <a:gd name="connsiteY20" fmla="*/ 735290 h 742433"/>
              <a:gd name="connsiteX21" fmla="*/ 102593 w 724962"/>
              <a:gd name="connsiteY21" fmla="*/ 735290 h 742433"/>
              <a:gd name="connsiteX22" fmla="*/ 10518 w 724962"/>
              <a:gd name="connsiteY22" fmla="*/ 725765 h 742433"/>
              <a:gd name="connsiteX23" fmla="*/ 993 w 724962"/>
              <a:gd name="connsiteY23" fmla="*/ 646390 h 742433"/>
              <a:gd name="connsiteX24" fmla="*/ 993 w 724962"/>
              <a:gd name="connsiteY24" fmla="*/ 198715 h 742433"/>
              <a:gd name="connsiteX25" fmla="*/ 4168 w 724962"/>
              <a:gd name="connsiteY25" fmla="*/ 103465 h 742433"/>
              <a:gd name="connsiteX26" fmla="*/ 7343 w 724962"/>
              <a:gd name="connsiteY26" fmla="*/ 8215 h 742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4962" h="742433">
                <a:moveTo>
                  <a:pt x="7343" y="8215"/>
                </a:moveTo>
                <a:cubicBezTo>
                  <a:pt x="26393" y="-8189"/>
                  <a:pt x="47031" y="5040"/>
                  <a:pt x="118468" y="5040"/>
                </a:cubicBezTo>
                <a:lnTo>
                  <a:pt x="435968" y="8215"/>
                </a:lnTo>
                <a:cubicBezTo>
                  <a:pt x="449765" y="8459"/>
                  <a:pt x="463460" y="10734"/>
                  <a:pt x="477243" y="11390"/>
                </a:cubicBezTo>
                <a:cubicBezTo>
                  <a:pt x="507918" y="12851"/>
                  <a:pt x="538626" y="13507"/>
                  <a:pt x="569318" y="14565"/>
                </a:cubicBezTo>
                <a:lnTo>
                  <a:pt x="709018" y="11390"/>
                </a:lnTo>
                <a:cubicBezTo>
                  <a:pt x="733360" y="11919"/>
                  <a:pt x="713781" y="12582"/>
                  <a:pt x="715368" y="17740"/>
                </a:cubicBezTo>
                <a:cubicBezTo>
                  <a:pt x="719271" y="30426"/>
                  <a:pt x="722261" y="50492"/>
                  <a:pt x="718543" y="65365"/>
                </a:cubicBezTo>
                <a:cubicBezTo>
                  <a:pt x="719601" y="90765"/>
                  <a:pt x="720660" y="118282"/>
                  <a:pt x="721718" y="141565"/>
                </a:cubicBezTo>
                <a:cubicBezTo>
                  <a:pt x="722776" y="164848"/>
                  <a:pt x="725422" y="174373"/>
                  <a:pt x="724893" y="205065"/>
                </a:cubicBezTo>
                <a:cubicBezTo>
                  <a:pt x="724364" y="235757"/>
                  <a:pt x="720660" y="286557"/>
                  <a:pt x="718543" y="325715"/>
                </a:cubicBezTo>
                <a:cubicBezTo>
                  <a:pt x="716426" y="364873"/>
                  <a:pt x="714031" y="383943"/>
                  <a:pt x="712193" y="440015"/>
                </a:cubicBezTo>
                <a:cubicBezTo>
                  <a:pt x="711891" y="449216"/>
                  <a:pt x="718543" y="466473"/>
                  <a:pt x="718543" y="484465"/>
                </a:cubicBezTo>
                <a:cubicBezTo>
                  <a:pt x="718543" y="502457"/>
                  <a:pt x="721282" y="475250"/>
                  <a:pt x="712193" y="547965"/>
                </a:cubicBezTo>
                <a:cubicBezTo>
                  <a:pt x="711135" y="592415"/>
                  <a:pt x="710760" y="636887"/>
                  <a:pt x="709018" y="681315"/>
                </a:cubicBezTo>
                <a:cubicBezTo>
                  <a:pt x="708642" y="690891"/>
                  <a:pt x="707032" y="700380"/>
                  <a:pt x="705843" y="709890"/>
                </a:cubicBezTo>
                <a:cubicBezTo>
                  <a:pt x="704915" y="717316"/>
                  <a:pt x="709565" y="729211"/>
                  <a:pt x="702668" y="732115"/>
                </a:cubicBezTo>
                <a:cubicBezTo>
                  <a:pt x="685084" y="739519"/>
                  <a:pt x="664568" y="734232"/>
                  <a:pt x="645518" y="735290"/>
                </a:cubicBezTo>
                <a:cubicBezTo>
                  <a:pt x="605192" y="734306"/>
                  <a:pt x="564026" y="740582"/>
                  <a:pt x="521693" y="741640"/>
                </a:cubicBezTo>
                <a:cubicBezTo>
                  <a:pt x="479360" y="742698"/>
                  <a:pt x="441260" y="742698"/>
                  <a:pt x="391518" y="741640"/>
                </a:cubicBezTo>
                <a:cubicBezTo>
                  <a:pt x="341776" y="740582"/>
                  <a:pt x="279335" y="736348"/>
                  <a:pt x="223243" y="735290"/>
                </a:cubicBezTo>
                <a:lnTo>
                  <a:pt x="102593" y="735290"/>
                </a:lnTo>
                <a:cubicBezTo>
                  <a:pt x="80368" y="734232"/>
                  <a:pt x="27451" y="740582"/>
                  <a:pt x="10518" y="725765"/>
                </a:cubicBezTo>
                <a:cubicBezTo>
                  <a:pt x="-6415" y="710948"/>
                  <a:pt x="2581" y="734232"/>
                  <a:pt x="993" y="646390"/>
                </a:cubicBezTo>
                <a:cubicBezTo>
                  <a:pt x="-595" y="558548"/>
                  <a:pt x="464" y="296611"/>
                  <a:pt x="993" y="198715"/>
                </a:cubicBezTo>
                <a:cubicBezTo>
                  <a:pt x="1297" y="178477"/>
                  <a:pt x="790" y="123733"/>
                  <a:pt x="4168" y="103465"/>
                </a:cubicBezTo>
                <a:cubicBezTo>
                  <a:pt x="6814" y="74890"/>
                  <a:pt x="-65" y="23561"/>
                  <a:pt x="7343" y="8215"/>
                </a:cubicBezTo>
                <a:close/>
              </a:path>
            </a:pathLst>
          </a:cu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Comic Sans MS" panose="030F0902030302020204" pitchFamily="66" charset="0"/>
              </a:rPr>
              <a:t>H</a:t>
            </a:r>
          </a:p>
        </p:txBody>
      </p:sp>
      <p:sp>
        <p:nvSpPr>
          <p:cNvPr id="39" name="Freeform 38">
            <a:extLst>
              <a:ext uri="{FF2B5EF4-FFF2-40B4-BE49-F238E27FC236}">
                <a16:creationId xmlns:a16="http://schemas.microsoft.com/office/drawing/2014/main" id="{AFB15D27-FCB0-974C-ADE4-00D1C0F6EB08}"/>
              </a:ext>
            </a:extLst>
          </p:cNvPr>
          <p:cNvSpPr/>
          <p:nvPr/>
        </p:nvSpPr>
        <p:spPr>
          <a:xfrm>
            <a:off x="3463336" y="2652119"/>
            <a:ext cx="902481" cy="923386"/>
          </a:xfrm>
          <a:custGeom>
            <a:avLst/>
            <a:gdLst>
              <a:gd name="connsiteX0" fmla="*/ 21489 w 745389"/>
              <a:gd name="connsiteY0" fmla="*/ 6710 h 734634"/>
              <a:gd name="connsiteX1" fmla="*/ 62764 w 745389"/>
              <a:gd name="connsiteY1" fmla="*/ 9885 h 734634"/>
              <a:gd name="connsiteX2" fmla="*/ 132614 w 745389"/>
              <a:gd name="connsiteY2" fmla="*/ 3535 h 734634"/>
              <a:gd name="connsiteX3" fmla="*/ 450114 w 745389"/>
              <a:gd name="connsiteY3" fmla="*/ 6710 h 734634"/>
              <a:gd name="connsiteX4" fmla="*/ 491389 w 745389"/>
              <a:gd name="connsiteY4" fmla="*/ 9885 h 734634"/>
              <a:gd name="connsiteX5" fmla="*/ 583464 w 745389"/>
              <a:gd name="connsiteY5" fmla="*/ 13060 h 734634"/>
              <a:gd name="connsiteX6" fmla="*/ 723164 w 745389"/>
              <a:gd name="connsiteY6" fmla="*/ 9885 h 734634"/>
              <a:gd name="connsiteX7" fmla="*/ 739039 w 745389"/>
              <a:gd name="connsiteY7" fmla="*/ 13060 h 734634"/>
              <a:gd name="connsiteX8" fmla="*/ 732689 w 745389"/>
              <a:gd name="connsiteY8" fmla="*/ 63860 h 734634"/>
              <a:gd name="connsiteX9" fmla="*/ 735864 w 745389"/>
              <a:gd name="connsiteY9" fmla="*/ 140060 h 734634"/>
              <a:gd name="connsiteX10" fmla="*/ 742214 w 745389"/>
              <a:gd name="connsiteY10" fmla="*/ 159110 h 734634"/>
              <a:gd name="connsiteX11" fmla="*/ 745389 w 745389"/>
              <a:gd name="connsiteY11" fmla="*/ 168635 h 734634"/>
              <a:gd name="connsiteX12" fmla="*/ 742214 w 745389"/>
              <a:gd name="connsiteY12" fmla="*/ 267060 h 734634"/>
              <a:gd name="connsiteX13" fmla="*/ 739039 w 745389"/>
              <a:gd name="connsiteY13" fmla="*/ 435335 h 734634"/>
              <a:gd name="connsiteX14" fmla="*/ 732689 w 745389"/>
              <a:gd name="connsiteY14" fmla="*/ 482960 h 734634"/>
              <a:gd name="connsiteX15" fmla="*/ 726339 w 745389"/>
              <a:gd name="connsiteY15" fmla="*/ 546460 h 734634"/>
              <a:gd name="connsiteX16" fmla="*/ 723164 w 745389"/>
              <a:gd name="connsiteY16" fmla="*/ 679810 h 734634"/>
              <a:gd name="connsiteX17" fmla="*/ 719989 w 745389"/>
              <a:gd name="connsiteY17" fmla="*/ 708385 h 734634"/>
              <a:gd name="connsiteX18" fmla="*/ 716814 w 745389"/>
              <a:gd name="connsiteY18" fmla="*/ 730610 h 734634"/>
              <a:gd name="connsiteX19" fmla="*/ 659664 w 745389"/>
              <a:gd name="connsiteY19" fmla="*/ 733785 h 734634"/>
              <a:gd name="connsiteX20" fmla="*/ 469164 w 745389"/>
              <a:gd name="connsiteY20" fmla="*/ 727435 h 734634"/>
              <a:gd name="connsiteX21" fmla="*/ 405664 w 745389"/>
              <a:gd name="connsiteY21" fmla="*/ 721085 h 734634"/>
              <a:gd name="connsiteX22" fmla="*/ 237389 w 745389"/>
              <a:gd name="connsiteY22" fmla="*/ 717910 h 734634"/>
              <a:gd name="connsiteX23" fmla="*/ 126264 w 745389"/>
              <a:gd name="connsiteY23" fmla="*/ 721085 h 734634"/>
              <a:gd name="connsiteX24" fmla="*/ 91339 w 745389"/>
              <a:gd name="connsiteY24" fmla="*/ 727435 h 734634"/>
              <a:gd name="connsiteX25" fmla="*/ 24664 w 745389"/>
              <a:gd name="connsiteY25" fmla="*/ 724260 h 734634"/>
              <a:gd name="connsiteX26" fmla="*/ 18314 w 745389"/>
              <a:gd name="connsiteY26" fmla="*/ 714735 h 734634"/>
              <a:gd name="connsiteX27" fmla="*/ 15139 w 745389"/>
              <a:gd name="connsiteY27" fmla="*/ 689335 h 734634"/>
              <a:gd name="connsiteX28" fmla="*/ 8789 w 745389"/>
              <a:gd name="connsiteY28" fmla="*/ 663935 h 734634"/>
              <a:gd name="connsiteX29" fmla="*/ 5614 w 745389"/>
              <a:gd name="connsiteY29" fmla="*/ 644885 h 734634"/>
              <a:gd name="connsiteX30" fmla="*/ 5614 w 745389"/>
              <a:gd name="connsiteY30" fmla="*/ 178160 h 734634"/>
              <a:gd name="connsiteX31" fmla="*/ 15139 w 745389"/>
              <a:gd name="connsiteY31" fmla="*/ 130535 h 734634"/>
              <a:gd name="connsiteX32" fmla="*/ 18314 w 745389"/>
              <a:gd name="connsiteY32" fmla="*/ 111485 h 734634"/>
              <a:gd name="connsiteX33" fmla="*/ 21489 w 745389"/>
              <a:gd name="connsiteY33" fmla="*/ 6710 h 734634"/>
              <a:gd name="connsiteX0" fmla="*/ 21489 w 745389"/>
              <a:gd name="connsiteY0" fmla="*/ 6710 h 734634"/>
              <a:gd name="connsiteX1" fmla="*/ 62764 w 745389"/>
              <a:gd name="connsiteY1" fmla="*/ 9885 h 734634"/>
              <a:gd name="connsiteX2" fmla="*/ 132614 w 745389"/>
              <a:gd name="connsiteY2" fmla="*/ 3535 h 734634"/>
              <a:gd name="connsiteX3" fmla="*/ 450114 w 745389"/>
              <a:gd name="connsiteY3" fmla="*/ 6710 h 734634"/>
              <a:gd name="connsiteX4" fmla="*/ 491389 w 745389"/>
              <a:gd name="connsiteY4" fmla="*/ 9885 h 734634"/>
              <a:gd name="connsiteX5" fmla="*/ 583464 w 745389"/>
              <a:gd name="connsiteY5" fmla="*/ 13060 h 734634"/>
              <a:gd name="connsiteX6" fmla="*/ 723164 w 745389"/>
              <a:gd name="connsiteY6" fmla="*/ 9885 h 734634"/>
              <a:gd name="connsiteX7" fmla="*/ 739039 w 745389"/>
              <a:gd name="connsiteY7" fmla="*/ 13060 h 734634"/>
              <a:gd name="connsiteX8" fmla="*/ 732689 w 745389"/>
              <a:gd name="connsiteY8" fmla="*/ 63860 h 734634"/>
              <a:gd name="connsiteX9" fmla="*/ 735864 w 745389"/>
              <a:gd name="connsiteY9" fmla="*/ 140060 h 734634"/>
              <a:gd name="connsiteX10" fmla="*/ 742214 w 745389"/>
              <a:gd name="connsiteY10" fmla="*/ 159110 h 734634"/>
              <a:gd name="connsiteX11" fmla="*/ 745389 w 745389"/>
              <a:gd name="connsiteY11" fmla="*/ 168635 h 734634"/>
              <a:gd name="connsiteX12" fmla="*/ 742214 w 745389"/>
              <a:gd name="connsiteY12" fmla="*/ 267060 h 734634"/>
              <a:gd name="connsiteX13" fmla="*/ 739039 w 745389"/>
              <a:gd name="connsiteY13" fmla="*/ 435335 h 734634"/>
              <a:gd name="connsiteX14" fmla="*/ 732689 w 745389"/>
              <a:gd name="connsiteY14" fmla="*/ 482960 h 734634"/>
              <a:gd name="connsiteX15" fmla="*/ 726339 w 745389"/>
              <a:gd name="connsiteY15" fmla="*/ 546460 h 734634"/>
              <a:gd name="connsiteX16" fmla="*/ 723164 w 745389"/>
              <a:gd name="connsiteY16" fmla="*/ 679810 h 734634"/>
              <a:gd name="connsiteX17" fmla="*/ 719989 w 745389"/>
              <a:gd name="connsiteY17" fmla="*/ 708385 h 734634"/>
              <a:gd name="connsiteX18" fmla="*/ 716814 w 745389"/>
              <a:gd name="connsiteY18" fmla="*/ 730610 h 734634"/>
              <a:gd name="connsiteX19" fmla="*/ 659664 w 745389"/>
              <a:gd name="connsiteY19" fmla="*/ 733785 h 734634"/>
              <a:gd name="connsiteX20" fmla="*/ 469164 w 745389"/>
              <a:gd name="connsiteY20" fmla="*/ 727435 h 734634"/>
              <a:gd name="connsiteX21" fmla="*/ 405664 w 745389"/>
              <a:gd name="connsiteY21" fmla="*/ 721085 h 734634"/>
              <a:gd name="connsiteX22" fmla="*/ 237389 w 745389"/>
              <a:gd name="connsiteY22" fmla="*/ 717910 h 734634"/>
              <a:gd name="connsiteX23" fmla="*/ 126264 w 745389"/>
              <a:gd name="connsiteY23" fmla="*/ 721085 h 734634"/>
              <a:gd name="connsiteX24" fmla="*/ 91339 w 745389"/>
              <a:gd name="connsiteY24" fmla="*/ 727435 h 734634"/>
              <a:gd name="connsiteX25" fmla="*/ 24664 w 745389"/>
              <a:gd name="connsiteY25" fmla="*/ 724260 h 734634"/>
              <a:gd name="connsiteX26" fmla="*/ 18314 w 745389"/>
              <a:gd name="connsiteY26" fmla="*/ 714735 h 734634"/>
              <a:gd name="connsiteX27" fmla="*/ 15139 w 745389"/>
              <a:gd name="connsiteY27" fmla="*/ 689335 h 734634"/>
              <a:gd name="connsiteX28" fmla="*/ 8789 w 745389"/>
              <a:gd name="connsiteY28" fmla="*/ 663935 h 734634"/>
              <a:gd name="connsiteX29" fmla="*/ 5614 w 745389"/>
              <a:gd name="connsiteY29" fmla="*/ 644885 h 734634"/>
              <a:gd name="connsiteX30" fmla="*/ 5614 w 745389"/>
              <a:gd name="connsiteY30" fmla="*/ 178160 h 734634"/>
              <a:gd name="connsiteX31" fmla="*/ 15139 w 745389"/>
              <a:gd name="connsiteY31" fmla="*/ 130535 h 734634"/>
              <a:gd name="connsiteX32" fmla="*/ 18314 w 745389"/>
              <a:gd name="connsiteY32" fmla="*/ 111485 h 734634"/>
              <a:gd name="connsiteX33" fmla="*/ 21489 w 745389"/>
              <a:gd name="connsiteY33" fmla="*/ 6710 h 734634"/>
              <a:gd name="connsiteX0" fmla="*/ 21489 w 745389"/>
              <a:gd name="connsiteY0" fmla="*/ 6710 h 734634"/>
              <a:gd name="connsiteX1" fmla="*/ 62764 w 745389"/>
              <a:gd name="connsiteY1" fmla="*/ 9885 h 734634"/>
              <a:gd name="connsiteX2" fmla="*/ 132614 w 745389"/>
              <a:gd name="connsiteY2" fmla="*/ 3535 h 734634"/>
              <a:gd name="connsiteX3" fmla="*/ 450114 w 745389"/>
              <a:gd name="connsiteY3" fmla="*/ 6710 h 734634"/>
              <a:gd name="connsiteX4" fmla="*/ 491389 w 745389"/>
              <a:gd name="connsiteY4" fmla="*/ 9885 h 734634"/>
              <a:gd name="connsiteX5" fmla="*/ 583464 w 745389"/>
              <a:gd name="connsiteY5" fmla="*/ 13060 h 734634"/>
              <a:gd name="connsiteX6" fmla="*/ 723164 w 745389"/>
              <a:gd name="connsiteY6" fmla="*/ 9885 h 734634"/>
              <a:gd name="connsiteX7" fmla="*/ 739039 w 745389"/>
              <a:gd name="connsiteY7" fmla="*/ 13060 h 734634"/>
              <a:gd name="connsiteX8" fmla="*/ 732689 w 745389"/>
              <a:gd name="connsiteY8" fmla="*/ 63860 h 734634"/>
              <a:gd name="connsiteX9" fmla="*/ 735864 w 745389"/>
              <a:gd name="connsiteY9" fmla="*/ 140060 h 734634"/>
              <a:gd name="connsiteX10" fmla="*/ 742214 w 745389"/>
              <a:gd name="connsiteY10" fmla="*/ 159110 h 734634"/>
              <a:gd name="connsiteX11" fmla="*/ 745389 w 745389"/>
              <a:gd name="connsiteY11" fmla="*/ 168635 h 734634"/>
              <a:gd name="connsiteX12" fmla="*/ 742214 w 745389"/>
              <a:gd name="connsiteY12" fmla="*/ 267060 h 734634"/>
              <a:gd name="connsiteX13" fmla="*/ 739039 w 745389"/>
              <a:gd name="connsiteY13" fmla="*/ 435335 h 734634"/>
              <a:gd name="connsiteX14" fmla="*/ 732689 w 745389"/>
              <a:gd name="connsiteY14" fmla="*/ 482960 h 734634"/>
              <a:gd name="connsiteX15" fmla="*/ 726339 w 745389"/>
              <a:gd name="connsiteY15" fmla="*/ 546460 h 734634"/>
              <a:gd name="connsiteX16" fmla="*/ 723164 w 745389"/>
              <a:gd name="connsiteY16" fmla="*/ 679810 h 734634"/>
              <a:gd name="connsiteX17" fmla="*/ 719989 w 745389"/>
              <a:gd name="connsiteY17" fmla="*/ 708385 h 734634"/>
              <a:gd name="connsiteX18" fmla="*/ 716814 w 745389"/>
              <a:gd name="connsiteY18" fmla="*/ 730610 h 734634"/>
              <a:gd name="connsiteX19" fmla="*/ 659664 w 745389"/>
              <a:gd name="connsiteY19" fmla="*/ 733785 h 734634"/>
              <a:gd name="connsiteX20" fmla="*/ 469164 w 745389"/>
              <a:gd name="connsiteY20" fmla="*/ 727435 h 734634"/>
              <a:gd name="connsiteX21" fmla="*/ 405664 w 745389"/>
              <a:gd name="connsiteY21" fmla="*/ 721085 h 734634"/>
              <a:gd name="connsiteX22" fmla="*/ 237389 w 745389"/>
              <a:gd name="connsiteY22" fmla="*/ 717910 h 734634"/>
              <a:gd name="connsiteX23" fmla="*/ 126264 w 745389"/>
              <a:gd name="connsiteY23" fmla="*/ 721085 h 734634"/>
              <a:gd name="connsiteX24" fmla="*/ 91339 w 745389"/>
              <a:gd name="connsiteY24" fmla="*/ 727435 h 734634"/>
              <a:gd name="connsiteX25" fmla="*/ 24664 w 745389"/>
              <a:gd name="connsiteY25" fmla="*/ 724260 h 734634"/>
              <a:gd name="connsiteX26" fmla="*/ 18314 w 745389"/>
              <a:gd name="connsiteY26" fmla="*/ 714735 h 734634"/>
              <a:gd name="connsiteX27" fmla="*/ 15139 w 745389"/>
              <a:gd name="connsiteY27" fmla="*/ 689335 h 734634"/>
              <a:gd name="connsiteX28" fmla="*/ 8789 w 745389"/>
              <a:gd name="connsiteY28" fmla="*/ 663935 h 734634"/>
              <a:gd name="connsiteX29" fmla="*/ 5614 w 745389"/>
              <a:gd name="connsiteY29" fmla="*/ 644885 h 734634"/>
              <a:gd name="connsiteX30" fmla="*/ 5614 w 745389"/>
              <a:gd name="connsiteY30" fmla="*/ 178160 h 734634"/>
              <a:gd name="connsiteX31" fmla="*/ 15139 w 745389"/>
              <a:gd name="connsiteY31" fmla="*/ 130535 h 734634"/>
              <a:gd name="connsiteX32" fmla="*/ 21489 w 745389"/>
              <a:gd name="connsiteY32" fmla="*/ 6710 h 734634"/>
              <a:gd name="connsiteX0" fmla="*/ 21489 w 745389"/>
              <a:gd name="connsiteY0" fmla="*/ 6014 h 733938"/>
              <a:gd name="connsiteX1" fmla="*/ 62764 w 745389"/>
              <a:gd name="connsiteY1" fmla="*/ 9189 h 733938"/>
              <a:gd name="connsiteX2" fmla="*/ 132614 w 745389"/>
              <a:gd name="connsiteY2" fmla="*/ 2839 h 733938"/>
              <a:gd name="connsiteX3" fmla="*/ 450114 w 745389"/>
              <a:gd name="connsiteY3" fmla="*/ 6014 h 733938"/>
              <a:gd name="connsiteX4" fmla="*/ 491389 w 745389"/>
              <a:gd name="connsiteY4" fmla="*/ 9189 h 733938"/>
              <a:gd name="connsiteX5" fmla="*/ 583464 w 745389"/>
              <a:gd name="connsiteY5" fmla="*/ 12364 h 733938"/>
              <a:gd name="connsiteX6" fmla="*/ 723164 w 745389"/>
              <a:gd name="connsiteY6" fmla="*/ 9189 h 733938"/>
              <a:gd name="connsiteX7" fmla="*/ 739039 w 745389"/>
              <a:gd name="connsiteY7" fmla="*/ 12364 h 733938"/>
              <a:gd name="connsiteX8" fmla="*/ 732689 w 745389"/>
              <a:gd name="connsiteY8" fmla="*/ 63164 h 733938"/>
              <a:gd name="connsiteX9" fmla="*/ 735864 w 745389"/>
              <a:gd name="connsiteY9" fmla="*/ 139364 h 733938"/>
              <a:gd name="connsiteX10" fmla="*/ 742214 w 745389"/>
              <a:gd name="connsiteY10" fmla="*/ 158414 h 733938"/>
              <a:gd name="connsiteX11" fmla="*/ 745389 w 745389"/>
              <a:gd name="connsiteY11" fmla="*/ 167939 h 733938"/>
              <a:gd name="connsiteX12" fmla="*/ 742214 w 745389"/>
              <a:gd name="connsiteY12" fmla="*/ 266364 h 733938"/>
              <a:gd name="connsiteX13" fmla="*/ 739039 w 745389"/>
              <a:gd name="connsiteY13" fmla="*/ 434639 h 733938"/>
              <a:gd name="connsiteX14" fmla="*/ 732689 w 745389"/>
              <a:gd name="connsiteY14" fmla="*/ 482264 h 733938"/>
              <a:gd name="connsiteX15" fmla="*/ 726339 w 745389"/>
              <a:gd name="connsiteY15" fmla="*/ 545764 h 733938"/>
              <a:gd name="connsiteX16" fmla="*/ 723164 w 745389"/>
              <a:gd name="connsiteY16" fmla="*/ 679114 h 733938"/>
              <a:gd name="connsiteX17" fmla="*/ 719989 w 745389"/>
              <a:gd name="connsiteY17" fmla="*/ 707689 h 733938"/>
              <a:gd name="connsiteX18" fmla="*/ 716814 w 745389"/>
              <a:gd name="connsiteY18" fmla="*/ 729914 h 733938"/>
              <a:gd name="connsiteX19" fmla="*/ 659664 w 745389"/>
              <a:gd name="connsiteY19" fmla="*/ 733089 h 733938"/>
              <a:gd name="connsiteX20" fmla="*/ 469164 w 745389"/>
              <a:gd name="connsiteY20" fmla="*/ 726739 h 733938"/>
              <a:gd name="connsiteX21" fmla="*/ 405664 w 745389"/>
              <a:gd name="connsiteY21" fmla="*/ 720389 h 733938"/>
              <a:gd name="connsiteX22" fmla="*/ 237389 w 745389"/>
              <a:gd name="connsiteY22" fmla="*/ 717214 h 733938"/>
              <a:gd name="connsiteX23" fmla="*/ 126264 w 745389"/>
              <a:gd name="connsiteY23" fmla="*/ 720389 h 733938"/>
              <a:gd name="connsiteX24" fmla="*/ 91339 w 745389"/>
              <a:gd name="connsiteY24" fmla="*/ 726739 h 733938"/>
              <a:gd name="connsiteX25" fmla="*/ 24664 w 745389"/>
              <a:gd name="connsiteY25" fmla="*/ 723564 h 733938"/>
              <a:gd name="connsiteX26" fmla="*/ 18314 w 745389"/>
              <a:gd name="connsiteY26" fmla="*/ 714039 h 733938"/>
              <a:gd name="connsiteX27" fmla="*/ 15139 w 745389"/>
              <a:gd name="connsiteY27" fmla="*/ 688639 h 733938"/>
              <a:gd name="connsiteX28" fmla="*/ 8789 w 745389"/>
              <a:gd name="connsiteY28" fmla="*/ 663239 h 733938"/>
              <a:gd name="connsiteX29" fmla="*/ 5614 w 745389"/>
              <a:gd name="connsiteY29" fmla="*/ 644189 h 733938"/>
              <a:gd name="connsiteX30" fmla="*/ 5614 w 745389"/>
              <a:gd name="connsiteY30" fmla="*/ 177464 h 733938"/>
              <a:gd name="connsiteX31" fmla="*/ 11964 w 745389"/>
              <a:gd name="connsiteY31" fmla="*/ 101264 h 733938"/>
              <a:gd name="connsiteX32" fmla="*/ 21489 w 745389"/>
              <a:gd name="connsiteY32" fmla="*/ 6014 h 733938"/>
              <a:gd name="connsiteX0" fmla="*/ 19035 w 742935"/>
              <a:gd name="connsiteY0" fmla="*/ 6014 h 733938"/>
              <a:gd name="connsiteX1" fmla="*/ 60310 w 742935"/>
              <a:gd name="connsiteY1" fmla="*/ 9189 h 733938"/>
              <a:gd name="connsiteX2" fmla="*/ 130160 w 742935"/>
              <a:gd name="connsiteY2" fmla="*/ 2839 h 733938"/>
              <a:gd name="connsiteX3" fmla="*/ 447660 w 742935"/>
              <a:gd name="connsiteY3" fmla="*/ 6014 h 733938"/>
              <a:gd name="connsiteX4" fmla="*/ 488935 w 742935"/>
              <a:gd name="connsiteY4" fmla="*/ 9189 h 733938"/>
              <a:gd name="connsiteX5" fmla="*/ 581010 w 742935"/>
              <a:gd name="connsiteY5" fmla="*/ 12364 h 733938"/>
              <a:gd name="connsiteX6" fmla="*/ 720710 w 742935"/>
              <a:gd name="connsiteY6" fmla="*/ 9189 h 733938"/>
              <a:gd name="connsiteX7" fmla="*/ 736585 w 742935"/>
              <a:gd name="connsiteY7" fmla="*/ 12364 h 733938"/>
              <a:gd name="connsiteX8" fmla="*/ 730235 w 742935"/>
              <a:gd name="connsiteY8" fmla="*/ 63164 h 733938"/>
              <a:gd name="connsiteX9" fmla="*/ 733410 w 742935"/>
              <a:gd name="connsiteY9" fmla="*/ 139364 h 733938"/>
              <a:gd name="connsiteX10" fmla="*/ 739760 w 742935"/>
              <a:gd name="connsiteY10" fmla="*/ 158414 h 733938"/>
              <a:gd name="connsiteX11" fmla="*/ 742935 w 742935"/>
              <a:gd name="connsiteY11" fmla="*/ 167939 h 733938"/>
              <a:gd name="connsiteX12" fmla="*/ 739760 w 742935"/>
              <a:gd name="connsiteY12" fmla="*/ 266364 h 733938"/>
              <a:gd name="connsiteX13" fmla="*/ 736585 w 742935"/>
              <a:gd name="connsiteY13" fmla="*/ 434639 h 733938"/>
              <a:gd name="connsiteX14" fmla="*/ 730235 w 742935"/>
              <a:gd name="connsiteY14" fmla="*/ 482264 h 733938"/>
              <a:gd name="connsiteX15" fmla="*/ 723885 w 742935"/>
              <a:gd name="connsiteY15" fmla="*/ 545764 h 733938"/>
              <a:gd name="connsiteX16" fmla="*/ 720710 w 742935"/>
              <a:gd name="connsiteY16" fmla="*/ 679114 h 733938"/>
              <a:gd name="connsiteX17" fmla="*/ 717535 w 742935"/>
              <a:gd name="connsiteY17" fmla="*/ 707689 h 733938"/>
              <a:gd name="connsiteX18" fmla="*/ 714360 w 742935"/>
              <a:gd name="connsiteY18" fmla="*/ 729914 h 733938"/>
              <a:gd name="connsiteX19" fmla="*/ 657210 w 742935"/>
              <a:gd name="connsiteY19" fmla="*/ 733089 h 733938"/>
              <a:gd name="connsiteX20" fmla="*/ 466710 w 742935"/>
              <a:gd name="connsiteY20" fmla="*/ 726739 h 733938"/>
              <a:gd name="connsiteX21" fmla="*/ 403210 w 742935"/>
              <a:gd name="connsiteY21" fmla="*/ 720389 h 733938"/>
              <a:gd name="connsiteX22" fmla="*/ 234935 w 742935"/>
              <a:gd name="connsiteY22" fmla="*/ 717214 h 733938"/>
              <a:gd name="connsiteX23" fmla="*/ 123810 w 742935"/>
              <a:gd name="connsiteY23" fmla="*/ 720389 h 733938"/>
              <a:gd name="connsiteX24" fmla="*/ 88885 w 742935"/>
              <a:gd name="connsiteY24" fmla="*/ 726739 h 733938"/>
              <a:gd name="connsiteX25" fmla="*/ 22210 w 742935"/>
              <a:gd name="connsiteY25" fmla="*/ 723564 h 733938"/>
              <a:gd name="connsiteX26" fmla="*/ 15860 w 742935"/>
              <a:gd name="connsiteY26" fmla="*/ 714039 h 733938"/>
              <a:gd name="connsiteX27" fmla="*/ 12685 w 742935"/>
              <a:gd name="connsiteY27" fmla="*/ 688639 h 733938"/>
              <a:gd name="connsiteX28" fmla="*/ 6335 w 742935"/>
              <a:gd name="connsiteY28" fmla="*/ 663239 h 733938"/>
              <a:gd name="connsiteX29" fmla="*/ 3160 w 742935"/>
              <a:gd name="connsiteY29" fmla="*/ 644189 h 733938"/>
              <a:gd name="connsiteX30" fmla="*/ 12685 w 742935"/>
              <a:gd name="connsiteY30" fmla="*/ 196514 h 733938"/>
              <a:gd name="connsiteX31" fmla="*/ 9510 w 742935"/>
              <a:gd name="connsiteY31" fmla="*/ 101264 h 733938"/>
              <a:gd name="connsiteX32" fmla="*/ 19035 w 742935"/>
              <a:gd name="connsiteY32" fmla="*/ 6014 h 733938"/>
              <a:gd name="connsiteX0" fmla="*/ 19035 w 742935"/>
              <a:gd name="connsiteY0" fmla="*/ 6014 h 733938"/>
              <a:gd name="connsiteX1" fmla="*/ 60310 w 742935"/>
              <a:gd name="connsiteY1" fmla="*/ 9189 h 733938"/>
              <a:gd name="connsiteX2" fmla="*/ 130160 w 742935"/>
              <a:gd name="connsiteY2" fmla="*/ 2839 h 733938"/>
              <a:gd name="connsiteX3" fmla="*/ 447660 w 742935"/>
              <a:gd name="connsiteY3" fmla="*/ 6014 h 733938"/>
              <a:gd name="connsiteX4" fmla="*/ 488935 w 742935"/>
              <a:gd name="connsiteY4" fmla="*/ 9189 h 733938"/>
              <a:gd name="connsiteX5" fmla="*/ 581010 w 742935"/>
              <a:gd name="connsiteY5" fmla="*/ 12364 h 733938"/>
              <a:gd name="connsiteX6" fmla="*/ 720710 w 742935"/>
              <a:gd name="connsiteY6" fmla="*/ 9189 h 733938"/>
              <a:gd name="connsiteX7" fmla="*/ 736585 w 742935"/>
              <a:gd name="connsiteY7" fmla="*/ 12364 h 733938"/>
              <a:gd name="connsiteX8" fmla="*/ 730235 w 742935"/>
              <a:gd name="connsiteY8" fmla="*/ 63164 h 733938"/>
              <a:gd name="connsiteX9" fmla="*/ 733410 w 742935"/>
              <a:gd name="connsiteY9" fmla="*/ 139364 h 733938"/>
              <a:gd name="connsiteX10" fmla="*/ 739760 w 742935"/>
              <a:gd name="connsiteY10" fmla="*/ 158414 h 733938"/>
              <a:gd name="connsiteX11" fmla="*/ 742935 w 742935"/>
              <a:gd name="connsiteY11" fmla="*/ 167939 h 733938"/>
              <a:gd name="connsiteX12" fmla="*/ 739760 w 742935"/>
              <a:gd name="connsiteY12" fmla="*/ 266364 h 733938"/>
              <a:gd name="connsiteX13" fmla="*/ 736585 w 742935"/>
              <a:gd name="connsiteY13" fmla="*/ 434639 h 733938"/>
              <a:gd name="connsiteX14" fmla="*/ 730235 w 742935"/>
              <a:gd name="connsiteY14" fmla="*/ 482264 h 733938"/>
              <a:gd name="connsiteX15" fmla="*/ 723885 w 742935"/>
              <a:gd name="connsiteY15" fmla="*/ 545764 h 733938"/>
              <a:gd name="connsiteX16" fmla="*/ 720710 w 742935"/>
              <a:gd name="connsiteY16" fmla="*/ 679114 h 733938"/>
              <a:gd name="connsiteX17" fmla="*/ 717535 w 742935"/>
              <a:gd name="connsiteY17" fmla="*/ 707689 h 733938"/>
              <a:gd name="connsiteX18" fmla="*/ 714360 w 742935"/>
              <a:gd name="connsiteY18" fmla="*/ 729914 h 733938"/>
              <a:gd name="connsiteX19" fmla="*/ 657210 w 742935"/>
              <a:gd name="connsiteY19" fmla="*/ 733089 h 733938"/>
              <a:gd name="connsiteX20" fmla="*/ 466710 w 742935"/>
              <a:gd name="connsiteY20" fmla="*/ 726739 h 733938"/>
              <a:gd name="connsiteX21" fmla="*/ 403210 w 742935"/>
              <a:gd name="connsiteY21" fmla="*/ 720389 h 733938"/>
              <a:gd name="connsiteX22" fmla="*/ 234935 w 742935"/>
              <a:gd name="connsiteY22" fmla="*/ 717214 h 733938"/>
              <a:gd name="connsiteX23" fmla="*/ 123810 w 742935"/>
              <a:gd name="connsiteY23" fmla="*/ 720389 h 733938"/>
              <a:gd name="connsiteX24" fmla="*/ 88885 w 742935"/>
              <a:gd name="connsiteY24" fmla="*/ 726739 h 733938"/>
              <a:gd name="connsiteX25" fmla="*/ 22210 w 742935"/>
              <a:gd name="connsiteY25" fmla="*/ 723564 h 733938"/>
              <a:gd name="connsiteX26" fmla="*/ 15860 w 742935"/>
              <a:gd name="connsiteY26" fmla="*/ 714039 h 733938"/>
              <a:gd name="connsiteX27" fmla="*/ 12685 w 742935"/>
              <a:gd name="connsiteY27" fmla="*/ 688639 h 733938"/>
              <a:gd name="connsiteX28" fmla="*/ 6335 w 742935"/>
              <a:gd name="connsiteY28" fmla="*/ 663239 h 733938"/>
              <a:gd name="connsiteX29" fmla="*/ 3160 w 742935"/>
              <a:gd name="connsiteY29" fmla="*/ 644189 h 733938"/>
              <a:gd name="connsiteX30" fmla="*/ 12685 w 742935"/>
              <a:gd name="connsiteY30" fmla="*/ 196514 h 733938"/>
              <a:gd name="connsiteX31" fmla="*/ 15860 w 742935"/>
              <a:gd name="connsiteY31" fmla="*/ 101264 h 733938"/>
              <a:gd name="connsiteX32" fmla="*/ 19035 w 742935"/>
              <a:gd name="connsiteY32" fmla="*/ 6014 h 733938"/>
              <a:gd name="connsiteX0" fmla="*/ 12700 w 736600"/>
              <a:gd name="connsiteY0" fmla="*/ 6014 h 733938"/>
              <a:gd name="connsiteX1" fmla="*/ 53975 w 736600"/>
              <a:gd name="connsiteY1" fmla="*/ 9189 h 733938"/>
              <a:gd name="connsiteX2" fmla="*/ 123825 w 736600"/>
              <a:gd name="connsiteY2" fmla="*/ 2839 h 733938"/>
              <a:gd name="connsiteX3" fmla="*/ 441325 w 736600"/>
              <a:gd name="connsiteY3" fmla="*/ 6014 h 733938"/>
              <a:gd name="connsiteX4" fmla="*/ 482600 w 736600"/>
              <a:gd name="connsiteY4" fmla="*/ 9189 h 733938"/>
              <a:gd name="connsiteX5" fmla="*/ 574675 w 736600"/>
              <a:gd name="connsiteY5" fmla="*/ 12364 h 733938"/>
              <a:gd name="connsiteX6" fmla="*/ 714375 w 736600"/>
              <a:gd name="connsiteY6" fmla="*/ 9189 h 733938"/>
              <a:gd name="connsiteX7" fmla="*/ 730250 w 736600"/>
              <a:gd name="connsiteY7" fmla="*/ 12364 h 733938"/>
              <a:gd name="connsiteX8" fmla="*/ 723900 w 736600"/>
              <a:gd name="connsiteY8" fmla="*/ 63164 h 733938"/>
              <a:gd name="connsiteX9" fmla="*/ 727075 w 736600"/>
              <a:gd name="connsiteY9" fmla="*/ 139364 h 733938"/>
              <a:gd name="connsiteX10" fmla="*/ 733425 w 736600"/>
              <a:gd name="connsiteY10" fmla="*/ 158414 h 733938"/>
              <a:gd name="connsiteX11" fmla="*/ 736600 w 736600"/>
              <a:gd name="connsiteY11" fmla="*/ 167939 h 733938"/>
              <a:gd name="connsiteX12" fmla="*/ 733425 w 736600"/>
              <a:gd name="connsiteY12" fmla="*/ 266364 h 733938"/>
              <a:gd name="connsiteX13" fmla="*/ 730250 w 736600"/>
              <a:gd name="connsiteY13" fmla="*/ 434639 h 733938"/>
              <a:gd name="connsiteX14" fmla="*/ 723900 w 736600"/>
              <a:gd name="connsiteY14" fmla="*/ 482264 h 733938"/>
              <a:gd name="connsiteX15" fmla="*/ 717550 w 736600"/>
              <a:gd name="connsiteY15" fmla="*/ 545764 h 733938"/>
              <a:gd name="connsiteX16" fmla="*/ 714375 w 736600"/>
              <a:gd name="connsiteY16" fmla="*/ 679114 h 733938"/>
              <a:gd name="connsiteX17" fmla="*/ 711200 w 736600"/>
              <a:gd name="connsiteY17" fmla="*/ 707689 h 733938"/>
              <a:gd name="connsiteX18" fmla="*/ 708025 w 736600"/>
              <a:gd name="connsiteY18" fmla="*/ 729914 h 733938"/>
              <a:gd name="connsiteX19" fmla="*/ 650875 w 736600"/>
              <a:gd name="connsiteY19" fmla="*/ 733089 h 733938"/>
              <a:gd name="connsiteX20" fmla="*/ 460375 w 736600"/>
              <a:gd name="connsiteY20" fmla="*/ 726739 h 733938"/>
              <a:gd name="connsiteX21" fmla="*/ 396875 w 736600"/>
              <a:gd name="connsiteY21" fmla="*/ 720389 h 733938"/>
              <a:gd name="connsiteX22" fmla="*/ 228600 w 736600"/>
              <a:gd name="connsiteY22" fmla="*/ 717214 h 733938"/>
              <a:gd name="connsiteX23" fmla="*/ 117475 w 736600"/>
              <a:gd name="connsiteY23" fmla="*/ 720389 h 733938"/>
              <a:gd name="connsiteX24" fmla="*/ 82550 w 736600"/>
              <a:gd name="connsiteY24" fmla="*/ 726739 h 733938"/>
              <a:gd name="connsiteX25" fmla="*/ 15875 w 736600"/>
              <a:gd name="connsiteY25" fmla="*/ 723564 h 733938"/>
              <a:gd name="connsiteX26" fmla="*/ 9525 w 736600"/>
              <a:gd name="connsiteY26" fmla="*/ 714039 h 733938"/>
              <a:gd name="connsiteX27" fmla="*/ 6350 w 736600"/>
              <a:gd name="connsiteY27" fmla="*/ 688639 h 733938"/>
              <a:gd name="connsiteX28" fmla="*/ 0 w 736600"/>
              <a:gd name="connsiteY28" fmla="*/ 663239 h 733938"/>
              <a:gd name="connsiteX29" fmla="*/ 6350 w 736600"/>
              <a:gd name="connsiteY29" fmla="*/ 196514 h 733938"/>
              <a:gd name="connsiteX30" fmla="*/ 9525 w 736600"/>
              <a:gd name="connsiteY30" fmla="*/ 101264 h 733938"/>
              <a:gd name="connsiteX31" fmla="*/ 12700 w 736600"/>
              <a:gd name="connsiteY31" fmla="*/ 6014 h 733938"/>
              <a:gd name="connsiteX0" fmla="*/ 6747 w 730647"/>
              <a:gd name="connsiteY0" fmla="*/ 6014 h 733938"/>
              <a:gd name="connsiteX1" fmla="*/ 48022 w 730647"/>
              <a:gd name="connsiteY1" fmla="*/ 9189 h 733938"/>
              <a:gd name="connsiteX2" fmla="*/ 117872 w 730647"/>
              <a:gd name="connsiteY2" fmla="*/ 2839 h 733938"/>
              <a:gd name="connsiteX3" fmla="*/ 435372 w 730647"/>
              <a:gd name="connsiteY3" fmla="*/ 6014 h 733938"/>
              <a:gd name="connsiteX4" fmla="*/ 476647 w 730647"/>
              <a:gd name="connsiteY4" fmla="*/ 9189 h 733938"/>
              <a:gd name="connsiteX5" fmla="*/ 568722 w 730647"/>
              <a:gd name="connsiteY5" fmla="*/ 12364 h 733938"/>
              <a:gd name="connsiteX6" fmla="*/ 708422 w 730647"/>
              <a:gd name="connsiteY6" fmla="*/ 9189 h 733938"/>
              <a:gd name="connsiteX7" fmla="*/ 724297 w 730647"/>
              <a:gd name="connsiteY7" fmla="*/ 12364 h 733938"/>
              <a:gd name="connsiteX8" fmla="*/ 717947 w 730647"/>
              <a:gd name="connsiteY8" fmla="*/ 63164 h 733938"/>
              <a:gd name="connsiteX9" fmla="*/ 721122 w 730647"/>
              <a:gd name="connsiteY9" fmla="*/ 139364 h 733938"/>
              <a:gd name="connsiteX10" fmla="*/ 727472 w 730647"/>
              <a:gd name="connsiteY10" fmla="*/ 158414 h 733938"/>
              <a:gd name="connsiteX11" fmla="*/ 730647 w 730647"/>
              <a:gd name="connsiteY11" fmla="*/ 167939 h 733938"/>
              <a:gd name="connsiteX12" fmla="*/ 727472 w 730647"/>
              <a:gd name="connsiteY12" fmla="*/ 266364 h 733938"/>
              <a:gd name="connsiteX13" fmla="*/ 724297 w 730647"/>
              <a:gd name="connsiteY13" fmla="*/ 434639 h 733938"/>
              <a:gd name="connsiteX14" fmla="*/ 717947 w 730647"/>
              <a:gd name="connsiteY14" fmla="*/ 482264 h 733938"/>
              <a:gd name="connsiteX15" fmla="*/ 711597 w 730647"/>
              <a:gd name="connsiteY15" fmla="*/ 545764 h 733938"/>
              <a:gd name="connsiteX16" fmla="*/ 708422 w 730647"/>
              <a:gd name="connsiteY16" fmla="*/ 679114 h 733938"/>
              <a:gd name="connsiteX17" fmla="*/ 705247 w 730647"/>
              <a:gd name="connsiteY17" fmla="*/ 707689 h 733938"/>
              <a:gd name="connsiteX18" fmla="*/ 702072 w 730647"/>
              <a:gd name="connsiteY18" fmla="*/ 729914 h 733938"/>
              <a:gd name="connsiteX19" fmla="*/ 644922 w 730647"/>
              <a:gd name="connsiteY19" fmla="*/ 733089 h 733938"/>
              <a:gd name="connsiteX20" fmla="*/ 454422 w 730647"/>
              <a:gd name="connsiteY20" fmla="*/ 726739 h 733938"/>
              <a:gd name="connsiteX21" fmla="*/ 390922 w 730647"/>
              <a:gd name="connsiteY21" fmla="*/ 720389 h 733938"/>
              <a:gd name="connsiteX22" fmla="*/ 222647 w 730647"/>
              <a:gd name="connsiteY22" fmla="*/ 717214 h 733938"/>
              <a:gd name="connsiteX23" fmla="*/ 111522 w 730647"/>
              <a:gd name="connsiteY23" fmla="*/ 720389 h 733938"/>
              <a:gd name="connsiteX24" fmla="*/ 76597 w 730647"/>
              <a:gd name="connsiteY24" fmla="*/ 726739 h 733938"/>
              <a:gd name="connsiteX25" fmla="*/ 9922 w 730647"/>
              <a:gd name="connsiteY25" fmla="*/ 723564 h 733938"/>
              <a:gd name="connsiteX26" fmla="*/ 3572 w 730647"/>
              <a:gd name="connsiteY26" fmla="*/ 714039 h 733938"/>
              <a:gd name="connsiteX27" fmla="*/ 397 w 730647"/>
              <a:gd name="connsiteY27" fmla="*/ 688639 h 733938"/>
              <a:gd name="connsiteX28" fmla="*/ 397 w 730647"/>
              <a:gd name="connsiteY28" fmla="*/ 196514 h 733938"/>
              <a:gd name="connsiteX29" fmla="*/ 3572 w 730647"/>
              <a:gd name="connsiteY29" fmla="*/ 101264 h 733938"/>
              <a:gd name="connsiteX30" fmla="*/ 6747 w 730647"/>
              <a:gd name="connsiteY30" fmla="*/ 6014 h 733938"/>
              <a:gd name="connsiteX0" fmla="*/ 6747 w 730647"/>
              <a:gd name="connsiteY0" fmla="*/ 6014 h 733938"/>
              <a:gd name="connsiteX1" fmla="*/ 48022 w 730647"/>
              <a:gd name="connsiteY1" fmla="*/ 9189 h 733938"/>
              <a:gd name="connsiteX2" fmla="*/ 117872 w 730647"/>
              <a:gd name="connsiteY2" fmla="*/ 2839 h 733938"/>
              <a:gd name="connsiteX3" fmla="*/ 435372 w 730647"/>
              <a:gd name="connsiteY3" fmla="*/ 6014 h 733938"/>
              <a:gd name="connsiteX4" fmla="*/ 476647 w 730647"/>
              <a:gd name="connsiteY4" fmla="*/ 9189 h 733938"/>
              <a:gd name="connsiteX5" fmla="*/ 568722 w 730647"/>
              <a:gd name="connsiteY5" fmla="*/ 12364 h 733938"/>
              <a:gd name="connsiteX6" fmla="*/ 708422 w 730647"/>
              <a:gd name="connsiteY6" fmla="*/ 9189 h 733938"/>
              <a:gd name="connsiteX7" fmla="*/ 724297 w 730647"/>
              <a:gd name="connsiteY7" fmla="*/ 12364 h 733938"/>
              <a:gd name="connsiteX8" fmla="*/ 717947 w 730647"/>
              <a:gd name="connsiteY8" fmla="*/ 63164 h 733938"/>
              <a:gd name="connsiteX9" fmla="*/ 721122 w 730647"/>
              <a:gd name="connsiteY9" fmla="*/ 139364 h 733938"/>
              <a:gd name="connsiteX10" fmla="*/ 727472 w 730647"/>
              <a:gd name="connsiteY10" fmla="*/ 158414 h 733938"/>
              <a:gd name="connsiteX11" fmla="*/ 730647 w 730647"/>
              <a:gd name="connsiteY11" fmla="*/ 167939 h 733938"/>
              <a:gd name="connsiteX12" fmla="*/ 727472 w 730647"/>
              <a:gd name="connsiteY12" fmla="*/ 266364 h 733938"/>
              <a:gd name="connsiteX13" fmla="*/ 724297 w 730647"/>
              <a:gd name="connsiteY13" fmla="*/ 434639 h 733938"/>
              <a:gd name="connsiteX14" fmla="*/ 717947 w 730647"/>
              <a:gd name="connsiteY14" fmla="*/ 482264 h 733938"/>
              <a:gd name="connsiteX15" fmla="*/ 711597 w 730647"/>
              <a:gd name="connsiteY15" fmla="*/ 545764 h 733938"/>
              <a:gd name="connsiteX16" fmla="*/ 708422 w 730647"/>
              <a:gd name="connsiteY16" fmla="*/ 679114 h 733938"/>
              <a:gd name="connsiteX17" fmla="*/ 705247 w 730647"/>
              <a:gd name="connsiteY17" fmla="*/ 707689 h 733938"/>
              <a:gd name="connsiteX18" fmla="*/ 702072 w 730647"/>
              <a:gd name="connsiteY18" fmla="*/ 729914 h 733938"/>
              <a:gd name="connsiteX19" fmla="*/ 644922 w 730647"/>
              <a:gd name="connsiteY19" fmla="*/ 733089 h 733938"/>
              <a:gd name="connsiteX20" fmla="*/ 454422 w 730647"/>
              <a:gd name="connsiteY20" fmla="*/ 726739 h 733938"/>
              <a:gd name="connsiteX21" fmla="*/ 390922 w 730647"/>
              <a:gd name="connsiteY21" fmla="*/ 720389 h 733938"/>
              <a:gd name="connsiteX22" fmla="*/ 222647 w 730647"/>
              <a:gd name="connsiteY22" fmla="*/ 733089 h 733938"/>
              <a:gd name="connsiteX23" fmla="*/ 111522 w 730647"/>
              <a:gd name="connsiteY23" fmla="*/ 720389 h 733938"/>
              <a:gd name="connsiteX24" fmla="*/ 76597 w 730647"/>
              <a:gd name="connsiteY24" fmla="*/ 726739 h 733938"/>
              <a:gd name="connsiteX25" fmla="*/ 9922 w 730647"/>
              <a:gd name="connsiteY25" fmla="*/ 723564 h 733938"/>
              <a:gd name="connsiteX26" fmla="*/ 3572 w 730647"/>
              <a:gd name="connsiteY26" fmla="*/ 714039 h 733938"/>
              <a:gd name="connsiteX27" fmla="*/ 397 w 730647"/>
              <a:gd name="connsiteY27" fmla="*/ 688639 h 733938"/>
              <a:gd name="connsiteX28" fmla="*/ 397 w 730647"/>
              <a:gd name="connsiteY28" fmla="*/ 196514 h 733938"/>
              <a:gd name="connsiteX29" fmla="*/ 3572 w 730647"/>
              <a:gd name="connsiteY29" fmla="*/ 101264 h 733938"/>
              <a:gd name="connsiteX30" fmla="*/ 6747 w 730647"/>
              <a:gd name="connsiteY30" fmla="*/ 6014 h 733938"/>
              <a:gd name="connsiteX0" fmla="*/ 6747 w 730647"/>
              <a:gd name="connsiteY0" fmla="*/ 6014 h 739557"/>
              <a:gd name="connsiteX1" fmla="*/ 48022 w 730647"/>
              <a:gd name="connsiteY1" fmla="*/ 9189 h 739557"/>
              <a:gd name="connsiteX2" fmla="*/ 117872 w 730647"/>
              <a:gd name="connsiteY2" fmla="*/ 2839 h 739557"/>
              <a:gd name="connsiteX3" fmla="*/ 435372 w 730647"/>
              <a:gd name="connsiteY3" fmla="*/ 6014 h 739557"/>
              <a:gd name="connsiteX4" fmla="*/ 476647 w 730647"/>
              <a:gd name="connsiteY4" fmla="*/ 9189 h 739557"/>
              <a:gd name="connsiteX5" fmla="*/ 568722 w 730647"/>
              <a:gd name="connsiteY5" fmla="*/ 12364 h 739557"/>
              <a:gd name="connsiteX6" fmla="*/ 708422 w 730647"/>
              <a:gd name="connsiteY6" fmla="*/ 9189 h 739557"/>
              <a:gd name="connsiteX7" fmla="*/ 724297 w 730647"/>
              <a:gd name="connsiteY7" fmla="*/ 12364 h 739557"/>
              <a:gd name="connsiteX8" fmla="*/ 717947 w 730647"/>
              <a:gd name="connsiteY8" fmla="*/ 63164 h 739557"/>
              <a:gd name="connsiteX9" fmla="*/ 721122 w 730647"/>
              <a:gd name="connsiteY9" fmla="*/ 139364 h 739557"/>
              <a:gd name="connsiteX10" fmla="*/ 727472 w 730647"/>
              <a:gd name="connsiteY10" fmla="*/ 158414 h 739557"/>
              <a:gd name="connsiteX11" fmla="*/ 730647 w 730647"/>
              <a:gd name="connsiteY11" fmla="*/ 167939 h 739557"/>
              <a:gd name="connsiteX12" fmla="*/ 727472 w 730647"/>
              <a:gd name="connsiteY12" fmla="*/ 266364 h 739557"/>
              <a:gd name="connsiteX13" fmla="*/ 724297 w 730647"/>
              <a:gd name="connsiteY13" fmla="*/ 434639 h 739557"/>
              <a:gd name="connsiteX14" fmla="*/ 717947 w 730647"/>
              <a:gd name="connsiteY14" fmla="*/ 482264 h 739557"/>
              <a:gd name="connsiteX15" fmla="*/ 711597 w 730647"/>
              <a:gd name="connsiteY15" fmla="*/ 545764 h 739557"/>
              <a:gd name="connsiteX16" fmla="*/ 708422 w 730647"/>
              <a:gd name="connsiteY16" fmla="*/ 679114 h 739557"/>
              <a:gd name="connsiteX17" fmla="*/ 705247 w 730647"/>
              <a:gd name="connsiteY17" fmla="*/ 707689 h 739557"/>
              <a:gd name="connsiteX18" fmla="*/ 702072 w 730647"/>
              <a:gd name="connsiteY18" fmla="*/ 729914 h 739557"/>
              <a:gd name="connsiteX19" fmla="*/ 644922 w 730647"/>
              <a:gd name="connsiteY19" fmla="*/ 733089 h 739557"/>
              <a:gd name="connsiteX20" fmla="*/ 454422 w 730647"/>
              <a:gd name="connsiteY20" fmla="*/ 726739 h 739557"/>
              <a:gd name="connsiteX21" fmla="*/ 390922 w 730647"/>
              <a:gd name="connsiteY21" fmla="*/ 739439 h 739557"/>
              <a:gd name="connsiteX22" fmla="*/ 222647 w 730647"/>
              <a:gd name="connsiteY22" fmla="*/ 733089 h 739557"/>
              <a:gd name="connsiteX23" fmla="*/ 111522 w 730647"/>
              <a:gd name="connsiteY23" fmla="*/ 720389 h 739557"/>
              <a:gd name="connsiteX24" fmla="*/ 76597 w 730647"/>
              <a:gd name="connsiteY24" fmla="*/ 726739 h 739557"/>
              <a:gd name="connsiteX25" fmla="*/ 9922 w 730647"/>
              <a:gd name="connsiteY25" fmla="*/ 723564 h 739557"/>
              <a:gd name="connsiteX26" fmla="*/ 3572 w 730647"/>
              <a:gd name="connsiteY26" fmla="*/ 714039 h 739557"/>
              <a:gd name="connsiteX27" fmla="*/ 397 w 730647"/>
              <a:gd name="connsiteY27" fmla="*/ 688639 h 739557"/>
              <a:gd name="connsiteX28" fmla="*/ 397 w 730647"/>
              <a:gd name="connsiteY28" fmla="*/ 196514 h 739557"/>
              <a:gd name="connsiteX29" fmla="*/ 3572 w 730647"/>
              <a:gd name="connsiteY29" fmla="*/ 101264 h 739557"/>
              <a:gd name="connsiteX30" fmla="*/ 6747 w 730647"/>
              <a:gd name="connsiteY30" fmla="*/ 6014 h 739557"/>
              <a:gd name="connsiteX0" fmla="*/ 6747 w 730647"/>
              <a:gd name="connsiteY0" fmla="*/ 6014 h 740232"/>
              <a:gd name="connsiteX1" fmla="*/ 48022 w 730647"/>
              <a:gd name="connsiteY1" fmla="*/ 9189 h 740232"/>
              <a:gd name="connsiteX2" fmla="*/ 117872 w 730647"/>
              <a:gd name="connsiteY2" fmla="*/ 2839 h 740232"/>
              <a:gd name="connsiteX3" fmla="*/ 435372 w 730647"/>
              <a:gd name="connsiteY3" fmla="*/ 6014 h 740232"/>
              <a:gd name="connsiteX4" fmla="*/ 476647 w 730647"/>
              <a:gd name="connsiteY4" fmla="*/ 9189 h 740232"/>
              <a:gd name="connsiteX5" fmla="*/ 568722 w 730647"/>
              <a:gd name="connsiteY5" fmla="*/ 12364 h 740232"/>
              <a:gd name="connsiteX6" fmla="*/ 708422 w 730647"/>
              <a:gd name="connsiteY6" fmla="*/ 9189 h 740232"/>
              <a:gd name="connsiteX7" fmla="*/ 724297 w 730647"/>
              <a:gd name="connsiteY7" fmla="*/ 12364 h 740232"/>
              <a:gd name="connsiteX8" fmla="*/ 717947 w 730647"/>
              <a:gd name="connsiteY8" fmla="*/ 63164 h 740232"/>
              <a:gd name="connsiteX9" fmla="*/ 721122 w 730647"/>
              <a:gd name="connsiteY9" fmla="*/ 139364 h 740232"/>
              <a:gd name="connsiteX10" fmla="*/ 727472 w 730647"/>
              <a:gd name="connsiteY10" fmla="*/ 158414 h 740232"/>
              <a:gd name="connsiteX11" fmla="*/ 730647 w 730647"/>
              <a:gd name="connsiteY11" fmla="*/ 167939 h 740232"/>
              <a:gd name="connsiteX12" fmla="*/ 727472 w 730647"/>
              <a:gd name="connsiteY12" fmla="*/ 266364 h 740232"/>
              <a:gd name="connsiteX13" fmla="*/ 724297 w 730647"/>
              <a:gd name="connsiteY13" fmla="*/ 434639 h 740232"/>
              <a:gd name="connsiteX14" fmla="*/ 717947 w 730647"/>
              <a:gd name="connsiteY14" fmla="*/ 482264 h 740232"/>
              <a:gd name="connsiteX15" fmla="*/ 711597 w 730647"/>
              <a:gd name="connsiteY15" fmla="*/ 545764 h 740232"/>
              <a:gd name="connsiteX16" fmla="*/ 708422 w 730647"/>
              <a:gd name="connsiteY16" fmla="*/ 679114 h 740232"/>
              <a:gd name="connsiteX17" fmla="*/ 705247 w 730647"/>
              <a:gd name="connsiteY17" fmla="*/ 707689 h 740232"/>
              <a:gd name="connsiteX18" fmla="*/ 702072 w 730647"/>
              <a:gd name="connsiteY18" fmla="*/ 729914 h 740232"/>
              <a:gd name="connsiteX19" fmla="*/ 644922 w 730647"/>
              <a:gd name="connsiteY19" fmla="*/ 733089 h 740232"/>
              <a:gd name="connsiteX20" fmla="*/ 521097 w 730647"/>
              <a:gd name="connsiteY20" fmla="*/ 739439 h 740232"/>
              <a:gd name="connsiteX21" fmla="*/ 390922 w 730647"/>
              <a:gd name="connsiteY21" fmla="*/ 739439 h 740232"/>
              <a:gd name="connsiteX22" fmla="*/ 222647 w 730647"/>
              <a:gd name="connsiteY22" fmla="*/ 733089 h 740232"/>
              <a:gd name="connsiteX23" fmla="*/ 111522 w 730647"/>
              <a:gd name="connsiteY23" fmla="*/ 720389 h 740232"/>
              <a:gd name="connsiteX24" fmla="*/ 76597 w 730647"/>
              <a:gd name="connsiteY24" fmla="*/ 726739 h 740232"/>
              <a:gd name="connsiteX25" fmla="*/ 9922 w 730647"/>
              <a:gd name="connsiteY25" fmla="*/ 723564 h 740232"/>
              <a:gd name="connsiteX26" fmla="*/ 3572 w 730647"/>
              <a:gd name="connsiteY26" fmla="*/ 714039 h 740232"/>
              <a:gd name="connsiteX27" fmla="*/ 397 w 730647"/>
              <a:gd name="connsiteY27" fmla="*/ 688639 h 740232"/>
              <a:gd name="connsiteX28" fmla="*/ 397 w 730647"/>
              <a:gd name="connsiteY28" fmla="*/ 196514 h 740232"/>
              <a:gd name="connsiteX29" fmla="*/ 3572 w 730647"/>
              <a:gd name="connsiteY29" fmla="*/ 101264 h 740232"/>
              <a:gd name="connsiteX30" fmla="*/ 6747 w 730647"/>
              <a:gd name="connsiteY30" fmla="*/ 6014 h 740232"/>
              <a:gd name="connsiteX0" fmla="*/ 6747 w 727541"/>
              <a:gd name="connsiteY0" fmla="*/ 6014 h 740232"/>
              <a:gd name="connsiteX1" fmla="*/ 48022 w 727541"/>
              <a:gd name="connsiteY1" fmla="*/ 9189 h 740232"/>
              <a:gd name="connsiteX2" fmla="*/ 117872 w 727541"/>
              <a:gd name="connsiteY2" fmla="*/ 2839 h 740232"/>
              <a:gd name="connsiteX3" fmla="*/ 435372 w 727541"/>
              <a:gd name="connsiteY3" fmla="*/ 6014 h 740232"/>
              <a:gd name="connsiteX4" fmla="*/ 476647 w 727541"/>
              <a:gd name="connsiteY4" fmla="*/ 9189 h 740232"/>
              <a:gd name="connsiteX5" fmla="*/ 568722 w 727541"/>
              <a:gd name="connsiteY5" fmla="*/ 12364 h 740232"/>
              <a:gd name="connsiteX6" fmla="*/ 708422 w 727541"/>
              <a:gd name="connsiteY6" fmla="*/ 9189 h 740232"/>
              <a:gd name="connsiteX7" fmla="*/ 724297 w 727541"/>
              <a:gd name="connsiteY7" fmla="*/ 12364 h 740232"/>
              <a:gd name="connsiteX8" fmla="*/ 717947 w 727541"/>
              <a:gd name="connsiteY8" fmla="*/ 63164 h 740232"/>
              <a:gd name="connsiteX9" fmla="*/ 721122 w 727541"/>
              <a:gd name="connsiteY9" fmla="*/ 139364 h 740232"/>
              <a:gd name="connsiteX10" fmla="*/ 727472 w 727541"/>
              <a:gd name="connsiteY10" fmla="*/ 158414 h 740232"/>
              <a:gd name="connsiteX11" fmla="*/ 724297 w 727541"/>
              <a:gd name="connsiteY11" fmla="*/ 202864 h 740232"/>
              <a:gd name="connsiteX12" fmla="*/ 727472 w 727541"/>
              <a:gd name="connsiteY12" fmla="*/ 266364 h 740232"/>
              <a:gd name="connsiteX13" fmla="*/ 724297 w 727541"/>
              <a:gd name="connsiteY13" fmla="*/ 434639 h 740232"/>
              <a:gd name="connsiteX14" fmla="*/ 717947 w 727541"/>
              <a:gd name="connsiteY14" fmla="*/ 482264 h 740232"/>
              <a:gd name="connsiteX15" fmla="*/ 711597 w 727541"/>
              <a:gd name="connsiteY15" fmla="*/ 545764 h 740232"/>
              <a:gd name="connsiteX16" fmla="*/ 708422 w 727541"/>
              <a:gd name="connsiteY16" fmla="*/ 679114 h 740232"/>
              <a:gd name="connsiteX17" fmla="*/ 705247 w 727541"/>
              <a:gd name="connsiteY17" fmla="*/ 707689 h 740232"/>
              <a:gd name="connsiteX18" fmla="*/ 702072 w 727541"/>
              <a:gd name="connsiteY18" fmla="*/ 729914 h 740232"/>
              <a:gd name="connsiteX19" fmla="*/ 644922 w 727541"/>
              <a:gd name="connsiteY19" fmla="*/ 733089 h 740232"/>
              <a:gd name="connsiteX20" fmla="*/ 521097 w 727541"/>
              <a:gd name="connsiteY20" fmla="*/ 739439 h 740232"/>
              <a:gd name="connsiteX21" fmla="*/ 390922 w 727541"/>
              <a:gd name="connsiteY21" fmla="*/ 739439 h 740232"/>
              <a:gd name="connsiteX22" fmla="*/ 222647 w 727541"/>
              <a:gd name="connsiteY22" fmla="*/ 733089 h 740232"/>
              <a:gd name="connsiteX23" fmla="*/ 111522 w 727541"/>
              <a:gd name="connsiteY23" fmla="*/ 720389 h 740232"/>
              <a:gd name="connsiteX24" fmla="*/ 76597 w 727541"/>
              <a:gd name="connsiteY24" fmla="*/ 726739 h 740232"/>
              <a:gd name="connsiteX25" fmla="*/ 9922 w 727541"/>
              <a:gd name="connsiteY25" fmla="*/ 723564 h 740232"/>
              <a:gd name="connsiteX26" fmla="*/ 3572 w 727541"/>
              <a:gd name="connsiteY26" fmla="*/ 714039 h 740232"/>
              <a:gd name="connsiteX27" fmla="*/ 397 w 727541"/>
              <a:gd name="connsiteY27" fmla="*/ 688639 h 740232"/>
              <a:gd name="connsiteX28" fmla="*/ 397 w 727541"/>
              <a:gd name="connsiteY28" fmla="*/ 196514 h 740232"/>
              <a:gd name="connsiteX29" fmla="*/ 3572 w 727541"/>
              <a:gd name="connsiteY29" fmla="*/ 101264 h 740232"/>
              <a:gd name="connsiteX30" fmla="*/ 6747 w 727541"/>
              <a:gd name="connsiteY30" fmla="*/ 6014 h 740232"/>
              <a:gd name="connsiteX0" fmla="*/ 6747 w 727472"/>
              <a:gd name="connsiteY0" fmla="*/ 6014 h 740232"/>
              <a:gd name="connsiteX1" fmla="*/ 48022 w 727472"/>
              <a:gd name="connsiteY1" fmla="*/ 9189 h 740232"/>
              <a:gd name="connsiteX2" fmla="*/ 117872 w 727472"/>
              <a:gd name="connsiteY2" fmla="*/ 2839 h 740232"/>
              <a:gd name="connsiteX3" fmla="*/ 435372 w 727472"/>
              <a:gd name="connsiteY3" fmla="*/ 6014 h 740232"/>
              <a:gd name="connsiteX4" fmla="*/ 476647 w 727472"/>
              <a:gd name="connsiteY4" fmla="*/ 9189 h 740232"/>
              <a:gd name="connsiteX5" fmla="*/ 568722 w 727472"/>
              <a:gd name="connsiteY5" fmla="*/ 12364 h 740232"/>
              <a:gd name="connsiteX6" fmla="*/ 708422 w 727472"/>
              <a:gd name="connsiteY6" fmla="*/ 9189 h 740232"/>
              <a:gd name="connsiteX7" fmla="*/ 724297 w 727472"/>
              <a:gd name="connsiteY7" fmla="*/ 12364 h 740232"/>
              <a:gd name="connsiteX8" fmla="*/ 717947 w 727472"/>
              <a:gd name="connsiteY8" fmla="*/ 63164 h 740232"/>
              <a:gd name="connsiteX9" fmla="*/ 721122 w 727472"/>
              <a:gd name="connsiteY9" fmla="*/ 139364 h 740232"/>
              <a:gd name="connsiteX10" fmla="*/ 724297 w 727472"/>
              <a:gd name="connsiteY10" fmla="*/ 202864 h 740232"/>
              <a:gd name="connsiteX11" fmla="*/ 727472 w 727472"/>
              <a:gd name="connsiteY11" fmla="*/ 266364 h 740232"/>
              <a:gd name="connsiteX12" fmla="*/ 724297 w 727472"/>
              <a:gd name="connsiteY12" fmla="*/ 434639 h 740232"/>
              <a:gd name="connsiteX13" fmla="*/ 717947 w 727472"/>
              <a:gd name="connsiteY13" fmla="*/ 482264 h 740232"/>
              <a:gd name="connsiteX14" fmla="*/ 711597 w 727472"/>
              <a:gd name="connsiteY14" fmla="*/ 545764 h 740232"/>
              <a:gd name="connsiteX15" fmla="*/ 708422 w 727472"/>
              <a:gd name="connsiteY15" fmla="*/ 679114 h 740232"/>
              <a:gd name="connsiteX16" fmla="*/ 705247 w 727472"/>
              <a:gd name="connsiteY16" fmla="*/ 707689 h 740232"/>
              <a:gd name="connsiteX17" fmla="*/ 702072 w 727472"/>
              <a:gd name="connsiteY17" fmla="*/ 729914 h 740232"/>
              <a:gd name="connsiteX18" fmla="*/ 644922 w 727472"/>
              <a:gd name="connsiteY18" fmla="*/ 733089 h 740232"/>
              <a:gd name="connsiteX19" fmla="*/ 521097 w 727472"/>
              <a:gd name="connsiteY19" fmla="*/ 739439 h 740232"/>
              <a:gd name="connsiteX20" fmla="*/ 390922 w 727472"/>
              <a:gd name="connsiteY20" fmla="*/ 739439 h 740232"/>
              <a:gd name="connsiteX21" fmla="*/ 222647 w 727472"/>
              <a:gd name="connsiteY21" fmla="*/ 733089 h 740232"/>
              <a:gd name="connsiteX22" fmla="*/ 111522 w 727472"/>
              <a:gd name="connsiteY22" fmla="*/ 720389 h 740232"/>
              <a:gd name="connsiteX23" fmla="*/ 76597 w 727472"/>
              <a:gd name="connsiteY23" fmla="*/ 726739 h 740232"/>
              <a:gd name="connsiteX24" fmla="*/ 9922 w 727472"/>
              <a:gd name="connsiteY24" fmla="*/ 723564 h 740232"/>
              <a:gd name="connsiteX25" fmla="*/ 3572 w 727472"/>
              <a:gd name="connsiteY25" fmla="*/ 714039 h 740232"/>
              <a:gd name="connsiteX26" fmla="*/ 397 w 727472"/>
              <a:gd name="connsiteY26" fmla="*/ 688639 h 740232"/>
              <a:gd name="connsiteX27" fmla="*/ 397 w 727472"/>
              <a:gd name="connsiteY27" fmla="*/ 196514 h 740232"/>
              <a:gd name="connsiteX28" fmla="*/ 3572 w 727472"/>
              <a:gd name="connsiteY28" fmla="*/ 101264 h 740232"/>
              <a:gd name="connsiteX29" fmla="*/ 6747 w 727472"/>
              <a:gd name="connsiteY29" fmla="*/ 6014 h 740232"/>
              <a:gd name="connsiteX0" fmla="*/ 6747 w 725498"/>
              <a:gd name="connsiteY0" fmla="*/ 6014 h 740232"/>
              <a:gd name="connsiteX1" fmla="*/ 48022 w 725498"/>
              <a:gd name="connsiteY1" fmla="*/ 9189 h 740232"/>
              <a:gd name="connsiteX2" fmla="*/ 117872 w 725498"/>
              <a:gd name="connsiteY2" fmla="*/ 2839 h 740232"/>
              <a:gd name="connsiteX3" fmla="*/ 435372 w 725498"/>
              <a:gd name="connsiteY3" fmla="*/ 6014 h 740232"/>
              <a:gd name="connsiteX4" fmla="*/ 476647 w 725498"/>
              <a:gd name="connsiteY4" fmla="*/ 9189 h 740232"/>
              <a:gd name="connsiteX5" fmla="*/ 568722 w 725498"/>
              <a:gd name="connsiteY5" fmla="*/ 12364 h 740232"/>
              <a:gd name="connsiteX6" fmla="*/ 708422 w 725498"/>
              <a:gd name="connsiteY6" fmla="*/ 9189 h 740232"/>
              <a:gd name="connsiteX7" fmla="*/ 724297 w 725498"/>
              <a:gd name="connsiteY7" fmla="*/ 12364 h 740232"/>
              <a:gd name="connsiteX8" fmla="*/ 717947 w 725498"/>
              <a:gd name="connsiteY8" fmla="*/ 63164 h 740232"/>
              <a:gd name="connsiteX9" fmla="*/ 721122 w 725498"/>
              <a:gd name="connsiteY9" fmla="*/ 139364 h 740232"/>
              <a:gd name="connsiteX10" fmla="*/ 724297 w 725498"/>
              <a:gd name="connsiteY10" fmla="*/ 202864 h 740232"/>
              <a:gd name="connsiteX11" fmla="*/ 717947 w 725498"/>
              <a:gd name="connsiteY11" fmla="*/ 323514 h 740232"/>
              <a:gd name="connsiteX12" fmla="*/ 724297 w 725498"/>
              <a:gd name="connsiteY12" fmla="*/ 434639 h 740232"/>
              <a:gd name="connsiteX13" fmla="*/ 717947 w 725498"/>
              <a:gd name="connsiteY13" fmla="*/ 482264 h 740232"/>
              <a:gd name="connsiteX14" fmla="*/ 711597 w 725498"/>
              <a:gd name="connsiteY14" fmla="*/ 545764 h 740232"/>
              <a:gd name="connsiteX15" fmla="*/ 708422 w 725498"/>
              <a:gd name="connsiteY15" fmla="*/ 679114 h 740232"/>
              <a:gd name="connsiteX16" fmla="*/ 705247 w 725498"/>
              <a:gd name="connsiteY16" fmla="*/ 707689 h 740232"/>
              <a:gd name="connsiteX17" fmla="*/ 702072 w 725498"/>
              <a:gd name="connsiteY17" fmla="*/ 729914 h 740232"/>
              <a:gd name="connsiteX18" fmla="*/ 644922 w 725498"/>
              <a:gd name="connsiteY18" fmla="*/ 733089 h 740232"/>
              <a:gd name="connsiteX19" fmla="*/ 521097 w 725498"/>
              <a:gd name="connsiteY19" fmla="*/ 739439 h 740232"/>
              <a:gd name="connsiteX20" fmla="*/ 390922 w 725498"/>
              <a:gd name="connsiteY20" fmla="*/ 739439 h 740232"/>
              <a:gd name="connsiteX21" fmla="*/ 222647 w 725498"/>
              <a:gd name="connsiteY21" fmla="*/ 733089 h 740232"/>
              <a:gd name="connsiteX22" fmla="*/ 111522 w 725498"/>
              <a:gd name="connsiteY22" fmla="*/ 720389 h 740232"/>
              <a:gd name="connsiteX23" fmla="*/ 76597 w 725498"/>
              <a:gd name="connsiteY23" fmla="*/ 726739 h 740232"/>
              <a:gd name="connsiteX24" fmla="*/ 9922 w 725498"/>
              <a:gd name="connsiteY24" fmla="*/ 723564 h 740232"/>
              <a:gd name="connsiteX25" fmla="*/ 3572 w 725498"/>
              <a:gd name="connsiteY25" fmla="*/ 714039 h 740232"/>
              <a:gd name="connsiteX26" fmla="*/ 397 w 725498"/>
              <a:gd name="connsiteY26" fmla="*/ 688639 h 740232"/>
              <a:gd name="connsiteX27" fmla="*/ 397 w 725498"/>
              <a:gd name="connsiteY27" fmla="*/ 196514 h 740232"/>
              <a:gd name="connsiteX28" fmla="*/ 3572 w 725498"/>
              <a:gd name="connsiteY28" fmla="*/ 101264 h 740232"/>
              <a:gd name="connsiteX29" fmla="*/ 6747 w 725498"/>
              <a:gd name="connsiteY29" fmla="*/ 6014 h 740232"/>
              <a:gd name="connsiteX0" fmla="*/ 6747 w 725498"/>
              <a:gd name="connsiteY0" fmla="*/ 6014 h 740232"/>
              <a:gd name="connsiteX1" fmla="*/ 48022 w 725498"/>
              <a:gd name="connsiteY1" fmla="*/ 9189 h 740232"/>
              <a:gd name="connsiteX2" fmla="*/ 117872 w 725498"/>
              <a:gd name="connsiteY2" fmla="*/ 2839 h 740232"/>
              <a:gd name="connsiteX3" fmla="*/ 435372 w 725498"/>
              <a:gd name="connsiteY3" fmla="*/ 6014 h 740232"/>
              <a:gd name="connsiteX4" fmla="*/ 476647 w 725498"/>
              <a:gd name="connsiteY4" fmla="*/ 9189 h 740232"/>
              <a:gd name="connsiteX5" fmla="*/ 568722 w 725498"/>
              <a:gd name="connsiteY5" fmla="*/ 12364 h 740232"/>
              <a:gd name="connsiteX6" fmla="*/ 708422 w 725498"/>
              <a:gd name="connsiteY6" fmla="*/ 9189 h 740232"/>
              <a:gd name="connsiteX7" fmla="*/ 724297 w 725498"/>
              <a:gd name="connsiteY7" fmla="*/ 12364 h 740232"/>
              <a:gd name="connsiteX8" fmla="*/ 717947 w 725498"/>
              <a:gd name="connsiteY8" fmla="*/ 63164 h 740232"/>
              <a:gd name="connsiteX9" fmla="*/ 721122 w 725498"/>
              <a:gd name="connsiteY9" fmla="*/ 139364 h 740232"/>
              <a:gd name="connsiteX10" fmla="*/ 724297 w 725498"/>
              <a:gd name="connsiteY10" fmla="*/ 202864 h 740232"/>
              <a:gd name="connsiteX11" fmla="*/ 717947 w 725498"/>
              <a:gd name="connsiteY11" fmla="*/ 323514 h 740232"/>
              <a:gd name="connsiteX12" fmla="*/ 711597 w 725498"/>
              <a:gd name="connsiteY12" fmla="*/ 437814 h 740232"/>
              <a:gd name="connsiteX13" fmla="*/ 717947 w 725498"/>
              <a:gd name="connsiteY13" fmla="*/ 482264 h 740232"/>
              <a:gd name="connsiteX14" fmla="*/ 711597 w 725498"/>
              <a:gd name="connsiteY14" fmla="*/ 545764 h 740232"/>
              <a:gd name="connsiteX15" fmla="*/ 708422 w 725498"/>
              <a:gd name="connsiteY15" fmla="*/ 679114 h 740232"/>
              <a:gd name="connsiteX16" fmla="*/ 705247 w 725498"/>
              <a:gd name="connsiteY16" fmla="*/ 707689 h 740232"/>
              <a:gd name="connsiteX17" fmla="*/ 702072 w 725498"/>
              <a:gd name="connsiteY17" fmla="*/ 729914 h 740232"/>
              <a:gd name="connsiteX18" fmla="*/ 644922 w 725498"/>
              <a:gd name="connsiteY18" fmla="*/ 733089 h 740232"/>
              <a:gd name="connsiteX19" fmla="*/ 521097 w 725498"/>
              <a:gd name="connsiteY19" fmla="*/ 739439 h 740232"/>
              <a:gd name="connsiteX20" fmla="*/ 390922 w 725498"/>
              <a:gd name="connsiteY20" fmla="*/ 739439 h 740232"/>
              <a:gd name="connsiteX21" fmla="*/ 222647 w 725498"/>
              <a:gd name="connsiteY21" fmla="*/ 733089 h 740232"/>
              <a:gd name="connsiteX22" fmla="*/ 111522 w 725498"/>
              <a:gd name="connsiteY22" fmla="*/ 720389 h 740232"/>
              <a:gd name="connsiteX23" fmla="*/ 76597 w 725498"/>
              <a:gd name="connsiteY23" fmla="*/ 726739 h 740232"/>
              <a:gd name="connsiteX24" fmla="*/ 9922 w 725498"/>
              <a:gd name="connsiteY24" fmla="*/ 723564 h 740232"/>
              <a:gd name="connsiteX25" fmla="*/ 3572 w 725498"/>
              <a:gd name="connsiteY25" fmla="*/ 714039 h 740232"/>
              <a:gd name="connsiteX26" fmla="*/ 397 w 725498"/>
              <a:gd name="connsiteY26" fmla="*/ 688639 h 740232"/>
              <a:gd name="connsiteX27" fmla="*/ 397 w 725498"/>
              <a:gd name="connsiteY27" fmla="*/ 196514 h 740232"/>
              <a:gd name="connsiteX28" fmla="*/ 3572 w 725498"/>
              <a:gd name="connsiteY28" fmla="*/ 101264 h 740232"/>
              <a:gd name="connsiteX29" fmla="*/ 6747 w 725498"/>
              <a:gd name="connsiteY29" fmla="*/ 6014 h 740232"/>
              <a:gd name="connsiteX0" fmla="*/ 6747 w 724366"/>
              <a:gd name="connsiteY0" fmla="*/ 6014 h 740232"/>
              <a:gd name="connsiteX1" fmla="*/ 48022 w 724366"/>
              <a:gd name="connsiteY1" fmla="*/ 9189 h 740232"/>
              <a:gd name="connsiteX2" fmla="*/ 117872 w 724366"/>
              <a:gd name="connsiteY2" fmla="*/ 2839 h 740232"/>
              <a:gd name="connsiteX3" fmla="*/ 435372 w 724366"/>
              <a:gd name="connsiteY3" fmla="*/ 6014 h 740232"/>
              <a:gd name="connsiteX4" fmla="*/ 476647 w 724366"/>
              <a:gd name="connsiteY4" fmla="*/ 9189 h 740232"/>
              <a:gd name="connsiteX5" fmla="*/ 568722 w 724366"/>
              <a:gd name="connsiteY5" fmla="*/ 12364 h 740232"/>
              <a:gd name="connsiteX6" fmla="*/ 708422 w 724366"/>
              <a:gd name="connsiteY6" fmla="*/ 9189 h 740232"/>
              <a:gd name="connsiteX7" fmla="*/ 714772 w 724366"/>
              <a:gd name="connsiteY7" fmla="*/ 15539 h 740232"/>
              <a:gd name="connsiteX8" fmla="*/ 717947 w 724366"/>
              <a:gd name="connsiteY8" fmla="*/ 63164 h 740232"/>
              <a:gd name="connsiteX9" fmla="*/ 721122 w 724366"/>
              <a:gd name="connsiteY9" fmla="*/ 139364 h 740232"/>
              <a:gd name="connsiteX10" fmla="*/ 724297 w 724366"/>
              <a:gd name="connsiteY10" fmla="*/ 202864 h 740232"/>
              <a:gd name="connsiteX11" fmla="*/ 717947 w 724366"/>
              <a:gd name="connsiteY11" fmla="*/ 323514 h 740232"/>
              <a:gd name="connsiteX12" fmla="*/ 711597 w 724366"/>
              <a:gd name="connsiteY12" fmla="*/ 437814 h 740232"/>
              <a:gd name="connsiteX13" fmla="*/ 717947 w 724366"/>
              <a:gd name="connsiteY13" fmla="*/ 482264 h 740232"/>
              <a:gd name="connsiteX14" fmla="*/ 711597 w 724366"/>
              <a:gd name="connsiteY14" fmla="*/ 545764 h 740232"/>
              <a:gd name="connsiteX15" fmla="*/ 708422 w 724366"/>
              <a:gd name="connsiteY15" fmla="*/ 679114 h 740232"/>
              <a:gd name="connsiteX16" fmla="*/ 705247 w 724366"/>
              <a:gd name="connsiteY16" fmla="*/ 707689 h 740232"/>
              <a:gd name="connsiteX17" fmla="*/ 702072 w 724366"/>
              <a:gd name="connsiteY17" fmla="*/ 729914 h 740232"/>
              <a:gd name="connsiteX18" fmla="*/ 644922 w 724366"/>
              <a:gd name="connsiteY18" fmla="*/ 733089 h 740232"/>
              <a:gd name="connsiteX19" fmla="*/ 521097 w 724366"/>
              <a:gd name="connsiteY19" fmla="*/ 739439 h 740232"/>
              <a:gd name="connsiteX20" fmla="*/ 390922 w 724366"/>
              <a:gd name="connsiteY20" fmla="*/ 739439 h 740232"/>
              <a:gd name="connsiteX21" fmla="*/ 222647 w 724366"/>
              <a:gd name="connsiteY21" fmla="*/ 733089 h 740232"/>
              <a:gd name="connsiteX22" fmla="*/ 111522 w 724366"/>
              <a:gd name="connsiteY22" fmla="*/ 720389 h 740232"/>
              <a:gd name="connsiteX23" fmla="*/ 76597 w 724366"/>
              <a:gd name="connsiteY23" fmla="*/ 726739 h 740232"/>
              <a:gd name="connsiteX24" fmla="*/ 9922 w 724366"/>
              <a:gd name="connsiteY24" fmla="*/ 723564 h 740232"/>
              <a:gd name="connsiteX25" fmla="*/ 3572 w 724366"/>
              <a:gd name="connsiteY25" fmla="*/ 714039 h 740232"/>
              <a:gd name="connsiteX26" fmla="*/ 397 w 724366"/>
              <a:gd name="connsiteY26" fmla="*/ 688639 h 740232"/>
              <a:gd name="connsiteX27" fmla="*/ 397 w 724366"/>
              <a:gd name="connsiteY27" fmla="*/ 196514 h 740232"/>
              <a:gd name="connsiteX28" fmla="*/ 3572 w 724366"/>
              <a:gd name="connsiteY28" fmla="*/ 101264 h 740232"/>
              <a:gd name="connsiteX29" fmla="*/ 6747 w 724366"/>
              <a:gd name="connsiteY29" fmla="*/ 6014 h 740232"/>
              <a:gd name="connsiteX0" fmla="*/ 6747 w 724366"/>
              <a:gd name="connsiteY0" fmla="*/ 6014 h 740232"/>
              <a:gd name="connsiteX1" fmla="*/ 48022 w 724366"/>
              <a:gd name="connsiteY1" fmla="*/ 9189 h 740232"/>
              <a:gd name="connsiteX2" fmla="*/ 117872 w 724366"/>
              <a:gd name="connsiteY2" fmla="*/ 2839 h 740232"/>
              <a:gd name="connsiteX3" fmla="*/ 435372 w 724366"/>
              <a:gd name="connsiteY3" fmla="*/ 6014 h 740232"/>
              <a:gd name="connsiteX4" fmla="*/ 476647 w 724366"/>
              <a:gd name="connsiteY4" fmla="*/ 9189 h 740232"/>
              <a:gd name="connsiteX5" fmla="*/ 568722 w 724366"/>
              <a:gd name="connsiteY5" fmla="*/ 12364 h 740232"/>
              <a:gd name="connsiteX6" fmla="*/ 708422 w 724366"/>
              <a:gd name="connsiteY6" fmla="*/ 9189 h 740232"/>
              <a:gd name="connsiteX7" fmla="*/ 714772 w 724366"/>
              <a:gd name="connsiteY7" fmla="*/ 15539 h 740232"/>
              <a:gd name="connsiteX8" fmla="*/ 717947 w 724366"/>
              <a:gd name="connsiteY8" fmla="*/ 63164 h 740232"/>
              <a:gd name="connsiteX9" fmla="*/ 721122 w 724366"/>
              <a:gd name="connsiteY9" fmla="*/ 139364 h 740232"/>
              <a:gd name="connsiteX10" fmla="*/ 724297 w 724366"/>
              <a:gd name="connsiteY10" fmla="*/ 202864 h 740232"/>
              <a:gd name="connsiteX11" fmla="*/ 717947 w 724366"/>
              <a:gd name="connsiteY11" fmla="*/ 323514 h 740232"/>
              <a:gd name="connsiteX12" fmla="*/ 711597 w 724366"/>
              <a:gd name="connsiteY12" fmla="*/ 437814 h 740232"/>
              <a:gd name="connsiteX13" fmla="*/ 717947 w 724366"/>
              <a:gd name="connsiteY13" fmla="*/ 482264 h 740232"/>
              <a:gd name="connsiteX14" fmla="*/ 711597 w 724366"/>
              <a:gd name="connsiteY14" fmla="*/ 545764 h 740232"/>
              <a:gd name="connsiteX15" fmla="*/ 708422 w 724366"/>
              <a:gd name="connsiteY15" fmla="*/ 679114 h 740232"/>
              <a:gd name="connsiteX16" fmla="*/ 705247 w 724366"/>
              <a:gd name="connsiteY16" fmla="*/ 707689 h 740232"/>
              <a:gd name="connsiteX17" fmla="*/ 702072 w 724366"/>
              <a:gd name="connsiteY17" fmla="*/ 729914 h 740232"/>
              <a:gd name="connsiteX18" fmla="*/ 644922 w 724366"/>
              <a:gd name="connsiteY18" fmla="*/ 733089 h 740232"/>
              <a:gd name="connsiteX19" fmla="*/ 521097 w 724366"/>
              <a:gd name="connsiteY19" fmla="*/ 739439 h 740232"/>
              <a:gd name="connsiteX20" fmla="*/ 390922 w 724366"/>
              <a:gd name="connsiteY20" fmla="*/ 739439 h 740232"/>
              <a:gd name="connsiteX21" fmla="*/ 222647 w 724366"/>
              <a:gd name="connsiteY21" fmla="*/ 733089 h 740232"/>
              <a:gd name="connsiteX22" fmla="*/ 76597 w 724366"/>
              <a:gd name="connsiteY22" fmla="*/ 726739 h 740232"/>
              <a:gd name="connsiteX23" fmla="*/ 9922 w 724366"/>
              <a:gd name="connsiteY23" fmla="*/ 723564 h 740232"/>
              <a:gd name="connsiteX24" fmla="*/ 3572 w 724366"/>
              <a:gd name="connsiteY24" fmla="*/ 714039 h 740232"/>
              <a:gd name="connsiteX25" fmla="*/ 397 w 724366"/>
              <a:gd name="connsiteY25" fmla="*/ 688639 h 740232"/>
              <a:gd name="connsiteX26" fmla="*/ 397 w 724366"/>
              <a:gd name="connsiteY26" fmla="*/ 196514 h 740232"/>
              <a:gd name="connsiteX27" fmla="*/ 3572 w 724366"/>
              <a:gd name="connsiteY27" fmla="*/ 101264 h 740232"/>
              <a:gd name="connsiteX28" fmla="*/ 6747 w 724366"/>
              <a:gd name="connsiteY28" fmla="*/ 6014 h 740232"/>
              <a:gd name="connsiteX0" fmla="*/ 7188 w 724807"/>
              <a:gd name="connsiteY0" fmla="*/ 6014 h 740232"/>
              <a:gd name="connsiteX1" fmla="*/ 48463 w 724807"/>
              <a:gd name="connsiteY1" fmla="*/ 9189 h 740232"/>
              <a:gd name="connsiteX2" fmla="*/ 118313 w 724807"/>
              <a:gd name="connsiteY2" fmla="*/ 2839 h 740232"/>
              <a:gd name="connsiteX3" fmla="*/ 435813 w 724807"/>
              <a:gd name="connsiteY3" fmla="*/ 6014 h 740232"/>
              <a:gd name="connsiteX4" fmla="*/ 477088 w 724807"/>
              <a:gd name="connsiteY4" fmla="*/ 9189 h 740232"/>
              <a:gd name="connsiteX5" fmla="*/ 569163 w 724807"/>
              <a:gd name="connsiteY5" fmla="*/ 12364 h 740232"/>
              <a:gd name="connsiteX6" fmla="*/ 708863 w 724807"/>
              <a:gd name="connsiteY6" fmla="*/ 9189 h 740232"/>
              <a:gd name="connsiteX7" fmla="*/ 715213 w 724807"/>
              <a:gd name="connsiteY7" fmla="*/ 15539 h 740232"/>
              <a:gd name="connsiteX8" fmla="*/ 718388 w 724807"/>
              <a:gd name="connsiteY8" fmla="*/ 63164 h 740232"/>
              <a:gd name="connsiteX9" fmla="*/ 721563 w 724807"/>
              <a:gd name="connsiteY9" fmla="*/ 139364 h 740232"/>
              <a:gd name="connsiteX10" fmla="*/ 724738 w 724807"/>
              <a:gd name="connsiteY10" fmla="*/ 202864 h 740232"/>
              <a:gd name="connsiteX11" fmla="*/ 718388 w 724807"/>
              <a:gd name="connsiteY11" fmla="*/ 323514 h 740232"/>
              <a:gd name="connsiteX12" fmla="*/ 712038 w 724807"/>
              <a:gd name="connsiteY12" fmla="*/ 437814 h 740232"/>
              <a:gd name="connsiteX13" fmla="*/ 718388 w 724807"/>
              <a:gd name="connsiteY13" fmla="*/ 482264 h 740232"/>
              <a:gd name="connsiteX14" fmla="*/ 712038 w 724807"/>
              <a:gd name="connsiteY14" fmla="*/ 545764 h 740232"/>
              <a:gd name="connsiteX15" fmla="*/ 708863 w 724807"/>
              <a:gd name="connsiteY15" fmla="*/ 679114 h 740232"/>
              <a:gd name="connsiteX16" fmla="*/ 705688 w 724807"/>
              <a:gd name="connsiteY16" fmla="*/ 707689 h 740232"/>
              <a:gd name="connsiteX17" fmla="*/ 702513 w 724807"/>
              <a:gd name="connsiteY17" fmla="*/ 729914 h 740232"/>
              <a:gd name="connsiteX18" fmla="*/ 645363 w 724807"/>
              <a:gd name="connsiteY18" fmla="*/ 733089 h 740232"/>
              <a:gd name="connsiteX19" fmla="*/ 521538 w 724807"/>
              <a:gd name="connsiteY19" fmla="*/ 739439 h 740232"/>
              <a:gd name="connsiteX20" fmla="*/ 391363 w 724807"/>
              <a:gd name="connsiteY20" fmla="*/ 739439 h 740232"/>
              <a:gd name="connsiteX21" fmla="*/ 223088 w 724807"/>
              <a:gd name="connsiteY21" fmla="*/ 733089 h 740232"/>
              <a:gd name="connsiteX22" fmla="*/ 77038 w 724807"/>
              <a:gd name="connsiteY22" fmla="*/ 726739 h 740232"/>
              <a:gd name="connsiteX23" fmla="*/ 10363 w 724807"/>
              <a:gd name="connsiteY23" fmla="*/ 723564 h 740232"/>
              <a:gd name="connsiteX24" fmla="*/ 838 w 724807"/>
              <a:gd name="connsiteY24" fmla="*/ 688639 h 740232"/>
              <a:gd name="connsiteX25" fmla="*/ 838 w 724807"/>
              <a:gd name="connsiteY25" fmla="*/ 196514 h 740232"/>
              <a:gd name="connsiteX26" fmla="*/ 4013 w 724807"/>
              <a:gd name="connsiteY26" fmla="*/ 101264 h 740232"/>
              <a:gd name="connsiteX27" fmla="*/ 7188 w 724807"/>
              <a:gd name="connsiteY27" fmla="*/ 6014 h 740232"/>
              <a:gd name="connsiteX0" fmla="*/ 7188 w 724807"/>
              <a:gd name="connsiteY0" fmla="*/ 6014 h 740232"/>
              <a:gd name="connsiteX1" fmla="*/ 48463 w 724807"/>
              <a:gd name="connsiteY1" fmla="*/ 9189 h 740232"/>
              <a:gd name="connsiteX2" fmla="*/ 118313 w 724807"/>
              <a:gd name="connsiteY2" fmla="*/ 2839 h 740232"/>
              <a:gd name="connsiteX3" fmla="*/ 435813 w 724807"/>
              <a:gd name="connsiteY3" fmla="*/ 6014 h 740232"/>
              <a:gd name="connsiteX4" fmla="*/ 477088 w 724807"/>
              <a:gd name="connsiteY4" fmla="*/ 9189 h 740232"/>
              <a:gd name="connsiteX5" fmla="*/ 569163 w 724807"/>
              <a:gd name="connsiteY5" fmla="*/ 12364 h 740232"/>
              <a:gd name="connsiteX6" fmla="*/ 708863 w 724807"/>
              <a:gd name="connsiteY6" fmla="*/ 9189 h 740232"/>
              <a:gd name="connsiteX7" fmla="*/ 715213 w 724807"/>
              <a:gd name="connsiteY7" fmla="*/ 15539 h 740232"/>
              <a:gd name="connsiteX8" fmla="*/ 718388 w 724807"/>
              <a:gd name="connsiteY8" fmla="*/ 63164 h 740232"/>
              <a:gd name="connsiteX9" fmla="*/ 721563 w 724807"/>
              <a:gd name="connsiteY9" fmla="*/ 139364 h 740232"/>
              <a:gd name="connsiteX10" fmla="*/ 724738 w 724807"/>
              <a:gd name="connsiteY10" fmla="*/ 202864 h 740232"/>
              <a:gd name="connsiteX11" fmla="*/ 718388 w 724807"/>
              <a:gd name="connsiteY11" fmla="*/ 323514 h 740232"/>
              <a:gd name="connsiteX12" fmla="*/ 712038 w 724807"/>
              <a:gd name="connsiteY12" fmla="*/ 437814 h 740232"/>
              <a:gd name="connsiteX13" fmla="*/ 718388 w 724807"/>
              <a:gd name="connsiteY13" fmla="*/ 482264 h 740232"/>
              <a:gd name="connsiteX14" fmla="*/ 712038 w 724807"/>
              <a:gd name="connsiteY14" fmla="*/ 545764 h 740232"/>
              <a:gd name="connsiteX15" fmla="*/ 708863 w 724807"/>
              <a:gd name="connsiteY15" fmla="*/ 679114 h 740232"/>
              <a:gd name="connsiteX16" fmla="*/ 705688 w 724807"/>
              <a:gd name="connsiteY16" fmla="*/ 707689 h 740232"/>
              <a:gd name="connsiteX17" fmla="*/ 702513 w 724807"/>
              <a:gd name="connsiteY17" fmla="*/ 729914 h 740232"/>
              <a:gd name="connsiteX18" fmla="*/ 645363 w 724807"/>
              <a:gd name="connsiteY18" fmla="*/ 733089 h 740232"/>
              <a:gd name="connsiteX19" fmla="*/ 521538 w 724807"/>
              <a:gd name="connsiteY19" fmla="*/ 739439 h 740232"/>
              <a:gd name="connsiteX20" fmla="*/ 391363 w 724807"/>
              <a:gd name="connsiteY20" fmla="*/ 739439 h 740232"/>
              <a:gd name="connsiteX21" fmla="*/ 223088 w 724807"/>
              <a:gd name="connsiteY21" fmla="*/ 733089 h 740232"/>
              <a:gd name="connsiteX22" fmla="*/ 77038 w 724807"/>
              <a:gd name="connsiteY22" fmla="*/ 726739 h 740232"/>
              <a:gd name="connsiteX23" fmla="*/ 10363 w 724807"/>
              <a:gd name="connsiteY23" fmla="*/ 723564 h 740232"/>
              <a:gd name="connsiteX24" fmla="*/ 838 w 724807"/>
              <a:gd name="connsiteY24" fmla="*/ 644189 h 740232"/>
              <a:gd name="connsiteX25" fmla="*/ 838 w 724807"/>
              <a:gd name="connsiteY25" fmla="*/ 196514 h 740232"/>
              <a:gd name="connsiteX26" fmla="*/ 4013 w 724807"/>
              <a:gd name="connsiteY26" fmla="*/ 101264 h 740232"/>
              <a:gd name="connsiteX27" fmla="*/ 7188 w 724807"/>
              <a:gd name="connsiteY27" fmla="*/ 6014 h 740232"/>
              <a:gd name="connsiteX0" fmla="*/ 7188 w 724807"/>
              <a:gd name="connsiteY0" fmla="*/ 6014 h 740232"/>
              <a:gd name="connsiteX1" fmla="*/ 48463 w 724807"/>
              <a:gd name="connsiteY1" fmla="*/ 9189 h 740232"/>
              <a:gd name="connsiteX2" fmla="*/ 118313 w 724807"/>
              <a:gd name="connsiteY2" fmla="*/ 2839 h 740232"/>
              <a:gd name="connsiteX3" fmla="*/ 435813 w 724807"/>
              <a:gd name="connsiteY3" fmla="*/ 6014 h 740232"/>
              <a:gd name="connsiteX4" fmla="*/ 477088 w 724807"/>
              <a:gd name="connsiteY4" fmla="*/ 9189 h 740232"/>
              <a:gd name="connsiteX5" fmla="*/ 569163 w 724807"/>
              <a:gd name="connsiteY5" fmla="*/ 12364 h 740232"/>
              <a:gd name="connsiteX6" fmla="*/ 708863 w 724807"/>
              <a:gd name="connsiteY6" fmla="*/ 9189 h 740232"/>
              <a:gd name="connsiteX7" fmla="*/ 715213 w 724807"/>
              <a:gd name="connsiteY7" fmla="*/ 15539 h 740232"/>
              <a:gd name="connsiteX8" fmla="*/ 718388 w 724807"/>
              <a:gd name="connsiteY8" fmla="*/ 63164 h 740232"/>
              <a:gd name="connsiteX9" fmla="*/ 721563 w 724807"/>
              <a:gd name="connsiteY9" fmla="*/ 139364 h 740232"/>
              <a:gd name="connsiteX10" fmla="*/ 724738 w 724807"/>
              <a:gd name="connsiteY10" fmla="*/ 202864 h 740232"/>
              <a:gd name="connsiteX11" fmla="*/ 718388 w 724807"/>
              <a:gd name="connsiteY11" fmla="*/ 323514 h 740232"/>
              <a:gd name="connsiteX12" fmla="*/ 712038 w 724807"/>
              <a:gd name="connsiteY12" fmla="*/ 437814 h 740232"/>
              <a:gd name="connsiteX13" fmla="*/ 718388 w 724807"/>
              <a:gd name="connsiteY13" fmla="*/ 482264 h 740232"/>
              <a:gd name="connsiteX14" fmla="*/ 712038 w 724807"/>
              <a:gd name="connsiteY14" fmla="*/ 545764 h 740232"/>
              <a:gd name="connsiteX15" fmla="*/ 708863 w 724807"/>
              <a:gd name="connsiteY15" fmla="*/ 679114 h 740232"/>
              <a:gd name="connsiteX16" fmla="*/ 705688 w 724807"/>
              <a:gd name="connsiteY16" fmla="*/ 707689 h 740232"/>
              <a:gd name="connsiteX17" fmla="*/ 702513 w 724807"/>
              <a:gd name="connsiteY17" fmla="*/ 729914 h 740232"/>
              <a:gd name="connsiteX18" fmla="*/ 645363 w 724807"/>
              <a:gd name="connsiteY18" fmla="*/ 733089 h 740232"/>
              <a:gd name="connsiteX19" fmla="*/ 521538 w 724807"/>
              <a:gd name="connsiteY19" fmla="*/ 739439 h 740232"/>
              <a:gd name="connsiteX20" fmla="*/ 391363 w 724807"/>
              <a:gd name="connsiteY20" fmla="*/ 739439 h 740232"/>
              <a:gd name="connsiteX21" fmla="*/ 223088 w 724807"/>
              <a:gd name="connsiteY21" fmla="*/ 733089 h 740232"/>
              <a:gd name="connsiteX22" fmla="*/ 96088 w 724807"/>
              <a:gd name="connsiteY22" fmla="*/ 733089 h 740232"/>
              <a:gd name="connsiteX23" fmla="*/ 10363 w 724807"/>
              <a:gd name="connsiteY23" fmla="*/ 723564 h 740232"/>
              <a:gd name="connsiteX24" fmla="*/ 838 w 724807"/>
              <a:gd name="connsiteY24" fmla="*/ 644189 h 740232"/>
              <a:gd name="connsiteX25" fmla="*/ 838 w 724807"/>
              <a:gd name="connsiteY25" fmla="*/ 196514 h 740232"/>
              <a:gd name="connsiteX26" fmla="*/ 4013 w 724807"/>
              <a:gd name="connsiteY26" fmla="*/ 101264 h 740232"/>
              <a:gd name="connsiteX27" fmla="*/ 7188 w 724807"/>
              <a:gd name="connsiteY27" fmla="*/ 6014 h 740232"/>
              <a:gd name="connsiteX0" fmla="*/ 7343 w 724962"/>
              <a:gd name="connsiteY0" fmla="*/ 6014 h 740232"/>
              <a:gd name="connsiteX1" fmla="*/ 48618 w 724962"/>
              <a:gd name="connsiteY1" fmla="*/ 9189 h 740232"/>
              <a:gd name="connsiteX2" fmla="*/ 118468 w 724962"/>
              <a:gd name="connsiteY2" fmla="*/ 2839 h 740232"/>
              <a:gd name="connsiteX3" fmla="*/ 435968 w 724962"/>
              <a:gd name="connsiteY3" fmla="*/ 6014 h 740232"/>
              <a:gd name="connsiteX4" fmla="*/ 477243 w 724962"/>
              <a:gd name="connsiteY4" fmla="*/ 9189 h 740232"/>
              <a:gd name="connsiteX5" fmla="*/ 569318 w 724962"/>
              <a:gd name="connsiteY5" fmla="*/ 12364 h 740232"/>
              <a:gd name="connsiteX6" fmla="*/ 709018 w 724962"/>
              <a:gd name="connsiteY6" fmla="*/ 9189 h 740232"/>
              <a:gd name="connsiteX7" fmla="*/ 715368 w 724962"/>
              <a:gd name="connsiteY7" fmla="*/ 15539 h 740232"/>
              <a:gd name="connsiteX8" fmla="*/ 718543 w 724962"/>
              <a:gd name="connsiteY8" fmla="*/ 63164 h 740232"/>
              <a:gd name="connsiteX9" fmla="*/ 721718 w 724962"/>
              <a:gd name="connsiteY9" fmla="*/ 139364 h 740232"/>
              <a:gd name="connsiteX10" fmla="*/ 724893 w 724962"/>
              <a:gd name="connsiteY10" fmla="*/ 202864 h 740232"/>
              <a:gd name="connsiteX11" fmla="*/ 718543 w 724962"/>
              <a:gd name="connsiteY11" fmla="*/ 323514 h 740232"/>
              <a:gd name="connsiteX12" fmla="*/ 712193 w 724962"/>
              <a:gd name="connsiteY12" fmla="*/ 437814 h 740232"/>
              <a:gd name="connsiteX13" fmla="*/ 718543 w 724962"/>
              <a:gd name="connsiteY13" fmla="*/ 482264 h 740232"/>
              <a:gd name="connsiteX14" fmla="*/ 712193 w 724962"/>
              <a:gd name="connsiteY14" fmla="*/ 545764 h 740232"/>
              <a:gd name="connsiteX15" fmla="*/ 709018 w 724962"/>
              <a:gd name="connsiteY15" fmla="*/ 679114 h 740232"/>
              <a:gd name="connsiteX16" fmla="*/ 705843 w 724962"/>
              <a:gd name="connsiteY16" fmla="*/ 707689 h 740232"/>
              <a:gd name="connsiteX17" fmla="*/ 702668 w 724962"/>
              <a:gd name="connsiteY17" fmla="*/ 729914 h 740232"/>
              <a:gd name="connsiteX18" fmla="*/ 645518 w 724962"/>
              <a:gd name="connsiteY18" fmla="*/ 733089 h 740232"/>
              <a:gd name="connsiteX19" fmla="*/ 521693 w 724962"/>
              <a:gd name="connsiteY19" fmla="*/ 739439 h 740232"/>
              <a:gd name="connsiteX20" fmla="*/ 391518 w 724962"/>
              <a:gd name="connsiteY20" fmla="*/ 739439 h 740232"/>
              <a:gd name="connsiteX21" fmla="*/ 223243 w 724962"/>
              <a:gd name="connsiteY21" fmla="*/ 733089 h 740232"/>
              <a:gd name="connsiteX22" fmla="*/ 102593 w 724962"/>
              <a:gd name="connsiteY22" fmla="*/ 720389 h 740232"/>
              <a:gd name="connsiteX23" fmla="*/ 10518 w 724962"/>
              <a:gd name="connsiteY23" fmla="*/ 723564 h 740232"/>
              <a:gd name="connsiteX24" fmla="*/ 993 w 724962"/>
              <a:gd name="connsiteY24" fmla="*/ 644189 h 740232"/>
              <a:gd name="connsiteX25" fmla="*/ 993 w 724962"/>
              <a:gd name="connsiteY25" fmla="*/ 196514 h 740232"/>
              <a:gd name="connsiteX26" fmla="*/ 4168 w 724962"/>
              <a:gd name="connsiteY26" fmla="*/ 101264 h 740232"/>
              <a:gd name="connsiteX27" fmla="*/ 7343 w 724962"/>
              <a:gd name="connsiteY27" fmla="*/ 6014 h 740232"/>
              <a:gd name="connsiteX0" fmla="*/ 7343 w 724962"/>
              <a:gd name="connsiteY0" fmla="*/ 6014 h 740232"/>
              <a:gd name="connsiteX1" fmla="*/ 48618 w 724962"/>
              <a:gd name="connsiteY1" fmla="*/ 9189 h 740232"/>
              <a:gd name="connsiteX2" fmla="*/ 118468 w 724962"/>
              <a:gd name="connsiteY2" fmla="*/ 2839 h 740232"/>
              <a:gd name="connsiteX3" fmla="*/ 435968 w 724962"/>
              <a:gd name="connsiteY3" fmla="*/ 6014 h 740232"/>
              <a:gd name="connsiteX4" fmla="*/ 477243 w 724962"/>
              <a:gd name="connsiteY4" fmla="*/ 9189 h 740232"/>
              <a:gd name="connsiteX5" fmla="*/ 569318 w 724962"/>
              <a:gd name="connsiteY5" fmla="*/ 12364 h 740232"/>
              <a:gd name="connsiteX6" fmla="*/ 709018 w 724962"/>
              <a:gd name="connsiteY6" fmla="*/ 9189 h 740232"/>
              <a:gd name="connsiteX7" fmla="*/ 715368 w 724962"/>
              <a:gd name="connsiteY7" fmla="*/ 15539 h 740232"/>
              <a:gd name="connsiteX8" fmla="*/ 718543 w 724962"/>
              <a:gd name="connsiteY8" fmla="*/ 63164 h 740232"/>
              <a:gd name="connsiteX9" fmla="*/ 721718 w 724962"/>
              <a:gd name="connsiteY9" fmla="*/ 139364 h 740232"/>
              <a:gd name="connsiteX10" fmla="*/ 724893 w 724962"/>
              <a:gd name="connsiteY10" fmla="*/ 202864 h 740232"/>
              <a:gd name="connsiteX11" fmla="*/ 718543 w 724962"/>
              <a:gd name="connsiteY11" fmla="*/ 323514 h 740232"/>
              <a:gd name="connsiteX12" fmla="*/ 712193 w 724962"/>
              <a:gd name="connsiteY12" fmla="*/ 437814 h 740232"/>
              <a:gd name="connsiteX13" fmla="*/ 718543 w 724962"/>
              <a:gd name="connsiteY13" fmla="*/ 482264 h 740232"/>
              <a:gd name="connsiteX14" fmla="*/ 712193 w 724962"/>
              <a:gd name="connsiteY14" fmla="*/ 545764 h 740232"/>
              <a:gd name="connsiteX15" fmla="*/ 709018 w 724962"/>
              <a:gd name="connsiteY15" fmla="*/ 679114 h 740232"/>
              <a:gd name="connsiteX16" fmla="*/ 705843 w 724962"/>
              <a:gd name="connsiteY16" fmla="*/ 707689 h 740232"/>
              <a:gd name="connsiteX17" fmla="*/ 702668 w 724962"/>
              <a:gd name="connsiteY17" fmla="*/ 729914 h 740232"/>
              <a:gd name="connsiteX18" fmla="*/ 645518 w 724962"/>
              <a:gd name="connsiteY18" fmla="*/ 733089 h 740232"/>
              <a:gd name="connsiteX19" fmla="*/ 521693 w 724962"/>
              <a:gd name="connsiteY19" fmla="*/ 739439 h 740232"/>
              <a:gd name="connsiteX20" fmla="*/ 391518 w 724962"/>
              <a:gd name="connsiteY20" fmla="*/ 739439 h 740232"/>
              <a:gd name="connsiteX21" fmla="*/ 223243 w 724962"/>
              <a:gd name="connsiteY21" fmla="*/ 733089 h 740232"/>
              <a:gd name="connsiteX22" fmla="*/ 102593 w 724962"/>
              <a:gd name="connsiteY22" fmla="*/ 733089 h 740232"/>
              <a:gd name="connsiteX23" fmla="*/ 10518 w 724962"/>
              <a:gd name="connsiteY23" fmla="*/ 723564 h 740232"/>
              <a:gd name="connsiteX24" fmla="*/ 993 w 724962"/>
              <a:gd name="connsiteY24" fmla="*/ 644189 h 740232"/>
              <a:gd name="connsiteX25" fmla="*/ 993 w 724962"/>
              <a:gd name="connsiteY25" fmla="*/ 196514 h 740232"/>
              <a:gd name="connsiteX26" fmla="*/ 4168 w 724962"/>
              <a:gd name="connsiteY26" fmla="*/ 101264 h 740232"/>
              <a:gd name="connsiteX27" fmla="*/ 7343 w 724962"/>
              <a:gd name="connsiteY27" fmla="*/ 6014 h 740232"/>
              <a:gd name="connsiteX0" fmla="*/ 7343 w 724962"/>
              <a:gd name="connsiteY0" fmla="*/ 8215 h 742433"/>
              <a:gd name="connsiteX1" fmla="*/ 118468 w 724962"/>
              <a:gd name="connsiteY1" fmla="*/ 5040 h 742433"/>
              <a:gd name="connsiteX2" fmla="*/ 435968 w 724962"/>
              <a:gd name="connsiteY2" fmla="*/ 8215 h 742433"/>
              <a:gd name="connsiteX3" fmla="*/ 477243 w 724962"/>
              <a:gd name="connsiteY3" fmla="*/ 11390 h 742433"/>
              <a:gd name="connsiteX4" fmla="*/ 569318 w 724962"/>
              <a:gd name="connsiteY4" fmla="*/ 14565 h 742433"/>
              <a:gd name="connsiteX5" fmla="*/ 709018 w 724962"/>
              <a:gd name="connsiteY5" fmla="*/ 11390 h 742433"/>
              <a:gd name="connsiteX6" fmla="*/ 715368 w 724962"/>
              <a:gd name="connsiteY6" fmla="*/ 17740 h 742433"/>
              <a:gd name="connsiteX7" fmla="*/ 718543 w 724962"/>
              <a:gd name="connsiteY7" fmla="*/ 65365 h 742433"/>
              <a:gd name="connsiteX8" fmla="*/ 721718 w 724962"/>
              <a:gd name="connsiteY8" fmla="*/ 141565 h 742433"/>
              <a:gd name="connsiteX9" fmla="*/ 724893 w 724962"/>
              <a:gd name="connsiteY9" fmla="*/ 205065 h 742433"/>
              <a:gd name="connsiteX10" fmla="*/ 718543 w 724962"/>
              <a:gd name="connsiteY10" fmla="*/ 325715 h 742433"/>
              <a:gd name="connsiteX11" fmla="*/ 712193 w 724962"/>
              <a:gd name="connsiteY11" fmla="*/ 440015 h 742433"/>
              <a:gd name="connsiteX12" fmla="*/ 718543 w 724962"/>
              <a:gd name="connsiteY12" fmla="*/ 484465 h 742433"/>
              <a:gd name="connsiteX13" fmla="*/ 712193 w 724962"/>
              <a:gd name="connsiteY13" fmla="*/ 547965 h 742433"/>
              <a:gd name="connsiteX14" fmla="*/ 709018 w 724962"/>
              <a:gd name="connsiteY14" fmla="*/ 681315 h 742433"/>
              <a:gd name="connsiteX15" fmla="*/ 705843 w 724962"/>
              <a:gd name="connsiteY15" fmla="*/ 709890 h 742433"/>
              <a:gd name="connsiteX16" fmla="*/ 702668 w 724962"/>
              <a:gd name="connsiteY16" fmla="*/ 732115 h 742433"/>
              <a:gd name="connsiteX17" fmla="*/ 645518 w 724962"/>
              <a:gd name="connsiteY17" fmla="*/ 735290 h 742433"/>
              <a:gd name="connsiteX18" fmla="*/ 521693 w 724962"/>
              <a:gd name="connsiteY18" fmla="*/ 741640 h 742433"/>
              <a:gd name="connsiteX19" fmla="*/ 391518 w 724962"/>
              <a:gd name="connsiteY19" fmla="*/ 741640 h 742433"/>
              <a:gd name="connsiteX20" fmla="*/ 223243 w 724962"/>
              <a:gd name="connsiteY20" fmla="*/ 735290 h 742433"/>
              <a:gd name="connsiteX21" fmla="*/ 102593 w 724962"/>
              <a:gd name="connsiteY21" fmla="*/ 735290 h 742433"/>
              <a:gd name="connsiteX22" fmla="*/ 10518 w 724962"/>
              <a:gd name="connsiteY22" fmla="*/ 725765 h 742433"/>
              <a:gd name="connsiteX23" fmla="*/ 993 w 724962"/>
              <a:gd name="connsiteY23" fmla="*/ 646390 h 742433"/>
              <a:gd name="connsiteX24" fmla="*/ 993 w 724962"/>
              <a:gd name="connsiteY24" fmla="*/ 198715 h 742433"/>
              <a:gd name="connsiteX25" fmla="*/ 4168 w 724962"/>
              <a:gd name="connsiteY25" fmla="*/ 103465 h 742433"/>
              <a:gd name="connsiteX26" fmla="*/ 7343 w 724962"/>
              <a:gd name="connsiteY26" fmla="*/ 8215 h 742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4962" h="742433">
                <a:moveTo>
                  <a:pt x="7343" y="8215"/>
                </a:moveTo>
                <a:cubicBezTo>
                  <a:pt x="26393" y="-8189"/>
                  <a:pt x="47031" y="5040"/>
                  <a:pt x="118468" y="5040"/>
                </a:cubicBezTo>
                <a:lnTo>
                  <a:pt x="435968" y="8215"/>
                </a:lnTo>
                <a:cubicBezTo>
                  <a:pt x="449765" y="8459"/>
                  <a:pt x="463460" y="10734"/>
                  <a:pt x="477243" y="11390"/>
                </a:cubicBezTo>
                <a:cubicBezTo>
                  <a:pt x="507918" y="12851"/>
                  <a:pt x="538626" y="13507"/>
                  <a:pt x="569318" y="14565"/>
                </a:cubicBezTo>
                <a:lnTo>
                  <a:pt x="709018" y="11390"/>
                </a:lnTo>
                <a:cubicBezTo>
                  <a:pt x="733360" y="11919"/>
                  <a:pt x="713781" y="12582"/>
                  <a:pt x="715368" y="17740"/>
                </a:cubicBezTo>
                <a:cubicBezTo>
                  <a:pt x="719271" y="30426"/>
                  <a:pt x="722261" y="50492"/>
                  <a:pt x="718543" y="65365"/>
                </a:cubicBezTo>
                <a:cubicBezTo>
                  <a:pt x="719601" y="90765"/>
                  <a:pt x="720660" y="118282"/>
                  <a:pt x="721718" y="141565"/>
                </a:cubicBezTo>
                <a:cubicBezTo>
                  <a:pt x="722776" y="164848"/>
                  <a:pt x="725422" y="174373"/>
                  <a:pt x="724893" y="205065"/>
                </a:cubicBezTo>
                <a:cubicBezTo>
                  <a:pt x="724364" y="235757"/>
                  <a:pt x="720660" y="286557"/>
                  <a:pt x="718543" y="325715"/>
                </a:cubicBezTo>
                <a:cubicBezTo>
                  <a:pt x="716426" y="364873"/>
                  <a:pt x="714031" y="383943"/>
                  <a:pt x="712193" y="440015"/>
                </a:cubicBezTo>
                <a:cubicBezTo>
                  <a:pt x="711891" y="449216"/>
                  <a:pt x="718543" y="466473"/>
                  <a:pt x="718543" y="484465"/>
                </a:cubicBezTo>
                <a:cubicBezTo>
                  <a:pt x="718543" y="502457"/>
                  <a:pt x="721282" y="475250"/>
                  <a:pt x="712193" y="547965"/>
                </a:cubicBezTo>
                <a:cubicBezTo>
                  <a:pt x="711135" y="592415"/>
                  <a:pt x="710760" y="636887"/>
                  <a:pt x="709018" y="681315"/>
                </a:cubicBezTo>
                <a:cubicBezTo>
                  <a:pt x="708642" y="690891"/>
                  <a:pt x="707032" y="700380"/>
                  <a:pt x="705843" y="709890"/>
                </a:cubicBezTo>
                <a:cubicBezTo>
                  <a:pt x="704915" y="717316"/>
                  <a:pt x="709565" y="729211"/>
                  <a:pt x="702668" y="732115"/>
                </a:cubicBezTo>
                <a:cubicBezTo>
                  <a:pt x="685084" y="739519"/>
                  <a:pt x="664568" y="734232"/>
                  <a:pt x="645518" y="735290"/>
                </a:cubicBezTo>
                <a:cubicBezTo>
                  <a:pt x="605192" y="734306"/>
                  <a:pt x="564026" y="740582"/>
                  <a:pt x="521693" y="741640"/>
                </a:cubicBezTo>
                <a:cubicBezTo>
                  <a:pt x="479360" y="742698"/>
                  <a:pt x="441260" y="742698"/>
                  <a:pt x="391518" y="741640"/>
                </a:cubicBezTo>
                <a:cubicBezTo>
                  <a:pt x="341776" y="740582"/>
                  <a:pt x="279335" y="736348"/>
                  <a:pt x="223243" y="735290"/>
                </a:cubicBezTo>
                <a:lnTo>
                  <a:pt x="102593" y="735290"/>
                </a:lnTo>
                <a:cubicBezTo>
                  <a:pt x="80368" y="734232"/>
                  <a:pt x="27451" y="740582"/>
                  <a:pt x="10518" y="725765"/>
                </a:cubicBezTo>
                <a:cubicBezTo>
                  <a:pt x="-6415" y="710948"/>
                  <a:pt x="2581" y="734232"/>
                  <a:pt x="993" y="646390"/>
                </a:cubicBezTo>
                <a:cubicBezTo>
                  <a:pt x="-595" y="558548"/>
                  <a:pt x="464" y="296611"/>
                  <a:pt x="993" y="198715"/>
                </a:cubicBezTo>
                <a:cubicBezTo>
                  <a:pt x="1297" y="178477"/>
                  <a:pt x="790" y="123733"/>
                  <a:pt x="4168" y="103465"/>
                </a:cubicBezTo>
                <a:cubicBezTo>
                  <a:pt x="6814" y="74890"/>
                  <a:pt x="-65" y="23561"/>
                  <a:pt x="7343" y="8215"/>
                </a:cubicBezTo>
                <a:close/>
              </a:path>
            </a:pathLst>
          </a:cu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Comic Sans MS" panose="030F0902030302020204" pitchFamily="66" charset="0"/>
              </a:rPr>
              <a:t>H</a:t>
            </a:r>
          </a:p>
        </p:txBody>
      </p:sp>
      <p:sp>
        <p:nvSpPr>
          <p:cNvPr id="44" name="Freeform 43">
            <a:extLst>
              <a:ext uri="{FF2B5EF4-FFF2-40B4-BE49-F238E27FC236}">
                <a16:creationId xmlns:a16="http://schemas.microsoft.com/office/drawing/2014/main" id="{8D865684-FF7B-8E47-977F-7B2AE2B47D55}"/>
              </a:ext>
            </a:extLst>
          </p:cNvPr>
          <p:cNvSpPr/>
          <p:nvPr/>
        </p:nvSpPr>
        <p:spPr>
          <a:xfrm>
            <a:off x="3463335" y="5093087"/>
            <a:ext cx="902481" cy="923386"/>
          </a:xfrm>
          <a:custGeom>
            <a:avLst/>
            <a:gdLst>
              <a:gd name="connsiteX0" fmla="*/ 21489 w 745389"/>
              <a:gd name="connsiteY0" fmla="*/ 6710 h 734634"/>
              <a:gd name="connsiteX1" fmla="*/ 62764 w 745389"/>
              <a:gd name="connsiteY1" fmla="*/ 9885 h 734634"/>
              <a:gd name="connsiteX2" fmla="*/ 132614 w 745389"/>
              <a:gd name="connsiteY2" fmla="*/ 3535 h 734634"/>
              <a:gd name="connsiteX3" fmla="*/ 450114 w 745389"/>
              <a:gd name="connsiteY3" fmla="*/ 6710 h 734634"/>
              <a:gd name="connsiteX4" fmla="*/ 491389 w 745389"/>
              <a:gd name="connsiteY4" fmla="*/ 9885 h 734634"/>
              <a:gd name="connsiteX5" fmla="*/ 583464 w 745389"/>
              <a:gd name="connsiteY5" fmla="*/ 13060 h 734634"/>
              <a:gd name="connsiteX6" fmla="*/ 723164 w 745389"/>
              <a:gd name="connsiteY6" fmla="*/ 9885 h 734634"/>
              <a:gd name="connsiteX7" fmla="*/ 739039 w 745389"/>
              <a:gd name="connsiteY7" fmla="*/ 13060 h 734634"/>
              <a:gd name="connsiteX8" fmla="*/ 732689 w 745389"/>
              <a:gd name="connsiteY8" fmla="*/ 63860 h 734634"/>
              <a:gd name="connsiteX9" fmla="*/ 735864 w 745389"/>
              <a:gd name="connsiteY9" fmla="*/ 140060 h 734634"/>
              <a:gd name="connsiteX10" fmla="*/ 742214 w 745389"/>
              <a:gd name="connsiteY10" fmla="*/ 159110 h 734634"/>
              <a:gd name="connsiteX11" fmla="*/ 745389 w 745389"/>
              <a:gd name="connsiteY11" fmla="*/ 168635 h 734634"/>
              <a:gd name="connsiteX12" fmla="*/ 742214 w 745389"/>
              <a:gd name="connsiteY12" fmla="*/ 267060 h 734634"/>
              <a:gd name="connsiteX13" fmla="*/ 739039 w 745389"/>
              <a:gd name="connsiteY13" fmla="*/ 435335 h 734634"/>
              <a:gd name="connsiteX14" fmla="*/ 732689 w 745389"/>
              <a:gd name="connsiteY14" fmla="*/ 482960 h 734634"/>
              <a:gd name="connsiteX15" fmla="*/ 726339 w 745389"/>
              <a:gd name="connsiteY15" fmla="*/ 546460 h 734634"/>
              <a:gd name="connsiteX16" fmla="*/ 723164 w 745389"/>
              <a:gd name="connsiteY16" fmla="*/ 679810 h 734634"/>
              <a:gd name="connsiteX17" fmla="*/ 719989 w 745389"/>
              <a:gd name="connsiteY17" fmla="*/ 708385 h 734634"/>
              <a:gd name="connsiteX18" fmla="*/ 716814 w 745389"/>
              <a:gd name="connsiteY18" fmla="*/ 730610 h 734634"/>
              <a:gd name="connsiteX19" fmla="*/ 659664 w 745389"/>
              <a:gd name="connsiteY19" fmla="*/ 733785 h 734634"/>
              <a:gd name="connsiteX20" fmla="*/ 469164 w 745389"/>
              <a:gd name="connsiteY20" fmla="*/ 727435 h 734634"/>
              <a:gd name="connsiteX21" fmla="*/ 405664 w 745389"/>
              <a:gd name="connsiteY21" fmla="*/ 721085 h 734634"/>
              <a:gd name="connsiteX22" fmla="*/ 237389 w 745389"/>
              <a:gd name="connsiteY22" fmla="*/ 717910 h 734634"/>
              <a:gd name="connsiteX23" fmla="*/ 126264 w 745389"/>
              <a:gd name="connsiteY23" fmla="*/ 721085 h 734634"/>
              <a:gd name="connsiteX24" fmla="*/ 91339 w 745389"/>
              <a:gd name="connsiteY24" fmla="*/ 727435 h 734634"/>
              <a:gd name="connsiteX25" fmla="*/ 24664 w 745389"/>
              <a:gd name="connsiteY25" fmla="*/ 724260 h 734634"/>
              <a:gd name="connsiteX26" fmla="*/ 18314 w 745389"/>
              <a:gd name="connsiteY26" fmla="*/ 714735 h 734634"/>
              <a:gd name="connsiteX27" fmla="*/ 15139 w 745389"/>
              <a:gd name="connsiteY27" fmla="*/ 689335 h 734634"/>
              <a:gd name="connsiteX28" fmla="*/ 8789 w 745389"/>
              <a:gd name="connsiteY28" fmla="*/ 663935 h 734634"/>
              <a:gd name="connsiteX29" fmla="*/ 5614 w 745389"/>
              <a:gd name="connsiteY29" fmla="*/ 644885 h 734634"/>
              <a:gd name="connsiteX30" fmla="*/ 5614 w 745389"/>
              <a:gd name="connsiteY30" fmla="*/ 178160 h 734634"/>
              <a:gd name="connsiteX31" fmla="*/ 15139 w 745389"/>
              <a:gd name="connsiteY31" fmla="*/ 130535 h 734634"/>
              <a:gd name="connsiteX32" fmla="*/ 18314 w 745389"/>
              <a:gd name="connsiteY32" fmla="*/ 111485 h 734634"/>
              <a:gd name="connsiteX33" fmla="*/ 21489 w 745389"/>
              <a:gd name="connsiteY33" fmla="*/ 6710 h 734634"/>
              <a:gd name="connsiteX0" fmla="*/ 21489 w 745389"/>
              <a:gd name="connsiteY0" fmla="*/ 6710 h 734634"/>
              <a:gd name="connsiteX1" fmla="*/ 62764 w 745389"/>
              <a:gd name="connsiteY1" fmla="*/ 9885 h 734634"/>
              <a:gd name="connsiteX2" fmla="*/ 132614 w 745389"/>
              <a:gd name="connsiteY2" fmla="*/ 3535 h 734634"/>
              <a:gd name="connsiteX3" fmla="*/ 450114 w 745389"/>
              <a:gd name="connsiteY3" fmla="*/ 6710 h 734634"/>
              <a:gd name="connsiteX4" fmla="*/ 491389 w 745389"/>
              <a:gd name="connsiteY4" fmla="*/ 9885 h 734634"/>
              <a:gd name="connsiteX5" fmla="*/ 583464 w 745389"/>
              <a:gd name="connsiteY5" fmla="*/ 13060 h 734634"/>
              <a:gd name="connsiteX6" fmla="*/ 723164 w 745389"/>
              <a:gd name="connsiteY6" fmla="*/ 9885 h 734634"/>
              <a:gd name="connsiteX7" fmla="*/ 739039 w 745389"/>
              <a:gd name="connsiteY7" fmla="*/ 13060 h 734634"/>
              <a:gd name="connsiteX8" fmla="*/ 732689 w 745389"/>
              <a:gd name="connsiteY8" fmla="*/ 63860 h 734634"/>
              <a:gd name="connsiteX9" fmla="*/ 735864 w 745389"/>
              <a:gd name="connsiteY9" fmla="*/ 140060 h 734634"/>
              <a:gd name="connsiteX10" fmla="*/ 742214 w 745389"/>
              <a:gd name="connsiteY10" fmla="*/ 159110 h 734634"/>
              <a:gd name="connsiteX11" fmla="*/ 745389 w 745389"/>
              <a:gd name="connsiteY11" fmla="*/ 168635 h 734634"/>
              <a:gd name="connsiteX12" fmla="*/ 742214 w 745389"/>
              <a:gd name="connsiteY12" fmla="*/ 267060 h 734634"/>
              <a:gd name="connsiteX13" fmla="*/ 739039 w 745389"/>
              <a:gd name="connsiteY13" fmla="*/ 435335 h 734634"/>
              <a:gd name="connsiteX14" fmla="*/ 732689 w 745389"/>
              <a:gd name="connsiteY14" fmla="*/ 482960 h 734634"/>
              <a:gd name="connsiteX15" fmla="*/ 726339 w 745389"/>
              <a:gd name="connsiteY15" fmla="*/ 546460 h 734634"/>
              <a:gd name="connsiteX16" fmla="*/ 723164 w 745389"/>
              <a:gd name="connsiteY16" fmla="*/ 679810 h 734634"/>
              <a:gd name="connsiteX17" fmla="*/ 719989 w 745389"/>
              <a:gd name="connsiteY17" fmla="*/ 708385 h 734634"/>
              <a:gd name="connsiteX18" fmla="*/ 716814 w 745389"/>
              <a:gd name="connsiteY18" fmla="*/ 730610 h 734634"/>
              <a:gd name="connsiteX19" fmla="*/ 659664 w 745389"/>
              <a:gd name="connsiteY19" fmla="*/ 733785 h 734634"/>
              <a:gd name="connsiteX20" fmla="*/ 469164 w 745389"/>
              <a:gd name="connsiteY20" fmla="*/ 727435 h 734634"/>
              <a:gd name="connsiteX21" fmla="*/ 405664 w 745389"/>
              <a:gd name="connsiteY21" fmla="*/ 721085 h 734634"/>
              <a:gd name="connsiteX22" fmla="*/ 237389 w 745389"/>
              <a:gd name="connsiteY22" fmla="*/ 717910 h 734634"/>
              <a:gd name="connsiteX23" fmla="*/ 126264 w 745389"/>
              <a:gd name="connsiteY23" fmla="*/ 721085 h 734634"/>
              <a:gd name="connsiteX24" fmla="*/ 91339 w 745389"/>
              <a:gd name="connsiteY24" fmla="*/ 727435 h 734634"/>
              <a:gd name="connsiteX25" fmla="*/ 24664 w 745389"/>
              <a:gd name="connsiteY25" fmla="*/ 724260 h 734634"/>
              <a:gd name="connsiteX26" fmla="*/ 18314 w 745389"/>
              <a:gd name="connsiteY26" fmla="*/ 714735 h 734634"/>
              <a:gd name="connsiteX27" fmla="*/ 15139 w 745389"/>
              <a:gd name="connsiteY27" fmla="*/ 689335 h 734634"/>
              <a:gd name="connsiteX28" fmla="*/ 8789 w 745389"/>
              <a:gd name="connsiteY28" fmla="*/ 663935 h 734634"/>
              <a:gd name="connsiteX29" fmla="*/ 5614 w 745389"/>
              <a:gd name="connsiteY29" fmla="*/ 644885 h 734634"/>
              <a:gd name="connsiteX30" fmla="*/ 5614 w 745389"/>
              <a:gd name="connsiteY30" fmla="*/ 178160 h 734634"/>
              <a:gd name="connsiteX31" fmla="*/ 15139 w 745389"/>
              <a:gd name="connsiteY31" fmla="*/ 130535 h 734634"/>
              <a:gd name="connsiteX32" fmla="*/ 18314 w 745389"/>
              <a:gd name="connsiteY32" fmla="*/ 111485 h 734634"/>
              <a:gd name="connsiteX33" fmla="*/ 21489 w 745389"/>
              <a:gd name="connsiteY33" fmla="*/ 6710 h 734634"/>
              <a:gd name="connsiteX0" fmla="*/ 21489 w 745389"/>
              <a:gd name="connsiteY0" fmla="*/ 6710 h 734634"/>
              <a:gd name="connsiteX1" fmla="*/ 62764 w 745389"/>
              <a:gd name="connsiteY1" fmla="*/ 9885 h 734634"/>
              <a:gd name="connsiteX2" fmla="*/ 132614 w 745389"/>
              <a:gd name="connsiteY2" fmla="*/ 3535 h 734634"/>
              <a:gd name="connsiteX3" fmla="*/ 450114 w 745389"/>
              <a:gd name="connsiteY3" fmla="*/ 6710 h 734634"/>
              <a:gd name="connsiteX4" fmla="*/ 491389 w 745389"/>
              <a:gd name="connsiteY4" fmla="*/ 9885 h 734634"/>
              <a:gd name="connsiteX5" fmla="*/ 583464 w 745389"/>
              <a:gd name="connsiteY5" fmla="*/ 13060 h 734634"/>
              <a:gd name="connsiteX6" fmla="*/ 723164 w 745389"/>
              <a:gd name="connsiteY6" fmla="*/ 9885 h 734634"/>
              <a:gd name="connsiteX7" fmla="*/ 739039 w 745389"/>
              <a:gd name="connsiteY7" fmla="*/ 13060 h 734634"/>
              <a:gd name="connsiteX8" fmla="*/ 732689 w 745389"/>
              <a:gd name="connsiteY8" fmla="*/ 63860 h 734634"/>
              <a:gd name="connsiteX9" fmla="*/ 735864 w 745389"/>
              <a:gd name="connsiteY9" fmla="*/ 140060 h 734634"/>
              <a:gd name="connsiteX10" fmla="*/ 742214 w 745389"/>
              <a:gd name="connsiteY10" fmla="*/ 159110 h 734634"/>
              <a:gd name="connsiteX11" fmla="*/ 745389 w 745389"/>
              <a:gd name="connsiteY11" fmla="*/ 168635 h 734634"/>
              <a:gd name="connsiteX12" fmla="*/ 742214 w 745389"/>
              <a:gd name="connsiteY12" fmla="*/ 267060 h 734634"/>
              <a:gd name="connsiteX13" fmla="*/ 739039 w 745389"/>
              <a:gd name="connsiteY13" fmla="*/ 435335 h 734634"/>
              <a:gd name="connsiteX14" fmla="*/ 732689 w 745389"/>
              <a:gd name="connsiteY14" fmla="*/ 482960 h 734634"/>
              <a:gd name="connsiteX15" fmla="*/ 726339 w 745389"/>
              <a:gd name="connsiteY15" fmla="*/ 546460 h 734634"/>
              <a:gd name="connsiteX16" fmla="*/ 723164 w 745389"/>
              <a:gd name="connsiteY16" fmla="*/ 679810 h 734634"/>
              <a:gd name="connsiteX17" fmla="*/ 719989 w 745389"/>
              <a:gd name="connsiteY17" fmla="*/ 708385 h 734634"/>
              <a:gd name="connsiteX18" fmla="*/ 716814 w 745389"/>
              <a:gd name="connsiteY18" fmla="*/ 730610 h 734634"/>
              <a:gd name="connsiteX19" fmla="*/ 659664 w 745389"/>
              <a:gd name="connsiteY19" fmla="*/ 733785 h 734634"/>
              <a:gd name="connsiteX20" fmla="*/ 469164 w 745389"/>
              <a:gd name="connsiteY20" fmla="*/ 727435 h 734634"/>
              <a:gd name="connsiteX21" fmla="*/ 405664 w 745389"/>
              <a:gd name="connsiteY21" fmla="*/ 721085 h 734634"/>
              <a:gd name="connsiteX22" fmla="*/ 237389 w 745389"/>
              <a:gd name="connsiteY22" fmla="*/ 717910 h 734634"/>
              <a:gd name="connsiteX23" fmla="*/ 126264 w 745389"/>
              <a:gd name="connsiteY23" fmla="*/ 721085 h 734634"/>
              <a:gd name="connsiteX24" fmla="*/ 91339 w 745389"/>
              <a:gd name="connsiteY24" fmla="*/ 727435 h 734634"/>
              <a:gd name="connsiteX25" fmla="*/ 24664 w 745389"/>
              <a:gd name="connsiteY25" fmla="*/ 724260 h 734634"/>
              <a:gd name="connsiteX26" fmla="*/ 18314 w 745389"/>
              <a:gd name="connsiteY26" fmla="*/ 714735 h 734634"/>
              <a:gd name="connsiteX27" fmla="*/ 15139 w 745389"/>
              <a:gd name="connsiteY27" fmla="*/ 689335 h 734634"/>
              <a:gd name="connsiteX28" fmla="*/ 8789 w 745389"/>
              <a:gd name="connsiteY28" fmla="*/ 663935 h 734634"/>
              <a:gd name="connsiteX29" fmla="*/ 5614 w 745389"/>
              <a:gd name="connsiteY29" fmla="*/ 644885 h 734634"/>
              <a:gd name="connsiteX30" fmla="*/ 5614 w 745389"/>
              <a:gd name="connsiteY30" fmla="*/ 178160 h 734634"/>
              <a:gd name="connsiteX31" fmla="*/ 15139 w 745389"/>
              <a:gd name="connsiteY31" fmla="*/ 130535 h 734634"/>
              <a:gd name="connsiteX32" fmla="*/ 21489 w 745389"/>
              <a:gd name="connsiteY32" fmla="*/ 6710 h 734634"/>
              <a:gd name="connsiteX0" fmla="*/ 21489 w 745389"/>
              <a:gd name="connsiteY0" fmla="*/ 6014 h 733938"/>
              <a:gd name="connsiteX1" fmla="*/ 62764 w 745389"/>
              <a:gd name="connsiteY1" fmla="*/ 9189 h 733938"/>
              <a:gd name="connsiteX2" fmla="*/ 132614 w 745389"/>
              <a:gd name="connsiteY2" fmla="*/ 2839 h 733938"/>
              <a:gd name="connsiteX3" fmla="*/ 450114 w 745389"/>
              <a:gd name="connsiteY3" fmla="*/ 6014 h 733938"/>
              <a:gd name="connsiteX4" fmla="*/ 491389 w 745389"/>
              <a:gd name="connsiteY4" fmla="*/ 9189 h 733938"/>
              <a:gd name="connsiteX5" fmla="*/ 583464 w 745389"/>
              <a:gd name="connsiteY5" fmla="*/ 12364 h 733938"/>
              <a:gd name="connsiteX6" fmla="*/ 723164 w 745389"/>
              <a:gd name="connsiteY6" fmla="*/ 9189 h 733938"/>
              <a:gd name="connsiteX7" fmla="*/ 739039 w 745389"/>
              <a:gd name="connsiteY7" fmla="*/ 12364 h 733938"/>
              <a:gd name="connsiteX8" fmla="*/ 732689 w 745389"/>
              <a:gd name="connsiteY8" fmla="*/ 63164 h 733938"/>
              <a:gd name="connsiteX9" fmla="*/ 735864 w 745389"/>
              <a:gd name="connsiteY9" fmla="*/ 139364 h 733938"/>
              <a:gd name="connsiteX10" fmla="*/ 742214 w 745389"/>
              <a:gd name="connsiteY10" fmla="*/ 158414 h 733938"/>
              <a:gd name="connsiteX11" fmla="*/ 745389 w 745389"/>
              <a:gd name="connsiteY11" fmla="*/ 167939 h 733938"/>
              <a:gd name="connsiteX12" fmla="*/ 742214 w 745389"/>
              <a:gd name="connsiteY12" fmla="*/ 266364 h 733938"/>
              <a:gd name="connsiteX13" fmla="*/ 739039 w 745389"/>
              <a:gd name="connsiteY13" fmla="*/ 434639 h 733938"/>
              <a:gd name="connsiteX14" fmla="*/ 732689 w 745389"/>
              <a:gd name="connsiteY14" fmla="*/ 482264 h 733938"/>
              <a:gd name="connsiteX15" fmla="*/ 726339 w 745389"/>
              <a:gd name="connsiteY15" fmla="*/ 545764 h 733938"/>
              <a:gd name="connsiteX16" fmla="*/ 723164 w 745389"/>
              <a:gd name="connsiteY16" fmla="*/ 679114 h 733938"/>
              <a:gd name="connsiteX17" fmla="*/ 719989 w 745389"/>
              <a:gd name="connsiteY17" fmla="*/ 707689 h 733938"/>
              <a:gd name="connsiteX18" fmla="*/ 716814 w 745389"/>
              <a:gd name="connsiteY18" fmla="*/ 729914 h 733938"/>
              <a:gd name="connsiteX19" fmla="*/ 659664 w 745389"/>
              <a:gd name="connsiteY19" fmla="*/ 733089 h 733938"/>
              <a:gd name="connsiteX20" fmla="*/ 469164 w 745389"/>
              <a:gd name="connsiteY20" fmla="*/ 726739 h 733938"/>
              <a:gd name="connsiteX21" fmla="*/ 405664 w 745389"/>
              <a:gd name="connsiteY21" fmla="*/ 720389 h 733938"/>
              <a:gd name="connsiteX22" fmla="*/ 237389 w 745389"/>
              <a:gd name="connsiteY22" fmla="*/ 717214 h 733938"/>
              <a:gd name="connsiteX23" fmla="*/ 126264 w 745389"/>
              <a:gd name="connsiteY23" fmla="*/ 720389 h 733938"/>
              <a:gd name="connsiteX24" fmla="*/ 91339 w 745389"/>
              <a:gd name="connsiteY24" fmla="*/ 726739 h 733938"/>
              <a:gd name="connsiteX25" fmla="*/ 24664 w 745389"/>
              <a:gd name="connsiteY25" fmla="*/ 723564 h 733938"/>
              <a:gd name="connsiteX26" fmla="*/ 18314 w 745389"/>
              <a:gd name="connsiteY26" fmla="*/ 714039 h 733938"/>
              <a:gd name="connsiteX27" fmla="*/ 15139 w 745389"/>
              <a:gd name="connsiteY27" fmla="*/ 688639 h 733938"/>
              <a:gd name="connsiteX28" fmla="*/ 8789 w 745389"/>
              <a:gd name="connsiteY28" fmla="*/ 663239 h 733938"/>
              <a:gd name="connsiteX29" fmla="*/ 5614 w 745389"/>
              <a:gd name="connsiteY29" fmla="*/ 644189 h 733938"/>
              <a:gd name="connsiteX30" fmla="*/ 5614 w 745389"/>
              <a:gd name="connsiteY30" fmla="*/ 177464 h 733938"/>
              <a:gd name="connsiteX31" fmla="*/ 11964 w 745389"/>
              <a:gd name="connsiteY31" fmla="*/ 101264 h 733938"/>
              <a:gd name="connsiteX32" fmla="*/ 21489 w 745389"/>
              <a:gd name="connsiteY32" fmla="*/ 6014 h 733938"/>
              <a:gd name="connsiteX0" fmla="*/ 19035 w 742935"/>
              <a:gd name="connsiteY0" fmla="*/ 6014 h 733938"/>
              <a:gd name="connsiteX1" fmla="*/ 60310 w 742935"/>
              <a:gd name="connsiteY1" fmla="*/ 9189 h 733938"/>
              <a:gd name="connsiteX2" fmla="*/ 130160 w 742935"/>
              <a:gd name="connsiteY2" fmla="*/ 2839 h 733938"/>
              <a:gd name="connsiteX3" fmla="*/ 447660 w 742935"/>
              <a:gd name="connsiteY3" fmla="*/ 6014 h 733938"/>
              <a:gd name="connsiteX4" fmla="*/ 488935 w 742935"/>
              <a:gd name="connsiteY4" fmla="*/ 9189 h 733938"/>
              <a:gd name="connsiteX5" fmla="*/ 581010 w 742935"/>
              <a:gd name="connsiteY5" fmla="*/ 12364 h 733938"/>
              <a:gd name="connsiteX6" fmla="*/ 720710 w 742935"/>
              <a:gd name="connsiteY6" fmla="*/ 9189 h 733938"/>
              <a:gd name="connsiteX7" fmla="*/ 736585 w 742935"/>
              <a:gd name="connsiteY7" fmla="*/ 12364 h 733938"/>
              <a:gd name="connsiteX8" fmla="*/ 730235 w 742935"/>
              <a:gd name="connsiteY8" fmla="*/ 63164 h 733938"/>
              <a:gd name="connsiteX9" fmla="*/ 733410 w 742935"/>
              <a:gd name="connsiteY9" fmla="*/ 139364 h 733938"/>
              <a:gd name="connsiteX10" fmla="*/ 739760 w 742935"/>
              <a:gd name="connsiteY10" fmla="*/ 158414 h 733938"/>
              <a:gd name="connsiteX11" fmla="*/ 742935 w 742935"/>
              <a:gd name="connsiteY11" fmla="*/ 167939 h 733938"/>
              <a:gd name="connsiteX12" fmla="*/ 739760 w 742935"/>
              <a:gd name="connsiteY12" fmla="*/ 266364 h 733938"/>
              <a:gd name="connsiteX13" fmla="*/ 736585 w 742935"/>
              <a:gd name="connsiteY13" fmla="*/ 434639 h 733938"/>
              <a:gd name="connsiteX14" fmla="*/ 730235 w 742935"/>
              <a:gd name="connsiteY14" fmla="*/ 482264 h 733938"/>
              <a:gd name="connsiteX15" fmla="*/ 723885 w 742935"/>
              <a:gd name="connsiteY15" fmla="*/ 545764 h 733938"/>
              <a:gd name="connsiteX16" fmla="*/ 720710 w 742935"/>
              <a:gd name="connsiteY16" fmla="*/ 679114 h 733938"/>
              <a:gd name="connsiteX17" fmla="*/ 717535 w 742935"/>
              <a:gd name="connsiteY17" fmla="*/ 707689 h 733938"/>
              <a:gd name="connsiteX18" fmla="*/ 714360 w 742935"/>
              <a:gd name="connsiteY18" fmla="*/ 729914 h 733938"/>
              <a:gd name="connsiteX19" fmla="*/ 657210 w 742935"/>
              <a:gd name="connsiteY19" fmla="*/ 733089 h 733938"/>
              <a:gd name="connsiteX20" fmla="*/ 466710 w 742935"/>
              <a:gd name="connsiteY20" fmla="*/ 726739 h 733938"/>
              <a:gd name="connsiteX21" fmla="*/ 403210 w 742935"/>
              <a:gd name="connsiteY21" fmla="*/ 720389 h 733938"/>
              <a:gd name="connsiteX22" fmla="*/ 234935 w 742935"/>
              <a:gd name="connsiteY22" fmla="*/ 717214 h 733938"/>
              <a:gd name="connsiteX23" fmla="*/ 123810 w 742935"/>
              <a:gd name="connsiteY23" fmla="*/ 720389 h 733938"/>
              <a:gd name="connsiteX24" fmla="*/ 88885 w 742935"/>
              <a:gd name="connsiteY24" fmla="*/ 726739 h 733938"/>
              <a:gd name="connsiteX25" fmla="*/ 22210 w 742935"/>
              <a:gd name="connsiteY25" fmla="*/ 723564 h 733938"/>
              <a:gd name="connsiteX26" fmla="*/ 15860 w 742935"/>
              <a:gd name="connsiteY26" fmla="*/ 714039 h 733938"/>
              <a:gd name="connsiteX27" fmla="*/ 12685 w 742935"/>
              <a:gd name="connsiteY27" fmla="*/ 688639 h 733938"/>
              <a:gd name="connsiteX28" fmla="*/ 6335 w 742935"/>
              <a:gd name="connsiteY28" fmla="*/ 663239 h 733938"/>
              <a:gd name="connsiteX29" fmla="*/ 3160 w 742935"/>
              <a:gd name="connsiteY29" fmla="*/ 644189 h 733938"/>
              <a:gd name="connsiteX30" fmla="*/ 12685 w 742935"/>
              <a:gd name="connsiteY30" fmla="*/ 196514 h 733938"/>
              <a:gd name="connsiteX31" fmla="*/ 9510 w 742935"/>
              <a:gd name="connsiteY31" fmla="*/ 101264 h 733938"/>
              <a:gd name="connsiteX32" fmla="*/ 19035 w 742935"/>
              <a:gd name="connsiteY32" fmla="*/ 6014 h 733938"/>
              <a:gd name="connsiteX0" fmla="*/ 19035 w 742935"/>
              <a:gd name="connsiteY0" fmla="*/ 6014 h 733938"/>
              <a:gd name="connsiteX1" fmla="*/ 60310 w 742935"/>
              <a:gd name="connsiteY1" fmla="*/ 9189 h 733938"/>
              <a:gd name="connsiteX2" fmla="*/ 130160 w 742935"/>
              <a:gd name="connsiteY2" fmla="*/ 2839 h 733938"/>
              <a:gd name="connsiteX3" fmla="*/ 447660 w 742935"/>
              <a:gd name="connsiteY3" fmla="*/ 6014 h 733938"/>
              <a:gd name="connsiteX4" fmla="*/ 488935 w 742935"/>
              <a:gd name="connsiteY4" fmla="*/ 9189 h 733938"/>
              <a:gd name="connsiteX5" fmla="*/ 581010 w 742935"/>
              <a:gd name="connsiteY5" fmla="*/ 12364 h 733938"/>
              <a:gd name="connsiteX6" fmla="*/ 720710 w 742935"/>
              <a:gd name="connsiteY6" fmla="*/ 9189 h 733938"/>
              <a:gd name="connsiteX7" fmla="*/ 736585 w 742935"/>
              <a:gd name="connsiteY7" fmla="*/ 12364 h 733938"/>
              <a:gd name="connsiteX8" fmla="*/ 730235 w 742935"/>
              <a:gd name="connsiteY8" fmla="*/ 63164 h 733938"/>
              <a:gd name="connsiteX9" fmla="*/ 733410 w 742935"/>
              <a:gd name="connsiteY9" fmla="*/ 139364 h 733938"/>
              <a:gd name="connsiteX10" fmla="*/ 739760 w 742935"/>
              <a:gd name="connsiteY10" fmla="*/ 158414 h 733938"/>
              <a:gd name="connsiteX11" fmla="*/ 742935 w 742935"/>
              <a:gd name="connsiteY11" fmla="*/ 167939 h 733938"/>
              <a:gd name="connsiteX12" fmla="*/ 739760 w 742935"/>
              <a:gd name="connsiteY12" fmla="*/ 266364 h 733938"/>
              <a:gd name="connsiteX13" fmla="*/ 736585 w 742935"/>
              <a:gd name="connsiteY13" fmla="*/ 434639 h 733938"/>
              <a:gd name="connsiteX14" fmla="*/ 730235 w 742935"/>
              <a:gd name="connsiteY14" fmla="*/ 482264 h 733938"/>
              <a:gd name="connsiteX15" fmla="*/ 723885 w 742935"/>
              <a:gd name="connsiteY15" fmla="*/ 545764 h 733938"/>
              <a:gd name="connsiteX16" fmla="*/ 720710 w 742935"/>
              <a:gd name="connsiteY16" fmla="*/ 679114 h 733938"/>
              <a:gd name="connsiteX17" fmla="*/ 717535 w 742935"/>
              <a:gd name="connsiteY17" fmla="*/ 707689 h 733938"/>
              <a:gd name="connsiteX18" fmla="*/ 714360 w 742935"/>
              <a:gd name="connsiteY18" fmla="*/ 729914 h 733938"/>
              <a:gd name="connsiteX19" fmla="*/ 657210 w 742935"/>
              <a:gd name="connsiteY19" fmla="*/ 733089 h 733938"/>
              <a:gd name="connsiteX20" fmla="*/ 466710 w 742935"/>
              <a:gd name="connsiteY20" fmla="*/ 726739 h 733938"/>
              <a:gd name="connsiteX21" fmla="*/ 403210 w 742935"/>
              <a:gd name="connsiteY21" fmla="*/ 720389 h 733938"/>
              <a:gd name="connsiteX22" fmla="*/ 234935 w 742935"/>
              <a:gd name="connsiteY22" fmla="*/ 717214 h 733938"/>
              <a:gd name="connsiteX23" fmla="*/ 123810 w 742935"/>
              <a:gd name="connsiteY23" fmla="*/ 720389 h 733938"/>
              <a:gd name="connsiteX24" fmla="*/ 88885 w 742935"/>
              <a:gd name="connsiteY24" fmla="*/ 726739 h 733938"/>
              <a:gd name="connsiteX25" fmla="*/ 22210 w 742935"/>
              <a:gd name="connsiteY25" fmla="*/ 723564 h 733938"/>
              <a:gd name="connsiteX26" fmla="*/ 15860 w 742935"/>
              <a:gd name="connsiteY26" fmla="*/ 714039 h 733938"/>
              <a:gd name="connsiteX27" fmla="*/ 12685 w 742935"/>
              <a:gd name="connsiteY27" fmla="*/ 688639 h 733938"/>
              <a:gd name="connsiteX28" fmla="*/ 6335 w 742935"/>
              <a:gd name="connsiteY28" fmla="*/ 663239 h 733938"/>
              <a:gd name="connsiteX29" fmla="*/ 3160 w 742935"/>
              <a:gd name="connsiteY29" fmla="*/ 644189 h 733938"/>
              <a:gd name="connsiteX30" fmla="*/ 12685 w 742935"/>
              <a:gd name="connsiteY30" fmla="*/ 196514 h 733938"/>
              <a:gd name="connsiteX31" fmla="*/ 15860 w 742935"/>
              <a:gd name="connsiteY31" fmla="*/ 101264 h 733938"/>
              <a:gd name="connsiteX32" fmla="*/ 19035 w 742935"/>
              <a:gd name="connsiteY32" fmla="*/ 6014 h 733938"/>
              <a:gd name="connsiteX0" fmla="*/ 12700 w 736600"/>
              <a:gd name="connsiteY0" fmla="*/ 6014 h 733938"/>
              <a:gd name="connsiteX1" fmla="*/ 53975 w 736600"/>
              <a:gd name="connsiteY1" fmla="*/ 9189 h 733938"/>
              <a:gd name="connsiteX2" fmla="*/ 123825 w 736600"/>
              <a:gd name="connsiteY2" fmla="*/ 2839 h 733938"/>
              <a:gd name="connsiteX3" fmla="*/ 441325 w 736600"/>
              <a:gd name="connsiteY3" fmla="*/ 6014 h 733938"/>
              <a:gd name="connsiteX4" fmla="*/ 482600 w 736600"/>
              <a:gd name="connsiteY4" fmla="*/ 9189 h 733938"/>
              <a:gd name="connsiteX5" fmla="*/ 574675 w 736600"/>
              <a:gd name="connsiteY5" fmla="*/ 12364 h 733938"/>
              <a:gd name="connsiteX6" fmla="*/ 714375 w 736600"/>
              <a:gd name="connsiteY6" fmla="*/ 9189 h 733938"/>
              <a:gd name="connsiteX7" fmla="*/ 730250 w 736600"/>
              <a:gd name="connsiteY7" fmla="*/ 12364 h 733938"/>
              <a:gd name="connsiteX8" fmla="*/ 723900 w 736600"/>
              <a:gd name="connsiteY8" fmla="*/ 63164 h 733938"/>
              <a:gd name="connsiteX9" fmla="*/ 727075 w 736600"/>
              <a:gd name="connsiteY9" fmla="*/ 139364 h 733938"/>
              <a:gd name="connsiteX10" fmla="*/ 733425 w 736600"/>
              <a:gd name="connsiteY10" fmla="*/ 158414 h 733938"/>
              <a:gd name="connsiteX11" fmla="*/ 736600 w 736600"/>
              <a:gd name="connsiteY11" fmla="*/ 167939 h 733938"/>
              <a:gd name="connsiteX12" fmla="*/ 733425 w 736600"/>
              <a:gd name="connsiteY12" fmla="*/ 266364 h 733938"/>
              <a:gd name="connsiteX13" fmla="*/ 730250 w 736600"/>
              <a:gd name="connsiteY13" fmla="*/ 434639 h 733938"/>
              <a:gd name="connsiteX14" fmla="*/ 723900 w 736600"/>
              <a:gd name="connsiteY14" fmla="*/ 482264 h 733938"/>
              <a:gd name="connsiteX15" fmla="*/ 717550 w 736600"/>
              <a:gd name="connsiteY15" fmla="*/ 545764 h 733938"/>
              <a:gd name="connsiteX16" fmla="*/ 714375 w 736600"/>
              <a:gd name="connsiteY16" fmla="*/ 679114 h 733938"/>
              <a:gd name="connsiteX17" fmla="*/ 711200 w 736600"/>
              <a:gd name="connsiteY17" fmla="*/ 707689 h 733938"/>
              <a:gd name="connsiteX18" fmla="*/ 708025 w 736600"/>
              <a:gd name="connsiteY18" fmla="*/ 729914 h 733938"/>
              <a:gd name="connsiteX19" fmla="*/ 650875 w 736600"/>
              <a:gd name="connsiteY19" fmla="*/ 733089 h 733938"/>
              <a:gd name="connsiteX20" fmla="*/ 460375 w 736600"/>
              <a:gd name="connsiteY20" fmla="*/ 726739 h 733938"/>
              <a:gd name="connsiteX21" fmla="*/ 396875 w 736600"/>
              <a:gd name="connsiteY21" fmla="*/ 720389 h 733938"/>
              <a:gd name="connsiteX22" fmla="*/ 228600 w 736600"/>
              <a:gd name="connsiteY22" fmla="*/ 717214 h 733938"/>
              <a:gd name="connsiteX23" fmla="*/ 117475 w 736600"/>
              <a:gd name="connsiteY23" fmla="*/ 720389 h 733938"/>
              <a:gd name="connsiteX24" fmla="*/ 82550 w 736600"/>
              <a:gd name="connsiteY24" fmla="*/ 726739 h 733938"/>
              <a:gd name="connsiteX25" fmla="*/ 15875 w 736600"/>
              <a:gd name="connsiteY25" fmla="*/ 723564 h 733938"/>
              <a:gd name="connsiteX26" fmla="*/ 9525 w 736600"/>
              <a:gd name="connsiteY26" fmla="*/ 714039 h 733938"/>
              <a:gd name="connsiteX27" fmla="*/ 6350 w 736600"/>
              <a:gd name="connsiteY27" fmla="*/ 688639 h 733938"/>
              <a:gd name="connsiteX28" fmla="*/ 0 w 736600"/>
              <a:gd name="connsiteY28" fmla="*/ 663239 h 733938"/>
              <a:gd name="connsiteX29" fmla="*/ 6350 w 736600"/>
              <a:gd name="connsiteY29" fmla="*/ 196514 h 733938"/>
              <a:gd name="connsiteX30" fmla="*/ 9525 w 736600"/>
              <a:gd name="connsiteY30" fmla="*/ 101264 h 733938"/>
              <a:gd name="connsiteX31" fmla="*/ 12700 w 736600"/>
              <a:gd name="connsiteY31" fmla="*/ 6014 h 733938"/>
              <a:gd name="connsiteX0" fmla="*/ 6747 w 730647"/>
              <a:gd name="connsiteY0" fmla="*/ 6014 h 733938"/>
              <a:gd name="connsiteX1" fmla="*/ 48022 w 730647"/>
              <a:gd name="connsiteY1" fmla="*/ 9189 h 733938"/>
              <a:gd name="connsiteX2" fmla="*/ 117872 w 730647"/>
              <a:gd name="connsiteY2" fmla="*/ 2839 h 733938"/>
              <a:gd name="connsiteX3" fmla="*/ 435372 w 730647"/>
              <a:gd name="connsiteY3" fmla="*/ 6014 h 733938"/>
              <a:gd name="connsiteX4" fmla="*/ 476647 w 730647"/>
              <a:gd name="connsiteY4" fmla="*/ 9189 h 733938"/>
              <a:gd name="connsiteX5" fmla="*/ 568722 w 730647"/>
              <a:gd name="connsiteY5" fmla="*/ 12364 h 733938"/>
              <a:gd name="connsiteX6" fmla="*/ 708422 w 730647"/>
              <a:gd name="connsiteY6" fmla="*/ 9189 h 733938"/>
              <a:gd name="connsiteX7" fmla="*/ 724297 w 730647"/>
              <a:gd name="connsiteY7" fmla="*/ 12364 h 733938"/>
              <a:gd name="connsiteX8" fmla="*/ 717947 w 730647"/>
              <a:gd name="connsiteY8" fmla="*/ 63164 h 733938"/>
              <a:gd name="connsiteX9" fmla="*/ 721122 w 730647"/>
              <a:gd name="connsiteY9" fmla="*/ 139364 h 733938"/>
              <a:gd name="connsiteX10" fmla="*/ 727472 w 730647"/>
              <a:gd name="connsiteY10" fmla="*/ 158414 h 733938"/>
              <a:gd name="connsiteX11" fmla="*/ 730647 w 730647"/>
              <a:gd name="connsiteY11" fmla="*/ 167939 h 733938"/>
              <a:gd name="connsiteX12" fmla="*/ 727472 w 730647"/>
              <a:gd name="connsiteY12" fmla="*/ 266364 h 733938"/>
              <a:gd name="connsiteX13" fmla="*/ 724297 w 730647"/>
              <a:gd name="connsiteY13" fmla="*/ 434639 h 733938"/>
              <a:gd name="connsiteX14" fmla="*/ 717947 w 730647"/>
              <a:gd name="connsiteY14" fmla="*/ 482264 h 733938"/>
              <a:gd name="connsiteX15" fmla="*/ 711597 w 730647"/>
              <a:gd name="connsiteY15" fmla="*/ 545764 h 733938"/>
              <a:gd name="connsiteX16" fmla="*/ 708422 w 730647"/>
              <a:gd name="connsiteY16" fmla="*/ 679114 h 733938"/>
              <a:gd name="connsiteX17" fmla="*/ 705247 w 730647"/>
              <a:gd name="connsiteY17" fmla="*/ 707689 h 733938"/>
              <a:gd name="connsiteX18" fmla="*/ 702072 w 730647"/>
              <a:gd name="connsiteY18" fmla="*/ 729914 h 733938"/>
              <a:gd name="connsiteX19" fmla="*/ 644922 w 730647"/>
              <a:gd name="connsiteY19" fmla="*/ 733089 h 733938"/>
              <a:gd name="connsiteX20" fmla="*/ 454422 w 730647"/>
              <a:gd name="connsiteY20" fmla="*/ 726739 h 733938"/>
              <a:gd name="connsiteX21" fmla="*/ 390922 w 730647"/>
              <a:gd name="connsiteY21" fmla="*/ 720389 h 733938"/>
              <a:gd name="connsiteX22" fmla="*/ 222647 w 730647"/>
              <a:gd name="connsiteY22" fmla="*/ 717214 h 733938"/>
              <a:gd name="connsiteX23" fmla="*/ 111522 w 730647"/>
              <a:gd name="connsiteY23" fmla="*/ 720389 h 733938"/>
              <a:gd name="connsiteX24" fmla="*/ 76597 w 730647"/>
              <a:gd name="connsiteY24" fmla="*/ 726739 h 733938"/>
              <a:gd name="connsiteX25" fmla="*/ 9922 w 730647"/>
              <a:gd name="connsiteY25" fmla="*/ 723564 h 733938"/>
              <a:gd name="connsiteX26" fmla="*/ 3572 w 730647"/>
              <a:gd name="connsiteY26" fmla="*/ 714039 h 733938"/>
              <a:gd name="connsiteX27" fmla="*/ 397 w 730647"/>
              <a:gd name="connsiteY27" fmla="*/ 688639 h 733938"/>
              <a:gd name="connsiteX28" fmla="*/ 397 w 730647"/>
              <a:gd name="connsiteY28" fmla="*/ 196514 h 733938"/>
              <a:gd name="connsiteX29" fmla="*/ 3572 w 730647"/>
              <a:gd name="connsiteY29" fmla="*/ 101264 h 733938"/>
              <a:gd name="connsiteX30" fmla="*/ 6747 w 730647"/>
              <a:gd name="connsiteY30" fmla="*/ 6014 h 733938"/>
              <a:gd name="connsiteX0" fmla="*/ 6747 w 730647"/>
              <a:gd name="connsiteY0" fmla="*/ 6014 h 733938"/>
              <a:gd name="connsiteX1" fmla="*/ 48022 w 730647"/>
              <a:gd name="connsiteY1" fmla="*/ 9189 h 733938"/>
              <a:gd name="connsiteX2" fmla="*/ 117872 w 730647"/>
              <a:gd name="connsiteY2" fmla="*/ 2839 h 733938"/>
              <a:gd name="connsiteX3" fmla="*/ 435372 w 730647"/>
              <a:gd name="connsiteY3" fmla="*/ 6014 h 733938"/>
              <a:gd name="connsiteX4" fmla="*/ 476647 w 730647"/>
              <a:gd name="connsiteY4" fmla="*/ 9189 h 733938"/>
              <a:gd name="connsiteX5" fmla="*/ 568722 w 730647"/>
              <a:gd name="connsiteY5" fmla="*/ 12364 h 733938"/>
              <a:gd name="connsiteX6" fmla="*/ 708422 w 730647"/>
              <a:gd name="connsiteY6" fmla="*/ 9189 h 733938"/>
              <a:gd name="connsiteX7" fmla="*/ 724297 w 730647"/>
              <a:gd name="connsiteY7" fmla="*/ 12364 h 733938"/>
              <a:gd name="connsiteX8" fmla="*/ 717947 w 730647"/>
              <a:gd name="connsiteY8" fmla="*/ 63164 h 733938"/>
              <a:gd name="connsiteX9" fmla="*/ 721122 w 730647"/>
              <a:gd name="connsiteY9" fmla="*/ 139364 h 733938"/>
              <a:gd name="connsiteX10" fmla="*/ 727472 w 730647"/>
              <a:gd name="connsiteY10" fmla="*/ 158414 h 733938"/>
              <a:gd name="connsiteX11" fmla="*/ 730647 w 730647"/>
              <a:gd name="connsiteY11" fmla="*/ 167939 h 733938"/>
              <a:gd name="connsiteX12" fmla="*/ 727472 w 730647"/>
              <a:gd name="connsiteY12" fmla="*/ 266364 h 733938"/>
              <a:gd name="connsiteX13" fmla="*/ 724297 w 730647"/>
              <a:gd name="connsiteY13" fmla="*/ 434639 h 733938"/>
              <a:gd name="connsiteX14" fmla="*/ 717947 w 730647"/>
              <a:gd name="connsiteY14" fmla="*/ 482264 h 733938"/>
              <a:gd name="connsiteX15" fmla="*/ 711597 w 730647"/>
              <a:gd name="connsiteY15" fmla="*/ 545764 h 733938"/>
              <a:gd name="connsiteX16" fmla="*/ 708422 w 730647"/>
              <a:gd name="connsiteY16" fmla="*/ 679114 h 733938"/>
              <a:gd name="connsiteX17" fmla="*/ 705247 w 730647"/>
              <a:gd name="connsiteY17" fmla="*/ 707689 h 733938"/>
              <a:gd name="connsiteX18" fmla="*/ 702072 w 730647"/>
              <a:gd name="connsiteY18" fmla="*/ 729914 h 733938"/>
              <a:gd name="connsiteX19" fmla="*/ 644922 w 730647"/>
              <a:gd name="connsiteY19" fmla="*/ 733089 h 733938"/>
              <a:gd name="connsiteX20" fmla="*/ 454422 w 730647"/>
              <a:gd name="connsiteY20" fmla="*/ 726739 h 733938"/>
              <a:gd name="connsiteX21" fmla="*/ 390922 w 730647"/>
              <a:gd name="connsiteY21" fmla="*/ 720389 h 733938"/>
              <a:gd name="connsiteX22" fmla="*/ 222647 w 730647"/>
              <a:gd name="connsiteY22" fmla="*/ 733089 h 733938"/>
              <a:gd name="connsiteX23" fmla="*/ 111522 w 730647"/>
              <a:gd name="connsiteY23" fmla="*/ 720389 h 733938"/>
              <a:gd name="connsiteX24" fmla="*/ 76597 w 730647"/>
              <a:gd name="connsiteY24" fmla="*/ 726739 h 733938"/>
              <a:gd name="connsiteX25" fmla="*/ 9922 w 730647"/>
              <a:gd name="connsiteY25" fmla="*/ 723564 h 733938"/>
              <a:gd name="connsiteX26" fmla="*/ 3572 w 730647"/>
              <a:gd name="connsiteY26" fmla="*/ 714039 h 733938"/>
              <a:gd name="connsiteX27" fmla="*/ 397 w 730647"/>
              <a:gd name="connsiteY27" fmla="*/ 688639 h 733938"/>
              <a:gd name="connsiteX28" fmla="*/ 397 w 730647"/>
              <a:gd name="connsiteY28" fmla="*/ 196514 h 733938"/>
              <a:gd name="connsiteX29" fmla="*/ 3572 w 730647"/>
              <a:gd name="connsiteY29" fmla="*/ 101264 h 733938"/>
              <a:gd name="connsiteX30" fmla="*/ 6747 w 730647"/>
              <a:gd name="connsiteY30" fmla="*/ 6014 h 733938"/>
              <a:gd name="connsiteX0" fmla="*/ 6747 w 730647"/>
              <a:gd name="connsiteY0" fmla="*/ 6014 h 739557"/>
              <a:gd name="connsiteX1" fmla="*/ 48022 w 730647"/>
              <a:gd name="connsiteY1" fmla="*/ 9189 h 739557"/>
              <a:gd name="connsiteX2" fmla="*/ 117872 w 730647"/>
              <a:gd name="connsiteY2" fmla="*/ 2839 h 739557"/>
              <a:gd name="connsiteX3" fmla="*/ 435372 w 730647"/>
              <a:gd name="connsiteY3" fmla="*/ 6014 h 739557"/>
              <a:gd name="connsiteX4" fmla="*/ 476647 w 730647"/>
              <a:gd name="connsiteY4" fmla="*/ 9189 h 739557"/>
              <a:gd name="connsiteX5" fmla="*/ 568722 w 730647"/>
              <a:gd name="connsiteY5" fmla="*/ 12364 h 739557"/>
              <a:gd name="connsiteX6" fmla="*/ 708422 w 730647"/>
              <a:gd name="connsiteY6" fmla="*/ 9189 h 739557"/>
              <a:gd name="connsiteX7" fmla="*/ 724297 w 730647"/>
              <a:gd name="connsiteY7" fmla="*/ 12364 h 739557"/>
              <a:gd name="connsiteX8" fmla="*/ 717947 w 730647"/>
              <a:gd name="connsiteY8" fmla="*/ 63164 h 739557"/>
              <a:gd name="connsiteX9" fmla="*/ 721122 w 730647"/>
              <a:gd name="connsiteY9" fmla="*/ 139364 h 739557"/>
              <a:gd name="connsiteX10" fmla="*/ 727472 w 730647"/>
              <a:gd name="connsiteY10" fmla="*/ 158414 h 739557"/>
              <a:gd name="connsiteX11" fmla="*/ 730647 w 730647"/>
              <a:gd name="connsiteY11" fmla="*/ 167939 h 739557"/>
              <a:gd name="connsiteX12" fmla="*/ 727472 w 730647"/>
              <a:gd name="connsiteY12" fmla="*/ 266364 h 739557"/>
              <a:gd name="connsiteX13" fmla="*/ 724297 w 730647"/>
              <a:gd name="connsiteY13" fmla="*/ 434639 h 739557"/>
              <a:gd name="connsiteX14" fmla="*/ 717947 w 730647"/>
              <a:gd name="connsiteY14" fmla="*/ 482264 h 739557"/>
              <a:gd name="connsiteX15" fmla="*/ 711597 w 730647"/>
              <a:gd name="connsiteY15" fmla="*/ 545764 h 739557"/>
              <a:gd name="connsiteX16" fmla="*/ 708422 w 730647"/>
              <a:gd name="connsiteY16" fmla="*/ 679114 h 739557"/>
              <a:gd name="connsiteX17" fmla="*/ 705247 w 730647"/>
              <a:gd name="connsiteY17" fmla="*/ 707689 h 739557"/>
              <a:gd name="connsiteX18" fmla="*/ 702072 w 730647"/>
              <a:gd name="connsiteY18" fmla="*/ 729914 h 739557"/>
              <a:gd name="connsiteX19" fmla="*/ 644922 w 730647"/>
              <a:gd name="connsiteY19" fmla="*/ 733089 h 739557"/>
              <a:gd name="connsiteX20" fmla="*/ 454422 w 730647"/>
              <a:gd name="connsiteY20" fmla="*/ 726739 h 739557"/>
              <a:gd name="connsiteX21" fmla="*/ 390922 w 730647"/>
              <a:gd name="connsiteY21" fmla="*/ 739439 h 739557"/>
              <a:gd name="connsiteX22" fmla="*/ 222647 w 730647"/>
              <a:gd name="connsiteY22" fmla="*/ 733089 h 739557"/>
              <a:gd name="connsiteX23" fmla="*/ 111522 w 730647"/>
              <a:gd name="connsiteY23" fmla="*/ 720389 h 739557"/>
              <a:gd name="connsiteX24" fmla="*/ 76597 w 730647"/>
              <a:gd name="connsiteY24" fmla="*/ 726739 h 739557"/>
              <a:gd name="connsiteX25" fmla="*/ 9922 w 730647"/>
              <a:gd name="connsiteY25" fmla="*/ 723564 h 739557"/>
              <a:gd name="connsiteX26" fmla="*/ 3572 w 730647"/>
              <a:gd name="connsiteY26" fmla="*/ 714039 h 739557"/>
              <a:gd name="connsiteX27" fmla="*/ 397 w 730647"/>
              <a:gd name="connsiteY27" fmla="*/ 688639 h 739557"/>
              <a:gd name="connsiteX28" fmla="*/ 397 w 730647"/>
              <a:gd name="connsiteY28" fmla="*/ 196514 h 739557"/>
              <a:gd name="connsiteX29" fmla="*/ 3572 w 730647"/>
              <a:gd name="connsiteY29" fmla="*/ 101264 h 739557"/>
              <a:gd name="connsiteX30" fmla="*/ 6747 w 730647"/>
              <a:gd name="connsiteY30" fmla="*/ 6014 h 739557"/>
              <a:gd name="connsiteX0" fmla="*/ 6747 w 730647"/>
              <a:gd name="connsiteY0" fmla="*/ 6014 h 740232"/>
              <a:gd name="connsiteX1" fmla="*/ 48022 w 730647"/>
              <a:gd name="connsiteY1" fmla="*/ 9189 h 740232"/>
              <a:gd name="connsiteX2" fmla="*/ 117872 w 730647"/>
              <a:gd name="connsiteY2" fmla="*/ 2839 h 740232"/>
              <a:gd name="connsiteX3" fmla="*/ 435372 w 730647"/>
              <a:gd name="connsiteY3" fmla="*/ 6014 h 740232"/>
              <a:gd name="connsiteX4" fmla="*/ 476647 w 730647"/>
              <a:gd name="connsiteY4" fmla="*/ 9189 h 740232"/>
              <a:gd name="connsiteX5" fmla="*/ 568722 w 730647"/>
              <a:gd name="connsiteY5" fmla="*/ 12364 h 740232"/>
              <a:gd name="connsiteX6" fmla="*/ 708422 w 730647"/>
              <a:gd name="connsiteY6" fmla="*/ 9189 h 740232"/>
              <a:gd name="connsiteX7" fmla="*/ 724297 w 730647"/>
              <a:gd name="connsiteY7" fmla="*/ 12364 h 740232"/>
              <a:gd name="connsiteX8" fmla="*/ 717947 w 730647"/>
              <a:gd name="connsiteY8" fmla="*/ 63164 h 740232"/>
              <a:gd name="connsiteX9" fmla="*/ 721122 w 730647"/>
              <a:gd name="connsiteY9" fmla="*/ 139364 h 740232"/>
              <a:gd name="connsiteX10" fmla="*/ 727472 w 730647"/>
              <a:gd name="connsiteY10" fmla="*/ 158414 h 740232"/>
              <a:gd name="connsiteX11" fmla="*/ 730647 w 730647"/>
              <a:gd name="connsiteY11" fmla="*/ 167939 h 740232"/>
              <a:gd name="connsiteX12" fmla="*/ 727472 w 730647"/>
              <a:gd name="connsiteY12" fmla="*/ 266364 h 740232"/>
              <a:gd name="connsiteX13" fmla="*/ 724297 w 730647"/>
              <a:gd name="connsiteY13" fmla="*/ 434639 h 740232"/>
              <a:gd name="connsiteX14" fmla="*/ 717947 w 730647"/>
              <a:gd name="connsiteY14" fmla="*/ 482264 h 740232"/>
              <a:gd name="connsiteX15" fmla="*/ 711597 w 730647"/>
              <a:gd name="connsiteY15" fmla="*/ 545764 h 740232"/>
              <a:gd name="connsiteX16" fmla="*/ 708422 w 730647"/>
              <a:gd name="connsiteY16" fmla="*/ 679114 h 740232"/>
              <a:gd name="connsiteX17" fmla="*/ 705247 w 730647"/>
              <a:gd name="connsiteY17" fmla="*/ 707689 h 740232"/>
              <a:gd name="connsiteX18" fmla="*/ 702072 w 730647"/>
              <a:gd name="connsiteY18" fmla="*/ 729914 h 740232"/>
              <a:gd name="connsiteX19" fmla="*/ 644922 w 730647"/>
              <a:gd name="connsiteY19" fmla="*/ 733089 h 740232"/>
              <a:gd name="connsiteX20" fmla="*/ 521097 w 730647"/>
              <a:gd name="connsiteY20" fmla="*/ 739439 h 740232"/>
              <a:gd name="connsiteX21" fmla="*/ 390922 w 730647"/>
              <a:gd name="connsiteY21" fmla="*/ 739439 h 740232"/>
              <a:gd name="connsiteX22" fmla="*/ 222647 w 730647"/>
              <a:gd name="connsiteY22" fmla="*/ 733089 h 740232"/>
              <a:gd name="connsiteX23" fmla="*/ 111522 w 730647"/>
              <a:gd name="connsiteY23" fmla="*/ 720389 h 740232"/>
              <a:gd name="connsiteX24" fmla="*/ 76597 w 730647"/>
              <a:gd name="connsiteY24" fmla="*/ 726739 h 740232"/>
              <a:gd name="connsiteX25" fmla="*/ 9922 w 730647"/>
              <a:gd name="connsiteY25" fmla="*/ 723564 h 740232"/>
              <a:gd name="connsiteX26" fmla="*/ 3572 w 730647"/>
              <a:gd name="connsiteY26" fmla="*/ 714039 h 740232"/>
              <a:gd name="connsiteX27" fmla="*/ 397 w 730647"/>
              <a:gd name="connsiteY27" fmla="*/ 688639 h 740232"/>
              <a:gd name="connsiteX28" fmla="*/ 397 w 730647"/>
              <a:gd name="connsiteY28" fmla="*/ 196514 h 740232"/>
              <a:gd name="connsiteX29" fmla="*/ 3572 w 730647"/>
              <a:gd name="connsiteY29" fmla="*/ 101264 h 740232"/>
              <a:gd name="connsiteX30" fmla="*/ 6747 w 730647"/>
              <a:gd name="connsiteY30" fmla="*/ 6014 h 740232"/>
              <a:gd name="connsiteX0" fmla="*/ 6747 w 727541"/>
              <a:gd name="connsiteY0" fmla="*/ 6014 h 740232"/>
              <a:gd name="connsiteX1" fmla="*/ 48022 w 727541"/>
              <a:gd name="connsiteY1" fmla="*/ 9189 h 740232"/>
              <a:gd name="connsiteX2" fmla="*/ 117872 w 727541"/>
              <a:gd name="connsiteY2" fmla="*/ 2839 h 740232"/>
              <a:gd name="connsiteX3" fmla="*/ 435372 w 727541"/>
              <a:gd name="connsiteY3" fmla="*/ 6014 h 740232"/>
              <a:gd name="connsiteX4" fmla="*/ 476647 w 727541"/>
              <a:gd name="connsiteY4" fmla="*/ 9189 h 740232"/>
              <a:gd name="connsiteX5" fmla="*/ 568722 w 727541"/>
              <a:gd name="connsiteY5" fmla="*/ 12364 h 740232"/>
              <a:gd name="connsiteX6" fmla="*/ 708422 w 727541"/>
              <a:gd name="connsiteY6" fmla="*/ 9189 h 740232"/>
              <a:gd name="connsiteX7" fmla="*/ 724297 w 727541"/>
              <a:gd name="connsiteY7" fmla="*/ 12364 h 740232"/>
              <a:gd name="connsiteX8" fmla="*/ 717947 w 727541"/>
              <a:gd name="connsiteY8" fmla="*/ 63164 h 740232"/>
              <a:gd name="connsiteX9" fmla="*/ 721122 w 727541"/>
              <a:gd name="connsiteY9" fmla="*/ 139364 h 740232"/>
              <a:gd name="connsiteX10" fmla="*/ 727472 w 727541"/>
              <a:gd name="connsiteY10" fmla="*/ 158414 h 740232"/>
              <a:gd name="connsiteX11" fmla="*/ 724297 w 727541"/>
              <a:gd name="connsiteY11" fmla="*/ 202864 h 740232"/>
              <a:gd name="connsiteX12" fmla="*/ 727472 w 727541"/>
              <a:gd name="connsiteY12" fmla="*/ 266364 h 740232"/>
              <a:gd name="connsiteX13" fmla="*/ 724297 w 727541"/>
              <a:gd name="connsiteY13" fmla="*/ 434639 h 740232"/>
              <a:gd name="connsiteX14" fmla="*/ 717947 w 727541"/>
              <a:gd name="connsiteY14" fmla="*/ 482264 h 740232"/>
              <a:gd name="connsiteX15" fmla="*/ 711597 w 727541"/>
              <a:gd name="connsiteY15" fmla="*/ 545764 h 740232"/>
              <a:gd name="connsiteX16" fmla="*/ 708422 w 727541"/>
              <a:gd name="connsiteY16" fmla="*/ 679114 h 740232"/>
              <a:gd name="connsiteX17" fmla="*/ 705247 w 727541"/>
              <a:gd name="connsiteY17" fmla="*/ 707689 h 740232"/>
              <a:gd name="connsiteX18" fmla="*/ 702072 w 727541"/>
              <a:gd name="connsiteY18" fmla="*/ 729914 h 740232"/>
              <a:gd name="connsiteX19" fmla="*/ 644922 w 727541"/>
              <a:gd name="connsiteY19" fmla="*/ 733089 h 740232"/>
              <a:gd name="connsiteX20" fmla="*/ 521097 w 727541"/>
              <a:gd name="connsiteY20" fmla="*/ 739439 h 740232"/>
              <a:gd name="connsiteX21" fmla="*/ 390922 w 727541"/>
              <a:gd name="connsiteY21" fmla="*/ 739439 h 740232"/>
              <a:gd name="connsiteX22" fmla="*/ 222647 w 727541"/>
              <a:gd name="connsiteY22" fmla="*/ 733089 h 740232"/>
              <a:gd name="connsiteX23" fmla="*/ 111522 w 727541"/>
              <a:gd name="connsiteY23" fmla="*/ 720389 h 740232"/>
              <a:gd name="connsiteX24" fmla="*/ 76597 w 727541"/>
              <a:gd name="connsiteY24" fmla="*/ 726739 h 740232"/>
              <a:gd name="connsiteX25" fmla="*/ 9922 w 727541"/>
              <a:gd name="connsiteY25" fmla="*/ 723564 h 740232"/>
              <a:gd name="connsiteX26" fmla="*/ 3572 w 727541"/>
              <a:gd name="connsiteY26" fmla="*/ 714039 h 740232"/>
              <a:gd name="connsiteX27" fmla="*/ 397 w 727541"/>
              <a:gd name="connsiteY27" fmla="*/ 688639 h 740232"/>
              <a:gd name="connsiteX28" fmla="*/ 397 w 727541"/>
              <a:gd name="connsiteY28" fmla="*/ 196514 h 740232"/>
              <a:gd name="connsiteX29" fmla="*/ 3572 w 727541"/>
              <a:gd name="connsiteY29" fmla="*/ 101264 h 740232"/>
              <a:gd name="connsiteX30" fmla="*/ 6747 w 727541"/>
              <a:gd name="connsiteY30" fmla="*/ 6014 h 740232"/>
              <a:gd name="connsiteX0" fmla="*/ 6747 w 727472"/>
              <a:gd name="connsiteY0" fmla="*/ 6014 h 740232"/>
              <a:gd name="connsiteX1" fmla="*/ 48022 w 727472"/>
              <a:gd name="connsiteY1" fmla="*/ 9189 h 740232"/>
              <a:gd name="connsiteX2" fmla="*/ 117872 w 727472"/>
              <a:gd name="connsiteY2" fmla="*/ 2839 h 740232"/>
              <a:gd name="connsiteX3" fmla="*/ 435372 w 727472"/>
              <a:gd name="connsiteY3" fmla="*/ 6014 h 740232"/>
              <a:gd name="connsiteX4" fmla="*/ 476647 w 727472"/>
              <a:gd name="connsiteY4" fmla="*/ 9189 h 740232"/>
              <a:gd name="connsiteX5" fmla="*/ 568722 w 727472"/>
              <a:gd name="connsiteY5" fmla="*/ 12364 h 740232"/>
              <a:gd name="connsiteX6" fmla="*/ 708422 w 727472"/>
              <a:gd name="connsiteY6" fmla="*/ 9189 h 740232"/>
              <a:gd name="connsiteX7" fmla="*/ 724297 w 727472"/>
              <a:gd name="connsiteY7" fmla="*/ 12364 h 740232"/>
              <a:gd name="connsiteX8" fmla="*/ 717947 w 727472"/>
              <a:gd name="connsiteY8" fmla="*/ 63164 h 740232"/>
              <a:gd name="connsiteX9" fmla="*/ 721122 w 727472"/>
              <a:gd name="connsiteY9" fmla="*/ 139364 h 740232"/>
              <a:gd name="connsiteX10" fmla="*/ 724297 w 727472"/>
              <a:gd name="connsiteY10" fmla="*/ 202864 h 740232"/>
              <a:gd name="connsiteX11" fmla="*/ 727472 w 727472"/>
              <a:gd name="connsiteY11" fmla="*/ 266364 h 740232"/>
              <a:gd name="connsiteX12" fmla="*/ 724297 w 727472"/>
              <a:gd name="connsiteY12" fmla="*/ 434639 h 740232"/>
              <a:gd name="connsiteX13" fmla="*/ 717947 w 727472"/>
              <a:gd name="connsiteY13" fmla="*/ 482264 h 740232"/>
              <a:gd name="connsiteX14" fmla="*/ 711597 w 727472"/>
              <a:gd name="connsiteY14" fmla="*/ 545764 h 740232"/>
              <a:gd name="connsiteX15" fmla="*/ 708422 w 727472"/>
              <a:gd name="connsiteY15" fmla="*/ 679114 h 740232"/>
              <a:gd name="connsiteX16" fmla="*/ 705247 w 727472"/>
              <a:gd name="connsiteY16" fmla="*/ 707689 h 740232"/>
              <a:gd name="connsiteX17" fmla="*/ 702072 w 727472"/>
              <a:gd name="connsiteY17" fmla="*/ 729914 h 740232"/>
              <a:gd name="connsiteX18" fmla="*/ 644922 w 727472"/>
              <a:gd name="connsiteY18" fmla="*/ 733089 h 740232"/>
              <a:gd name="connsiteX19" fmla="*/ 521097 w 727472"/>
              <a:gd name="connsiteY19" fmla="*/ 739439 h 740232"/>
              <a:gd name="connsiteX20" fmla="*/ 390922 w 727472"/>
              <a:gd name="connsiteY20" fmla="*/ 739439 h 740232"/>
              <a:gd name="connsiteX21" fmla="*/ 222647 w 727472"/>
              <a:gd name="connsiteY21" fmla="*/ 733089 h 740232"/>
              <a:gd name="connsiteX22" fmla="*/ 111522 w 727472"/>
              <a:gd name="connsiteY22" fmla="*/ 720389 h 740232"/>
              <a:gd name="connsiteX23" fmla="*/ 76597 w 727472"/>
              <a:gd name="connsiteY23" fmla="*/ 726739 h 740232"/>
              <a:gd name="connsiteX24" fmla="*/ 9922 w 727472"/>
              <a:gd name="connsiteY24" fmla="*/ 723564 h 740232"/>
              <a:gd name="connsiteX25" fmla="*/ 3572 w 727472"/>
              <a:gd name="connsiteY25" fmla="*/ 714039 h 740232"/>
              <a:gd name="connsiteX26" fmla="*/ 397 w 727472"/>
              <a:gd name="connsiteY26" fmla="*/ 688639 h 740232"/>
              <a:gd name="connsiteX27" fmla="*/ 397 w 727472"/>
              <a:gd name="connsiteY27" fmla="*/ 196514 h 740232"/>
              <a:gd name="connsiteX28" fmla="*/ 3572 w 727472"/>
              <a:gd name="connsiteY28" fmla="*/ 101264 h 740232"/>
              <a:gd name="connsiteX29" fmla="*/ 6747 w 727472"/>
              <a:gd name="connsiteY29" fmla="*/ 6014 h 740232"/>
              <a:gd name="connsiteX0" fmla="*/ 6747 w 725498"/>
              <a:gd name="connsiteY0" fmla="*/ 6014 h 740232"/>
              <a:gd name="connsiteX1" fmla="*/ 48022 w 725498"/>
              <a:gd name="connsiteY1" fmla="*/ 9189 h 740232"/>
              <a:gd name="connsiteX2" fmla="*/ 117872 w 725498"/>
              <a:gd name="connsiteY2" fmla="*/ 2839 h 740232"/>
              <a:gd name="connsiteX3" fmla="*/ 435372 w 725498"/>
              <a:gd name="connsiteY3" fmla="*/ 6014 h 740232"/>
              <a:gd name="connsiteX4" fmla="*/ 476647 w 725498"/>
              <a:gd name="connsiteY4" fmla="*/ 9189 h 740232"/>
              <a:gd name="connsiteX5" fmla="*/ 568722 w 725498"/>
              <a:gd name="connsiteY5" fmla="*/ 12364 h 740232"/>
              <a:gd name="connsiteX6" fmla="*/ 708422 w 725498"/>
              <a:gd name="connsiteY6" fmla="*/ 9189 h 740232"/>
              <a:gd name="connsiteX7" fmla="*/ 724297 w 725498"/>
              <a:gd name="connsiteY7" fmla="*/ 12364 h 740232"/>
              <a:gd name="connsiteX8" fmla="*/ 717947 w 725498"/>
              <a:gd name="connsiteY8" fmla="*/ 63164 h 740232"/>
              <a:gd name="connsiteX9" fmla="*/ 721122 w 725498"/>
              <a:gd name="connsiteY9" fmla="*/ 139364 h 740232"/>
              <a:gd name="connsiteX10" fmla="*/ 724297 w 725498"/>
              <a:gd name="connsiteY10" fmla="*/ 202864 h 740232"/>
              <a:gd name="connsiteX11" fmla="*/ 717947 w 725498"/>
              <a:gd name="connsiteY11" fmla="*/ 323514 h 740232"/>
              <a:gd name="connsiteX12" fmla="*/ 724297 w 725498"/>
              <a:gd name="connsiteY12" fmla="*/ 434639 h 740232"/>
              <a:gd name="connsiteX13" fmla="*/ 717947 w 725498"/>
              <a:gd name="connsiteY13" fmla="*/ 482264 h 740232"/>
              <a:gd name="connsiteX14" fmla="*/ 711597 w 725498"/>
              <a:gd name="connsiteY14" fmla="*/ 545764 h 740232"/>
              <a:gd name="connsiteX15" fmla="*/ 708422 w 725498"/>
              <a:gd name="connsiteY15" fmla="*/ 679114 h 740232"/>
              <a:gd name="connsiteX16" fmla="*/ 705247 w 725498"/>
              <a:gd name="connsiteY16" fmla="*/ 707689 h 740232"/>
              <a:gd name="connsiteX17" fmla="*/ 702072 w 725498"/>
              <a:gd name="connsiteY17" fmla="*/ 729914 h 740232"/>
              <a:gd name="connsiteX18" fmla="*/ 644922 w 725498"/>
              <a:gd name="connsiteY18" fmla="*/ 733089 h 740232"/>
              <a:gd name="connsiteX19" fmla="*/ 521097 w 725498"/>
              <a:gd name="connsiteY19" fmla="*/ 739439 h 740232"/>
              <a:gd name="connsiteX20" fmla="*/ 390922 w 725498"/>
              <a:gd name="connsiteY20" fmla="*/ 739439 h 740232"/>
              <a:gd name="connsiteX21" fmla="*/ 222647 w 725498"/>
              <a:gd name="connsiteY21" fmla="*/ 733089 h 740232"/>
              <a:gd name="connsiteX22" fmla="*/ 111522 w 725498"/>
              <a:gd name="connsiteY22" fmla="*/ 720389 h 740232"/>
              <a:gd name="connsiteX23" fmla="*/ 76597 w 725498"/>
              <a:gd name="connsiteY23" fmla="*/ 726739 h 740232"/>
              <a:gd name="connsiteX24" fmla="*/ 9922 w 725498"/>
              <a:gd name="connsiteY24" fmla="*/ 723564 h 740232"/>
              <a:gd name="connsiteX25" fmla="*/ 3572 w 725498"/>
              <a:gd name="connsiteY25" fmla="*/ 714039 h 740232"/>
              <a:gd name="connsiteX26" fmla="*/ 397 w 725498"/>
              <a:gd name="connsiteY26" fmla="*/ 688639 h 740232"/>
              <a:gd name="connsiteX27" fmla="*/ 397 w 725498"/>
              <a:gd name="connsiteY27" fmla="*/ 196514 h 740232"/>
              <a:gd name="connsiteX28" fmla="*/ 3572 w 725498"/>
              <a:gd name="connsiteY28" fmla="*/ 101264 h 740232"/>
              <a:gd name="connsiteX29" fmla="*/ 6747 w 725498"/>
              <a:gd name="connsiteY29" fmla="*/ 6014 h 740232"/>
              <a:gd name="connsiteX0" fmla="*/ 6747 w 725498"/>
              <a:gd name="connsiteY0" fmla="*/ 6014 h 740232"/>
              <a:gd name="connsiteX1" fmla="*/ 48022 w 725498"/>
              <a:gd name="connsiteY1" fmla="*/ 9189 h 740232"/>
              <a:gd name="connsiteX2" fmla="*/ 117872 w 725498"/>
              <a:gd name="connsiteY2" fmla="*/ 2839 h 740232"/>
              <a:gd name="connsiteX3" fmla="*/ 435372 w 725498"/>
              <a:gd name="connsiteY3" fmla="*/ 6014 h 740232"/>
              <a:gd name="connsiteX4" fmla="*/ 476647 w 725498"/>
              <a:gd name="connsiteY4" fmla="*/ 9189 h 740232"/>
              <a:gd name="connsiteX5" fmla="*/ 568722 w 725498"/>
              <a:gd name="connsiteY5" fmla="*/ 12364 h 740232"/>
              <a:gd name="connsiteX6" fmla="*/ 708422 w 725498"/>
              <a:gd name="connsiteY6" fmla="*/ 9189 h 740232"/>
              <a:gd name="connsiteX7" fmla="*/ 724297 w 725498"/>
              <a:gd name="connsiteY7" fmla="*/ 12364 h 740232"/>
              <a:gd name="connsiteX8" fmla="*/ 717947 w 725498"/>
              <a:gd name="connsiteY8" fmla="*/ 63164 h 740232"/>
              <a:gd name="connsiteX9" fmla="*/ 721122 w 725498"/>
              <a:gd name="connsiteY9" fmla="*/ 139364 h 740232"/>
              <a:gd name="connsiteX10" fmla="*/ 724297 w 725498"/>
              <a:gd name="connsiteY10" fmla="*/ 202864 h 740232"/>
              <a:gd name="connsiteX11" fmla="*/ 717947 w 725498"/>
              <a:gd name="connsiteY11" fmla="*/ 323514 h 740232"/>
              <a:gd name="connsiteX12" fmla="*/ 711597 w 725498"/>
              <a:gd name="connsiteY12" fmla="*/ 437814 h 740232"/>
              <a:gd name="connsiteX13" fmla="*/ 717947 w 725498"/>
              <a:gd name="connsiteY13" fmla="*/ 482264 h 740232"/>
              <a:gd name="connsiteX14" fmla="*/ 711597 w 725498"/>
              <a:gd name="connsiteY14" fmla="*/ 545764 h 740232"/>
              <a:gd name="connsiteX15" fmla="*/ 708422 w 725498"/>
              <a:gd name="connsiteY15" fmla="*/ 679114 h 740232"/>
              <a:gd name="connsiteX16" fmla="*/ 705247 w 725498"/>
              <a:gd name="connsiteY16" fmla="*/ 707689 h 740232"/>
              <a:gd name="connsiteX17" fmla="*/ 702072 w 725498"/>
              <a:gd name="connsiteY17" fmla="*/ 729914 h 740232"/>
              <a:gd name="connsiteX18" fmla="*/ 644922 w 725498"/>
              <a:gd name="connsiteY18" fmla="*/ 733089 h 740232"/>
              <a:gd name="connsiteX19" fmla="*/ 521097 w 725498"/>
              <a:gd name="connsiteY19" fmla="*/ 739439 h 740232"/>
              <a:gd name="connsiteX20" fmla="*/ 390922 w 725498"/>
              <a:gd name="connsiteY20" fmla="*/ 739439 h 740232"/>
              <a:gd name="connsiteX21" fmla="*/ 222647 w 725498"/>
              <a:gd name="connsiteY21" fmla="*/ 733089 h 740232"/>
              <a:gd name="connsiteX22" fmla="*/ 111522 w 725498"/>
              <a:gd name="connsiteY22" fmla="*/ 720389 h 740232"/>
              <a:gd name="connsiteX23" fmla="*/ 76597 w 725498"/>
              <a:gd name="connsiteY23" fmla="*/ 726739 h 740232"/>
              <a:gd name="connsiteX24" fmla="*/ 9922 w 725498"/>
              <a:gd name="connsiteY24" fmla="*/ 723564 h 740232"/>
              <a:gd name="connsiteX25" fmla="*/ 3572 w 725498"/>
              <a:gd name="connsiteY25" fmla="*/ 714039 h 740232"/>
              <a:gd name="connsiteX26" fmla="*/ 397 w 725498"/>
              <a:gd name="connsiteY26" fmla="*/ 688639 h 740232"/>
              <a:gd name="connsiteX27" fmla="*/ 397 w 725498"/>
              <a:gd name="connsiteY27" fmla="*/ 196514 h 740232"/>
              <a:gd name="connsiteX28" fmla="*/ 3572 w 725498"/>
              <a:gd name="connsiteY28" fmla="*/ 101264 h 740232"/>
              <a:gd name="connsiteX29" fmla="*/ 6747 w 725498"/>
              <a:gd name="connsiteY29" fmla="*/ 6014 h 740232"/>
              <a:gd name="connsiteX0" fmla="*/ 6747 w 724366"/>
              <a:gd name="connsiteY0" fmla="*/ 6014 h 740232"/>
              <a:gd name="connsiteX1" fmla="*/ 48022 w 724366"/>
              <a:gd name="connsiteY1" fmla="*/ 9189 h 740232"/>
              <a:gd name="connsiteX2" fmla="*/ 117872 w 724366"/>
              <a:gd name="connsiteY2" fmla="*/ 2839 h 740232"/>
              <a:gd name="connsiteX3" fmla="*/ 435372 w 724366"/>
              <a:gd name="connsiteY3" fmla="*/ 6014 h 740232"/>
              <a:gd name="connsiteX4" fmla="*/ 476647 w 724366"/>
              <a:gd name="connsiteY4" fmla="*/ 9189 h 740232"/>
              <a:gd name="connsiteX5" fmla="*/ 568722 w 724366"/>
              <a:gd name="connsiteY5" fmla="*/ 12364 h 740232"/>
              <a:gd name="connsiteX6" fmla="*/ 708422 w 724366"/>
              <a:gd name="connsiteY6" fmla="*/ 9189 h 740232"/>
              <a:gd name="connsiteX7" fmla="*/ 714772 w 724366"/>
              <a:gd name="connsiteY7" fmla="*/ 15539 h 740232"/>
              <a:gd name="connsiteX8" fmla="*/ 717947 w 724366"/>
              <a:gd name="connsiteY8" fmla="*/ 63164 h 740232"/>
              <a:gd name="connsiteX9" fmla="*/ 721122 w 724366"/>
              <a:gd name="connsiteY9" fmla="*/ 139364 h 740232"/>
              <a:gd name="connsiteX10" fmla="*/ 724297 w 724366"/>
              <a:gd name="connsiteY10" fmla="*/ 202864 h 740232"/>
              <a:gd name="connsiteX11" fmla="*/ 717947 w 724366"/>
              <a:gd name="connsiteY11" fmla="*/ 323514 h 740232"/>
              <a:gd name="connsiteX12" fmla="*/ 711597 w 724366"/>
              <a:gd name="connsiteY12" fmla="*/ 437814 h 740232"/>
              <a:gd name="connsiteX13" fmla="*/ 717947 w 724366"/>
              <a:gd name="connsiteY13" fmla="*/ 482264 h 740232"/>
              <a:gd name="connsiteX14" fmla="*/ 711597 w 724366"/>
              <a:gd name="connsiteY14" fmla="*/ 545764 h 740232"/>
              <a:gd name="connsiteX15" fmla="*/ 708422 w 724366"/>
              <a:gd name="connsiteY15" fmla="*/ 679114 h 740232"/>
              <a:gd name="connsiteX16" fmla="*/ 705247 w 724366"/>
              <a:gd name="connsiteY16" fmla="*/ 707689 h 740232"/>
              <a:gd name="connsiteX17" fmla="*/ 702072 w 724366"/>
              <a:gd name="connsiteY17" fmla="*/ 729914 h 740232"/>
              <a:gd name="connsiteX18" fmla="*/ 644922 w 724366"/>
              <a:gd name="connsiteY18" fmla="*/ 733089 h 740232"/>
              <a:gd name="connsiteX19" fmla="*/ 521097 w 724366"/>
              <a:gd name="connsiteY19" fmla="*/ 739439 h 740232"/>
              <a:gd name="connsiteX20" fmla="*/ 390922 w 724366"/>
              <a:gd name="connsiteY20" fmla="*/ 739439 h 740232"/>
              <a:gd name="connsiteX21" fmla="*/ 222647 w 724366"/>
              <a:gd name="connsiteY21" fmla="*/ 733089 h 740232"/>
              <a:gd name="connsiteX22" fmla="*/ 111522 w 724366"/>
              <a:gd name="connsiteY22" fmla="*/ 720389 h 740232"/>
              <a:gd name="connsiteX23" fmla="*/ 76597 w 724366"/>
              <a:gd name="connsiteY23" fmla="*/ 726739 h 740232"/>
              <a:gd name="connsiteX24" fmla="*/ 9922 w 724366"/>
              <a:gd name="connsiteY24" fmla="*/ 723564 h 740232"/>
              <a:gd name="connsiteX25" fmla="*/ 3572 w 724366"/>
              <a:gd name="connsiteY25" fmla="*/ 714039 h 740232"/>
              <a:gd name="connsiteX26" fmla="*/ 397 w 724366"/>
              <a:gd name="connsiteY26" fmla="*/ 688639 h 740232"/>
              <a:gd name="connsiteX27" fmla="*/ 397 w 724366"/>
              <a:gd name="connsiteY27" fmla="*/ 196514 h 740232"/>
              <a:gd name="connsiteX28" fmla="*/ 3572 w 724366"/>
              <a:gd name="connsiteY28" fmla="*/ 101264 h 740232"/>
              <a:gd name="connsiteX29" fmla="*/ 6747 w 724366"/>
              <a:gd name="connsiteY29" fmla="*/ 6014 h 740232"/>
              <a:gd name="connsiteX0" fmla="*/ 6747 w 724366"/>
              <a:gd name="connsiteY0" fmla="*/ 6014 h 740232"/>
              <a:gd name="connsiteX1" fmla="*/ 48022 w 724366"/>
              <a:gd name="connsiteY1" fmla="*/ 9189 h 740232"/>
              <a:gd name="connsiteX2" fmla="*/ 117872 w 724366"/>
              <a:gd name="connsiteY2" fmla="*/ 2839 h 740232"/>
              <a:gd name="connsiteX3" fmla="*/ 435372 w 724366"/>
              <a:gd name="connsiteY3" fmla="*/ 6014 h 740232"/>
              <a:gd name="connsiteX4" fmla="*/ 476647 w 724366"/>
              <a:gd name="connsiteY4" fmla="*/ 9189 h 740232"/>
              <a:gd name="connsiteX5" fmla="*/ 568722 w 724366"/>
              <a:gd name="connsiteY5" fmla="*/ 12364 h 740232"/>
              <a:gd name="connsiteX6" fmla="*/ 708422 w 724366"/>
              <a:gd name="connsiteY6" fmla="*/ 9189 h 740232"/>
              <a:gd name="connsiteX7" fmla="*/ 714772 w 724366"/>
              <a:gd name="connsiteY7" fmla="*/ 15539 h 740232"/>
              <a:gd name="connsiteX8" fmla="*/ 717947 w 724366"/>
              <a:gd name="connsiteY8" fmla="*/ 63164 h 740232"/>
              <a:gd name="connsiteX9" fmla="*/ 721122 w 724366"/>
              <a:gd name="connsiteY9" fmla="*/ 139364 h 740232"/>
              <a:gd name="connsiteX10" fmla="*/ 724297 w 724366"/>
              <a:gd name="connsiteY10" fmla="*/ 202864 h 740232"/>
              <a:gd name="connsiteX11" fmla="*/ 717947 w 724366"/>
              <a:gd name="connsiteY11" fmla="*/ 323514 h 740232"/>
              <a:gd name="connsiteX12" fmla="*/ 711597 w 724366"/>
              <a:gd name="connsiteY12" fmla="*/ 437814 h 740232"/>
              <a:gd name="connsiteX13" fmla="*/ 717947 w 724366"/>
              <a:gd name="connsiteY13" fmla="*/ 482264 h 740232"/>
              <a:gd name="connsiteX14" fmla="*/ 711597 w 724366"/>
              <a:gd name="connsiteY14" fmla="*/ 545764 h 740232"/>
              <a:gd name="connsiteX15" fmla="*/ 708422 w 724366"/>
              <a:gd name="connsiteY15" fmla="*/ 679114 h 740232"/>
              <a:gd name="connsiteX16" fmla="*/ 705247 w 724366"/>
              <a:gd name="connsiteY16" fmla="*/ 707689 h 740232"/>
              <a:gd name="connsiteX17" fmla="*/ 702072 w 724366"/>
              <a:gd name="connsiteY17" fmla="*/ 729914 h 740232"/>
              <a:gd name="connsiteX18" fmla="*/ 644922 w 724366"/>
              <a:gd name="connsiteY18" fmla="*/ 733089 h 740232"/>
              <a:gd name="connsiteX19" fmla="*/ 521097 w 724366"/>
              <a:gd name="connsiteY19" fmla="*/ 739439 h 740232"/>
              <a:gd name="connsiteX20" fmla="*/ 390922 w 724366"/>
              <a:gd name="connsiteY20" fmla="*/ 739439 h 740232"/>
              <a:gd name="connsiteX21" fmla="*/ 222647 w 724366"/>
              <a:gd name="connsiteY21" fmla="*/ 733089 h 740232"/>
              <a:gd name="connsiteX22" fmla="*/ 76597 w 724366"/>
              <a:gd name="connsiteY22" fmla="*/ 726739 h 740232"/>
              <a:gd name="connsiteX23" fmla="*/ 9922 w 724366"/>
              <a:gd name="connsiteY23" fmla="*/ 723564 h 740232"/>
              <a:gd name="connsiteX24" fmla="*/ 3572 w 724366"/>
              <a:gd name="connsiteY24" fmla="*/ 714039 h 740232"/>
              <a:gd name="connsiteX25" fmla="*/ 397 w 724366"/>
              <a:gd name="connsiteY25" fmla="*/ 688639 h 740232"/>
              <a:gd name="connsiteX26" fmla="*/ 397 w 724366"/>
              <a:gd name="connsiteY26" fmla="*/ 196514 h 740232"/>
              <a:gd name="connsiteX27" fmla="*/ 3572 w 724366"/>
              <a:gd name="connsiteY27" fmla="*/ 101264 h 740232"/>
              <a:gd name="connsiteX28" fmla="*/ 6747 w 724366"/>
              <a:gd name="connsiteY28" fmla="*/ 6014 h 740232"/>
              <a:gd name="connsiteX0" fmla="*/ 7188 w 724807"/>
              <a:gd name="connsiteY0" fmla="*/ 6014 h 740232"/>
              <a:gd name="connsiteX1" fmla="*/ 48463 w 724807"/>
              <a:gd name="connsiteY1" fmla="*/ 9189 h 740232"/>
              <a:gd name="connsiteX2" fmla="*/ 118313 w 724807"/>
              <a:gd name="connsiteY2" fmla="*/ 2839 h 740232"/>
              <a:gd name="connsiteX3" fmla="*/ 435813 w 724807"/>
              <a:gd name="connsiteY3" fmla="*/ 6014 h 740232"/>
              <a:gd name="connsiteX4" fmla="*/ 477088 w 724807"/>
              <a:gd name="connsiteY4" fmla="*/ 9189 h 740232"/>
              <a:gd name="connsiteX5" fmla="*/ 569163 w 724807"/>
              <a:gd name="connsiteY5" fmla="*/ 12364 h 740232"/>
              <a:gd name="connsiteX6" fmla="*/ 708863 w 724807"/>
              <a:gd name="connsiteY6" fmla="*/ 9189 h 740232"/>
              <a:gd name="connsiteX7" fmla="*/ 715213 w 724807"/>
              <a:gd name="connsiteY7" fmla="*/ 15539 h 740232"/>
              <a:gd name="connsiteX8" fmla="*/ 718388 w 724807"/>
              <a:gd name="connsiteY8" fmla="*/ 63164 h 740232"/>
              <a:gd name="connsiteX9" fmla="*/ 721563 w 724807"/>
              <a:gd name="connsiteY9" fmla="*/ 139364 h 740232"/>
              <a:gd name="connsiteX10" fmla="*/ 724738 w 724807"/>
              <a:gd name="connsiteY10" fmla="*/ 202864 h 740232"/>
              <a:gd name="connsiteX11" fmla="*/ 718388 w 724807"/>
              <a:gd name="connsiteY11" fmla="*/ 323514 h 740232"/>
              <a:gd name="connsiteX12" fmla="*/ 712038 w 724807"/>
              <a:gd name="connsiteY12" fmla="*/ 437814 h 740232"/>
              <a:gd name="connsiteX13" fmla="*/ 718388 w 724807"/>
              <a:gd name="connsiteY13" fmla="*/ 482264 h 740232"/>
              <a:gd name="connsiteX14" fmla="*/ 712038 w 724807"/>
              <a:gd name="connsiteY14" fmla="*/ 545764 h 740232"/>
              <a:gd name="connsiteX15" fmla="*/ 708863 w 724807"/>
              <a:gd name="connsiteY15" fmla="*/ 679114 h 740232"/>
              <a:gd name="connsiteX16" fmla="*/ 705688 w 724807"/>
              <a:gd name="connsiteY16" fmla="*/ 707689 h 740232"/>
              <a:gd name="connsiteX17" fmla="*/ 702513 w 724807"/>
              <a:gd name="connsiteY17" fmla="*/ 729914 h 740232"/>
              <a:gd name="connsiteX18" fmla="*/ 645363 w 724807"/>
              <a:gd name="connsiteY18" fmla="*/ 733089 h 740232"/>
              <a:gd name="connsiteX19" fmla="*/ 521538 w 724807"/>
              <a:gd name="connsiteY19" fmla="*/ 739439 h 740232"/>
              <a:gd name="connsiteX20" fmla="*/ 391363 w 724807"/>
              <a:gd name="connsiteY20" fmla="*/ 739439 h 740232"/>
              <a:gd name="connsiteX21" fmla="*/ 223088 w 724807"/>
              <a:gd name="connsiteY21" fmla="*/ 733089 h 740232"/>
              <a:gd name="connsiteX22" fmla="*/ 77038 w 724807"/>
              <a:gd name="connsiteY22" fmla="*/ 726739 h 740232"/>
              <a:gd name="connsiteX23" fmla="*/ 10363 w 724807"/>
              <a:gd name="connsiteY23" fmla="*/ 723564 h 740232"/>
              <a:gd name="connsiteX24" fmla="*/ 838 w 724807"/>
              <a:gd name="connsiteY24" fmla="*/ 688639 h 740232"/>
              <a:gd name="connsiteX25" fmla="*/ 838 w 724807"/>
              <a:gd name="connsiteY25" fmla="*/ 196514 h 740232"/>
              <a:gd name="connsiteX26" fmla="*/ 4013 w 724807"/>
              <a:gd name="connsiteY26" fmla="*/ 101264 h 740232"/>
              <a:gd name="connsiteX27" fmla="*/ 7188 w 724807"/>
              <a:gd name="connsiteY27" fmla="*/ 6014 h 740232"/>
              <a:gd name="connsiteX0" fmla="*/ 7188 w 724807"/>
              <a:gd name="connsiteY0" fmla="*/ 6014 h 740232"/>
              <a:gd name="connsiteX1" fmla="*/ 48463 w 724807"/>
              <a:gd name="connsiteY1" fmla="*/ 9189 h 740232"/>
              <a:gd name="connsiteX2" fmla="*/ 118313 w 724807"/>
              <a:gd name="connsiteY2" fmla="*/ 2839 h 740232"/>
              <a:gd name="connsiteX3" fmla="*/ 435813 w 724807"/>
              <a:gd name="connsiteY3" fmla="*/ 6014 h 740232"/>
              <a:gd name="connsiteX4" fmla="*/ 477088 w 724807"/>
              <a:gd name="connsiteY4" fmla="*/ 9189 h 740232"/>
              <a:gd name="connsiteX5" fmla="*/ 569163 w 724807"/>
              <a:gd name="connsiteY5" fmla="*/ 12364 h 740232"/>
              <a:gd name="connsiteX6" fmla="*/ 708863 w 724807"/>
              <a:gd name="connsiteY6" fmla="*/ 9189 h 740232"/>
              <a:gd name="connsiteX7" fmla="*/ 715213 w 724807"/>
              <a:gd name="connsiteY7" fmla="*/ 15539 h 740232"/>
              <a:gd name="connsiteX8" fmla="*/ 718388 w 724807"/>
              <a:gd name="connsiteY8" fmla="*/ 63164 h 740232"/>
              <a:gd name="connsiteX9" fmla="*/ 721563 w 724807"/>
              <a:gd name="connsiteY9" fmla="*/ 139364 h 740232"/>
              <a:gd name="connsiteX10" fmla="*/ 724738 w 724807"/>
              <a:gd name="connsiteY10" fmla="*/ 202864 h 740232"/>
              <a:gd name="connsiteX11" fmla="*/ 718388 w 724807"/>
              <a:gd name="connsiteY11" fmla="*/ 323514 h 740232"/>
              <a:gd name="connsiteX12" fmla="*/ 712038 w 724807"/>
              <a:gd name="connsiteY12" fmla="*/ 437814 h 740232"/>
              <a:gd name="connsiteX13" fmla="*/ 718388 w 724807"/>
              <a:gd name="connsiteY13" fmla="*/ 482264 h 740232"/>
              <a:gd name="connsiteX14" fmla="*/ 712038 w 724807"/>
              <a:gd name="connsiteY14" fmla="*/ 545764 h 740232"/>
              <a:gd name="connsiteX15" fmla="*/ 708863 w 724807"/>
              <a:gd name="connsiteY15" fmla="*/ 679114 h 740232"/>
              <a:gd name="connsiteX16" fmla="*/ 705688 w 724807"/>
              <a:gd name="connsiteY16" fmla="*/ 707689 h 740232"/>
              <a:gd name="connsiteX17" fmla="*/ 702513 w 724807"/>
              <a:gd name="connsiteY17" fmla="*/ 729914 h 740232"/>
              <a:gd name="connsiteX18" fmla="*/ 645363 w 724807"/>
              <a:gd name="connsiteY18" fmla="*/ 733089 h 740232"/>
              <a:gd name="connsiteX19" fmla="*/ 521538 w 724807"/>
              <a:gd name="connsiteY19" fmla="*/ 739439 h 740232"/>
              <a:gd name="connsiteX20" fmla="*/ 391363 w 724807"/>
              <a:gd name="connsiteY20" fmla="*/ 739439 h 740232"/>
              <a:gd name="connsiteX21" fmla="*/ 223088 w 724807"/>
              <a:gd name="connsiteY21" fmla="*/ 733089 h 740232"/>
              <a:gd name="connsiteX22" fmla="*/ 77038 w 724807"/>
              <a:gd name="connsiteY22" fmla="*/ 726739 h 740232"/>
              <a:gd name="connsiteX23" fmla="*/ 10363 w 724807"/>
              <a:gd name="connsiteY23" fmla="*/ 723564 h 740232"/>
              <a:gd name="connsiteX24" fmla="*/ 838 w 724807"/>
              <a:gd name="connsiteY24" fmla="*/ 644189 h 740232"/>
              <a:gd name="connsiteX25" fmla="*/ 838 w 724807"/>
              <a:gd name="connsiteY25" fmla="*/ 196514 h 740232"/>
              <a:gd name="connsiteX26" fmla="*/ 4013 w 724807"/>
              <a:gd name="connsiteY26" fmla="*/ 101264 h 740232"/>
              <a:gd name="connsiteX27" fmla="*/ 7188 w 724807"/>
              <a:gd name="connsiteY27" fmla="*/ 6014 h 740232"/>
              <a:gd name="connsiteX0" fmla="*/ 7188 w 724807"/>
              <a:gd name="connsiteY0" fmla="*/ 6014 h 740232"/>
              <a:gd name="connsiteX1" fmla="*/ 48463 w 724807"/>
              <a:gd name="connsiteY1" fmla="*/ 9189 h 740232"/>
              <a:gd name="connsiteX2" fmla="*/ 118313 w 724807"/>
              <a:gd name="connsiteY2" fmla="*/ 2839 h 740232"/>
              <a:gd name="connsiteX3" fmla="*/ 435813 w 724807"/>
              <a:gd name="connsiteY3" fmla="*/ 6014 h 740232"/>
              <a:gd name="connsiteX4" fmla="*/ 477088 w 724807"/>
              <a:gd name="connsiteY4" fmla="*/ 9189 h 740232"/>
              <a:gd name="connsiteX5" fmla="*/ 569163 w 724807"/>
              <a:gd name="connsiteY5" fmla="*/ 12364 h 740232"/>
              <a:gd name="connsiteX6" fmla="*/ 708863 w 724807"/>
              <a:gd name="connsiteY6" fmla="*/ 9189 h 740232"/>
              <a:gd name="connsiteX7" fmla="*/ 715213 w 724807"/>
              <a:gd name="connsiteY7" fmla="*/ 15539 h 740232"/>
              <a:gd name="connsiteX8" fmla="*/ 718388 w 724807"/>
              <a:gd name="connsiteY8" fmla="*/ 63164 h 740232"/>
              <a:gd name="connsiteX9" fmla="*/ 721563 w 724807"/>
              <a:gd name="connsiteY9" fmla="*/ 139364 h 740232"/>
              <a:gd name="connsiteX10" fmla="*/ 724738 w 724807"/>
              <a:gd name="connsiteY10" fmla="*/ 202864 h 740232"/>
              <a:gd name="connsiteX11" fmla="*/ 718388 w 724807"/>
              <a:gd name="connsiteY11" fmla="*/ 323514 h 740232"/>
              <a:gd name="connsiteX12" fmla="*/ 712038 w 724807"/>
              <a:gd name="connsiteY12" fmla="*/ 437814 h 740232"/>
              <a:gd name="connsiteX13" fmla="*/ 718388 w 724807"/>
              <a:gd name="connsiteY13" fmla="*/ 482264 h 740232"/>
              <a:gd name="connsiteX14" fmla="*/ 712038 w 724807"/>
              <a:gd name="connsiteY14" fmla="*/ 545764 h 740232"/>
              <a:gd name="connsiteX15" fmla="*/ 708863 w 724807"/>
              <a:gd name="connsiteY15" fmla="*/ 679114 h 740232"/>
              <a:gd name="connsiteX16" fmla="*/ 705688 w 724807"/>
              <a:gd name="connsiteY16" fmla="*/ 707689 h 740232"/>
              <a:gd name="connsiteX17" fmla="*/ 702513 w 724807"/>
              <a:gd name="connsiteY17" fmla="*/ 729914 h 740232"/>
              <a:gd name="connsiteX18" fmla="*/ 645363 w 724807"/>
              <a:gd name="connsiteY18" fmla="*/ 733089 h 740232"/>
              <a:gd name="connsiteX19" fmla="*/ 521538 w 724807"/>
              <a:gd name="connsiteY19" fmla="*/ 739439 h 740232"/>
              <a:gd name="connsiteX20" fmla="*/ 391363 w 724807"/>
              <a:gd name="connsiteY20" fmla="*/ 739439 h 740232"/>
              <a:gd name="connsiteX21" fmla="*/ 223088 w 724807"/>
              <a:gd name="connsiteY21" fmla="*/ 733089 h 740232"/>
              <a:gd name="connsiteX22" fmla="*/ 96088 w 724807"/>
              <a:gd name="connsiteY22" fmla="*/ 733089 h 740232"/>
              <a:gd name="connsiteX23" fmla="*/ 10363 w 724807"/>
              <a:gd name="connsiteY23" fmla="*/ 723564 h 740232"/>
              <a:gd name="connsiteX24" fmla="*/ 838 w 724807"/>
              <a:gd name="connsiteY24" fmla="*/ 644189 h 740232"/>
              <a:gd name="connsiteX25" fmla="*/ 838 w 724807"/>
              <a:gd name="connsiteY25" fmla="*/ 196514 h 740232"/>
              <a:gd name="connsiteX26" fmla="*/ 4013 w 724807"/>
              <a:gd name="connsiteY26" fmla="*/ 101264 h 740232"/>
              <a:gd name="connsiteX27" fmla="*/ 7188 w 724807"/>
              <a:gd name="connsiteY27" fmla="*/ 6014 h 740232"/>
              <a:gd name="connsiteX0" fmla="*/ 7343 w 724962"/>
              <a:gd name="connsiteY0" fmla="*/ 6014 h 740232"/>
              <a:gd name="connsiteX1" fmla="*/ 48618 w 724962"/>
              <a:gd name="connsiteY1" fmla="*/ 9189 h 740232"/>
              <a:gd name="connsiteX2" fmla="*/ 118468 w 724962"/>
              <a:gd name="connsiteY2" fmla="*/ 2839 h 740232"/>
              <a:gd name="connsiteX3" fmla="*/ 435968 w 724962"/>
              <a:gd name="connsiteY3" fmla="*/ 6014 h 740232"/>
              <a:gd name="connsiteX4" fmla="*/ 477243 w 724962"/>
              <a:gd name="connsiteY4" fmla="*/ 9189 h 740232"/>
              <a:gd name="connsiteX5" fmla="*/ 569318 w 724962"/>
              <a:gd name="connsiteY5" fmla="*/ 12364 h 740232"/>
              <a:gd name="connsiteX6" fmla="*/ 709018 w 724962"/>
              <a:gd name="connsiteY6" fmla="*/ 9189 h 740232"/>
              <a:gd name="connsiteX7" fmla="*/ 715368 w 724962"/>
              <a:gd name="connsiteY7" fmla="*/ 15539 h 740232"/>
              <a:gd name="connsiteX8" fmla="*/ 718543 w 724962"/>
              <a:gd name="connsiteY8" fmla="*/ 63164 h 740232"/>
              <a:gd name="connsiteX9" fmla="*/ 721718 w 724962"/>
              <a:gd name="connsiteY9" fmla="*/ 139364 h 740232"/>
              <a:gd name="connsiteX10" fmla="*/ 724893 w 724962"/>
              <a:gd name="connsiteY10" fmla="*/ 202864 h 740232"/>
              <a:gd name="connsiteX11" fmla="*/ 718543 w 724962"/>
              <a:gd name="connsiteY11" fmla="*/ 323514 h 740232"/>
              <a:gd name="connsiteX12" fmla="*/ 712193 w 724962"/>
              <a:gd name="connsiteY12" fmla="*/ 437814 h 740232"/>
              <a:gd name="connsiteX13" fmla="*/ 718543 w 724962"/>
              <a:gd name="connsiteY13" fmla="*/ 482264 h 740232"/>
              <a:gd name="connsiteX14" fmla="*/ 712193 w 724962"/>
              <a:gd name="connsiteY14" fmla="*/ 545764 h 740232"/>
              <a:gd name="connsiteX15" fmla="*/ 709018 w 724962"/>
              <a:gd name="connsiteY15" fmla="*/ 679114 h 740232"/>
              <a:gd name="connsiteX16" fmla="*/ 705843 w 724962"/>
              <a:gd name="connsiteY16" fmla="*/ 707689 h 740232"/>
              <a:gd name="connsiteX17" fmla="*/ 702668 w 724962"/>
              <a:gd name="connsiteY17" fmla="*/ 729914 h 740232"/>
              <a:gd name="connsiteX18" fmla="*/ 645518 w 724962"/>
              <a:gd name="connsiteY18" fmla="*/ 733089 h 740232"/>
              <a:gd name="connsiteX19" fmla="*/ 521693 w 724962"/>
              <a:gd name="connsiteY19" fmla="*/ 739439 h 740232"/>
              <a:gd name="connsiteX20" fmla="*/ 391518 w 724962"/>
              <a:gd name="connsiteY20" fmla="*/ 739439 h 740232"/>
              <a:gd name="connsiteX21" fmla="*/ 223243 w 724962"/>
              <a:gd name="connsiteY21" fmla="*/ 733089 h 740232"/>
              <a:gd name="connsiteX22" fmla="*/ 102593 w 724962"/>
              <a:gd name="connsiteY22" fmla="*/ 720389 h 740232"/>
              <a:gd name="connsiteX23" fmla="*/ 10518 w 724962"/>
              <a:gd name="connsiteY23" fmla="*/ 723564 h 740232"/>
              <a:gd name="connsiteX24" fmla="*/ 993 w 724962"/>
              <a:gd name="connsiteY24" fmla="*/ 644189 h 740232"/>
              <a:gd name="connsiteX25" fmla="*/ 993 w 724962"/>
              <a:gd name="connsiteY25" fmla="*/ 196514 h 740232"/>
              <a:gd name="connsiteX26" fmla="*/ 4168 w 724962"/>
              <a:gd name="connsiteY26" fmla="*/ 101264 h 740232"/>
              <a:gd name="connsiteX27" fmla="*/ 7343 w 724962"/>
              <a:gd name="connsiteY27" fmla="*/ 6014 h 740232"/>
              <a:gd name="connsiteX0" fmla="*/ 7343 w 724962"/>
              <a:gd name="connsiteY0" fmla="*/ 6014 h 740232"/>
              <a:gd name="connsiteX1" fmla="*/ 48618 w 724962"/>
              <a:gd name="connsiteY1" fmla="*/ 9189 h 740232"/>
              <a:gd name="connsiteX2" fmla="*/ 118468 w 724962"/>
              <a:gd name="connsiteY2" fmla="*/ 2839 h 740232"/>
              <a:gd name="connsiteX3" fmla="*/ 435968 w 724962"/>
              <a:gd name="connsiteY3" fmla="*/ 6014 h 740232"/>
              <a:gd name="connsiteX4" fmla="*/ 477243 w 724962"/>
              <a:gd name="connsiteY4" fmla="*/ 9189 h 740232"/>
              <a:gd name="connsiteX5" fmla="*/ 569318 w 724962"/>
              <a:gd name="connsiteY5" fmla="*/ 12364 h 740232"/>
              <a:gd name="connsiteX6" fmla="*/ 709018 w 724962"/>
              <a:gd name="connsiteY6" fmla="*/ 9189 h 740232"/>
              <a:gd name="connsiteX7" fmla="*/ 715368 w 724962"/>
              <a:gd name="connsiteY7" fmla="*/ 15539 h 740232"/>
              <a:gd name="connsiteX8" fmla="*/ 718543 w 724962"/>
              <a:gd name="connsiteY8" fmla="*/ 63164 h 740232"/>
              <a:gd name="connsiteX9" fmla="*/ 721718 w 724962"/>
              <a:gd name="connsiteY9" fmla="*/ 139364 h 740232"/>
              <a:gd name="connsiteX10" fmla="*/ 724893 w 724962"/>
              <a:gd name="connsiteY10" fmla="*/ 202864 h 740232"/>
              <a:gd name="connsiteX11" fmla="*/ 718543 w 724962"/>
              <a:gd name="connsiteY11" fmla="*/ 323514 h 740232"/>
              <a:gd name="connsiteX12" fmla="*/ 712193 w 724962"/>
              <a:gd name="connsiteY12" fmla="*/ 437814 h 740232"/>
              <a:gd name="connsiteX13" fmla="*/ 718543 w 724962"/>
              <a:gd name="connsiteY13" fmla="*/ 482264 h 740232"/>
              <a:gd name="connsiteX14" fmla="*/ 712193 w 724962"/>
              <a:gd name="connsiteY14" fmla="*/ 545764 h 740232"/>
              <a:gd name="connsiteX15" fmla="*/ 709018 w 724962"/>
              <a:gd name="connsiteY15" fmla="*/ 679114 h 740232"/>
              <a:gd name="connsiteX16" fmla="*/ 705843 w 724962"/>
              <a:gd name="connsiteY16" fmla="*/ 707689 h 740232"/>
              <a:gd name="connsiteX17" fmla="*/ 702668 w 724962"/>
              <a:gd name="connsiteY17" fmla="*/ 729914 h 740232"/>
              <a:gd name="connsiteX18" fmla="*/ 645518 w 724962"/>
              <a:gd name="connsiteY18" fmla="*/ 733089 h 740232"/>
              <a:gd name="connsiteX19" fmla="*/ 521693 w 724962"/>
              <a:gd name="connsiteY19" fmla="*/ 739439 h 740232"/>
              <a:gd name="connsiteX20" fmla="*/ 391518 w 724962"/>
              <a:gd name="connsiteY20" fmla="*/ 739439 h 740232"/>
              <a:gd name="connsiteX21" fmla="*/ 223243 w 724962"/>
              <a:gd name="connsiteY21" fmla="*/ 733089 h 740232"/>
              <a:gd name="connsiteX22" fmla="*/ 102593 w 724962"/>
              <a:gd name="connsiteY22" fmla="*/ 733089 h 740232"/>
              <a:gd name="connsiteX23" fmla="*/ 10518 w 724962"/>
              <a:gd name="connsiteY23" fmla="*/ 723564 h 740232"/>
              <a:gd name="connsiteX24" fmla="*/ 993 w 724962"/>
              <a:gd name="connsiteY24" fmla="*/ 644189 h 740232"/>
              <a:gd name="connsiteX25" fmla="*/ 993 w 724962"/>
              <a:gd name="connsiteY25" fmla="*/ 196514 h 740232"/>
              <a:gd name="connsiteX26" fmla="*/ 4168 w 724962"/>
              <a:gd name="connsiteY26" fmla="*/ 101264 h 740232"/>
              <a:gd name="connsiteX27" fmla="*/ 7343 w 724962"/>
              <a:gd name="connsiteY27" fmla="*/ 6014 h 740232"/>
              <a:gd name="connsiteX0" fmla="*/ 7343 w 724962"/>
              <a:gd name="connsiteY0" fmla="*/ 8215 h 742433"/>
              <a:gd name="connsiteX1" fmla="*/ 118468 w 724962"/>
              <a:gd name="connsiteY1" fmla="*/ 5040 h 742433"/>
              <a:gd name="connsiteX2" fmla="*/ 435968 w 724962"/>
              <a:gd name="connsiteY2" fmla="*/ 8215 h 742433"/>
              <a:gd name="connsiteX3" fmla="*/ 477243 w 724962"/>
              <a:gd name="connsiteY3" fmla="*/ 11390 h 742433"/>
              <a:gd name="connsiteX4" fmla="*/ 569318 w 724962"/>
              <a:gd name="connsiteY4" fmla="*/ 14565 h 742433"/>
              <a:gd name="connsiteX5" fmla="*/ 709018 w 724962"/>
              <a:gd name="connsiteY5" fmla="*/ 11390 h 742433"/>
              <a:gd name="connsiteX6" fmla="*/ 715368 w 724962"/>
              <a:gd name="connsiteY6" fmla="*/ 17740 h 742433"/>
              <a:gd name="connsiteX7" fmla="*/ 718543 w 724962"/>
              <a:gd name="connsiteY7" fmla="*/ 65365 h 742433"/>
              <a:gd name="connsiteX8" fmla="*/ 721718 w 724962"/>
              <a:gd name="connsiteY8" fmla="*/ 141565 h 742433"/>
              <a:gd name="connsiteX9" fmla="*/ 724893 w 724962"/>
              <a:gd name="connsiteY9" fmla="*/ 205065 h 742433"/>
              <a:gd name="connsiteX10" fmla="*/ 718543 w 724962"/>
              <a:gd name="connsiteY10" fmla="*/ 325715 h 742433"/>
              <a:gd name="connsiteX11" fmla="*/ 712193 w 724962"/>
              <a:gd name="connsiteY11" fmla="*/ 440015 h 742433"/>
              <a:gd name="connsiteX12" fmla="*/ 718543 w 724962"/>
              <a:gd name="connsiteY12" fmla="*/ 484465 h 742433"/>
              <a:gd name="connsiteX13" fmla="*/ 712193 w 724962"/>
              <a:gd name="connsiteY13" fmla="*/ 547965 h 742433"/>
              <a:gd name="connsiteX14" fmla="*/ 709018 w 724962"/>
              <a:gd name="connsiteY14" fmla="*/ 681315 h 742433"/>
              <a:gd name="connsiteX15" fmla="*/ 705843 w 724962"/>
              <a:gd name="connsiteY15" fmla="*/ 709890 h 742433"/>
              <a:gd name="connsiteX16" fmla="*/ 702668 w 724962"/>
              <a:gd name="connsiteY16" fmla="*/ 732115 h 742433"/>
              <a:gd name="connsiteX17" fmla="*/ 645518 w 724962"/>
              <a:gd name="connsiteY17" fmla="*/ 735290 h 742433"/>
              <a:gd name="connsiteX18" fmla="*/ 521693 w 724962"/>
              <a:gd name="connsiteY18" fmla="*/ 741640 h 742433"/>
              <a:gd name="connsiteX19" fmla="*/ 391518 w 724962"/>
              <a:gd name="connsiteY19" fmla="*/ 741640 h 742433"/>
              <a:gd name="connsiteX20" fmla="*/ 223243 w 724962"/>
              <a:gd name="connsiteY20" fmla="*/ 735290 h 742433"/>
              <a:gd name="connsiteX21" fmla="*/ 102593 w 724962"/>
              <a:gd name="connsiteY21" fmla="*/ 735290 h 742433"/>
              <a:gd name="connsiteX22" fmla="*/ 10518 w 724962"/>
              <a:gd name="connsiteY22" fmla="*/ 725765 h 742433"/>
              <a:gd name="connsiteX23" fmla="*/ 993 w 724962"/>
              <a:gd name="connsiteY23" fmla="*/ 646390 h 742433"/>
              <a:gd name="connsiteX24" fmla="*/ 993 w 724962"/>
              <a:gd name="connsiteY24" fmla="*/ 198715 h 742433"/>
              <a:gd name="connsiteX25" fmla="*/ 4168 w 724962"/>
              <a:gd name="connsiteY25" fmla="*/ 103465 h 742433"/>
              <a:gd name="connsiteX26" fmla="*/ 7343 w 724962"/>
              <a:gd name="connsiteY26" fmla="*/ 8215 h 742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4962" h="742433">
                <a:moveTo>
                  <a:pt x="7343" y="8215"/>
                </a:moveTo>
                <a:cubicBezTo>
                  <a:pt x="26393" y="-8189"/>
                  <a:pt x="47031" y="5040"/>
                  <a:pt x="118468" y="5040"/>
                </a:cubicBezTo>
                <a:lnTo>
                  <a:pt x="435968" y="8215"/>
                </a:lnTo>
                <a:cubicBezTo>
                  <a:pt x="449765" y="8459"/>
                  <a:pt x="463460" y="10734"/>
                  <a:pt x="477243" y="11390"/>
                </a:cubicBezTo>
                <a:cubicBezTo>
                  <a:pt x="507918" y="12851"/>
                  <a:pt x="538626" y="13507"/>
                  <a:pt x="569318" y="14565"/>
                </a:cubicBezTo>
                <a:lnTo>
                  <a:pt x="709018" y="11390"/>
                </a:lnTo>
                <a:cubicBezTo>
                  <a:pt x="733360" y="11919"/>
                  <a:pt x="713781" y="12582"/>
                  <a:pt x="715368" y="17740"/>
                </a:cubicBezTo>
                <a:cubicBezTo>
                  <a:pt x="719271" y="30426"/>
                  <a:pt x="722261" y="50492"/>
                  <a:pt x="718543" y="65365"/>
                </a:cubicBezTo>
                <a:cubicBezTo>
                  <a:pt x="719601" y="90765"/>
                  <a:pt x="720660" y="118282"/>
                  <a:pt x="721718" y="141565"/>
                </a:cubicBezTo>
                <a:cubicBezTo>
                  <a:pt x="722776" y="164848"/>
                  <a:pt x="725422" y="174373"/>
                  <a:pt x="724893" y="205065"/>
                </a:cubicBezTo>
                <a:cubicBezTo>
                  <a:pt x="724364" y="235757"/>
                  <a:pt x="720660" y="286557"/>
                  <a:pt x="718543" y="325715"/>
                </a:cubicBezTo>
                <a:cubicBezTo>
                  <a:pt x="716426" y="364873"/>
                  <a:pt x="714031" y="383943"/>
                  <a:pt x="712193" y="440015"/>
                </a:cubicBezTo>
                <a:cubicBezTo>
                  <a:pt x="711891" y="449216"/>
                  <a:pt x="718543" y="466473"/>
                  <a:pt x="718543" y="484465"/>
                </a:cubicBezTo>
                <a:cubicBezTo>
                  <a:pt x="718543" y="502457"/>
                  <a:pt x="721282" y="475250"/>
                  <a:pt x="712193" y="547965"/>
                </a:cubicBezTo>
                <a:cubicBezTo>
                  <a:pt x="711135" y="592415"/>
                  <a:pt x="710760" y="636887"/>
                  <a:pt x="709018" y="681315"/>
                </a:cubicBezTo>
                <a:cubicBezTo>
                  <a:pt x="708642" y="690891"/>
                  <a:pt x="707032" y="700380"/>
                  <a:pt x="705843" y="709890"/>
                </a:cubicBezTo>
                <a:cubicBezTo>
                  <a:pt x="704915" y="717316"/>
                  <a:pt x="709565" y="729211"/>
                  <a:pt x="702668" y="732115"/>
                </a:cubicBezTo>
                <a:cubicBezTo>
                  <a:pt x="685084" y="739519"/>
                  <a:pt x="664568" y="734232"/>
                  <a:pt x="645518" y="735290"/>
                </a:cubicBezTo>
                <a:cubicBezTo>
                  <a:pt x="605192" y="734306"/>
                  <a:pt x="564026" y="740582"/>
                  <a:pt x="521693" y="741640"/>
                </a:cubicBezTo>
                <a:cubicBezTo>
                  <a:pt x="479360" y="742698"/>
                  <a:pt x="441260" y="742698"/>
                  <a:pt x="391518" y="741640"/>
                </a:cubicBezTo>
                <a:cubicBezTo>
                  <a:pt x="341776" y="740582"/>
                  <a:pt x="279335" y="736348"/>
                  <a:pt x="223243" y="735290"/>
                </a:cubicBezTo>
                <a:lnTo>
                  <a:pt x="102593" y="735290"/>
                </a:lnTo>
                <a:cubicBezTo>
                  <a:pt x="80368" y="734232"/>
                  <a:pt x="27451" y="740582"/>
                  <a:pt x="10518" y="725765"/>
                </a:cubicBezTo>
                <a:cubicBezTo>
                  <a:pt x="-6415" y="710948"/>
                  <a:pt x="2581" y="734232"/>
                  <a:pt x="993" y="646390"/>
                </a:cubicBezTo>
                <a:cubicBezTo>
                  <a:pt x="-595" y="558548"/>
                  <a:pt x="464" y="296611"/>
                  <a:pt x="993" y="198715"/>
                </a:cubicBezTo>
                <a:cubicBezTo>
                  <a:pt x="1297" y="178477"/>
                  <a:pt x="790" y="123733"/>
                  <a:pt x="4168" y="103465"/>
                </a:cubicBezTo>
                <a:cubicBezTo>
                  <a:pt x="6814" y="74890"/>
                  <a:pt x="-65" y="23561"/>
                  <a:pt x="7343" y="8215"/>
                </a:cubicBezTo>
                <a:close/>
              </a:path>
            </a:pathLst>
          </a:cu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Comic Sans MS" panose="030F0902030302020204" pitchFamily="66" charset="0"/>
              </a:rPr>
              <a:t>H</a:t>
            </a:r>
          </a:p>
        </p:txBody>
      </p:sp>
      <p:sp>
        <p:nvSpPr>
          <p:cNvPr id="10" name="Freeform 9">
            <a:extLst>
              <a:ext uri="{FF2B5EF4-FFF2-40B4-BE49-F238E27FC236}">
                <a16:creationId xmlns:a16="http://schemas.microsoft.com/office/drawing/2014/main" id="{CE3F88F0-8A6C-1041-9CB5-11071689CFB2}"/>
              </a:ext>
            </a:extLst>
          </p:cNvPr>
          <p:cNvSpPr/>
          <p:nvPr/>
        </p:nvSpPr>
        <p:spPr>
          <a:xfrm>
            <a:off x="5423390" y="1285634"/>
            <a:ext cx="4797286" cy="4850295"/>
          </a:xfrm>
          <a:custGeom>
            <a:avLst/>
            <a:gdLst>
              <a:gd name="connsiteX0" fmla="*/ 13252 w 4797286"/>
              <a:gd name="connsiteY0" fmla="*/ 0 h 4850295"/>
              <a:gd name="connsiteX1" fmla="*/ 2425147 w 4797286"/>
              <a:gd name="connsiteY1" fmla="*/ 0 h 4850295"/>
              <a:gd name="connsiteX2" fmla="*/ 4770782 w 4797286"/>
              <a:gd name="connsiteY2" fmla="*/ 53008 h 4850295"/>
              <a:gd name="connsiteX3" fmla="*/ 4784034 w 4797286"/>
              <a:gd name="connsiteY3" fmla="*/ 1364974 h 4850295"/>
              <a:gd name="connsiteX4" fmla="*/ 4797286 w 4797286"/>
              <a:gd name="connsiteY4" fmla="*/ 3737113 h 4850295"/>
              <a:gd name="connsiteX5" fmla="*/ 4797286 w 4797286"/>
              <a:gd name="connsiteY5" fmla="*/ 4850295 h 4850295"/>
              <a:gd name="connsiteX6" fmla="*/ 2054086 w 4797286"/>
              <a:gd name="connsiteY6" fmla="*/ 4850295 h 4850295"/>
              <a:gd name="connsiteX7" fmla="*/ 477078 w 4797286"/>
              <a:gd name="connsiteY7" fmla="*/ 4837043 h 4850295"/>
              <a:gd name="connsiteX8" fmla="*/ 0 w 4797286"/>
              <a:gd name="connsiteY8" fmla="*/ 4850295 h 4850295"/>
              <a:gd name="connsiteX9" fmla="*/ 39756 w 4797286"/>
              <a:gd name="connsiteY9" fmla="*/ 2213113 h 4850295"/>
              <a:gd name="connsiteX10" fmla="*/ 39756 w 4797286"/>
              <a:gd name="connsiteY10" fmla="*/ 848139 h 4850295"/>
              <a:gd name="connsiteX11" fmla="*/ 13252 w 4797286"/>
              <a:gd name="connsiteY11" fmla="*/ 119269 h 4850295"/>
              <a:gd name="connsiteX12" fmla="*/ 13252 w 4797286"/>
              <a:gd name="connsiteY12" fmla="*/ 0 h 4850295"/>
              <a:gd name="connsiteX0" fmla="*/ 13252 w 4797286"/>
              <a:gd name="connsiteY0" fmla="*/ 0 h 4850295"/>
              <a:gd name="connsiteX1" fmla="*/ 2425147 w 4797286"/>
              <a:gd name="connsiteY1" fmla="*/ 0 h 4850295"/>
              <a:gd name="connsiteX2" fmla="*/ 4777870 w 4797286"/>
              <a:gd name="connsiteY2" fmla="*/ 10478 h 4850295"/>
              <a:gd name="connsiteX3" fmla="*/ 4784034 w 4797286"/>
              <a:gd name="connsiteY3" fmla="*/ 1364974 h 4850295"/>
              <a:gd name="connsiteX4" fmla="*/ 4797286 w 4797286"/>
              <a:gd name="connsiteY4" fmla="*/ 3737113 h 4850295"/>
              <a:gd name="connsiteX5" fmla="*/ 4797286 w 4797286"/>
              <a:gd name="connsiteY5" fmla="*/ 4850295 h 4850295"/>
              <a:gd name="connsiteX6" fmla="*/ 2054086 w 4797286"/>
              <a:gd name="connsiteY6" fmla="*/ 4850295 h 4850295"/>
              <a:gd name="connsiteX7" fmla="*/ 477078 w 4797286"/>
              <a:gd name="connsiteY7" fmla="*/ 4837043 h 4850295"/>
              <a:gd name="connsiteX8" fmla="*/ 0 w 4797286"/>
              <a:gd name="connsiteY8" fmla="*/ 4850295 h 4850295"/>
              <a:gd name="connsiteX9" fmla="*/ 39756 w 4797286"/>
              <a:gd name="connsiteY9" fmla="*/ 2213113 h 4850295"/>
              <a:gd name="connsiteX10" fmla="*/ 39756 w 4797286"/>
              <a:gd name="connsiteY10" fmla="*/ 848139 h 4850295"/>
              <a:gd name="connsiteX11" fmla="*/ 13252 w 4797286"/>
              <a:gd name="connsiteY11" fmla="*/ 119269 h 4850295"/>
              <a:gd name="connsiteX12" fmla="*/ 13252 w 4797286"/>
              <a:gd name="connsiteY12" fmla="*/ 0 h 4850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97286" h="4850295">
                <a:moveTo>
                  <a:pt x="13252" y="0"/>
                </a:moveTo>
                <a:lnTo>
                  <a:pt x="2425147" y="0"/>
                </a:lnTo>
                <a:lnTo>
                  <a:pt x="4777870" y="10478"/>
                </a:lnTo>
                <a:cubicBezTo>
                  <a:pt x="4779925" y="461977"/>
                  <a:pt x="4781979" y="913475"/>
                  <a:pt x="4784034" y="1364974"/>
                </a:cubicBezTo>
                <a:cubicBezTo>
                  <a:pt x="4788451" y="2155687"/>
                  <a:pt x="4792869" y="2946400"/>
                  <a:pt x="4797286" y="3737113"/>
                </a:cubicBezTo>
                <a:lnTo>
                  <a:pt x="4797286" y="4850295"/>
                </a:lnTo>
                <a:lnTo>
                  <a:pt x="2054086" y="4850295"/>
                </a:lnTo>
                <a:lnTo>
                  <a:pt x="477078" y="4837043"/>
                </a:lnTo>
                <a:lnTo>
                  <a:pt x="0" y="4850295"/>
                </a:lnTo>
                <a:lnTo>
                  <a:pt x="39756" y="2213113"/>
                </a:lnTo>
                <a:lnTo>
                  <a:pt x="39756" y="848139"/>
                </a:lnTo>
                <a:lnTo>
                  <a:pt x="13252" y="119269"/>
                </a:lnTo>
                <a:lnTo>
                  <a:pt x="13252" y="0"/>
                </a:lnTo>
                <a:close/>
              </a:path>
            </a:pathLst>
          </a:cu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omic Sans MS" panose="030F0902030302020204" pitchFamily="66" charset="0"/>
              </a:rPr>
              <a:t>Quantum circuit</a:t>
            </a:r>
          </a:p>
        </p:txBody>
      </p:sp>
    </p:spTree>
    <p:extLst>
      <p:ext uri="{BB962C8B-B14F-4D97-AF65-F5344CB8AC3E}">
        <p14:creationId xmlns:p14="http://schemas.microsoft.com/office/powerpoint/2010/main" val="12030354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21468-F0A2-2940-AECA-8084D3B9CEA9}"/>
              </a:ext>
            </a:extLst>
          </p:cNvPr>
          <p:cNvSpPr>
            <a:spLocks noGrp="1"/>
          </p:cNvSpPr>
          <p:nvPr>
            <p:ph type="title"/>
          </p:nvPr>
        </p:nvSpPr>
        <p:spPr/>
        <p:txBody>
          <a:bodyPr/>
          <a:lstStyle/>
          <a:p>
            <a:r>
              <a:rPr lang="en-ZA" dirty="0"/>
              <a:t>Single-Qubit Superposition</a:t>
            </a:r>
            <a:endParaRPr lang="en-US" dirty="0"/>
          </a:p>
        </p:txBody>
      </p:sp>
      <p:sp>
        <p:nvSpPr>
          <p:cNvPr id="3" name="Slide Number Placeholder 2">
            <a:extLst>
              <a:ext uri="{FF2B5EF4-FFF2-40B4-BE49-F238E27FC236}">
                <a16:creationId xmlns:a16="http://schemas.microsoft.com/office/drawing/2014/main" id="{86251094-C392-504A-BB6D-9B0B7E7415E9}"/>
              </a:ext>
            </a:extLst>
          </p:cNvPr>
          <p:cNvSpPr>
            <a:spLocks noGrp="1"/>
          </p:cNvSpPr>
          <p:nvPr>
            <p:ph type="sldNum" sz="quarter" idx="12"/>
          </p:nvPr>
        </p:nvSpPr>
        <p:spPr/>
        <p:txBody>
          <a:bodyPr/>
          <a:lstStyle/>
          <a:p>
            <a:fld id="{591A223C-FA10-BC46-A853-03BA373D023C}" type="slidenum">
              <a:rPr lang="en-US" smtClean="0"/>
              <a:t>25</a:t>
            </a:fld>
            <a:endParaRPr lang="en-US"/>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9F5BDF59-F5E8-374D-965D-034193F338D1}"/>
                  </a:ext>
                </a:extLst>
              </p:cNvPr>
              <p:cNvSpPr/>
              <p:nvPr/>
            </p:nvSpPr>
            <p:spPr>
              <a:xfrm>
                <a:off x="1361517" y="2283024"/>
                <a:ext cx="63639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sr-Latn-RS" sz="2400" b="0" i="1" smtClean="0">
                              <a:solidFill>
                                <a:srgbClr val="002060"/>
                              </a:solidFill>
                              <a:latin typeface="Cambria Math" panose="02040503050406030204" pitchFamily="18" charset="0"/>
                              <a:ea typeface="Cambria Math" panose="02040503050406030204" pitchFamily="18" charset="0"/>
                            </a:rPr>
                            <m:t>𝑞</m:t>
                          </m:r>
                        </m:e>
                      </m:d>
                    </m:oMath>
                  </m:oMathPara>
                </a14:m>
                <a:endParaRPr lang="en-US" sz="2400" dirty="0"/>
              </a:p>
            </p:txBody>
          </p:sp>
        </mc:Choice>
        <mc:Fallback xmlns="">
          <p:sp>
            <p:nvSpPr>
              <p:cNvPr id="9" name="Rectangle 8">
                <a:extLst>
                  <a:ext uri="{FF2B5EF4-FFF2-40B4-BE49-F238E27FC236}">
                    <a16:creationId xmlns:a16="http://schemas.microsoft.com/office/drawing/2014/main" id="{9F5BDF59-F5E8-374D-965D-034193F338D1}"/>
                  </a:ext>
                </a:extLst>
              </p:cNvPr>
              <p:cNvSpPr>
                <a:spLocks noRot="1" noChangeAspect="1" noMove="1" noResize="1" noEditPoints="1" noAdjustHandles="1" noChangeArrowheads="1" noChangeShapeType="1" noTextEdit="1"/>
              </p:cNvSpPr>
              <p:nvPr/>
            </p:nvSpPr>
            <p:spPr>
              <a:xfrm>
                <a:off x="1361517" y="2283024"/>
                <a:ext cx="636392" cy="461665"/>
              </a:xfrm>
              <a:prstGeom prst="rect">
                <a:avLst/>
              </a:prstGeom>
              <a:blipFill>
                <a:blip r:embed="rId3"/>
                <a:stretch>
                  <a:fillRect l="-23529" t="-133333" r="-49020" b="-1972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FBF2E6C3-7CD3-E946-8DA3-5DC8EAC3C570}"/>
                  </a:ext>
                </a:extLst>
              </p:cNvPr>
              <p:cNvSpPr/>
              <p:nvPr/>
            </p:nvSpPr>
            <p:spPr>
              <a:xfrm>
                <a:off x="1355945" y="4402388"/>
                <a:ext cx="3200748" cy="8781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2060"/>
                          </a:solidFill>
                          <a:latin typeface="Cambria Math" panose="02040503050406030204" pitchFamily="18" charset="0"/>
                          <a:ea typeface="Cambria Math" panose="02040503050406030204" pitchFamily="18" charset="0"/>
                        </a:rPr>
                        <m:t>𝐻</m:t>
                      </m:r>
                      <m:r>
                        <a:rPr lang="en-US" sz="24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sr-Latn-RS" sz="2400" b="0" i="1" smtClean="0">
                              <a:solidFill>
                                <a:srgbClr val="002060"/>
                              </a:solidFill>
                              <a:latin typeface="Cambria Math" panose="02040503050406030204" pitchFamily="18" charset="0"/>
                              <a:ea typeface="Cambria Math" panose="02040503050406030204" pitchFamily="18" charset="0"/>
                            </a:rPr>
                            <m:t>𝑞</m:t>
                          </m:r>
                        </m:e>
                      </m:d>
                      <m:r>
                        <a:rPr lang="en-US" sz="2400" b="0" i="1" smtClean="0">
                          <a:solidFill>
                            <a:srgbClr val="002060"/>
                          </a:solidFill>
                          <a:latin typeface="Cambria Math" panose="02040503050406030204" pitchFamily="18" charset="0"/>
                          <a:ea typeface="Cambria Math" panose="02040503050406030204" pitchFamily="18" charset="0"/>
                        </a:rPr>
                        <m:t>=</m:t>
                      </m:r>
                      <m:f>
                        <m:fPr>
                          <m:ctrlPr>
                            <a:rPr lang="en-US" sz="2400" b="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b="0" i="1" smtClean="0">
                                      <a:solidFill>
                                        <a:srgbClr val="002060"/>
                                      </a:solidFill>
                                      <a:latin typeface="Cambria Math" panose="02040503050406030204" pitchFamily="18" charset="0"/>
                                      <a:ea typeface="Cambria Math" panose="02040503050406030204" pitchFamily="18" charset="0"/>
                                    </a:rPr>
                                    <m:t>0</m:t>
                                  </m:r>
                                </m:e>
                              </m:d>
                              <m:r>
                                <a:rPr lang="en-US" sz="2400" b="0" i="1" smtClean="0">
                                  <a:solidFill>
                                    <a:srgbClr val="002060"/>
                                  </a:solidFill>
                                  <a:latin typeface="Cambria Math" panose="02040503050406030204" pitchFamily="18" charset="0"/>
                                  <a:ea typeface="Cambria Math" panose="02040503050406030204" pitchFamily="18" charset="0"/>
                                </a:rPr>
                                <m:t>+</m:t>
                              </m:r>
                              <m:sSup>
                                <m:sSupPr>
                                  <m:ctrlPr>
                                    <a:rPr lang="en-US" sz="2400" b="0" i="1" smtClean="0">
                                      <a:solidFill>
                                        <a:srgbClr val="002060"/>
                                      </a:solidFill>
                                      <a:latin typeface="Cambria Math" panose="02040503050406030204" pitchFamily="18" charset="0"/>
                                      <a:ea typeface="Cambria Math" panose="02040503050406030204" pitchFamily="18" charset="0"/>
                                    </a:rPr>
                                  </m:ctrlPr>
                                </m:sSupPr>
                                <m:e>
                                  <m:d>
                                    <m:dPr>
                                      <m:ctrlPr>
                                        <a:rPr lang="en-US" sz="2400" b="0" i="1" smtClean="0">
                                          <a:solidFill>
                                            <a:srgbClr val="002060"/>
                                          </a:solidFill>
                                          <a:latin typeface="Cambria Math" panose="02040503050406030204" pitchFamily="18" charset="0"/>
                                          <a:ea typeface="Cambria Math" panose="02040503050406030204" pitchFamily="18" charset="0"/>
                                        </a:rPr>
                                      </m:ctrlPr>
                                    </m:dPr>
                                    <m:e>
                                      <m:r>
                                        <a:rPr lang="en-US" sz="2400" b="0" i="1" smtClean="0">
                                          <a:solidFill>
                                            <a:srgbClr val="002060"/>
                                          </a:solidFill>
                                          <a:latin typeface="Cambria Math" panose="02040503050406030204" pitchFamily="18" charset="0"/>
                                          <a:ea typeface="Cambria Math" panose="02040503050406030204" pitchFamily="18" charset="0"/>
                                        </a:rPr>
                                        <m:t>−1</m:t>
                                      </m:r>
                                    </m:e>
                                  </m:d>
                                </m:e>
                                <m:sup>
                                  <m:r>
                                    <a:rPr lang="sr-Latn-RS" sz="2400" b="0" i="1" smtClean="0">
                                      <a:solidFill>
                                        <a:srgbClr val="002060"/>
                                      </a:solidFill>
                                      <a:latin typeface="Cambria Math" panose="02040503050406030204" pitchFamily="18" charset="0"/>
                                      <a:ea typeface="Cambria Math" panose="02040503050406030204" pitchFamily="18" charset="0"/>
                                    </a:rPr>
                                    <m:t>𝑞</m:t>
                                  </m:r>
                                </m:sup>
                              </m:sSup>
                            </m:e>
                          </m:d>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b="0" i="1" smtClean="0">
                                  <a:solidFill>
                                    <a:srgbClr val="002060"/>
                                  </a:solidFill>
                                  <a:latin typeface="Cambria Math" panose="02040503050406030204" pitchFamily="18" charset="0"/>
                                  <a:ea typeface="Cambria Math" panose="02040503050406030204" pitchFamily="18" charset="0"/>
                                </a:rPr>
                                <m:t>1</m:t>
                              </m:r>
                            </m:e>
                          </m:d>
                        </m:num>
                        <m:den>
                          <m:rad>
                            <m:radPr>
                              <m:degHide m:val="on"/>
                              <m:ctrlPr>
                                <a:rPr lang="en-US" sz="2400" b="0" i="1" smtClean="0">
                                  <a:solidFill>
                                    <a:srgbClr val="002060"/>
                                  </a:solidFill>
                                  <a:latin typeface="Cambria Math" panose="02040503050406030204" pitchFamily="18" charset="0"/>
                                  <a:ea typeface="Cambria Math" panose="02040503050406030204" pitchFamily="18" charset="0"/>
                                </a:rPr>
                              </m:ctrlPr>
                            </m:radPr>
                            <m:deg/>
                            <m:e>
                              <m:r>
                                <a:rPr lang="en-US" sz="2400" b="0" i="1" smtClean="0">
                                  <a:solidFill>
                                    <a:srgbClr val="002060"/>
                                  </a:solidFill>
                                  <a:latin typeface="Cambria Math" panose="02040503050406030204" pitchFamily="18" charset="0"/>
                                  <a:ea typeface="Cambria Math" panose="02040503050406030204" pitchFamily="18" charset="0"/>
                                </a:rPr>
                                <m:t>2</m:t>
                              </m:r>
                            </m:e>
                          </m:rad>
                        </m:den>
                      </m:f>
                    </m:oMath>
                  </m:oMathPara>
                </a14:m>
                <a:endParaRPr lang="en-US" sz="2400" dirty="0"/>
              </a:p>
            </p:txBody>
          </p:sp>
        </mc:Choice>
        <mc:Fallback xmlns="">
          <p:sp>
            <p:nvSpPr>
              <p:cNvPr id="11" name="Rectangle 10">
                <a:extLst>
                  <a:ext uri="{FF2B5EF4-FFF2-40B4-BE49-F238E27FC236}">
                    <a16:creationId xmlns:a16="http://schemas.microsoft.com/office/drawing/2014/main" id="{FBF2E6C3-7CD3-E946-8DA3-5DC8EAC3C570}"/>
                  </a:ext>
                </a:extLst>
              </p:cNvPr>
              <p:cNvSpPr>
                <a:spLocks noRot="1" noChangeAspect="1" noMove="1" noResize="1" noEditPoints="1" noAdjustHandles="1" noChangeArrowheads="1" noChangeShapeType="1" noTextEdit="1"/>
              </p:cNvSpPr>
              <p:nvPr/>
            </p:nvSpPr>
            <p:spPr>
              <a:xfrm>
                <a:off x="1355945" y="4402388"/>
                <a:ext cx="3200748" cy="878189"/>
              </a:xfrm>
              <a:prstGeom prst="rect">
                <a:avLst/>
              </a:prstGeom>
              <a:blipFill>
                <a:blip r:embed="rId4"/>
                <a:stretch>
                  <a:fillRect t="-67143" r="-9486" b="-7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FB4A0634-F878-234D-98BE-2F3028A11CE2}"/>
                  </a:ext>
                </a:extLst>
              </p:cNvPr>
              <p:cNvSpPr/>
              <p:nvPr/>
            </p:nvSpPr>
            <p:spPr>
              <a:xfrm>
                <a:off x="3146140" y="1971361"/>
                <a:ext cx="2397387" cy="16953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b="0" i="1" smtClean="0">
                              <a:solidFill>
                                <a:srgbClr val="002060"/>
                              </a:solidFill>
                              <a:latin typeface="Cambria Math" panose="02040503050406030204" pitchFamily="18" charset="0"/>
                              <a:ea typeface="Cambria Math" panose="02040503050406030204" pitchFamily="18" charset="0"/>
                            </a:rPr>
                          </m:ctrlPr>
                        </m:dPr>
                        <m:e>
                          <m:m>
                            <m:mPr>
                              <m:mcs>
                                <m:mc>
                                  <m:mcPr>
                                    <m:count m:val="1"/>
                                    <m:mcJc m:val="center"/>
                                  </m:mcPr>
                                </m:mc>
                              </m:mcs>
                              <m:ctrlPr>
                                <a:rPr lang="en-US" sz="2200" b="0" i="1" smtClean="0">
                                  <a:solidFill>
                                    <a:srgbClr val="002060"/>
                                  </a:solidFill>
                                  <a:latin typeface="Cambria Math" panose="02040503050406030204" pitchFamily="18" charset="0"/>
                                  <a:ea typeface="Cambria Math" panose="02040503050406030204" pitchFamily="18" charset="0"/>
                                </a:rPr>
                              </m:ctrlPr>
                            </m:mPr>
                            <m:mr>
                              <m:e>
                                <m:r>
                                  <a:rPr lang="en-US" sz="2200" i="1">
                                    <a:solidFill>
                                      <a:srgbClr val="002060"/>
                                    </a:solidFill>
                                    <a:latin typeface="Cambria Math" panose="02040503050406030204" pitchFamily="18" charset="0"/>
                                    <a:ea typeface="Cambria Math" panose="02040503050406030204" pitchFamily="18" charset="0"/>
                                  </a:rPr>
                                  <m:t>𝐻</m:t>
                                </m:r>
                                <m:r>
                                  <a:rPr lang="en-US" sz="2200" i="1">
                                    <a:solidFill>
                                      <a:srgbClr val="002060"/>
                                    </a:solidFill>
                                    <a:latin typeface="Cambria Math" panose="02040503050406030204" pitchFamily="18" charset="0"/>
                                    <a:ea typeface="Cambria Math" panose="02040503050406030204" pitchFamily="18" charset="0"/>
                                  </a:rPr>
                                  <m:t>|</m:t>
                                </m:r>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0</m:t>
                                    </m:r>
                                  </m:e>
                                </m:d>
                                <m:r>
                                  <a:rPr lang="en-US" sz="2200" b="0" i="1" smtClean="0">
                                    <a:solidFill>
                                      <a:srgbClr val="002060"/>
                                    </a:solidFill>
                                    <a:latin typeface="Cambria Math" panose="02040503050406030204" pitchFamily="18" charset="0"/>
                                    <a:ea typeface="Cambria Math" panose="02040503050406030204" pitchFamily="18" charset="0"/>
                                  </a:rPr>
                                  <m:t>=</m:t>
                                </m:r>
                                <m:f>
                                  <m:fPr>
                                    <m:ctrlPr>
                                      <a:rPr lang="en-US" sz="2200" i="1">
                                        <a:solidFill>
                                          <a:srgbClr val="002060"/>
                                        </a:solidFill>
                                        <a:latin typeface="Cambria Math" panose="02040503050406030204" pitchFamily="18" charset="0"/>
                                        <a:ea typeface="Cambria Math" panose="02040503050406030204" pitchFamily="18" charset="0"/>
                                      </a:rPr>
                                    </m:ctrlPr>
                                  </m:fPr>
                                  <m:num>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|0</m:t>
                                        </m:r>
                                      </m:e>
                                    </m:d>
                                    <m:r>
                                      <a:rPr lang="en-US" sz="22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m:t>
                                        </m:r>
                                        <m:r>
                                          <a:rPr lang="en-US" sz="2200" b="0" i="1" smtClean="0">
                                            <a:solidFill>
                                              <a:srgbClr val="002060"/>
                                            </a:solidFill>
                                            <a:latin typeface="Cambria Math" panose="02040503050406030204" pitchFamily="18" charset="0"/>
                                            <a:ea typeface="Cambria Math" panose="02040503050406030204" pitchFamily="18" charset="0"/>
                                          </a:rPr>
                                          <m:t>1</m:t>
                                        </m:r>
                                      </m:e>
                                    </m:d>
                                  </m:num>
                                  <m:den>
                                    <m:rad>
                                      <m:radPr>
                                        <m:degHide m:val="on"/>
                                        <m:ctrlPr>
                                          <a:rPr lang="en-US" sz="2200" i="1">
                                            <a:solidFill>
                                              <a:srgbClr val="002060"/>
                                            </a:solidFill>
                                            <a:latin typeface="Cambria Math" panose="02040503050406030204" pitchFamily="18" charset="0"/>
                                            <a:ea typeface="Cambria Math" panose="02040503050406030204" pitchFamily="18" charset="0"/>
                                          </a:rPr>
                                        </m:ctrlPr>
                                      </m:radPr>
                                      <m:deg/>
                                      <m:e>
                                        <m:r>
                                          <a:rPr lang="en-US" sz="2200" i="1">
                                            <a:solidFill>
                                              <a:srgbClr val="002060"/>
                                            </a:solidFill>
                                            <a:latin typeface="Cambria Math" panose="02040503050406030204" pitchFamily="18" charset="0"/>
                                            <a:ea typeface="Cambria Math" panose="02040503050406030204" pitchFamily="18" charset="0"/>
                                          </a:rPr>
                                          <m:t>2</m:t>
                                        </m:r>
                                      </m:e>
                                    </m:rad>
                                  </m:den>
                                </m:f>
                              </m:e>
                            </m:mr>
                            <m:mr>
                              <m:e>
                                <m:r>
                                  <a:rPr lang="en-US" sz="2200" i="1">
                                    <a:solidFill>
                                      <a:srgbClr val="002060"/>
                                    </a:solidFill>
                                    <a:latin typeface="Cambria Math" panose="02040503050406030204" pitchFamily="18" charset="0"/>
                                    <a:ea typeface="Cambria Math" panose="02040503050406030204" pitchFamily="18" charset="0"/>
                                  </a:rPr>
                                  <m:t>𝐻</m:t>
                                </m:r>
                                <m:r>
                                  <a:rPr lang="en-US" sz="2200" i="1">
                                    <a:solidFill>
                                      <a:srgbClr val="002060"/>
                                    </a:solidFill>
                                    <a:latin typeface="Cambria Math" panose="02040503050406030204" pitchFamily="18" charset="0"/>
                                    <a:ea typeface="Cambria Math" panose="02040503050406030204" pitchFamily="18" charset="0"/>
                                  </a:rPr>
                                  <m:t>|</m:t>
                                </m:r>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b="0" i="1" smtClean="0">
                                        <a:solidFill>
                                          <a:srgbClr val="002060"/>
                                        </a:solidFill>
                                        <a:latin typeface="Cambria Math" panose="02040503050406030204" pitchFamily="18" charset="0"/>
                                        <a:ea typeface="Cambria Math" panose="02040503050406030204" pitchFamily="18" charset="0"/>
                                      </a:rPr>
                                      <m:t>1</m:t>
                                    </m:r>
                                  </m:e>
                                </m:d>
                                <m:r>
                                  <a:rPr lang="en-US" sz="2200" i="1">
                                    <a:solidFill>
                                      <a:srgbClr val="002060"/>
                                    </a:solidFill>
                                    <a:latin typeface="Cambria Math" panose="02040503050406030204" pitchFamily="18" charset="0"/>
                                    <a:ea typeface="Cambria Math" panose="02040503050406030204" pitchFamily="18" charset="0"/>
                                  </a:rPr>
                                  <m:t>=</m:t>
                                </m:r>
                                <m:f>
                                  <m:fPr>
                                    <m:ctrlPr>
                                      <a:rPr lang="en-US" sz="2200" i="1">
                                        <a:solidFill>
                                          <a:srgbClr val="002060"/>
                                        </a:solidFill>
                                        <a:latin typeface="Cambria Math" panose="02040503050406030204" pitchFamily="18" charset="0"/>
                                        <a:ea typeface="Cambria Math" panose="02040503050406030204" pitchFamily="18" charset="0"/>
                                      </a:rPr>
                                    </m:ctrlPr>
                                  </m:fPr>
                                  <m:num>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|0</m:t>
                                        </m:r>
                                      </m:e>
                                    </m:d>
                                    <m:r>
                                      <a:rPr lang="en-US" sz="22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|1</m:t>
                                        </m:r>
                                      </m:e>
                                    </m:d>
                                  </m:num>
                                  <m:den>
                                    <m:rad>
                                      <m:radPr>
                                        <m:degHide m:val="on"/>
                                        <m:ctrlPr>
                                          <a:rPr lang="en-US" sz="2200" i="1">
                                            <a:solidFill>
                                              <a:srgbClr val="002060"/>
                                            </a:solidFill>
                                            <a:latin typeface="Cambria Math" panose="02040503050406030204" pitchFamily="18" charset="0"/>
                                            <a:ea typeface="Cambria Math" panose="02040503050406030204" pitchFamily="18" charset="0"/>
                                          </a:rPr>
                                        </m:ctrlPr>
                                      </m:radPr>
                                      <m:deg/>
                                      <m:e>
                                        <m:r>
                                          <a:rPr lang="en-US" sz="2200" i="1">
                                            <a:solidFill>
                                              <a:srgbClr val="002060"/>
                                            </a:solidFill>
                                            <a:latin typeface="Cambria Math" panose="02040503050406030204" pitchFamily="18" charset="0"/>
                                            <a:ea typeface="Cambria Math" panose="02040503050406030204" pitchFamily="18" charset="0"/>
                                          </a:rPr>
                                          <m:t>2</m:t>
                                        </m:r>
                                      </m:e>
                                    </m:rad>
                                  </m:den>
                                </m:f>
                              </m:e>
                            </m:mr>
                          </m:m>
                        </m:e>
                      </m:d>
                    </m:oMath>
                  </m:oMathPara>
                </a14:m>
                <a:endParaRPr lang="en-US" sz="2200" dirty="0"/>
              </a:p>
            </p:txBody>
          </p:sp>
        </mc:Choice>
        <mc:Fallback xmlns="">
          <p:sp>
            <p:nvSpPr>
              <p:cNvPr id="14" name="Rectangle 13">
                <a:extLst>
                  <a:ext uri="{FF2B5EF4-FFF2-40B4-BE49-F238E27FC236}">
                    <a16:creationId xmlns:a16="http://schemas.microsoft.com/office/drawing/2014/main" id="{FB4A0634-F878-234D-98BE-2F3028A11CE2}"/>
                  </a:ext>
                </a:extLst>
              </p:cNvPr>
              <p:cNvSpPr>
                <a:spLocks noRot="1" noChangeAspect="1" noMove="1" noResize="1" noEditPoints="1" noAdjustHandles="1" noChangeArrowheads="1" noChangeShapeType="1" noTextEdit="1"/>
              </p:cNvSpPr>
              <p:nvPr/>
            </p:nvSpPr>
            <p:spPr>
              <a:xfrm>
                <a:off x="3146140" y="1971361"/>
                <a:ext cx="2397387" cy="1695336"/>
              </a:xfrm>
              <a:prstGeom prst="rect">
                <a:avLst/>
              </a:prstGeom>
              <a:blipFill>
                <a:blip r:embed="rId5"/>
                <a:stretch>
                  <a:fillRect t="-28148" r="-11640" b="-32593"/>
                </a:stretch>
              </a:blipFill>
            </p:spPr>
            <p:txBody>
              <a:bodyPr/>
              <a:lstStyle/>
              <a:p>
                <a:r>
                  <a:rPr lang="en-US">
                    <a:noFill/>
                  </a:rPr>
                  <a:t> </a:t>
                </a:r>
              </a:p>
            </p:txBody>
          </p:sp>
        </mc:Fallback>
      </mc:AlternateContent>
      <p:grpSp>
        <p:nvGrpSpPr>
          <p:cNvPr id="15" name="Group 14">
            <a:extLst>
              <a:ext uri="{FF2B5EF4-FFF2-40B4-BE49-F238E27FC236}">
                <a16:creationId xmlns:a16="http://schemas.microsoft.com/office/drawing/2014/main" id="{12D60914-F0A5-2A4E-A45A-02131444ED42}"/>
              </a:ext>
            </a:extLst>
          </p:cNvPr>
          <p:cNvGrpSpPr/>
          <p:nvPr/>
        </p:nvGrpSpPr>
        <p:grpSpPr>
          <a:xfrm>
            <a:off x="1603910" y="2471123"/>
            <a:ext cx="1603550" cy="720000"/>
            <a:chOff x="9910446" y="5217879"/>
            <a:chExt cx="1603550" cy="720000"/>
          </a:xfrm>
        </p:grpSpPr>
        <p:cxnSp>
          <p:nvCxnSpPr>
            <p:cNvPr id="16" name="Straight Connector 15">
              <a:extLst>
                <a:ext uri="{FF2B5EF4-FFF2-40B4-BE49-F238E27FC236}">
                  <a16:creationId xmlns:a16="http://schemas.microsoft.com/office/drawing/2014/main" id="{7924E9FD-0738-7646-8452-0AF93AEEB8EA}"/>
                </a:ext>
              </a:extLst>
            </p:cNvPr>
            <p:cNvCxnSpPr>
              <a:cxnSpLocks/>
            </p:cNvCxnSpPr>
            <p:nvPr/>
          </p:nvCxnSpPr>
          <p:spPr>
            <a:xfrm>
              <a:off x="9910446" y="5565785"/>
              <a:ext cx="160355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337245C8-DD6B-0C4B-A006-3E3D9EAA876A}"/>
                </a:ext>
              </a:extLst>
            </p:cNvPr>
            <p:cNvSpPr/>
            <p:nvPr/>
          </p:nvSpPr>
          <p:spPr>
            <a:xfrm>
              <a:off x="10363873" y="5217879"/>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grpSp>
      <p:sp>
        <p:nvSpPr>
          <p:cNvPr id="34" name="TextBox 33">
            <a:extLst>
              <a:ext uri="{FF2B5EF4-FFF2-40B4-BE49-F238E27FC236}">
                <a16:creationId xmlns:a16="http://schemas.microsoft.com/office/drawing/2014/main" id="{9E317B9E-41AF-1747-9071-EEEC5F5F8787}"/>
              </a:ext>
            </a:extLst>
          </p:cNvPr>
          <p:cNvSpPr txBox="1"/>
          <p:nvPr/>
        </p:nvSpPr>
        <p:spPr>
          <a:xfrm>
            <a:off x="8034728" y="1289154"/>
            <a:ext cx="184731" cy="369332"/>
          </a:xfrm>
          <a:prstGeom prst="rect">
            <a:avLst/>
          </a:prstGeom>
          <a:noFill/>
        </p:spPr>
        <p:txBody>
          <a:bodyPr wrap="none" rtlCol="0">
            <a:spAutoFit/>
          </a:bodyPr>
          <a:lstStyle/>
          <a:p>
            <a:endParaRPr lang="en-US" dirty="0"/>
          </a:p>
        </p:txBody>
      </p:sp>
      <p:grpSp>
        <p:nvGrpSpPr>
          <p:cNvPr id="36" name="Group 35">
            <a:extLst>
              <a:ext uri="{FF2B5EF4-FFF2-40B4-BE49-F238E27FC236}">
                <a16:creationId xmlns:a16="http://schemas.microsoft.com/office/drawing/2014/main" id="{9F793BA8-C463-0D49-9FB4-31E06AB47A4B}"/>
              </a:ext>
            </a:extLst>
          </p:cNvPr>
          <p:cNvGrpSpPr/>
          <p:nvPr/>
        </p:nvGrpSpPr>
        <p:grpSpPr>
          <a:xfrm>
            <a:off x="6699407" y="1850204"/>
            <a:ext cx="4106431" cy="1944939"/>
            <a:chOff x="6039943" y="1531461"/>
            <a:chExt cx="4106431" cy="1944939"/>
          </a:xfrm>
        </p:grpSpPr>
        <p:sp>
          <p:nvSpPr>
            <p:cNvPr id="37" name="Oval 36">
              <a:extLst>
                <a:ext uri="{FF2B5EF4-FFF2-40B4-BE49-F238E27FC236}">
                  <a16:creationId xmlns:a16="http://schemas.microsoft.com/office/drawing/2014/main" id="{3BAE8739-CCB1-0346-8871-2E927183BAAD}"/>
                </a:ext>
              </a:extLst>
            </p:cNvPr>
            <p:cNvSpPr>
              <a:spLocks noChangeAspect="1"/>
            </p:cNvSpPr>
            <p:nvPr/>
          </p:nvSpPr>
          <p:spPr>
            <a:xfrm>
              <a:off x="7392456" y="1676400"/>
              <a:ext cx="1800000" cy="1800000"/>
            </a:xfrm>
            <a:prstGeom prst="ellipse">
              <a:avLst/>
            </a:prstGeom>
            <a:gradFill flip="none" rotWithShape="1">
              <a:gsLst>
                <a:gs pos="0">
                  <a:schemeClr val="bg1"/>
                </a:gs>
                <a:gs pos="100000">
                  <a:schemeClr val="accent5">
                    <a:lumMod val="20000"/>
                    <a:lumOff val="80000"/>
                  </a:schemeClr>
                </a:gs>
              </a:gsLst>
              <a:lin ang="5400000" scaled="1"/>
              <a:tileRect/>
            </a:gra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Arrow Connector 37">
              <a:extLst>
                <a:ext uri="{FF2B5EF4-FFF2-40B4-BE49-F238E27FC236}">
                  <a16:creationId xmlns:a16="http://schemas.microsoft.com/office/drawing/2014/main" id="{88917540-59D8-F94D-8026-9FCB341F0F47}"/>
                </a:ext>
              </a:extLst>
            </p:cNvPr>
            <p:cNvCxnSpPr>
              <a:cxnSpLocks/>
            </p:cNvCxnSpPr>
            <p:nvPr/>
          </p:nvCxnSpPr>
          <p:spPr>
            <a:xfrm flipV="1">
              <a:off x="8299462" y="1531461"/>
              <a:ext cx="0" cy="10336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B337CD99-4F5E-3A49-83B3-02E583DD5688}"/>
                </a:ext>
              </a:extLst>
            </p:cNvPr>
            <p:cNvCxnSpPr>
              <a:cxnSpLocks/>
            </p:cNvCxnSpPr>
            <p:nvPr/>
          </p:nvCxnSpPr>
          <p:spPr>
            <a:xfrm>
              <a:off x="8292456" y="2565130"/>
              <a:ext cx="1015332" cy="2481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C3E7FE00-8FF6-874A-8DBB-FDF40B4E3F5A}"/>
                </a:ext>
              </a:extLst>
            </p:cNvPr>
            <p:cNvCxnSpPr>
              <a:cxnSpLocks/>
            </p:cNvCxnSpPr>
            <p:nvPr/>
          </p:nvCxnSpPr>
          <p:spPr>
            <a:xfrm flipH="1">
              <a:off x="7614342" y="2565130"/>
              <a:ext cx="685120" cy="4963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CD7FBD39-49ED-AB4A-9E3B-47DDA7E590BB}"/>
                </a:ext>
              </a:extLst>
            </p:cNvPr>
            <p:cNvSpPr/>
            <p:nvPr/>
          </p:nvSpPr>
          <p:spPr>
            <a:xfrm>
              <a:off x="7399462" y="2152380"/>
              <a:ext cx="1800000" cy="859927"/>
            </a:xfrm>
            <a:prstGeom prst="ellipse">
              <a:avLst/>
            </a:prstGeom>
            <a:noFill/>
            <a:ln w="635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Arrow Connector 41">
              <a:extLst>
                <a:ext uri="{FF2B5EF4-FFF2-40B4-BE49-F238E27FC236}">
                  <a16:creationId xmlns:a16="http://schemas.microsoft.com/office/drawing/2014/main" id="{435019C0-2510-894E-A113-2A531BF6845E}"/>
                </a:ext>
              </a:extLst>
            </p:cNvPr>
            <p:cNvCxnSpPr>
              <a:cxnSpLocks/>
            </p:cNvCxnSpPr>
            <p:nvPr/>
          </p:nvCxnSpPr>
          <p:spPr>
            <a:xfrm flipH="1">
              <a:off x="7785100" y="2565130"/>
              <a:ext cx="514362" cy="378095"/>
            </a:xfrm>
            <a:prstGeom prst="straightConnector1">
              <a:avLst/>
            </a:prstGeom>
            <a:ln w="25400"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68D96311-2DAF-3643-8E95-20C128C08F02}"/>
                </a:ext>
              </a:extLst>
            </p:cNvPr>
            <p:cNvCxnSpPr>
              <a:cxnSpLocks/>
            </p:cNvCxnSpPr>
            <p:nvPr/>
          </p:nvCxnSpPr>
          <p:spPr>
            <a:xfrm flipV="1">
              <a:off x="8306480" y="2209800"/>
              <a:ext cx="493642" cy="351773"/>
            </a:xfrm>
            <a:prstGeom prst="straightConnector1">
              <a:avLst/>
            </a:prstGeom>
            <a:ln w="25400" cap="rnd">
              <a:solidFill>
                <a:srgbClr val="FF0000">
                  <a:alpha val="52000"/>
                </a:srgb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1972FA97-D967-E44D-A5C0-6E9E9CAAF7CA}"/>
                    </a:ext>
                  </a:extLst>
                </p:cNvPr>
                <p:cNvSpPr/>
                <p:nvPr/>
              </p:nvSpPr>
              <p:spPr>
                <a:xfrm>
                  <a:off x="6039943" y="2336568"/>
                  <a:ext cx="1816972" cy="68025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solidFill>
                                  <a:srgbClr val="002060"/>
                                </a:solidFill>
                                <a:latin typeface="Cambria Math" panose="02040503050406030204" pitchFamily="18" charset="0"/>
                                <a:ea typeface="Cambria Math" panose="02040503050406030204" pitchFamily="18" charset="0"/>
                              </a:rPr>
                            </m:ctrlPr>
                          </m:dPr>
                          <m:e>
                            <m:r>
                              <a:rPr lang="en-US" i="1" smtClean="0">
                                <a:solidFill>
                                  <a:srgbClr val="002060"/>
                                </a:solidFill>
                                <a:latin typeface="Cambria Math" panose="02040503050406030204" pitchFamily="18" charset="0"/>
                                <a:ea typeface="Cambria Math" panose="02040503050406030204" pitchFamily="18" charset="0"/>
                              </a:rPr>
                              <m:t>|</m:t>
                            </m:r>
                            <m:r>
                              <a:rPr lang="sr-Latn-RS" b="0" i="1" smtClean="0">
                                <a:solidFill>
                                  <a:srgbClr val="002060"/>
                                </a:solidFill>
                                <a:latin typeface="Cambria Math" panose="02040503050406030204" pitchFamily="18" charset="0"/>
                                <a:ea typeface="Cambria Math" panose="02040503050406030204" pitchFamily="18" charset="0"/>
                              </a:rPr>
                              <m:t>+</m:t>
                            </m:r>
                          </m:e>
                        </m:d>
                        <m:r>
                          <a:rPr lang="sr-Latn-RS" b="0" i="1" smtClean="0">
                            <a:solidFill>
                              <a:srgbClr val="002060"/>
                            </a:solidFill>
                            <a:latin typeface="Cambria Math" panose="02040503050406030204" pitchFamily="18" charset="0"/>
                            <a:ea typeface="Cambria Math" panose="02040503050406030204" pitchFamily="18" charset="0"/>
                          </a:rPr>
                          <m:t>=</m:t>
                        </m:r>
                        <m:r>
                          <a:rPr lang="en-US" i="1">
                            <a:solidFill>
                              <a:srgbClr val="002060"/>
                            </a:solidFill>
                            <a:latin typeface="Cambria Math" panose="02040503050406030204" pitchFamily="18" charset="0"/>
                            <a:ea typeface="Cambria Math" panose="02040503050406030204" pitchFamily="18" charset="0"/>
                          </a:rPr>
                          <m:t> </m:t>
                        </m:r>
                        <m:f>
                          <m:fPr>
                            <m:ctrlPr>
                              <a:rPr lang="en-US" i="1">
                                <a:solidFill>
                                  <a:srgbClr val="002060"/>
                                </a:solidFill>
                                <a:latin typeface="Cambria Math" panose="02040503050406030204" pitchFamily="18" charset="0"/>
                                <a:ea typeface="Cambria Math" panose="02040503050406030204" pitchFamily="18" charset="0"/>
                              </a:rPr>
                            </m:ctrlPr>
                          </m:fPr>
                          <m:num>
                            <m:d>
                              <m:dPr>
                                <m:begChr m:val=""/>
                                <m:endChr m:val="⟩"/>
                                <m:ctrlPr>
                                  <a:rPr lang="en-US" i="1">
                                    <a:solidFill>
                                      <a:srgbClr val="002060"/>
                                    </a:solidFill>
                                    <a:latin typeface="Cambria Math" panose="02040503050406030204" pitchFamily="18" charset="0"/>
                                    <a:ea typeface="Cambria Math" panose="02040503050406030204" pitchFamily="18" charset="0"/>
                                  </a:rPr>
                                </m:ctrlPr>
                              </m:dPr>
                              <m:e>
                                <m:r>
                                  <a:rPr lang="en-US" i="1">
                                    <a:solidFill>
                                      <a:srgbClr val="002060"/>
                                    </a:solidFill>
                                    <a:latin typeface="Cambria Math" panose="02040503050406030204" pitchFamily="18" charset="0"/>
                                    <a:ea typeface="Cambria Math" panose="02040503050406030204" pitchFamily="18" charset="0"/>
                                  </a:rPr>
                                  <m:t>|0</m:t>
                                </m:r>
                              </m:e>
                            </m:d>
                            <m:r>
                              <a:rPr lang="en-US" i="1">
                                <a:solidFill>
                                  <a:srgbClr val="002060"/>
                                </a:solidFill>
                                <a:latin typeface="Cambria Math" panose="02040503050406030204" pitchFamily="18" charset="0"/>
                                <a:ea typeface="Cambria Math" panose="02040503050406030204" pitchFamily="18" charset="0"/>
                              </a:rPr>
                              <m:t>+</m:t>
                            </m:r>
                            <m:d>
                              <m:dPr>
                                <m:begChr m:val=""/>
                                <m:endChr m:val="⟩"/>
                                <m:ctrlPr>
                                  <a:rPr lang="en-US" i="1">
                                    <a:solidFill>
                                      <a:srgbClr val="002060"/>
                                    </a:solidFill>
                                    <a:latin typeface="Cambria Math" panose="02040503050406030204" pitchFamily="18" charset="0"/>
                                    <a:ea typeface="Cambria Math" panose="02040503050406030204" pitchFamily="18" charset="0"/>
                                  </a:rPr>
                                </m:ctrlPr>
                              </m:dPr>
                              <m:e>
                                <m:r>
                                  <a:rPr lang="en-US" i="1">
                                    <a:solidFill>
                                      <a:srgbClr val="002060"/>
                                    </a:solidFill>
                                    <a:latin typeface="Cambria Math" panose="02040503050406030204" pitchFamily="18" charset="0"/>
                                    <a:ea typeface="Cambria Math" panose="02040503050406030204" pitchFamily="18" charset="0"/>
                                  </a:rPr>
                                  <m:t>|1</m:t>
                                </m:r>
                              </m:e>
                            </m:d>
                          </m:num>
                          <m:den>
                            <m:rad>
                              <m:radPr>
                                <m:degHide m:val="on"/>
                                <m:ctrlPr>
                                  <a:rPr lang="en-US" i="1">
                                    <a:solidFill>
                                      <a:srgbClr val="002060"/>
                                    </a:solidFill>
                                    <a:latin typeface="Cambria Math" panose="02040503050406030204" pitchFamily="18" charset="0"/>
                                    <a:ea typeface="Cambria Math" panose="02040503050406030204" pitchFamily="18" charset="0"/>
                                  </a:rPr>
                                </m:ctrlPr>
                              </m:radPr>
                              <m:deg/>
                              <m:e>
                                <m:r>
                                  <a:rPr lang="en-US" i="1">
                                    <a:solidFill>
                                      <a:srgbClr val="002060"/>
                                    </a:solidFill>
                                    <a:latin typeface="Cambria Math" panose="02040503050406030204" pitchFamily="18" charset="0"/>
                                    <a:ea typeface="Cambria Math" panose="02040503050406030204" pitchFamily="18" charset="0"/>
                                  </a:rPr>
                                  <m:t>2</m:t>
                                </m:r>
                              </m:e>
                            </m:rad>
                          </m:den>
                        </m:f>
                      </m:oMath>
                    </m:oMathPara>
                  </a14:m>
                  <a:endParaRPr lang="en-US" dirty="0"/>
                </a:p>
              </p:txBody>
            </p:sp>
          </mc:Choice>
          <mc:Fallback xmlns="">
            <p:sp>
              <p:nvSpPr>
                <p:cNvPr id="44" name="Rectangle 43">
                  <a:extLst>
                    <a:ext uri="{FF2B5EF4-FFF2-40B4-BE49-F238E27FC236}">
                      <a16:creationId xmlns:a16="http://schemas.microsoft.com/office/drawing/2014/main" id="{1972FA97-D967-E44D-A5C0-6E9E9CAAF7CA}"/>
                    </a:ext>
                  </a:extLst>
                </p:cNvPr>
                <p:cNvSpPr>
                  <a:spLocks noRot="1" noChangeAspect="1" noMove="1" noResize="1" noEditPoints="1" noAdjustHandles="1" noChangeArrowheads="1" noChangeShapeType="1" noTextEdit="1"/>
                </p:cNvSpPr>
                <p:nvPr/>
              </p:nvSpPr>
              <p:spPr>
                <a:xfrm>
                  <a:off x="6039943" y="2336568"/>
                  <a:ext cx="1816972" cy="680251"/>
                </a:xfrm>
                <a:prstGeom prst="rect">
                  <a:avLst/>
                </a:prstGeom>
                <a:blipFill>
                  <a:blip r:embed="rId6"/>
                  <a:stretch>
                    <a:fillRect t="-60000" r="-10490" b="-6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Rectangle 44">
                  <a:extLst>
                    <a:ext uri="{FF2B5EF4-FFF2-40B4-BE49-F238E27FC236}">
                      <a16:creationId xmlns:a16="http://schemas.microsoft.com/office/drawing/2014/main" id="{0DF310E7-4E16-E34F-A861-682476C1234B}"/>
                    </a:ext>
                  </a:extLst>
                </p:cNvPr>
                <p:cNvSpPr/>
                <p:nvPr/>
              </p:nvSpPr>
              <p:spPr>
                <a:xfrm>
                  <a:off x="8380698" y="1640687"/>
                  <a:ext cx="1765676" cy="68025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solidFill>
                                  <a:srgbClr val="002060"/>
                                </a:solidFill>
                                <a:latin typeface="Cambria Math" panose="02040503050406030204" pitchFamily="18" charset="0"/>
                                <a:ea typeface="Cambria Math" panose="02040503050406030204" pitchFamily="18" charset="0"/>
                              </a:rPr>
                            </m:ctrlPr>
                          </m:dPr>
                          <m:e>
                            <m:r>
                              <a:rPr lang="en-US" i="1">
                                <a:solidFill>
                                  <a:srgbClr val="002060"/>
                                </a:solidFill>
                                <a:latin typeface="Cambria Math" panose="02040503050406030204" pitchFamily="18" charset="0"/>
                                <a:ea typeface="Cambria Math" panose="02040503050406030204" pitchFamily="18" charset="0"/>
                              </a:rPr>
                              <m:t>|</m:t>
                            </m:r>
                            <m:r>
                              <a:rPr lang="sr-Latn-RS" b="0" i="1" smtClean="0">
                                <a:solidFill>
                                  <a:srgbClr val="002060"/>
                                </a:solidFill>
                                <a:latin typeface="Cambria Math" panose="02040503050406030204" pitchFamily="18" charset="0"/>
                                <a:ea typeface="Cambria Math" panose="02040503050406030204" pitchFamily="18" charset="0"/>
                              </a:rPr>
                              <m:t>−</m:t>
                            </m:r>
                          </m:e>
                        </m:d>
                        <m:r>
                          <a:rPr lang="sr-Latn-RS" b="0" i="1" smtClean="0">
                            <a:solidFill>
                              <a:srgbClr val="002060"/>
                            </a:solidFill>
                            <a:latin typeface="Cambria Math" panose="02040503050406030204" pitchFamily="18" charset="0"/>
                            <a:ea typeface="Cambria Math" panose="02040503050406030204" pitchFamily="18" charset="0"/>
                          </a:rPr>
                          <m:t>=</m:t>
                        </m:r>
                        <m:f>
                          <m:fPr>
                            <m:ctrlPr>
                              <a:rPr lang="en-US"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i="1">
                                    <a:solidFill>
                                      <a:srgbClr val="002060"/>
                                    </a:solidFill>
                                    <a:latin typeface="Cambria Math" panose="02040503050406030204" pitchFamily="18" charset="0"/>
                                    <a:ea typeface="Cambria Math" panose="02040503050406030204" pitchFamily="18" charset="0"/>
                                  </a:rPr>
                                </m:ctrlPr>
                              </m:dPr>
                              <m:e>
                                <m:r>
                                  <a:rPr lang="en-US" i="1">
                                    <a:solidFill>
                                      <a:srgbClr val="002060"/>
                                    </a:solidFill>
                                    <a:latin typeface="Cambria Math" panose="02040503050406030204" pitchFamily="18" charset="0"/>
                                    <a:ea typeface="Cambria Math" panose="02040503050406030204" pitchFamily="18" charset="0"/>
                                  </a:rPr>
                                  <m:t>|0</m:t>
                                </m:r>
                              </m:e>
                            </m:d>
                            <m:r>
                              <a:rPr lang="en-US"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i="1">
                                    <a:solidFill>
                                      <a:srgbClr val="002060"/>
                                    </a:solidFill>
                                    <a:latin typeface="Cambria Math" panose="02040503050406030204" pitchFamily="18" charset="0"/>
                                    <a:ea typeface="Cambria Math" panose="02040503050406030204" pitchFamily="18" charset="0"/>
                                  </a:rPr>
                                </m:ctrlPr>
                              </m:dPr>
                              <m:e>
                                <m:r>
                                  <a:rPr lang="en-US" i="1">
                                    <a:solidFill>
                                      <a:srgbClr val="002060"/>
                                    </a:solidFill>
                                    <a:latin typeface="Cambria Math" panose="02040503050406030204" pitchFamily="18" charset="0"/>
                                    <a:ea typeface="Cambria Math" panose="02040503050406030204" pitchFamily="18" charset="0"/>
                                  </a:rPr>
                                  <m:t>|1</m:t>
                                </m:r>
                              </m:e>
                            </m:d>
                          </m:num>
                          <m:den>
                            <m:rad>
                              <m:radPr>
                                <m:degHide m:val="on"/>
                                <m:ctrlPr>
                                  <a:rPr lang="en-US" i="1">
                                    <a:solidFill>
                                      <a:srgbClr val="002060"/>
                                    </a:solidFill>
                                    <a:latin typeface="Cambria Math" panose="02040503050406030204" pitchFamily="18" charset="0"/>
                                    <a:ea typeface="Cambria Math" panose="02040503050406030204" pitchFamily="18" charset="0"/>
                                  </a:rPr>
                                </m:ctrlPr>
                              </m:radPr>
                              <m:deg/>
                              <m:e>
                                <m:r>
                                  <a:rPr lang="en-US" i="1">
                                    <a:solidFill>
                                      <a:srgbClr val="002060"/>
                                    </a:solidFill>
                                    <a:latin typeface="Cambria Math" panose="02040503050406030204" pitchFamily="18" charset="0"/>
                                    <a:ea typeface="Cambria Math" panose="02040503050406030204" pitchFamily="18" charset="0"/>
                                  </a:rPr>
                                  <m:t>2</m:t>
                                </m:r>
                              </m:e>
                            </m:rad>
                          </m:den>
                        </m:f>
                      </m:oMath>
                    </m:oMathPara>
                  </a14:m>
                  <a:endParaRPr lang="en-US" dirty="0"/>
                </a:p>
              </p:txBody>
            </p:sp>
          </mc:Choice>
          <mc:Fallback xmlns="">
            <p:sp>
              <p:nvSpPr>
                <p:cNvPr id="45" name="Rectangle 44">
                  <a:extLst>
                    <a:ext uri="{FF2B5EF4-FFF2-40B4-BE49-F238E27FC236}">
                      <a16:creationId xmlns:a16="http://schemas.microsoft.com/office/drawing/2014/main" id="{0DF310E7-4E16-E34F-A861-682476C1234B}"/>
                    </a:ext>
                  </a:extLst>
                </p:cNvPr>
                <p:cNvSpPr>
                  <a:spLocks noRot="1" noChangeAspect="1" noMove="1" noResize="1" noEditPoints="1" noAdjustHandles="1" noChangeArrowheads="1" noChangeShapeType="1" noTextEdit="1"/>
                </p:cNvSpPr>
                <p:nvPr/>
              </p:nvSpPr>
              <p:spPr>
                <a:xfrm>
                  <a:off x="8380698" y="1640687"/>
                  <a:ext cx="1765676" cy="680251"/>
                </a:xfrm>
                <a:prstGeom prst="rect">
                  <a:avLst/>
                </a:prstGeom>
                <a:blipFill>
                  <a:blip r:embed="rId7"/>
                  <a:stretch>
                    <a:fillRect t="-60000" r="-10714" b="-69091"/>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0AA1605C-1004-5D43-BAD5-A5265944B0F7}"/>
                  </a:ext>
                </a:extLst>
              </p:cNvPr>
              <p:cNvSpPr/>
              <p:nvPr/>
            </p:nvSpPr>
            <p:spPr>
              <a:xfrm>
                <a:off x="4556693" y="4271123"/>
                <a:ext cx="4809971" cy="113018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solidFill>
                            <a:srgbClr val="002060"/>
                          </a:solidFill>
                          <a:latin typeface="Cambria Math" panose="02040503050406030204" pitchFamily="18" charset="0"/>
                          <a:ea typeface="Cambria Math" panose="02040503050406030204" pitchFamily="18" charset="0"/>
                        </a:rPr>
                        <m:t>=</m:t>
                      </m:r>
                      <m:f>
                        <m:fPr>
                          <m:ctrlPr>
                            <a:rPr lang="en-US" sz="2400" i="1">
                              <a:solidFill>
                                <a:srgbClr val="002060"/>
                              </a:solidFill>
                              <a:latin typeface="Cambria Math" panose="02040503050406030204" pitchFamily="18" charset="0"/>
                              <a:ea typeface="Cambria Math" panose="02040503050406030204" pitchFamily="18" charset="0"/>
                            </a:rPr>
                          </m:ctrlPr>
                        </m:fPr>
                        <m:num>
                          <m:r>
                            <a:rPr lang="en-US" sz="2400" i="1">
                              <a:solidFill>
                                <a:srgbClr val="002060"/>
                              </a:solidFill>
                              <a:latin typeface="Cambria Math" panose="02040503050406030204" pitchFamily="18" charset="0"/>
                              <a:ea typeface="Cambria Math" panose="02040503050406030204" pitchFamily="18" charset="0"/>
                            </a:rPr>
                            <m:t>1</m:t>
                          </m:r>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nary>
                        <m:naryPr>
                          <m:chr m:val="∑"/>
                          <m:ctrlPr>
                            <a:rPr lang="en-US" sz="2400" i="1">
                              <a:solidFill>
                                <a:srgbClr val="002060"/>
                              </a:solidFill>
                              <a:latin typeface="Cambria Math" panose="02040503050406030204" pitchFamily="18" charset="0"/>
                              <a:ea typeface="Cambria Math" panose="02040503050406030204" pitchFamily="18" charset="0"/>
                            </a:rPr>
                          </m:ctrlPr>
                        </m:naryPr>
                        <m:sub>
                          <m:r>
                            <m:rPr>
                              <m:brk m:alnAt="23"/>
                            </m:rPr>
                            <a:rPr lang="en-US" sz="2400" i="1">
                              <a:solidFill>
                                <a:srgbClr val="002060"/>
                              </a:solidFill>
                              <a:latin typeface="Cambria Math" panose="02040503050406030204" pitchFamily="18" charset="0"/>
                              <a:ea typeface="Cambria Math" panose="02040503050406030204" pitchFamily="18" charset="0"/>
                            </a:rPr>
                            <m:t>𝑘</m:t>
                          </m:r>
                          <m:r>
                            <a:rPr lang="en-US" sz="2400" i="1">
                              <a:solidFill>
                                <a:srgbClr val="002060"/>
                              </a:solidFill>
                              <a:latin typeface="Cambria Math" panose="02040503050406030204" pitchFamily="18" charset="0"/>
                              <a:ea typeface="Cambria Math" panose="02040503050406030204" pitchFamily="18" charset="0"/>
                            </a:rPr>
                            <m:t>=0</m:t>
                          </m:r>
                        </m:sub>
                        <m:sup>
                          <m:r>
                            <a:rPr lang="en-US" sz="2400" i="1">
                              <a:solidFill>
                                <a:srgbClr val="002060"/>
                              </a:solidFill>
                              <a:latin typeface="Cambria Math" panose="02040503050406030204" pitchFamily="18" charset="0"/>
                              <a:ea typeface="Cambria Math" panose="02040503050406030204" pitchFamily="18" charset="0"/>
                            </a:rPr>
                            <m:t>1</m:t>
                          </m:r>
                        </m:sup>
                        <m:e>
                          <m:sSup>
                            <m:sSupPr>
                              <m:ctrlPr>
                                <a:rPr lang="en-US" sz="2400" i="1">
                                  <a:solidFill>
                                    <a:srgbClr val="002060"/>
                                  </a:solidFill>
                                  <a:latin typeface="Cambria Math" panose="02040503050406030204" pitchFamily="18" charset="0"/>
                                  <a:ea typeface="Cambria Math" panose="02040503050406030204" pitchFamily="18" charset="0"/>
                                </a:rPr>
                              </m:ctrlPr>
                            </m:sSupPr>
                            <m:e>
                              <m:d>
                                <m:dPr>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−1</m:t>
                                  </m:r>
                                </m:e>
                              </m:d>
                            </m:e>
                            <m:sup>
                              <m:r>
                                <a:rPr lang="sr-Latn-RS" sz="2400" i="1">
                                  <a:solidFill>
                                    <a:srgbClr val="002060"/>
                                  </a:solidFill>
                                  <a:latin typeface="Cambria Math" panose="02040503050406030204" pitchFamily="18" charset="0"/>
                                  <a:ea typeface="Cambria Math" panose="02040503050406030204" pitchFamily="18" charset="0"/>
                                </a:rPr>
                                <m:t>𝑞</m:t>
                              </m:r>
                              <m:r>
                                <a:rPr lang="en-US" sz="2400" i="1">
                                  <a:solidFill>
                                    <a:srgbClr val="002060"/>
                                  </a:solidFill>
                                  <a:latin typeface="Cambria Math" panose="02040503050406030204" pitchFamily="18" charset="0"/>
                                  <a:ea typeface="Cambria Math" panose="02040503050406030204" pitchFamily="18" charset="0"/>
                                </a:rPr>
                                <m:t>𝑘</m:t>
                              </m:r>
                            </m:sup>
                          </m:sSup>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𝑘</m:t>
                              </m:r>
                            </m:e>
                          </m:d>
                          <m:r>
                            <m:rPr>
                              <m:nor/>
                            </m:rPr>
                            <a:rPr lang="en-US" sz="2400">
                              <a:solidFill>
                                <a:srgbClr val="002060"/>
                              </a:solidFill>
                              <a:latin typeface="Cambria Math" panose="02040503050406030204" pitchFamily="18" charset="0"/>
                              <a:ea typeface="Cambria Math" panose="02040503050406030204" pitchFamily="18" charset="0"/>
                            </a:rPr>
                            <m:t>,</m:t>
                          </m:r>
                          <m:r>
                            <m:rPr>
                              <m:nor/>
                            </m:rPr>
                            <a:rPr lang="en-US" sz="2400" dirty="0"/>
                            <m:t> </m:t>
                          </m:r>
                        </m:e>
                      </m:nary>
                      <m:r>
                        <a:rPr lang="en-US" sz="2400" i="1">
                          <a:solidFill>
                            <a:srgbClr val="002060"/>
                          </a:solidFill>
                          <a:latin typeface="Cambria Math" panose="02040503050406030204" pitchFamily="18" charset="0"/>
                          <a:ea typeface="Cambria Math" panose="02040503050406030204" pitchFamily="18" charset="0"/>
                        </a:rPr>
                        <m:t>   ∀</m:t>
                      </m:r>
                      <m:r>
                        <a:rPr lang="sr-Latn-RS" sz="2400" i="1">
                          <a:solidFill>
                            <a:srgbClr val="002060"/>
                          </a:solidFill>
                          <a:latin typeface="Cambria Math" panose="02040503050406030204" pitchFamily="18" charset="0"/>
                          <a:ea typeface="Cambria Math" panose="02040503050406030204" pitchFamily="18" charset="0"/>
                        </a:rPr>
                        <m:t>𝑞</m:t>
                      </m:r>
                      <m:r>
                        <a:rPr lang="en-US" sz="2400" i="1">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𝑘</m:t>
                      </m:r>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0,1</m:t>
                          </m:r>
                        </m:e>
                      </m:d>
                    </m:oMath>
                  </m:oMathPara>
                </a14:m>
                <a:endParaRPr lang="en-US" sz="2400" dirty="0"/>
              </a:p>
            </p:txBody>
          </p:sp>
        </mc:Choice>
        <mc:Fallback xmlns="">
          <p:sp>
            <p:nvSpPr>
              <p:cNvPr id="10" name="Rectangle 9">
                <a:extLst>
                  <a:ext uri="{FF2B5EF4-FFF2-40B4-BE49-F238E27FC236}">
                    <a16:creationId xmlns:a16="http://schemas.microsoft.com/office/drawing/2014/main" id="{0AA1605C-1004-5D43-BAD5-A5265944B0F7}"/>
                  </a:ext>
                </a:extLst>
              </p:cNvPr>
              <p:cNvSpPr>
                <a:spLocks noRot="1" noChangeAspect="1" noMove="1" noResize="1" noEditPoints="1" noAdjustHandles="1" noChangeArrowheads="1" noChangeShapeType="1" noTextEdit="1"/>
              </p:cNvSpPr>
              <p:nvPr/>
            </p:nvSpPr>
            <p:spPr>
              <a:xfrm>
                <a:off x="4556693" y="4271123"/>
                <a:ext cx="4809971" cy="1130181"/>
              </a:xfrm>
              <a:prstGeom prst="rect">
                <a:avLst/>
              </a:prstGeom>
              <a:blipFill>
                <a:blip r:embed="rId8"/>
                <a:stretch>
                  <a:fillRect l="-5789" t="-103371" b="-159551"/>
                </a:stretch>
              </a:blipFill>
            </p:spPr>
            <p:txBody>
              <a:bodyPr/>
              <a:lstStyle/>
              <a:p>
                <a:r>
                  <a:rPr lang="en-US">
                    <a:noFill/>
                  </a:rPr>
                  <a:t> </a:t>
                </a:r>
              </a:p>
            </p:txBody>
          </p:sp>
        </mc:Fallback>
      </mc:AlternateContent>
    </p:spTree>
    <p:extLst>
      <p:ext uri="{BB962C8B-B14F-4D97-AF65-F5344CB8AC3E}">
        <p14:creationId xmlns:p14="http://schemas.microsoft.com/office/powerpoint/2010/main" val="1884590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21468-F0A2-2940-AECA-8084D3B9CEA9}"/>
              </a:ext>
            </a:extLst>
          </p:cNvPr>
          <p:cNvSpPr>
            <a:spLocks noGrp="1"/>
          </p:cNvSpPr>
          <p:nvPr>
            <p:ph type="title"/>
          </p:nvPr>
        </p:nvSpPr>
        <p:spPr/>
        <p:txBody>
          <a:bodyPr/>
          <a:lstStyle/>
          <a:p>
            <a:r>
              <a:rPr lang="en-ZA" dirty="0"/>
              <a:t>Two-Qubit Superposition</a:t>
            </a:r>
            <a:endParaRPr lang="en-US" dirty="0"/>
          </a:p>
        </p:txBody>
      </p:sp>
      <p:sp>
        <p:nvSpPr>
          <p:cNvPr id="3" name="Slide Number Placeholder 2">
            <a:extLst>
              <a:ext uri="{FF2B5EF4-FFF2-40B4-BE49-F238E27FC236}">
                <a16:creationId xmlns:a16="http://schemas.microsoft.com/office/drawing/2014/main" id="{86251094-C392-504A-BB6D-9B0B7E7415E9}"/>
              </a:ext>
            </a:extLst>
          </p:cNvPr>
          <p:cNvSpPr>
            <a:spLocks noGrp="1"/>
          </p:cNvSpPr>
          <p:nvPr>
            <p:ph type="sldNum" sz="quarter" idx="12"/>
          </p:nvPr>
        </p:nvSpPr>
        <p:spPr/>
        <p:txBody>
          <a:bodyPr/>
          <a:lstStyle/>
          <a:p>
            <a:fld id="{591A223C-FA10-BC46-A853-03BA373D023C}" type="slidenum">
              <a:rPr lang="en-US" smtClean="0"/>
              <a:t>26</a:t>
            </a:fld>
            <a:endParaRPr lang="en-US"/>
          </a:p>
        </p:txBody>
      </p:sp>
      <p:grpSp>
        <p:nvGrpSpPr>
          <p:cNvPr id="6" name="Group 5">
            <a:extLst>
              <a:ext uri="{FF2B5EF4-FFF2-40B4-BE49-F238E27FC236}">
                <a16:creationId xmlns:a16="http://schemas.microsoft.com/office/drawing/2014/main" id="{6D667B8C-AD0E-8C46-B159-6C527F27DF52}"/>
              </a:ext>
            </a:extLst>
          </p:cNvPr>
          <p:cNvGrpSpPr/>
          <p:nvPr/>
        </p:nvGrpSpPr>
        <p:grpSpPr>
          <a:xfrm>
            <a:off x="402311" y="1660748"/>
            <a:ext cx="1603550" cy="720000"/>
            <a:chOff x="9910446" y="5217879"/>
            <a:chExt cx="1603550" cy="720000"/>
          </a:xfrm>
        </p:grpSpPr>
        <p:cxnSp>
          <p:nvCxnSpPr>
            <p:cNvPr id="4" name="Straight Connector 3">
              <a:extLst>
                <a:ext uri="{FF2B5EF4-FFF2-40B4-BE49-F238E27FC236}">
                  <a16:creationId xmlns:a16="http://schemas.microsoft.com/office/drawing/2014/main" id="{B2EE4538-8B38-9648-8F9E-E726D7A77A6B}"/>
                </a:ext>
              </a:extLst>
            </p:cNvPr>
            <p:cNvCxnSpPr>
              <a:cxnSpLocks/>
            </p:cNvCxnSpPr>
            <p:nvPr/>
          </p:nvCxnSpPr>
          <p:spPr>
            <a:xfrm>
              <a:off x="9910446" y="5565785"/>
              <a:ext cx="160355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6B6477CC-97BE-5843-97A0-AE61D460C3C1}"/>
                </a:ext>
              </a:extLst>
            </p:cNvPr>
            <p:cNvSpPr/>
            <p:nvPr/>
          </p:nvSpPr>
          <p:spPr>
            <a:xfrm>
              <a:off x="10363873" y="5217879"/>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grpSp>
      <p:grpSp>
        <p:nvGrpSpPr>
          <p:cNvPr id="18" name="Group 17">
            <a:extLst>
              <a:ext uri="{FF2B5EF4-FFF2-40B4-BE49-F238E27FC236}">
                <a16:creationId xmlns:a16="http://schemas.microsoft.com/office/drawing/2014/main" id="{BD9B3157-29C0-9F42-BCEE-057E006AB0F7}"/>
              </a:ext>
            </a:extLst>
          </p:cNvPr>
          <p:cNvGrpSpPr/>
          <p:nvPr/>
        </p:nvGrpSpPr>
        <p:grpSpPr>
          <a:xfrm>
            <a:off x="446531" y="3071628"/>
            <a:ext cx="1603550" cy="720000"/>
            <a:chOff x="9910446" y="5217879"/>
            <a:chExt cx="1603550" cy="720000"/>
          </a:xfrm>
        </p:grpSpPr>
        <p:cxnSp>
          <p:nvCxnSpPr>
            <p:cNvPr id="19" name="Straight Connector 18">
              <a:extLst>
                <a:ext uri="{FF2B5EF4-FFF2-40B4-BE49-F238E27FC236}">
                  <a16:creationId xmlns:a16="http://schemas.microsoft.com/office/drawing/2014/main" id="{A56BEAFA-E2AC-094F-861E-65D7A3DAA44B}"/>
                </a:ext>
              </a:extLst>
            </p:cNvPr>
            <p:cNvCxnSpPr>
              <a:cxnSpLocks/>
            </p:cNvCxnSpPr>
            <p:nvPr/>
          </p:nvCxnSpPr>
          <p:spPr>
            <a:xfrm>
              <a:off x="9910446" y="5565785"/>
              <a:ext cx="160355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D6BE9D6E-3206-144E-B37F-7462448CBD1E}"/>
                </a:ext>
              </a:extLst>
            </p:cNvPr>
            <p:cNvSpPr/>
            <p:nvPr/>
          </p:nvSpPr>
          <p:spPr>
            <a:xfrm>
              <a:off x="10363873" y="5217879"/>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gr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FCB800AD-5FED-BC43-BE36-DBB35278F35C}"/>
                  </a:ext>
                </a:extLst>
              </p:cNvPr>
              <p:cNvSpPr/>
              <p:nvPr/>
            </p:nvSpPr>
            <p:spPr>
              <a:xfrm>
                <a:off x="110837" y="1502204"/>
                <a:ext cx="75655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sr-Latn-RS" sz="2400" b="0" i="1" smtClean="0">
                                  <a:solidFill>
                                    <a:srgbClr val="002060"/>
                                  </a:solidFill>
                                  <a:latin typeface="Cambria Math" panose="02040503050406030204" pitchFamily="18" charset="0"/>
                                  <a:ea typeface="Cambria Math" panose="02040503050406030204" pitchFamily="18" charset="0"/>
                                </a:rPr>
                                <m:t>𝑞</m:t>
                              </m:r>
                            </m:e>
                            <m:sub>
                              <m:r>
                                <a:rPr lang="en-US" sz="2400" b="0" i="1" smtClean="0">
                                  <a:solidFill>
                                    <a:srgbClr val="002060"/>
                                  </a:solidFill>
                                  <a:latin typeface="Cambria Math" panose="02040503050406030204" pitchFamily="18" charset="0"/>
                                  <a:ea typeface="Cambria Math" panose="02040503050406030204" pitchFamily="18" charset="0"/>
                                </a:rPr>
                                <m:t>1</m:t>
                              </m:r>
                            </m:sub>
                          </m:sSub>
                        </m:e>
                      </m:d>
                    </m:oMath>
                  </m:oMathPara>
                </a14:m>
                <a:endParaRPr lang="en-US" sz="2400" dirty="0"/>
              </a:p>
            </p:txBody>
          </p:sp>
        </mc:Choice>
        <mc:Fallback xmlns="">
          <p:sp>
            <p:nvSpPr>
              <p:cNvPr id="21" name="Rectangle 20">
                <a:extLst>
                  <a:ext uri="{FF2B5EF4-FFF2-40B4-BE49-F238E27FC236}">
                    <a16:creationId xmlns:a16="http://schemas.microsoft.com/office/drawing/2014/main" id="{FCB800AD-5FED-BC43-BE36-DBB35278F35C}"/>
                  </a:ext>
                </a:extLst>
              </p:cNvPr>
              <p:cNvSpPr>
                <a:spLocks noRot="1" noChangeAspect="1" noMove="1" noResize="1" noEditPoints="1" noAdjustHandles="1" noChangeArrowheads="1" noChangeShapeType="1" noTextEdit="1"/>
              </p:cNvSpPr>
              <p:nvPr/>
            </p:nvSpPr>
            <p:spPr>
              <a:xfrm>
                <a:off x="110837" y="1502204"/>
                <a:ext cx="756553" cy="461665"/>
              </a:xfrm>
              <a:prstGeom prst="rect">
                <a:avLst/>
              </a:prstGeom>
              <a:blipFill>
                <a:blip r:embed="rId3"/>
                <a:stretch>
                  <a:fillRect l="-5000" t="-121053" r="-41667" b="-186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A2F93476-2C89-D84F-A750-A9D72A07648A}"/>
                  </a:ext>
                </a:extLst>
              </p:cNvPr>
              <p:cNvSpPr/>
              <p:nvPr/>
            </p:nvSpPr>
            <p:spPr>
              <a:xfrm>
                <a:off x="128975" y="2904660"/>
                <a:ext cx="76367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sr-Latn-RS" sz="2400" b="0" i="1" smtClean="0">
                                  <a:solidFill>
                                    <a:srgbClr val="002060"/>
                                  </a:solidFill>
                                  <a:latin typeface="Cambria Math" panose="02040503050406030204" pitchFamily="18" charset="0"/>
                                  <a:ea typeface="Cambria Math" panose="02040503050406030204" pitchFamily="18" charset="0"/>
                                </a:rPr>
                                <m:t>𝑞</m:t>
                              </m:r>
                            </m:e>
                            <m:sub>
                              <m:r>
                                <a:rPr lang="en-US" sz="2400" b="0" i="1" smtClean="0">
                                  <a:solidFill>
                                    <a:srgbClr val="002060"/>
                                  </a:solidFill>
                                  <a:latin typeface="Cambria Math" panose="02040503050406030204" pitchFamily="18" charset="0"/>
                                  <a:ea typeface="Cambria Math" panose="02040503050406030204" pitchFamily="18" charset="0"/>
                                </a:rPr>
                                <m:t>2</m:t>
                              </m:r>
                            </m:sub>
                          </m:sSub>
                        </m:e>
                      </m:d>
                    </m:oMath>
                  </m:oMathPara>
                </a14:m>
                <a:endParaRPr lang="en-US" sz="2400" dirty="0"/>
              </a:p>
            </p:txBody>
          </p:sp>
        </mc:Choice>
        <mc:Fallback xmlns="">
          <p:sp>
            <p:nvSpPr>
              <p:cNvPr id="22" name="Rectangle 21">
                <a:extLst>
                  <a:ext uri="{FF2B5EF4-FFF2-40B4-BE49-F238E27FC236}">
                    <a16:creationId xmlns:a16="http://schemas.microsoft.com/office/drawing/2014/main" id="{A2F93476-2C89-D84F-A750-A9D72A07648A}"/>
                  </a:ext>
                </a:extLst>
              </p:cNvPr>
              <p:cNvSpPr>
                <a:spLocks noRot="1" noChangeAspect="1" noMove="1" noResize="1" noEditPoints="1" noAdjustHandles="1" noChangeArrowheads="1" noChangeShapeType="1" noTextEdit="1"/>
              </p:cNvSpPr>
              <p:nvPr/>
            </p:nvSpPr>
            <p:spPr>
              <a:xfrm>
                <a:off x="128975" y="2904660"/>
                <a:ext cx="763671" cy="461665"/>
              </a:xfrm>
              <a:prstGeom prst="rect">
                <a:avLst/>
              </a:prstGeom>
              <a:blipFill>
                <a:blip r:embed="rId4"/>
                <a:stretch>
                  <a:fillRect l="-3279" t="-127027" r="-42623"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6F2C0A0C-4FAB-7D4D-9137-0CBEAF1FC3E7}"/>
                  </a:ext>
                </a:extLst>
              </p:cNvPr>
              <p:cNvSpPr/>
              <p:nvPr/>
            </p:nvSpPr>
            <p:spPr>
              <a:xfrm>
                <a:off x="3123620" y="1502204"/>
                <a:ext cx="9068380" cy="12813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𝐻</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sSub>
                                <m:sSubPr>
                                  <m:ctrlPr>
                                    <a:rPr lang="en-US" sz="2400" i="1">
                                      <a:solidFill>
                                        <a:srgbClr val="002060"/>
                                      </a:solidFill>
                                      <a:latin typeface="Cambria Math" panose="02040503050406030204" pitchFamily="18" charset="0"/>
                                      <a:ea typeface="Cambria Math" panose="02040503050406030204" pitchFamily="18" charset="0"/>
                                    </a:rPr>
                                  </m:ctrlPr>
                                </m:sSubPr>
                                <m:e>
                                  <m:r>
                                    <a:rPr lang="sr-Latn-RS" sz="2400" b="0" i="1" smtClean="0">
                                      <a:solidFill>
                                        <a:srgbClr val="002060"/>
                                      </a:solidFill>
                                      <a:latin typeface="Cambria Math" panose="02040503050406030204" pitchFamily="18" charset="0"/>
                                      <a:ea typeface="Cambria Math" panose="02040503050406030204" pitchFamily="18" charset="0"/>
                                    </a:rPr>
                                    <m:t>𝑞</m:t>
                                  </m:r>
                                </m:e>
                                <m:sub>
                                  <m:r>
                                    <a:rPr lang="en-US" sz="2400" i="1">
                                      <a:solidFill>
                                        <a:srgbClr val="002060"/>
                                      </a:solidFill>
                                      <a:latin typeface="Cambria Math" panose="02040503050406030204" pitchFamily="18" charset="0"/>
                                      <a:ea typeface="Cambria Math" panose="02040503050406030204" pitchFamily="18" charset="0"/>
                                    </a:rPr>
                                    <m:t>1</m:t>
                                  </m:r>
                                </m:sub>
                              </m:sSub>
                            </m:e>
                          </m:d>
                          <m:r>
                            <a:rPr lang="en-US" sz="2400" i="1" smtClean="0">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𝐻</m:t>
                          </m:r>
                        </m:e>
                      </m:d>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sSub>
                            <m:sSubPr>
                              <m:ctrlPr>
                                <a:rPr lang="en-US" sz="2400" i="1">
                                  <a:solidFill>
                                    <a:srgbClr val="002060"/>
                                  </a:solidFill>
                                  <a:latin typeface="Cambria Math" panose="02040503050406030204" pitchFamily="18" charset="0"/>
                                  <a:ea typeface="Cambria Math" panose="02040503050406030204" pitchFamily="18" charset="0"/>
                                </a:rPr>
                              </m:ctrlPr>
                            </m:sSubPr>
                            <m:e>
                              <m:r>
                                <a:rPr lang="sr-Latn-RS" sz="2400" b="0" i="1" smtClean="0">
                                  <a:solidFill>
                                    <a:srgbClr val="002060"/>
                                  </a:solidFill>
                                  <a:latin typeface="Cambria Math" panose="02040503050406030204" pitchFamily="18" charset="0"/>
                                  <a:ea typeface="Cambria Math" panose="02040503050406030204" pitchFamily="18" charset="0"/>
                                </a:rPr>
                                <m:t>𝑞</m:t>
                              </m:r>
                            </m:e>
                            <m:sub>
                              <m:r>
                                <a:rPr lang="en-US" sz="2400" b="0" i="1" smtClean="0">
                                  <a:solidFill>
                                    <a:srgbClr val="002060"/>
                                  </a:solidFill>
                                  <a:latin typeface="Cambria Math" panose="02040503050406030204" pitchFamily="18" charset="0"/>
                                  <a:ea typeface="Cambria Math" panose="02040503050406030204" pitchFamily="18" charset="0"/>
                                </a:rPr>
                                <m:t>2</m:t>
                              </m:r>
                            </m:sub>
                          </m:sSub>
                        </m:e>
                      </m:d>
                      <m:r>
                        <a:rPr lang="en-US" sz="2400" b="0" i="1" smtClean="0">
                          <a:solidFill>
                            <a:srgbClr val="002060"/>
                          </a:solidFill>
                          <a:latin typeface="Cambria Math" panose="02040503050406030204" pitchFamily="18" charset="0"/>
                          <a:ea typeface="Cambria Math" panose="02040503050406030204" pitchFamily="18" charset="0"/>
                        </a:rPr>
                        <m:t>=</m:t>
                      </m:r>
                      <m:d>
                        <m:dPr>
                          <m:ctrlPr>
                            <a:rPr lang="en-US" sz="2400" b="0" i="1" smtClean="0">
                              <a:solidFill>
                                <a:srgbClr val="002060"/>
                              </a:solidFill>
                              <a:latin typeface="Cambria Math" panose="02040503050406030204" pitchFamily="18" charset="0"/>
                              <a:ea typeface="Cambria Math" panose="02040503050406030204" pitchFamily="18" charset="0"/>
                            </a:rPr>
                          </m:ctrlPr>
                        </m:dPr>
                        <m:e>
                          <m:f>
                            <m:fPr>
                              <m:ctrlPr>
                                <a:rPr lang="en-US" sz="2400" i="1">
                                  <a:solidFill>
                                    <a:srgbClr val="002060"/>
                                  </a:solidFill>
                                  <a:latin typeface="Cambria Math" panose="02040503050406030204" pitchFamily="18" charset="0"/>
                                  <a:ea typeface="Cambria Math" panose="02040503050406030204" pitchFamily="18" charset="0"/>
                                </a:rPr>
                              </m:ctrlPr>
                            </m:fPr>
                            <m:num>
                              <m:r>
                                <a:rPr lang="en-US" sz="2400" i="1">
                                  <a:solidFill>
                                    <a:srgbClr val="002060"/>
                                  </a:solidFill>
                                  <a:latin typeface="Cambria Math" panose="02040503050406030204" pitchFamily="18" charset="0"/>
                                  <a:ea typeface="Cambria Math" panose="02040503050406030204" pitchFamily="18" charset="0"/>
                                </a:rPr>
                                <m:t>1</m:t>
                              </m:r>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nary>
                            <m:naryPr>
                              <m:chr m:val="∑"/>
                              <m:ctrlPr>
                                <a:rPr lang="en-US" sz="2400" i="1">
                                  <a:solidFill>
                                    <a:srgbClr val="002060"/>
                                  </a:solidFill>
                                  <a:latin typeface="Cambria Math" panose="02040503050406030204" pitchFamily="18" charset="0"/>
                                  <a:ea typeface="Cambria Math" panose="02040503050406030204" pitchFamily="18" charset="0"/>
                                </a:rPr>
                              </m:ctrlPr>
                            </m:naryPr>
                            <m:sub>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b="0" i="1" smtClean="0">
                                      <a:solidFill>
                                        <a:srgbClr val="002060"/>
                                      </a:solidFill>
                                      <a:latin typeface="Cambria Math" panose="02040503050406030204" pitchFamily="18" charset="0"/>
                                      <a:ea typeface="Cambria Math" panose="02040503050406030204" pitchFamily="18" charset="0"/>
                                    </a:rPr>
                                    <m:t>𝑘</m:t>
                                  </m:r>
                                </m:e>
                                <m:sub>
                                  <m:r>
                                    <a:rPr lang="en-US" sz="2400" i="1">
                                      <a:solidFill>
                                        <a:srgbClr val="002060"/>
                                      </a:solidFill>
                                      <a:latin typeface="Cambria Math" panose="02040503050406030204" pitchFamily="18" charset="0"/>
                                      <a:ea typeface="Cambria Math" panose="02040503050406030204" pitchFamily="18" charset="0"/>
                                    </a:rPr>
                                    <m:t>1</m:t>
                                  </m:r>
                                </m:sub>
                              </m:sSub>
                              <m:r>
                                <a:rPr lang="en-US" sz="2400" i="1">
                                  <a:solidFill>
                                    <a:srgbClr val="002060"/>
                                  </a:solidFill>
                                  <a:latin typeface="Cambria Math" panose="02040503050406030204" pitchFamily="18" charset="0"/>
                                  <a:ea typeface="Cambria Math" panose="02040503050406030204" pitchFamily="18" charset="0"/>
                                </a:rPr>
                                <m:t>=0</m:t>
                              </m:r>
                            </m:sub>
                            <m:sup>
                              <m:r>
                                <a:rPr lang="en-US" sz="2400" i="1">
                                  <a:solidFill>
                                    <a:srgbClr val="002060"/>
                                  </a:solidFill>
                                  <a:latin typeface="Cambria Math" panose="02040503050406030204" pitchFamily="18" charset="0"/>
                                  <a:ea typeface="Cambria Math" panose="02040503050406030204" pitchFamily="18" charset="0"/>
                                </a:rPr>
                                <m:t>1</m:t>
                              </m:r>
                            </m:sup>
                            <m:e>
                              <m:sSup>
                                <m:sSupPr>
                                  <m:ctrlPr>
                                    <a:rPr lang="en-US" sz="2400" i="1">
                                      <a:solidFill>
                                        <a:srgbClr val="002060"/>
                                      </a:solidFill>
                                      <a:latin typeface="Cambria Math" panose="02040503050406030204" pitchFamily="18" charset="0"/>
                                      <a:ea typeface="Cambria Math" panose="02040503050406030204" pitchFamily="18" charset="0"/>
                                    </a:rPr>
                                  </m:ctrlPr>
                                </m:sSupPr>
                                <m:e>
                                  <m:d>
                                    <m:dPr>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−1</m:t>
                                      </m:r>
                                    </m:e>
                                  </m:d>
                                </m:e>
                                <m:sup>
                                  <m:sSub>
                                    <m:sSubPr>
                                      <m:ctrlPr>
                                        <a:rPr lang="en-US" sz="2400" i="1">
                                          <a:solidFill>
                                            <a:srgbClr val="002060"/>
                                          </a:solidFill>
                                          <a:latin typeface="Cambria Math" panose="02040503050406030204" pitchFamily="18" charset="0"/>
                                          <a:ea typeface="Cambria Math" panose="02040503050406030204" pitchFamily="18" charset="0"/>
                                        </a:rPr>
                                      </m:ctrlPr>
                                    </m:sSubPr>
                                    <m:e>
                                      <m:r>
                                        <a:rPr lang="sr-Latn-RS" sz="2400" b="0" i="1" smtClean="0">
                                          <a:solidFill>
                                            <a:srgbClr val="002060"/>
                                          </a:solidFill>
                                          <a:latin typeface="Cambria Math" panose="02040503050406030204" pitchFamily="18" charset="0"/>
                                          <a:ea typeface="Cambria Math" panose="02040503050406030204" pitchFamily="18" charset="0"/>
                                        </a:rPr>
                                        <m:t>𝑞</m:t>
                                      </m:r>
                                    </m:e>
                                    <m:sub>
                                      <m:r>
                                        <a:rPr lang="en-US" sz="2400" i="1">
                                          <a:solidFill>
                                            <a:srgbClr val="002060"/>
                                          </a:solidFill>
                                          <a:latin typeface="Cambria Math" panose="02040503050406030204" pitchFamily="18" charset="0"/>
                                          <a:ea typeface="Cambria Math" panose="02040503050406030204" pitchFamily="18" charset="0"/>
                                        </a:rPr>
                                        <m:t>1</m:t>
                                      </m:r>
                                    </m:sub>
                                  </m:sSub>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b="0" i="1" smtClean="0">
                                          <a:solidFill>
                                            <a:srgbClr val="002060"/>
                                          </a:solidFill>
                                          <a:latin typeface="Cambria Math" panose="02040503050406030204" pitchFamily="18" charset="0"/>
                                          <a:ea typeface="Cambria Math" panose="02040503050406030204" pitchFamily="18" charset="0"/>
                                        </a:rPr>
                                        <m:t>𝑘</m:t>
                                      </m:r>
                                    </m:e>
                                    <m:sub>
                                      <m:r>
                                        <a:rPr lang="en-US" sz="2400" i="1">
                                          <a:solidFill>
                                            <a:srgbClr val="002060"/>
                                          </a:solidFill>
                                          <a:latin typeface="Cambria Math" panose="02040503050406030204" pitchFamily="18" charset="0"/>
                                          <a:ea typeface="Cambria Math" panose="02040503050406030204" pitchFamily="18" charset="0"/>
                                        </a:rPr>
                                        <m:t>1</m:t>
                                      </m:r>
                                    </m:sub>
                                  </m:sSub>
                                </m:sup>
                              </m:sSup>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b="0" i="1" smtClean="0">
                                          <a:solidFill>
                                            <a:srgbClr val="002060"/>
                                          </a:solidFill>
                                          <a:latin typeface="Cambria Math" panose="02040503050406030204" pitchFamily="18" charset="0"/>
                                          <a:ea typeface="Cambria Math" panose="02040503050406030204" pitchFamily="18" charset="0"/>
                                        </a:rPr>
                                        <m:t>𝑘</m:t>
                                      </m:r>
                                    </m:e>
                                    <m:sub>
                                      <m:r>
                                        <a:rPr lang="en-US" sz="2400" i="1">
                                          <a:solidFill>
                                            <a:srgbClr val="002060"/>
                                          </a:solidFill>
                                          <a:latin typeface="Cambria Math" panose="02040503050406030204" pitchFamily="18" charset="0"/>
                                          <a:ea typeface="Cambria Math" panose="02040503050406030204" pitchFamily="18" charset="0"/>
                                        </a:rPr>
                                        <m:t>1</m:t>
                                      </m:r>
                                    </m:sub>
                                  </m:sSub>
                                </m:e>
                              </m:d>
                              <m:r>
                                <m:rPr>
                                  <m:nor/>
                                </m:rPr>
                                <a:rPr lang="en-US" sz="2400" dirty="0"/>
                                <m:t> </m:t>
                              </m:r>
                            </m:e>
                          </m:nary>
                        </m:e>
                      </m:d>
                      <m:r>
                        <a:rPr lang="en-US" sz="2400" i="1">
                          <a:solidFill>
                            <a:srgbClr val="002060"/>
                          </a:solidFill>
                          <a:latin typeface="Cambria Math" panose="02040503050406030204" pitchFamily="18" charset="0"/>
                          <a:ea typeface="Cambria Math" panose="02040503050406030204" pitchFamily="18" charset="0"/>
                        </a:rPr>
                        <m:t>⨂</m:t>
                      </m:r>
                      <m:d>
                        <m:dPr>
                          <m:ctrlPr>
                            <a:rPr lang="en-US" sz="2400" i="1">
                              <a:solidFill>
                                <a:srgbClr val="002060"/>
                              </a:solidFill>
                              <a:latin typeface="Cambria Math" panose="02040503050406030204" pitchFamily="18" charset="0"/>
                              <a:ea typeface="Cambria Math" panose="02040503050406030204" pitchFamily="18" charset="0"/>
                            </a:rPr>
                          </m:ctrlPr>
                        </m:dPr>
                        <m:e>
                          <m:f>
                            <m:fPr>
                              <m:ctrlPr>
                                <a:rPr lang="en-US" sz="2400" i="1">
                                  <a:solidFill>
                                    <a:srgbClr val="002060"/>
                                  </a:solidFill>
                                  <a:latin typeface="Cambria Math" panose="02040503050406030204" pitchFamily="18" charset="0"/>
                                  <a:ea typeface="Cambria Math" panose="02040503050406030204" pitchFamily="18" charset="0"/>
                                </a:rPr>
                              </m:ctrlPr>
                            </m:fPr>
                            <m:num>
                              <m:r>
                                <a:rPr lang="en-US" sz="2400" i="1">
                                  <a:solidFill>
                                    <a:srgbClr val="002060"/>
                                  </a:solidFill>
                                  <a:latin typeface="Cambria Math" panose="02040503050406030204" pitchFamily="18" charset="0"/>
                                  <a:ea typeface="Cambria Math" panose="02040503050406030204" pitchFamily="18" charset="0"/>
                                </a:rPr>
                                <m:t>1</m:t>
                              </m:r>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nary>
                            <m:naryPr>
                              <m:chr m:val="∑"/>
                              <m:ctrlPr>
                                <a:rPr lang="en-US" sz="2400" i="1">
                                  <a:solidFill>
                                    <a:srgbClr val="002060"/>
                                  </a:solidFill>
                                  <a:latin typeface="Cambria Math" panose="02040503050406030204" pitchFamily="18" charset="0"/>
                                  <a:ea typeface="Cambria Math" panose="02040503050406030204" pitchFamily="18" charset="0"/>
                                </a:rPr>
                              </m:ctrlPr>
                            </m:naryPr>
                            <m:sub>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b="0" i="1" smtClean="0">
                                      <a:solidFill>
                                        <a:srgbClr val="002060"/>
                                      </a:solidFill>
                                      <a:latin typeface="Cambria Math" panose="02040503050406030204" pitchFamily="18" charset="0"/>
                                      <a:ea typeface="Cambria Math" panose="02040503050406030204" pitchFamily="18" charset="0"/>
                                    </a:rPr>
                                    <m:t>𝑘</m:t>
                                  </m:r>
                                </m:e>
                                <m:sub>
                                  <m:r>
                                    <a:rPr lang="en-US" sz="2400" b="0" i="1" smtClean="0">
                                      <a:solidFill>
                                        <a:srgbClr val="002060"/>
                                      </a:solidFill>
                                      <a:latin typeface="Cambria Math" panose="02040503050406030204" pitchFamily="18" charset="0"/>
                                      <a:ea typeface="Cambria Math" panose="02040503050406030204" pitchFamily="18" charset="0"/>
                                    </a:rPr>
                                    <m:t>2</m:t>
                                  </m:r>
                                </m:sub>
                              </m:sSub>
                              <m:r>
                                <a:rPr lang="en-US" sz="2400" i="1">
                                  <a:solidFill>
                                    <a:srgbClr val="002060"/>
                                  </a:solidFill>
                                  <a:latin typeface="Cambria Math" panose="02040503050406030204" pitchFamily="18" charset="0"/>
                                  <a:ea typeface="Cambria Math" panose="02040503050406030204" pitchFamily="18" charset="0"/>
                                </a:rPr>
                                <m:t>=0</m:t>
                              </m:r>
                            </m:sub>
                            <m:sup>
                              <m:r>
                                <a:rPr lang="en-US" sz="2400" i="1">
                                  <a:solidFill>
                                    <a:srgbClr val="002060"/>
                                  </a:solidFill>
                                  <a:latin typeface="Cambria Math" panose="02040503050406030204" pitchFamily="18" charset="0"/>
                                  <a:ea typeface="Cambria Math" panose="02040503050406030204" pitchFamily="18" charset="0"/>
                                </a:rPr>
                                <m:t>1</m:t>
                              </m:r>
                            </m:sup>
                            <m:e>
                              <m:sSup>
                                <m:sSupPr>
                                  <m:ctrlPr>
                                    <a:rPr lang="en-US" sz="2400" i="1">
                                      <a:solidFill>
                                        <a:srgbClr val="002060"/>
                                      </a:solidFill>
                                      <a:latin typeface="Cambria Math" panose="02040503050406030204" pitchFamily="18" charset="0"/>
                                      <a:ea typeface="Cambria Math" panose="02040503050406030204" pitchFamily="18" charset="0"/>
                                    </a:rPr>
                                  </m:ctrlPr>
                                </m:sSupPr>
                                <m:e>
                                  <m:d>
                                    <m:dPr>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−1</m:t>
                                      </m:r>
                                    </m:e>
                                  </m:d>
                                </m:e>
                                <m:sup>
                                  <m:sSub>
                                    <m:sSubPr>
                                      <m:ctrlPr>
                                        <a:rPr lang="en-US" sz="2400" i="1">
                                          <a:solidFill>
                                            <a:srgbClr val="002060"/>
                                          </a:solidFill>
                                          <a:latin typeface="Cambria Math" panose="02040503050406030204" pitchFamily="18" charset="0"/>
                                          <a:ea typeface="Cambria Math" panose="02040503050406030204" pitchFamily="18" charset="0"/>
                                        </a:rPr>
                                      </m:ctrlPr>
                                    </m:sSubPr>
                                    <m:e>
                                      <m:r>
                                        <a:rPr lang="sr-Latn-RS" sz="2400" b="0" i="1" smtClean="0">
                                          <a:solidFill>
                                            <a:srgbClr val="002060"/>
                                          </a:solidFill>
                                          <a:latin typeface="Cambria Math" panose="02040503050406030204" pitchFamily="18" charset="0"/>
                                          <a:ea typeface="Cambria Math" panose="02040503050406030204" pitchFamily="18" charset="0"/>
                                        </a:rPr>
                                        <m:t>𝑞</m:t>
                                      </m:r>
                                    </m:e>
                                    <m:sub>
                                      <m:r>
                                        <a:rPr lang="en-US" sz="2400" b="0" i="1" smtClean="0">
                                          <a:solidFill>
                                            <a:srgbClr val="002060"/>
                                          </a:solidFill>
                                          <a:latin typeface="Cambria Math" panose="02040503050406030204" pitchFamily="18" charset="0"/>
                                          <a:ea typeface="Cambria Math" panose="02040503050406030204" pitchFamily="18" charset="0"/>
                                        </a:rPr>
                                        <m:t>2</m:t>
                                      </m:r>
                                    </m:sub>
                                  </m:sSub>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b="0" i="1" smtClean="0">
                                          <a:solidFill>
                                            <a:srgbClr val="002060"/>
                                          </a:solidFill>
                                          <a:latin typeface="Cambria Math" panose="02040503050406030204" pitchFamily="18" charset="0"/>
                                          <a:ea typeface="Cambria Math" panose="02040503050406030204" pitchFamily="18" charset="0"/>
                                        </a:rPr>
                                        <m:t>𝑘</m:t>
                                      </m:r>
                                    </m:e>
                                    <m:sub>
                                      <m:r>
                                        <a:rPr lang="en-US" sz="2400" b="0" i="1" smtClean="0">
                                          <a:solidFill>
                                            <a:srgbClr val="002060"/>
                                          </a:solidFill>
                                          <a:latin typeface="Cambria Math" panose="02040503050406030204" pitchFamily="18" charset="0"/>
                                          <a:ea typeface="Cambria Math" panose="02040503050406030204" pitchFamily="18" charset="0"/>
                                        </a:rPr>
                                        <m:t>2</m:t>
                                      </m:r>
                                    </m:sub>
                                  </m:sSub>
                                </m:sup>
                              </m:sSup>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b="0" i="1" smtClean="0">
                                          <a:solidFill>
                                            <a:srgbClr val="002060"/>
                                          </a:solidFill>
                                          <a:latin typeface="Cambria Math" panose="02040503050406030204" pitchFamily="18" charset="0"/>
                                          <a:ea typeface="Cambria Math" panose="02040503050406030204" pitchFamily="18" charset="0"/>
                                        </a:rPr>
                                        <m:t>𝑘</m:t>
                                      </m:r>
                                    </m:e>
                                    <m:sub>
                                      <m:r>
                                        <a:rPr lang="en-US" sz="2400" b="0" i="1" smtClean="0">
                                          <a:solidFill>
                                            <a:srgbClr val="002060"/>
                                          </a:solidFill>
                                          <a:latin typeface="Cambria Math" panose="02040503050406030204" pitchFamily="18" charset="0"/>
                                          <a:ea typeface="Cambria Math" panose="02040503050406030204" pitchFamily="18" charset="0"/>
                                        </a:rPr>
                                        <m:t>2</m:t>
                                      </m:r>
                                    </m:sub>
                                  </m:sSub>
                                </m:e>
                              </m:d>
                              <m:r>
                                <m:rPr>
                                  <m:nor/>
                                </m:rPr>
                                <a:rPr lang="en-US" sz="2400" dirty="0"/>
                                <m:t> </m:t>
                              </m:r>
                            </m:e>
                          </m:nary>
                        </m:e>
                      </m:d>
                    </m:oMath>
                  </m:oMathPara>
                </a14:m>
                <a:endParaRPr lang="en-US" sz="2400" dirty="0"/>
              </a:p>
            </p:txBody>
          </p:sp>
        </mc:Choice>
        <mc:Fallback xmlns="">
          <p:sp>
            <p:nvSpPr>
              <p:cNvPr id="23" name="Rectangle 22">
                <a:extLst>
                  <a:ext uri="{FF2B5EF4-FFF2-40B4-BE49-F238E27FC236}">
                    <a16:creationId xmlns:a16="http://schemas.microsoft.com/office/drawing/2014/main" id="{6F2C0A0C-4FAB-7D4D-9137-0CBEAF1FC3E7}"/>
                  </a:ext>
                </a:extLst>
              </p:cNvPr>
              <p:cNvSpPr>
                <a:spLocks noRot="1" noChangeAspect="1" noMove="1" noResize="1" noEditPoints="1" noAdjustHandles="1" noChangeArrowheads="1" noChangeShapeType="1" noTextEdit="1"/>
              </p:cNvSpPr>
              <p:nvPr/>
            </p:nvSpPr>
            <p:spPr>
              <a:xfrm>
                <a:off x="3123620" y="1502204"/>
                <a:ext cx="9068380" cy="1281376"/>
              </a:xfrm>
              <a:prstGeom prst="rect">
                <a:avLst/>
              </a:prstGeom>
              <a:blipFill>
                <a:blip r:embed="rId5"/>
                <a:stretch>
                  <a:fillRect t="-84314" b="-132353"/>
                </a:stretch>
              </a:blipFill>
            </p:spPr>
            <p:txBody>
              <a:bodyPr/>
              <a:lstStyle/>
              <a:p>
                <a:r>
                  <a:rPr lang="en-US">
                    <a:noFill/>
                  </a:rPr>
                  <a:t> </a:t>
                </a:r>
              </a:p>
            </p:txBody>
          </p:sp>
        </mc:Fallback>
      </mc:AlternateContent>
      <p:sp>
        <p:nvSpPr>
          <p:cNvPr id="12" name="Right Brace 11">
            <a:extLst>
              <a:ext uri="{FF2B5EF4-FFF2-40B4-BE49-F238E27FC236}">
                <a16:creationId xmlns:a16="http://schemas.microsoft.com/office/drawing/2014/main" id="{636FF1A6-59D6-DF41-A2AE-5D0E1F727F31}"/>
              </a:ext>
            </a:extLst>
          </p:cNvPr>
          <p:cNvSpPr/>
          <p:nvPr/>
        </p:nvSpPr>
        <p:spPr>
          <a:xfrm>
            <a:off x="2278304" y="1963869"/>
            <a:ext cx="472458" cy="1683202"/>
          </a:xfrm>
          <a:prstGeom prst="rightBrace">
            <a:avLst>
              <a:gd name="adj1" fmla="val 33422"/>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3D8C3E74-37AD-5E49-8AD2-612FC6609C8E}"/>
              </a:ext>
            </a:extLst>
          </p:cNvPr>
          <p:cNvSpPr txBox="1"/>
          <p:nvPr/>
        </p:nvSpPr>
        <p:spPr>
          <a:xfrm>
            <a:off x="15652376" y="-1667435"/>
            <a:ext cx="184731" cy="369332"/>
          </a:xfrm>
          <a:prstGeom prst="rect">
            <a:avLst/>
          </a:prstGeom>
          <a:solidFill>
            <a:schemeClr val="bg1">
              <a:lumMod val="95000"/>
            </a:schemeClr>
          </a:solidFill>
        </p:spPr>
        <p:txBody>
          <a:bodyPr wrap="none" rtlCol="0">
            <a:spAutoFit/>
          </a:bodyPr>
          <a:lstStyle/>
          <a:p>
            <a:endParaRPr lang="en-US" dirty="0"/>
          </a:p>
        </p:txBody>
      </p:sp>
      <p:grpSp>
        <p:nvGrpSpPr>
          <p:cNvPr id="16" name="Group 15">
            <a:extLst>
              <a:ext uri="{FF2B5EF4-FFF2-40B4-BE49-F238E27FC236}">
                <a16:creationId xmlns:a16="http://schemas.microsoft.com/office/drawing/2014/main" id="{C6E19B4C-D375-894D-B006-08E1E3D3B6AC}"/>
              </a:ext>
            </a:extLst>
          </p:cNvPr>
          <p:cNvGrpSpPr/>
          <p:nvPr/>
        </p:nvGrpSpPr>
        <p:grpSpPr>
          <a:xfrm>
            <a:off x="300938" y="4622548"/>
            <a:ext cx="11623695" cy="1836827"/>
            <a:chOff x="300938" y="4622548"/>
            <a:chExt cx="11623695" cy="1836827"/>
          </a:xfrm>
        </p:grpSpPr>
        <p:sp>
          <p:nvSpPr>
            <p:cNvPr id="7" name="TextBox 6">
              <a:extLst>
                <a:ext uri="{FF2B5EF4-FFF2-40B4-BE49-F238E27FC236}">
                  <a16:creationId xmlns:a16="http://schemas.microsoft.com/office/drawing/2014/main" id="{B5B89564-338F-7F49-9877-CBC6EF107F74}"/>
                </a:ext>
              </a:extLst>
            </p:cNvPr>
            <p:cNvSpPr txBox="1"/>
            <p:nvPr/>
          </p:nvSpPr>
          <p:spPr>
            <a:xfrm>
              <a:off x="300938" y="4622548"/>
              <a:ext cx="1323632" cy="461665"/>
            </a:xfrm>
            <a:prstGeom prst="rect">
              <a:avLst/>
            </a:prstGeom>
            <a:noFill/>
          </p:spPr>
          <p:txBody>
            <a:bodyPr wrap="none" rtlCol="0">
              <a:spAutoFit/>
            </a:bodyPr>
            <a:lstStyle/>
            <a:p>
              <a:r>
                <a:rPr lang="en-US" sz="2400" dirty="0"/>
                <a:t>Example:</a:t>
              </a:r>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E0F34CD3-8A73-664E-B196-786CA79BF305}"/>
                    </a:ext>
                  </a:extLst>
                </p:cNvPr>
                <p:cNvSpPr/>
                <p:nvPr/>
              </p:nvSpPr>
              <p:spPr>
                <a:xfrm>
                  <a:off x="300938" y="5306239"/>
                  <a:ext cx="11623695" cy="11531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rgbClr val="002060"/>
                                </a:solidFill>
                                <a:latin typeface="Cambria Math" panose="02040503050406030204" pitchFamily="18" charset="0"/>
                                <a:ea typeface="Cambria Math" panose="02040503050406030204" pitchFamily="18" charset="0"/>
                              </a:rPr>
                            </m:ctrlPr>
                          </m:sSupPr>
                          <m:e>
                            <m:r>
                              <a:rPr lang="en-US" sz="2400" b="0" i="1" smtClean="0">
                                <a:solidFill>
                                  <a:srgbClr val="002060"/>
                                </a:solidFill>
                                <a:latin typeface="Cambria Math" panose="02040503050406030204" pitchFamily="18" charset="0"/>
                                <a:ea typeface="Cambria Math" panose="02040503050406030204" pitchFamily="18" charset="0"/>
                              </a:rPr>
                              <m:t>𝐻</m:t>
                            </m:r>
                          </m:e>
                          <m:sup>
                            <m:r>
                              <a:rPr lang="en-US" sz="2400" i="1">
                                <a:solidFill>
                                  <a:srgbClr val="002060"/>
                                </a:solidFill>
                                <a:latin typeface="Cambria Math" panose="02040503050406030204" pitchFamily="18" charset="0"/>
                                <a:ea typeface="Cambria Math" panose="02040503050406030204" pitchFamily="18" charset="0"/>
                              </a:rPr>
                              <m:t>⨂2</m:t>
                            </m:r>
                          </m:sup>
                        </m:sSup>
                        <m:r>
                          <a:rPr lang="en-US" sz="24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sSub>
                              <m:sSubPr>
                                <m:ctrlPr>
                                  <a:rPr lang="en-US" sz="2400" i="1">
                                    <a:solidFill>
                                      <a:srgbClr val="002060"/>
                                    </a:solidFill>
                                    <a:latin typeface="Cambria Math" panose="02040503050406030204" pitchFamily="18" charset="0"/>
                                    <a:ea typeface="Cambria Math" panose="02040503050406030204" pitchFamily="18" charset="0"/>
                                  </a:rPr>
                                </m:ctrlPr>
                              </m:sSubPr>
                              <m:e>
                                <m:r>
                                  <a:rPr lang="sr-Latn-RS" sz="2400" i="1">
                                    <a:solidFill>
                                      <a:srgbClr val="002060"/>
                                    </a:solidFill>
                                    <a:latin typeface="Cambria Math" panose="02040503050406030204" pitchFamily="18" charset="0"/>
                                    <a:ea typeface="Cambria Math" panose="02040503050406030204" pitchFamily="18" charset="0"/>
                                  </a:rPr>
                                  <m:t>𝑞</m:t>
                                </m:r>
                              </m:e>
                              <m:sub>
                                <m:r>
                                  <a:rPr lang="en-US" sz="2400" i="1">
                                    <a:solidFill>
                                      <a:srgbClr val="002060"/>
                                    </a:solidFill>
                                    <a:latin typeface="Cambria Math" panose="02040503050406030204" pitchFamily="18" charset="0"/>
                                    <a:ea typeface="Cambria Math" panose="02040503050406030204" pitchFamily="18" charset="0"/>
                                  </a:rPr>
                                  <m:t>1</m:t>
                                </m:r>
                              </m:sub>
                            </m:sSub>
                            <m:sSub>
                              <m:sSubPr>
                                <m:ctrlPr>
                                  <a:rPr lang="en-US" sz="2400" i="1">
                                    <a:solidFill>
                                      <a:srgbClr val="002060"/>
                                    </a:solidFill>
                                    <a:latin typeface="Cambria Math" panose="02040503050406030204" pitchFamily="18" charset="0"/>
                                    <a:ea typeface="Cambria Math" panose="02040503050406030204" pitchFamily="18" charset="0"/>
                                  </a:rPr>
                                </m:ctrlPr>
                              </m:sSubPr>
                              <m:e>
                                <m:r>
                                  <a:rPr lang="sr-Latn-RS" sz="2400" i="1">
                                    <a:solidFill>
                                      <a:srgbClr val="002060"/>
                                    </a:solidFill>
                                    <a:latin typeface="Cambria Math" panose="02040503050406030204" pitchFamily="18" charset="0"/>
                                    <a:ea typeface="Cambria Math" panose="02040503050406030204" pitchFamily="18" charset="0"/>
                                  </a:rPr>
                                  <m:t>𝑞</m:t>
                                </m:r>
                              </m:e>
                              <m:sub>
                                <m:r>
                                  <a:rPr lang="en-US" sz="2400" b="0" i="1" smtClean="0">
                                    <a:solidFill>
                                      <a:srgbClr val="002060"/>
                                    </a:solidFill>
                                    <a:latin typeface="Cambria Math" panose="02040503050406030204" pitchFamily="18" charset="0"/>
                                    <a:ea typeface="Cambria Math" panose="02040503050406030204" pitchFamily="18" charset="0"/>
                                  </a:rPr>
                                  <m:t>2</m:t>
                                </m:r>
                              </m:sub>
                            </m:sSub>
                          </m:e>
                        </m:d>
                        <m:r>
                          <a:rPr lang="en-US" sz="2400" b="0" i="1" smtClean="0">
                            <a:solidFill>
                              <a:srgbClr val="002060"/>
                            </a:solidFill>
                            <a:latin typeface="Cambria Math" panose="02040503050406030204" pitchFamily="18" charset="0"/>
                            <a:ea typeface="Cambria Math" panose="02040503050406030204" pitchFamily="18" charset="0"/>
                          </a:rPr>
                          <m:t>=</m:t>
                        </m:r>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𝐻</m:t>
                            </m:r>
                          </m:e>
                          <m:sup>
                            <m:r>
                              <a:rPr lang="en-US" sz="2400" i="1">
                                <a:solidFill>
                                  <a:srgbClr val="002060"/>
                                </a:solidFill>
                                <a:latin typeface="Cambria Math" panose="02040503050406030204" pitchFamily="18" charset="0"/>
                                <a:ea typeface="Cambria Math" panose="02040503050406030204" pitchFamily="18" charset="0"/>
                              </a:rPr>
                              <m:t>⨂2</m:t>
                            </m:r>
                          </m:sup>
                        </m:sSup>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b="0" i="1" smtClean="0">
                                <a:solidFill>
                                  <a:srgbClr val="002060"/>
                                </a:solidFill>
                                <a:latin typeface="Cambria Math" panose="02040503050406030204" pitchFamily="18" charset="0"/>
                                <a:ea typeface="Cambria Math" panose="02040503050406030204" pitchFamily="18" charset="0"/>
                              </a:rPr>
                              <m:t>01</m:t>
                            </m:r>
                          </m:e>
                        </m:d>
                        <m:r>
                          <a:rPr lang="en-US" sz="2400" i="1" smtClean="0">
                            <a:solidFill>
                              <a:srgbClr val="002060"/>
                            </a:solidFill>
                            <a:latin typeface="Cambria Math" panose="02040503050406030204" pitchFamily="18" charset="0"/>
                            <a:ea typeface="Cambria Math" panose="02040503050406030204" pitchFamily="18" charset="0"/>
                          </a:rPr>
                          <m:t>→</m:t>
                        </m:r>
                        <m:f>
                          <m:fPr>
                            <m:ctrlPr>
                              <a:rPr lang="en-US" sz="2400" i="1" smtClean="0">
                                <a:solidFill>
                                  <a:srgbClr val="002060"/>
                                </a:solidFill>
                                <a:latin typeface="Cambria Math" panose="02040503050406030204" pitchFamily="18" charset="0"/>
                                <a:ea typeface="Cambria Math" panose="02040503050406030204" pitchFamily="18" charset="0"/>
                              </a:rPr>
                            </m:ctrlPr>
                          </m:fPr>
                          <m:num>
                            <m:r>
                              <a:rPr lang="en-US" sz="2400" b="0" i="1" smtClean="0">
                                <a:solidFill>
                                  <a:srgbClr val="002060"/>
                                </a:solidFill>
                                <a:latin typeface="Cambria Math" panose="02040503050406030204" pitchFamily="18" charset="0"/>
                                <a:ea typeface="Cambria Math" panose="02040503050406030204" pitchFamily="18" charset="0"/>
                              </a:rPr>
                              <m:t>1</m:t>
                            </m:r>
                          </m:num>
                          <m:den>
                            <m:r>
                              <a:rPr lang="en-US" sz="2400" b="0" i="1" smtClean="0">
                                <a:solidFill>
                                  <a:srgbClr val="002060"/>
                                </a:solidFill>
                                <a:latin typeface="Cambria Math" panose="02040503050406030204" pitchFamily="18" charset="0"/>
                                <a:ea typeface="Cambria Math" panose="02040503050406030204" pitchFamily="18" charset="0"/>
                              </a:rPr>
                              <m:t>2</m:t>
                            </m:r>
                          </m:den>
                        </m:f>
                        <m:d>
                          <m:dPr>
                            <m:ctrlPr>
                              <a:rPr lang="en-US" sz="2400" i="1" smtClean="0">
                                <a:solidFill>
                                  <a:srgbClr val="002060"/>
                                </a:solidFill>
                                <a:latin typeface="Cambria Math" panose="02040503050406030204" pitchFamily="18" charset="0"/>
                                <a:ea typeface="Cambria Math" panose="02040503050406030204" pitchFamily="18" charset="0"/>
                              </a:rPr>
                            </m:ctrlPr>
                          </m:dPr>
                          <m:e>
                            <m:sSup>
                              <m:sSupPr>
                                <m:ctrlPr>
                                  <a:rPr lang="en-US" sz="2400" i="1">
                                    <a:solidFill>
                                      <a:srgbClr val="002060"/>
                                    </a:solidFill>
                                    <a:latin typeface="Cambria Math" panose="02040503050406030204" pitchFamily="18" charset="0"/>
                                    <a:ea typeface="Cambria Math" panose="02040503050406030204" pitchFamily="18" charset="0"/>
                                  </a:rPr>
                                </m:ctrlPr>
                              </m:sSupPr>
                              <m:e>
                                <m:d>
                                  <m:dPr>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−1</m:t>
                                    </m:r>
                                  </m:e>
                                </m:d>
                              </m:e>
                              <m:sup>
                                <m:r>
                                  <a:rPr lang="en-US" sz="2400" b="0" i="1" smtClean="0">
                                    <a:solidFill>
                                      <a:srgbClr val="002060"/>
                                    </a:solidFill>
                                    <a:latin typeface="Cambria Math" panose="02040503050406030204" pitchFamily="18" charset="0"/>
                                    <a:ea typeface="Cambria Math" panose="02040503050406030204" pitchFamily="18" charset="0"/>
                                  </a:rPr>
                                  <m:t>0</m:t>
                                </m:r>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0</m:t>
                                </m:r>
                              </m:sup>
                            </m:sSup>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b="0" i="1" smtClean="0">
                                        <a:solidFill>
                                          <a:srgbClr val="002060"/>
                                        </a:solidFill>
                                        <a:latin typeface="Cambria Math" panose="02040503050406030204" pitchFamily="18" charset="0"/>
                                        <a:ea typeface="Cambria Math" panose="02040503050406030204" pitchFamily="18" charset="0"/>
                                      </a:rPr>
                                      <m:t>00</m:t>
                                    </m:r>
                                  </m:e>
                                </m:d>
                                <m:r>
                                  <a:rPr lang="en-US" sz="2400" b="0" i="1" smtClean="0">
                                    <a:solidFill>
                                      <a:srgbClr val="002060"/>
                                    </a:solidFill>
                                    <a:latin typeface="Cambria Math" panose="02040503050406030204" pitchFamily="18" charset="0"/>
                                    <a:ea typeface="Cambria Math" panose="02040503050406030204" pitchFamily="18" charset="0"/>
                                  </a:rPr>
                                  <m:t>+</m:t>
                                </m:r>
                                <m:sSup>
                                  <m:sSupPr>
                                    <m:ctrlPr>
                                      <a:rPr lang="en-US" sz="2400" i="1">
                                        <a:solidFill>
                                          <a:srgbClr val="002060"/>
                                        </a:solidFill>
                                        <a:latin typeface="Cambria Math" panose="02040503050406030204" pitchFamily="18" charset="0"/>
                                        <a:ea typeface="Cambria Math" panose="02040503050406030204" pitchFamily="18" charset="0"/>
                                      </a:rPr>
                                    </m:ctrlPr>
                                  </m:sSupPr>
                                  <m:e>
                                    <m:d>
                                      <m:dPr>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−1</m:t>
                                        </m:r>
                                      </m:e>
                                    </m:d>
                                  </m:e>
                                  <m:sup>
                                    <m:r>
                                      <a:rPr lang="en-US" sz="2400" i="1">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1</m:t>
                                    </m:r>
                                  </m:sup>
                                </m:sSup>
                              </m:e>
                            </m:d>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1</m:t>
                                </m:r>
                              </m:e>
                            </m:d>
                            <m:r>
                              <a:rPr lang="en-US" sz="2400" i="1">
                                <a:solidFill>
                                  <a:srgbClr val="002060"/>
                                </a:solidFill>
                                <a:latin typeface="Cambria Math" panose="02040503050406030204" pitchFamily="18" charset="0"/>
                                <a:ea typeface="Cambria Math" panose="02040503050406030204" pitchFamily="18" charset="0"/>
                              </a:rPr>
                              <m:t>+</m:t>
                            </m:r>
                            <m:sSup>
                              <m:sSupPr>
                                <m:ctrlPr>
                                  <a:rPr lang="en-US" sz="2400" i="1">
                                    <a:solidFill>
                                      <a:srgbClr val="002060"/>
                                    </a:solidFill>
                                    <a:latin typeface="Cambria Math" panose="02040503050406030204" pitchFamily="18" charset="0"/>
                                    <a:ea typeface="Cambria Math" panose="02040503050406030204" pitchFamily="18" charset="0"/>
                                  </a:rPr>
                                </m:ctrlPr>
                              </m:sSupPr>
                              <m:e>
                                <m:d>
                                  <m:dPr>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−1</m:t>
                                    </m:r>
                                  </m:e>
                                </m:d>
                              </m:e>
                              <m:sup>
                                <m:r>
                                  <a:rPr lang="en-US" sz="2400" i="1">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0</m:t>
                                </m:r>
                              </m:sup>
                            </m:sSup>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b="0" i="1" smtClean="0">
                                        <a:solidFill>
                                          <a:srgbClr val="002060"/>
                                        </a:solidFill>
                                        <a:latin typeface="Cambria Math" panose="02040503050406030204" pitchFamily="18" charset="0"/>
                                        <a:ea typeface="Cambria Math" panose="02040503050406030204" pitchFamily="18" charset="0"/>
                                      </a:rPr>
                                      <m:t>10</m:t>
                                    </m:r>
                                  </m:e>
                                </m:d>
                                <m:r>
                                  <a:rPr lang="en-US" sz="2400" i="1">
                                    <a:solidFill>
                                      <a:srgbClr val="002060"/>
                                    </a:solidFill>
                                    <a:latin typeface="Cambria Math" panose="02040503050406030204" pitchFamily="18" charset="0"/>
                                    <a:ea typeface="Cambria Math" panose="02040503050406030204" pitchFamily="18" charset="0"/>
                                  </a:rPr>
                                  <m:t>+</m:t>
                                </m:r>
                                <m:sSup>
                                  <m:sSupPr>
                                    <m:ctrlPr>
                                      <a:rPr lang="en-US" sz="2400" i="1">
                                        <a:solidFill>
                                          <a:srgbClr val="002060"/>
                                        </a:solidFill>
                                        <a:latin typeface="Cambria Math" panose="02040503050406030204" pitchFamily="18" charset="0"/>
                                        <a:ea typeface="Cambria Math" panose="02040503050406030204" pitchFamily="18" charset="0"/>
                                      </a:rPr>
                                    </m:ctrlPr>
                                  </m:sSupPr>
                                  <m:e>
                                    <m:d>
                                      <m:dPr>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−1</m:t>
                                        </m:r>
                                      </m:e>
                                    </m:d>
                                  </m:e>
                                  <m:sup>
                                    <m:r>
                                      <a:rPr lang="en-US" sz="2400" i="1">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1</m:t>
                                    </m:r>
                                  </m:sup>
                                </m:sSup>
                              </m:e>
                            </m:d>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b="0" i="1" smtClean="0">
                                    <a:solidFill>
                                      <a:srgbClr val="002060"/>
                                    </a:solidFill>
                                    <a:latin typeface="Cambria Math" panose="02040503050406030204" pitchFamily="18" charset="0"/>
                                    <a:ea typeface="Cambria Math" panose="02040503050406030204" pitchFamily="18" charset="0"/>
                                  </a:rPr>
                                  <m:t>1</m:t>
                                </m:r>
                                <m:r>
                                  <a:rPr lang="en-US" sz="2400" i="1">
                                    <a:solidFill>
                                      <a:srgbClr val="002060"/>
                                    </a:solidFill>
                                    <a:latin typeface="Cambria Math" panose="02040503050406030204" pitchFamily="18" charset="0"/>
                                    <a:ea typeface="Cambria Math" panose="02040503050406030204" pitchFamily="18" charset="0"/>
                                  </a:rPr>
                                  <m:t>1</m:t>
                                </m:r>
                              </m:e>
                            </m:d>
                          </m:e>
                        </m:d>
                      </m:oMath>
                    </m:oMathPara>
                  </a14:m>
                  <a:endParaRPr lang="en-US" sz="2400" dirty="0">
                    <a:solidFill>
                      <a:srgbClr val="002060"/>
                    </a:solidFill>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sSub>
                                  <m:sSubPr>
                                    <m:ctrlPr>
                                      <a:rPr lang="en-US" sz="2400" i="1">
                                        <a:solidFill>
                                          <a:srgbClr val="002060"/>
                                        </a:solidFill>
                                        <a:latin typeface="Cambria Math" panose="02040503050406030204" pitchFamily="18" charset="0"/>
                                        <a:ea typeface="Cambria Math" panose="02040503050406030204" pitchFamily="18" charset="0"/>
                                      </a:rPr>
                                    </m:ctrlPr>
                                  </m:sSubPr>
                                  <m:e>
                                    <m:r>
                                      <a:rPr lang="sr-Latn-RS" sz="2400" i="1">
                                        <a:solidFill>
                                          <a:srgbClr val="002060"/>
                                        </a:solidFill>
                                        <a:latin typeface="Cambria Math" panose="02040503050406030204" pitchFamily="18" charset="0"/>
                                        <a:ea typeface="Cambria Math" panose="02040503050406030204" pitchFamily="18" charset="0"/>
                                      </a:rPr>
                                      <m:t>𝑞</m:t>
                                    </m:r>
                                  </m:e>
                                  <m:sub>
                                    <m:r>
                                      <a:rPr lang="en-US" sz="2400" i="1">
                                        <a:solidFill>
                                          <a:srgbClr val="002060"/>
                                        </a:solidFill>
                                        <a:latin typeface="Cambria Math" panose="02040503050406030204" pitchFamily="18" charset="0"/>
                                        <a:ea typeface="Cambria Math" panose="02040503050406030204" pitchFamily="18" charset="0"/>
                                      </a:rPr>
                                      <m:t>1</m:t>
                                    </m:r>
                                  </m:sub>
                                </m:sSub>
                                <m:sSub>
                                  <m:sSubPr>
                                    <m:ctrlPr>
                                      <a:rPr lang="en-US" sz="2400" i="1">
                                        <a:solidFill>
                                          <a:srgbClr val="002060"/>
                                        </a:solidFill>
                                        <a:latin typeface="Cambria Math" panose="02040503050406030204" pitchFamily="18" charset="0"/>
                                        <a:ea typeface="Cambria Math" panose="02040503050406030204" pitchFamily="18" charset="0"/>
                                      </a:rPr>
                                    </m:ctrlPr>
                                  </m:sSubPr>
                                  <m:e>
                                    <m:r>
                                      <a:rPr lang="sr-Latn-RS" sz="2400" i="1">
                                        <a:solidFill>
                                          <a:srgbClr val="002060"/>
                                        </a:solidFill>
                                        <a:latin typeface="Cambria Math" panose="02040503050406030204" pitchFamily="18" charset="0"/>
                                        <a:ea typeface="Cambria Math" panose="02040503050406030204" pitchFamily="18" charset="0"/>
                                      </a:rPr>
                                      <m:t>𝑞</m:t>
                                    </m:r>
                                  </m:e>
                                  <m:sub>
                                    <m:r>
                                      <a:rPr lang="en-US" sz="2400" i="1">
                                        <a:solidFill>
                                          <a:srgbClr val="002060"/>
                                        </a:solidFill>
                                        <a:latin typeface="Cambria Math" panose="02040503050406030204" pitchFamily="18" charset="0"/>
                                        <a:ea typeface="Cambria Math" panose="02040503050406030204" pitchFamily="18" charset="0"/>
                                      </a:rPr>
                                      <m:t>2</m:t>
                                    </m:r>
                                  </m:sub>
                                </m:sSub>
                              </m:e>
                            </m:d>
                            <m:r>
                              <a:rPr lang="en-US" sz="2400" i="1">
                                <a:solidFill>
                                  <a:srgbClr val="002060"/>
                                </a:solidFill>
                                <a:latin typeface="Cambria Math" panose="02040503050406030204" pitchFamily="18" charset="0"/>
                                <a:ea typeface="Cambria Math" panose="02040503050406030204" pitchFamily="18" charset="0"/>
                              </a:rPr>
                              <m:t>=</m:t>
                            </m:r>
                            <m:r>
                              <a:rPr lang="en-US" sz="2400" i="1" smtClean="0">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.5</m:t>
                            </m:r>
                          </m:e>
                        </m:d>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0</m:t>
                            </m:r>
                          </m:e>
                        </m:d>
                        <m:r>
                          <a:rPr lang="en-US" sz="2400" b="0" i="1" smtClean="0">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0.5</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01</m:t>
                                </m:r>
                              </m:e>
                            </m:d>
                            <m:r>
                              <a:rPr lang="en-US" sz="2400" b="0" i="1" smtClean="0">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0.5</m:t>
                            </m:r>
                          </m:e>
                        </m:d>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1</m:t>
                            </m:r>
                            <m:r>
                              <a:rPr lang="en-US" sz="2400" b="0" i="1" smtClean="0">
                                <a:solidFill>
                                  <a:srgbClr val="002060"/>
                                </a:solidFill>
                                <a:latin typeface="Cambria Math" panose="02040503050406030204" pitchFamily="18" charset="0"/>
                                <a:ea typeface="Cambria Math" panose="02040503050406030204" pitchFamily="18" charset="0"/>
                              </a:rPr>
                              <m:t>0</m:t>
                            </m:r>
                          </m:e>
                        </m:d>
                        <m:r>
                          <a:rPr lang="en-US" sz="2400" b="0" i="1" smtClean="0">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0.5|</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b="0" i="1" smtClean="0">
                                <a:solidFill>
                                  <a:srgbClr val="002060"/>
                                </a:solidFill>
                                <a:latin typeface="Cambria Math" panose="02040503050406030204" pitchFamily="18" charset="0"/>
                                <a:ea typeface="Cambria Math" panose="02040503050406030204" pitchFamily="18" charset="0"/>
                              </a:rPr>
                              <m:t>1</m:t>
                            </m:r>
                            <m:r>
                              <a:rPr lang="en-US" sz="2400" i="1">
                                <a:solidFill>
                                  <a:srgbClr val="002060"/>
                                </a:solidFill>
                                <a:latin typeface="Cambria Math" panose="02040503050406030204" pitchFamily="18" charset="0"/>
                                <a:ea typeface="Cambria Math" panose="02040503050406030204" pitchFamily="18" charset="0"/>
                              </a:rPr>
                              <m:t>1</m:t>
                            </m:r>
                          </m:e>
                        </m:d>
                      </m:oMath>
                    </m:oMathPara>
                  </a14:m>
                  <a:endParaRPr lang="en-US" sz="2400" dirty="0"/>
                </a:p>
              </p:txBody>
            </p:sp>
          </mc:Choice>
          <mc:Fallback xmlns="">
            <p:sp>
              <p:nvSpPr>
                <p:cNvPr id="10" name="Rectangle 9">
                  <a:extLst>
                    <a:ext uri="{FF2B5EF4-FFF2-40B4-BE49-F238E27FC236}">
                      <a16:creationId xmlns:a16="http://schemas.microsoft.com/office/drawing/2014/main" id="{E0F34CD3-8A73-664E-B196-786CA79BF305}"/>
                    </a:ext>
                  </a:extLst>
                </p:cNvPr>
                <p:cNvSpPr>
                  <a:spLocks noRot="1" noChangeAspect="1" noMove="1" noResize="1" noEditPoints="1" noAdjustHandles="1" noChangeArrowheads="1" noChangeShapeType="1" noTextEdit="1"/>
                </p:cNvSpPr>
                <p:nvPr/>
              </p:nvSpPr>
              <p:spPr>
                <a:xfrm>
                  <a:off x="300938" y="5306239"/>
                  <a:ext cx="11623695" cy="1153136"/>
                </a:xfrm>
                <a:prstGeom prst="rect">
                  <a:avLst/>
                </a:prstGeom>
                <a:blipFill>
                  <a:blip r:embed="rId7"/>
                  <a:stretch>
                    <a:fillRect t="-33696" r="-1530" b="-75000"/>
                  </a:stretch>
                </a:blipFill>
              </p:spPr>
              <p:txBody>
                <a:bodyPr/>
                <a:lstStyle/>
                <a:p>
                  <a:r>
                    <a:rPr lang="en-US">
                      <a:noFill/>
                    </a:rPr>
                    <a:t> </a:t>
                  </a:r>
                </a:p>
              </p:txBody>
            </p:sp>
          </mc:Fallback>
        </mc:AlternateContent>
        <p:cxnSp>
          <p:nvCxnSpPr>
            <p:cNvPr id="13" name="Straight Connector 12">
              <a:extLst>
                <a:ext uri="{FF2B5EF4-FFF2-40B4-BE49-F238E27FC236}">
                  <a16:creationId xmlns:a16="http://schemas.microsoft.com/office/drawing/2014/main" id="{9600B2AA-75B4-A341-895C-8876EFB7F245}"/>
                </a:ext>
              </a:extLst>
            </p:cNvPr>
            <p:cNvCxnSpPr>
              <a:cxnSpLocks/>
            </p:cNvCxnSpPr>
            <p:nvPr/>
          </p:nvCxnSpPr>
          <p:spPr>
            <a:xfrm>
              <a:off x="300938" y="5084213"/>
              <a:ext cx="11253753" cy="0"/>
            </a:xfrm>
            <a:prstGeom prst="line">
              <a:avLst/>
            </a:prstGeom>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F88C67B2-F2AA-DC4A-ACD6-2D1B5232A0D5}"/>
                  </a:ext>
                </a:extLst>
              </p:cNvPr>
              <p:cNvSpPr/>
              <p:nvPr/>
            </p:nvSpPr>
            <p:spPr>
              <a:xfrm>
                <a:off x="3123620" y="3229321"/>
                <a:ext cx="6637971" cy="117365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𝐻</m:t>
                          </m:r>
                        </m:e>
                        <m:sup>
                          <m:r>
                            <a:rPr lang="en-US" sz="2400" i="1">
                              <a:solidFill>
                                <a:srgbClr val="002060"/>
                              </a:solidFill>
                              <a:latin typeface="Cambria Math" panose="02040503050406030204" pitchFamily="18" charset="0"/>
                              <a:ea typeface="Cambria Math" panose="02040503050406030204" pitchFamily="18" charset="0"/>
                            </a:rPr>
                            <m:t>⨂2</m:t>
                          </m:r>
                        </m:sup>
                      </m:sSup>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sSub>
                            <m:sSubPr>
                              <m:ctrlPr>
                                <a:rPr lang="en-US" sz="2400" i="1">
                                  <a:solidFill>
                                    <a:srgbClr val="002060"/>
                                  </a:solidFill>
                                  <a:latin typeface="Cambria Math" panose="02040503050406030204" pitchFamily="18" charset="0"/>
                                  <a:ea typeface="Cambria Math" panose="02040503050406030204" pitchFamily="18" charset="0"/>
                                </a:rPr>
                              </m:ctrlPr>
                            </m:sSubPr>
                            <m:e>
                              <m:r>
                                <a:rPr lang="sr-Latn-RS" sz="2400" i="1">
                                  <a:solidFill>
                                    <a:srgbClr val="002060"/>
                                  </a:solidFill>
                                  <a:latin typeface="Cambria Math" panose="02040503050406030204" pitchFamily="18" charset="0"/>
                                  <a:ea typeface="Cambria Math" panose="02040503050406030204" pitchFamily="18" charset="0"/>
                                </a:rPr>
                                <m:t>𝑞</m:t>
                              </m:r>
                            </m:e>
                            <m:sub>
                              <m:r>
                                <a:rPr lang="en-US" sz="2400" i="1">
                                  <a:solidFill>
                                    <a:srgbClr val="002060"/>
                                  </a:solidFill>
                                  <a:latin typeface="Cambria Math" panose="02040503050406030204" pitchFamily="18" charset="0"/>
                                  <a:ea typeface="Cambria Math" panose="02040503050406030204" pitchFamily="18" charset="0"/>
                                </a:rPr>
                                <m:t>1</m:t>
                              </m:r>
                            </m:sub>
                          </m:sSub>
                          <m:sSub>
                            <m:sSubPr>
                              <m:ctrlPr>
                                <a:rPr lang="en-US" sz="2400" i="1">
                                  <a:solidFill>
                                    <a:srgbClr val="002060"/>
                                  </a:solidFill>
                                  <a:latin typeface="Cambria Math" panose="02040503050406030204" pitchFamily="18" charset="0"/>
                                  <a:ea typeface="Cambria Math" panose="02040503050406030204" pitchFamily="18" charset="0"/>
                                </a:rPr>
                              </m:ctrlPr>
                            </m:sSubPr>
                            <m:e>
                              <m:r>
                                <a:rPr lang="sr-Latn-RS" sz="2400" i="1">
                                  <a:solidFill>
                                    <a:srgbClr val="002060"/>
                                  </a:solidFill>
                                  <a:latin typeface="Cambria Math" panose="02040503050406030204" pitchFamily="18" charset="0"/>
                                  <a:ea typeface="Cambria Math" panose="02040503050406030204" pitchFamily="18" charset="0"/>
                                </a:rPr>
                                <m:t>𝑞</m:t>
                              </m:r>
                            </m:e>
                            <m:sub>
                              <m:r>
                                <a:rPr lang="en-US" sz="2400" i="1">
                                  <a:solidFill>
                                    <a:srgbClr val="002060"/>
                                  </a:solidFill>
                                  <a:latin typeface="Cambria Math" panose="02040503050406030204" pitchFamily="18" charset="0"/>
                                  <a:ea typeface="Cambria Math" panose="02040503050406030204" pitchFamily="18" charset="0"/>
                                </a:rPr>
                                <m:t>2</m:t>
                              </m:r>
                            </m:sub>
                          </m:sSub>
                        </m:e>
                      </m:d>
                      <m:r>
                        <a:rPr lang="sr-Latn-RS" sz="2400" b="0" i="1" smtClean="0">
                          <a:solidFill>
                            <a:srgbClr val="002060"/>
                          </a:solidFill>
                          <a:latin typeface="Cambria Math" panose="02040503050406030204" pitchFamily="18" charset="0"/>
                          <a:ea typeface="Cambria Math" panose="02040503050406030204" pitchFamily="18" charset="0"/>
                        </a:rPr>
                        <m:t>=</m:t>
                      </m:r>
                      <m:f>
                        <m:fPr>
                          <m:ctrlPr>
                            <a:rPr lang="en-US" sz="2400" i="1">
                              <a:solidFill>
                                <a:srgbClr val="002060"/>
                              </a:solidFill>
                              <a:latin typeface="Cambria Math" panose="02040503050406030204" pitchFamily="18" charset="0"/>
                              <a:ea typeface="Cambria Math" panose="02040503050406030204" pitchFamily="18" charset="0"/>
                            </a:rPr>
                          </m:ctrlPr>
                        </m:fPr>
                        <m:num>
                          <m:r>
                            <a:rPr lang="en-US" sz="2400" i="1">
                              <a:solidFill>
                                <a:srgbClr val="002060"/>
                              </a:solidFill>
                              <a:latin typeface="Cambria Math" panose="02040503050406030204" pitchFamily="18" charset="0"/>
                              <a:ea typeface="Cambria Math" panose="02040503050406030204" pitchFamily="18" charset="0"/>
                            </a:rPr>
                            <m:t>1</m:t>
                          </m:r>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2</m:t>
                                  </m:r>
                                </m:e>
                                <m:sup>
                                  <m:r>
                                    <a:rPr lang="en-US" sz="2400" i="1">
                                      <a:solidFill>
                                        <a:srgbClr val="002060"/>
                                      </a:solidFill>
                                      <a:latin typeface="Cambria Math" panose="02040503050406030204" pitchFamily="18" charset="0"/>
                                      <a:ea typeface="Cambria Math" panose="02040503050406030204" pitchFamily="18" charset="0"/>
                                    </a:rPr>
                                    <m:t>2</m:t>
                                  </m:r>
                                </m:sup>
                              </m:sSup>
                            </m:e>
                          </m:rad>
                        </m:den>
                      </m:f>
                      <m:nary>
                        <m:naryPr>
                          <m:chr m:val="∑"/>
                          <m:ctrlPr>
                            <a:rPr lang="en-US" sz="2400" i="1" smtClean="0">
                              <a:solidFill>
                                <a:srgbClr val="002060"/>
                              </a:solidFill>
                              <a:latin typeface="Cambria Math" panose="02040503050406030204" pitchFamily="18" charset="0"/>
                              <a:ea typeface="Cambria Math" panose="02040503050406030204" pitchFamily="18" charset="0"/>
                            </a:rPr>
                          </m:ctrlPr>
                        </m:naryPr>
                        <m:sub>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𝑘</m:t>
                              </m:r>
                            </m:e>
                            <m:sub>
                              <m:r>
                                <a:rPr lang="en-US" sz="2400" i="1">
                                  <a:solidFill>
                                    <a:srgbClr val="002060"/>
                                  </a:solidFill>
                                  <a:latin typeface="Cambria Math" panose="02040503050406030204" pitchFamily="18" charset="0"/>
                                  <a:ea typeface="Cambria Math" panose="02040503050406030204" pitchFamily="18" charset="0"/>
                                </a:rPr>
                                <m:t>1</m:t>
                              </m:r>
                            </m:sub>
                          </m:sSub>
                          <m:r>
                            <a:rPr lang="en-US" sz="2400" i="1">
                              <a:solidFill>
                                <a:srgbClr val="002060"/>
                              </a:solidFill>
                              <a:latin typeface="Cambria Math" panose="02040503050406030204" pitchFamily="18" charset="0"/>
                              <a:ea typeface="Cambria Math" panose="02040503050406030204" pitchFamily="18" charset="0"/>
                            </a:rPr>
                            <m:t>=0</m:t>
                          </m:r>
                        </m:sub>
                        <m:sup>
                          <m:r>
                            <a:rPr lang="en-US" sz="2400" b="0" i="1" smtClean="0">
                              <a:solidFill>
                                <a:srgbClr val="002060"/>
                              </a:solidFill>
                              <a:latin typeface="Cambria Math" panose="02040503050406030204" pitchFamily="18" charset="0"/>
                              <a:ea typeface="Cambria Math" panose="02040503050406030204" pitchFamily="18" charset="0"/>
                            </a:rPr>
                            <m:t>1</m:t>
                          </m:r>
                        </m:sup>
                        <m:e>
                          <m:nary>
                            <m:naryPr>
                              <m:chr m:val="∑"/>
                              <m:ctrlPr>
                                <a:rPr lang="en-US" sz="2400" i="1" smtClean="0">
                                  <a:solidFill>
                                    <a:srgbClr val="002060"/>
                                  </a:solidFill>
                                  <a:latin typeface="Cambria Math" panose="02040503050406030204" pitchFamily="18" charset="0"/>
                                  <a:ea typeface="Cambria Math" panose="02040503050406030204" pitchFamily="18" charset="0"/>
                                </a:rPr>
                              </m:ctrlPr>
                            </m:naryPr>
                            <m:sub>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𝑘</m:t>
                                  </m:r>
                                </m:e>
                                <m:sub>
                                  <m:r>
                                    <a:rPr lang="en-US" sz="2400" b="0" i="1" smtClean="0">
                                      <a:solidFill>
                                        <a:srgbClr val="002060"/>
                                      </a:solidFill>
                                      <a:latin typeface="Cambria Math" panose="02040503050406030204" pitchFamily="18" charset="0"/>
                                      <a:ea typeface="Cambria Math" panose="02040503050406030204" pitchFamily="18" charset="0"/>
                                    </a:rPr>
                                    <m:t>2</m:t>
                                  </m:r>
                                </m:sub>
                              </m:sSub>
                              <m:r>
                                <a:rPr lang="en-US" sz="2400" i="1">
                                  <a:solidFill>
                                    <a:srgbClr val="002060"/>
                                  </a:solidFill>
                                  <a:latin typeface="Cambria Math" panose="02040503050406030204" pitchFamily="18" charset="0"/>
                                  <a:ea typeface="Cambria Math" panose="02040503050406030204" pitchFamily="18" charset="0"/>
                                </a:rPr>
                                <m:t>=0</m:t>
                              </m:r>
                            </m:sub>
                            <m:sup>
                              <m:r>
                                <a:rPr lang="en-US" sz="2400" b="0" i="1" smtClean="0">
                                  <a:solidFill>
                                    <a:srgbClr val="002060"/>
                                  </a:solidFill>
                                  <a:latin typeface="Cambria Math" panose="02040503050406030204" pitchFamily="18" charset="0"/>
                                  <a:ea typeface="Cambria Math" panose="02040503050406030204" pitchFamily="18" charset="0"/>
                                </a:rPr>
                                <m:t>1</m:t>
                              </m:r>
                            </m:sup>
                            <m:e>
                              <m:sSup>
                                <m:sSupPr>
                                  <m:ctrlPr>
                                    <a:rPr lang="en-US" sz="2400" i="1">
                                      <a:solidFill>
                                        <a:srgbClr val="002060"/>
                                      </a:solidFill>
                                      <a:latin typeface="Cambria Math" panose="02040503050406030204" pitchFamily="18" charset="0"/>
                                      <a:ea typeface="Cambria Math" panose="02040503050406030204" pitchFamily="18" charset="0"/>
                                    </a:rPr>
                                  </m:ctrlPr>
                                </m:sSupPr>
                                <m:e>
                                  <m:d>
                                    <m:dPr>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−1</m:t>
                                      </m:r>
                                    </m:e>
                                  </m:d>
                                </m:e>
                                <m:sup>
                                  <m:sSub>
                                    <m:sSubPr>
                                      <m:ctrlPr>
                                        <a:rPr lang="en-US" sz="2400" i="1">
                                          <a:solidFill>
                                            <a:srgbClr val="002060"/>
                                          </a:solidFill>
                                          <a:latin typeface="Cambria Math" panose="02040503050406030204" pitchFamily="18" charset="0"/>
                                          <a:ea typeface="Cambria Math" panose="02040503050406030204" pitchFamily="18" charset="0"/>
                                        </a:rPr>
                                      </m:ctrlPr>
                                    </m:sSubPr>
                                    <m:e>
                                      <m:r>
                                        <a:rPr lang="sr-Latn-RS" sz="2400" i="1">
                                          <a:solidFill>
                                            <a:srgbClr val="002060"/>
                                          </a:solidFill>
                                          <a:latin typeface="Cambria Math" panose="02040503050406030204" pitchFamily="18" charset="0"/>
                                          <a:ea typeface="Cambria Math" panose="02040503050406030204" pitchFamily="18" charset="0"/>
                                        </a:rPr>
                                        <m:t>𝑞</m:t>
                                      </m:r>
                                    </m:e>
                                    <m:sub>
                                      <m:r>
                                        <a:rPr lang="en-US" sz="2400" b="0" i="1" smtClean="0">
                                          <a:solidFill>
                                            <a:srgbClr val="002060"/>
                                          </a:solidFill>
                                          <a:latin typeface="Cambria Math" panose="02040503050406030204" pitchFamily="18" charset="0"/>
                                          <a:ea typeface="Cambria Math" panose="02040503050406030204" pitchFamily="18" charset="0"/>
                                        </a:rPr>
                                        <m:t>1</m:t>
                                      </m:r>
                                    </m:sub>
                                  </m:sSub>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𝑘</m:t>
                                      </m:r>
                                    </m:e>
                                    <m:sub>
                                      <m:r>
                                        <a:rPr lang="en-US" sz="2400" b="0" i="1" smtClean="0">
                                          <a:solidFill>
                                            <a:srgbClr val="002060"/>
                                          </a:solidFill>
                                          <a:latin typeface="Cambria Math" panose="02040503050406030204" pitchFamily="18" charset="0"/>
                                          <a:ea typeface="Cambria Math" panose="02040503050406030204" pitchFamily="18" charset="0"/>
                                        </a:rPr>
                                        <m:t>1</m:t>
                                      </m:r>
                                    </m:sub>
                                  </m:sSub>
                                  <m:r>
                                    <a:rPr lang="en-US" sz="2400" b="0" i="1" smtClean="0">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sr-Latn-RS" sz="2400" i="1">
                                          <a:solidFill>
                                            <a:srgbClr val="002060"/>
                                          </a:solidFill>
                                          <a:latin typeface="Cambria Math" panose="02040503050406030204" pitchFamily="18" charset="0"/>
                                          <a:ea typeface="Cambria Math" panose="02040503050406030204" pitchFamily="18" charset="0"/>
                                        </a:rPr>
                                        <m:t>𝑞</m:t>
                                      </m:r>
                                    </m:e>
                                    <m:sub>
                                      <m:r>
                                        <a:rPr lang="en-US" sz="2400" i="1">
                                          <a:solidFill>
                                            <a:srgbClr val="002060"/>
                                          </a:solidFill>
                                          <a:latin typeface="Cambria Math" panose="02040503050406030204" pitchFamily="18" charset="0"/>
                                          <a:ea typeface="Cambria Math" panose="02040503050406030204" pitchFamily="18" charset="0"/>
                                        </a:rPr>
                                        <m:t>2</m:t>
                                      </m:r>
                                    </m:sub>
                                  </m:sSub>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𝑘</m:t>
                                      </m:r>
                                    </m:e>
                                    <m:sub>
                                      <m:r>
                                        <a:rPr lang="en-US" sz="2400" i="1">
                                          <a:solidFill>
                                            <a:srgbClr val="002060"/>
                                          </a:solidFill>
                                          <a:latin typeface="Cambria Math" panose="02040503050406030204" pitchFamily="18" charset="0"/>
                                          <a:ea typeface="Cambria Math" panose="02040503050406030204" pitchFamily="18" charset="0"/>
                                        </a:rPr>
                                        <m:t>2</m:t>
                                      </m:r>
                                    </m:sub>
                                  </m:sSub>
                                </m:sup>
                              </m:sSup>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𝑘</m:t>
                                      </m:r>
                                    </m:e>
                                    <m:sub>
                                      <m:r>
                                        <a:rPr lang="en-US" sz="2400" b="0" i="1" smtClean="0">
                                          <a:solidFill>
                                            <a:srgbClr val="002060"/>
                                          </a:solidFill>
                                          <a:latin typeface="Cambria Math" panose="02040503050406030204" pitchFamily="18" charset="0"/>
                                          <a:ea typeface="Cambria Math" panose="02040503050406030204" pitchFamily="18" charset="0"/>
                                        </a:rPr>
                                        <m:t>1</m:t>
                                      </m:r>
                                    </m:sub>
                                  </m:sSub>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𝑘</m:t>
                                      </m:r>
                                    </m:e>
                                    <m:sub>
                                      <m:r>
                                        <a:rPr lang="en-US" sz="2400" i="1">
                                          <a:solidFill>
                                            <a:srgbClr val="002060"/>
                                          </a:solidFill>
                                          <a:latin typeface="Cambria Math" panose="02040503050406030204" pitchFamily="18" charset="0"/>
                                          <a:ea typeface="Cambria Math" panose="02040503050406030204" pitchFamily="18" charset="0"/>
                                        </a:rPr>
                                        <m:t>2</m:t>
                                      </m:r>
                                    </m:sub>
                                  </m:sSub>
                                </m:e>
                              </m:d>
                            </m:e>
                          </m:nary>
                        </m:e>
                      </m:nary>
                    </m:oMath>
                  </m:oMathPara>
                </a14:m>
                <a:endParaRPr lang="en-US" sz="2400" dirty="0"/>
              </a:p>
            </p:txBody>
          </p:sp>
        </mc:Choice>
        <mc:Fallback xmlns="">
          <p:sp>
            <p:nvSpPr>
              <p:cNvPr id="24" name="Rectangle 23">
                <a:extLst>
                  <a:ext uri="{FF2B5EF4-FFF2-40B4-BE49-F238E27FC236}">
                    <a16:creationId xmlns:a16="http://schemas.microsoft.com/office/drawing/2014/main" id="{F88C67B2-F2AA-DC4A-ACD6-2D1B5232A0D5}"/>
                  </a:ext>
                </a:extLst>
              </p:cNvPr>
              <p:cNvSpPr>
                <a:spLocks noRot="1" noChangeAspect="1" noMove="1" noResize="1" noEditPoints="1" noAdjustHandles="1" noChangeArrowheads="1" noChangeShapeType="1" noTextEdit="1"/>
              </p:cNvSpPr>
              <p:nvPr/>
            </p:nvSpPr>
            <p:spPr>
              <a:xfrm>
                <a:off x="3123620" y="3229321"/>
                <a:ext cx="6637971" cy="1173655"/>
              </a:xfrm>
              <a:prstGeom prst="rect">
                <a:avLst/>
              </a:prstGeom>
              <a:blipFill>
                <a:blip r:embed="rId8"/>
                <a:stretch>
                  <a:fillRect t="-96809" r="-2481" b="-146809"/>
                </a:stretch>
              </a:blipFill>
            </p:spPr>
            <p:txBody>
              <a:bodyPr/>
              <a:lstStyle/>
              <a:p>
                <a:r>
                  <a:rPr lang="en-US">
                    <a:noFill/>
                  </a:rPr>
                  <a:t> </a:t>
                </a:r>
              </a:p>
            </p:txBody>
          </p:sp>
        </mc:Fallback>
      </mc:AlternateContent>
    </p:spTree>
    <p:extLst>
      <p:ext uri="{BB962C8B-B14F-4D97-AF65-F5344CB8AC3E}">
        <p14:creationId xmlns:p14="http://schemas.microsoft.com/office/powerpoint/2010/main" val="2343590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Down Arrow 27">
            <a:extLst>
              <a:ext uri="{FF2B5EF4-FFF2-40B4-BE49-F238E27FC236}">
                <a16:creationId xmlns:a16="http://schemas.microsoft.com/office/drawing/2014/main" id="{ADB643C4-6874-1544-A076-F9327EFA0384}"/>
              </a:ext>
            </a:extLst>
          </p:cNvPr>
          <p:cNvSpPr/>
          <p:nvPr/>
        </p:nvSpPr>
        <p:spPr>
          <a:xfrm>
            <a:off x="6582092" y="3008698"/>
            <a:ext cx="831273" cy="1374089"/>
          </a:xfrm>
          <a:prstGeom prst="downArrow">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121468-F0A2-2940-AECA-8084D3B9CEA9}"/>
              </a:ext>
            </a:extLst>
          </p:cNvPr>
          <p:cNvSpPr>
            <a:spLocks noGrp="1"/>
          </p:cNvSpPr>
          <p:nvPr>
            <p:ph type="title"/>
          </p:nvPr>
        </p:nvSpPr>
        <p:spPr/>
        <p:txBody>
          <a:bodyPr/>
          <a:lstStyle/>
          <a:p>
            <a:r>
              <a:rPr lang="en-ZA" b="1" dirty="0"/>
              <a:t>Multi-Qubit Superposition</a:t>
            </a:r>
            <a:endParaRPr lang="en-US" dirty="0"/>
          </a:p>
        </p:txBody>
      </p:sp>
      <p:sp>
        <p:nvSpPr>
          <p:cNvPr id="3" name="Slide Number Placeholder 2">
            <a:extLst>
              <a:ext uri="{FF2B5EF4-FFF2-40B4-BE49-F238E27FC236}">
                <a16:creationId xmlns:a16="http://schemas.microsoft.com/office/drawing/2014/main" id="{86251094-C392-504A-BB6D-9B0B7E7415E9}"/>
              </a:ext>
            </a:extLst>
          </p:cNvPr>
          <p:cNvSpPr>
            <a:spLocks noGrp="1"/>
          </p:cNvSpPr>
          <p:nvPr>
            <p:ph type="sldNum" sz="quarter" idx="12"/>
          </p:nvPr>
        </p:nvSpPr>
        <p:spPr/>
        <p:txBody>
          <a:bodyPr/>
          <a:lstStyle/>
          <a:p>
            <a:fld id="{591A223C-FA10-BC46-A853-03BA373D023C}" type="slidenum">
              <a:rPr lang="en-US" smtClean="0"/>
              <a:t>27</a:t>
            </a:fld>
            <a:endParaRPr lang="en-US"/>
          </a:p>
        </p:txBody>
      </p:sp>
      <p:grpSp>
        <p:nvGrpSpPr>
          <p:cNvPr id="6" name="Group 5">
            <a:extLst>
              <a:ext uri="{FF2B5EF4-FFF2-40B4-BE49-F238E27FC236}">
                <a16:creationId xmlns:a16="http://schemas.microsoft.com/office/drawing/2014/main" id="{6D667B8C-AD0E-8C46-B159-6C527F27DF52}"/>
              </a:ext>
            </a:extLst>
          </p:cNvPr>
          <p:cNvGrpSpPr/>
          <p:nvPr/>
        </p:nvGrpSpPr>
        <p:grpSpPr>
          <a:xfrm>
            <a:off x="291474" y="1649141"/>
            <a:ext cx="1603550" cy="720000"/>
            <a:chOff x="9910446" y="5217879"/>
            <a:chExt cx="1603550" cy="720000"/>
          </a:xfrm>
        </p:grpSpPr>
        <p:cxnSp>
          <p:nvCxnSpPr>
            <p:cNvPr id="4" name="Straight Connector 3">
              <a:extLst>
                <a:ext uri="{FF2B5EF4-FFF2-40B4-BE49-F238E27FC236}">
                  <a16:creationId xmlns:a16="http://schemas.microsoft.com/office/drawing/2014/main" id="{B2EE4538-8B38-9648-8F9E-E726D7A77A6B}"/>
                </a:ext>
              </a:extLst>
            </p:cNvPr>
            <p:cNvCxnSpPr>
              <a:cxnSpLocks/>
            </p:cNvCxnSpPr>
            <p:nvPr/>
          </p:nvCxnSpPr>
          <p:spPr>
            <a:xfrm>
              <a:off x="9910446" y="5565785"/>
              <a:ext cx="160355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6B6477CC-97BE-5843-97A0-AE61D460C3C1}"/>
                </a:ext>
              </a:extLst>
            </p:cNvPr>
            <p:cNvSpPr/>
            <p:nvPr/>
          </p:nvSpPr>
          <p:spPr>
            <a:xfrm>
              <a:off x="10363873" y="5217879"/>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grpSp>
      <p:grpSp>
        <p:nvGrpSpPr>
          <p:cNvPr id="18" name="Group 17">
            <a:extLst>
              <a:ext uri="{FF2B5EF4-FFF2-40B4-BE49-F238E27FC236}">
                <a16:creationId xmlns:a16="http://schemas.microsoft.com/office/drawing/2014/main" id="{BD9B3157-29C0-9F42-BCEE-057E006AB0F7}"/>
              </a:ext>
            </a:extLst>
          </p:cNvPr>
          <p:cNvGrpSpPr/>
          <p:nvPr/>
        </p:nvGrpSpPr>
        <p:grpSpPr>
          <a:xfrm>
            <a:off x="335694" y="3060021"/>
            <a:ext cx="1603550" cy="720000"/>
            <a:chOff x="9910446" y="5217879"/>
            <a:chExt cx="1603550" cy="720000"/>
          </a:xfrm>
        </p:grpSpPr>
        <p:cxnSp>
          <p:nvCxnSpPr>
            <p:cNvPr id="19" name="Straight Connector 18">
              <a:extLst>
                <a:ext uri="{FF2B5EF4-FFF2-40B4-BE49-F238E27FC236}">
                  <a16:creationId xmlns:a16="http://schemas.microsoft.com/office/drawing/2014/main" id="{A56BEAFA-E2AC-094F-861E-65D7A3DAA44B}"/>
                </a:ext>
              </a:extLst>
            </p:cNvPr>
            <p:cNvCxnSpPr>
              <a:cxnSpLocks/>
            </p:cNvCxnSpPr>
            <p:nvPr/>
          </p:nvCxnSpPr>
          <p:spPr>
            <a:xfrm>
              <a:off x="9910446" y="5565785"/>
              <a:ext cx="160355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D6BE9D6E-3206-144E-B37F-7462448CBD1E}"/>
                </a:ext>
              </a:extLst>
            </p:cNvPr>
            <p:cNvSpPr/>
            <p:nvPr/>
          </p:nvSpPr>
          <p:spPr>
            <a:xfrm>
              <a:off x="10363873" y="5217879"/>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gr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FCB800AD-5FED-BC43-BE36-DBB35278F35C}"/>
                  </a:ext>
                </a:extLst>
              </p:cNvPr>
              <p:cNvSpPr/>
              <p:nvPr/>
            </p:nvSpPr>
            <p:spPr>
              <a:xfrm>
                <a:off x="0" y="1490597"/>
                <a:ext cx="75655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sr-Latn-RS" sz="2400" b="0" i="1" smtClean="0">
                                  <a:solidFill>
                                    <a:srgbClr val="002060"/>
                                  </a:solidFill>
                                  <a:latin typeface="Cambria Math" panose="02040503050406030204" pitchFamily="18" charset="0"/>
                                  <a:ea typeface="Cambria Math" panose="02040503050406030204" pitchFamily="18" charset="0"/>
                                </a:rPr>
                                <m:t>𝑞</m:t>
                              </m:r>
                            </m:e>
                            <m:sub>
                              <m:r>
                                <a:rPr lang="en-US" sz="2400" b="0" i="1" smtClean="0">
                                  <a:solidFill>
                                    <a:srgbClr val="002060"/>
                                  </a:solidFill>
                                  <a:latin typeface="Cambria Math" panose="02040503050406030204" pitchFamily="18" charset="0"/>
                                  <a:ea typeface="Cambria Math" panose="02040503050406030204" pitchFamily="18" charset="0"/>
                                </a:rPr>
                                <m:t>1</m:t>
                              </m:r>
                            </m:sub>
                          </m:sSub>
                        </m:e>
                      </m:d>
                    </m:oMath>
                  </m:oMathPara>
                </a14:m>
                <a:endParaRPr lang="en-US" sz="2400" dirty="0"/>
              </a:p>
            </p:txBody>
          </p:sp>
        </mc:Choice>
        <mc:Fallback xmlns="">
          <p:sp>
            <p:nvSpPr>
              <p:cNvPr id="21" name="Rectangle 20">
                <a:extLst>
                  <a:ext uri="{FF2B5EF4-FFF2-40B4-BE49-F238E27FC236}">
                    <a16:creationId xmlns:a16="http://schemas.microsoft.com/office/drawing/2014/main" id="{FCB800AD-5FED-BC43-BE36-DBB35278F35C}"/>
                  </a:ext>
                </a:extLst>
              </p:cNvPr>
              <p:cNvSpPr>
                <a:spLocks noRot="1" noChangeAspect="1" noMove="1" noResize="1" noEditPoints="1" noAdjustHandles="1" noChangeArrowheads="1" noChangeShapeType="1" noTextEdit="1"/>
              </p:cNvSpPr>
              <p:nvPr/>
            </p:nvSpPr>
            <p:spPr>
              <a:xfrm>
                <a:off x="0" y="1490597"/>
                <a:ext cx="756553" cy="461665"/>
              </a:xfrm>
              <a:prstGeom prst="rect">
                <a:avLst/>
              </a:prstGeom>
              <a:blipFill>
                <a:blip r:embed="rId3"/>
                <a:stretch>
                  <a:fillRect l="-5000" t="-121053" r="-40000" b="-186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A2F93476-2C89-D84F-A750-A9D72A07648A}"/>
                  </a:ext>
                </a:extLst>
              </p:cNvPr>
              <p:cNvSpPr/>
              <p:nvPr/>
            </p:nvSpPr>
            <p:spPr>
              <a:xfrm>
                <a:off x="18138" y="2893053"/>
                <a:ext cx="76367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sr-Latn-RS" sz="2400" b="0" i="1" smtClean="0">
                                  <a:solidFill>
                                    <a:srgbClr val="002060"/>
                                  </a:solidFill>
                                  <a:latin typeface="Cambria Math" panose="02040503050406030204" pitchFamily="18" charset="0"/>
                                  <a:ea typeface="Cambria Math" panose="02040503050406030204" pitchFamily="18" charset="0"/>
                                </a:rPr>
                                <m:t>𝑞</m:t>
                              </m:r>
                            </m:e>
                            <m:sub>
                              <m:r>
                                <a:rPr lang="en-US" sz="2400" b="0" i="1" smtClean="0">
                                  <a:solidFill>
                                    <a:srgbClr val="002060"/>
                                  </a:solidFill>
                                  <a:latin typeface="Cambria Math" panose="02040503050406030204" pitchFamily="18" charset="0"/>
                                  <a:ea typeface="Cambria Math" panose="02040503050406030204" pitchFamily="18" charset="0"/>
                                </a:rPr>
                                <m:t>2</m:t>
                              </m:r>
                            </m:sub>
                          </m:sSub>
                        </m:e>
                      </m:d>
                    </m:oMath>
                  </m:oMathPara>
                </a14:m>
                <a:endParaRPr lang="en-US" sz="2400" dirty="0"/>
              </a:p>
            </p:txBody>
          </p:sp>
        </mc:Choice>
        <mc:Fallback xmlns="">
          <p:sp>
            <p:nvSpPr>
              <p:cNvPr id="22" name="Rectangle 21">
                <a:extLst>
                  <a:ext uri="{FF2B5EF4-FFF2-40B4-BE49-F238E27FC236}">
                    <a16:creationId xmlns:a16="http://schemas.microsoft.com/office/drawing/2014/main" id="{A2F93476-2C89-D84F-A750-A9D72A07648A}"/>
                  </a:ext>
                </a:extLst>
              </p:cNvPr>
              <p:cNvSpPr>
                <a:spLocks noRot="1" noChangeAspect="1" noMove="1" noResize="1" noEditPoints="1" noAdjustHandles="1" noChangeArrowheads="1" noChangeShapeType="1" noTextEdit="1"/>
              </p:cNvSpPr>
              <p:nvPr/>
            </p:nvSpPr>
            <p:spPr>
              <a:xfrm>
                <a:off x="18138" y="2893053"/>
                <a:ext cx="763671" cy="461665"/>
              </a:xfrm>
              <a:prstGeom prst="rect">
                <a:avLst/>
              </a:prstGeom>
              <a:blipFill>
                <a:blip r:embed="rId4"/>
                <a:stretch>
                  <a:fillRect l="-1613" t="-133333" r="-38710" b="-197222"/>
                </a:stretch>
              </a:blipFill>
            </p:spPr>
            <p:txBody>
              <a:bodyPr/>
              <a:lstStyle/>
              <a:p>
                <a:r>
                  <a:rPr lang="en-US">
                    <a:noFill/>
                  </a:rPr>
                  <a:t> </a:t>
                </a:r>
              </a:p>
            </p:txBody>
          </p:sp>
        </mc:Fallback>
      </mc:AlternateContent>
      <p:sp>
        <p:nvSpPr>
          <p:cNvPr id="12" name="Right Brace 11">
            <a:extLst>
              <a:ext uri="{FF2B5EF4-FFF2-40B4-BE49-F238E27FC236}">
                <a16:creationId xmlns:a16="http://schemas.microsoft.com/office/drawing/2014/main" id="{636FF1A6-59D6-DF41-A2AE-5D0E1F727F31}"/>
              </a:ext>
            </a:extLst>
          </p:cNvPr>
          <p:cNvSpPr/>
          <p:nvPr/>
        </p:nvSpPr>
        <p:spPr>
          <a:xfrm>
            <a:off x="2167467" y="1952262"/>
            <a:ext cx="472458" cy="3486962"/>
          </a:xfrm>
          <a:prstGeom prst="rightBrace">
            <a:avLst>
              <a:gd name="adj1" fmla="val 33422"/>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46" name="Group 45">
            <a:extLst>
              <a:ext uri="{FF2B5EF4-FFF2-40B4-BE49-F238E27FC236}">
                <a16:creationId xmlns:a16="http://schemas.microsoft.com/office/drawing/2014/main" id="{B82733F0-DB3C-5047-999F-D997764882D0}"/>
              </a:ext>
            </a:extLst>
          </p:cNvPr>
          <p:cNvGrpSpPr/>
          <p:nvPr/>
        </p:nvGrpSpPr>
        <p:grpSpPr>
          <a:xfrm>
            <a:off x="341126" y="5091318"/>
            <a:ext cx="1603550" cy="720000"/>
            <a:chOff x="9910446" y="5217879"/>
            <a:chExt cx="1603550" cy="720000"/>
          </a:xfrm>
        </p:grpSpPr>
        <p:cxnSp>
          <p:nvCxnSpPr>
            <p:cNvPr id="47" name="Straight Connector 46">
              <a:extLst>
                <a:ext uri="{FF2B5EF4-FFF2-40B4-BE49-F238E27FC236}">
                  <a16:creationId xmlns:a16="http://schemas.microsoft.com/office/drawing/2014/main" id="{F373F772-DA40-694D-8CDA-5D9A8B8952E4}"/>
                </a:ext>
              </a:extLst>
            </p:cNvPr>
            <p:cNvCxnSpPr>
              <a:cxnSpLocks/>
            </p:cNvCxnSpPr>
            <p:nvPr/>
          </p:nvCxnSpPr>
          <p:spPr>
            <a:xfrm>
              <a:off x="9910446" y="5565785"/>
              <a:ext cx="160355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C8C87A16-4FC7-2B40-BAE1-18C1BC778D01}"/>
                </a:ext>
              </a:extLst>
            </p:cNvPr>
            <p:cNvSpPr/>
            <p:nvPr/>
          </p:nvSpPr>
          <p:spPr>
            <a:xfrm>
              <a:off x="10363873" y="5217879"/>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grpSp>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C38BB26E-1840-FE48-B782-EA3669BC6B49}"/>
                  </a:ext>
                </a:extLst>
              </p:cNvPr>
              <p:cNvSpPr/>
              <p:nvPr/>
            </p:nvSpPr>
            <p:spPr>
              <a:xfrm>
                <a:off x="23570" y="4924350"/>
                <a:ext cx="78354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sr-Latn-RS" sz="2400" b="0" i="1" smtClean="0">
                                  <a:solidFill>
                                    <a:srgbClr val="002060"/>
                                  </a:solidFill>
                                  <a:latin typeface="Cambria Math" panose="02040503050406030204" pitchFamily="18" charset="0"/>
                                  <a:ea typeface="Cambria Math" panose="02040503050406030204" pitchFamily="18" charset="0"/>
                                </a:rPr>
                                <m:t>𝑞</m:t>
                              </m:r>
                            </m:e>
                            <m:sub>
                              <m:r>
                                <a:rPr lang="sr-Latn-RS" sz="2400" b="0" i="1" smtClean="0">
                                  <a:solidFill>
                                    <a:srgbClr val="002060"/>
                                  </a:solidFill>
                                  <a:latin typeface="Cambria Math" panose="02040503050406030204" pitchFamily="18" charset="0"/>
                                  <a:ea typeface="Cambria Math" panose="02040503050406030204" pitchFamily="18" charset="0"/>
                                </a:rPr>
                                <m:t>𝑛</m:t>
                              </m:r>
                            </m:sub>
                          </m:sSub>
                        </m:e>
                      </m:d>
                    </m:oMath>
                  </m:oMathPara>
                </a14:m>
                <a:endParaRPr lang="en-US" sz="2400" dirty="0"/>
              </a:p>
            </p:txBody>
          </p:sp>
        </mc:Choice>
        <mc:Fallback xmlns="">
          <p:sp>
            <p:nvSpPr>
              <p:cNvPr id="49" name="Rectangle 48">
                <a:extLst>
                  <a:ext uri="{FF2B5EF4-FFF2-40B4-BE49-F238E27FC236}">
                    <a16:creationId xmlns:a16="http://schemas.microsoft.com/office/drawing/2014/main" id="{C38BB26E-1840-FE48-B782-EA3669BC6B49}"/>
                  </a:ext>
                </a:extLst>
              </p:cNvPr>
              <p:cNvSpPr>
                <a:spLocks noRot="1" noChangeAspect="1" noMove="1" noResize="1" noEditPoints="1" noAdjustHandles="1" noChangeArrowheads="1" noChangeShapeType="1" noTextEdit="1"/>
              </p:cNvSpPr>
              <p:nvPr/>
            </p:nvSpPr>
            <p:spPr>
              <a:xfrm>
                <a:off x="23570" y="4924350"/>
                <a:ext cx="783548" cy="461665"/>
              </a:xfrm>
              <a:prstGeom prst="rect">
                <a:avLst/>
              </a:prstGeom>
              <a:blipFill>
                <a:blip r:embed="rId5"/>
                <a:stretch>
                  <a:fillRect l="-1587" t="-124324" r="-39683" b="-191892"/>
                </a:stretch>
              </a:blipFill>
            </p:spPr>
            <p:txBody>
              <a:bodyPr/>
              <a:lstStyle/>
              <a:p>
                <a:r>
                  <a:rPr lang="en-US">
                    <a:noFill/>
                  </a:rPr>
                  <a:t> </a:t>
                </a:r>
              </a:p>
            </p:txBody>
          </p:sp>
        </mc:Fallback>
      </mc:AlternateContent>
      <p:sp>
        <p:nvSpPr>
          <p:cNvPr id="50" name="Oval 49">
            <a:extLst>
              <a:ext uri="{FF2B5EF4-FFF2-40B4-BE49-F238E27FC236}">
                <a16:creationId xmlns:a16="http://schemas.microsoft.com/office/drawing/2014/main" id="{3F6F974C-12D4-F64E-A35B-7270A69299C8}"/>
              </a:ext>
            </a:extLst>
          </p:cNvPr>
          <p:cNvSpPr/>
          <p:nvPr/>
        </p:nvSpPr>
        <p:spPr>
          <a:xfrm>
            <a:off x="1097500" y="4012371"/>
            <a:ext cx="90000" cy="9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D663F4EB-510F-DD46-8156-0C82E4F9D493}"/>
              </a:ext>
            </a:extLst>
          </p:cNvPr>
          <p:cNvSpPr/>
          <p:nvPr/>
        </p:nvSpPr>
        <p:spPr>
          <a:xfrm>
            <a:off x="1097500" y="4370589"/>
            <a:ext cx="90000" cy="9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1BA3062A-0A2B-044B-A051-69364A9AEC05}"/>
              </a:ext>
            </a:extLst>
          </p:cNvPr>
          <p:cNvSpPr/>
          <p:nvPr/>
        </p:nvSpPr>
        <p:spPr>
          <a:xfrm>
            <a:off x="1097500" y="4728807"/>
            <a:ext cx="90000" cy="9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0EDFE232-6C5F-EB4D-B15C-183539E3E6AC}"/>
                  </a:ext>
                </a:extLst>
              </p:cNvPr>
              <p:cNvSpPr/>
              <p:nvPr/>
            </p:nvSpPr>
            <p:spPr>
              <a:xfrm>
                <a:off x="3036371" y="1565985"/>
                <a:ext cx="8548494" cy="135601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800" i="1" smtClean="0">
                              <a:latin typeface="Cambria Math" panose="02040503050406030204" pitchFamily="18" charset="0"/>
                            </a:rPr>
                          </m:ctrlPr>
                        </m:sSupPr>
                        <m:e>
                          <m:r>
                            <a:rPr lang="en-US" sz="2800" i="1">
                              <a:latin typeface="Cambria Math" panose="02040503050406030204" pitchFamily="18" charset="0"/>
                            </a:rPr>
                            <m:t>𝐻</m:t>
                          </m:r>
                        </m:e>
                        <m:sup>
                          <m:r>
                            <a:rPr lang="en-US" sz="2800" i="0">
                              <a:latin typeface="Cambria Math" panose="02040503050406030204" pitchFamily="18" charset="0"/>
                            </a:rPr>
                            <m:t>⊗</m:t>
                          </m:r>
                          <m:r>
                            <a:rPr lang="en-US" sz="2800" i="1">
                              <a:latin typeface="Cambria Math" panose="02040503050406030204" pitchFamily="18" charset="0"/>
                            </a:rPr>
                            <m:t>𝑛</m:t>
                          </m:r>
                        </m:sup>
                      </m:sSup>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𝑞</m:t>
                              </m:r>
                            </m:e>
                            <m:sub>
                              <m:r>
                                <a:rPr lang="en-US" sz="2800" i="0">
                                  <a:latin typeface="Cambria Math" panose="02040503050406030204" pitchFamily="18" charset="0"/>
                                </a:rPr>
                                <m:t>1⋯</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𝑞</m:t>
                              </m:r>
                            </m:e>
                            <m:sub>
                              <m:r>
                                <a:rPr lang="en-US" sz="2800" i="1">
                                  <a:latin typeface="Cambria Math" panose="02040503050406030204" pitchFamily="18" charset="0"/>
                                </a:rPr>
                                <m:t>𝑛</m:t>
                              </m:r>
                            </m:sub>
                          </m:sSub>
                        </m:e>
                      </m:d>
                      <m:r>
                        <a:rPr lang="en-US" sz="2800" i="0">
                          <a:latin typeface="Cambria Math" panose="02040503050406030204" pitchFamily="18" charset="0"/>
                        </a:rPr>
                        <m:t>=</m:t>
                      </m:r>
                      <m:f>
                        <m:fPr>
                          <m:ctrlPr>
                            <a:rPr lang="en-US" sz="2800" i="1">
                              <a:latin typeface="Cambria Math" panose="02040503050406030204" pitchFamily="18" charset="0"/>
                            </a:rPr>
                          </m:ctrlPr>
                        </m:fPr>
                        <m:num>
                          <m:r>
                            <a:rPr lang="en-US" sz="2800" i="0">
                              <a:latin typeface="Cambria Math" panose="02040503050406030204" pitchFamily="18" charset="0"/>
                            </a:rPr>
                            <m:t>1</m:t>
                          </m:r>
                        </m:num>
                        <m:den>
                          <m:rad>
                            <m:radPr>
                              <m:degHide m:val="on"/>
                              <m:ctrlPr>
                                <a:rPr lang="en-US" sz="2800" i="1">
                                  <a:latin typeface="Cambria Math" panose="02040503050406030204" pitchFamily="18" charset="0"/>
                                </a:rPr>
                              </m:ctrlPr>
                            </m:radPr>
                            <m:deg/>
                            <m:e>
                              <m:sSup>
                                <m:sSupPr>
                                  <m:ctrlPr>
                                    <a:rPr lang="en-US" sz="2800" i="1">
                                      <a:latin typeface="Cambria Math" panose="02040503050406030204" pitchFamily="18" charset="0"/>
                                    </a:rPr>
                                  </m:ctrlPr>
                                </m:sSupPr>
                                <m:e>
                                  <m:r>
                                    <a:rPr lang="en-US" sz="2800" i="0">
                                      <a:latin typeface="Cambria Math" panose="02040503050406030204" pitchFamily="18" charset="0"/>
                                    </a:rPr>
                                    <m:t>2</m:t>
                                  </m:r>
                                </m:e>
                                <m:sup>
                                  <m:r>
                                    <a:rPr lang="en-US" sz="2800" i="1">
                                      <a:latin typeface="Cambria Math" panose="02040503050406030204" pitchFamily="18" charset="0"/>
                                    </a:rPr>
                                    <m:t>𝑛</m:t>
                                  </m:r>
                                </m:sup>
                              </m:sSup>
                            </m:e>
                          </m:rad>
                        </m:den>
                      </m:f>
                      <m:nary>
                        <m:naryPr>
                          <m:chr m:val="∑"/>
                          <m:limLoc m:val="undOvr"/>
                          <m:ctrlPr>
                            <a:rPr lang="en-US" sz="2800" i="1">
                              <a:latin typeface="Cambria Math" panose="02040503050406030204" pitchFamily="18" charset="0"/>
                            </a:rPr>
                          </m:ctrlPr>
                        </m:naryPr>
                        <m:sub>
                          <m:sSub>
                            <m:sSubPr>
                              <m:ctrlPr>
                                <a:rPr lang="en-US" sz="2800" i="1">
                                  <a:latin typeface="Cambria Math" panose="02040503050406030204" pitchFamily="18" charset="0"/>
                                </a:rPr>
                              </m:ctrlPr>
                            </m:sSubPr>
                            <m:e>
                              <m:r>
                                <a:rPr lang="sr-Latn-RS" sz="2800" b="0" i="1" smtClean="0">
                                  <a:latin typeface="Cambria Math" panose="02040503050406030204" pitchFamily="18" charset="0"/>
                                </a:rPr>
                                <m:t>𝑘</m:t>
                              </m:r>
                            </m:e>
                            <m:sub>
                              <m:r>
                                <a:rPr lang="en-US" sz="2800" i="0">
                                  <a:latin typeface="Cambria Math" panose="02040503050406030204" pitchFamily="18" charset="0"/>
                                </a:rPr>
                                <m:t>1</m:t>
                              </m:r>
                            </m:sub>
                          </m:sSub>
                          <m:r>
                            <a:rPr lang="en-US" sz="2800" i="0">
                              <a:latin typeface="Cambria Math" panose="02040503050406030204" pitchFamily="18" charset="0"/>
                            </a:rPr>
                            <m:t>,⋯,</m:t>
                          </m:r>
                          <m:sSub>
                            <m:sSubPr>
                              <m:ctrlPr>
                                <a:rPr lang="en-US" sz="2800" i="1">
                                  <a:latin typeface="Cambria Math" panose="02040503050406030204" pitchFamily="18" charset="0"/>
                                </a:rPr>
                              </m:ctrlPr>
                            </m:sSubPr>
                            <m:e>
                              <m:r>
                                <a:rPr lang="sr-Latn-RS" sz="2800" b="0" i="1" smtClean="0">
                                  <a:latin typeface="Cambria Math" panose="02040503050406030204" pitchFamily="18" charset="0"/>
                                </a:rPr>
                                <m:t>𝑘</m:t>
                              </m:r>
                            </m:e>
                            <m:sub>
                              <m:r>
                                <a:rPr lang="en-US" sz="2800" i="1">
                                  <a:latin typeface="Cambria Math" panose="02040503050406030204" pitchFamily="18" charset="0"/>
                                </a:rPr>
                                <m:t>𝑛</m:t>
                              </m:r>
                            </m:sub>
                          </m:sSub>
                          <m:r>
                            <a:rPr lang="en-US" sz="2800" i="0">
                              <a:latin typeface="Cambria Math" panose="02040503050406030204" pitchFamily="18" charset="0"/>
                            </a:rPr>
                            <m:t>=0</m:t>
                          </m:r>
                        </m:sub>
                        <m:sup>
                          <m:r>
                            <a:rPr lang="en-US" sz="2800" i="0">
                              <a:latin typeface="Cambria Math" panose="02040503050406030204" pitchFamily="18" charset="0"/>
                            </a:rPr>
                            <m:t>1</m:t>
                          </m:r>
                        </m:sup>
                        <m:e>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r>
                                    <a:rPr lang="en-US" sz="2800" i="0">
                                      <a:latin typeface="Cambria Math" panose="02040503050406030204" pitchFamily="18" charset="0"/>
                                    </a:rPr>
                                    <m:t>−1</m:t>
                                  </m:r>
                                </m:e>
                              </m:d>
                            </m:e>
                            <m:sup>
                              <m:sSub>
                                <m:sSubPr>
                                  <m:ctrlPr>
                                    <a:rPr lang="en-US" sz="2800" i="1">
                                      <a:latin typeface="Cambria Math" panose="02040503050406030204" pitchFamily="18" charset="0"/>
                                    </a:rPr>
                                  </m:ctrlPr>
                                </m:sSubPr>
                                <m:e>
                                  <m:sSub>
                                    <m:sSubPr>
                                      <m:ctrlPr>
                                        <a:rPr lang="en-US" sz="2800" i="1">
                                          <a:latin typeface="Cambria Math" panose="02040503050406030204" pitchFamily="18" charset="0"/>
                                        </a:rPr>
                                      </m:ctrlPr>
                                    </m:sSubPr>
                                    <m:e>
                                      <m:r>
                                        <a:rPr lang="en-US" sz="2800" i="1">
                                          <a:latin typeface="Cambria Math" panose="02040503050406030204" pitchFamily="18" charset="0"/>
                                        </a:rPr>
                                        <m:t>𝑞</m:t>
                                      </m:r>
                                    </m:e>
                                    <m:sub>
                                      <m:r>
                                        <a:rPr lang="en-US" sz="2800" i="0">
                                          <a:latin typeface="Cambria Math" panose="02040503050406030204" pitchFamily="18" charset="0"/>
                                        </a:rPr>
                                        <m:t>1</m:t>
                                      </m:r>
                                    </m:sub>
                                  </m:sSub>
                                  <m:sSub>
                                    <m:sSubPr>
                                      <m:ctrlPr>
                                        <a:rPr lang="en-US" sz="2800" i="1">
                                          <a:latin typeface="Cambria Math" panose="02040503050406030204" pitchFamily="18" charset="0"/>
                                        </a:rPr>
                                      </m:ctrlPr>
                                    </m:sSubPr>
                                    <m:e>
                                      <m:r>
                                        <a:rPr lang="sr-Latn-RS" sz="2800" b="0" i="1" smtClean="0">
                                          <a:latin typeface="Cambria Math" panose="02040503050406030204" pitchFamily="18" charset="0"/>
                                        </a:rPr>
                                        <m:t>𝑘</m:t>
                                      </m:r>
                                    </m:e>
                                    <m:sub>
                                      <m:r>
                                        <a:rPr lang="en-US" sz="2800" i="0">
                                          <a:latin typeface="Cambria Math" panose="02040503050406030204" pitchFamily="18" charset="0"/>
                                        </a:rPr>
                                        <m:t>1</m:t>
                                      </m:r>
                                    </m:sub>
                                  </m:sSub>
                                  <m:r>
                                    <a:rPr lang="en-US" sz="2800" i="0">
                                      <a:latin typeface="Cambria Math" panose="02040503050406030204" pitchFamily="18" charset="0"/>
                                    </a:rPr>
                                    <m:t>+⋯+</m:t>
                                  </m:r>
                                  <m:r>
                                    <a:rPr lang="en-US" sz="2800" i="1" smtClean="0">
                                      <a:latin typeface="Cambria Math" panose="02040503050406030204" pitchFamily="18" charset="0"/>
                                    </a:rPr>
                                    <m:t>𝑞</m:t>
                                  </m:r>
                                </m:e>
                                <m:sub>
                                  <m:r>
                                    <a:rPr lang="en-US" sz="2800" i="1">
                                      <a:latin typeface="Cambria Math" panose="02040503050406030204" pitchFamily="18" charset="0"/>
                                    </a:rPr>
                                    <m:t>𝑛</m:t>
                                  </m:r>
                                </m:sub>
                              </m:sSub>
                              <m:sSub>
                                <m:sSubPr>
                                  <m:ctrlPr>
                                    <a:rPr lang="en-US" sz="2800" i="1">
                                      <a:latin typeface="Cambria Math" panose="02040503050406030204" pitchFamily="18" charset="0"/>
                                    </a:rPr>
                                  </m:ctrlPr>
                                </m:sSubPr>
                                <m:e>
                                  <m:r>
                                    <a:rPr lang="sr-Latn-RS" sz="2800" b="0" i="1" smtClean="0">
                                      <a:latin typeface="Cambria Math" panose="02040503050406030204" pitchFamily="18" charset="0"/>
                                    </a:rPr>
                                    <m:t>𝑘</m:t>
                                  </m:r>
                                </m:e>
                                <m:sub>
                                  <m:r>
                                    <a:rPr lang="en-US" sz="2800" i="1">
                                      <a:latin typeface="Cambria Math" panose="02040503050406030204" pitchFamily="18" charset="0"/>
                                    </a:rPr>
                                    <m:t>𝑛</m:t>
                                  </m:r>
                                </m:sub>
                              </m:sSub>
                            </m:sup>
                          </m:sSup>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sr-Latn-RS" sz="2800" b="0" i="1" smtClean="0">
                                      <a:latin typeface="Cambria Math" panose="02040503050406030204" pitchFamily="18" charset="0"/>
                                    </a:rPr>
                                    <m:t>𝑘</m:t>
                                  </m:r>
                                </m:e>
                                <m:sub>
                                  <m:r>
                                    <a:rPr lang="en-US" sz="2800" i="0">
                                      <a:latin typeface="Cambria Math" panose="02040503050406030204" pitchFamily="18" charset="0"/>
                                    </a:rPr>
                                    <m:t>1⋯</m:t>
                                  </m:r>
                                </m:sub>
                              </m:sSub>
                              <m:sSub>
                                <m:sSubPr>
                                  <m:ctrlPr>
                                    <a:rPr lang="en-US" sz="2800" i="1">
                                      <a:latin typeface="Cambria Math" panose="02040503050406030204" pitchFamily="18" charset="0"/>
                                    </a:rPr>
                                  </m:ctrlPr>
                                </m:sSubPr>
                                <m:e>
                                  <m:r>
                                    <a:rPr lang="sr-Latn-RS" sz="2800" b="0" i="1" smtClean="0">
                                      <a:latin typeface="Cambria Math" panose="02040503050406030204" pitchFamily="18" charset="0"/>
                                    </a:rPr>
                                    <m:t>𝑘</m:t>
                                  </m:r>
                                </m:e>
                                <m:sub>
                                  <m:r>
                                    <a:rPr lang="en-US" sz="2800" i="1">
                                      <a:latin typeface="Cambria Math" panose="02040503050406030204" pitchFamily="18" charset="0"/>
                                    </a:rPr>
                                    <m:t>𝑛</m:t>
                                  </m:r>
                                </m:sub>
                              </m:sSub>
                            </m:e>
                          </m:d>
                        </m:e>
                      </m:nary>
                    </m:oMath>
                  </m:oMathPara>
                </a14:m>
                <a:endParaRPr lang="en-US" sz="2800" dirty="0"/>
              </a:p>
            </p:txBody>
          </p:sp>
        </mc:Choice>
        <mc:Fallback xmlns="">
          <p:sp>
            <p:nvSpPr>
              <p:cNvPr id="25" name="Rectangle 24">
                <a:extLst>
                  <a:ext uri="{FF2B5EF4-FFF2-40B4-BE49-F238E27FC236}">
                    <a16:creationId xmlns:a16="http://schemas.microsoft.com/office/drawing/2014/main" id="{0EDFE232-6C5F-EB4D-B15C-183539E3E6AC}"/>
                  </a:ext>
                </a:extLst>
              </p:cNvPr>
              <p:cNvSpPr>
                <a:spLocks noRot="1" noChangeAspect="1" noMove="1" noResize="1" noEditPoints="1" noAdjustHandles="1" noChangeArrowheads="1" noChangeShapeType="1" noTextEdit="1"/>
              </p:cNvSpPr>
              <p:nvPr/>
            </p:nvSpPr>
            <p:spPr>
              <a:xfrm>
                <a:off x="3036371" y="1565985"/>
                <a:ext cx="8548494" cy="1356012"/>
              </a:xfrm>
              <a:prstGeom prst="rect">
                <a:avLst/>
              </a:prstGeom>
              <a:blipFill>
                <a:blip r:embed="rId6"/>
                <a:stretch>
                  <a:fillRect t="-96296" b="-1481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870F75E7-C2E3-D14A-858A-E79BF82245F7}"/>
                  </a:ext>
                </a:extLst>
              </p:cNvPr>
              <p:cNvSpPr/>
              <p:nvPr/>
            </p:nvSpPr>
            <p:spPr>
              <a:xfrm>
                <a:off x="4000274" y="3258114"/>
                <a:ext cx="703981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sSub>
                            <m:sSubPr>
                              <m:ctrlPr>
                                <a:rPr lang="en-US" sz="2800" i="1">
                                  <a:latin typeface="Cambria Math" panose="02040503050406030204" pitchFamily="18" charset="0"/>
                                </a:rPr>
                              </m:ctrlPr>
                            </m:sSubPr>
                            <m:e>
                              <m:sSub>
                                <m:sSubPr>
                                  <m:ctrlPr>
                                    <a:rPr lang="en-US" sz="2800" i="1">
                                      <a:latin typeface="Cambria Math" panose="02040503050406030204" pitchFamily="18" charset="0"/>
                                    </a:rPr>
                                  </m:ctrlPr>
                                </m:sSubPr>
                                <m:e>
                                  <m:r>
                                    <a:rPr lang="en-US" sz="2800" i="1">
                                      <a:latin typeface="Cambria Math" panose="02040503050406030204" pitchFamily="18" charset="0"/>
                                    </a:rPr>
                                    <m:t>𝑞</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rPr>
                                    <m:t>𝑘</m:t>
                                  </m:r>
                                  <m:r>
                                    <a:rPr lang="en-US" sz="2800" b="0" i="1" smtClean="0">
                                      <a:latin typeface="Cambria Math" panose="02040503050406030204" pitchFamily="18" charset="0"/>
                                    </a:rPr>
                                    <m:t>=</m:t>
                                  </m:r>
                                  <m:r>
                                    <a:rPr lang="en-US" sz="2800" i="1">
                                      <a:latin typeface="Cambria Math" panose="02040503050406030204" pitchFamily="18" charset="0"/>
                                    </a:rPr>
                                    <m:t>𝑞</m:t>
                                  </m:r>
                                </m:e>
                                <m:sub>
                                  <m:r>
                                    <a:rPr lang="en-US" sz="2800" i="0">
                                      <a:latin typeface="Cambria Math" panose="02040503050406030204" pitchFamily="18" charset="0"/>
                                    </a:rPr>
                                    <m:t>1</m:t>
                                  </m:r>
                                </m:sub>
                              </m:sSub>
                              <m:sSub>
                                <m:sSubPr>
                                  <m:ctrlPr>
                                    <a:rPr lang="en-US" sz="2800" i="1">
                                      <a:latin typeface="Cambria Math" panose="02040503050406030204" pitchFamily="18" charset="0"/>
                                    </a:rPr>
                                  </m:ctrlPr>
                                </m:sSubPr>
                                <m:e>
                                  <m:r>
                                    <a:rPr lang="sr-Latn-RS" sz="2800" b="0" i="1" smtClean="0">
                                      <a:latin typeface="Cambria Math" panose="02040503050406030204" pitchFamily="18" charset="0"/>
                                    </a:rPr>
                                    <m:t>𝑘</m:t>
                                  </m:r>
                                </m:e>
                                <m:sub>
                                  <m:r>
                                    <a:rPr lang="en-US" sz="2800" i="0">
                                      <a:latin typeface="Cambria Math" panose="02040503050406030204" pitchFamily="18" charset="0"/>
                                    </a:rPr>
                                    <m:t>1</m:t>
                                  </m:r>
                                </m:sub>
                              </m:sSub>
                              <m:r>
                                <a:rPr lang="en-US" sz="2800" i="0">
                                  <a:latin typeface="Cambria Math" panose="02040503050406030204" pitchFamily="18" charset="0"/>
                                </a:rPr>
                                <m:t>+⋯+</m:t>
                              </m:r>
                              <m:r>
                                <a:rPr lang="en-US" sz="2800" i="1">
                                  <a:latin typeface="Cambria Math" panose="02040503050406030204" pitchFamily="18" charset="0"/>
                                </a:rPr>
                                <m:t>𝑞</m:t>
                              </m:r>
                            </m:e>
                            <m:sub>
                              <m:r>
                                <a:rPr lang="en-US" sz="2800" i="1">
                                  <a:latin typeface="Cambria Math" panose="02040503050406030204" pitchFamily="18" charset="0"/>
                                </a:rPr>
                                <m:t>𝑛</m:t>
                              </m:r>
                            </m:sub>
                          </m:sSub>
                          <m:sSub>
                            <m:sSubPr>
                              <m:ctrlPr>
                                <a:rPr lang="en-US" sz="2800" i="1">
                                  <a:latin typeface="Cambria Math" panose="02040503050406030204" pitchFamily="18" charset="0"/>
                                </a:rPr>
                              </m:ctrlPr>
                            </m:sSubPr>
                            <m:e>
                              <m:r>
                                <a:rPr lang="sr-Latn-RS" sz="2800" b="0" i="1" smtClean="0">
                                  <a:latin typeface="Cambria Math" panose="02040503050406030204" pitchFamily="18" charset="0"/>
                                </a:rPr>
                                <m:t>𝑘</m:t>
                              </m:r>
                            </m:e>
                            <m:sub>
                              <m:r>
                                <a:rPr lang="en-US" sz="2800" i="1">
                                  <a:latin typeface="Cambria Math" panose="02040503050406030204" pitchFamily="18" charset="0"/>
                                </a:rPr>
                                <m:t>𝑛</m:t>
                              </m:r>
                            </m:sub>
                          </m:sSub>
                          <m:r>
                            <a:rPr lang="en-US" sz="2800" i="0">
                              <a:latin typeface="Cambria Math" panose="02040503050406030204" pitchFamily="18" charset="0"/>
                            </a:rPr>
                            <m:t>→</m:t>
                          </m:r>
                          <m:r>
                            <a:rPr lang="en-US" sz="2800" i="1">
                              <a:latin typeface="Cambria Math" panose="02040503050406030204" pitchFamily="18" charset="0"/>
                            </a:rPr>
                            <m:t>𝑞</m:t>
                          </m:r>
                        </m:e>
                        <m:sub>
                          <m:r>
                            <a:rPr lang="en-US" sz="2800" i="0">
                              <a:latin typeface="Cambria Math" panose="02040503050406030204" pitchFamily="18" charset="0"/>
                            </a:rPr>
                            <m:t>1</m:t>
                          </m:r>
                        </m:sub>
                      </m:sSub>
                      <m:sSub>
                        <m:sSubPr>
                          <m:ctrlPr>
                            <a:rPr lang="en-US" sz="2800" i="1">
                              <a:latin typeface="Cambria Math" panose="02040503050406030204" pitchFamily="18" charset="0"/>
                            </a:rPr>
                          </m:ctrlPr>
                        </m:sSubPr>
                        <m:e>
                          <m:r>
                            <a:rPr lang="sr-Latn-RS" sz="2800" b="0" i="1" smtClean="0">
                              <a:latin typeface="Cambria Math" panose="02040503050406030204" pitchFamily="18" charset="0"/>
                            </a:rPr>
                            <m:t>𝑘</m:t>
                          </m:r>
                        </m:e>
                        <m:sub>
                          <m:r>
                            <a:rPr lang="en-US" sz="2800" i="0">
                              <a:latin typeface="Cambria Math" panose="02040503050406030204" pitchFamily="18" charset="0"/>
                            </a:rPr>
                            <m:t>1</m:t>
                          </m:r>
                        </m:sub>
                      </m:sSub>
                      <m:r>
                        <a:rPr lang="en-US" sz="2800">
                          <a:latin typeface="Cambria Math" panose="02040503050406030204" pitchFamily="18" charset="0"/>
                        </a:rPr>
                        <m:t>⨁</m:t>
                      </m:r>
                      <m:r>
                        <a:rPr lang="en-US" sz="2800" i="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𝑞</m:t>
                          </m:r>
                        </m:e>
                        <m:sub>
                          <m:r>
                            <a:rPr lang="sr-Latn-RS" sz="2800" b="0" i="1" smtClean="0">
                              <a:latin typeface="Cambria Math" panose="02040503050406030204" pitchFamily="18" charset="0"/>
                            </a:rPr>
                            <m:t>𝑛</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sr-Latn-RS" sz="2800" b="0" i="1" smtClean="0">
                              <a:latin typeface="Cambria Math" panose="02040503050406030204" pitchFamily="18" charset="0"/>
                            </a:rPr>
                            <m:t>𝑘</m:t>
                          </m:r>
                        </m:e>
                        <m:sub>
                          <m:r>
                            <a:rPr lang="en-US" sz="2800" i="1">
                              <a:latin typeface="Cambria Math" panose="02040503050406030204" pitchFamily="18" charset="0"/>
                            </a:rPr>
                            <m:t>𝑛</m:t>
                          </m:r>
                        </m:sub>
                      </m:sSub>
                    </m:oMath>
                  </m:oMathPara>
                </a14:m>
                <a:endParaRPr lang="en-US" sz="2800" dirty="0"/>
              </a:p>
            </p:txBody>
          </p:sp>
        </mc:Choice>
        <mc:Fallback xmlns="">
          <p:sp>
            <p:nvSpPr>
              <p:cNvPr id="26" name="Rectangle 25">
                <a:extLst>
                  <a:ext uri="{FF2B5EF4-FFF2-40B4-BE49-F238E27FC236}">
                    <a16:creationId xmlns:a16="http://schemas.microsoft.com/office/drawing/2014/main" id="{870F75E7-C2E3-D14A-858A-E79BF82245F7}"/>
                  </a:ext>
                </a:extLst>
              </p:cNvPr>
              <p:cNvSpPr>
                <a:spLocks noRot="1" noChangeAspect="1" noMove="1" noResize="1" noEditPoints="1" noAdjustHandles="1" noChangeArrowheads="1" noChangeShapeType="1" noTextEdit="1"/>
              </p:cNvSpPr>
              <p:nvPr/>
            </p:nvSpPr>
            <p:spPr>
              <a:xfrm>
                <a:off x="4000274" y="3258114"/>
                <a:ext cx="7039812" cy="523220"/>
              </a:xfrm>
              <a:prstGeom prst="rect">
                <a:avLst/>
              </a:prstGeom>
              <a:blipFill>
                <a:blip r:embed="rId7"/>
                <a:stretch>
                  <a:fillRect b="-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0548DE80-D7F5-C74F-B780-24D49C82A092}"/>
                  </a:ext>
                </a:extLst>
              </p:cNvPr>
              <p:cNvSpPr/>
              <p:nvPr/>
            </p:nvSpPr>
            <p:spPr>
              <a:xfrm>
                <a:off x="4786401" y="4632203"/>
                <a:ext cx="5539786" cy="118558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ZA" sz="2800" i="1" smtClean="0">
                              <a:latin typeface="Cambria Math" panose="02040503050406030204" pitchFamily="18" charset="0"/>
                            </a:rPr>
                          </m:ctrlPr>
                        </m:sSupPr>
                        <m:e>
                          <m:r>
                            <a:rPr lang="sr-Latn-RS" sz="2800" i="1">
                              <a:latin typeface="Cambria Math" panose="02040503050406030204" pitchFamily="18" charset="0"/>
                            </a:rPr>
                            <m:t>𝐻</m:t>
                          </m:r>
                        </m:e>
                        <m:sup>
                          <m:r>
                            <a:rPr lang="sr-Latn-RS" sz="2800" i="1">
                              <a:latin typeface="Cambria Math" panose="02040503050406030204" pitchFamily="18" charset="0"/>
                            </a:rPr>
                            <m:t>⊗</m:t>
                          </m:r>
                          <m:r>
                            <a:rPr lang="sr-Latn-RS" sz="2800" i="1">
                              <a:latin typeface="Cambria Math" panose="02040503050406030204" pitchFamily="18" charset="0"/>
                            </a:rPr>
                            <m:t>𝑛</m:t>
                          </m:r>
                        </m:sup>
                      </m:sSup>
                      <m:d>
                        <m:dPr>
                          <m:begChr m:val="|"/>
                          <m:endChr m:val="⟩"/>
                          <m:ctrlPr>
                            <a:rPr lang="en-ZA" sz="2800" i="1">
                              <a:latin typeface="Cambria Math" panose="02040503050406030204" pitchFamily="18" charset="0"/>
                            </a:rPr>
                          </m:ctrlPr>
                        </m:dPr>
                        <m:e>
                          <m:r>
                            <a:rPr lang="sr-Latn-RS" sz="2800" i="1">
                              <a:latin typeface="Cambria Math" panose="02040503050406030204" pitchFamily="18" charset="0"/>
                            </a:rPr>
                            <m:t>𝑞</m:t>
                          </m:r>
                        </m:e>
                      </m:d>
                      <m:r>
                        <a:rPr lang="sr-Latn-RS" sz="2800" i="1">
                          <a:latin typeface="Cambria Math" panose="02040503050406030204" pitchFamily="18" charset="0"/>
                        </a:rPr>
                        <m:t>=</m:t>
                      </m:r>
                      <m:f>
                        <m:fPr>
                          <m:ctrlPr>
                            <a:rPr lang="en-ZA" sz="2800" i="1">
                              <a:latin typeface="Cambria Math" panose="02040503050406030204" pitchFamily="18" charset="0"/>
                            </a:rPr>
                          </m:ctrlPr>
                        </m:fPr>
                        <m:num>
                          <m:r>
                            <a:rPr lang="sr-Latn-RS" sz="2800" i="1">
                              <a:latin typeface="Cambria Math" panose="02040503050406030204" pitchFamily="18" charset="0"/>
                            </a:rPr>
                            <m:t>1</m:t>
                          </m:r>
                        </m:num>
                        <m:den>
                          <m:rad>
                            <m:radPr>
                              <m:degHide m:val="on"/>
                              <m:ctrlPr>
                                <a:rPr lang="en-ZA" sz="2800" i="1">
                                  <a:latin typeface="Cambria Math" panose="02040503050406030204" pitchFamily="18" charset="0"/>
                                </a:rPr>
                              </m:ctrlPr>
                            </m:radPr>
                            <m:deg/>
                            <m:e>
                              <m:sSup>
                                <m:sSupPr>
                                  <m:ctrlPr>
                                    <a:rPr lang="en-ZA" sz="2800" i="1">
                                      <a:latin typeface="Cambria Math" panose="02040503050406030204" pitchFamily="18" charset="0"/>
                                    </a:rPr>
                                  </m:ctrlPr>
                                </m:sSupPr>
                                <m:e>
                                  <m:r>
                                    <a:rPr lang="sr-Latn-RS" sz="2800" i="1">
                                      <a:latin typeface="Cambria Math" panose="02040503050406030204" pitchFamily="18" charset="0"/>
                                    </a:rPr>
                                    <m:t>2</m:t>
                                  </m:r>
                                </m:e>
                                <m:sup>
                                  <m:r>
                                    <a:rPr lang="sr-Latn-RS" sz="2800" i="1">
                                      <a:latin typeface="Cambria Math" panose="02040503050406030204" pitchFamily="18" charset="0"/>
                                    </a:rPr>
                                    <m:t>𝑛</m:t>
                                  </m:r>
                                </m:sup>
                              </m:sSup>
                            </m:e>
                          </m:rad>
                        </m:den>
                      </m:f>
                      <m:nary>
                        <m:naryPr>
                          <m:chr m:val="∑"/>
                          <m:limLoc m:val="undOvr"/>
                          <m:supHide m:val="on"/>
                          <m:ctrlPr>
                            <a:rPr lang="en-ZA" sz="2800" i="1">
                              <a:latin typeface="Cambria Math" panose="02040503050406030204" pitchFamily="18" charset="0"/>
                            </a:rPr>
                          </m:ctrlPr>
                        </m:naryPr>
                        <m:sub>
                          <m:r>
                            <m:rPr>
                              <m:brk/>
                            </m:rPr>
                            <a:rPr lang="sr-Latn-RS" sz="2800" b="0" i="1" smtClean="0">
                              <a:latin typeface="Cambria Math" panose="02040503050406030204" pitchFamily="18" charset="0"/>
                            </a:rPr>
                            <m:t>𝑘</m:t>
                          </m:r>
                          <m:r>
                            <a:rPr lang="sr-Latn-RS" sz="2800" i="1">
                              <a:latin typeface="Cambria Math" panose="02040503050406030204" pitchFamily="18" charset="0"/>
                            </a:rPr>
                            <m:t>∈</m:t>
                          </m:r>
                          <m:sSup>
                            <m:sSupPr>
                              <m:ctrlPr>
                                <a:rPr lang="en-ZA" sz="2800" i="1">
                                  <a:latin typeface="Cambria Math" panose="02040503050406030204" pitchFamily="18" charset="0"/>
                                </a:rPr>
                              </m:ctrlPr>
                            </m:sSupPr>
                            <m:e>
                              <m:d>
                                <m:dPr>
                                  <m:begChr m:val="{"/>
                                  <m:endChr m:val="}"/>
                                  <m:ctrlPr>
                                    <a:rPr lang="en-ZA" sz="2800" i="1">
                                      <a:latin typeface="Cambria Math" panose="02040503050406030204" pitchFamily="18" charset="0"/>
                                    </a:rPr>
                                  </m:ctrlPr>
                                </m:dPr>
                                <m:e>
                                  <m:r>
                                    <a:rPr lang="sr-Latn-RS" sz="2800" i="1">
                                      <a:latin typeface="Cambria Math" panose="02040503050406030204" pitchFamily="18" charset="0"/>
                                    </a:rPr>
                                    <m:t>0,1</m:t>
                                  </m:r>
                                </m:e>
                              </m:d>
                            </m:e>
                            <m:sup>
                              <m:r>
                                <a:rPr lang="sr-Latn-RS" sz="2800" i="1">
                                  <a:latin typeface="Cambria Math" panose="02040503050406030204" pitchFamily="18" charset="0"/>
                                </a:rPr>
                                <m:t>𝑛</m:t>
                              </m:r>
                            </m:sup>
                          </m:sSup>
                        </m:sub>
                        <m:sup/>
                        <m:e>
                          <m:sSup>
                            <m:sSupPr>
                              <m:ctrlPr>
                                <a:rPr lang="en-ZA" sz="2800" i="1">
                                  <a:latin typeface="Cambria Math" panose="02040503050406030204" pitchFamily="18" charset="0"/>
                                </a:rPr>
                              </m:ctrlPr>
                            </m:sSupPr>
                            <m:e>
                              <m:d>
                                <m:dPr>
                                  <m:ctrlPr>
                                    <a:rPr lang="en-ZA" sz="2800" i="1">
                                      <a:latin typeface="Cambria Math" panose="02040503050406030204" pitchFamily="18" charset="0"/>
                                    </a:rPr>
                                  </m:ctrlPr>
                                </m:dPr>
                                <m:e>
                                  <m:r>
                                    <a:rPr lang="sr-Latn-RS" sz="2800" i="1">
                                      <a:latin typeface="Cambria Math" panose="02040503050406030204" pitchFamily="18" charset="0"/>
                                    </a:rPr>
                                    <m:t>−1</m:t>
                                  </m:r>
                                </m:e>
                              </m:d>
                            </m:e>
                            <m:sup>
                              <m:r>
                                <a:rPr lang="sr-Latn-RS" sz="2800" i="1">
                                  <a:latin typeface="Cambria Math" panose="02040503050406030204" pitchFamily="18" charset="0"/>
                                </a:rPr>
                                <m:t>𝑞</m:t>
                              </m:r>
                              <m:r>
                                <a:rPr lang="sr-Latn-RS" sz="2800" i="1" smtClean="0">
                                  <a:latin typeface="Cambria Math" panose="02040503050406030204" pitchFamily="18" charset="0"/>
                                  <a:ea typeface="Cambria Math" panose="02040503050406030204" pitchFamily="18" charset="0"/>
                                </a:rPr>
                                <m:t>∙</m:t>
                              </m:r>
                              <m:r>
                                <a:rPr lang="sr-Latn-RS" sz="2800" b="0" i="1" smtClean="0">
                                  <a:latin typeface="Cambria Math" panose="02040503050406030204" pitchFamily="18" charset="0"/>
                                </a:rPr>
                                <m:t>𝑘</m:t>
                              </m:r>
                            </m:sup>
                          </m:sSup>
                          <m:d>
                            <m:dPr>
                              <m:begChr m:val="|"/>
                              <m:endChr m:val="⟩"/>
                              <m:ctrlPr>
                                <a:rPr lang="en-ZA" sz="2800" i="1">
                                  <a:latin typeface="Cambria Math" panose="02040503050406030204" pitchFamily="18" charset="0"/>
                                </a:rPr>
                              </m:ctrlPr>
                            </m:dPr>
                            <m:e>
                              <m:r>
                                <a:rPr lang="sr-Latn-RS" sz="2800" b="0" i="1" smtClean="0">
                                  <a:latin typeface="Cambria Math" panose="02040503050406030204" pitchFamily="18" charset="0"/>
                                </a:rPr>
                                <m:t>𝑘</m:t>
                              </m:r>
                            </m:e>
                          </m:d>
                          <m:r>
                            <a:rPr lang="sr-Latn-RS" sz="2800" i="1">
                              <a:latin typeface="Cambria Math" panose="02040503050406030204" pitchFamily="18" charset="0"/>
                            </a:rPr>
                            <m:t> </m:t>
                          </m:r>
                        </m:e>
                      </m:nary>
                    </m:oMath>
                  </m:oMathPara>
                </a14:m>
                <a:endParaRPr lang="en-US" sz="2800" dirty="0"/>
              </a:p>
            </p:txBody>
          </p:sp>
        </mc:Choice>
        <mc:Fallback xmlns="">
          <p:sp>
            <p:nvSpPr>
              <p:cNvPr id="53" name="Rectangle 52">
                <a:extLst>
                  <a:ext uri="{FF2B5EF4-FFF2-40B4-BE49-F238E27FC236}">
                    <a16:creationId xmlns:a16="http://schemas.microsoft.com/office/drawing/2014/main" id="{0548DE80-D7F5-C74F-B780-24D49C82A092}"/>
                  </a:ext>
                </a:extLst>
              </p:cNvPr>
              <p:cNvSpPr>
                <a:spLocks noRot="1" noChangeAspect="1" noMove="1" noResize="1" noEditPoints="1" noAdjustHandles="1" noChangeArrowheads="1" noChangeShapeType="1" noTextEdit="1"/>
              </p:cNvSpPr>
              <p:nvPr/>
            </p:nvSpPr>
            <p:spPr>
              <a:xfrm>
                <a:off x="4786401" y="4632203"/>
                <a:ext cx="5539786" cy="1185581"/>
              </a:xfrm>
              <a:prstGeom prst="rect">
                <a:avLst/>
              </a:prstGeom>
              <a:blipFill>
                <a:blip r:embed="rId8"/>
                <a:stretch>
                  <a:fillRect t="-124468" b="-170213"/>
                </a:stretch>
              </a:blipFill>
            </p:spPr>
            <p:txBody>
              <a:bodyPr/>
              <a:lstStyle/>
              <a:p>
                <a:r>
                  <a:rPr lang="en-US">
                    <a:noFill/>
                  </a:rPr>
                  <a:t> </a:t>
                </a:r>
              </a:p>
            </p:txBody>
          </p:sp>
        </mc:Fallback>
      </mc:AlternateContent>
    </p:spTree>
    <p:extLst>
      <p:ext uri="{BB962C8B-B14F-4D97-AF65-F5344CB8AC3E}">
        <p14:creationId xmlns:p14="http://schemas.microsoft.com/office/powerpoint/2010/main" val="34568382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Picture 44">
            <a:extLst>
              <a:ext uri="{FF2B5EF4-FFF2-40B4-BE49-F238E27FC236}">
                <a16:creationId xmlns:a16="http://schemas.microsoft.com/office/drawing/2014/main" id="{00385B25-3CF1-A247-8C71-C37C33C35421}"/>
              </a:ext>
            </a:extLst>
          </p:cNvPr>
          <p:cNvPicPr>
            <a:picLocks/>
          </p:cNvPicPr>
          <p:nvPr/>
        </p:nvPicPr>
        <p:blipFill>
          <a:blip r:embed="rId3"/>
          <a:stretch>
            <a:fillRect/>
          </a:stretch>
        </p:blipFill>
        <p:spPr>
          <a:xfrm>
            <a:off x="633293" y="1787224"/>
            <a:ext cx="10840952" cy="45719"/>
          </a:xfrm>
          <a:prstGeom prst="rect">
            <a:avLst/>
          </a:prstGeom>
        </p:spPr>
      </p:pic>
      <p:pic>
        <p:nvPicPr>
          <p:cNvPr id="46" name="Picture 45">
            <a:extLst>
              <a:ext uri="{FF2B5EF4-FFF2-40B4-BE49-F238E27FC236}">
                <a16:creationId xmlns:a16="http://schemas.microsoft.com/office/drawing/2014/main" id="{F42A2E7F-0A04-5B45-B389-2828815BD683}"/>
              </a:ext>
            </a:extLst>
          </p:cNvPr>
          <p:cNvPicPr>
            <a:picLocks/>
          </p:cNvPicPr>
          <p:nvPr/>
        </p:nvPicPr>
        <p:blipFill>
          <a:blip r:embed="rId3"/>
          <a:stretch>
            <a:fillRect/>
          </a:stretch>
        </p:blipFill>
        <p:spPr>
          <a:xfrm>
            <a:off x="633293" y="3081672"/>
            <a:ext cx="10840952" cy="45719"/>
          </a:xfrm>
          <a:prstGeom prst="rect">
            <a:avLst/>
          </a:prstGeom>
        </p:spPr>
      </p:pic>
      <p:pic>
        <p:nvPicPr>
          <p:cNvPr id="47" name="Picture 46">
            <a:extLst>
              <a:ext uri="{FF2B5EF4-FFF2-40B4-BE49-F238E27FC236}">
                <a16:creationId xmlns:a16="http://schemas.microsoft.com/office/drawing/2014/main" id="{9B27EE4A-8E2F-374D-B7EE-2E4950B6BA5D}"/>
              </a:ext>
            </a:extLst>
          </p:cNvPr>
          <p:cNvPicPr>
            <a:picLocks/>
          </p:cNvPicPr>
          <p:nvPr/>
        </p:nvPicPr>
        <p:blipFill>
          <a:blip r:embed="rId3"/>
          <a:stretch>
            <a:fillRect/>
          </a:stretch>
        </p:blipFill>
        <p:spPr>
          <a:xfrm>
            <a:off x="633292" y="5459651"/>
            <a:ext cx="10840952" cy="45719"/>
          </a:xfrm>
          <a:prstGeom prst="rect">
            <a:avLst/>
          </a:prstGeom>
        </p:spPr>
      </p:pic>
      <p:sp>
        <p:nvSpPr>
          <p:cNvPr id="3" name="Slide Number Placeholder 2">
            <a:extLst>
              <a:ext uri="{FF2B5EF4-FFF2-40B4-BE49-F238E27FC236}">
                <a16:creationId xmlns:a16="http://schemas.microsoft.com/office/drawing/2014/main" id="{9FC6E789-482F-CA48-957C-A0758D3D611C}"/>
              </a:ext>
            </a:extLst>
          </p:cNvPr>
          <p:cNvSpPr>
            <a:spLocks noGrp="1"/>
          </p:cNvSpPr>
          <p:nvPr>
            <p:ph type="sldNum" sz="quarter" idx="12"/>
          </p:nvPr>
        </p:nvSpPr>
        <p:spPr/>
        <p:txBody>
          <a:bodyPr/>
          <a:lstStyle/>
          <a:p>
            <a:fld id="{591A223C-FA10-BC46-A853-03BA373D023C}" type="slidenum">
              <a:rPr lang="en-US" smtClean="0"/>
              <a:t>28</a:t>
            </a:fld>
            <a:endParaRPr lang="en-US"/>
          </a:p>
        </p:txBody>
      </p:sp>
      <p:sp>
        <p:nvSpPr>
          <p:cNvPr id="40" name="Oval 39">
            <a:extLst>
              <a:ext uri="{FF2B5EF4-FFF2-40B4-BE49-F238E27FC236}">
                <a16:creationId xmlns:a16="http://schemas.microsoft.com/office/drawing/2014/main" id="{4179BBE4-6C12-5D4C-A450-71D9213F4228}"/>
              </a:ext>
            </a:extLst>
          </p:cNvPr>
          <p:cNvSpPr/>
          <p:nvPr/>
        </p:nvSpPr>
        <p:spPr>
          <a:xfrm>
            <a:off x="1483287" y="3774087"/>
            <a:ext cx="180000" cy="18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55B8897E-57C9-534F-9538-6F9D7F540C98}"/>
              </a:ext>
            </a:extLst>
          </p:cNvPr>
          <p:cNvSpPr/>
          <p:nvPr/>
        </p:nvSpPr>
        <p:spPr>
          <a:xfrm>
            <a:off x="1483287" y="4132305"/>
            <a:ext cx="180000" cy="18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421A687F-296E-C840-A3C1-F1FC21BB3372}"/>
              </a:ext>
            </a:extLst>
          </p:cNvPr>
          <p:cNvSpPr/>
          <p:nvPr/>
        </p:nvSpPr>
        <p:spPr>
          <a:xfrm>
            <a:off x="1483287" y="4490523"/>
            <a:ext cx="180000" cy="18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a:extLst>
              <a:ext uri="{FF2B5EF4-FFF2-40B4-BE49-F238E27FC236}">
                <a16:creationId xmlns:a16="http://schemas.microsoft.com/office/drawing/2014/main" id="{C68BA5E1-A229-D843-94AC-E498FB6B0FA7}"/>
              </a:ext>
            </a:extLst>
          </p:cNvPr>
          <p:cNvSpPr/>
          <p:nvPr/>
        </p:nvSpPr>
        <p:spPr>
          <a:xfrm>
            <a:off x="1167512" y="1279831"/>
            <a:ext cx="902481" cy="923386"/>
          </a:xfrm>
          <a:custGeom>
            <a:avLst/>
            <a:gdLst>
              <a:gd name="connsiteX0" fmla="*/ 21489 w 745389"/>
              <a:gd name="connsiteY0" fmla="*/ 6710 h 734634"/>
              <a:gd name="connsiteX1" fmla="*/ 62764 w 745389"/>
              <a:gd name="connsiteY1" fmla="*/ 9885 h 734634"/>
              <a:gd name="connsiteX2" fmla="*/ 132614 w 745389"/>
              <a:gd name="connsiteY2" fmla="*/ 3535 h 734634"/>
              <a:gd name="connsiteX3" fmla="*/ 450114 w 745389"/>
              <a:gd name="connsiteY3" fmla="*/ 6710 h 734634"/>
              <a:gd name="connsiteX4" fmla="*/ 491389 w 745389"/>
              <a:gd name="connsiteY4" fmla="*/ 9885 h 734634"/>
              <a:gd name="connsiteX5" fmla="*/ 583464 w 745389"/>
              <a:gd name="connsiteY5" fmla="*/ 13060 h 734634"/>
              <a:gd name="connsiteX6" fmla="*/ 723164 w 745389"/>
              <a:gd name="connsiteY6" fmla="*/ 9885 h 734634"/>
              <a:gd name="connsiteX7" fmla="*/ 739039 w 745389"/>
              <a:gd name="connsiteY7" fmla="*/ 13060 h 734634"/>
              <a:gd name="connsiteX8" fmla="*/ 732689 w 745389"/>
              <a:gd name="connsiteY8" fmla="*/ 63860 h 734634"/>
              <a:gd name="connsiteX9" fmla="*/ 735864 w 745389"/>
              <a:gd name="connsiteY9" fmla="*/ 140060 h 734634"/>
              <a:gd name="connsiteX10" fmla="*/ 742214 w 745389"/>
              <a:gd name="connsiteY10" fmla="*/ 159110 h 734634"/>
              <a:gd name="connsiteX11" fmla="*/ 745389 w 745389"/>
              <a:gd name="connsiteY11" fmla="*/ 168635 h 734634"/>
              <a:gd name="connsiteX12" fmla="*/ 742214 w 745389"/>
              <a:gd name="connsiteY12" fmla="*/ 267060 h 734634"/>
              <a:gd name="connsiteX13" fmla="*/ 739039 w 745389"/>
              <a:gd name="connsiteY13" fmla="*/ 435335 h 734634"/>
              <a:gd name="connsiteX14" fmla="*/ 732689 w 745389"/>
              <a:gd name="connsiteY14" fmla="*/ 482960 h 734634"/>
              <a:gd name="connsiteX15" fmla="*/ 726339 w 745389"/>
              <a:gd name="connsiteY15" fmla="*/ 546460 h 734634"/>
              <a:gd name="connsiteX16" fmla="*/ 723164 w 745389"/>
              <a:gd name="connsiteY16" fmla="*/ 679810 h 734634"/>
              <a:gd name="connsiteX17" fmla="*/ 719989 w 745389"/>
              <a:gd name="connsiteY17" fmla="*/ 708385 h 734634"/>
              <a:gd name="connsiteX18" fmla="*/ 716814 w 745389"/>
              <a:gd name="connsiteY18" fmla="*/ 730610 h 734634"/>
              <a:gd name="connsiteX19" fmla="*/ 659664 w 745389"/>
              <a:gd name="connsiteY19" fmla="*/ 733785 h 734634"/>
              <a:gd name="connsiteX20" fmla="*/ 469164 w 745389"/>
              <a:gd name="connsiteY20" fmla="*/ 727435 h 734634"/>
              <a:gd name="connsiteX21" fmla="*/ 405664 w 745389"/>
              <a:gd name="connsiteY21" fmla="*/ 721085 h 734634"/>
              <a:gd name="connsiteX22" fmla="*/ 237389 w 745389"/>
              <a:gd name="connsiteY22" fmla="*/ 717910 h 734634"/>
              <a:gd name="connsiteX23" fmla="*/ 126264 w 745389"/>
              <a:gd name="connsiteY23" fmla="*/ 721085 h 734634"/>
              <a:gd name="connsiteX24" fmla="*/ 91339 w 745389"/>
              <a:gd name="connsiteY24" fmla="*/ 727435 h 734634"/>
              <a:gd name="connsiteX25" fmla="*/ 24664 w 745389"/>
              <a:gd name="connsiteY25" fmla="*/ 724260 h 734634"/>
              <a:gd name="connsiteX26" fmla="*/ 18314 w 745389"/>
              <a:gd name="connsiteY26" fmla="*/ 714735 h 734634"/>
              <a:gd name="connsiteX27" fmla="*/ 15139 w 745389"/>
              <a:gd name="connsiteY27" fmla="*/ 689335 h 734634"/>
              <a:gd name="connsiteX28" fmla="*/ 8789 w 745389"/>
              <a:gd name="connsiteY28" fmla="*/ 663935 h 734634"/>
              <a:gd name="connsiteX29" fmla="*/ 5614 w 745389"/>
              <a:gd name="connsiteY29" fmla="*/ 644885 h 734634"/>
              <a:gd name="connsiteX30" fmla="*/ 5614 w 745389"/>
              <a:gd name="connsiteY30" fmla="*/ 178160 h 734634"/>
              <a:gd name="connsiteX31" fmla="*/ 15139 w 745389"/>
              <a:gd name="connsiteY31" fmla="*/ 130535 h 734634"/>
              <a:gd name="connsiteX32" fmla="*/ 18314 w 745389"/>
              <a:gd name="connsiteY32" fmla="*/ 111485 h 734634"/>
              <a:gd name="connsiteX33" fmla="*/ 21489 w 745389"/>
              <a:gd name="connsiteY33" fmla="*/ 6710 h 734634"/>
              <a:gd name="connsiteX0" fmla="*/ 21489 w 745389"/>
              <a:gd name="connsiteY0" fmla="*/ 6710 h 734634"/>
              <a:gd name="connsiteX1" fmla="*/ 62764 w 745389"/>
              <a:gd name="connsiteY1" fmla="*/ 9885 h 734634"/>
              <a:gd name="connsiteX2" fmla="*/ 132614 w 745389"/>
              <a:gd name="connsiteY2" fmla="*/ 3535 h 734634"/>
              <a:gd name="connsiteX3" fmla="*/ 450114 w 745389"/>
              <a:gd name="connsiteY3" fmla="*/ 6710 h 734634"/>
              <a:gd name="connsiteX4" fmla="*/ 491389 w 745389"/>
              <a:gd name="connsiteY4" fmla="*/ 9885 h 734634"/>
              <a:gd name="connsiteX5" fmla="*/ 583464 w 745389"/>
              <a:gd name="connsiteY5" fmla="*/ 13060 h 734634"/>
              <a:gd name="connsiteX6" fmla="*/ 723164 w 745389"/>
              <a:gd name="connsiteY6" fmla="*/ 9885 h 734634"/>
              <a:gd name="connsiteX7" fmla="*/ 739039 w 745389"/>
              <a:gd name="connsiteY7" fmla="*/ 13060 h 734634"/>
              <a:gd name="connsiteX8" fmla="*/ 732689 w 745389"/>
              <a:gd name="connsiteY8" fmla="*/ 63860 h 734634"/>
              <a:gd name="connsiteX9" fmla="*/ 735864 w 745389"/>
              <a:gd name="connsiteY9" fmla="*/ 140060 h 734634"/>
              <a:gd name="connsiteX10" fmla="*/ 742214 w 745389"/>
              <a:gd name="connsiteY10" fmla="*/ 159110 h 734634"/>
              <a:gd name="connsiteX11" fmla="*/ 745389 w 745389"/>
              <a:gd name="connsiteY11" fmla="*/ 168635 h 734634"/>
              <a:gd name="connsiteX12" fmla="*/ 742214 w 745389"/>
              <a:gd name="connsiteY12" fmla="*/ 267060 h 734634"/>
              <a:gd name="connsiteX13" fmla="*/ 739039 w 745389"/>
              <a:gd name="connsiteY13" fmla="*/ 435335 h 734634"/>
              <a:gd name="connsiteX14" fmla="*/ 732689 w 745389"/>
              <a:gd name="connsiteY14" fmla="*/ 482960 h 734634"/>
              <a:gd name="connsiteX15" fmla="*/ 726339 w 745389"/>
              <a:gd name="connsiteY15" fmla="*/ 546460 h 734634"/>
              <a:gd name="connsiteX16" fmla="*/ 723164 w 745389"/>
              <a:gd name="connsiteY16" fmla="*/ 679810 h 734634"/>
              <a:gd name="connsiteX17" fmla="*/ 719989 w 745389"/>
              <a:gd name="connsiteY17" fmla="*/ 708385 h 734634"/>
              <a:gd name="connsiteX18" fmla="*/ 716814 w 745389"/>
              <a:gd name="connsiteY18" fmla="*/ 730610 h 734634"/>
              <a:gd name="connsiteX19" fmla="*/ 659664 w 745389"/>
              <a:gd name="connsiteY19" fmla="*/ 733785 h 734634"/>
              <a:gd name="connsiteX20" fmla="*/ 469164 w 745389"/>
              <a:gd name="connsiteY20" fmla="*/ 727435 h 734634"/>
              <a:gd name="connsiteX21" fmla="*/ 405664 w 745389"/>
              <a:gd name="connsiteY21" fmla="*/ 721085 h 734634"/>
              <a:gd name="connsiteX22" fmla="*/ 237389 w 745389"/>
              <a:gd name="connsiteY22" fmla="*/ 717910 h 734634"/>
              <a:gd name="connsiteX23" fmla="*/ 126264 w 745389"/>
              <a:gd name="connsiteY23" fmla="*/ 721085 h 734634"/>
              <a:gd name="connsiteX24" fmla="*/ 91339 w 745389"/>
              <a:gd name="connsiteY24" fmla="*/ 727435 h 734634"/>
              <a:gd name="connsiteX25" fmla="*/ 24664 w 745389"/>
              <a:gd name="connsiteY25" fmla="*/ 724260 h 734634"/>
              <a:gd name="connsiteX26" fmla="*/ 18314 w 745389"/>
              <a:gd name="connsiteY26" fmla="*/ 714735 h 734634"/>
              <a:gd name="connsiteX27" fmla="*/ 15139 w 745389"/>
              <a:gd name="connsiteY27" fmla="*/ 689335 h 734634"/>
              <a:gd name="connsiteX28" fmla="*/ 8789 w 745389"/>
              <a:gd name="connsiteY28" fmla="*/ 663935 h 734634"/>
              <a:gd name="connsiteX29" fmla="*/ 5614 w 745389"/>
              <a:gd name="connsiteY29" fmla="*/ 644885 h 734634"/>
              <a:gd name="connsiteX30" fmla="*/ 5614 w 745389"/>
              <a:gd name="connsiteY30" fmla="*/ 178160 h 734634"/>
              <a:gd name="connsiteX31" fmla="*/ 15139 w 745389"/>
              <a:gd name="connsiteY31" fmla="*/ 130535 h 734634"/>
              <a:gd name="connsiteX32" fmla="*/ 18314 w 745389"/>
              <a:gd name="connsiteY32" fmla="*/ 111485 h 734634"/>
              <a:gd name="connsiteX33" fmla="*/ 21489 w 745389"/>
              <a:gd name="connsiteY33" fmla="*/ 6710 h 734634"/>
              <a:gd name="connsiteX0" fmla="*/ 21489 w 745389"/>
              <a:gd name="connsiteY0" fmla="*/ 6710 h 734634"/>
              <a:gd name="connsiteX1" fmla="*/ 62764 w 745389"/>
              <a:gd name="connsiteY1" fmla="*/ 9885 h 734634"/>
              <a:gd name="connsiteX2" fmla="*/ 132614 w 745389"/>
              <a:gd name="connsiteY2" fmla="*/ 3535 h 734634"/>
              <a:gd name="connsiteX3" fmla="*/ 450114 w 745389"/>
              <a:gd name="connsiteY3" fmla="*/ 6710 h 734634"/>
              <a:gd name="connsiteX4" fmla="*/ 491389 w 745389"/>
              <a:gd name="connsiteY4" fmla="*/ 9885 h 734634"/>
              <a:gd name="connsiteX5" fmla="*/ 583464 w 745389"/>
              <a:gd name="connsiteY5" fmla="*/ 13060 h 734634"/>
              <a:gd name="connsiteX6" fmla="*/ 723164 w 745389"/>
              <a:gd name="connsiteY6" fmla="*/ 9885 h 734634"/>
              <a:gd name="connsiteX7" fmla="*/ 739039 w 745389"/>
              <a:gd name="connsiteY7" fmla="*/ 13060 h 734634"/>
              <a:gd name="connsiteX8" fmla="*/ 732689 w 745389"/>
              <a:gd name="connsiteY8" fmla="*/ 63860 h 734634"/>
              <a:gd name="connsiteX9" fmla="*/ 735864 w 745389"/>
              <a:gd name="connsiteY9" fmla="*/ 140060 h 734634"/>
              <a:gd name="connsiteX10" fmla="*/ 742214 w 745389"/>
              <a:gd name="connsiteY10" fmla="*/ 159110 h 734634"/>
              <a:gd name="connsiteX11" fmla="*/ 745389 w 745389"/>
              <a:gd name="connsiteY11" fmla="*/ 168635 h 734634"/>
              <a:gd name="connsiteX12" fmla="*/ 742214 w 745389"/>
              <a:gd name="connsiteY12" fmla="*/ 267060 h 734634"/>
              <a:gd name="connsiteX13" fmla="*/ 739039 w 745389"/>
              <a:gd name="connsiteY13" fmla="*/ 435335 h 734634"/>
              <a:gd name="connsiteX14" fmla="*/ 732689 w 745389"/>
              <a:gd name="connsiteY14" fmla="*/ 482960 h 734634"/>
              <a:gd name="connsiteX15" fmla="*/ 726339 w 745389"/>
              <a:gd name="connsiteY15" fmla="*/ 546460 h 734634"/>
              <a:gd name="connsiteX16" fmla="*/ 723164 w 745389"/>
              <a:gd name="connsiteY16" fmla="*/ 679810 h 734634"/>
              <a:gd name="connsiteX17" fmla="*/ 719989 w 745389"/>
              <a:gd name="connsiteY17" fmla="*/ 708385 h 734634"/>
              <a:gd name="connsiteX18" fmla="*/ 716814 w 745389"/>
              <a:gd name="connsiteY18" fmla="*/ 730610 h 734634"/>
              <a:gd name="connsiteX19" fmla="*/ 659664 w 745389"/>
              <a:gd name="connsiteY19" fmla="*/ 733785 h 734634"/>
              <a:gd name="connsiteX20" fmla="*/ 469164 w 745389"/>
              <a:gd name="connsiteY20" fmla="*/ 727435 h 734634"/>
              <a:gd name="connsiteX21" fmla="*/ 405664 w 745389"/>
              <a:gd name="connsiteY21" fmla="*/ 721085 h 734634"/>
              <a:gd name="connsiteX22" fmla="*/ 237389 w 745389"/>
              <a:gd name="connsiteY22" fmla="*/ 717910 h 734634"/>
              <a:gd name="connsiteX23" fmla="*/ 126264 w 745389"/>
              <a:gd name="connsiteY23" fmla="*/ 721085 h 734634"/>
              <a:gd name="connsiteX24" fmla="*/ 91339 w 745389"/>
              <a:gd name="connsiteY24" fmla="*/ 727435 h 734634"/>
              <a:gd name="connsiteX25" fmla="*/ 24664 w 745389"/>
              <a:gd name="connsiteY25" fmla="*/ 724260 h 734634"/>
              <a:gd name="connsiteX26" fmla="*/ 18314 w 745389"/>
              <a:gd name="connsiteY26" fmla="*/ 714735 h 734634"/>
              <a:gd name="connsiteX27" fmla="*/ 15139 w 745389"/>
              <a:gd name="connsiteY27" fmla="*/ 689335 h 734634"/>
              <a:gd name="connsiteX28" fmla="*/ 8789 w 745389"/>
              <a:gd name="connsiteY28" fmla="*/ 663935 h 734634"/>
              <a:gd name="connsiteX29" fmla="*/ 5614 w 745389"/>
              <a:gd name="connsiteY29" fmla="*/ 644885 h 734634"/>
              <a:gd name="connsiteX30" fmla="*/ 5614 w 745389"/>
              <a:gd name="connsiteY30" fmla="*/ 178160 h 734634"/>
              <a:gd name="connsiteX31" fmla="*/ 15139 w 745389"/>
              <a:gd name="connsiteY31" fmla="*/ 130535 h 734634"/>
              <a:gd name="connsiteX32" fmla="*/ 21489 w 745389"/>
              <a:gd name="connsiteY32" fmla="*/ 6710 h 734634"/>
              <a:gd name="connsiteX0" fmla="*/ 21489 w 745389"/>
              <a:gd name="connsiteY0" fmla="*/ 6014 h 733938"/>
              <a:gd name="connsiteX1" fmla="*/ 62764 w 745389"/>
              <a:gd name="connsiteY1" fmla="*/ 9189 h 733938"/>
              <a:gd name="connsiteX2" fmla="*/ 132614 w 745389"/>
              <a:gd name="connsiteY2" fmla="*/ 2839 h 733938"/>
              <a:gd name="connsiteX3" fmla="*/ 450114 w 745389"/>
              <a:gd name="connsiteY3" fmla="*/ 6014 h 733938"/>
              <a:gd name="connsiteX4" fmla="*/ 491389 w 745389"/>
              <a:gd name="connsiteY4" fmla="*/ 9189 h 733938"/>
              <a:gd name="connsiteX5" fmla="*/ 583464 w 745389"/>
              <a:gd name="connsiteY5" fmla="*/ 12364 h 733938"/>
              <a:gd name="connsiteX6" fmla="*/ 723164 w 745389"/>
              <a:gd name="connsiteY6" fmla="*/ 9189 h 733938"/>
              <a:gd name="connsiteX7" fmla="*/ 739039 w 745389"/>
              <a:gd name="connsiteY7" fmla="*/ 12364 h 733938"/>
              <a:gd name="connsiteX8" fmla="*/ 732689 w 745389"/>
              <a:gd name="connsiteY8" fmla="*/ 63164 h 733938"/>
              <a:gd name="connsiteX9" fmla="*/ 735864 w 745389"/>
              <a:gd name="connsiteY9" fmla="*/ 139364 h 733938"/>
              <a:gd name="connsiteX10" fmla="*/ 742214 w 745389"/>
              <a:gd name="connsiteY10" fmla="*/ 158414 h 733938"/>
              <a:gd name="connsiteX11" fmla="*/ 745389 w 745389"/>
              <a:gd name="connsiteY11" fmla="*/ 167939 h 733938"/>
              <a:gd name="connsiteX12" fmla="*/ 742214 w 745389"/>
              <a:gd name="connsiteY12" fmla="*/ 266364 h 733938"/>
              <a:gd name="connsiteX13" fmla="*/ 739039 w 745389"/>
              <a:gd name="connsiteY13" fmla="*/ 434639 h 733938"/>
              <a:gd name="connsiteX14" fmla="*/ 732689 w 745389"/>
              <a:gd name="connsiteY14" fmla="*/ 482264 h 733938"/>
              <a:gd name="connsiteX15" fmla="*/ 726339 w 745389"/>
              <a:gd name="connsiteY15" fmla="*/ 545764 h 733938"/>
              <a:gd name="connsiteX16" fmla="*/ 723164 w 745389"/>
              <a:gd name="connsiteY16" fmla="*/ 679114 h 733938"/>
              <a:gd name="connsiteX17" fmla="*/ 719989 w 745389"/>
              <a:gd name="connsiteY17" fmla="*/ 707689 h 733938"/>
              <a:gd name="connsiteX18" fmla="*/ 716814 w 745389"/>
              <a:gd name="connsiteY18" fmla="*/ 729914 h 733938"/>
              <a:gd name="connsiteX19" fmla="*/ 659664 w 745389"/>
              <a:gd name="connsiteY19" fmla="*/ 733089 h 733938"/>
              <a:gd name="connsiteX20" fmla="*/ 469164 w 745389"/>
              <a:gd name="connsiteY20" fmla="*/ 726739 h 733938"/>
              <a:gd name="connsiteX21" fmla="*/ 405664 w 745389"/>
              <a:gd name="connsiteY21" fmla="*/ 720389 h 733938"/>
              <a:gd name="connsiteX22" fmla="*/ 237389 w 745389"/>
              <a:gd name="connsiteY22" fmla="*/ 717214 h 733938"/>
              <a:gd name="connsiteX23" fmla="*/ 126264 w 745389"/>
              <a:gd name="connsiteY23" fmla="*/ 720389 h 733938"/>
              <a:gd name="connsiteX24" fmla="*/ 91339 w 745389"/>
              <a:gd name="connsiteY24" fmla="*/ 726739 h 733938"/>
              <a:gd name="connsiteX25" fmla="*/ 24664 w 745389"/>
              <a:gd name="connsiteY25" fmla="*/ 723564 h 733938"/>
              <a:gd name="connsiteX26" fmla="*/ 18314 w 745389"/>
              <a:gd name="connsiteY26" fmla="*/ 714039 h 733938"/>
              <a:gd name="connsiteX27" fmla="*/ 15139 w 745389"/>
              <a:gd name="connsiteY27" fmla="*/ 688639 h 733938"/>
              <a:gd name="connsiteX28" fmla="*/ 8789 w 745389"/>
              <a:gd name="connsiteY28" fmla="*/ 663239 h 733938"/>
              <a:gd name="connsiteX29" fmla="*/ 5614 w 745389"/>
              <a:gd name="connsiteY29" fmla="*/ 644189 h 733938"/>
              <a:gd name="connsiteX30" fmla="*/ 5614 w 745389"/>
              <a:gd name="connsiteY30" fmla="*/ 177464 h 733938"/>
              <a:gd name="connsiteX31" fmla="*/ 11964 w 745389"/>
              <a:gd name="connsiteY31" fmla="*/ 101264 h 733938"/>
              <a:gd name="connsiteX32" fmla="*/ 21489 w 745389"/>
              <a:gd name="connsiteY32" fmla="*/ 6014 h 733938"/>
              <a:gd name="connsiteX0" fmla="*/ 19035 w 742935"/>
              <a:gd name="connsiteY0" fmla="*/ 6014 h 733938"/>
              <a:gd name="connsiteX1" fmla="*/ 60310 w 742935"/>
              <a:gd name="connsiteY1" fmla="*/ 9189 h 733938"/>
              <a:gd name="connsiteX2" fmla="*/ 130160 w 742935"/>
              <a:gd name="connsiteY2" fmla="*/ 2839 h 733938"/>
              <a:gd name="connsiteX3" fmla="*/ 447660 w 742935"/>
              <a:gd name="connsiteY3" fmla="*/ 6014 h 733938"/>
              <a:gd name="connsiteX4" fmla="*/ 488935 w 742935"/>
              <a:gd name="connsiteY4" fmla="*/ 9189 h 733938"/>
              <a:gd name="connsiteX5" fmla="*/ 581010 w 742935"/>
              <a:gd name="connsiteY5" fmla="*/ 12364 h 733938"/>
              <a:gd name="connsiteX6" fmla="*/ 720710 w 742935"/>
              <a:gd name="connsiteY6" fmla="*/ 9189 h 733938"/>
              <a:gd name="connsiteX7" fmla="*/ 736585 w 742935"/>
              <a:gd name="connsiteY7" fmla="*/ 12364 h 733938"/>
              <a:gd name="connsiteX8" fmla="*/ 730235 w 742935"/>
              <a:gd name="connsiteY8" fmla="*/ 63164 h 733938"/>
              <a:gd name="connsiteX9" fmla="*/ 733410 w 742935"/>
              <a:gd name="connsiteY9" fmla="*/ 139364 h 733938"/>
              <a:gd name="connsiteX10" fmla="*/ 739760 w 742935"/>
              <a:gd name="connsiteY10" fmla="*/ 158414 h 733938"/>
              <a:gd name="connsiteX11" fmla="*/ 742935 w 742935"/>
              <a:gd name="connsiteY11" fmla="*/ 167939 h 733938"/>
              <a:gd name="connsiteX12" fmla="*/ 739760 w 742935"/>
              <a:gd name="connsiteY12" fmla="*/ 266364 h 733938"/>
              <a:gd name="connsiteX13" fmla="*/ 736585 w 742935"/>
              <a:gd name="connsiteY13" fmla="*/ 434639 h 733938"/>
              <a:gd name="connsiteX14" fmla="*/ 730235 w 742935"/>
              <a:gd name="connsiteY14" fmla="*/ 482264 h 733938"/>
              <a:gd name="connsiteX15" fmla="*/ 723885 w 742935"/>
              <a:gd name="connsiteY15" fmla="*/ 545764 h 733938"/>
              <a:gd name="connsiteX16" fmla="*/ 720710 w 742935"/>
              <a:gd name="connsiteY16" fmla="*/ 679114 h 733938"/>
              <a:gd name="connsiteX17" fmla="*/ 717535 w 742935"/>
              <a:gd name="connsiteY17" fmla="*/ 707689 h 733938"/>
              <a:gd name="connsiteX18" fmla="*/ 714360 w 742935"/>
              <a:gd name="connsiteY18" fmla="*/ 729914 h 733938"/>
              <a:gd name="connsiteX19" fmla="*/ 657210 w 742935"/>
              <a:gd name="connsiteY19" fmla="*/ 733089 h 733938"/>
              <a:gd name="connsiteX20" fmla="*/ 466710 w 742935"/>
              <a:gd name="connsiteY20" fmla="*/ 726739 h 733938"/>
              <a:gd name="connsiteX21" fmla="*/ 403210 w 742935"/>
              <a:gd name="connsiteY21" fmla="*/ 720389 h 733938"/>
              <a:gd name="connsiteX22" fmla="*/ 234935 w 742935"/>
              <a:gd name="connsiteY22" fmla="*/ 717214 h 733938"/>
              <a:gd name="connsiteX23" fmla="*/ 123810 w 742935"/>
              <a:gd name="connsiteY23" fmla="*/ 720389 h 733938"/>
              <a:gd name="connsiteX24" fmla="*/ 88885 w 742935"/>
              <a:gd name="connsiteY24" fmla="*/ 726739 h 733938"/>
              <a:gd name="connsiteX25" fmla="*/ 22210 w 742935"/>
              <a:gd name="connsiteY25" fmla="*/ 723564 h 733938"/>
              <a:gd name="connsiteX26" fmla="*/ 15860 w 742935"/>
              <a:gd name="connsiteY26" fmla="*/ 714039 h 733938"/>
              <a:gd name="connsiteX27" fmla="*/ 12685 w 742935"/>
              <a:gd name="connsiteY27" fmla="*/ 688639 h 733938"/>
              <a:gd name="connsiteX28" fmla="*/ 6335 w 742935"/>
              <a:gd name="connsiteY28" fmla="*/ 663239 h 733938"/>
              <a:gd name="connsiteX29" fmla="*/ 3160 w 742935"/>
              <a:gd name="connsiteY29" fmla="*/ 644189 h 733938"/>
              <a:gd name="connsiteX30" fmla="*/ 12685 w 742935"/>
              <a:gd name="connsiteY30" fmla="*/ 196514 h 733938"/>
              <a:gd name="connsiteX31" fmla="*/ 9510 w 742935"/>
              <a:gd name="connsiteY31" fmla="*/ 101264 h 733938"/>
              <a:gd name="connsiteX32" fmla="*/ 19035 w 742935"/>
              <a:gd name="connsiteY32" fmla="*/ 6014 h 733938"/>
              <a:gd name="connsiteX0" fmla="*/ 19035 w 742935"/>
              <a:gd name="connsiteY0" fmla="*/ 6014 h 733938"/>
              <a:gd name="connsiteX1" fmla="*/ 60310 w 742935"/>
              <a:gd name="connsiteY1" fmla="*/ 9189 h 733938"/>
              <a:gd name="connsiteX2" fmla="*/ 130160 w 742935"/>
              <a:gd name="connsiteY2" fmla="*/ 2839 h 733938"/>
              <a:gd name="connsiteX3" fmla="*/ 447660 w 742935"/>
              <a:gd name="connsiteY3" fmla="*/ 6014 h 733938"/>
              <a:gd name="connsiteX4" fmla="*/ 488935 w 742935"/>
              <a:gd name="connsiteY4" fmla="*/ 9189 h 733938"/>
              <a:gd name="connsiteX5" fmla="*/ 581010 w 742935"/>
              <a:gd name="connsiteY5" fmla="*/ 12364 h 733938"/>
              <a:gd name="connsiteX6" fmla="*/ 720710 w 742935"/>
              <a:gd name="connsiteY6" fmla="*/ 9189 h 733938"/>
              <a:gd name="connsiteX7" fmla="*/ 736585 w 742935"/>
              <a:gd name="connsiteY7" fmla="*/ 12364 h 733938"/>
              <a:gd name="connsiteX8" fmla="*/ 730235 w 742935"/>
              <a:gd name="connsiteY8" fmla="*/ 63164 h 733938"/>
              <a:gd name="connsiteX9" fmla="*/ 733410 w 742935"/>
              <a:gd name="connsiteY9" fmla="*/ 139364 h 733938"/>
              <a:gd name="connsiteX10" fmla="*/ 739760 w 742935"/>
              <a:gd name="connsiteY10" fmla="*/ 158414 h 733938"/>
              <a:gd name="connsiteX11" fmla="*/ 742935 w 742935"/>
              <a:gd name="connsiteY11" fmla="*/ 167939 h 733938"/>
              <a:gd name="connsiteX12" fmla="*/ 739760 w 742935"/>
              <a:gd name="connsiteY12" fmla="*/ 266364 h 733938"/>
              <a:gd name="connsiteX13" fmla="*/ 736585 w 742935"/>
              <a:gd name="connsiteY13" fmla="*/ 434639 h 733938"/>
              <a:gd name="connsiteX14" fmla="*/ 730235 w 742935"/>
              <a:gd name="connsiteY14" fmla="*/ 482264 h 733938"/>
              <a:gd name="connsiteX15" fmla="*/ 723885 w 742935"/>
              <a:gd name="connsiteY15" fmla="*/ 545764 h 733938"/>
              <a:gd name="connsiteX16" fmla="*/ 720710 w 742935"/>
              <a:gd name="connsiteY16" fmla="*/ 679114 h 733938"/>
              <a:gd name="connsiteX17" fmla="*/ 717535 w 742935"/>
              <a:gd name="connsiteY17" fmla="*/ 707689 h 733938"/>
              <a:gd name="connsiteX18" fmla="*/ 714360 w 742935"/>
              <a:gd name="connsiteY18" fmla="*/ 729914 h 733938"/>
              <a:gd name="connsiteX19" fmla="*/ 657210 w 742935"/>
              <a:gd name="connsiteY19" fmla="*/ 733089 h 733938"/>
              <a:gd name="connsiteX20" fmla="*/ 466710 w 742935"/>
              <a:gd name="connsiteY20" fmla="*/ 726739 h 733938"/>
              <a:gd name="connsiteX21" fmla="*/ 403210 w 742935"/>
              <a:gd name="connsiteY21" fmla="*/ 720389 h 733938"/>
              <a:gd name="connsiteX22" fmla="*/ 234935 w 742935"/>
              <a:gd name="connsiteY22" fmla="*/ 717214 h 733938"/>
              <a:gd name="connsiteX23" fmla="*/ 123810 w 742935"/>
              <a:gd name="connsiteY23" fmla="*/ 720389 h 733938"/>
              <a:gd name="connsiteX24" fmla="*/ 88885 w 742935"/>
              <a:gd name="connsiteY24" fmla="*/ 726739 h 733938"/>
              <a:gd name="connsiteX25" fmla="*/ 22210 w 742935"/>
              <a:gd name="connsiteY25" fmla="*/ 723564 h 733938"/>
              <a:gd name="connsiteX26" fmla="*/ 15860 w 742935"/>
              <a:gd name="connsiteY26" fmla="*/ 714039 h 733938"/>
              <a:gd name="connsiteX27" fmla="*/ 12685 w 742935"/>
              <a:gd name="connsiteY27" fmla="*/ 688639 h 733938"/>
              <a:gd name="connsiteX28" fmla="*/ 6335 w 742935"/>
              <a:gd name="connsiteY28" fmla="*/ 663239 h 733938"/>
              <a:gd name="connsiteX29" fmla="*/ 3160 w 742935"/>
              <a:gd name="connsiteY29" fmla="*/ 644189 h 733938"/>
              <a:gd name="connsiteX30" fmla="*/ 12685 w 742935"/>
              <a:gd name="connsiteY30" fmla="*/ 196514 h 733938"/>
              <a:gd name="connsiteX31" fmla="*/ 15860 w 742935"/>
              <a:gd name="connsiteY31" fmla="*/ 101264 h 733938"/>
              <a:gd name="connsiteX32" fmla="*/ 19035 w 742935"/>
              <a:gd name="connsiteY32" fmla="*/ 6014 h 733938"/>
              <a:gd name="connsiteX0" fmla="*/ 12700 w 736600"/>
              <a:gd name="connsiteY0" fmla="*/ 6014 h 733938"/>
              <a:gd name="connsiteX1" fmla="*/ 53975 w 736600"/>
              <a:gd name="connsiteY1" fmla="*/ 9189 h 733938"/>
              <a:gd name="connsiteX2" fmla="*/ 123825 w 736600"/>
              <a:gd name="connsiteY2" fmla="*/ 2839 h 733938"/>
              <a:gd name="connsiteX3" fmla="*/ 441325 w 736600"/>
              <a:gd name="connsiteY3" fmla="*/ 6014 h 733938"/>
              <a:gd name="connsiteX4" fmla="*/ 482600 w 736600"/>
              <a:gd name="connsiteY4" fmla="*/ 9189 h 733938"/>
              <a:gd name="connsiteX5" fmla="*/ 574675 w 736600"/>
              <a:gd name="connsiteY5" fmla="*/ 12364 h 733938"/>
              <a:gd name="connsiteX6" fmla="*/ 714375 w 736600"/>
              <a:gd name="connsiteY6" fmla="*/ 9189 h 733938"/>
              <a:gd name="connsiteX7" fmla="*/ 730250 w 736600"/>
              <a:gd name="connsiteY7" fmla="*/ 12364 h 733938"/>
              <a:gd name="connsiteX8" fmla="*/ 723900 w 736600"/>
              <a:gd name="connsiteY8" fmla="*/ 63164 h 733938"/>
              <a:gd name="connsiteX9" fmla="*/ 727075 w 736600"/>
              <a:gd name="connsiteY9" fmla="*/ 139364 h 733938"/>
              <a:gd name="connsiteX10" fmla="*/ 733425 w 736600"/>
              <a:gd name="connsiteY10" fmla="*/ 158414 h 733938"/>
              <a:gd name="connsiteX11" fmla="*/ 736600 w 736600"/>
              <a:gd name="connsiteY11" fmla="*/ 167939 h 733938"/>
              <a:gd name="connsiteX12" fmla="*/ 733425 w 736600"/>
              <a:gd name="connsiteY12" fmla="*/ 266364 h 733938"/>
              <a:gd name="connsiteX13" fmla="*/ 730250 w 736600"/>
              <a:gd name="connsiteY13" fmla="*/ 434639 h 733938"/>
              <a:gd name="connsiteX14" fmla="*/ 723900 w 736600"/>
              <a:gd name="connsiteY14" fmla="*/ 482264 h 733938"/>
              <a:gd name="connsiteX15" fmla="*/ 717550 w 736600"/>
              <a:gd name="connsiteY15" fmla="*/ 545764 h 733938"/>
              <a:gd name="connsiteX16" fmla="*/ 714375 w 736600"/>
              <a:gd name="connsiteY16" fmla="*/ 679114 h 733938"/>
              <a:gd name="connsiteX17" fmla="*/ 711200 w 736600"/>
              <a:gd name="connsiteY17" fmla="*/ 707689 h 733938"/>
              <a:gd name="connsiteX18" fmla="*/ 708025 w 736600"/>
              <a:gd name="connsiteY18" fmla="*/ 729914 h 733938"/>
              <a:gd name="connsiteX19" fmla="*/ 650875 w 736600"/>
              <a:gd name="connsiteY19" fmla="*/ 733089 h 733938"/>
              <a:gd name="connsiteX20" fmla="*/ 460375 w 736600"/>
              <a:gd name="connsiteY20" fmla="*/ 726739 h 733938"/>
              <a:gd name="connsiteX21" fmla="*/ 396875 w 736600"/>
              <a:gd name="connsiteY21" fmla="*/ 720389 h 733938"/>
              <a:gd name="connsiteX22" fmla="*/ 228600 w 736600"/>
              <a:gd name="connsiteY22" fmla="*/ 717214 h 733938"/>
              <a:gd name="connsiteX23" fmla="*/ 117475 w 736600"/>
              <a:gd name="connsiteY23" fmla="*/ 720389 h 733938"/>
              <a:gd name="connsiteX24" fmla="*/ 82550 w 736600"/>
              <a:gd name="connsiteY24" fmla="*/ 726739 h 733938"/>
              <a:gd name="connsiteX25" fmla="*/ 15875 w 736600"/>
              <a:gd name="connsiteY25" fmla="*/ 723564 h 733938"/>
              <a:gd name="connsiteX26" fmla="*/ 9525 w 736600"/>
              <a:gd name="connsiteY26" fmla="*/ 714039 h 733938"/>
              <a:gd name="connsiteX27" fmla="*/ 6350 w 736600"/>
              <a:gd name="connsiteY27" fmla="*/ 688639 h 733938"/>
              <a:gd name="connsiteX28" fmla="*/ 0 w 736600"/>
              <a:gd name="connsiteY28" fmla="*/ 663239 h 733938"/>
              <a:gd name="connsiteX29" fmla="*/ 6350 w 736600"/>
              <a:gd name="connsiteY29" fmla="*/ 196514 h 733938"/>
              <a:gd name="connsiteX30" fmla="*/ 9525 w 736600"/>
              <a:gd name="connsiteY30" fmla="*/ 101264 h 733938"/>
              <a:gd name="connsiteX31" fmla="*/ 12700 w 736600"/>
              <a:gd name="connsiteY31" fmla="*/ 6014 h 733938"/>
              <a:gd name="connsiteX0" fmla="*/ 6747 w 730647"/>
              <a:gd name="connsiteY0" fmla="*/ 6014 h 733938"/>
              <a:gd name="connsiteX1" fmla="*/ 48022 w 730647"/>
              <a:gd name="connsiteY1" fmla="*/ 9189 h 733938"/>
              <a:gd name="connsiteX2" fmla="*/ 117872 w 730647"/>
              <a:gd name="connsiteY2" fmla="*/ 2839 h 733938"/>
              <a:gd name="connsiteX3" fmla="*/ 435372 w 730647"/>
              <a:gd name="connsiteY3" fmla="*/ 6014 h 733938"/>
              <a:gd name="connsiteX4" fmla="*/ 476647 w 730647"/>
              <a:gd name="connsiteY4" fmla="*/ 9189 h 733938"/>
              <a:gd name="connsiteX5" fmla="*/ 568722 w 730647"/>
              <a:gd name="connsiteY5" fmla="*/ 12364 h 733938"/>
              <a:gd name="connsiteX6" fmla="*/ 708422 w 730647"/>
              <a:gd name="connsiteY6" fmla="*/ 9189 h 733938"/>
              <a:gd name="connsiteX7" fmla="*/ 724297 w 730647"/>
              <a:gd name="connsiteY7" fmla="*/ 12364 h 733938"/>
              <a:gd name="connsiteX8" fmla="*/ 717947 w 730647"/>
              <a:gd name="connsiteY8" fmla="*/ 63164 h 733938"/>
              <a:gd name="connsiteX9" fmla="*/ 721122 w 730647"/>
              <a:gd name="connsiteY9" fmla="*/ 139364 h 733938"/>
              <a:gd name="connsiteX10" fmla="*/ 727472 w 730647"/>
              <a:gd name="connsiteY10" fmla="*/ 158414 h 733938"/>
              <a:gd name="connsiteX11" fmla="*/ 730647 w 730647"/>
              <a:gd name="connsiteY11" fmla="*/ 167939 h 733938"/>
              <a:gd name="connsiteX12" fmla="*/ 727472 w 730647"/>
              <a:gd name="connsiteY12" fmla="*/ 266364 h 733938"/>
              <a:gd name="connsiteX13" fmla="*/ 724297 w 730647"/>
              <a:gd name="connsiteY13" fmla="*/ 434639 h 733938"/>
              <a:gd name="connsiteX14" fmla="*/ 717947 w 730647"/>
              <a:gd name="connsiteY14" fmla="*/ 482264 h 733938"/>
              <a:gd name="connsiteX15" fmla="*/ 711597 w 730647"/>
              <a:gd name="connsiteY15" fmla="*/ 545764 h 733938"/>
              <a:gd name="connsiteX16" fmla="*/ 708422 w 730647"/>
              <a:gd name="connsiteY16" fmla="*/ 679114 h 733938"/>
              <a:gd name="connsiteX17" fmla="*/ 705247 w 730647"/>
              <a:gd name="connsiteY17" fmla="*/ 707689 h 733938"/>
              <a:gd name="connsiteX18" fmla="*/ 702072 w 730647"/>
              <a:gd name="connsiteY18" fmla="*/ 729914 h 733938"/>
              <a:gd name="connsiteX19" fmla="*/ 644922 w 730647"/>
              <a:gd name="connsiteY19" fmla="*/ 733089 h 733938"/>
              <a:gd name="connsiteX20" fmla="*/ 454422 w 730647"/>
              <a:gd name="connsiteY20" fmla="*/ 726739 h 733938"/>
              <a:gd name="connsiteX21" fmla="*/ 390922 w 730647"/>
              <a:gd name="connsiteY21" fmla="*/ 720389 h 733938"/>
              <a:gd name="connsiteX22" fmla="*/ 222647 w 730647"/>
              <a:gd name="connsiteY22" fmla="*/ 717214 h 733938"/>
              <a:gd name="connsiteX23" fmla="*/ 111522 w 730647"/>
              <a:gd name="connsiteY23" fmla="*/ 720389 h 733938"/>
              <a:gd name="connsiteX24" fmla="*/ 76597 w 730647"/>
              <a:gd name="connsiteY24" fmla="*/ 726739 h 733938"/>
              <a:gd name="connsiteX25" fmla="*/ 9922 w 730647"/>
              <a:gd name="connsiteY25" fmla="*/ 723564 h 733938"/>
              <a:gd name="connsiteX26" fmla="*/ 3572 w 730647"/>
              <a:gd name="connsiteY26" fmla="*/ 714039 h 733938"/>
              <a:gd name="connsiteX27" fmla="*/ 397 w 730647"/>
              <a:gd name="connsiteY27" fmla="*/ 688639 h 733938"/>
              <a:gd name="connsiteX28" fmla="*/ 397 w 730647"/>
              <a:gd name="connsiteY28" fmla="*/ 196514 h 733938"/>
              <a:gd name="connsiteX29" fmla="*/ 3572 w 730647"/>
              <a:gd name="connsiteY29" fmla="*/ 101264 h 733938"/>
              <a:gd name="connsiteX30" fmla="*/ 6747 w 730647"/>
              <a:gd name="connsiteY30" fmla="*/ 6014 h 733938"/>
              <a:gd name="connsiteX0" fmla="*/ 6747 w 730647"/>
              <a:gd name="connsiteY0" fmla="*/ 6014 h 733938"/>
              <a:gd name="connsiteX1" fmla="*/ 48022 w 730647"/>
              <a:gd name="connsiteY1" fmla="*/ 9189 h 733938"/>
              <a:gd name="connsiteX2" fmla="*/ 117872 w 730647"/>
              <a:gd name="connsiteY2" fmla="*/ 2839 h 733938"/>
              <a:gd name="connsiteX3" fmla="*/ 435372 w 730647"/>
              <a:gd name="connsiteY3" fmla="*/ 6014 h 733938"/>
              <a:gd name="connsiteX4" fmla="*/ 476647 w 730647"/>
              <a:gd name="connsiteY4" fmla="*/ 9189 h 733938"/>
              <a:gd name="connsiteX5" fmla="*/ 568722 w 730647"/>
              <a:gd name="connsiteY5" fmla="*/ 12364 h 733938"/>
              <a:gd name="connsiteX6" fmla="*/ 708422 w 730647"/>
              <a:gd name="connsiteY6" fmla="*/ 9189 h 733938"/>
              <a:gd name="connsiteX7" fmla="*/ 724297 w 730647"/>
              <a:gd name="connsiteY7" fmla="*/ 12364 h 733938"/>
              <a:gd name="connsiteX8" fmla="*/ 717947 w 730647"/>
              <a:gd name="connsiteY8" fmla="*/ 63164 h 733938"/>
              <a:gd name="connsiteX9" fmla="*/ 721122 w 730647"/>
              <a:gd name="connsiteY9" fmla="*/ 139364 h 733938"/>
              <a:gd name="connsiteX10" fmla="*/ 727472 w 730647"/>
              <a:gd name="connsiteY10" fmla="*/ 158414 h 733938"/>
              <a:gd name="connsiteX11" fmla="*/ 730647 w 730647"/>
              <a:gd name="connsiteY11" fmla="*/ 167939 h 733938"/>
              <a:gd name="connsiteX12" fmla="*/ 727472 w 730647"/>
              <a:gd name="connsiteY12" fmla="*/ 266364 h 733938"/>
              <a:gd name="connsiteX13" fmla="*/ 724297 w 730647"/>
              <a:gd name="connsiteY13" fmla="*/ 434639 h 733938"/>
              <a:gd name="connsiteX14" fmla="*/ 717947 w 730647"/>
              <a:gd name="connsiteY14" fmla="*/ 482264 h 733938"/>
              <a:gd name="connsiteX15" fmla="*/ 711597 w 730647"/>
              <a:gd name="connsiteY15" fmla="*/ 545764 h 733938"/>
              <a:gd name="connsiteX16" fmla="*/ 708422 w 730647"/>
              <a:gd name="connsiteY16" fmla="*/ 679114 h 733938"/>
              <a:gd name="connsiteX17" fmla="*/ 705247 w 730647"/>
              <a:gd name="connsiteY17" fmla="*/ 707689 h 733938"/>
              <a:gd name="connsiteX18" fmla="*/ 702072 w 730647"/>
              <a:gd name="connsiteY18" fmla="*/ 729914 h 733938"/>
              <a:gd name="connsiteX19" fmla="*/ 644922 w 730647"/>
              <a:gd name="connsiteY19" fmla="*/ 733089 h 733938"/>
              <a:gd name="connsiteX20" fmla="*/ 454422 w 730647"/>
              <a:gd name="connsiteY20" fmla="*/ 726739 h 733938"/>
              <a:gd name="connsiteX21" fmla="*/ 390922 w 730647"/>
              <a:gd name="connsiteY21" fmla="*/ 720389 h 733938"/>
              <a:gd name="connsiteX22" fmla="*/ 222647 w 730647"/>
              <a:gd name="connsiteY22" fmla="*/ 733089 h 733938"/>
              <a:gd name="connsiteX23" fmla="*/ 111522 w 730647"/>
              <a:gd name="connsiteY23" fmla="*/ 720389 h 733938"/>
              <a:gd name="connsiteX24" fmla="*/ 76597 w 730647"/>
              <a:gd name="connsiteY24" fmla="*/ 726739 h 733938"/>
              <a:gd name="connsiteX25" fmla="*/ 9922 w 730647"/>
              <a:gd name="connsiteY25" fmla="*/ 723564 h 733938"/>
              <a:gd name="connsiteX26" fmla="*/ 3572 w 730647"/>
              <a:gd name="connsiteY26" fmla="*/ 714039 h 733938"/>
              <a:gd name="connsiteX27" fmla="*/ 397 w 730647"/>
              <a:gd name="connsiteY27" fmla="*/ 688639 h 733938"/>
              <a:gd name="connsiteX28" fmla="*/ 397 w 730647"/>
              <a:gd name="connsiteY28" fmla="*/ 196514 h 733938"/>
              <a:gd name="connsiteX29" fmla="*/ 3572 w 730647"/>
              <a:gd name="connsiteY29" fmla="*/ 101264 h 733938"/>
              <a:gd name="connsiteX30" fmla="*/ 6747 w 730647"/>
              <a:gd name="connsiteY30" fmla="*/ 6014 h 733938"/>
              <a:gd name="connsiteX0" fmla="*/ 6747 w 730647"/>
              <a:gd name="connsiteY0" fmla="*/ 6014 h 739557"/>
              <a:gd name="connsiteX1" fmla="*/ 48022 w 730647"/>
              <a:gd name="connsiteY1" fmla="*/ 9189 h 739557"/>
              <a:gd name="connsiteX2" fmla="*/ 117872 w 730647"/>
              <a:gd name="connsiteY2" fmla="*/ 2839 h 739557"/>
              <a:gd name="connsiteX3" fmla="*/ 435372 w 730647"/>
              <a:gd name="connsiteY3" fmla="*/ 6014 h 739557"/>
              <a:gd name="connsiteX4" fmla="*/ 476647 w 730647"/>
              <a:gd name="connsiteY4" fmla="*/ 9189 h 739557"/>
              <a:gd name="connsiteX5" fmla="*/ 568722 w 730647"/>
              <a:gd name="connsiteY5" fmla="*/ 12364 h 739557"/>
              <a:gd name="connsiteX6" fmla="*/ 708422 w 730647"/>
              <a:gd name="connsiteY6" fmla="*/ 9189 h 739557"/>
              <a:gd name="connsiteX7" fmla="*/ 724297 w 730647"/>
              <a:gd name="connsiteY7" fmla="*/ 12364 h 739557"/>
              <a:gd name="connsiteX8" fmla="*/ 717947 w 730647"/>
              <a:gd name="connsiteY8" fmla="*/ 63164 h 739557"/>
              <a:gd name="connsiteX9" fmla="*/ 721122 w 730647"/>
              <a:gd name="connsiteY9" fmla="*/ 139364 h 739557"/>
              <a:gd name="connsiteX10" fmla="*/ 727472 w 730647"/>
              <a:gd name="connsiteY10" fmla="*/ 158414 h 739557"/>
              <a:gd name="connsiteX11" fmla="*/ 730647 w 730647"/>
              <a:gd name="connsiteY11" fmla="*/ 167939 h 739557"/>
              <a:gd name="connsiteX12" fmla="*/ 727472 w 730647"/>
              <a:gd name="connsiteY12" fmla="*/ 266364 h 739557"/>
              <a:gd name="connsiteX13" fmla="*/ 724297 w 730647"/>
              <a:gd name="connsiteY13" fmla="*/ 434639 h 739557"/>
              <a:gd name="connsiteX14" fmla="*/ 717947 w 730647"/>
              <a:gd name="connsiteY14" fmla="*/ 482264 h 739557"/>
              <a:gd name="connsiteX15" fmla="*/ 711597 w 730647"/>
              <a:gd name="connsiteY15" fmla="*/ 545764 h 739557"/>
              <a:gd name="connsiteX16" fmla="*/ 708422 w 730647"/>
              <a:gd name="connsiteY16" fmla="*/ 679114 h 739557"/>
              <a:gd name="connsiteX17" fmla="*/ 705247 w 730647"/>
              <a:gd name="connsiteY17" fmla="*/ 707689 h 739557"/>
              <a:gd name="connsiteX18" fmla="*/ 702072 w 730647"/>
              <a:gd name="connsiteY18" fmla="*/ 729914 h 739557"/>
              <a:gd name="connsiteX19" fmla="*/ 644922 w 730647"/>
              <a:gd name="connsiteY19" fmla="*/ 733089 h 739557"/>
              <a:gd name="connsiteX20" fmla="*/ 454422 w 730647"/>
              <a:gd name="connsiteY20" fmla="*/ 726739 h 739557"/>
              <a:gd name="connsiteX21" fmla="*/ 390922 w 730647"/>
              <a:gd name="connsiteY21" fmla="*/ 739439 h 739557"/>
              <a:gd name="connsiteX22" fmla="*/ 222647 w 730647"/>
              <a:gd name="connsiteY22" fmla="*/ 733089 h 739557"/>
              <a:gd name="connsiteX23" fmla="*/ 111522 w 730647"/>
              <a:gd name="connsiteY23" fmla="*/ 720389 h 739557"/>
              <a:gd name="connsiteX24" fmla="*/ 76597 w 730647"/>
              <a:gd name="connsiteY24" fmla="*/ 726739 h 739557"/>
              <a:gd name="connsiteX25" fmla="*/ 9922 w 730647"/>
              <a:gd name="connsiteY25" fmla="*/ 723564 h 739557"/>
              <a:gd name="connsiteX26" fmla="*/ 3572 w 730647"/>
              <a:gd name="connsiteY26" fmla="*/ 714039 h 739557"/>
              <a:gd name="connsiteX27" fmla="*/ 397 w 730647"/>
              <a:gd name="connsiteY27" fmla="*/ 688639 h 739557"/>
              <a:gd name="connsiteX28" fmla="*/ 397 w 730647"/>
              <a:gd name="connsiteY28" fmla="*/ 196514 h 739557"/>
              <a:gd name="connsiteX29" fmla="*/ 3572 w 730647"/>
              <a:gd name="connsiteY29" fmla="*/ 101264 h 739557"/>
              <a:gd name="connsiteX30" fmla="*/ 6747 w 730647"/>
              <a:gd name="connsiteY30" fmla="*/ 6014 h 739557"/>
              <a:gd name="connsiteX0" fmla="*/ 6747 w 730647"/>
              <a:gd name="connsiteY0" fmla="*/ 6014 h 740232"/>
              <a:gd name="connsiteX1" fmla="*/ 48022 w 730647"/>
              <a:gd name="connsiteY1" fmla="*/ 9189 h 740232"/>
              <a:gd name="connsiteX2" fmla="*/ 117872 w 730647"/>
              <a:gd name="connsiteY2" fmla="*/ 2839 h 740232"/>
              <a:gd name="connsiteX3" fmla="*/ 435372 w 730647"/>
              <a:gd name="connsiteY3" fmla="*/ 6014 h 740232"/>
              <a:gd name="connsiteX4" fmla="*/ 476647 w 730647"/>
              <a:gd name="connsiteY4" fmla="*/ 9189 h 740232"/>
              <a:gd name="connsiteX5" fmla="*/ 568722 w 730647"/>
              <a:gd name="connsiteY5" fmla="*/ 12364 h 740232"/>
              <a:gd name="connsiteX6" fmla="*/ 708422 w 730647"/>
              <a:gd name="connsiteY6" fmla="*/ 9189 h 740232"/>
              <a:gd name="connsiteX7" fmla="*/ 724297 w 730647"/>
              <a:gd name="connsiteY7" fmla="*/ 12364 h 740232"/>
              <a:gd name="connsiteX8" fmla="*/ 717947 w 730647"/>
              <a:gd name="connsiteY8" fmla="*/ 63164 h 740232"/>
              <a:gd name="connsiteX9" fmla="*/ 721122 w 730647"/>
              <a:gd name="connsiteY9" fmla="*/ 139364 h 740232"/>
              <a:gd name="connsiteX10" fmla="*/ 727472 w 730647"/>
              <a:gd name="connsiteY10" fmla="*/ 158414 h 740232"/>
              <a:gd name="connsiteX11" fmla="*/ 730647 w 730647"/>
              <a:gd name="connsiteY11" fmla="*/ 167939 h 740232"/>
              <a:gd name="connsiteX12" fmla="*/ 727472 w 730647"/>
              <a:gd name="connsiteY12" fmla="*/ 266364 h 740232"/>
              <a:gd name="connsiteX13" fmla="*/ 724297 w 730647"/>
              <a:gd name="connsiteY13" fmla="*/ 434639 h 740232"/>
              <a:gd name="connsiteX14" fmla="*/ 717947 w 730647"/>
              <a:gd name="connsiteY14" fmla="*/ 482264 h 740232"/>
              <a:gd name="connsiteX15" fmla="*/ 711597 w 730647"/>
              <a:gd name="connsiteY15" fmla="*/ 545764 h 740232"/>
              <a:gd name="connsiteX16" fmla="*/ 708422 w 730647"/>
              <a:gd name="connsiteY16" fmla="*/ 679114 h 740232"/>
              <a:gd name="connsiteX17" fmla="*/ 705247 w 730647"/>
              <a:gd name="connsiteY17" fmla="*/ 707689 h 740232"/>
              <a:gd name="connsiteX18" fmla="*/ 702072 w 730647"/>
              <a:gd name="connsiteY18" fmla="*/ 729914 h 740232"/>
              <a:gd name="connsiteX19" fmla="*/ 644922 w 730647"/>
              <a:gd name="connsiteY19" fmla="*/ 733089 h 740232"/>
              <a:gd name="connsiteX20" fmla="*/ 521097 w 730647"/>
              <a:gd name="connsiteY20" fmla="*/ 739439 h 740232"/>
              <a:gd name="connsiteX21" fmla="*/ 390922 w 730647"/>
              <a:gd name="connsiteY21" fmla="*/ 739439 h 740232"/>
              <a:gd name="connsiteX22" fmla="*/ 222647 w 730647"/>
              <a:gd name="connsiteY22" fmla="*/ 733089 h 740232"/>
              <a:gd name="connsiteX23" fmla="*/ 111522 w 730647"/>
              <a:gd name="connsiteY23" fmla="*/ 720389 h 740232"/>
              <a:gd name="connsiteX24" fmla="*/ 76597 w 730647"/>
              <a:gd name="connsiteY24" fmla="*/ 726739 h 740232"/>
              <a:gd name="connsiteX25" fmla="*/ 9922 w 730647"/>
              <a:gd name="connsiteY25" fmla="*/ 723564 h 740232"/>
              <a:gd name="connsiteX26" fmla="*/ 3572 w 730647"/>
              <a:gd name="connsiteY26" fmla="*/ 714039 h 740232"/>
              <a:gd name="connsiteX27" fmla="*/ 397 w 730647"/>
              <a:gd name="connsiteY27" fmla="*/ 688639 h 740232"/>
              <a:gd name="connsiteX28" fmla="*/ 397 w 730647"/>
              <a:gd name="connsiteY28" fmla="*/ 196514 h 740232"/>
              <a:gd name="connsiteX29" fmla="*/ 3572 w 730647"/>
              <a:gd name="connsiteY29" fmla="*/ 101264 h 740232"/>
              <a:gd name="connsiteX30" fmla="*/ 6747 w 730647"/>
              <a:gd name="connsiteY30" fmla="*/ 6014 h 740232"/>
              <a:gd name="connsiteX0" fmla="*/ 6747 w 727541"/>
              <a:gd name="connsiteY0" fmla="*/ 6014 h 740232"/>
              <a:gd name="connsiteX1" fmla="*/ 48022 w 727541"/>
              <a:gd name="connsiteY1" fmla="*/ 9189 h 740232"/>
              <a:gd name="connsiteX2" fmla="*/ 117872 w 727541"/>
              <a:gd name="connsiteY2" fmla="*/ 2839 h 740232"/>
              <a:gd name="connsiteX3" fmla="*/ 435372 w 727541"/>
              <a:gd name="connsiteY3" fmla="*/ 6014 h 740232"/>
              <a:gd name="connsiteX4" fmla="*/ 476647 w 727541"/>
              <a:gd name="connsiteY4" fmla="*/ 9189 h 740232"/>
              <a:gd name="connsiteX5" fmla="*/ 568722 w 727541"/>
              <a:gd name="connsiteY5" fmla="*/ 12364 h 740232"/>
              <a:gd name="connsiteX6" fmla="*/ 708422 w 727541"/>
              <a:gd name="connsiteY6" fmla="*/ 9189 h 740232"/>
              <a:gd name="connsiteX7" fmla="*/ 724297 w 727541"/>
              <a:gd name="connsiteY7" fmla="*/ 12364 h 740232"/>
              <a:gd name="connsiteX8" fmla="*/ 717947 w 727541"/>
              <a:gd name="connsiteY8" fmla="*/ 63164 h 740232"/>
              <a:gd name="connsiteX9" fmla="*/ 721122 w 727541"/>
              <a:gd name="connsiteY9" fmla="*/ 139364 h 740232"/>
              <a:gd name="connsiteX10" fmla="*/ 727472 w 727541"/>
              <a:gd name="connsiteY10" fmla="*/ 158414 h 740232"/>
              <a:gd name="connsiteX11" fmla="*/ 724297 w 727541"/>
              <a:gd name="connsiteY11" fmla="*/ 202864 h 740232"/>
              <a:gd name="connsiteX12" fmla="*/ 727472 w 727541"/>
              <a:gd name="connsiteY12" fmla="*/ 266364 h 740232"/>
              <a:gd name="connsiteX13" fmla="*/ 724297 w 727541"/>
              <a:gd name="connsiteY13" fmla="*/ 434639 h 740232"/>
              <a:gd name="connsiteX14" fmla="*/ 717947 w 727541"/>
              <a:gd name="connsiteY14" fmla="*/ 482264 h 740232"/>
              <a:gd name="connsiteX15" fmla="*/ 711597 w 727541"/>
              <a:gd name="connsiteY15" fmla="*/ 545764 h 740232"/>
              <a:gd name="connsiteX16" fmla="*/ 708422 w 727541"/>
              <a:gd name="connsiteY16" fmla="*/ 679114 h 740232"/>
              <a:gd name="connsiteX17" fmla="*/ 705247 w 727541"/>
              <a:gd name="connsiteY17" fmla="*/ 707689 h 740232"/>
              <a:gd name="connsiteX18" fmla="*/ 702072 w 727541"/>
              <a:gd name="connsiteY18" fmla="*/ 729914 h 740232"/>
              <a:gd name="connsiteX19" fmla="*/ 644922 w 727541"/>
              <a:gd name="connsiteY19" fmla="*/ 733089 h 740232"/>
              <a:gd name="connsiteX20" fmla="*/ 521097 w 727541"/>
              <a:gd name="connsiteY20" fmla="*/ 739439 h 740232"/>
              <a:gd name="connsiteX21" fmla="*/ 390922 w 727541"/>
              <a:gd name="connsiteY21" fmla="*/ 739439 h 740232"/>
              <a:gd name="connsiteX22" fmla="*/ 222647 w 727541"/>
              <a:gd name="connsiteY22" fmla="*/ 733089 h 740232"/>
              <a:gd name="connsiteX23" fmla="*/ 111522 w 727541"/>
              <a:gd name="connsiteY23" fmla="*/ 720389 h 740232"/>
              <a:gd name="connsiteX24" fmla="*/ 76597 w 727541"/>
              <a:gd name="connsiteY24" fmla="*/ 726739 h 740232"/>
              <a:gd name="connsiteX25" fmla="*/ 9922 w 727541"/>
              <a:gd name="connsiteY25" fmla="*/ 723564 h 740232"/>
              <a:gd name="connsiteX26" fmla="*/ 3572 w 727541"/>
              <a:gd name="connsiteY26" fmla="*/ 714039 h 740232"/>
              <a:gd name="connsiteX27" fmla="*/ 397 w 727541"/>
              <a:gd name="connsiteY27" fmla="*/ 688639 h 740232"/>
              <a:gd name="connsiteX28" fmla="*/ 397 w 727541"/>
              <a:gd name="connsiteY28" fmla="*/ 196514 h 740232"/>
              <a:gd name="connsiteX29" fmla="*/ 3572 w 727541"/>
              <a:gd name="connsiteY29" fmla="*/ 101264 h 740232"/>
              <a:gd name="connsiteX30" fmla="*/ 6747 w 727541"/>
              <a:gd name="connsiteY30" fmla="*/ 6014 h 740232"/>
              <a:gd name="connsiteX0" fmla="*/ 6747 w 727472"/>
              <a:gd name="connsiteY0" fmla="*/ 6014 h 740232"/>
              <a:gd name="connsiteX1" fmla="*/ 48022 w 727472"/>
              <a:gd name="connsiteY1" fmla="*/ 9189 h 740232"/>
              <a:gd name="connsiteX2" fmla="*/ 117872 w 727472"/>
              <a:gd name="connsiteY2" fmla="*/ 2839 h 740232"/>
              <a:gd name="connsiteX3" fmla="*/ 435372 w 727472"/>
              <a:gd name="connsiteY3" fmla="*/ 6014 h 740232"/>
              <a:gd name="connsiteX4" fmla="*/ 476647 w 727472"/>
              <a:gd name="connsiteY4" fmla="*/ 9189 h 740232"/>
              <a:gd name="connsiteX5" fmla="*/ 568722 w 727472"/>
              <a:gd name="connsiteY5" fmla="*/ 12364 h 740232"/>
              <a:gd name="connsiteX6" fmla="*/ 708422 w 727472"/>
              <a:gd name="connsiteY6" fmla="*/ 9189 h 740232"/>
              <a:gd name="connsiteX7" fmla="*/ 724297 w 727472"/>
              <a:gd name="connsiteY7" fmla="*/ 12364 h 740232"/>
              <a:gd name="connsiteX8" fmla="*/ 717947 w 727472"/>
              <a:gd name="connsiteY8" fmla="*/ 63164 h 740232"/>
              <a:gd name="connsiteX9" fmla="*/ 721122 w 727472"/>
              <a:gd name="connsiteY9" fmla="*/ 139364 h 740232"/>
              <a:gd name="connsiteX10" fmla="*/ 724297 w 727472"/>
              <a:gd name="connsiteY10" fmla="*/ 202864 h 740232"/>
              <a:gd name="connsiteX11" fmla="*/ 727472 w 727472"/>
              <a:gd name="connsiteY11" fmla="*/ 266364 h 740232"/>
              <a:gd name="connsiteX12" fmla="*/ 724297 w 727472"/>
              <a:gd name="connsiteY12" fmla="*/ 434639 h 740232"/>
              <a:gd name="connsiteX13" fmla="*/ 717947 w 727472"/>
              <a:gd name="connsiteY13" fmla="*/ 482264 h 740232"/>
              <a:gd name="connsiteX14" fmla="*/ 711597 w 727472"/>
              <a:gd name="connsiteY14" fmla="*/ 545764 h 740232"/>
              <a:gd name="connsiteX15" fmla="*/ 708422 w 727472"/>
              <a:gd name="connsiteY15" fmla="*/ 679114 h 740232"/>
              <a:gd name="connsiteX16" fmla="*/ 705247 w 727472"/>
              <a:gd name="connsiteY16" fmla="*/ 707689 h 740232"/>
              <a:gd name="connsiteX17" fmla="*/ 702072 w 727472"/>
              <a:gd name="connsiteY17" fmla="*/ 729914 h 740232"/>
              <a:gd name="connsiteX18" fmla="*/ 644922 w 727472"/>
              <a:gd name="connsiteY18" fmla="*/ 733089 h 740232"/>
              <a:gd name="connsiteX19" fmla="*/ 521097 w 727472"/>
              <a:gd name="connsiteY19" fmla="*/ 739439 h 740232"/>
              <a:gd name="connsiteX20" fmla="*/ 390922 w 727472"/>
              <a:gd name="connsiteY20" fmla="*/ 739439 h 740232"/>
              <a:gd name="connsiteX21" fmla="*/ 222647 w 727472"/>
              <a:gd name="connsiteY21" fmla="*/ 733089 h 740232"/>
              <a:gd name="connsiteX22" fmla="*/ 111522 w 727472"/>
              <a:gd name="connsiteY22" fmla="*/ 720389 h 740232"/>
              <a:gd name="connsiteX23" fmla="*/ 76597 w 727472"/>
              <a:gd name="connsiteY23" fmla="*/ 726739 h 740232"/>
              <a:gd name="connsiteX24" fmla="*/ 9922 w 727472"/>
              <a:gd name="connsiteY24" fmla="*/ 723564 h 740232"/>
              <a:gd name="connsiteX25" fmla="*/ 3572 w 727472"/>
              <a:gd name="connsiteY25" fmla="*/ 714039 h 740232"/>
              <a:gd name="connsiteX26" fmla="*/ 397 w 727472"/>
              <a:gd name="connsiteY26" fmla="*/ 688639 h 740232"/>
              <a:gd name="connsiteX27" fmla="*/ 397 w 727472"/>
              <a:gd name="connsiteY27" fmla="*/ 196514 h 740232"/>
              <a:gd name="connsiteX28" fmla="*/ 3572 w 727472"/>
              <a:gd name="connsiteY28" fmla="*/ 101264 h 740232"/>
              <a:gd name="connsiteX29" fmla="*/ 6747 w 727472"/>
              <a:gd name="connsiteY29" fmla="*/ 6014 h 740232"/>
              <a:gd name="connsiteX0" fmla="*/ 6747 w 725498"/>
              <a:gd name="connsiteY0" fmla="*/ 6014 h 740232"/>
              <a:gd name="connsiteX1" fmla="*/ 48022 w 725498"/>
              <a:gd name="connsiteY1" fmla="*/ 9189 h 740232"/>
              <a:gd name="connsiteX2" fmla="*/ 117872 w 725498"/>
              <a:gd name="connsiteY2" fmla="*/ 2839 h 740232"/>
              <a:gd name="connsiteX3" fmla="*/ 435372 w 725498"/>
              <a:gd name="connsiteY3" fmla="*/ 6014 h 740232"/>
              <a:gd name="connsiteX4" fmla="*/ 476647 w 725498"/>
              <a:gd name="connsiteY4" fmla="*/ 9189 h 740232"/>
              <a:gd name="connsiteX5" fmla="*/ 568722 w 725498"/>
              <a:gd name="connsiteY5" fmla="*/ 12364 h 740232"/>
              <a:gd name="connsiteX6" fmla="*/ 708422 w 725498"/>
              <a:gd name="connsiteY6" fmla="*/ 9189 h 740232"/>
              <a:gd name="connsiteX7" fmla="*/ 724297 w 725498"/>
              <a:gd name="connsiteY7" fmla="*/ 12364 h 740232"/>
              <a:gd name="connsiteX8" fmla="*/ 717947 w 725498"/>
              <a:gd name="connsiteY8" fmla="*/ 63164 h 740232"/>
              <a:gd name="connsiteX9" fmla="*/ 721122 w 725498"/>
              <a:gd name="connsiteY9" fmla="*/ 139364 h 740232"/>
              <a:gd name="connsiteX10" fmla="*/ 724297 w 725498"/>
              <a:gd name="connsiteY10" fmla="*/ 202864 h 740232"/>
              <a:gd name="connsiteX11" fmla="*/ 717947 w 725498"/>
              <a:gd name="connsiteY11" fmla="*/ 323514 h 740232"/>
              <a:gd name="connsiteX12" fmla="*/ 724297 w 725498"/>
              <a:gd name="connsiteY12" fmla="*/ 434639 h 740232"/>
              <a:gd name="connsiteX13" fmla="*/ 717947 w 725498"/>
              <a:gd name="connsiteY13" fmla="*/ 482264 h 740232"/>
              <a:gd name="connsiteX14" fmla="*/ 711597 w 725498"/>
              <a:gd name="connsiteY14" fmla="*/ 545764 h 740232"/>
              <a:gd name="connsiteX15" fmla="*/ 708422 w 725498"/>
              <a:gd name="connsiteY15" fmla="*/ 679114 h 740232"/>
              <a:gd name="connsiteX16" fmla="*/ 705247 w 725498"/>
              <a:gd name="connsiteY16" fmla="*/ 707689 h 740232"/>
              <a:gd name="connsiteX17" fmla="*/ 702072 w 725498"/>
              <a:gd name="connsiteY17" fmla="*/ 729914 h 740232"/>
              <a:gd name="connsiteX18" fmla="*/ 644922 w 725498"/>
              <a:gd name="connsiteY18" fmla="*/ 733089 h 740232"/>
              <a:gd name="connsiteX19" fmla="*/ 521097 w 725498"/>
              <a:gd name="connsiteY19" fmla="*/ 739439 h 740232"/>
              <a:gd name="connsiteX20" fmla="*/ 390922 w 725498"/>
              <a:gd name="connsiteY20" fmla="*/ 739439 h 740232"/>
              <a:gd name="connsiteX21" fmla="*/ 222647 w 725498"/>
              <a:gd name="connsiteY21" fmla="*/ 733089 h 740232"/>
              <a:gd name="connsiteX22" fmla="*/ 111522 w 725498"/>
              <a:gd name="connsiteY22" fmla="*/ 720389 h 740232"/>
              <a:gd name="connsiteX23" fmla="*/ 76597 w 725498"/>
              <a:gd name="connsiteY23" fmla="*/ 726739 h 740232"/>
              <a:gd name="connsiteX24" fmla="*/ 9922 w 725498"/>
              <a:gd name="connsiteY24" fmla="*/ 723564 h 740232"/>
              <a:gd name="connsiteX25" fmla="*/ 3572 w 725498"/>
              <a:gd name="connsiteY25" fmla="*/ 714039 h 740232"/>
              <a:gd name="connsiteX26" fmla="*/ 397 w 725498"/>
              <a:gd name="connsiteY26" fmla="*/ 688639 h 740232"/>
              <a:gd name="connsiteX27" fmla="*/ 397 w 725498"/>
              <a:gd name="connsiteY27" fmla="*/ 196514 h 740232"/>
              <a:gd name="connsiteX28" fmla="*/ 3572 w 725498"/>
              <a:gd name="connsiteY28" fmla="*/ 101264 h 740232"/>
              <a:gd name="connsiteX29" fmla="*/ 6747 w 725498"/>
              <a:gd name="connsiteY29" fmla="*/ 6014 h 740232"/>
              <a:gd name="connsiteX0" fmla="*/ 6747 w 725498"/>
              <a:gd name="connsiteY0" fmla="*/ 6014 h 740232"/>
              <a:gd name="connsiteX1" fmla="*/ 48022 w 725498"/>
              <a:gd name="connsiteY1" fmla="*/ 9189 h 740232"/>
              <a:gd name="connsiteX2" fmla="*/ 117872 w 725498"/>
              <a:gd name="connsiteY2" fmla="*/ 2839 h 740232"/>
              <a:gd name="connsiteX3" fmla="*/ 435372 w 725498"/>
              <a:gd name="connsiteY3" fmla="*/ 6014 h 740232"/>
              <a:gd name="connsiteX4" fmla="*/ 476647 w 725498"/>
              <a:gd name="connsiteY4" fmla="*/ 9189 h 740232"/>
              <a:gd name="connsiteX5" fmla="*/ 568722 w 725498"/>
              <a:gd name="connsiteY5" fmla="*/ 12364 h 740232"/>
              <a:gd name="connsiteX6" fmla="*/ 708422 w 725498"/>
              <a:gd name="connsiteY6" fmla="*/ 9189 h 740232"/>
              <a:gd name="connsiteX7" fmla="*/ 724297 w 725498"/>
              <a:gd name="connsiteY7" fmla="*/ 12364 h 740232"/>
              <a:gd name="connsiteX8" fmla="*/ 717947 w 725498"/>
              <a:gd name="connsiteY8" fmla="*/ 63164 h 740232"/>
              <a:gd name="connsiteX9" fmla="*/ 721122 w 725498"/>
              <a:gd name="connsiteY9" fmla="*/ 139364 h 740232"/>
              <a:gd name="connsiteX10" fmla="*/ 724297 w 725498"/>
              <a:gd name="connsiteY10" fmla="*/ 202864 h 740232"/>
              <a:gd name="connsiteX11" fmla="*/ 717947 w 725498"/>
              <a:gd name="connsiteY11" fmla="*/ 323514 h 740232"/>
              <a:gd name="connsiteX12" fmla="*/ 711597 w 725498"/>
              <a:gd name="connsiteY12" fmla="*/ 437814 h 740232"/>
              <a:gd name="connsiteX13" fmla="*/ 717947 w 725498"/>
              <a:gd name="connsiteY13" fmla="*/ 482264 h 740232"/>
              <a:gd name="connsiteX14" fmla="*/ 711597 w 725498"/>
              <a:gd name="connsiteY14" fmla="*/ 545764 h 740232"/>
              <a:gd name="connsiteX15" fmla="*/ 708422 w 725498"/>
              <a:gd name="connsiteY15" fmla="*/ 679114 h 740232"/>
              <a:gd name="connsiteX16" fmla="*/ 705247 w 725498"/>
              <a:gd name="connsiteY16" fmla="*/ 707689 h 740232"/>
              <a:gd name="connsiteX17" fmla="*/ 702072 w 725498"/>
              <a:gd name="connsiteY17" fmla="*/ 729914 h 740232"/>
              <a:gd name="connsiteX18" fmla="*/ 644922 w 725498"/>
              <a:gd name="connsiteY18" fmla="*/ 733089 h 740232"/>
              <a:gd name="connsiteX19" fmla="*/ 521097 w 725498"/>
              <a:gd name="connsiteY19" fmla="*/ 739439 h 740232"/>
              <a:gd name="connsiteX20" fmla="*/ 390922 w 725498"/>
              <a:gd name="connsiteY20" fmla="*/ 739439 h 740232"/>
              <a:gd name="connsiteX21" fmla="*/ 222647 w 725498"/>
              <a:gd name="connsiteY21" fmla="*/ 733089 h 740232"/>
              <a:gd name="connsiteX22" fmla="*/ 111522 w 725498"/>
              <a:gd name="connsiteY22" fmla="*/ 720389 h 740232"/>
              <a:gd name="connsiteX23" fmla="*/ 76597 w 725498"/>
              <a:gd name="connsiteY23" fmla="*/ 726739 h 740232"/>
              <a:gd name="connsiteX24" fmla="*/ 9922 w 725498"/>
              <a:gd name="connsiteY24" fmla="*/ 723564 h 740232"/>
              <a:gd name="connsiteX25" fmla="*/ 3572 w 725498"/>
              <a:gd name="connsiteY25" fmla="*/ 714039 h 740232"/>
              <a:gd name="connsiteX26" fmla="*/ 397 w 725498"/>
              <a:gd name="connsiteY26" fmla="*/ 688639 h 740232"/>
              <a:gd name="connsiteX27" fmla="*/ 397 w 725498"/>
              <a:gd name="connsiteY27" fmla="*/ 196514 h 740232"/>
              <a:gd name="connsiteX28" fmla="*/ 3572 w 725498"/>
              <a:gd name="connsiteY28" fmla="*/ 101264 h 740232"/>
              <a:gd name="connsiteX29" fmla="*/ 6747 w 725498"/>
              <a:gd name="connsiteY29" fmla="*/ 6014 h 740232"/>
              <a:gd name="connsiteX0" fmla="*/ 6747 w 724366"/>
              <a:gd name="connsiteY0" fmla="*/ 6014 h 740232"/>
              <a:gd name="connsiteX1" fmla="*/ 48022 w 724366"/>
              <a:gd name="connsiteY1" fmla="*/ 9189 h 740232"/>
              <a:gd name="connsiteX2" fmla="*/ 117872 w 724366"/>
              <a:gd name="connsiteY2" fmla="*/ 2839 h 740232"/>
              <a:gd name="connsiteX3" fmla="*/ 435372 w 724366"/>
              <a:gd name="connsiteY3" fmla="*/ 6014 h 740232"/>
              <a:gd name="connsiteX4" fmla="*/ 476647 w 724366"/>
              <a:gd name="connsiteY4" fmla="*/ 9189 h 740232"/>
              <a:gd name="connsiteX5" fmla="*/ 568722 w 724366"/>
              <a:gd name="connsiteY5" fmla="*/ 12364 h 740232"/>
              <a:gd name="connsiteX6" fmla="*/ 708422 w 724366"/>
              <a:gd name="connsiteY6" fmla="*/ 9189 h 740232"/>
              <a:gd name="connsiteX7" fmla="*/ 714772 w 724366"/>
              <a:gd name="connsiteY7" fmla="*/ 15539 h 740232"/>
              <a:gd name="connsiteX8" fmla="*/ 717947 w 724366"/>
              <a:gd name="connsiteY8" fmla="*/ 63164 h 740232"/>
              <a:gd name="connsiteX9" fmla="*/ 721122 w 724366"/>
              <a:gd name="connsiteY9" fmla="*/ 139364 h 740232"/>
              <a:gd name="connsiteX10" fmla="*/ 724297 w 724366"/>
              <a:gd name="connsiteY10" fmla="*/ 202864 h 740232"/>
              <a:gd name="connsiteX11" fmla="*/ 717947 w 724366"/>
              <a:gd name="connsiteY11" fmla="*/ 323514 h 740232"/>
              <a:gd name="connsiteX12" fmla="*/ 711597 w 724366"/>
              <a:gd name="connsiteY12" fmla="*/ 437814 h 740232"/>
              <a:gd name="connsiteX13" fmla="*/ 717947 w 724366"/>
              <a:gd name="connsiteY13" fmla="*/ 482264 h 740232"/>
              <a:gd name="connsiteX14" fmla="*/ 711597 w 724366"/>
              <a:gd name="connsiteY14" fmla="*/ 545764 h 740232"/>
              <a:gd name="connsiteX15" fmla="*/ 708422 w 724366"/>
              <a:gd name="connsiteY15" fmla="*/ 679114 h 740232"/>
              <a:gd name="connsiteX16" fmla="*/ 705247 w 724366"/>
              <a:gd name="connsiteY16" fmla="*/ 707689 h 740232"/>
              <a:gd name="connsiteX17" fmla="*/ 702072 w 724366"/>
              <a:gd name="connsiteY17" fmla="*/ 729914 h 740232"/>
              <a:gd name="connsiteX18" fmla="*/ 644922 w 724366"/>
              <a:gd name="connsiteY18" fmla="*/ 733089 h 740232"/>
              <a:gd name="connsiteX19" fmla="*/ 521097 w 724366"/>
              <a:gd name="connsiteY19" fmla="*/ 739439 h 740232"/>
              <a:gd name="connsiteX20" fmla="*/ 390922 w 724366"/>
              <a:gd name="connsiteY20" fmla="*/ 739439 h 740232"/>
              <a:gd name="connsiteX21" fmla="*/ 222647 w 724366"/>
              <a:gd name="connsiteY21" fmla="*/ 733089 h 740232"/>
              <a:gd name="connsiteX22" fmla="*/ 111522 w 724366"/>
              <a:gd name="connsiteY22" fmla="*/ 720389 h 740232"/>
              <a:gd name="connsiteX23" fmla="*/ 76597 w 724366"/>
              <a:gd name="connsiteY23" fmla="*/ 726739 h 740232"/>
              <a:gd name="connsiteX24" fmla="*/ 9922 w 724366"/>
              <a:gd name="connsiteY24" fmla="*/ 723564 h 740232"/>
              <a:gd name="connsiteX25" fmla="*/ 3572 w 724366"/>
              <a:gd name="connsiteY25" fmla="*/ 714039 h 740232"/>
              <a:gd name="connsiteX26" fmla="*/ 397 w 724366"/>
              <a:gd name="connsiteY26" fmla="*/ 688639 h 740232"/>
              <a:gd name="connsiteX27" fmla="*/ 397 w 724366"/>
              <a:gd name="connsiteY27" fmla="*/ 196514 h 740232"/>
              <a:gd name="connsiteX28" fmla="*/ 3572 w 724366"/>
              <a:gd name="connsiteY28" fmla="*/ 101264 h 740232"/>
              <a:gd name="connsiteX29" fmla="*/ 6747 w 724366"/>
              <a:gd name="connsiteY29" fmla="*/ 6014 h 740232"/>
              <a:gd name="connsiteX0" fmla="*/ 6747 w 724366"/>
              <a:gd name="connsiteY0" fmla="*/ 6014 h 740232"/>
              <a:gd name="connsiteX1" fmla="*/ 48022 w 724366"/>
              <a:gd name="connsiteY1" fmla="*/ 9189 h 740232"/>
              <a:gd name="connsiteX2" fmla="*/ 117872 w 724366"/>
              <a:gd name="connsiteY2" fmla="*/ 2839 h 740232"/>
              <a:gd name="connsiteX3" fmla="*/ 435372 w 724366"/>
              <a:gd name="connsiteY3" fmla="*/ 6014 h 740232"/>
              <a:gd name="connsiteX4" fmla="*/ 476647 w 724366"/>
              <a:gd name="connsiteY4" fmla="*/ 9189 h 740232"/>
              <a:gd name="connsiteX5" fmla="*/ 568722 w 724366"/>
              <a:gd name="connsiteY5" fmla="*/ 12364 h 740232"/>
              <a:gd name="connsiteX6" fmla="*/ 708422 w 724366"/>
              <a:gd name="connsiteY6" fmla="*/ 9189 h 740232"/>
              <a:gd name="connsiteX7" fmla="*/ 714772 w 724366"/>
              <a:gd name="connsiteY7" fmla="*/ 15539 h 740232"/>
              <a:gd name="connsiteX8" fmla="*/ 717947 w 724366"/>
              <a:gd name="connsiteY8" fmla="*/ 63164 h 740232"/>
              <a:gd name="connsiteX9" fmla="*/ 721122 w 724366"/>
              <a:gd name="connsiteY9" fmla="*/ 139364 h 740232"/>
              <a:gd name="connsiteX10" fmla="*/ 724297 w 724366"/>
              <a:gd name="connsiteY10" fmla="*/ 202864 h 740232"/>
              <a:gd name="connsiteX11" fmla="*/ 717947 w 724366"/>
              <a:gd name="connsiteY11" fmla="*/ 323514 h 740232"/>
              <a:gd name="connsiteX12" fmla="*/ 711597 w 724366"/>
              <a:gd name="connsiteY12" fmla="*/ 437814 h 740232"/>
              <a:gd name="connsiteX13" fmla="*/ 717947 w 724366"/>
              <a:gd name="connsiteY13" fmla="*/ 482264 h 740232"/>
              <a:gd name="connsiteX14" fmla="*/ 711597 w 724366"/>
              <a:gd name="connsiteY14" fmla="*/ 545764 h 740232"/>
              <a:gd name="connsiteX15" fmla="*/ 708422 w 724366"/>
              <a:gd name="connsiteY15" fmla="*/ 679114 h 740232"/>
              <a:gd name="connsiteX16" fmla="*/ 705247 w 724366"/>
              <a:gd name="connsiteY16" fmla="*/ 707689 h 740232"/>
              <a:gd name="connsiteX17" fmla="*/ 702072 w 724366"/>
              <a:gd name="connsiteY17" fmla="*/ 729914 h 740232"/>
              <a:gd name="connsiteX18" fmla="*/ 644922 w 724366"/>
              <a:gd name="connsiteY18" fmla="*/ 733089 h 740232"/>
              <a:gd name="connsiteX19" fmla="*/ 521097 w 724366"/>
              <a:gd name="connsiteY19" fmla="*/ 739439 h 740232"/>
              <a:gd name="connsiteX20" fmla="*/ 390922 w 724366"/>
              <a:gd name="connsiteY20" fmla="*/ 739439 h 740232"/>
              <a:gd name="connsiteX21" fmla="*/ 222647 w 724366"/>
              <a:gd name="connsiteY21" fmla="*/ 733089 h 740232"/>
              <a:gd name="connsiteX22" fmla="*/ 76597 w 724366"/>
              <a:gd name="connsiteY22" fmla="*/ 726739 h 740232"/>
              <a:gd name="connsiteX23" fmla="*/ 9922 w 724366"/>
              <a:gd name="connsiteY23" fmla="*/ 723564 h 740232"/>
              <a:gd name="connsiteX24" fmla="*/ 3572 w 724366"/>
              <a:gd name="connsiteY24" fmla="*/ 714039 h 740232"/>
              <a:gd name="connsiteX25" fmla="*/ 397 w 724366"/>
              <a:gd name="connsiteY25" fmla="*/ 688639 h 740232"/>
              <a:gd name="connsiteX26" fmla="*/ 397 w 724366"/>
              <a:gd name="connsiteY26" fmla="*/ 196514 h 740232"/>
              <a:gd name="connsiteX27" fmla="*/ 3572 w 724366"/>
              <a:gd name="connsiteY27" fmla="*/ 101264 h 740232"/>
              <a:gd name="connsiteX28" fmla="*/ 6747 w 724366"/>
              <a:gd name="connsiteY28" fmla="*/ 6014 h 740232"/>
              <a:gd name="connsiteX0" fmla="*/ 7188 w 724807"/>
              <a:gd name="connsiteY0" fmla="*/ 6014 h 740232"/>
              <a:gd name="connsiteX1" fmla="*/ 48463 w 724807"/>
              <a:gd name="connsiteY1" fmla="*/ 9189 h 740232"/>
              <a:gd name="connsiteX2" fmla="*/ 118313 w 724807"/>
              <a:gd name="connsiteY2" fmla="*/ 2839 h 740232"/>
              <a:gd name="connsiteX3" fmla="*/ 435813 w 724807"/>
              <a:gd name="connsiteY3" fmla="*/ 6014 h 740232"/>
              <a:gd name="connsiteX4" fmla="*/ 477088 w 724807"/>
              <a:gd name="connsiteY4" fmla="*/ 9189 h 740232"/>
              <a:gd name="connsiteX5" fmla="*/ 569163 w 724807"/>
              <a:gd name="connsiteY5" fmla="*/ 12364 h 740232"/>
              <a:gd name="connsiteX6" fmla="*/ 708863 w 724807"/>
              <a:gd name="connsiteY6" fmla="*/ 9189 h 740232"/>
              <a:gd name="connsiteX7" fmla="*/ 715213 w 724807"/>
              <a:gd name="connsiteY7" fmla="*/ 15539 h 740232"/>
              <a:gd name="connsiteX8" fmla="*/ 718388 w 724807"/>
              <a:gd name="connsiteY8" fmla="*/ 63164 h 740232"/>
              <a:gd name="connsiteX9" fmla="*/ 721563 w 724807"/>
              <a:gd name="connsiteY9" fmla="*/ 139364 h 740232"/>
              <a:gd name="connsiteX10" fmla="*/ 724738 w 724807"/>
              <a:gd name="connsiteY10" fmla="*/ 202864 h 740232"/>
              <a:gd name="connsiteX11" fmla="*/ 718388 w 724807"/>
              <a:gd name="connsiteY11" fmla="*/ 323514 h 740232"/>
              <a:gd name="connsiteX12" fmla="*/ 712038 w 724807"/>
              <a:gd name="connsiteY12" fmla="*/ 437814 h 740232"/>
              <a:gd name="connsiteX13" fmla="*/ 718388 w 724807"/>
              <a:gd name="connsiteY13" fmla="*/ 482264 h 740232"/>
              <a:gd name="connsiteX14" fmla="*/ 712038 w 724807"/>
              <a:gd name="connsiteY14" fmla="*/ 545764 h 740232"/>
              <a:gd name="connsiteX15" fmla="*/ 708863 w 724807"/>
              <a:gd name="connsiteY15" fmla="*/ 679114 h 740232"/>
              <a:gd name="connsiteX16" fmla="*/ 705688 w 724807"/>
              <a:gd name="connsiteY16" fmla="*/ 707689 h 740232"/>
              <a:gd name="connsiteX17" fmla="*/ 702513 w 724807"/>
              <a:gd name="connsiteY17" fmla="*/ 729914 h 740232"/>
              <a:gd name="connsiteX18" fmla="*/ 645363 w 724807"/>
              <a:gd name="connsiteY18" fmla="*/ 733089 h 740232"/>
              <a:gd name="connsiteX19" fmla="*/ 521538 w 724807"/>
              <a:gd name="connsiteY19" fmla="*/ 739439 h 740232"/>
              <a:gd name="connsiteX20" fmla="*/ 391363 w 724807"/>
              <a:gd name="connsiteY20" fmla="*/ 739439 h 740232"/>
              <a:gd name="connsiteX21" fmla="*/ 223088 w 724807"/>
              <a:gd name="connsiteY21" fmla="*/ 733089 h 740232"/>
              <a:gd name="connsiteX22" fmla="*/ 77038 w 724807"/>
              <a:gd name="connsiteY22" fmla="*/ 726739 h 740232"/>
              <a:gd name="connsiteX23" fmla="*/ 10363 w 724807"/>
              <a:gd name="connsiteY23" fmla="*/ 723564 h 740232"/>
              <a:gd name="connsiteX24" fmla="*/ 838 w 724807"/>
              <a:gd name="connsiteY24" fmla="*/ 688639 h 740232"/>
              <a:gd name="connsiteX25" fmla="*/ 838 w 724807"/>
              <a:gd name="connsiteY25" fmla="*/ 196514 h 740232"/>
              <a:gd name="connsiteX26" fmla="*/ 4013 w 724807"/>
              <a:gd name="connsiteY26" fmla="*/ 101264 h 740232"/>
              <a:gd name="connsiteX27" fmla="*/ 7188 w 724807"/>
              <a:gd name="connsiteY27" fmla="*/ 6014 h 740232"/>
              <a:gd name="connsiteX0" fmla="*/ 7188 w 724807"/>
              <a:gd name="connsiteY0" fmla="*/ 6014 h 740232"/>
              <a:gd name="connsiteX1" fmla="*/ 48463 w 724807"/>
              <a:gd name="connsiteY1" fmla="*/ 9189 h 740232"/>
              <a:gd name="connsiteX2" fmla="*/ 118313 w 724807"/>
              <a:gd name="connsiteY2" fmla="*/ 2839 h 740232"/>
              <a:gd name="connsiteX3" fmla="*/ 435813 w 724807"/>
              <a:gd name="connsiteY3" fmla="*/ 6014 h 740232"/>
              <a:gd name="connsiteX4" fmla="*/ 477088 w 724807"/>
              <a:gd name="connsiteY4" fmla="*/ 9189 h 740232"/>
              <a:gd name="connsiteX5" fmla="*/ 569163 w 724807"/>
              <a:gd name="connsiteY5" fmla="*/ 12364 h 740232"/>
              <a:gd name="connsiteX6" fmla="*/ 708863 w 724807"/>
              <a:gd name="connsiteY6" fmla="*/ 9189 h 740232"/>
              <a:gd name="connsiteX7" fmla="*/ 715213 w 724807"/>
              <a:gd name="connsiteY7" fmla="*/ 15539 h 740232"/>
              <a:gd name="connsiteX8" fmla="*/ 718388 w 724807"/>
              <a:gd name="connsiteY8" fmla="*/ 63164 h 740232"/>
              <a:gd name="connsiteX9" fmla="*/ 721563 w 724807"/>
              <a:gd name="connsiteY9" fmla="*/ 139364 h 740232"/>
              <a:gd name="connsiteX10" fmla="*/ 724738 w 724807"/>
              <a:gd name="connsiteY10" fmla="*/ 202864 h 740232"/>
              <a:gd name="connsiteX11" fmla="*/ 718388 w 724807"/>
              <a:gd name="connsiteY11" fmla="*/ 323514 h 740232"/>
              <a:gd name="connsiteX12" fmla="*/ 712038 w 724807"/>
              <a:gd name="connsiteY12" fmla="*/ 437814 h 740232"/>
              <a:gd name="connsiteX13" fmla="*/ 718388 w 724807"/>
              <a:gd name="connsiteY13" fmla="*/ 482264 h 740232"/>
              <a:gd name="connsiteX14" fmla="*/ 712038 w 724807"/>
              <a:gd name="connsiteY14" fmla="*/ 545764 h 740232"/>
              <a:gd name="connsiteX15" fmla="*/ 708863 w 724807"/>
              <a:gd name="connsiteY15" fmla="*/ 679114 h 740232"/>
              <a:gd name="connsiteX16" fmla="*/ 705688 w 724807"/>
              <a:gd name="connsiteY16" fmla="*/ 707689 h 740232"/>
              <a:gd name="connsiteX17" fmla="*/ 702513 w 724807"/>
              <a:gd name="connsiteY17" fmla="*/ 729914 h 740232"/>
              <a:gd name="connsiteX18" fmla="*/ 645363 w 724807"/>
              <a:gd name="connsiteY18" fmla="*/ 733089 h 740232"/>
              <a:gd name="connsiteX19" fmla="*/ 521538 w 724807"/>
              <a:gd name="connsiteY19" fmla="*/ 739439 h 740232"/>
              <a:gd name="connsiteX20" fmla="*/ 391363 w 724807"/>
              <a:gd name="connsiteY20" fmla="*/ 739439 h 740232"/>
              <a:gd name="connsiteX21" fmla="*/ 223088 w 724807"/>
              <a:gd name="connsiteY21" fmla="*/ 733089 h 740232"/>
              <a:gd name="connsiteX22" fmla="*/ 77038 w 724807"/>
              <a:gd name="connsiteY22" fmla="*/ 726739 h 740232"/>
              <a:gd name="connsiteX23" fmla="*/ 10363 w 724807"/>
              <a:gd name="connsiteY23" fmla="*/ 723564 h 740232"/>
              <a:gd name="connsiteX24" fmla="*/ 838 w 724807"/>
              <a:gd name="connsiteY24" fmla="*/ 644189 h 740232"/>
              <a:gd name="connsiteX25" fmla="*/ 838 w 724807"/>
              <a:gd name="connsiteY25" fmla="*/ 196514 h 740232"/>
              <a:gd name="connsiteX26" fmla="*/ 4013 w 724807"/>
              <a:gd name="connsiteY26" fmla="*/ 101264 h 740232"/>
              <a:gd name="connsiteX27" fmla="*/ 7188 w 724807"/>
              <a:gd name="connsiteY27" fmla="*/ 6014 h 740232"/>
              <a:gd name="connsiteX0" fmla="*/ 7188 w 724807"/>
              <a:gd name="connsiteY0" fmla="*/ 6014 h 740232"/>
              <a:gd name="connsiteX1" fmla="*/ 48463 w 724807"/>
              <a:gd name="connsiteY1" fmla="*/ 9189 h 740232"/>
              <a:gd name="connsiteX2" fmla="*/ 118313 w 724807"/>
              <a:gd name="connsiteY2" fmla="*/ 2839 h 740232"/>
              <a:gd name="connsiteX3" fmla="*/ 435813 w 724807"/>
              <a:gd name="connsiteY3" fmla="*/ 6014 h 740232"/>
              <a:gd name="connsiteX4" fmla="*/ 477088 w 724807"/>
              <a:gd name="connsiteY4" fmla="*/ 9189 h 740232"/>
              <a:gd name="connsiteX5" fmla="*/ 569163 w 724807"/>
              <a:gd name="connsiteY5" fmla="*/ 12364 h 740232"/>
              <a:gd name="connsiteX6" fmla="*/ 708863 w 724807"/>
              <a:gd name="connsiteY6" fmla="*/ 9189 h 740232"/>
              <a:gd name="connsiteX7" fmla="*/ 715213 w 724807"/>
              <a:gd name="connsiteY7" fmla="*/ 15539 h 740232"/>
              <a:gd name="connsiteX8" fmla="*/ 718388 w 724807"/>
              <a:gd name="connsiteY8" fmla="*/ 63164 h 740232"/>
              <a:gd name="connsiteX9" fmla="*/ 721563 w 724807"/>
              <a:gd name="connsiteY9" fmla="*/ 139364 h 740232"/>
              <a:gd name="connsiteX10" fmla="*/ 724738 w 724807"/>
              <a:gd name="connsiteY10" fmla="*/ 202864 h 740232"/>
              <a:gd name="connsiteX11" fmla="*/ 718388 w 724807"/>
              <a:gd name="connsiteY11" fmla="*/ 323514 h 740232"/>
              <a:gd name="connsiteX12" fmla="*/ 712038 w 724807"/>
              <a:gd name="connsiteY12" fmla="*/ 437814 h 740232"/>
              <a:gd name="connsiteX13" fmla="*/ 718388 w 724807"/>
              <a:gd name="connsiteY13" fmla="*/ 482264 h 740232"/>
              <a:gd name="connsiteX14" fmla="*/ 712038 w 724807"/>
              <a:gd name="connsiteY14" fmla="*/ 545764 h 740232"/>
              <a:gd name="connsiteX15" fmla="*/ 708863 w 724807"/>
              <a:gd name="connsiteY15" fmla="*/ 679114 h 740232"/>
              <a:gd name="connsiteX16" fmla="*/ 705688 w 724807"/>
              <a:gd name="connsiteY16" fmla="*/ 707689 h 740232"/>
              <a:gd name="connsiteX17" fmla="*/ 702513 w 724807"/>
              <a:gd name="connsiteY17" fmla="*/ 729914 h 740232"/>
              <a:gd name="connsiteX18" fmla="*/ 645363 w 724807"/>
              <a:gd name="connsiteY18" fmla="*/ 733089 h 740232"/>
              <a:gd name="connsiteX19" fmla="*/ 521538 w 724807"/>
              <a:gd name="connsiteY19" fmla="*/ 739439 h 740232"/>
              <a:gd name="connsiteX20" fmla="*/ 391363 w 724807"/>
              <a:gd name="connsiteY20" fmla="*/ 739439 h 740232"/>
              <a:gd name="connsiteX21" fmla="*/ 223088 w 724807"/>
              <a:gd name="connsiteY21" fmla="*/ 733089 h 740232"/>
              <a:gd name="connsiteX22" fmla="*/ 96088 w 724807"/>
              <a:gd name="connsiteY22" fmla="*/ 733089 h 740232"/>
              <a:gd name="connsiteX23" fmla="*/ 10363 w 724807"/>
              <a:gd name="connsiteY23" fmla="*/ 723564 h 740232"/>
              <a:gd name="connsiteX24" fmla="*/ 838 w 724807"/>
              <a:gd name="connsiteY24" fmla="*/ 644189 h 740232"/>
              <a:gd name="connsiteX25" fmla="*/ 838 w 724807"/>
              <a:gd name="connsiteY25" fmla="*/ 196514 h 740232"/>
              <a:gd name="connsiteX26" fmla="*/ 4013 w 724807"/>
              <a:gd name="connsiteY26" fmla="*/ 101264 h 740232"/>
              <a:gd name="connsiteX27" fmla="*/ 7188 w 724807"/>
              <a:gd name="connsiteY27" fmla="*/ 6014 h 740232"/>
              <a:gd name="connsiteX0" fmla="*/ 7343 w 724962"/>
              <a:gd name="connsiteY0" fmla="*/ 6014 h 740232"/>
              <a:gd name="connsiteX1" fmla="*/ 48618 w 724962"/>
              <a:gd name="connsiteY1" fmla="*/ 9189 h 740232"/>
              <a:gd name="connsiteX2" fmla="*/ 118468 w 724962"/>
              <a:gd name="connsiteY2" fmla="*/ 2839 h 740232"/>
              <a:gd name="connsiteX3" fmla="*/ 435968 w 724962"/>
              <a:gd name="connsiteY3" fmla="*/ 6014 h 740232"/>
              <a:gd name="connsiteX4" fmla="*/ 477243 w 724962"/>
              <a:gd name="connsiteY4" fmla="*/ 9189 h 740232"/>
              <a:gd name="connsiteX5" fmla="*/ 569318 w 724962"/>
              <a:gd name="connsiteY5" fmla="*/ 12364 h 740232"/>
              <a:gd name="connsiteX6" fmla="*/ 709018 w 724962"/>
              <a:gd name="connsiteY6" fmla="*/ 9189 h 740232"/>
              <a:gd name="connsiteX7" fmla="*/ 715368 w 724962"/>
              <a:gd name="connsiteY7" fmla="*/ 15539 h 740232"/>
              <a:gd name="connsiteX8" fmla="*/ 718543 w 724962"/>
              <a:gd name="connsiteY8" fmla="*/ 63164 h 740232"/>
              <a:gd name="connsiteX9" fmla="*/ 721718 w 724962"/>
              <a:gd name="connsiteY9" fmla="*/ 139364 h 740232"/>
              <a:gd name="connsiteX10" fmla="*/ 724893 w 724962"/>
              <a:gd name="connsiteY10" fmla="*/ 202864 h 740232"/>
              <a:gd name="connsiteX11" fmla="*/ 718543 w 724962"/>
              <a:gd name="connsiteY11" fmla="*/ 323514 h 740232"/>
              <a:gd name="connsiteX12" fmla="*/ 712193 w 724962"/>
              <a:gd name="connsiteY12" fmla="*/ 437814 h 740232"/>
              <a:gd name="connsiteX13" fmla="*/ 718543 w 724962"/>
              <a:gd name="connsiteY13" fmla="*/ 482264 h 740232"/>
              <a:gd name="connsiteX14" fmla="*/ 712193 w 724962"/>
              <a:gd name="connsiteY14" fmla="*/ 545764 h 740232"/>
              <a:gd name="connsiteX15" fmla="*/ 709018 w 724962"/>
              <a:gd name="connsiteY15" fmla="*/ 679114 h 740232"/>
              <a:gd name="connsiteX16" fmla="*/ 705843 w 724962"/>
              <a:gd name="connsiteY16" fmla="*/ 707689 h 740232"/>
              <a:gd name="connsiteX17" fmla="*/ 702668 w 724962"/>
              <a:gd name="connsiteY17" fmla="*/ 729914 h 740232"/>
              <a:gd name="connsiteX18" fmla="*/ 645518 w 724962"/>
              <a:gd name="connsiteY18" fmla="*/ 733089 h 740232"/>
              <a:gd name="connsiteX19" fmla="*/ 521693 w 724962"/>
              <a:gd name="connsiteY19" fmla="*/ 739439 h 740232"/>
              <a:gd name="connsiteX20" fmla="*/ 391518 w 724962"/>
              <a:gd name="connsiteY20" fmla="*/ 739439 h 740232"/>
              <a:gd name="connsiteX21" fmla="*/ 223243 w 724962"/>
              <a:gd name="connsiteY21" fmla="*/ 733089 h 740232"/>
              <a:gd name="connsiteX22" fmla="*/ 102593 w 724962"/>
              <a:gd name="connsiteY22" fmla="*/ 720389 h 740232"/>
              <a:gd name="connsiteX23" fmla="*/ 10518 w 724962"/>
              <a:gd name="connsiteY23" fmla="*/ 723564 h 740232"/>
              <a:gd name="connsiteX24" fmla="*/ 993 w 724962"/>
              <a:gd name="connsiteY24" fmla="*/ 644189 h 740232"/>
              <a:gd name="connsiteX25" fmla="*/ 993 w 724962"/>
              <a:gd name="connsiteY25" fmla="*/ 196514 h 740232"/>
              <a:gd name="connsiteX26" fmla="*/ 4168 w 724962"/>
              <a:gd name="connsiteY26" fmla="*/ 101264 h 740232"/>
              <a:gd name="connsiteX27" fmla="*/ 7343 w 724962"/>
              <a:gd name="connsiteY27" fmla="*/ 6014 h 740232"/>
              <a:gd name="connsiteX0" fmla="*/ 7343 w 724962"/>
              <a:gd name="connsiteY0" fmla="*/ 6014 h 740232"/>
              <a:gd name="connsiteX1" fmla="*/ 48618 w 724962"/>
              <a:gd name="connsiteY1" fmla="*/ 9189 h 740232"/>
              <a:gd name="connsiteX2" fmla="*/ 118468 w 724962"/>
              <a:gd name="connsiteY2" fmla="*/ 2839 h 740232"/>
              <a:gd name="connsiteX3" fmla="*/ 435968 w 724962"/>
              <a:gd name="connsiteY3" fmla="*/ 6014 h 740232"/>
              <a:gd name="connsiteX4" fmla="*/ 477243 w 724962"/>
              <a:gd name="connsiteY4" fmla="*/ 9189 h 740232"/>
              <a:gd name="connsiteX5" fmla="*/ 569318 w 724962"/>
              <a:gd name="connsiteY5" fmla="*/ 12364 h 740232"/>
              <a:gd name="connsiteX6" fmla="*/ 709018 w 724962"/>
              <a:gd name="connsiteY6" fmla="*/ 9189 h 740232"/>
              <a:gd name="connsiteX7" fmla="*/ 715368 w 724962"/>
              <a:gd name="connsiteY7" fmla="*/ 15539 h 740232"/>
              <a:gd name="connsiteX8" fmla="*/ 718543 w 724962"/>
              <a:gd name="connsiteY8" fmla="*/ 63164 h 740232"/>
              <a:gd name="connsiteX9" fmla="*/ 721718 w 724962"/>
              <a:gd name="connsiteY9" fmla="*/ 139364 h 740232"/>
              <a:gd name="connsiteX10" fmla="*/ 724893 w 724962"/>
              <a:gd name="connsiteY10" fmla="*/ 202864 h 740232"/>
              <a:gd name="connsiteX11" fmla="*/ 718543 w 724962"/>
              <a:gd name="connsiteY11" fmla="*/ 323514 h 740232"/>
              <a:gd name="connsiteX12" fmla="*/ 712193 w 724962"/>
              <a:gd name="connsiteY12" fmla="*/ 437814 h 740232"/>
              <a:gd name="connsiteX13" fmla="*/ 718543 w 724962"/>
              <a:gd name="connsiteY13" fmla="*/ 482264 h 740232"/>
              <a:gd name="connsiteX14" fmla="*/ 712193 w 724962"/>
              <a:gd name="connsiteY14" fmla="*/ 545764 h 740232"/>
              <a:gd name="connsiteX15" fmla="*/ 709018 w 724962"/>
              <a:gd name="connsiteY15" fmla="*/ 679114 h 740232"/>
              <a:gd name="connsiteX16" fmla="*/ 705843 w 724962"/>
              <a:gd name="connsiteY16" fmla="*/ 707689 h 740232"/>
              <a:gd name="connsiteX17" fmla="*/ 702668 w 724962"/>
              <a:gd name="connsiteY17" fmla="*/ 729914 h 740232"/>
              <a:gd name="connsiteX18" fmla="*/ 645518 w 724962"/>
              <a:gd name="connsiteY18" fmla="*/ 733089 h 740232"/>
              <a:gd name="connsiteX19" fmla="*/ 521693 w 724962"/>
              <a:gd name="connsiteY19" fmla="*/ 739439 h 740232"/>
              <a:gd name="connsiteX20" fmla="*/ 391518 w 724962"/>
              <a:gd name="connsiteY20" fmla="*/ 739439 h 740232"/>
              <a:gd name="connsiteX21" fmla="*/ 223243 w 724962"/>
              <a:gd name="connsiteY21" fmla="*/ 733089 h 740232"/>
              <a:gd name="connsiteX22" fmla="*/ 102593 w 724962"/>
              <a:gd name="connsiteY22" fmla="*/ 733089 h 740232"/>
              <a:gd name="connsiteX23" fmla="*/ 10518 w 724962"/>
              <a:gd name="connsiteY23" fmla="*/ 723564 h 740232"/>
              <a:gd name="connsiteX24" fmla="*/ 993 w 724962"/>
              <a:gd name="connsiteY24" fmla="*/ 644189 h 740232"/>
              <a:gd name="connsiteX25" fmla="*/ 993 w 724962"/>
              <a:gd name="connsiteY25" fmla="*/ 196514 h 740232"/>
              <a:gd name="connsiteX26" fmla="*/ 4168 w 724962"/>
              <a:gd name="connsiteY26" fmla="*/ 101264 h 740232"/>
              <a:gd name="connsiteX27" fmla="*/ 7343 w 724962"/>
              <a:gd name="connsiteY27" fmla="*/ 6014 h 740232"/>
              <a:gd name="connsiteX0" fmla="*/ 7343 w 724962"/>
              <a:gd name="connsiteY0" fmla="*/ 8215 h 742433"/>
              <a:gd name="connsiteX1" fmla="*/ 118468 w 724962"/>
              <a:gd name="connsiteY1" fmla="*/ 5040 h 742433"/>
              <a:gd name="connsiteX2" fmla="*/ 435968 w 724962"/>
              <a:gd name="connsiteY2" fmla="*/ 8215 h 742433"/>
              <a:gd name="connsiteX3" fmla="*/ 477243 w 724962"/>
              <a:gd name="connsiteY3" fmla="*/ 11390 h 742433"/>
              <a:gd name="connsiteX4" fmla="*/ 569318 w 724962"/>
              <a:gd name="connsiteY4" fmla="*/ 14565 h 742433"/>
              <a:gd name="connsiteX5" fmla="*/ 709018 w 724962"/>
              <a:gd name="connsiteY5" fmla="*/ 11390 h 742433"/>
              <a:gd name="connsiteX6" fmla="*/ 715368 w 724962"/>
              <a:gd name="connsiteY6" fmla="*/ 17740 h 742433"/>
              <a:gd name="connsiteX7" fmla="*/ 718543 w 724962"/>
              <a:gd name="connsiteY7" fmla="*/ 65365 h 742433"/>
              <a:gd name="connsiteX8" fmla="*/ 721718 w 724962"/>
              <a:gd name="connsiteY8" fmla="*/ 141565 h 742433"/>
              <a:gd name="connsiteX9" fmla="*/ 724893 w 724962"/>
              <a:gd name="connsiteY9" fmla="*/ 205065 h 742433"/>
              <a:gd name="connsiteX10" fmla="*/ 718543 w 724962"/>
              <a:gd name="connsiteY10" fmla="*/ 325715 h 742433"/>
              <a:gd name="connsiteX11" fmla="*/ 712193 w 724962"/>
              <a:gd name="connsiteY11" fmla="*/ 440015 h 742433"/>
              <a:gd name="connsiteX12" fmla="*/ 718543 w 724962"/>
              <a:gd name="connsiteY12" fmla="*/ 484465 h 742433"/>
              <a:gd name="connsiteX13" fmla="*/ 712193 w 724962"/>
              <a:gd name="connsiteY13" fmla="*/ 547965 h 742433"/>
              <a:gd name="connsiteX14" fmla="*/ 709018 w 724962"/>
              <a:gd name="connsiteY14" fmla="*/ 681315 h 742433"/>
              <a:gd name="connsiteX15" fmla="*/ 705843 w 724962"/>
              <a:gd name="connsiteY15" fmla="*/ 709890 h 742433"/>
              <a:gd name="connsiteX16" fmla="*/ 702668 w 724962"/>
              <a:gd name="connsiteY16" fmla="*/ 732115 h 742433"/>
              <a:gd name="connsiteX17" fmla="*/ 645518 w 724962"/>
              <a:gd name="connsiteY17" fmla="*/ 735290 h 742433"/>
              <a:gd name="connsiteX18" fmla="*/ 521693 w 724962"/>
              <a:gd name="connsiteY18" fmla="*/ 741640 h 742433"/>
              <a:gd name="connsiteX19" fmla="*/ 391518 w 724962"/>
              <a:gd name="connsiteY19" fmla="*/ 741640 h 742433"/>
              <a:gd name="connsiteX20" fmla="*/ 223243 w 724962"/>
              <a:gd name="connsiteY20" fmla="*/ 735290 h 742433"/>
              <a:gd name="connsiteX21" fmla="*/ 102593 w 724962"/>
              <a:gd name="connsiteY21" fmla="*/ 735290 h 742433"/>
              <a:gd name="connsiteX22" fmla="*/ 10518 w 724962"/>
              <a:gd name="connsiteY22" fmla="*/ 725765 h 742433"/>
              <a:gd name="connsiteX23" fmla="*/ 993 w 724962"/>
              <a:gd name="connsiteY23" fmla="*/ 646390 h 742433"/>
              <a:gd name="connsiteX24" fmla="*/ 993 w 724962"/>
              <a:gd name="connsiteY24" fmla="*/ 198715 h 742433"/>
              <a:gd name="connsiteX25" fmla="*/ 4168 w 724962"/>
              <a:gd name="connsiteY25" fmla="*/ 103465 h 742433"/>
              <a:gd name="connsiteX26" fmla="*/ 7343 w 724962"/>
              <a:gd name="connsiteY26" fmla="*/ 8215 h 742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4962" h="742433">
                <a:moveTo>
                  <a:pt x="7343" y="8215"/>
                </a:moveTo>
                <a:cubicBezTo>
                  <a:pt x="26393" y="-8189"/>
                  <a:pt x="47031" y="5040"/>
                  <a:pt x="118468" y="5040"/>
                </a:cubicBezTo>
                <a:lnTo>
                  <a:pt x="435968" y="8215"/>
                </a:lnTo>
                <a:cubicBezTo>
                  <a:pt x="449765" y="8459"/>
                  <a:pt x="463460" y="10734"/>
                  <a:pt x="477243" y="11390"/>
                </a:cubicBezTo>
                <a:cubicBezTo>
                  <a:pt x="507918" y="12851"/>
                  <a:pt x="538626" y="13507"/>
                  <a:pt x="569318" y="14565"/>
                </a:cubicBezTo>
                <a:lnTo>
                  <a:pt x="709018" y="11390"/>
                </a:lnTo>
                <a:cubicBezTo>
                  <a:pt x="733360" y="11919"/>
                  <a:pt x="713781" y="12582"/>
                  <a:pt x="715368" y="17740"/>
                </a:cubicBezTo>
                <a:cubicBezTo>
                  <a:pt x="719271" y="30426"/>
                  <a:pt x="722261" y="50492"/>
                  <a:pt x="718543" y="65365"/>
                </a:cubicBezTo>
                <a:cubicBezTo>
                  <a:pt x="719601" y="90765"/>
                  <a:pt x="720660" y="118282"/>
                  <a:pt x="721718" y="141565"/>
                </a:cubicBezTo>
                <a:cubicBezTo>
                  <a:pt x="722776" y="164848"/>
                  <a:pt x="725422" y="174373"/>
                  <a:pt x="724893" y="205065"/>
                </a:cubicBezTo>
                <a:cubicBezTo>
                  <a:pt x="724364" y="235757"/>
                  <a:pt x="720660" y="286557"/>
                  <a:pt x="718543" y="325715"/>
                </a:cubicBezTo>
                <a:cubicBezTo>
                  <a:pt x="716426" y="364873"/>
                  <a:pt x="714031" y="383943"/>
                  <a:pt x="712193" y="440015"/>
                </a:cubicBezTo>
                <a:cubicBezTo>
                  <a:pt x="711891" y="449216"/>
                  <a:pt x="718543" y="466473"/>
                  <a:pt x="718543" y="484465"/>
                </a:cubicBezTo>
                <a:cubicBezTo>
                  <a:pt x="718543" y="502457"/>
                  <a:pt x="721282" y="475250"/>
                  <a:pt x="712193" y="547965"/>
                </a:cubicBezTo>
                <a:cubicBezTo>
                  <a:pt x="711135" y="592415"/>
                  <a:pt x="710760" y="636887"/>
                  <a:pt x="709018" y="681315"/>
                </a:cubicBezTo>
                <a:cubicBezTo>
                  <a:pt x="708642" y="690891"/>
                  <a:pt x="707032" y="700380"/>
                  <a:pt x="705843" y="709890"/>
                </a:cubicBezTo>
                <a:cubicBezTo>
                  <a:pt x="704915" y="717316"/>
                  <a:pt x="709565" y="729211"/>
                  <a:pt x="702668" y="732115"/>
                </a:cubicBezTo>
                <a:cubicBezTo>
                  <a:pt x="685084" y="739519"/>
                  <a:pt x="664568" y="734232"/>
                  <a:pt x="645518" y="735290"/>
                </a:cubicBezTo>
                <a:cubicBezTo>
                  <a:pt x="605192" y="734306"/>
                  <a:pt x="564026" y="740582"/>
                  <a:pt x="521693" y="741640"/>
                </a:cubicBezTo>
                <a:cubicBezTo>
                  <a:pt x="479360" y="742698"/>
                  <a:pt x="441260" y="742698"/>
                  <a:pt x="391518" y="741640"/>
                </a:cubicBezTo>
                <a:cubicBezTo>
                  <a:pt x="341776" y="740582"/>
                  <a:pt x="279335" y="736348"/>
                  <a:pt x="223243" y="735290"/>
                </a:cubicBezTo>
                <a:lnTo>
                  <a:pt x="102593" y="735290"/>
                </a:lnTo>
                <a:cubicBezTo>
                  <a:pt x="80368" y="734232"/>
                  <a:pt x="27451" y="740582"/>
                  <a:pt x="10518" y="725765"/>
                </a:cubicBezTo>
                <a:cubicBezTo>
                  <a:pt x="-6415" y="710948"/>
                  <a:pt x="2581" y="734232"/>
                  <a:pt x="993" y="646390"/>
                </a:cubicBezTo>
                <a:cubicBezTo>
                  <a:pt x="-595" y="558548"/>
                  <a:pt x="464" y="296611"/>
                  <a:pt x="993" y="198715"/>
                </a:cubicBezTo>
                <a:cubicBezTo>
                  <a:pt x="1297" y="178477"/>
                  <a:pt x="790" y="123733"/>
                  <a:pt x="4168" y="103465"/>
                </a:cubicBezTo>
                <a:cubicBezTo>
                  <a:pt x="6814" y="74890"/>
                  <a:pt x="-65" y="23561"/>
                  <a:pt x="7343" y="8215"/>
                </a:cubicBezTo>
                <a:close/>
              </a:path>
            </a:pathLst>
          </a:cu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Comic Sans MS" panose="030F0902030302020204" pitchFamily="66" charset="0"/>
              </a:rPr>
              <a:t>H</a:t>
            </a:r>
          </a:p>
        </p:txBody>
      </p:sp>
      <p:sp>
        <p:nvSpPr>
          <p:cNvPr id="39" name="Freeform 38">
            <a:extLst>
              <a:ext uri="{FF2B5EF4-FFF2-40B4-BE49-F238E27FC236}">
                <a16:creationId xmlns:a16="http://schemas.microsoft.com/office/drawing/2014/main" id="{AFB15D27-FCB0-974C-ADE4-00D1C0F6EB08}"/>
              </a:ext>
            </a:extLst>
          </p:cNvPr>
          <p:cNvSpPr/>
          <p:nvPr/>
        </p:nvSpPr>
        <p:spPr>
          <a:xfrm>
            <a:off x="1147840" y="2534132"/>
            <a:ext cx="902481" cy="923386"/>
          </a:xfrm>
          <a:custGeom>
            <a:avLst/>
            <a:gdLst>
              <a:gd name="connsiteX0" fmla="*/ 21489 w 745389"/>
              <a:gd name="connsiteY0" fmla="*/ 6710 h 734634"/>
              <a:gd name="connsiteX1" fmla="*/ 62764 w 745389"/>
              <a:gd name="connsiteY1" fmla="*/ 9885 h 734634"/>
              <a:gd name="connsiteX2" fmla="*/ 132614 w 745389"/>
              <a:gd name="connsiteY2" fmla="*/ 3535 h 734634"/>
              <a:gd name="connsiteX3" fmla="*/ 450114 w 745389"/>
              <a:gd name="connsiteY3" fmla="*/ 6710 h 734634"/>
              <a:gd name="connsiteX4" fmla="*/ 491389 w 745389"/>
              <a:gd name="connsiteY4" fmla="*/ 9885 h 734634"/>
              <a:gd name="connsiteX5" fmla="*/ 583464 w 745389"/>
              <a:gd name="connsiteY5" fmla="*/ 13060 h 734634"/>
              <a:gd name="connsiteX6" fmla="*/ 723164 w 745389"/>
              <a:gd name="connsiteY6" fmla="*/ 9885 h 734634"/>
              <a:gd name="connsiteX7" fmla="*/ 739039 w 745389"/>
              <a:gd name="connsiteY7" fmla="*/ 13060 h 734634"/>
              <a:gd name="connsiteX8" fmla="*/ 732689 w 745389"/>
              <a:gd name="connsiteY8" fmla="*/ 63860 h 734634"/>
              <a:gd name="connsiteX9" fmla="*/ 735864 w 745389"/>
              <a:gd name="connsiteY9" fmla="*/ 140060 h 734634"/>
              <a:gd name="connsiteX10" fmla="*/ 742214 w 745389"/>
              <a:gd name="connsiteY10" fmla="*/ 159110 h 734634"/>
              <a:gd name="connsiteX11" fmla="*/ 745389 w 745389"/>
              <a:gd name="connsiteY11" fmla="*/ 168635 h 734634"/>
              <a:gd name="connsiteX12" fmla="*/ 742214 w 745389"/>
              <a:gd name="connsiteY12" fmla="*/ 267060 h 734634"/>
              <a:gd name="connsiteX13" fmla="*/ 739039 w 745389"/>
              <a:gd name="connsiteY13" fmla="*/ 435335 h 734634"/>
              <a:gd name="connsiteX14" fmla="*/ 732689 w 745389"/>
              <a:gd name="connsiteY14" fmla="*/ 482960 h 734634"/>
              <a:gd name="connsiteX15" fmla="*/ 726339 w 745389"/>
              <a:gd name="connsiteY15" fmla="*/ 546460 h 734634"/>
              <a:gd name="connsiteX16" fmla="*/ 723164 w 745389"/>
              <a:gd name="connsiteY16" fmla="*/ 679810 h 734634"/>
              <a:gd name="connsiteX17" fmla="*/ 719989 w 745389"/>
              <a:gd name="connsiteY17" fmla="*/ 708385 h 734634"/>
              <a:gd name="connsiteX18" fmla="*/ 716814 w 745389"/>
              <a:gd name="connsiteY18" fmla="*/ 730610 h 734634"/>
              <a:gd name="connsiteX19" fmla="*/ 659664 w 745389"/>
              <a:gd name="connsiteY19" fmla="*/ 733785 h 734634"/>
              <a:gd name="connsiteX20" fmla="*/ 469164 w 745389"/>
              <a:gd name="connsiteY20" fmla="*/ 727435 h 734634"/>
              <a:gd name="connsiteX21" fmla="*/ 405664 w 745389"/>
              <a:gd name="connsiteY21" fmla="*/ 721085 h 734634"/>
              <a:gd name="connsiteX22" fmla="*/ 237389 w 745389"/>
              <a:gd name="connsiteY22" fmla="*/ 717910 h 734634"/>
              <a:gd name="connsiteX23" fmla="*/ 126264 w 745389"/>
              <a:gd name="connsiteY23" fmla="*/ 721085 h 734634"/>
              <a:gd name="connsiteX24" fmla="*/ 91339 w 745389"/>
              <a:gd name="connsiteY24" fmla="*/ 727435 h 734634"/>
              <a:gd name="connsiteX25" fmla="*/ 24664 w 745389"/>
              <a:gd name="connsiteY25" fmla="*/ 724260 h 734634"/>
              <a:gd name="connsiteX26" fmla="*/ 18314 w 745389"/>
              <a:gd name="connsiteY26" fmla="*/ 714735 h 734634"/>
              <a:gd name="connsiteX27" fmla="*/ 15139 w 745389"/>
              <a:gd name="connsiteY27" fmla="*/ 689335 h 734634"/>
              <a:gd name="connsiteX28" fmla="*/ 8789 w 745389"/>
              <a:gd name="connsiteY28" fmla="*/ 663935 h 734634"/>
              <a:gd name="connsiteX29" fmla="*/ 5614 w 745389"/>
              <a:gd name="connsiteY29" fmla="*/ 644885 h 734634"/>
              <a:gd name="connsiteX30" fmla="*/ 5614 w 745389"/>
              <a:gd name="connsiteY30" fmla="*/ 178160 h 734634"/>
              <a:gd name="connsiteX31" fmla="*/ 15139 w 745389"/>
              <a:gd name="connsiteY31" fmla="*/ 130535 h 734634"/>
              <a:gd name="connsiteX32" fmla="*/ 18314 w 745389"/>
              <a:gd name="connsiteY32" fmla="*/ 111485 h 734634"/>
              <a:gd name="connsiteX33" fmla="*/ 21489 w 745389"/>
              <a:gd name="connsiteY33" fmla="*/ 6710 h 734634"/>
              <a:gd name="connsiteX0" fmla="*/ 21489 w 745389"/>
              <a:gd name="connsiteY0" fmla="*/ 6710 h 734634"/>
              <a:gd name="connsiteX1" fmla="*/ 62764 w 745389"/>
              <a:gd name="connsiteY1" fmla="*/ 9885 h 734634"/>
              <a:gd name="connsiteX2" fmla="*/ 132614 w 745389"/>
              <a:gd name="connsiteY2" fmla="*/ 3535 h 734634"/>
              <a:gd name="connsiteX3" fmla="*/ 450114 w 745389"/>
              <a:gd name="connsiteY3" fmla="*/ 6710 h 734634"/>
              <a:gd name="connsiteX4" fmla="*/ 491389 w 745389"/>
              <a:gd name="connsiteY4" fmla="*/ 9885 h 734634"/>
              <a:gd name="connsiteX5" fmla="*/ 583464 w 745389"/>
              <a:gd name="connsiteY5" fmla="*/ 13060 h 734634"/>
              <a:gd name="connsiteX6" fmla="*/ 723164 w 745389"/>
              <a:gd name="connsiteY6" fmla="*/ 9885 h 734634"/>
              <a:gd name="connsiteX7" fmla="*/ 739039 w 745389"/>
              <a:gd name="connsiteY7" fmla="*/ 13060 h 734634"/>
              <a:gd name="connsiteX8" fmla="*/ 732689 w 745389"/>
              <a:gd name="connsiteY8" fmla="*/ 63860 h 734634"/>
              <a:gd name="connsiteX9" fmla="*/ 735864 w 745389"/>
              <a:gd name="connsiteY9" fmla="*/ 140060 h 734634"/>
              <a:gd name="connsiteX10" fmla="*/ 742214 w 745389"/>
              <a:gd name="connsiteY10" fmla="*/ 159110 h 734634"/>
              <a:gd name="connsiteX11" fmla="*/ 745389 w 745389"/>
              <a:gd name="connsiteY11" fmla="*/ 168635 h 734634"/>
              <a:gd name="connsiteX12" fmla="*/ 742214 w 745389"/>
              <a:gd name="connsiteY12" fmla="*/ 267060 h 734634"/>
              <a:gd name="connsiteX13" fmla="*/ 739039 w 745389"/>
              <a:gd name="connsiteY13" fmla="*/ 435335 h 734634"/>
              <a:gd name="connsiteX14" fmla="*/ 732689 w 745389"/>
              <a:gd name="connsiteY14" fmla="*/ 482960 h 734634"/>
              <a:gd name="connsiteX15" fmla="*/ 726339 w 745389"/>
              <a:gd name="connsiteY15" fmla="*/ 546460 h 734634"/>
              <a:gd name="connsiteX16" fmla="*/ 723164 w 745389"/>
              <a:gd name="connsiteY16" fmla="*/ 679810 h 734634"/>
              <a:gd name="connsiteX17" fmla="*/ 719989 w 745389"/>
              <a:gd name="connsiteY17" fmla="*/ 708385 h 734634"/>
              <a:gd name="connsiteX18" fmla="*/ 716814 w 745389"/>
              <a:gd name="connsiteY18" fmla="*/ 730610 h 734634"/>
              <a:gd name="connsiteX19" fmla="*/ 659664 w 745389"/>
              <a:gd name="connsiteY19" fmla="*/ 733785 h 734634"/>
              <a:gd name="connsiteX20" fmla="*/ 469164 w 745389"/>
              <a:gd name="connsiteY20" fmla="*/ 727435 h 734634"/>
              <a:gd name="connsiteX21" fmla="*/ 405664 w 745389"/>
              <a:gd name="connsiteY21" fmla="*/ 721085 h 734634"/>
              <a:gd name="connsiteX22" fmla="*/ 237389 w 745389"/>
              <a:gd name="connsiteY22" fmla="*/ 717910 h 734634"/>
              <a:gd name="connsiteX23" fmla="*/ 126264 w 745389"/>
              <a:gd name="connsiteY23" fmla="*/ 721085 h 734634"/>
              <a:gd name="connsiteX24" fmla="*/ 91339 w 745389"/>
              <a:gd name="connsiteY24" fmla="*/ 727435 h 734634"/>
              <a:gd name="connsiteX25" fmla="*/ 24664 w 745389"/>
              <a:gd name="connsiteY25" fmla="*/ 724260 h 734634"/>
              <a:gd name="connsiteX26" fmla="*/ 18314 w 745389"/>
              <a:gd name="connsiteY26" fmla="*/ 714735 h 734634"/>
              <a:gd name="connsiteX27" fmla="*/ 15139 w 745389"/>
              <a:gd name="connsiteY27" fmla="*/ 689335 h 734634"/>
              <a:gd name="connsiteX28" fmla="*/ 8789 w 745389"/>
              <a:gd name="connsiteY28" fmla="*/ 663935 h 734634"/>
              <a:gd name="connsiteX29" fmla="*/ 5614 w 745389"/>
              <a:gd name="connsiteY29" fmla="*/ 644885 h 734634"/>
              <a:gd name="connsiteX30" fmla="*/ 5614 w 745389"/>
              <a:gd name="connsiteY30" fmla="*/ 178160 h 734634"/>
              <a:gd name="connsiteX31" fmla="*/ 15139 w 745389"/>
              <a:gd name="connsiteY31" fmla="*/ 130535 h 734634"/>
              <a:gd name="connsiteX32" fmla="*/ 18314 w 745389"/>
              <a:gd name="connsiteY32" fmla="*/ 111485 h 734634"/>
              <a:gd name="connsiteX33" fmla="*/ 21489 w 745389"/>
              <a:gd name="connsiteY33" fmla="*/ 6710 h 734634"/>
              <a:gd name="connsiteX0" fmla="*/ 21489 w 745389"/>
              <a:gd name="connsiteY0" fmla="*/ 6710 h 734634"/>
              <a:gd name="connsiteX1" fmla="*/ 62764 w 745389"/>
              <a:gd name="connsiteY1" fmla="*/ 9885 h 734634"/>
              <a:gd name="connsiteX2" fmla="*/ 132614 w 745389"/>
              <a:gd name="connsiteY2" fmla="*/ 3535 h 734634"/>
              <a:gd name="connsiteX3" fmla="*/ 450114 w 745389"/>
              <a:gd name="connsiteY3" fmla="*/ 6710 h 734634"/>
              <a:gd name="connsiteX4" fmla="*/ 491389 w 745389"/>
              <a:gd name="connsiteY4" fmla="*/ 9885 h 734634"/>
              <a:gd name="connsiteX5" fmla="*/ 583464 w 745389"/>
              <a:gd name="connsiteY5" fmla="*/ 13060 h 734634"/>
              <a:gd name="connsiteX6" fmla="*/ 723164 w 745389"/>
              <a:gd name="connsiteY6" fmla="*/ 9885 h 734634"/>
              <a:gd name="connsiteX7" fmla="*/ 739039 w 745389"/>
              <a:gd name="connsiteY7" fmla="*/ 13060 h 734634"/>
              <a:gd name="connsiteX8" fmla="*/ 732689 w 745389"/>
              <a:gd name="connsiteY8" fmla="*/ 63860 h 734634"/>
              <a:gd name="connsiteX9" fmla="*/ 735864 w 745389"/>
              <a:gd name="connsiteY9" fmla="*/ 140060 h 734634"/>
              <a:gd name="connsiteX10" fmla="*/ 742214 w 745389"/>
              <a:gd name="connsiteY10" fmla="*/ 159110 h 734634"/>
              <a:gd name="connsiteX11" fmla="*/ 745389 w 745389"/>
              <a:gd name="connsiteY11" fmla="*/ 168635 h 734634"/>
              <a:gd name="connsiteX12" fmla="*/ 742214 w 745389"/>
              <a:gd name="connsiteY12" fmla="*/ 267060 h 734634"/>
              <a:gd name="connsiteX13" fmla="*/ 739039 w 745389"/>
              <a:gd name="connsiteY13" fmla="*/ 435335 h 734634"/>
              <a:gd name="connsiteX14" fmla="*/ 732689 w 745389"/>
              <a:gd name="connsiteY14" fmla="*/ 482960 h 734634"/>
              <a:gd name="connsiteX15" fmla="*/ 726339 w 745389"/>
              <a:gd name="connsiteY15" fmla="*/ 546460 h 734634"/>
              <a:gd name="connsiteX16" fmla="*/ 723164 w 745389"/>
              <a:gd name="connsiteY16" fmla="*/ 679810 h 734634"/>
              <a:gd name="connsiteX17" fmla="*/ 719989 w 745389"/>
              <a:gd name="connsiteY17" fmla="*/ 708385 h 734634"/>
              <a:gd name="connsiteX18" fmla="*/ 716814 w 745389"/>
              <a:gd name="connsiteY18" fmla="*/ 730610 h 734634"/>
              <a:gd name="connsiteX19" fmla="*/ 659664 w 745389"/>
              <a:gd name="connsiteY19" fmla="*/ 733785 h 734634"/>
              <a:gd name="connsiteX20" fmla="*/ 469164 w 745389"/>
              <a:gd name="connsiteY20" fmla="*/ 727435 h 734634"/>
              <a:gd name="connsiteX21" fmla="*/ 405664 w 745389"/>
              <a:gd name="connsiteY21" fmla="*/ 721085 h 734634"/>
              <a:gd name="connsiteX22" fmla="*/ 237389 w 745389"/>
              <a:gd name="connsiteY22" fmla="*/ 717910 h 734634"/>
              <a:gd name="connsiteX23" fmla="*/ 126264 w 745389"/>
              <a:gd name="connsiteY23" fmla="*/ 721085 h 734634"/>
              <a:gd name="connsiteX24" fmla="*/ 91339 w 745389"/>
              <a:gd name="connsiteY24" fmla="*/ 727435 h 734634"/>
              <a:gd name="connsiteX25" fmla="*/ 24664 w 745389"/>
              <a:gd name="connsiteY25" fmla="*/ 724260 h 734634"/>
              <a:gd name="connsiteX26" fmla="*/ 18314 w 745389"/>
              <a:gd name="connsiteY26" fmla="*/ 714735 h 734634"/>
              <a:gd name="connsiteX27" fmla="*/ 15139 w 745389"/>
              <a:gd name="connsiteY27" fmla="*/ 689335 h 734634"/>
              <a:gd name="connsiteX28" fmla="*/ 8789 w 745389"/>
              <a:gd name="connsiteY28" fmla="*/ 663935 h 734634"/>
              <a:gd name="connsiteX29" fmla="*/ 5614 w 745389"/>
              <a:gd name="connsiteY29" fmla="*/ 644885 h 734634"/>
              <a:gd name="connsiteX30" fmla="*/ 5614 w 745389"/>
              <a:gd name="connsiteY30" fmla="*/ 178160 h 734634"/>
              <a:gd name="connsiteX31" fmla="*/ 15139 w 745389"/>
              <a:gd name="connsiteY31" fmla="*/ 130535 h 734634"/>
              <a:gd name="connsiteX32" fmla="*/ 21489 w 745389"/>
              <a:gd name="connsiteY32" fmla="*/ 6710 h 734634"/>
              <a:gd name="connsiteX0" fmla="*/ 21489 w 745389"/>
              <a:gd name="connsiteY0" fmla="*/ 6014 h 733938"/>
              <a:gd name="connsiteX1" fmla="*/ 62764 w 745389"/>
              <a:gd name="connsiteY1" fmla="*/ 9189 h 733938"/>
              <a:gd name="connsiteX2" fmla="*/ 132614 w 745389"/>
              <a:gd name="connsiteY2" fmla="*/ 2839 h 733938"/>
              <a:gd name="connsiteX3" fmla="*/ 450114 w 745389"/>
              <a:gd name="connsiteY3" fmla="*/ 6014 h 733938"/>
              <a:gd name="connsiteX4" fmla="*/ 491389 w 745389"/>
              <a:gd name="connsiteY4" fmla="*/ 9189 h 733938"/>
              <a:gd name="connsiteX5" fmla="*/ 583464 w 745389"/>
              <a:gd name="connsiteY5" fmla="*/ 12364 h 733938"/>
              <a:gd name="connsiteX6" fmla="*/ 723164 w 745389"/>
              <a:gd name="connsiteY6" fmla="*/ 9189 h 733938"/>
              <a:gd name="connsiteX7" fmla="*/ 739039 w 745389"/>
              <a:gd name="connsiteY7" fmla="*/ 12364 h 733938"/>
              <a:gd name="connsiteX8" fmla="*/ 732689 w 745389"/>
              <a:gd name="connsiteY8" fmla="*/ 63164 h 733938"/>
              <a:gd name="connsiteX9" fmla="*/ 735864 w 745389"/>
              <a:gd name="connsiteY9" fmla="*/ 139364 h 733938"/>
              <a:gd name="connsiteX10" fmla="*/ 742214 w 745389"/>
              <a:gd name="connsiteY10" fmla="*/ 158414 h 733938"/>
              <a:gd name="connsiteX11" fmla="*/ 745389 w 745389"/>
              <a:gd name="connsiteY11" fmla="*/ 167939 h 733938"/>
              <a:gd name="connsiteX12" fmla="*/ 742214 w 745389"/>
              <a:gd name="connsiteY12" fmla="*/ 266364 h 733938"/>
              <a:gd name="connsiteX13" fmla="*/ 739039 w 745389"/>
              <a:gd name="connsiteY13" fmla="*/ 434639 h 733938"/>
              <a:gd name="connsiteX14" fmla="*/ 732689 w 745389"/>
              <a:gd name="connsiteY14" fmla="*/ 482264 h 733938"/>
              <a:gd name="connsiteX15" fmla="*/ 726339 w 745389"/>
              <a:gd name="connsiteY15" fmla="*/ 545764 h 733938"/>
              <a:gd name="connsiteX16" fmla="*/ 723164 w 745389"/>
              <a:gd name="connsiteY16" fmla="*/ 679114 h 733938"/>
              <a:gd name="connsiteX17" fmla="*/ 719989 w 745389"/>
              <a:gd name="connsiteY17" fmla="*/ 707689 h 733938"/>
              <a:gd name="connsiteX18" fmla="*/ 716814 w 745389"/>
              <a:gd name="connsiteY18" fmla="*/ 729914 h 733938"/>
              <a:gd name="connsiteX19" fmla="*/ 659664 w 745389"/>
              <a:gd name="connsiteY19" fmla="*/ 733089 h 733938"/>
              <a:gd name="connsiteX20" fmla="*/ 469164 w 745389"/>
              <a:gd name="connsiteY20" fmla="*/ 726739 h 733938"/>
              <a:gd name="connsiteX21" fmla="*/ 405664 w 745389"/>
              <a:gd name="connsiteY21" fmla="*/ 720389 h 733938"/>
              <a:gd name="connsiteX22" fmla="*/ 237389 w 745389"/>
              <a:gd name="connsiteY22" fmla="*/ 717214 h 733938"/>
              <a:gd name="connsiteX23" fmla="*/ 126264 w 745389"/>
              <a:gd name="connsiteY23" fmla="*/ 720389 h 733938"/>
              <a:gd name="connsiteX24" fmla="*/ 91339 w 745389"/>
              <a:gd name="connsiteY24" fmla="*/ 726739 h 733938"/>
              <a:gd name="connsiteX25" fmla="*/ 24664 w 745389"/>
              <a:gd name="connsiteY25" fmla="*/ 723564 h 733938"/>
              <a:gd name="connsiteX26" fmla="*/ 18314 w 745389"/>
              <a:gd name="connsiteY26" fmla="*/ 714039 h 733938"/>
              <a:gd name="connsiteX27" fmla="*/ 15139 w 745389"/>
              <a:gd name="connsiteY27" fmla="*/ 688639 h 733938"/>
              <a:gd name="connsiteX28" fmla="*/ 8789 w 745389"/>
              <a:gd name="connsiteY28" fmla="*/ 663239 h 733938"/>
              <a:gd name="connsiteX29" fmla="*/ 5614 w 745389"/>
              <a:gd name="connsiteY29" fmla="*/ 644189 h 733938"/>
              <a:gd name="connsiteX30" fmla="*/ 5614 w 745389"/>
              <a:gd name="connsiteY30" fmla="*/ 177464 h 733938"/>
              <a:gd name="connsiteX31" fmla="*/ 11964 w 745389"/>
              <a:gd name="connsiteY31" fmla="*/ 101264 h 733938"/>
              <a:gd name="connsiteX32" fmla="*/ 21489 w 745389"/>
              <a:gd name="connsiteY32" fmla="*/ 6014 h 733938"/>
              <a:gd name="connsiteX0" fmla="*/ 19035 w 742935"/>
              <a:gd name="connsiteY0" fmla="*/ 6014 h 733938"/>
              <a:gd name="connsiteX1" fmla="*/ 60310 w 742935"/>
              <a:gd name="connsiteY1" fmla="*/ 9189 h 733938"/>
              <a:gd name="connsiteX2" fmla="*/ 130160 w 742935"/>
              <a:gd name="connsiteY2" fmla="*/ 2839 h 733938"/>
              <a:gd name="connsiteX3" fmla="*/ 447660 w 742935"/>
              <a:gd name="connsiteY3" fmla="*/ 6014 h 733938"/>
              <a:gd name="connsiteX4" fmla="*/ 488935 w 742935"/>
              <a:gd name="connsiteY4" fmla="*/ 9189 h 733938"/>
              <a:gd name="connsiteX5" fmla="*/ 581010 w 742935"/>
              <a:gd name="connsiteY5" fmla="*/ 12364 h 733938"/>
              <a:gd name="connsiteX6" fmla="*/ 720710 w 742935"/>
              <a:gd name="connsiteY6" fmla="*/ 9189 h 733938"/>
              <a:gd name="connsiteX7" fmla="*/ 736585 w 742935"/>
              <a:gd name="connsiteY7" fmla="*/ 12364 h 733938"/>
              <a:gd name="connsiteX8" fmla="*/ 730235 w 742935"/>
              <a:gd name="connsiteY8" fmla="*/ 63164 h 733938"/>
              <a:gd name="connsiteX9" fmla="*/ 733410 w 742935"/>
              <a:gd name="connsiteY9" fmla="*/ 139364 h 733938"/>
              <a:gd name="connsiteX10" fmla="*/ 739760 w 742935"/>
              <a:gd name="connsiteY10" fmla="*/ 158414 h 733938"/>
              <a:gd name="connsiteX11" fmla="*/ 742935 w 742935"/>
              <a:gd name="connsiteY11" fmla="*/ 167939 h 733938"/>
              <a:gd name="connsiteX12" fmla="*/ 739760 w 742935"/>
              <a:gd name="connsiteY12" fmla="*/ 266364 h 733938"/>
              <a:gd name="connsiteX13" fmla="*/ 736585 w 742935"/>
              <a:gd name="connsiteY13" fmla="*/ 434639 h 733938"/>
              <a:gd name="connsiteX14" fmla="*/ 730235 w 742935"/>
              <a:gd name="connsiteY14" fmla="*/ 482264 h 733938"/>
              <a:gd name="connsiteX15" fmla="*/ 723885 w 742935"/>
              <a:gd name="connsiteY15" fmla="*/ 545764 h 733938"/>
              <a:gd name="connsiteX16" fmla="*/ 720710 w 742935"/>
              <a:gd name="connsiteY16" fmla="*/ 679114 h 733938"/>
              <a:gd name="connsiteX17" fmla="*/ 717535 w 742935"/>
              <a:gd name="connsiteY17" fmla="*/ 707689 h 733938"/>
              <a:gd name="connsiteX18" fmla="*/ 714360 w 742935"/>
              <a:gd name="connsiteY18" fmla="*/ 729914 h 733938"/>
              <a:gd name="connsiteX19" fmla="*/ 657210 w 742935"/>
              <a:gd name="connsiteY19" fmla="*/ 733089 h 733938"/>
              <a:gd name="connsiteX20" fmla="*/ 466710 w 742935"/>
              <a:gd name="connsiteY20" fmla="*/ 726739 h 733938"/>
              <a:gd name="connsiteX21" fmla="*/ 403210 w 742935"/>
              <a:gd name="connsiteY21" fmla="*/ 720389 h 733938"/>
              <a:gd name="connsiteX22" fmla="*/ 234935 w 742935"/>
              <a:gd name="connsiteY22" fmla="*/ 717214 h 733938"/>
              <a:gd name="connsiteX23" fmla="*/ 123810 w 742935"/>
              <a:gd name="connsiteY23" fmla="*/ 720389 h 733938"/>
              <a:gd name="connsiteX24" fmla="*/ 88885 w 742935"/>
              <a:gd name="connsiteY24" fmla="*/ 726739 h 733938"/>
              <a:gd name="connsiteX25" fmla="*/ 22210 w 742935"/>
              <a:gd name="connsiteY25" fmla="*/ 723564 h 733938"/>
              <a:gd name="connsiteX26" fmla="*/ 15860 w 742935"/>
              <a:gd name="connsiteY26" fmla="*/ 714039 h 733938"/>
              <a:gd name="connsiteX27" fmla="*/ 12685 w 742935"/>
              <a:gd name="connsiteY27" fmla="*/ 688639 h 733938"/>
              <a:gd name="connsiteX28" fmla="*/ 6335 w 742935"/>
              <a:gd name="connsiteY28" fmla="*/ 663239 h 733938"/>
              <a:gd name="connsiteX29" fmla="*/ 3160 w 742935"/>
              <a:gd name="connsiteY29" fmla="*/ 644189 h 733938"/>
              <a:gd name="connsiteX30" fmla="*/ 12685 w 742935"/>
              <a:gd name="connsiteY30" fmla="*/ 196514 h 733938"/>
              <a:gd name="connsiteX31" fmla="*/ 9510 w 742935"/>
              <a:gd name="connsiteY31" fmla="*/ 101264 h 733938"/>
              <a:gd name="connsiteX32" fmla="*/ 19035 w 742935"/>
              <a:gd name="connsiteY32" fmla="*/ 6014 h 733938"/>
              <a:gd name="connsiteX0" fmla="*/ 19035 w 742935"/>
              <a:gd name="connsiteY0" fmla="*/ 6014 h 733938"/>
              <a:gd name="connsiteX1" fmla="*/ 60310 w 742935"/>
              <a:gd name="connsiteY1" fmla="*/ 9189 h 733938"/>
              <a:gd name="connsiteX2" fmla="*/ 130160 w 742935"/>
              <a:gd name="connsiteY2" fmla="*/ 2839 h 733938"/>
              <a:gd name="connsiteX3" fmla="*/ 447660 w 742935"/>
              <a:gd name="connsiteY3" fmla="*/ 6014 h 733938"/>
              <a:gd name="connsiteX4" fmla="*/ 488935 w 742935"/>
              <a:gd name="connsiteY4" fmla="*/ 9189 h 733938"/>
              <a:gd name="connsiteX5" fmla="*/ 581010 w 742935"/>
              <a:gd name="connsiteY5" fmla="*/ 12364 h 733938"/>
              <a:gd name="connsiteX6" fmla="*/ 720710 w 742935"/>
              <a:gd name="connsiteY6" fmla="*/ 9189 h 733938"/>
              <a:gd name="connsiteX7" fmla="*/ 736585 w 742935"/>
              <a:gd name="connsiteY7" fmla="*/ 12364 h 733938"/>
              <a:gd name="connsiteX8" fmla="*/ 730235 w 742935"/>
              <a:gd name="connsiteY8" fmla="*/ 63164 h 733938"/>
              <a:gd name="connsiteX9" fmla="*/ 733410 w 742935"/>
              <a:gd name="connsiteY9" fmla="*/ 139364 h 733938"/>
              <a:gd name="connsiteX10" fmla="*/ 739760 w 742935"/>
              <a:gd name="connsiteY10" fmla="*/ 158414 h 733938"/>
              <a:gd name="connsiteX11" fmla="*/ 742935 w 742935"/>
              <a:gd name="connsiteY11" fmla="*/ 167939 h 733938"/>
              <a:gd name="connsiteX12" fmla="*/ 739760 w 742935"/>
              <a:gd name="connsiteY12" fmla="*/ 266364 h 733938"/>
              <a:gd name="connsiteX13" fmla="*/ 736585 w 742935"/>
              <a:gd name="connsiteY13" fmla="*/ 434639 h 733938"/>
              <a:gd name="connsiteX14" fmla="*/ 730235 w 742935"/>
              <a:gd name="connsiteY14" fmla="*/ 482264 h 733938"/>
              <a:gd name="connsiteX15" fmla="*/ 723885 w 742935"/>
              <a:gd name="connsiteY15" fmla="*/ 545764 h 733938"/>
              <a:gd name="connsiteX16" fmla="*/ 720710 w 742935"/>
              <a:gd name="connsiteY16" fmla="*/ 679114 h 733938"/>
              <a:gd name="connsiteX17" fmla="*/ 717535 w 742935"/>
              <a:gd name="connsiteY17" fmla="*/ 707689 h 733938"/>
              <a:gd name="connsiteX18" fmla="*/ 714360 w 742935"/>
              <a:gd name="connsiteY18" fmla="*/ 729914 h 733938"/>
              <a:gd name="connsiteX19" fmla="*/ 657210 w 742935"/>
              <a:gd name="connsiteY19" fmla="*/ 733089 h 733938"/>
              <a:gd name="connsiteX20" fmla="*/ 466710 w 742935"/>
              <a:gd name="connsiteY20" fmla="*/ 726739 h 733938"/>
              <a:gd name="connsiteX21" fmla="*/ 403210 w 742935"/>
              <a:gd name="connsiteY21" fmla="*/ 720389 h 733938"/>
              <a:gd name="connsiteX22" fmla="*/ 234935 w 742935"/>
              <a:gd name="connsiteY22" fmla="*/ 717214 h 733938"/>
              <a:gd name="connsiteX23" fmla="*/ 123810 w 742935"/>
              <a:gd name="connsiteY23" fmla="*/ 720389 h 733938"/>
              <a:gd name="connsiteX24" fmla="*/ 88885 w 742935"/>
              <a:gd name="connsiteY24" fmla="*/ 726739 h 733938"/>
              <a:gd name="connsiteX25" fmla="*/ 22210 w 742935"/>
              <a:gd name="connsiteY25" fmla="*/ 723564 h 733938"/>
              <a:gd name="connsiteX26" fmla="*/ 15860 w 742935"/>
              <a:gd name="connsiteY26" fmla="*/ 714039 h 733938"/>
              <a:gd name="connsiteX27" fmla="*/ 12685 w 742935"/>
              <a:gd name="connsiteY27" fmla="*/ 688639 h 733938"/>
              <a:gd name="connsiteX28" fmla="*/ 6335 w 742935"/>
              <a:gd name="connsiteY28" fmla="*/ 663239 h 733938"/>
              <a:gd name="connsiteX29" fmla="*/ 3160 w 742935"/>
              <a:gd name="connsiteY29" fmla="*/ 644189 h 733938"/>
              <a:gd name="connsiteX30" fmla="*/ 12685 w 742935"/>
              <a:gd name="connsiteY30" fmla="*/ 196514 h 733938"/>
              <a:gd name="connsiteX31" fmla="*/ 15860 w 742935"/>
              <a:gd name="connsiteY31" fmla="*/ 101264 h 733938"/>
              <a:gd name="connsiteX32" fmla="*/ 19035 w 742935"/>
              <a:gd name="connsiteY32" fmla="*/ 6014 h 733938"/>
              <a:gd name="connsiteX0" fmla="*/ 12700 w 736600"/>
              <a:gd name="connsiteY0" fmla="*/ 6014 h 733938"/>
              <a:gd name="connsiteX1" fmla="*/ 53975 w 736600"/>
              <a:gd name="connsiteY1" fmla="*/ 9189 h 733938"/>
              <a:gd name="connsiteX2" fmla="*/ 123825 w 736600"/>
              <a:gd name="connsiteY2" fmla="*/ 2839 h 733938"/>
              <a:gd name="connsiteX3" fmla="*/ 441325 w 736600"/>
              <a:gd name="connsiteY3" fmla="*/ 6014 h 733938"/>
              <a:gd name="connsiteX4" fmla="*/ 482600 w 736600"/>
              <a:gd name="connsiteY4" fmla="*/ 9189 h 733938"/>
              <a:gd name="connsiteX5" fmla="*/ 574675 w 736600"/>
              <a:gd name="connsiteY5" fmla="*/ 12364 h 733938"/>
              <a:gd name="connsiteX6" fmla="*/ 714375 w 736600"/>
              <a:gd name="connsiteY6" fmla="*/ 9189 h 733938"/>
              <a:gd name="connsiteX7" fmla="*/ 730250 w 736600"/>
              <a:gd name="connsiteY7" fmla="*/ 12364 h 733938"/>
              <a:gd name="connsiteX8" fmla="*/ 723900 w 736600"/>
              <a:gd name="connsiteY8" fmla="*/ 63164 h 733938"/>
              <a:gd name="connsiteX9" fmla="*/ 727075 w 736600"/>
              <a:gd name="connsiteY9" fmla="*/ 139364 h 733938"/>
              <a:gd name="connsiteX10" fmla="*/ 733425 w 736600"/>
              <a:gd name="connsiteY10" fmla="*/ 158414 h 733938"/>
              <a:gd name="connsiteX11" fmla="*/ 736600 w 736600"/>
              <a:gd name="connsiteY11" fmla="*/ 167939 h 733938"/>
              <a:gd name="connsiteX12" fmla="*/ 733425 w 736600"/>
              <a:gd name="connsiteY12" fmla="*/ 266364 h 733938"/>
              <a:gd name="connsiteX13" fmla="*/ 730250 w 736600"/>
              <a:gd name="connsiteY13" fmla="*/ 434639 h 733938"/>
              <a:gd name="connsiteX14" fmla="*/ 723900 w 736600"/>
              <a:gd name="connsiteY14" fmla="*/ 482264 h 733938"/>
              <a:gd name="connsiteX15" fmla="*/ 717550 w 736600"/>
              <a:gd name="connsiteY15" fmla="*/ 545764 h 733938"/>
              <a:gd name="connsiteX16" fmla="*/ 714375 w 736600"/>
              <a:gd name="connsiteY16" fmla="*/ 679114 h 733938"/>
              <a:gd name="connsiteX17" fmla="*/ 711200 w 736600"/>
              <a:gd name="connsiteY17" fmla="*/ 707689 h 733938"/>
              <a:gd name="connsiteX18" fmla="*/ 708025 w 736600"/>
              <a:gd name="connsiteY18" fmla="*/ 729914 h 733938"/>
              <a:gd name="connsiteX19" fmla="*/ 650875 w 736600"/>
              <a:gd name="connsiteY19" fmla="*/ 733089 h 733938"/>
              <a:gd name="connsiteX20" fmla="*/ 460375 w 736600"/>
              <a:gd name="connsiteY20" fmla="*/ 726739 h 733938"/>
              <a:gd name="connsiteX21" fmla="*/ 396875 w 736600"/>
              <a:gd name="connsiteY21" fmla="*/ 720389 h 733938"/>
              <a:gd name="connsiteX22" fmla="*/ 228600 w 736600"/>
              <a:gd name="connsiteY22" fmla="*/ 717214 h 733938"/>
              <a:gd name="connsiteX23" fmla="*/ 117475 w 736600"/>
              <a:gd name="connsiteY23" fmla="*/ 720389 h 733938"/>
              <a:gd name="connsiteX24" fmla="*/ 82550 w 736600"/>
              <a:gd name="connsiteY24" fmla="*/ 726739 h 733938"/>
              <a:gd name="connsiteX25" fmla="*/ 15875 w 736600"/>
              <a:gd name="connsiteY25" fmla="*/ 723564 h 733938"/>
              <a:gd name="connsiteX26" fmla="*/ 9525 w 736600"/>
              <a:gd name="connsiteY26" fmla="*/ 714039 h 733938"/>
              <a:gd name="connsiteX27" fmla="*/ 6350 w 736600"/>
              <a:gd name="connsiteY27" fmla="*/ 688639 h 733938"/>
              <a:gd name="connsiteX28" fmla="*/ 0 w 736600"/>
              <a:gd name="connsiteY28" fmla="*/ 663239 h 733938"/>
              <a:gd name="connsiteX29" fmla="*/ 6350 w 736600"/>
              <a:gd name="connsiteY29" fmla="*/ 196514 h 733938"/>
              <a:gd name="connsiteX30" fmla="*/ 9525 w 736600"/>
              <a:gd name="connsiteY30" fmla="*/ 101264 h 733938"/>
              <a:gd name="connsiteX31" fmla="*/ 12700 w 736600"/>
              <a:gd name="connsiteY31" fmla="*/ 6014 h 733938"/>
              <a:gd name="connsiteX0" fmla="*/ 6747 w 730647"/>
              <a:gd name="connsiteY0" fmla="*/ 6014 h 733938"/>
              <a:gd name="connsiteX1" fmla="*/ 48022 w 730647"/>
              <a:gd name="connsiteY1" fmla="*/ 9189 h 733938"/>
              <a:gd name="connsiteX2" fmla="*/ 117872 w 730647"/>
              <a:gd name="connsiteY2" fmla="*/ 2839 h 733938"/>
              <a:gd name="connsiteX3" fmla="*/ 435372 w 730647"/>
              <a:gd name="connsiteY3" fmla="*/ 6014 h 733938"/>
              <a:gd name="connsiteX4" fmla="*/ 476647 w 730647"/>
              <a:gd name="connsiteY4" fmla="*/ 9189 h 733938"/>
              <a:gd name="connsiteX5" fmla="*/ 568722 w 730647"/>
              <a:gd name="connsiteY5" fmla="*/ 12364 h 733938"/>
              <a:gd name="connsiteX6" fmla="*/ 708422 w 730647"/>
              <a:gd name="connsiteY6" fmla="*/ 9189 h 733938"/>
              <a:gd name="connsiteX7" fmla="*/ 724297 w 730647"/>
              <a:gd name="connsiteY7" fmla="*/ 12364 h 733938"/>
              <a:gd name="connsiteX8" fmla="*/ 717947 w 730647"/>
              <a:gd name="connsiteY8" fmla="*/ 63164 h 733938"/>
              <a:gd name="connsiteX9" fmla="*/ 721122 w 730647"/>
              <a:gd name="connsiteY9" fmla="*/ 139364 h 733938"/>
              <a:gd name="connsiteX10" fmla="*/ 727472 w 730647"/>
              <a:gd name="connsiteY10" fmla="*/ 158414 h 733938"/>
              <a:gd name="connsiteX11" fmla="*/ 730647 w 730647"/>
              <a:gd name="connsiteY11" fmla="*/ 167939 h 733938"/>
              <a:gd name="connsiteX12" fmla="*/ 727472 w 730647"/>
              <a:gd name="connsiteY12" fmla="*/ 266364 h 733938"/>
              <a:gd name="connsiteX13" fmla="*/ 724297 w 730647"/>
              <a:gd name="connsiteY13" fmla="*/ 434639 h 733938"/>
              <a:gd name="connsiteX14" fmla="*/ 717947 w 730647"/>
              <a:gd name="connsiteY14" fmla="*/ 482264 h 733938"/>
              <a:gd name="connsiteX15" fmla="*/ 711597 w 730647"/>
              <a:gd name="connsiteY15" fmla="*/ 545764 h 733938"/>
              <a:gd name="connsiteX16" fmla="*/ 708422 w 730647"/>
              <a:gd name="connsiteY16" fmla="*/ 679114 h 733938"/>
              <a:gd name="connsiteX17" fmla="*/ 705247 w 730647"/>
              <a:gd name="connsiteY17" fmla="*/ 707689 h 733938"/>
              <a:gd name="connsiteX18" fmla="*/ 702072 w 730647"/>
              <a:gd name="connsiteY18" fmla="*/ 729914 h 733938"/>
              <a:gd name="connsiteX19" fmla="*/ 644922 w 730647"/>
              <a:gd name="connsiteY19" fmla="*/ 733089 h 733938"/>
              <a:gd name="connsiteX20" fmla="*/ 454422 w 730647"/>
              <a:gd name="connsiteY20" fmla="*/ 726739 h 733938"/>
              <a:gd name="connsiteX21" fmla="*/ 390922 w 730647"/>
              <a:gd name="connsiteY21" fmla="*/ 720389 h 733938"/>
              <a:gd name="connsiteX22" fmla="*/ 222647 w 730647"/>
              <a:gd name="connsiteY22" fmla="*/ 717214 h 733938"/>
              <a:gd name="connsiteX23" fmla="*/ 111522 w 730647"/>
              <a:gd name="connsiteY23" fmla="*/ 720389 h 733938"/>
              <a:gd name="connsiteX24" fmla="*/ 76597 w 730647"/>
              <a:gd name="connsiteY24" fmla="*/ 726739 h 733938"/>
              <a:gd name="connsiteX25" fmla="*/ 9922 w 730647"/>
              <a:gd name="connsiteY25" fmla="*/ 723564 h 733938"/>
              <a:gd name="connsiteX26" fmla="*/ 3572 w 730647"/>
              <a:gd name="connsiteY26" fmla="*/ 714039 h 733938"/>
              <a:gd name="connsiteX27" fmla="*/ 397 w 730647"/>
              <a:gd name="connsiteY27" fmla="*/ 688639 h 733938"/>
              <a:gd name="connsiteX28" fmla="*/ 397 w 730647"/>
              <a:gd name="connsiteY28" fmla="*/ 196514 h 733938"/>
              <a:gd name="connsiteX29" fmla="*/ 3572 w 730647"/>
              <a:gd name="connsiteY29" fmla="*/ 101264 h 733938"/>
              <a:gd name="connsiteX30" fmla="*/ 6747 w 730647"/>
              <a:gd name="connsiteY30" fmla="*/ 6014 h 733938"/>
              <a:gd name="connsiteX0" fmla="*/ 6747 w 730647"/>
              <a:gd name="connsiteY0" fmla="*/ 6014 h 733938"/>
              <a:gd name="connsiteX1" fmla="*/ 48022 w 730647"/>
              <a:gd name="connsiteY1" fmla="*/ 9189 h 733938"/>
              <a:gd name="connsiteX2" fmla="*/ 117872 w 730647"/>
              <a:gd name="connsiteY2" fmla="*/ 2839 h 733938"/>
              <a:gd name="connsiteX3" fmla="*/ 435372 w 730647"/>
              <a:gd name="connsiteY3" fmla="*/ 6014 h 733938"/>
              <a:gd name="connsiteX4" fmla="*/ 476647 w 730647"/>
              <a:gd name="connsiteY4" fmla="*/ 9189 h 733938"/>
              <a:gd name="connsiteX5" fmla="*/ 568722 w 730647"/>
              <a:gd name="connsiteY5" fmla="*/ 12364 h 733938"/>
              <a:gd name="connsiteX6" fmla="*/ 708422 w 730647"/>
              <a:gd name="connsiteY6" fmla="*/ 9189 h 733938"/>
              <a:gd name="connsiteX7" fmla="*/ 724297 w 730647"/>
              <a:gd name="connsiteY7" fmla="*/ 12364 h 733938"/>
              <a:gd name="connsiteX8" fmla="*/ 717947 w 730647"/>
              <a:gd name="connsiteY8" fmla="*/ 63164 h 733938"/>
              <a:gd name="connsiteX9" fmla="*/ 721122 w 730647"/>
              <a:gd name="connsiteY9" fmla="*/ 139364 h 733938"/>
              <a:gd name="connsiteX10" fmla="*/ 727472 w 730647"/>
              <a:gd name="connsiteY10" fmla="*/ 158414 h 733938"/>
              <a:gd name="connsiteX11" fmla="*/ 730647 w 730647"/>
              <a:gd name="connsiteY11" fmla="*/ 167939 h 733938"/>
              <a:gd name="connsiteX12" fmla="*/ 727472 w 730647"/>
              <a:gd name="connsiteY12" fmla="*/ 266364 h 733938"/>
              <a:gd name="connsiteX13" fmla="*/ 724297 w 730647"/>
              <a:gd name="connsiteY13" fmla="*/ 434639 h 733938"/>
              <a:gd name="connsiteX14" fmla="*/ 717947 w 730647"/>
              <a:gd name="connsiteY14" fmla="*/ 482264 h 733938"/>
              <a:gd name="connsiteX15" fmla="*/ 711597 w 730647"/>
              <a:gd name="connsiteY15" fmla="*/ 545764 h 733938"/>
              <a:gd name="connsiteX16" fmla="*/ 708422 w 730647"/>
              <a:gd name="connsiteY16" fmla="*/ 679114 h 733938"/>
              <a:gd name="connsiteX17" fmla="*/ 705247 w 730647"/>
              <a:gd name="connsiteY17" fmla="*/ 707689 h 733938"/>
              <a:gd name="connsiteX18" fmla="*/ 702072 w 730647"/>
              <a:gd name="connsiteY18" fmla="*/ 729914 h 733938"/>
              <a:gd name="connsiteX19" fmla="*/ 644922 w 730647"/>
              <a:gd name="connsiteY19" fmla="*/ 733089 h 733938"/>
              <a:gd name="connsiteX20" fmla="*/ 454422 w 730647"/>
              <a:gd name="connsiteY20" fmla="*/ 726739 h 733938"/>
              <a:gd name="connsiteX21" fmla="*/ 390922 w 730647"/>
              <a:gd name="connsiteY21" fmla="*/ 720389 h 733938"/>
              <a:gd name="connsiteX22" fmla="*/ 222647 w 730647"/>
              <a:gd name="connsiteY22" fmla="*/ 733089 h 733938"/>
              <a:gd name="connsiteX23" fmla="*/ 111522 w 730647"/>
              <a:gd name="connsiteY23" fmla="*/ 720389 h 733938"/>
              <a:gd name="connsiteX24" fmla="*/ 76597 w 730647"/>
              <a:gd name="connsiteY24" fmla="*/ 726739 h 733938"/>
              <a:gd name="connsiteX25" fmla="*/ 9922 w 730647"/>
              <a:gd name="connsiteY25" fmla="*/ 723564 h 733938"/>
              <a:gd name="connsiteX26" fmla="*/ 3572 w 730647"/>
              <a:gd name="connsiteY26" fmla="*/ 714039 h 733938"/>
              <a:gd name="connsiteX27" fmla="*/ 397 w 730647"/>
              <a:gd name="connsiteY27" fmla="*/ 688639 h 733938"/>
              <a:gd name="connsiteX28" fmla="*/ 397 w 730647"/>
              <a:gd name="connsiteY28" fmla="*/ 196514 h 733938"/>
              <a:gd name="connsiteX29" fmla="*/ 3572 w 730647"/>
              <a:gd name="connsiteY29" fmla="*/ 101264 h 733938"/>
              <a:gd name="connsiteX30" fmla="*/ 6747 w 730647"/>
              <a:gd name="connsiteY30" fmla="*/ 6014 h 733938"/>
              <a:gd name="connsiteX0" fmla="*/ 6747 w 730647"/>
              <a:gd name="connsiteY0" fmla="*/ 6014 h 739557"/>
              <a:gd name="connsiteX1" fmla="*/ 48022 w 730647"/>
              <a:gd name="connsiteY1" fmla="*/ 9189 h 739557"/>
              <a:gd name="connsiteX2" fmla="*/ 117872 w 730647"/>
              <a:gd name="connsiteY2" fmla="*/ 2839 h 739557"/>
              <a:gd name="connsiteX3" fmla="*/ 435372 w 730647"/>
              <a:gd name="connsiteY3" fmla="*/ 6014 h 739557"/>
              <a:gd name="connsiteX4" fmla="*/ 476647 w 730647"/>
              <a:gd name="connsiteY4" fmla="*/ 9189 h 739557"/>
              <a:gd name="connsiteX5" fmla="*/ 568722 w 730647"/>
              <a:gd name="connsiteY5" fmla="*/ 12364 h 739557"/>
              <a:gd name="connsiteX6" fmla="*/ 708422 w 730647"/>
              <a:gd name="connsiteY6" fmla="*/ 9189 h 739557"/>
              <a:gd name="connsiteX7" fmla="*/ 724297 w 730647"/>
              <a:gd name="connsiteY7" fmla="*/ 12364 h 739557"/>
              <a:gd name="connsiteX8" fmla="*/ 717947 w 730647"/>
              <a:gd name="connsiteY8" fmla="*/ 63164 h 739557"/>
              <a:gd name="connsiteX9" fmla="*/ 721122 w 730647"/>
              <a:gd name="connsiteY9" fmla="*/ 139364 h 739557"/>
              <a:gd name="connsiteX10" fmla="*/ 727472 w 730647"/>
              <a:gd name="connsiteY10" fmla="*/ 158414 h 739557"/>
              <a:gd name="connsiteX11" fmla="*/ 730647 w 730647"/>
              <a:gd name="connsiteY11" fmla="*/ 167939 h 739557"/>
              <a:gd name="connsiteX12" fmla="*/ 727472 w 730647"/>
              <a:gd name="connsiteY12" fmla="*/ 266364 h 739557"/>
              <a:gd name="connsiteX13" fmla="*/ 724297 w 730647"/>
              <a:gd name="connsiteY13" fmla="*/ 434639 h 739557"/>
              <a:gd name="connsiteX14" fmla="*/ 717947 w 730647"/>
              <a:gd name="connsiteY14" fmla="*/ 482264 h 739557"/>
              <a:gd name="connsiteX15" fmla="*/ 711597 w 730647"/>
              <a:gd name="connsiteY15" fmla="*/ 545764 h 739557"/>
              <a:gd name="connsiteX16" fmla="*/ 708422 w 730647"/>
              <a:gd name="connsiteY16" fmla="*/ 679114 h 739557"/>
              <a:gd name="connsiteX17" fmla="*/ 705247 w 730647"/>
              <a:gd name="connsiteY17" fmla="*/ 707689 h 739557"/>
              <a:gd name="connsiteX18" fmla="*/ 702072 w 730647"/>
              <a:gd name="connsiteY18" fmla="*/ 729914 h 739557"/>
              <a:gd name="connsiteX19" fmla="*/ 644922 w 730647"/>
              <a:gd name="connsiteY19" fmla="*/ 733089 h 739557"/>
              <a:gd name="connsiteX20" fmla="*/ 454422 w 730647"/>
              <a:gd name="connsiteY20" fmla="*/ 726739 h 739557"/>
              <a:gd name="connsiteX21" fmla="*/ 390922 w 730647"/>
              <a:gd name="connsiteY21" fmla="*/ 739439 h 739557"/>
              <a:gd name="connsiteX22" fmla="*/ 222647 w 730647"/>
              <a:gd name="connsiteY22" fmla="*/ 733089 h 739557"/>
              <a:gd name="connsiteX23" fmla="*/ 111522 w 730647"/>
              <a:gd name="connsiteY23" fmla="*/ 720389 h 739557"/>
              <a:gd name="connsiteX24" fmla="*/ 76597 w 730647"/>
              <a:gd name="connsiteY24" fmla="*/ 726739 h 739557"/>
              <a:gd name="connsiteX25" fmla="*/ 9922 w 730647"/>
              <a:gd name="connsiteY25" fmla="*/ 723564 h 739557"/>
              <a:gd name="connsiteX26" fmla="*/ 3572 w 730647"/>
              <a:gd name="connsiteY26" fmla="*/ 714039 h 739557"/>
              <a:gd name="connsiteX27" fmla="*/ 397 w 730647"/>
              <a:gd name="connsiteY27" fmla="*/ 688639 h 739557"/>
              <a:gd name="connsiteX28" fmla="*/ 397 w 730647"/>
              <a:gd name="connsiteY28" fmla="*/ 196514 h 739557"/>
              <a:gd name="connsiteX29" fmla="*/ 3572 w 730647"/>
              <a:gd name="connsiteY29" fmla="*/ 101264 h 739557"/>
              <a:gd name="connsiteX30" fmla="*/ 6747 w 730647"/>
              <a:gd name="connsiteY30" fmla="*/ 6014 h 739557"/>
              <a:gd name="connsiteX0" fmla="*/ 6747 w 730647"/>
              <a:gd name="connsiteY0" fmla="*/ 6014 h 740232"/>
              <a:gd name="connsiteX1" fmla="*/ 48022 w 730647"/>
              <a:gd name="connsiteY1" fmla="*/ 9189 h 740232"/>
              <a:gd name="connsiteX2" fmla="*/ 117872 w 730647"/>
              <a:gd name="connsiteY2" fmla="*/ 2839 h 740232"/>
              <a:gd name="connsiteX3" fmla="*/ 435372 w 730647"/>
              <a:gd name="connsiteY3" fmla="*/ 6014 h 740232"/>
              <a:gd name="connsiteX4" fmla="*/ 476647 w 730647"/>
              <a:gd name="connsiteY4" fmla="*/ 9189 h 740232"/>
              <a:gd name="connsiteX5" fmla="*/ 568722 w 730647"/>
              <a:gd name="connsiteY5" fmla="*/ 12364 h 740232"/>
              <a:gd name="connsiteX6" fmla="*/ 708422 w 730647"/>
              <a:gd name="connsiteY6" fmla="*/ 9189 h 740232"/>
              <a:gd name="connsiteX7" fmla="*/ 724297 w 730647"/>
              <a:gd name="connsiteY7" fmla="*/ 12364 h 740232"/>
              <a:gd name="connsiteX8" fmla="*/ 717947 w 730647"/>
              <a:gd name="connsiteY8" fmla="*/ 63164 h 740232"/>
              <a:gd name="connsiteX9" fmla="*/ 721122 w 730647"/>
              <a:gd name="connsiteY9" fmla="*/ 139364 h 740232"/>
              <a:gd name="connsiteX10" fmla="*/ 727472 w 730647"/>
              <a:gd name="connsiteY10" fmla="*/ 158414 h 740232"/>
              <a:gd name="connsiteX11" fmla="*/ 730647 w 730647"/>
              <a:gd name="connsiteY11" fmla="*/ 167939 h 740232"/>
              <a:gd name="connsiteX12" fmla="*/ 727472 w 730647"/>
              <a:gd name="connsiteY12" fmla="*/ 266364 h 740232"/>
              <a:gd name="connsiteX13" fmla="*/ 724297 w 730647"/>
              <a:gd name="connsiteY13" fmla="*/ 434639 h 740232"/>
              <a:gd name="connsiteX14" fmla="*/ 717947 w 730647"/>
              <a:gd name="connsiteY14" fmla="*/ 482264 h 740232"/>
              <a:gd name="connsiteX15" fmla="*/ 711597 w 730647"/>
              <a:gd name="connsiteY15" fmla="*/ 545764 h 740232"/>
              <a:gd name="connsiteX16" fmla="*/ 708422 w 730647"/>
              <a:gd name="connsiteY16" fmla="*/ 679114 h 740232"/>
              <a:gd name="connsiteX17" fmla="*/ 705247 w 730647"/>
              <a:gd name="connsiteY17" fmla="*/ 707689 h 740232"/>
              <a:gd name="connsiteX18" fmla="*/ 702072 w 730647"/>
              <a:gd name="connsiteY18" fmla="*/ 729914 h 740232"/>
              <a:gd name="connsiteX19" fmla="*/ 644922 w 730647"/>
              <a:gd name="connsiteY19" fmla="*/ 733089 h 740232"/>
              <a:gd name="connsiteX20" fmla="*/ 521097 w 730647"/>
              <a:gd name="connsiteY20" fmla="*/ 739439 h 740232"/>
              <a:gd name="connsiteX21" fmla="*/ 390922 w 730647"/>
              <a:gd name="connsiteY21" fmla="*/ 739439 h 740232"/>
              <a:gd name="connsiteX22" fmla="*/ 222647 w 730647"/>
              <a:gd name="connsiteY22" fmla="*/ 733089 h 740232"/>
              <a:gd name="connsiteX23" fmla="*/ 111522 w 730647"/>
              <a:gd name="connsiteY23" fmla="*/ 720389 h 740232"/>
              <a:gd name="connsiteX24" fmla="*/ 76597 w 730647"/>
              <a:gd name="connsiteY24" fmla="*/ 726739 h 740232"/>
              <a:gd name="connsiteX25" fmla="*/ 9922 w 730647"/>
              <a:gd name="connsiteY25" fmla="*/ 723564 h 740232"/>
              <a:gd name="connsiteX26" fmla="*/ 3572 w 730647"/>
              <a:gd name="connsiteY26" fmla="*/ 714039 h 740232"/>
              <a:gd name="connsiteX27" fmla="*/ 397 w 730647"/>
              <a:gd name="connsiteY27" fmla="*/ 688639 h 740232"/>
              <a:gd name="connsiteX28" fmla="*/ 397 w 730647"/>
              <a:gd name="connsiteY28" fmla="*/ 196514 h 740232"/>
              <a:gd name="connsiteX29" fmla="*/ 3572 w 730647"/>
              <a:gd name="connsiteY29" fmla="*/ 101264 h 740232"/>
              <a:gd name="connsiteX30" fmla="*/ 6747 w 730647"/>
              <a:gd name="connsiteY30" fmla="*/ 6014 h 740232"/>
              <a:gd name="connsiteX0" fmla="*/ 6747 w 727541"/>
              <a:gd name="connsiteY0" fmla="*/ 6014 h 740232"/>
              <a:gd name="connsiteX1" fmla="*/ 48022 w 727541"/>
              <a:gd name="connsiteY1" fmla="*/ 9189 h 740232"/>
              <a:gd name="connsiteX2" fmla="*/ 117872 w 727541"/>
              <a:gd name="connsiteY2" fmla="*/ 2839 h 740232"/>
              <a:gd name="connsiteX3" fmla="*/ 435372 w 727541"/>
              <a:gd name="connsiteY3" fmla="*/ 6014 h 740232"/>
              <a:gd name="connsiteX4" fmla="*/ 476647 w 727541"/>
              <a:gd name="connsiteY4" fmla="*/ 9189 h 740232"/>
              <a:gd name="connsiteX5" fmla="*/ 568722 w 727541"/>
              <a:gd name="connsiteY5" fmla="*/ 12364 h 740232"/>
              <a:gd name="connsiteX6" fmla="*/ 708422 w 727541"/>
              <a:gd name="connsiteY6" fmla="*/ 9189 h 740232"/>
              <a:gd name="connsiteX7" fmla="*/ 724297 w 727541"/>
              <a:gd name="connsiteY7" fmla="*/ 12364 h 740232"/>
              <a:gd name="connsiteX8" fmla="*/ 717947 w 727541"/>
              <a:gd name="connsiteY8" fmla="*/ 63164 h 740232"/>
              <a:gd name="connsiteX9" fmla="*/ 721122 w 727541"/>
              <a:gd name="connsiteY9" fmla="*/ 139364 h 740232"/>
              <a:gd name="connsiteX10" fmla="*/ 727472 w 727541"/>
              <a:gd name="connsiteY10" fmla="*/ 158414 h 740232"/>
              <a:gd name="connsiteX11" fmla="*/ 724297 w 727541"/>
              <a:gd name="connsiteY11" fmla="*/ 202864 h 740232"/>
              <a:gd name="connsiteX12" fmla="*/ 727472 w 727541"/>
              <a:gd name="connsiteY12" fmla="*/ 266364 h 740232"/>
              <a:gd name="connsiteX13" fmla="*/ 724297 w 727541"/>
              <a:gd name="connsiteY13" fmla="*/ 434639 h 740232"/>
              <a:gd name="connsiteX14" fmla="*/ 717947 w 727541"/>
              <a:gd name="connsiteY14" fmla="*/ 482264 h 740232"/>
              <a:gd name="connsiteX15" fmla="*/ 711597 w 727541"/>
              <a:gd name="connsiteY15" fmla="*/ 545764 h 740232"/>
              <a:gd name="connsiteX16" fmla="*/ 708422 w 727541"/>
              <a:gd name="connsiteY16" fmla="*/ 679114 h 740232"/>
              <a:gd name="connsiteX17" fmla="*/ 705247 w 727541"/>
              <a:gd name="connsiteY17" fmla="*/ 707689 h 740232"/>
              <a:gd name="connsiteX18" fmla="*/ 702072 w 727541"/>
              <a:gd name="connsiteY18" fmla="*/ 729914 h 740232"/>
              <a:gd name="connsiteX19" fmla="*/ 644922 w 727541"/>
              <a:gd name="connsiteY19" fmla="*/ 733089 h 740232"/>
              <a:gd name="connsiteX20" fmla="*/ 521097 w 727541"/>
              <a:gd name="connsiteY20" fmla="*/ 739439 h 740232"/>
              <a:gd name="connsiteX21" fmla="*/ 390922 w 727541"/>
              <a:gd name="connsiteY21" fmla="*/ 739439 h 740232"/>
              <a:gd name="connsiteX22" fmla="*/ 222647 w 727541"/>
              <a:gd name="connsiteY22" fmla="*/ 733089 h 740232"/>
              <a:gd name="connsiteX23" fmla="*/ 111522 w 727541"/>
              <a:gd name="connsiteY23" fmla="*/ 720389 h 740232"/>
              <a:gd name="connsiteX24" fmla="*/ 76597 w 727541"/>
              <a:gd name="connsiteY24" fmla="*/ 726739 h 740232"/>
              <a:gd name="connsiteX25" fmla="*/ 9922 w 727541"/>
              <a:gd name="connsiteY25" fmla="*/ 723564 h 740232"/>
              <a:gd name="connsiteX26" fmla="*/ 3572 w 727541"/>
              <a:gd name="connsiteY26" fmla="*/ 714039 h 740232"/>
              <a:gd name="connsiteX27" fmla="*/ 397 w 727541"/>
              <a:gd name="connsiteY27" fmla="*/ 688639 h 740232"/>
              <a:gd name="connsiteX28" fmla="*/ 397 w 727541"/>
              <a:gd name="connsiteY28" fmla="*/ 196514 h 740232"/>
              <a:gd name="connsiteX29" fmla="*/ 3572 w 727541"/>
              <a:gd name="connsiteY29" fmla="*/ 101264 h 740232"/>
              <a:gd name="connsiteX30" fmla="*/ 6747 w 727541"/>
              <a:gd name="connsiteY30" fmla="*/ 6014 h 740232"/>
              <a:gd name="connsiteX0" fmla="*/ 6747 w 727472"/>
              <a:gd name="connsiteY0" fmla="*/ 6014 h 740232"/>
              <a:gd name="connsiteX1" fmla="*/ 48022 w 727472"/>
              <a:gd name="connsiteY1" fmla="*/ 9189 h 740232"/>
              <a:gd name="connsiteX2" fmla="*/ 117872 w 727472"/>
              <a:gd name="connsiteY2" fmla="*/ 2839 h 740232"/>
              <a:gd name="connsiteX3" fmla="*/ 435372 w 727472"/>
              <a:gd name="connsiteY3" fmla="*/ 6014 h 740232"/>
              <a:gd name="connsiteX4" fmla="*/ 476647 w 727472"/>
              <a:gd name="connsiteY4" fmla="*/ 9189 h 740232"/>
              <a:gd name="connsiteX5" fmla="*/ 568722 w 727472"/>
              <a:gd name="connsiteY5" fmla="*/ 12364 h 740232"/>
              <a:gd name="connsiteX6" fmla="*/ 708422 w 727472"/>
              <a:gd name="connsiteY6" fmla="*/ 9189 h 740232"/>
              <a:gd name="connsiteX7" fmla="*/ 724297 w 727472"/>
              <a:gd name="connsiteY7" fmla="*/ 12364 h 740232"/>
              <a:gd name="connsiteX8" fmla="*/ 717947 w 727472"/>
              <a:gd name="connsiteY8" fmla="*/ 63164 h 740232"/>
              <a:gd name="connsiteX9" fmla="*/ 721122 w 727472"/>
              <a:gd name="connsiteY9" fmla="*/ 139364 h 740232"/>
              <a:gd name="connsiteX10" fmla="*/ 724297 w 727472"/>
              <a:gd name="connsiteY10" fmla="*/ 202864 h 740232"/>
              <a:gd name="connsiteX11" fmla="*/ 727472 w 727472"/>
              <a:gd name="connsiteY11" fmla="*/ 266364 h 740232"/>
              <a:gd name="connsiteX12" fmla="*/ 724297 w 727472"/>
              <a:gd name="connsiteY12" fmla="*/ 434639 h 740232"/>
              <a:gd name="connsiteX13" fmla="*/ 717947 w 727472"/>
              <a:gd name="connsiteY13" fmla="*/ 482264 h 740232"/>
              <a:gd name="connsiteX14" fmla="*/ 711597 w 727472"/>
              <a:gd name="connsiteY14" fmla="*/ 545764 h 740232"/>
              <a:gd name="connsiteX15" fmla="*/ 708422 w 727472"/>
              <a:gd name="connsiteY15" fmla="*/ 679114 h 740232"/>
              <a:gd name="connsiteX16" fmla="*/ 705247 w 727472"/>
              <a:gd name="connsiteY16" fmla="*/ 707689 h 740232"/>
              <a:gd name="connsiteX17" fmla="*/ 702072 w 727472"/>
              <a:gd name="connsiteY17" fmla="*/ 729914 h 740232"/>
              <a:gd name="connsiteX18" fmla="*/ 644922 w 727472"/>
              <a:gd name="connsiteY18" fmla="*/ 733089 h 740232"/>
              <a:gd name="connsiteX19" fmla="*/ 521097 w 727472"/>
              <a:gd name="connsiteY19" fmla="*/ 739439 h 740232"/>
              <a:gd name="connsiteX20" fmla="*/ 390922 w 727472"/>
              <a:gd name="connsiteY20" fmla="*/ 739439 h 740232"/>
              <a:gd name="connsiteX21" fmla="*/ 222647 w 727472"/>
              <a:gd name="connsiteY21" fmla="*/ 733089 h 740232"/>
              <a:gd name="connsiteX22" fmla="*/ 111522 w 727472"/>
              <a:gd name="connsiteY22" fmla="*/ 720389 h 740232"/>
              <a:gd name="connsiteX23" fmla="*/ 76597 w 727472"/>
              <a:gd name="connsiteY23" fmla="*/ 726739 h 740232"/>
              <a:gd name="connsiteX24" fmla="*/ 9922 w 727472"/>
              <a:gd name="connsiteY24" fmla="*/ 723564 h 740232"/>
              <a:gd name="connsiteX25" fmla="*/ 3572 w 727472"/>
              <a:gd name="connsiteY25" fmla="*/ 714039 h 740232"/>
              <a:gd name="connsiteX26" fmla="*/ 397 w 727472"/>
              <a:gd name="connsiteY26" fmla="*/ 688639 h 740232"/>
              <a:gd name="connsiteX27" fmla="*/ 397 w 727472"/>
              <a:gd name="connsiteY27" fmla="*/ 196514 h 740232"/>
              <a:gd name="connsiteX28" fmla="*/ 3572 w 727472"/>
              <a:gd name="connsiteY28" fmla="*/ 101264 h 740232"/>
              <a:gd name="connsiteX29" fmla="*/ 6747 w 727472"/>
              <a:gd name="connsiteY29" fmla="*/ 6014 h 740232"/>
              <a:gd name="connsiteX0" fmla="*/ 6747 w 725498"/>
              <a:gd name="connsiteY0" fmla="*/ 6014 h 740232"/>
              <a:gd name="connsiteX1" fmla="*/ 48022 w 725498"/>
              <a:gd name="connsiteY1" fmla="*/ 9189 h 740232"/>
              <a:gd name="connsiteX2" fmla="*/ 117872 w 725498"/>
              <a:gd name="connsiteY2" fmla="*/ 2839 h 740232"/>
              <a:gd name="connsiteX3" fmla="*/ 435372 w 725498"/>
              <a:gd name="connsiteY3" fmla="*/ 6014 h 740232"/>
              <a:gd name="connsiteX4" fmla="*/ 476647 w 725498"/>
              <a:gd name="connsiteY4" fmla="*/ 9189 h 740232"/>
              <a:gd name="connsiteX5" fmla="*/ 568722 w 725498"/>
              <a:gd name="connsiteY5" fmla="*/ 12364 h 740232"/>
              <a:gd name="connsiteX6" fmla="*/ 708422 w 725498"/>
              <a:gd name="connsiteY6" fmla="*/ 9189 h 740232"/>
              <a:gd name="connsiteX7" fmla="*/ 724297 w 725498"/>
              <a:gd name="connsiteY7" fmla="*/ 12364 h 740232"/>
              <a:gd name="connsiteX8" fmla="*/ 717947 w 725498"/>
              <a:gd name="connsiteY8" fmla="*/ 63164 h 740232"/>
              <a:gd name="connsiteX9" fmla="*/ 721122 w 725498"/>
              <a:gd name="connsiteY9" fmla="*/ 139364 h 740232"/>
              <a:gd name="connsiteX10" fmla="*/ 724297 w 725498"/>
              <a:gd name="connsiteY10" fmla="*/ 202864 h 740232"/>
              <a:gd name="connsiteX11" fmla="*/ 717947 w 725498"/>
              <a:gd name="connsiteY11" fmla="*/ 323514 h 740232"/>
              <a:gd name="connsiteX12" fmla="*/ 724297 w 725498"/>
              <a:gd name="connsiteY12" fmla="*/ 434639 h 740232"/>
              <a:gd name="connsiteX13" fmla="*/ 717947 w 725498"/>
              <a:gd name="connsiteY13" fmla="*/ 482264 h 740232"/>
              <a:gd name="connsiteX14" fmla="*/ 711597 w 725498"/>
              <a:gd name="connsiteY14" fmla="*/ 545764 h 740232"/>
              <a:gd name="connsiteX15" fmla="*/ 708422 w 725498"/>
              <a:gd name="connsiteY15" fmla="*/ 679114 h 740232"/>
              <a:gd name="connsiteX16" fmla="*/ 705247 w 725498"/>
              <a:gd name="connsiteY16" fmla="*/ 707689 h 740232"/>
              <a:gd name="connsiteX17" fmla="*/ 702072 w 725498"/>
              <a:gd name="connsiteY17" fmla="*/ 729914 h 740232"/>
              <a:gd name="connsiteX18" fmla="*/ 644922 w 725498"/>
              <a:gd name="connsiteY18" fmla="*/ 733089 h 740232"/>
              <a:gd name="connsiteX19" fmla="*/ 521097 w 725498"/>
              <a:gd name="connsiteY19" fmla="*/ 739439 h 740232"/>
              <a:gd name="connsiteX20" fmla="*/ 390922 w 725498"/>
              <a:gd name="connsiteY20" fmla="*/ 739439 h 740232"/>
              <a:gd name="connsiteX21" fmla="*/ 222647 w 725498"/>
              <a:gd name="connsiteY21" fmla="*/ 733089 h 740232"/>
              <a:gd name="connsiteX22" fmla="*/ 111522 w 725498"/>
              <a:gd name="connsiteY22" fmla="*/ 720389 h 740232"/>
              <a:gd name="connsiteX23" fmla="*/ 76597 w 725498"/>
              <a:gd name="connsiteY23" fmla="*/ 726739 h 740232"/>
              <a:gd name="connsiteX24" fmla="*/ 9922 w 725498"/>
              <a:gd name="connsiteY24" fmla="*/ 723564 h 740232"/>
              <a:gd name="connsiteX25" fmla="*/ 3572 w 725498"/>
              <a:gd name="connsiteY25" fmla="*/ 714039 h 740232"/>
              <a:gd name="connsiteX26" fmla="*/ 397 w 725498"/>
              <a:gd name="connsiteY26" fmla="*/ 688639 h 740232"/>
              <a:gd name="connsiteX27" fmla="*/ 397 w 725498"/>
              <a:gd name="connsiteY27" fmla="*/ 196514 h 740232"/>
              <a:gd name="connsiteX28" fmla="*/ 3572 w 725498"/>
              <a:gd name="connsiteY28" fmla="*/ 101264 h 740232"/>
              <a:gd name="connsiteX29" fmla="*/ 6747 w 725498"/>
              <a:gd name="connsiteY29" fmla="*/ 6014 h 740232"/>
              <a:gd name="connsiteX0" fmla="*/ 6747 w 725498"/>
              <a:gd name="connsiteY0" fmla="*/ 6014 h 740232"/>
              <a:gd name="connsiteX1" fmla="*/ 48022 w 725498"/>
              <a:gd name="connsiteY1" fmla="*/ 9189 h 740232"/>
              <a:gd name="connsiteX2" fmla="*/ 117872 w 725498"/>
              <a:gd name="connsiteY2" fmla="*/ 2839 h 740232"/>
              <a:gd name="connsiteX3" fmla="*/ 435372 w 725498"/>
              <a:gd name="connsiteY3" fmla="*/ 6014 h 740232"/>
              <a:gd name="connsiteX4" fmla="*/ 476647 w 725498"/>
              <a:gd name="connsiteY4" fmla="*/ 9189 h 740232"/>
              <a:gd name="connsiteX5" fmla="*/ 568722 w 725498"/>
              <a:gd name="connsiteY5" fmla="*/ 12364 h 740232"/>
              <a:gd name="connsiteX6" fmla="*/ 708422 w 725498"/>
              <a:gd name="connsiteY6" fmla="*/ 9189 h 740232"/>
              <a:gd name="connsiteX7" fmla="*/ 724297 w 725498"/>
              <a:gd name="connsiteY7" fmla="*/ 12364 h 740232"/>
              <a:gd name="connsiteX8" fmla="*/ 717947 w 725498"/>
              <a:gd name="connsiteY8" fmla="*/ 63164 h 740232"/>
              <a:gd name="connsiteX9" fmla="*/ 721122 w 725498"/>
              <a:gd name="connsiteY9" fmla="*/ 139364 h 740232"/>
              <a:gd name="connsiteX10" fmla="*/ 724297 w 725498"/>
              <a:gd name="connsiteY10" fmla="*/ 202864 h 740232"/>
              <a:gd name="connsiteX11" fmla="*/ 717947 w 725498"/>
              <a:gd name="connsiteY11" fmla="*/ 323514 h 740232"/>
              <a:gd name="connsiteX12" fmla="*/ 711597 w 725498"/>
              <a:gd name="connsiteY12" fmla="*/ 437814 h 740232"/>
              <a:gd name="connsiteX13" fmla="*/ 717947 w 725498"/>
              <a:gd name="connsiteY13" fmla="*/ 482264 h 740232"/>
              <a:gd name="connsiteX14" fmla="*/ 711597 w 725498"/>
              <a:gd name="connsiteY14" fmla="*/ 545764 h 740232"/>
              <a:gd name="connsiteX15" fmla="*/ 708422 w 725498"/>
              <a:gd name="connsiteY15" fmla="*/ 679114 h 740232"/>
              <a:gd name="connsiteX16" fmla="*/ 705247 w 725498"/>
              <a:gd name="connsiteY16" fmla="*/ 707689 h 740232"/>
              <a:gd name="connsiteX17" fmla="*/ 702072 w 725498"/>
              <a:gd name="connsiteY17" fmla="*/ 729914 h 740232"/>
              <a:gd name="connsiteX18" fmla="*/ 644922 w 725498"/>
              <a:gd name="connsiteY18" fmla="*/ 733089 h 740232"/>
              <a:gd name="connsiteX19" fmla="*/ 521097 w 725498"/>
              <a:gd name="connsiteY19" fmla="*/ 739439 h 740232"/>
              <a:gd name="connsiteX20" fmla="*/ 390922 w 725498"/>
              <a:gd name="connsiteY20" fmla="*/ 739439 h 740232"/>
              <a:gd name="connsiteX21" fmla="*/ 222647 w 725498"/>
              <a:gd name="connsiteY21" fmla="*/ 733089 h 740232"/>
              <a:gd name="connsiteX22" fmla="*/ 111522 w 725498"/>
              <a:gd name="connsiteY22" fmla="*/ 720389 h 740232"/>
              <a:gd name="connsiteX23" fmla="*/ 76597 w 725498"/>
              <a:gd name="connsiteY23" fmla="*/ 726739 h 740232"/>
              <a:gd name="connsiteX24" fmla="*/ 9922 w 725498"/>
              <a:gd name="connsiteY24" fmla="*/ 723564 h 740232"/>
              <a:gd name="connsiteX25" fmla="*/ 3572 w 725498"/>
              <a:gd name="connsiteY25" fmla="*/ 714039 h 740232"/>
              <a:gd name="connsiteX26" fmla="*/ 397 w 725498"/>
              <a:gd name="connsiteY26" fmla="*/ 688639 h 740232"/>
              <a:gd name="connsiteX27" fmla="*/ 397 w 725498"/>
              <a:gd name="connsiteY27" fmla="*/ 196514 h 740232"/>
              <a:gd name="connsiteX28" fmla="*/ 3572 w 725498"/>
              <a:gd name="connsiteY28" fmla="*/ 101264 h 740232"/>
              <a:gd name="connsiteX29" fmla="*/ 6747 w 725498"/>
              <a:gd name="connsiteY29" fmla="*/ 6014 h 740232"/>
              <a:gd name="connsiteX0" fmla="*/ 6747 w 724366"/>
              <a:gd name="connsiteY0" fmla="*/ 6014 h 740232"/>
              <a:gd name="connsiteX1" fmla="*/ 48022 w 724366"/>
              <a:gd name="connsiteY1" fmla="*/ 9189 h 740232"/>
              <a:gd name="connsiteX2" fmla="*/ 117872 w 724366"/>
              <a:gd name="connsiteY2" fmla="*/ 2839 h 740232"/>
              <a:gd name="connsiteX3" fmla="*/ 435372 w 724366"/>
              <a:gd name="connsiteY3" fmla="*/ 6014 h 740232"/>
              <a:gd name="connsiteX4" fmla="*/ 476647 w 724366"/>
              <a:gd name="connsiteY4" fmla="*/ 9189 h 740232"/>
              <a:gd name="connsiteX5" fmla="*/ 568722 w 724366"/>
              <a:gd name="connsiteY5" fmla="*/ 12364 h 740232"/>
              <a:gd name="connsiteX6" fmla="*/ 708422 w 724366"/>
              <a:gd name="connsiteY6" fmla="*/ 9189 h 740232"/>
              <a:gd name="connsiteX7" fmla="*/ 714772 w 724366"/>
              <a:gd name="connsiteY7" fmla="*/ 15539 h 740232"/>
              <a:gd name="connsiteX8" fmla="*/ 717947 w 724366"/>
              <a:gd name="connsiteY8" fmla="*/ 63164 h 740232"/>
              <a:gd name="connsiteX9" fmla="*/ 721122 w 724366"/>
              <a:gd name="connsiteY9" fmla="*/ 139364 h 740232"/>
              <a:gd name="connsiteX10" fmla="*/ 724297 w 724366"/>
              <a:gd name="connsiteY10" fmla="*/ 202864 h 740232"/>
              <a:gd name="connsiteX11" fmla="*/ 717947 w 724366"/>
              <a:gd name="connsiteY11" fmla="*/ 323514 h 740232"/>
              <a:gd name="connsiteX12" fmla="*/ 711597 w 724366"/>
              <a:gd name="connsiteY12" fmla="*/ 437814 h 740232"/>
              <a:gd name="connsiteX13" fmla="*/ 717947 w 724366"/>
              <a:gd name="connsiteY13" fmla="*/ 482264 h 740232"/>
              <a:gd name="connsiteX14" fmla="*/ 711597 w 724366"/>
              <a:gd name="connsiteY14" fmla="*/ 545764 h 740232"/>
              <a:gd name="connsiteX15" fmla="*/ 708422 w 724366"/>
              <a:gd name="connsiteY15" fmla="*/ 679114 h 740232"/>
              <a:gd name="connsiteX16" fmla="*/ 705247 w 724366"/>
              <a:gd name="connsiteY16" fmla="*/ 707689 h 740232"/>
              <a:gd name="connsiteX17" fmla="*/ 702072 w 724366"/>
              <a:gd name="connsiteY17" fmla="*/ 729914 h 740232"/>
              <a:gd name="connsiteX18" fmla="*/ 644922 w 724366"/>
              <a:gd name="connsiteY18" fmla="*/ 733089 h 740232"/>
              <a:gd name="connsiteX19" fmla="*/ 521097 w 724366"/>
              <a:gd name="connsiteY19" fmla="*/ 739439 h 740232"/>
              <a:gd name="connsiteX20" fmla="*/ 390922 w 724366"/>
              <a:gd name="connsiteY20" fmla="*/ 739439 h 740232"/>
              <a:gd name="connsiteX21" fmla="*/ 222647 w 724366"/>
              <a:gd name="connsiteY21" fmla="*/ 733089 h 740232"/>
              <a:gd name="connsiteX22" fmla="*/ 111522 w 724366"/>
              <a:gd name="connsiteY22" fmla="*/ 720389 h 740232"/>
              <a:gd name="connsiteX23" fmla="*/ 76597 w 724366"/>
              <a:gd name="connsiteY23" fmla="*/ 726739 h 740232"/>
              <a:gd name="connsiteX24" fmla="*/ 9922 w 724366"/>
              <a:gd name="connsiteY24" fmla="*/ 723564 h 740232"/>
              <a:gd name="connsiteX25" fmla="*/ 3572 w 724366"/>
              <a:gd name="connsiteY25" fmla="*/ 714039 h 740232"/>
              <a:gd name="connsiteX26" fmla="*/ 397 w 724366"/>
              <a:gd name="connsiteY26" fmla="*/ 688639 h 740232"/>
              <a:gd name="connsiteX27" fmla="*/ 397 w 724366"/>
              <a:gd name="connsiteY27" fmla="*/ 196514 h 740232"/>
              <a:gd name="connsiteX28" fmla="*/ 3572 w 724366"/>
              <a:gd name="connsiteY28" fmla="*/ 101264 h 740232"/>
              <a:gd name="connsiteX29" fmla="*/ 6747 w 724366"/>
              <a:gd name="connsiteY29" fmla="*/ 6014 h 740232"/>
              <a:gd name="connsiteX0" fmla="*/ 6747 w 724366"/>
              <a:gd name="connsiteY0" fmla="*/ 6014 h 740232"/>
              <a:gd name="connsiteX1" fmla="*/ 48022 w 724366"/>
              <a:gd name="connsiteY1" fmla="*/ 9189 h 740232"/>
              <a:gd name="connsiteX2" fmla="*/ 117872 w 724366"/>
              <a:gd name="connsiteY2" fmla="*/ 2839 h 740232"/>
              <a:gd name="connsiteX3" fmla="*/ 435372 w 724366"/>
              <a:gd name="connsiteY3" fmla="*/ 6014 h 740232"/>
              <a:gd name="connsiteX4" fmla="*/ 476647 w 724366"/>
              <a:gd name="connsiteY4" fmla="*/ 9189 h 740232"/>
              <a:gd name="connsiteX5" fmla="*/ 568722 w 724366"/>
              <a:gd name="connsiteY5" fmla="*/ 12364 h 740232"/>
              <a:gd name="connsiteX6" fmla="*/ 708422 w 724366"/>
              <a:gd name="connsiteY6" fmla="*/ 9189 h 740232"/>
              <a:gd name="connsiteX7" fmla="*/ 714772 w 724366"/>
              <a:gd name="connsiteY7" fmla="*/ 15539 h 740232"/>
              <a:gd name="connsiteX8" fmla="*/ 717947 w 724366"/>
              <a:gd name="connsiteY8" fmla="*/ 63164 h 740232"/>
              <a:gd name="connsiteX9" fmla="*/ 721122 w 724366"/>
              <a:gd name="connsiteY9" fmla="*/ 139364 h 740232"/>
              <a:gd name="connsiteX10" fmla="*/ 724297 w 724366"/>
              <a:gd name="connsiteY10" fmla="*/ 202864 h 740232"/>
              <a:gd name="connsiteX11" fmla="*/ 717947 w 724366"/>
              <a:gd name="connsiteY11" fmla="*/ 323514 h 740232"/>
              <a:gd name="connsiteX12" fmla="*/ 711597 w 724366"/>
              <a:gd name="connsiteY12" fmla="*/ 437814 h 740232"/>
              <a:gd name="connsiteX13" fmla="*/ 717947 w 724366"/>
              <a:gd name="connsiteY13" fmla="*/ 482264 h 740232"/>
              <a:gd name="connsiteX14" fmla="*/ 711597 w 724366"/>
              <a:gd name="connsiteY14" fmla="*/ 545764 h 740232"/>
              <a:gd name="connsiteX15" fmla="*/ 708422 w 724366"/>
              <a:gd name="connsiteY15" fmla="*/ 679114 h 740232"/>
              <a:gd name="connsiteX16" fmla="*/ 705247 w 724366"/>
              <a:gd name="connsiteY16" fmla="*/ 707689 h 740232"/>
              <a:gd name="connsiteX17" fmla="*/ 702072 w 724366"/>
              <a:gd name="connsiteY17" fmla="*/ 729914 h 740232"/>
              <a:gd name="connsiteX18" fmla="*/ 644922 w 724366"/>
              <a:gd name="connsiteY18" fmla="*/ 733089 h 740232"/>
              <a:gd name="connsiteX19" fmla="*/ 521097 w 724366"/>
              <a:gd name="connsiteY19" fmla="*/ 739439 h 740232"/>
              <a:gd name="connsiteX20" fmla="*/ 390922 w 724366"/>
              <a:gd name="connsiteY20" fmla="*/ 739439 h 740232"/>
              <a:gd name="connsiteX21" fmla="*/ 222647 w 724366"/>
              <a:gd name="connsiteY21" fmla="*/ 733089 h 740232"/>
              <a:gd name="connsiteX22" fmla="*/ 76597 w 724366"/>
              <a:gd name="connsiteY22" fmla="*/ 726739 h 740232"/>
              <a:gd name="connsiteX23" fmla="*/ 9922 w 724366"/>
              <a:gd name="connsiteY23" fmla="*/ 723564 h 740232"/>
              <a:gd name="connsiteX24" fmla="*/ 3572 w 724366"/>
              <a:gd name="connsiteY24" fmla="*/ 714039 h 740232"/>
              <a:gd name="connsiteX25" fmla="*/ 397 w 724366"/>
              <a:gd name="connsiteY25" fmla="*/ 688639 h 740232"/>
              <a:gd name="connsiteX26" fmla="*/ 397 w 724366"/>
              <a:gd name="connsiteY26" fmla="*/ 196514 h 740232"/>
              <a:gd name="connsiteX27" fmla="*/ 3572 w 724366"/>
              <a:gd name="connsiteY27" fmla="*/ 101264 h 740232"/>
              <a:gd name="connsiteX28" fmla="*/ 6747 w 724366"/>
              <a:gd name="connsiteY28" fmla="*/ 6014 h 740232"/>
              <a:gd name="connsiteX0" fmla="*/ 7188 w 724807"/>
              <a:gd name="connsiteY0" fmla="*/ 6014 h 740232"/>
              <a:gd name="connsiteX1" fmla="*/ 48463 w 724807"/>
              <a:gd name="connsiteY1" fmla="*/ 9189 h 740232"/>
              <a:gd name="connsiteX2" fmla="*/ 118313 w 724807"/>
              <a:gd name="connsiteY2" fmla="*/ 2839 h 740232"/>
              <a:gd name="connsiteX3" fmla="*/ 435813 w 724807"/>
              <a:gd name="connsiteY3" fmla="*/ 6014 h 740232"/>
              <a:gd name="connsiteX4" fmla="*/ 477088 w 724807"/>
              <a:gd name="connsiteY4" fmla="*/ 9189 h 740232"/>
              <a:gd name="connsiteX5" fmla="*/ 569163 w 724807"/>
              <a:gd name="connsiteY5" fmla="*/ 12364 h 740232"/>
              <a:gd name="connsiteX6" fmla="*/ 708863 w 724807"/>
              <a:gd name="connsiteY6" fmla="*/ 9189 h 740232"/>
              <a:gd name="connsiteX7" fmla="*/ 715213 w 724807"/>
              <a:gd name="connsiteY7" fmla="*/ 15539 h 740232"/>
              <a:gd name="connsiteX8" fmla="*/ 718388 w 724807"/>
              <a:gd name="connsiteY8" fmla="*/ 63164 h 740232"/>
              <a:gd name="connsiteX9" fmla="*/ 721563 w 724807"/>
              <a:gd name="connsiteY9" fmla="*/ 139364 h 740232"/>
              <a:gd name="connsiteX10" fmla="*/ 724738 w 724807"/>
              <a:gd name="connsiteY10" fmla="*/ 202864 h 740232"/>
              <a:gd name="connsiteX11" fmla="*/ 718388 w 724807"/>
              <a:gd name="connsiteY11" fmla="*/ 323514 h 740232"/>
              <a:gd name="connsiteX12" fmla="*/ 712038 w 724807"/>
              <a:gd name="connsiteY12" fmla="*/ 437814 h 740232"/>
              <a:gd name="connsiteX13" fmla="*/ 718388 w 724807"/>
              <a:gd name="connsiteY13" fmla="*/ 482264 h 740232"/>
              <a:gd name="connsiteX14" fmla="*/ 712038 w 724807"/>
              <a:gd name="connsiteY14" fmla="*/ 545764 h 740232"/>
              <a:gd name="connsiteX15" fmla="*/ 708863 w 724807"/>
              <a:gd name="connsiteY15" fmla="*/ 679114 h 740232"/>
              <a:gd name="connsiteX16" fmla="*/ 705688 w 724807"/>
              <a:gd name="connsiteY16" fmla="*/ 707689 h 740232"/>
              <a:gd name="connsiteX17" fmla="*/ 702513 w 724807"/>
              <a:gd name="connsiteY17" fmla="*/ 729914 h 740232"/>
              <a:gd name="connsiteX18" fmla="*/ 645363 w 724807"/>
              <a:gd name="connsiteY18" fmla="*/ 733089 h 740232"/>
              <a:gd name="connsiteX19" fmla="*/ 521538 w 724807"/>
              <a:gd name="connsiteY19" fmla="*/ 739439 h 740232"/>
              <a:gd name="connsiteX20" fmla="*/ 391363 w 724807"/>
              <a:gd name="connsiteY20" fmla="*/ 739439 h 740232"/>
              <a:gd name="connsiteX21" fmla="*/ 223088 w 724807"/>
              <a:gd name="connsiteY21" fmla="*/ 733089 h 740232"/>
              <a:gd name="connsiteX22" fmla="*/ 77038 w 724807"/>
              <a:gd name="connsiteY22" fmla="*/ 726739 h 740232"/>
              <a:gd name="connsiteX23" fmla="*/ 10363 w 724807"/>
              <a:gd name="connsiteY23" fmla="*/ 723564 h 740232"/>
              <a:gd name="connsiteX24" fmla="*/ 838 w 724807"/>
              <a:gd name="connsiteY24" fmla="*/ 688639 h 740232"/>
              <a:gd name="connsiteX25" fmla="*/ 838 w 724807"/>
              <a:gd name="connsiteY25" fmla="*/ 196514 h 740232"/>
              <a:gd name="connsiteX26" fmla="*/ 4013 w 724807"/>
              <a:gd name="connsiteY26" fmla="*/ 101264 h 740232"/>
              <a:gd name="connsiteX27" fmla="*/ 7188 w 724807"/>
              <a:gd name="connsiteY27" fmla="*/ 6014 h 740232"/>
              <a:gd name="connsiteX0" fmla="*/ 7188 w 724807"/>
              <a:gd name="connsiteY0" fmla="*/ 6014 h 740232"/>
              <a:gd name="connsiteX1" fmla="*/ 48463 w 724807"/>
              <a:gd name="connsiteY1" fmla="*/ 9189 h 740232"/>
              <a:gd name="connsiteX2" fmla="*/ 118313 w 724807"/>
              <a:gd name="connsiteY2" fmla="*/ 2839 h 740232"/>
              <a:gd name="connsiteX3" fmla="*/ 435813 w 724807"/>
              <a:gd name="connsiteY3" fmla="*/ 6014 h 740232"/>
              <a:gd name="connsiteX4" fmla="*/ 477088 w 724807"/>
              <a:gd name="connsiteY4" fmla="*/ 9189 h 740232"/>
              <a:gd name="connsiteX5" fmla="*/ 569163 w 724807"/>
              <a:gd name="connsiteY5" fmla="*/ 12364 h 740232"/>
              <a:gd name="connsiteX6" fmla="*/ 708863 w 724807"/>
              <a:gd name="connsiteY6" fmla="*/ 9189 h 740232"/>
              <a:gd name="connsiteX7" fmla="*/ 715213 w 724807"/>
              <a:gd name="connsiteY7" fmla="*/ 15539 h 740232"/>
              <a:gd name="connsiteX8" fmla="*/ 718388 w 724807"/>
              <a:gd name="connsiteY8" fmla="*/ 63164 h 740232"/>
              <a:gd name="connsiteX9" fmla="*/ 721563 w 724807"/>
              <a:gd name="connsiteY9" fmla="*/ 139364 h 740232"/>
              <a:gd name="connsiteX10" fmla="*/ 724738 w 724807"/>
              <a:gd name="connsiteY10" fmla="*/ 202864 h 740232"/>
              <a:gd name="connsiteX11" fmla="*/ 718388 w 724807"/>
              <a:gd name="connsiteY11" fmla="*/ 323514 h 740232"/>
              <a:gd name="connsiteX12" fmla="*/ 712038 w 724807"/>
              <a:gd name="connsiteY12" fmla="*/ 437814 h 740232"/>
              <a:gd name="connsiteX13" fmla="*/ 718388 w 724807"/>
              <a:gd name="connsiteY13" fmla="*/ 482264 h 740232"/>
              <a:gd name="connsiteX14" fmla="*/ 712038 w 724807"/>
              <a:gd name="connsiteY14" fmla="*/ 545764 h 740232"/>
              <a:gd name="connsiteX15" fmla="*/ 708863 w 724807"/>
              <a:gd name="connsiteY15" fmla="*/ 679114 h 740232"/>
              <a:gd name="connsiteX16" fmla="*/ 705688 w 724807"/>
              <a:gd name="connsiteY16" fmla="*/ 707689 h 740232"/>
              <a:gd name="connsiteX17" fmla="*/ 702513 w 724807"/>
              <a:gd name="connsiteY17" fmla="*/ 729914 h 740232"/>
              <a:gd name="connsiteX18" fmla="*/ 645363 w 724807"/>
              <a:gd name="connsiteY18" fmla="*/ 733089 h 740232"/>
              <a:gd name="connsiteX19" fmla="*/ 521538 w 724807"/>
              <a:gd name="connsiteY19" fmla="*/ 739439 h 740232"/>
              <a:gd name="connsiteX20" fmla="*/ 391363 w 724807"/>
              <a:gd name="connsiteY20" fmla="*/ 739439 h 740232"/>
              <a:gd name="connsiteX21" fmla="*/ 223088 w 724807"/>
              <a:gd name="connsiteY21" fmla="*/ 733089 h 740232"/>
              <a:gd name="connsiteX22" fmla="*/ 77038 w 724807"/>
              <a:gd name="connsiteY22" fmla="*/ 726739 h 740232"/>
              <a:gd name="connsiteX23" fmla="*/ 10363 w 724807"/>
              <a:gd name="connsiteY23" fmla="*/ 723564 h 740232"/>
              <a:gd name="connsiteX24" fmla="*/ 838 w 724807"/>
              <a:gd name="connsiteY24" fmla="*/ 644189 h 740232"/>
              <a:gd name="connsiteX25" fmla="*/ 838 w 724807"/>
              <a:gd name="connsiteY25" fmla="*/ 196514 h 740232"/>
              <a:gd name="connsiteX26" fmla="*/ 4013 w 724807"/>
              <a:gd name="connsiteY26" fmla="*/ 101264 h 740232"/>
              <a:gd name="connsiteX27" fmla="*/ 7188 w 724807"/>
              <a:gd name="connsiteY27" fmla="*/ 6014 h 740232"/>
              <a:gd name="connsiteX0" fmla="*/ 7188 w 724807"/>
              <a:gd name="connsiteY0" fmla="*/ 6014 h 740232"/>
              <a:gd name="connsiteX1" fmla="*/ 48463 w 724807"/>
              <a:gd name="connsiteY1" fmla="*/ 9189 h 740232"/>
              <a:gd name="connsiteX2" fmla="*/ 118313 w 724807"/>
              <a:gd name="connsiteY2" fmla="*/ 2839 h 740232"/>
              <a:gd name="connsiteX3" fmla="*/ 435813 w 724807"/>
              <a:gd name="connsiteY3" fmla="*/ 6014 h 740232"/>
              <a:gd name="connsiteX4" fmla="*/ 477088 w 724807"/>
              <a:gd name="connsiteY4" fmla="*/ 9189 h 740232"/>
              <a:gd name="connsiteX5" fmla="*/ 569163 w 724807"/>
              <a:gd name="connsiteY5" fmla="*/ 12364 h 740232"/>
              <a:gd name="connsiteX6" fmla="*/ 708863 w 724807"/>
              <a:gd name="connsiteY6" fmla="*/ 9189 h 740232"/>
              <a:gd name="connsiteX7" fmla="*/ 715213 w 724807"/>
              <a:gd name="connsiteY7" fmla="*/ 15539 h 740232"/>
              <a:gd name="connsiteX8" fmla="*/ 718388 w 724807"/>
              <a:gd name="connsiteY8" fmla="*/ 63164 h 740232"/>
              <a:gd name="connsiteX9" fmla="*/ 721563 w 724807"/>
              <a:gd name="connsiteY9" fmla="*/ 139364 h 740232"/>
              <a:gd name="connsiteX10" fmla="*/ 724738 w 724807"/>
              <a:gd name="connsiteY10" fmla="*/ 202864 h 740232"/>
              <a:gd name="connsiteX11" fmla="*/ 718388 w 724807"/>
              <a:gd name="connsiteY11" fmla="*/ 323514 h 740232"/>
              <a:gd name="connsiteX12" fmla="*/ 712038 w 724807"/>
              <a:gd name="connsiteY12" fmla="*/ 437814 h 740232"/>
              <a:gd name="connsiteX13" fmla="*/ 718388 w 724807"/>
              <a:gd name="connsiteY13" fmla="*/ 482264 h 740232"/>
              <a:gd name="connsiteX14" fmla="*/ 712038 w 724807"/>
              <a:gd name="connsiteY14" fmla="*/ 545764 h 740232"/>
              <a:gd name="connsiteX15" fmla="*/ 708863 w 724807"/>
              <a:gd name="connsiteY15" fmla="*/ 679114 h 740232"/>
              <a:gd name="connsiteX16" fmla="*/ 705688 w 724807"/>
              <a:gd name="connsiteY16" fmla="*/ 707689 h 740232"/>
              <a:gd name="connsiteX17" fmla="*/ 702513 w 724807"/>
              <a:gd name="connsiteY17" fmla="*/ 729914 h 740232"/>
              <a:gd name="connsiteX18" fmla="*/ 645363 w 724807"/>
              <a:gd name="connsiteY18" fmla="*/ 733089 h 740232"/>
              <a:gd name="connsiteX19" fmla="*/ 521538 w 724807"/>
              <a:gd name="connsiteY19" fmla="*/ 739439 h 740232"/>
              <a:gd name="connsiteX20" fmla="*/ 391363 w 724807"/>
              <a:gd name="connsiteY20" fmla="*/ 739439 h 740232"/>
              <a:gd name="connsiteX21" fmla="*/ 223088 w 724807"/>
              <a:gd name="connsiteY21" fmla="*/ 733089 h 740232"/>
              <a:gd name="connsiteX22" fmla="*/ 96088 w 724807"/>
              <a:gd name="connsiteY22" fmla="*/ 733089 h 740232"/>
              <a:gd name="connsiteX23" fmla="*/ 10363 w 724807"/>
              <a:gd name="connsiteY23" fmla="*/ 723564 h 740232"/>
              <a:gd name="connsiteX24" fmla="*/ 838 w 724807"/>
              <a:gd name="connsiteY24" fmla="*/ 644189 h 740232"/>
              <a:gd name="connsiteX25" fmla="*/ 838 w 724807"/>
              <a:gd name="connsiteY25" fmla="*/ 196514 h 740232"/>
              <a:gd name="connsiteX26" fmla="*/ 4013 w 724807"/>
              <a:gd name="connsiteY26" fmla="*/ 101264 h 740232"/>
              <a:gd name="connsiteX27" fmla="*/ 7188 w 724807"/>
              <a:gd name="connsiteY27" fmla="*/ 6014 h 740232"/>
              <a:gd name="connsiteX0" fmla="*/ 7343 w 724962"/>
              <a:gd name="connsiteY0" fmla="*/ 6014 h 740232"/>
              <a:gd name="connsiteX1" fmla="*/ 48618 w 724962"/>
              <a:gd name="connsiteY1" fmla="*/ 9189 h 740232"/>
              <a:gd name="connsiteX2" fmla="*/ 118468 w 724962"/>
              <a:gd name="connsiteY2" fmla="*/ 2839 h 740232"/>
              <a:gd name="connsiteX3" fmla="*/ 435968 w 724962"/>
              <a:gd name="connsiteY3" fmla="*/ 6014 h 740232"/>
              <a:gd name="connsiteX4" fmla="*/ 477243 w 724962"/>
              <a:gd name="connsiteY4" fmla="*/ 9189 h 740232"/>
              <a:gd name="connsiteX5" fmla="*/ 569318 w 724962"/>
              <a:gd name="connsiteY5" fmla="*/ 12364 h 740232"/>
              <a:gd name="connsiteX6" fmla="*/ 709018 w 724962"/>
              <a:gd name="connsiteY6" fmla="*/ 9189 h 740232"/>
              <a:gd name="connsiteX7" fmla="*/ 715368 w 724962"/>
              <a:gd name="connsiteY7" fmla="*/ 15539 h 740232"/>
              <a:gd name="connsiteX8" fmla="*/ 718543 w 724962"/>
              <a:gd name="connsiteY8" fmla="*/ 63164 h 740232"/>
              <a:gd name="connsiteX9" fmla="*/ 721718 w 724962"/>
              <a:gd name="connsiteY9" fmla="*/ 139364 h 740232"/>
              <a:gd name="connsiteX10" fmla="*/ 724893 w 724962"/>
              <a:gd name="connsiteY10" fmla="*/ 202864 h 740232"/>
              <a:gd name="connsiteX11" fmla="*/ 718543 w 724962"/>
              <a:gd name="connsiteY11" fmla="*/ 323514 h 740232"/>
              <a:gd name="connsiteX12" fmla="*/ 712193 w 724962"/>
              <a:gd name="connsiteY12" fmla="*/ 437814 h 740232"/>
              <a:gd name="connsiteX13" fmla="*/ 718543 w 724962"/>
              <a:gd name="connsiteY13" fmla="*/ 482264 h 740232"/>
              <a:gd name="connsiteX14" fmla="*/ 712193 w 724962"/>
              <a:gd name="connsiteY14" fmla="*/ 545764 h 740232"/>
              <a:gd name="connsiteX15" fmla="*/ 709018 w 724962"/>
              <a:gd name="connsiteY15" fmla="*/ 679114 h 740232"/>
              <a:gd name="connsiteX16" fmla="*/ 705843 w 724962"/>
              <a:gd name="connsiteY16" fmla="*/ 707689 h 740232"/>
              <a:gd name="connsiteX17" fmla="*/ 702668 w 724962"/>
              <a:gd name="connsiteY17" fmla="*/ 729914 h 740232"/>
              <a:gd name="connsiteX18" fmla="*/ 645518 w 724962"/>
              <a:gd name="connsiteY18" fmla="*/ 733089 h 740232"/>
              <a:gd name="connsiteX19" fmla="*/ 521693 w 724962"/>
              <a:gd name="connsiteY19" fmla="*/ 739439 h 740232"/>
              <a:gd name="connsiteX20" fmla="*/ 391518 w 724962"/>
              <a:gd name="connsiteY20" fmla="*/ 739439 h 740232"/>
              <a:gd name="connsiteX21" fmla="*/ 223243 w 724962"/>
              <a:gd name="connsiteY21" fmla="*/ 733089 h 740232"/>
              <a:gd name="connsiteX22" fmla="*/ 102593 w 724962"/>
              <a:gd name="connsiteY22" fmla="*/ 720389 h 740232"/>
              <a:gd name="connsiteX23" fmla="*/ 10518 w 724962"/>
              <a:gd name="connsiteY23" fmla="*/ 723564 h 740232"/>
              <a:gd name="connsiteX24" fmla="*/ 993 w 724962"/>
              <a:gd name="connsiteY24" fmla="*/ 644189 h 740232"/>
              <a:gd name="connsiteX25" fmla="*/ 993 w 724962"/>
              <a:gd name="connsiteY25" fmla="*/ 196514 h 740232"/>
              <a:gd name="connsiteX26" fmla="*/ 4168 w 724962"/>
              <a:gd name="connsiteY26" fmla="*/ 101264 h 740232"/>
              <a:gd name="connsiteX27" fmla="*/ 7343 w 724962"/>
              <a:gd name="connsiteY27" fmla="*/ 6014 h 740232"/>
              <a:gd name="connsiteX0" fmla="*/ 7343 w 724962"/>
              <a:gd name="connsiteY0" fmla="*/ 6014 h 740232"/>
              <a:gd name="connsiteX1" fmla="*/ 48618 w 724962"/>
              <a:gd name="connsiteY1" fmla="*/ 9189 h 740232"/>
              <a:gd name="connsiteX2" fmla="*/ 118468 w 724962"/>
              <a:gd name="connsiteY2" fmla="*/ 2839 h 740232"/>
              <a:gd name="connsiteX3" fmla="*/ 435968 w 724962"/>
              <a:gd name="connsiteY3" fmla="*/ 6014 h 740232"/>
              <a:gd name="connsiteX4" fmla="*/ 477243 w 724962"/>
              <a:gd name="connsiteY4" fmla="*/ 9189 h 740232"/>
              <a:gd name="connsiteX5" fmla="*/ 569318 w 724962"/>
              <a:gd name="connsiteY5" fmla="*/ 12364 h 740232"/>
              <a:gd name="connsiteX6" fmla="*/ 709018 w 724962"/>
              <a:gd name="connsiteY6" fmla="*/ 9189 h 740232"/>
              <a:gd name="connsiteX7" fmla="*/ 715368 w 724962"/>
              <a:gd name="connsiteY7" fmla="*/ 15539 h 740232"/>
              <a:gd name="connsiteX8" fmla="*/ 718543 w 724962"/>
              <a:gd name="connsiteY8" fmla="*/ 63164 h 740232"/>
              <a:gd name="connsiteX9" fmla="*/ 721718 w 724962"/>
              <a:gd name="connsiteY9" fmla="*/ 139364 h 740232"/>
              <a:gd name="connsiteX10" fmla="*/ 724893 w 724962"/>
              <a:gd name="connsiteY10" fmla="*/ 202864 h 740232"/>
              <a:gd name="connsiteX11" fmla="*/ 718543 w 724962"/>
              <a:gd name="connsiteY11" fmla="*/ 323514 h 740232"/>
              <a:gd name="connsiteX12" fmla="*/ 712193 w 724962"/>
              <a:gd name="connsiteY12" fmla="*/ 437814 h 740232"/>
              <a:gd name="connsiteX13" fmla="*/ 718543 w 724962"/>
              <a:gd name="connsiteY13" fmla="*/ 482264 h 740232"/>
              <a:gd name="connsiteX14" fmla="*/ 712193 w 724962"/>
              <a:gd name="connsiteY14" fmla="*/ 545764 h 740232"/>
              <a:gd name="connsiteX15" fmla="*/ 709018 w 724962"/>
              <a:gd name="connsiteY15" fmla="*/ 679114 h 740232"/>
              <a:gd name="connsiteX16" fmla="*/ 705843 w 724962"/>
              <a:gd name="connsiteY16" fmla="*/ 707689 h 740232"/>
              <a:gd name="connsiteX17" fmla="*/ 702668 w 724962"/>
              <a:gd name="connsiteY17" fmla="*/ 729914 h 740232"/>
              <a:gd name="connsiteX18" fmla="*/ 645518 w 724962"/>
              <a:gd name="connsiteY18" fmla="*/ 733089 h 740232"/>
              <a:gd name="connsiteX19" fmla="*/ 521693 w 724962"/>
              <a:gd name="connsiteY19" fmla="*/ 739439 h 740232"/>
              <a:gd name="connsiteX20" fmla="*/ 391518 w 724962"/>
              <a:gd name="connsiteY20" fmla="*/ 739439 h 740232"/>
              <a:gd name="connsiteX21" fmla="*/ 223243 w 724962"/>
              <a:gd name="connsiteY21" fmla="*/ 733089 h 740232"/>
              <a:gd name="connsiteX22" fmla="*/ 102593 w 724962"/>
              <a:gd name="connsiteY22" fmla="*/ 733089 h 740232"/>
              <a:gd name="connsiteX23" fmla="*/ 10518 w 724962"/>
              <a:gd name="connsiteY23" fmla="*/ 723564 h 740232"/>
              <a:gd name="connsiteX24" fmla="*/ 993 w 724962"/>
              <a:gd name="connsiteY24" fmla="*/ 644189 h 740232"/>
              <a:gd name="connsiteX25" fmla="*/ 993 w 724962"/>
              <a:gd name="connsiteY25" fmla="*/ 196514 h 740232"/>
              <a:gd name="connsiteX26" fmla="*/ 4168 w 724962"/>
              <a:gd name="connsiteY26" fmla="*/ 101264 h 740232"/>
              <a:gd name="connsiteX27" fmla="*/ 7343 w 724962"/>
              <a:gd name="connsiteY27" fmla="*/ 6014 h 740232"/>
              <a:gd name="connsiteX0" fmla="*/ 7343 w 724962"/>
              <a:gd name="connsiteY0" fmla="*/ 8215 h 742433"/>
              <a:gd name="connsiteX1" fmla="*/ 118468 w 724962"/>
              <a:gd name="connsiteY1" fmla="*/ 5040 h 742433"/>
              <a:gd name="connsiteX2" fmla="*/ 435968 w 724962"/>
              <a:gd name="connsiteY2" fmla="*/ 8215 h 742433"/>
              <a:gd name="connsiteX3" fmla="*/ 477243 w 724962"/>
              <a:gd name="connsiteY3" fmla="*/ 11390 h 742433"/>
              <a:gd name="connsiteX4" fmla="*/ 569318 w 724962"/>
              <a:gd name="connsiteY4" fmla="*/ 14565 h 742433"/>
              <a:gd name="connsiteX5" fmla="*/ 709018 w 724962"/>
              <a:gd name="connsiteY5" fmla="*/ 11390 h 742433"/>
              <a:gd name="connsiteX6" fmla="*/ 715368 w 724962"/>
              <a:gd name="connsiteY6" fmla="*/ 17740 h 742433"/>
              <a:gd name="connsiteX7" fmla="*/ 718543 w 724962"/>
              <a:gd name="connsiteY7" fmla="*/ 65365 h 742433"/>
              <a:gd name="connsiteX8" fmla="*/ 721718 w 724962"/>
              <a:gd name="connsiteY8" fmla="*/ 141565 h 742433"/>
              <a:gd name="connsiteX9" fmla="*/ 724893 w 724962"/>
              <a:gd name="connsiteY9" fmla="*/ 205065 h 742433"/>
              <a:gd name="connsiteX10" fmla="*/ 718543 w 724962"/>
              <a:gd name="connsiteY10" fmla="*/ 325715 h 742433"/>
              <a:gd name="connsiteX11" fmla="*/ 712193 w 724962"/>
              <a:gd name="connsiteY11" fmla="*/ 440015 h 742433"/>
              <a:gd name="connsiteX12" fmla="*/ 718543 w 724962"/>
              <a:gd name="connsiteY12" fmla="*/ 484465 h 742433"/>
              <a:gd name="connsiteX13" fmla="*/ 712193 w 724962"/>
              <a:gd name="connsiteY13" fmla="*/ 547965 h 742433"/>
              <a:gd name="connsiteX14" fmla="*/ 709018 w 724962"/>
              <a:gd name="connsiteY14" fmla="*/ 681315 h 742433"/>
              <a:gd name="connsiteX15" fmla="*/ 705843 w 724962"/>
              <a:gd name="connsiteY15" fmla="*/ 709890 h 742433"/>
              <a:gd name="connsiteX16" fmla="*/ 702668 w 724962"/>
              <a:gd name="connsiteY16" fmla="*/ 732115 h 742433"/>
              <a:gd name="connsiteX17" fmla="*/ 645518 w 724962"/>
              <a:gd name="connsiteY17" fmla="*/ 735290 h 742433"/>
              <a:gd name="connsiteX18" fmla="*/ 521693 w 724962"/>
              <a:gd name="connsiteY18" fmla="*/ 741640 h 742433"/>
              <a:gd name="connsiteX19" fmla="*/ 391518 w 724962"/>
              <a:gd name="connsiteY19" fmla="*/ 741640 h 742433"/>
              <a:gd name="connsiteX20" fmla="*/ 223243 w 724962"/>
              <a:gd name="connsiteY20" fmla="*/ 735290 h 742433"/>
              <a:gd name="connsiteX21" fmla="*/ 102593 w 724962"/>
              <a:gd name="connsiteY21" fmla="*/ 735290 h 742433"/>
              <a:gd name="connsiteX22" fmla="*/ 10518 w 724962"/>
              <a:gd name="connsiteY22" fmla="*/ 725765 h 742433"/>
              <a:gd name="connsiteX23" fmla="*/ 993 w 724962"/>
              <a:gd name="connsiteY23" fmla="*/ 646390 h 742433"/>
              <a:gd name="connsiteX24" fmla="*/ 993 w 724962"/>
              <a:gd name="connsiteY24" fmla="*/ 198715 h 742433"/>
              <a:gd name="connsiteX25" fmla="*/ 4168 w 724962"/>
              <a:gd name="connsiteY25" fmla="*/ 103465 h 742433"/>
              <a:gd name="connsiteX26" fmla="*/ 7343 w 724962"/>
              <a:gd name="connsiteY26" fmla="*/ 8215 h 742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4962" h="742433">
                <a:moveTo>
                  <a:pt x="7343" y="8215"/>
                </a:moveTo>
                <a:cubicBezTo>
                  <a:pt x="26393" y="-8189"/>
                  <a:pt x="47031" y="5040"/>
                  <a:pt x="118468" y="5040"/>
                </a:cubicBezTo>
                <a:lnTo>
                  <a:pt x="435968" y="8215"/>
                </a:lnTo>
                <a:cubicBezTo>
                  <a:pt x="449765" y="8459"/>
                  <a:pt x="463460" y="10734"/>
                  <a:pt x="477243" y="11390"/>
                </a:cubicBezTo>
                <a:cubicBezTo>
                  <a:pt x="507918" y="12851"/>
                  <a:pt x="538626" y="13507"/>
                  <a:pt x="569318" y="14565"/>
                </a:cubicBezTo>
                <a:lnTo>
                  <a:pt x="709018" y="11390"/>
                </a:lnTo>
                <a:cubicBezTo>
                  <a:pt x="733360" y="11919"/>
                  <a:pt x="713781" y="12582"/>
                  <a:pt x="715368" y="17740"/>
                </a:cubicBezTo>
                <a:cubicBezTo>
                  <a:pt x="719271" y="30426"/>
                  <a:pt x="722261" y="50492"/>
                  <a:pt x="718543" y="65365"/>
                </a:cubicBezTo>
                <a:cubicBezTo>
                  <a:pt x="719601" y="90765"/>
                  <a:pt x="720660" y="118282"/>
                  <a:pt x="721718" y="141565"/>
                </a:cubicBezTo>
                <a:cubicBezTo>
                  <a:pt x="722776" y="164848"/>
                  <a:pt x="725422" y="174373"/>
                  <a:pt x="724893" y="205065"/>
                </a:cubicBezTo>
                <a:cubicBezTo>
                  <a:pt x="724364" y="235757"/>
                  <a:pt x="720660" y="286557"/>
                  <a:pt x="718543" y="325715"/>
                </a:cubicBezTo>
                <a:cubicBezTo>
                  <a:pt x="716426" y="364873"/>
                  <a:pt x="714031" y="383943"/>
                  <a:pt x="712193" y="440015"/>
                </a:cubicBezTo>
                <a:cubicBezTo>
                  <a:pt x="711891" y="449216"/>
                  <a:pt x="718543" y="466473"/>
                  <a:pt x="718543" y="484465"/>
                </a:cubicBezTo>
                <a:cubicBezTo>
                  <a:pt x="718543" y="502457"/>
                  <a:pt x="721282" y="475250"/>
                  <a:pt x="712193" y="547965"/>
                </a:cubicBezTo>
                <a:cubicBezTo>
                  <a:pt x="711135" y="592415"/>
                  <a:pt x="710760" y="636887"/>
                  <a:pt x="709018" y="681315"/>
                </a:cubicBezTo>
                <a:cubicBezTo>
                  <a:pt x="708642" y="690891"/>
                  <a:pt x="707032" y="700380"/>
                  <a:pt x="705843" y="709890"/>
                </a:cubicBezTo>
                <a:cubicBezTo>
                  <a:pt x="704915" y="717316"/>
                  <a:pt x="709565" y="729211"/>
                  <a:pt x="702668" y="732115"/>
                </a:cubicBezTo>
                <a:cubicBezTo>
                  <a:pt x="685084" y="739519"/>
                  <a:pt x="664568" y="734232"/>
                  <a:pt x="645518" y="735290"/>
                </a:cubicBezTo>
                <a:cubicBezTo>
                  <a:pt x="605192" y="734306"/>
                  <a:pt x="564026" y="740582"/>
                  <a:pt x="521693" y="741640"/>
                </a:cubicBezTo>
                <a:cubicBezTo>
                  <a:pt x="479360" y="742698"/>
                  <a:pt x="441260" y="742698"/>
                  <a:pt x="391518" y="741640"/>
                </a:cubicBezTo>
                <a:cubicBezTo>
                  <a:pt x="341776" y="740582"/>
                  <a:pt x="279335" y="736348"/>
                  <a:pt x="223243" y="735290"/>
                </a:cubicBezTo>
                <a:lnTo>
                  <a:pt x="102593" y="735290"/>
                </a:lnTo>
                <a:cubicBezTo>
                  <a:pt x="80368" y="734232"/>
                  <a:pt x="27451" y="740582"/>
                  <a:pt x="10518" y="725765"/>
                </a:cubicBezTo>
                <a:cubicBezTo>
                  <a:pt x="-6415" y="710948"/>
                  <a:pt x="2581" y="734232"/>
                  <a:pt x="993" y="646390"/>
                </a:cubicBezTo>
                <a:cubicBezTo>
                  <a:pt x="-595" y="558548"/>
                  <a:pt x="464" y="296611"/>
                  <a:pt x="993" y="198715"/>
                </a:cubicBezTo>
                <a:cubicBezTo>
                  <a:pt x="1297" y="178477"/>
                  <a:pt x="790" y="123733"/>
                  <a:pt x="4168" y="103465"/>
                </a:cubicBezTo>
                <a:cubicBezTo>
                  <a:pt x="6814" y="74890"/>
                  <a:pt x="-65" y="23561"/>
                  <a:pt x="7343" y="8215"/>
                </a:cubicBezTo>
                <a:close/>
              </a:path>
            </a:pathLst>
          </a:cu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Comic Sans MS" panose="030F0902030302020204" pitchFamily="66" charset="0"/>
              </a:rPr>
              <a:t>H</a:t>
            </a:r>
          </a:p>
        </p:txBody>
      </p:sp>
      <p:sp>
        <p:nvSpPr>
          <p:cNvPr id="44" name="Freeform 43">
            <a:extLst>
              <a:ext uri="{FF2B5EF4-FFF2-40B4-BE49-F238E27FC236}">
                <a16:creationId xmlns:a16="http://schemas.microsoft.com/office/drawing/2014/main" id="{8D865684-FF7B-8E47-977F-7B2AE2B47D55}"/>
              </a:ext>
            </a:extLst>
          </p:cNvPr>
          <p:cNvSpPr/>
          <p:nvPr/>
        </p:nvSpPr>
        <p:spPr>
          <a:xfrm>
            <a:off x="1147839" y="4975100"/>
            <a:ext cx="902481" cy="923386"/>
          </a:xfrm>
          <a:custGeom>
            <a:avLst/>
            <a:gdLst>
              <a:gd name="connsiteX0" fmla="*/ 21489 w 745389"/>
              <a:gd name="connsiteY0" fmla="*/ 6710 h 734634"/>
              <a:gd name="connsiteX1" fmla="*/ 62764 w 745389"/>
              <a:gd name="connsiteY1" fmla="*/ 9885 h 734634"/>
              <a:gd name="connsiteX2" fmla="*/ 132614 w 745389"/>
              <a:gd name="connsiteY2" fmla="*/ 3535 h 734634"/>
              <a:gd name="connsiteX3" fmla="*/ 450114 w 745389"/>
              <a:gd name="connsiteY3" fmla="*/ 6710 h 734634"/>
              <a:gd name="connsiteX4" fmla="*/ 491389 w 745389"/>
              <a:gd name="connsiteY4" fmla="*/ 9885 h 734634"/>
              <a:gd name="connsiteX5" fmla="*/ 583464 w 745389"/>
              <a:gd name="connsiteY5" fmla="*/ 13060 h 734634"/>
              <a:gd name="connsiteX6" fmla="*/ 723164 w 745389"/>
              <a:gd name="connsiteY6" fmla="*/ 9885 h 734634"/>
              <a:gd name="connsiteX7" fmla="*/ 739039 w 745389"/>
              <a:gd name="connsiteY7" fmla="*/ 13060 h 734634"/>
              <a:gd name="connsiteX8" fmla="*/ 732689 w 745389"/>
              <a:gd name="connsiteY8" fmla="*/ 63860 h 734634"/>
              <a:gd name="connsiteX9" fmla="*/ 735864 w 745389"/>
              <a:gd name="connsiteY9" fmla="*/ 140060 h 734634"/>
              <a:gd name="connsiteX10" fmla="*/ 742214 w 745389"/>
              <a:gd name="connsiteY10" fmla="*/ 159110 h 734634"/>
              <a:gd name="connsiteX11" fmla="*/ 745389 w 745389"/>
              <a:gd name="connsiteY11" fmla="*/ 168635 h 734634"/>
              <a:gd name="connsiteX12" fmla="*/ 742214 w 745389"/>
              <a:gd name="connsiteY12" fmla="*/ 267060 h 734634"/>
              <a:gd name="connsiteX13" fmla="*/ 739039 w 745389"/>
              <a:gd name="connsiteY13" fmla="*/ 435335 h 734634"/>
              <a:gd name="connsiteX14" fmla="*/ 732689 w 745389"/>
              <a:gd name="connsiteY14" fmla="*/ 482960 h 734634"/>
              <a:gd name="connsiteX15" fmla="*/ 726339 w 745389"/>
              <a:gd name="connsiteY15" fmla="*/ 546460 h 734634"/>
              <a:gd name="connsiteX16" fmla="*/ 723164 w 745389"/>
              <a:gd name="connsiteY16" fmla="*/ 679810 h 734634"/>
              <a:gd name="connsiteX17" fmla="*/ 719989 w 745389"/>
              <a:gd name="connsiteY17" fmla="*/ 708385 h 734634"/>
              <a:gd name="connsiteX18" fmla="*/ 716814 w 745389"/>
              <a:gd name="connsiteY18" fmla="*/ 730610 h 734634"/>
              <a:gd name="connsiteX19" fmla="*/ 659664 w 745389"/>
              <a:gd name="connsiteY19" fmla="*/ 733785 h 734634"/>
              <a:gd name="connsiteX20" fmla="*/ 469164 w 745389"/>
              <a:gd name="connsiteY20" fmla="*/ 727435 h 734634"/>
              <a:gd name="connsiteX21" fmla="*/ 405664 w 745389"/>
              <a:gd name="connsiteY21" fmla="*/ 721085 h 734634"/>
              <a:gd name="connsiteX22" fmla="*/ 237389 w 745389"/>
              <a:gd name="connsiteY22" fmla="*/ 717910 h 734634"/>
              <a:gd name="connsiteX23" fmla="*/ 126264 w 745389"/>
              <a:gd name="connsiteY23" fmla="*/ 721085 h 734634"/>
              <a:gd name="connsiteX24" fmla="*/ 91339 w 745389"/>
              <a:gd name="connsiteY24" fmla="*/ 727435 h 734634"/>
              <a:gd name="connsiteX25" fmla="*/ 24664 w 745389"/>
              <a:gd name="connsiteY25" fmla="*/ 724260 h 734634"/>
              <a:gd name="connsiteX26" fmla="*/ 18314 w 745389"/>
              <a:gd name="connsiteY26" fmla="*/ 714735 h 734634"/>
              <a:gd name="connsiteX27" fmla="*/ 15139 w 745389"/>
              <a:gd name="connsiteY27" fmla="*/ 689335 h 734634"/>
              <a:gd name="connsiteX28" fmla="*/ 8789 w 745389"/>
              <a:gd name="connsiteY28" fmla="*/ 663935 h 734634"/>
              <a:gd name="connsiteX29" fmla="*/ 5614 w 745389"/>
              <a:gd name="connsiteY29" fmla="*/ 644885 h 734634"/>
              <a:gd name="connsiteX30" fmla="*/ 5614 w 745389"/>
              <a:gd name="connsiteY30" fmla="*/ 178160 h 734634"/>
              <a:gd name="connsiteX31" fmla="*/ 15139 w 745389"/>
              <a:gd name="connsiteY31" fmla="*/ 130535 h 734634"/>
              <a:gd name="connsiteX32" fmla="*/ 18314 w 745389"/>
              <a:gd name="connsiteY32" fmla="*/ 111485 h 734634"/>
              <a:gd name="connsiteX33" fmla="*/ 21489 w 745389"/>
              <a:gd name="connsiteY33" fmla="*/ 6710 h 734634"/>
              <a:gd name="connsiteX0" fmla="*/ 21489 w 745389"/>
              <a:gd name="connsiteY0" fmla="*/ 6710 h 734634"/>
              <a:gd name="connsiteX1" fmla="*/ 62764 w 745389"/>
              <a:gd name="connsiteY1" fmla="*/ 9885 h 734634"/>
              <a:gd name="connsiteX2" fmla="*/ 132614 w 745389"/>
              <a:gd name="connsiteY2" fmla="*/ 3535 h 734634"/>
              <a:gd name="connsiteX3" fmla="*/ 450114 w 745389"/>
              <a:gd name="connsiteY3" fmla="*/ 6710 h 734634"/>
              <a:gd name="connsiteX4" fmla="*/ 491389 w 745389"/>
              <a:gd name="connsiteY4" fmla="*/ 9885 h 734634"/>
              <a:gd name="connsiteX5" fmla="*/ 583464 w 745389"/>
              <a:gd name="connsiteY5" fmla="*/ 13060 h 734634"/>
              <a:gd name="connsiteX6" fmla="*/ 723164 w 745389"/>
              <a:gd name="connsiteY6" fmla="*/ 9885 h 734634"/>
              <a:gd name="connsiteX7" fmla="*/ 739039 w 745389"/>
              <a:gd name="connsiteY7" fmla="*/ 13060 h 734634"/>
              <a:gd name="connsiteX8" fmla="*/ 732689 w 745389"/>
              <a:gd name="connsiteY8" fmla="*/ 63860 h 734634"/>
              <a:gd name="connsiteX9" fmla="*/ 735864 w 745389"/>
              <a:gd name="connsiteY9" fmla="*/ 140060 h 734634"/>
              <a:gd name="connsiteX10" fmla="*/ 742214 w 745389"/>
              <a:gd name="connsiteY10" fmla="*/ 159110 h 734634"/>
              <a:gd name="connsiteX11" fmla="*/ 745389 w 745389"/>
              <a:gd name="connsiteY11" fmla="*/ 168635 h 734634"/>
              <a:gd name="connsiteX12" fmla="*/ 742214 w 745389"/>
              <a:gd name="connsiteY12" fmla="*/ 267060 h 734634"/>
              <a:gd name="connsiteX13" fmla="*/ 739039 w 745389"/>
              <a:gd name="connsiteY13" fmla="*/ 435335 h 734634"/>
              <a:gd name="connsiteX14" fmla="*/ 732689 w 745389"/>
              <a:gd name="connsiteY14" fmla="*/ 482960 h 734634"/>
              <a:gd name="connsiteX15" fmla="*/ 726339 w 745389"/>
              <a:gd name="connsiteY15" fmla="*/ 546460 h 734634"/>
              <a:gd name="connsiteX16" fmla="*/ 723164 w 745389"/>
              <a:gd name="connsiteY16" fmla="*/ 679810 h 734634"/>
              <a:gd name="connsiteX17" fmla="*/ 719989 w 745389"/>
              <a:gd name="connsiteY17" fmla="*/ 708385 h 734634"/>
              <a:gd name="connsiteX18" fmla="*/ 716814 w 745389"/>
              <a:gd name="connsiteY18" fmla="*/ 730610 h 734634"/>
              <a:gd name="connsiteX19" fmla="*/ 659664 w 745389"/>
              <a:gd name="connsiteY19" fmla="*/ 733785 h 734634"/>
              <a:gd name="connsiteX20" fmla="*/ 469164 w 745389"/>
              <a:gd name="connsiteY20" fmla="*/ 727435 h 734634"/>
              <a:gd name="connsiteX21" fmla="*/ 405664 w 745389"/>
              <a:gd name="connsiteY21" fmla="*/ 721085 h 734634"/>
              <a:gd name="connsiteX22" fmla="*/ 237389 w 745389"/>
              <a:gd name="connsiteY22" fmla="*/ 717910 h 734634"/>
              <a:gd name="connsiteX23" fmla="*/ 126264 w 745389"/>
              <a:gd name="connsiteY23" fmla="*/ 721085 h 734634"/>
              <a:gd name="connsiteX24" fmla="*/ 91339 w 745389"/>
              <a:gd name="connsiteY24" fmla="*/ 727435 h 734634"/>
              <a:gd name="connsiteX25" fmla="*/ 24664 w 745389"/>
              <a:gd name="connsiteY25" fmla="*/ 724260 h 734634"/>
              <a:gd name="connsiteX26" fmla="*/ 18314 w 745389"/>
              <a:gd name="connsiteY26" fmla="*/ 714735 h 734634"/>
              <a:gd name="connsiteX27" fmla="*/ 15139 w 745389"/>
              <a:gd name="connsiteY27" fmla="*/ 689335 h 734634"/>
              <a:gd name="connsiteX28" fmla="*/ 8789 w 745389"/>
              <a:gd name="connsiteY28" fmla="*/ 663935 h 734634"/>
              <a:gd name="connsiteX29" fmla="*/ 5614 w 745389"/>
              <a:gd name="connsiteY29" fmla="*/ 644885 h 734634"/>
              <a:gd name="connsiteX30" fmla="*/ 5614 w 745389"/>
              <a:gd name="connsiteY30" fmla="*/ 178160 h 734634"/>
              <a:gd name="connsiteX31" fmla="*/ 15139 w 745389"/>
              <a:gd name="connsiteY31" fmla="*/ 130535 h 734634"/>
              <a:gd name="connsiteX32" fmla="*/ 18314 w 745389"/>
              <a:gd name="connsiteY32" fmla="*/ 111485 h 734634"/>
              <a:gd name="connsiteX33" fmla="*/ 21489 w 745389"/>
              <a:gd name="connsiteY33" fmla="*/ 6710 h 734634"/>
              <a:gd name="connsiteX0" fmla="*/ 21489 w 745389"/>
              <a:gd name="connsiteY0" fmla="*/ 6710 h 734634"/>
              <a:gd name="connsiteX1" fmla="*/ 62764 w 745389"/>
              <a:gd name="connsiteY1" fmla="*/ 9885 h 734634"/>
              <a:gd name="connsiteX2" fmla="*/ 132614 w 745389"/>
              <a:gd name="connsiteY2" fmla="*/ 3535 h 734634"/>
              <a:gd name="connsiteX3" fmla="*/ 450114 w 745389"/>
              <a:gd name="connsiteY3" fmla="*/ 6710 h 734634"/>
              <a:gd name="connsiteX4" fmla="*/ 491389 w 745389"/>
              <a:gd name="connsiteY4" fmla="*/ 9885 h 734634"/>
              <a:gd name="connsiteX5" fmla="*/ 583464 w 745389"/>
              <a:gd name="connsiteY5" fmla="*/ 13060 h 734634"/>
              <a:gd name="connsiteX6" fmla="*/ 723164 w 745389"/>
              <a:gd name="connsiteY6" fmla="*/ 9885 h 734634"/>
              <a:gd name="connsiteX7" fmla="*/ 739039 w 745389"/>
              <a:gd name="connsiteY7" fmla="*/ 13060 h 734634"/>
              <a:gd name="connsiteX8" fmla="*/ 732689 w 745389"/>
              <a:gd name="connsiteY8" fmla="*/ 63860 h 734634"/>
              <a:gd name="connsiteX9" fmla="*/ 735864 w 745389"/>
              <a:gd name="connsiteY9" fmla="*/ 140060 h 734634"/>
              <a:gd name="connsiteX10" fmla="*/ 742214 w 745389"/>
              <a:gd name="connsiteY10" fmla="*/ 159110 h 734634"/>
              <a:gd name="connsiteX11" fmla="*/ 745389 w 745389"/>
              <a:gd name="connsiteY11" fmla="*/ 168635 h 734634"/>
              <a:gd name="connsiteX12" fmla="*/ 742214 w 745389"/>
              <a:gd name="connsiteY12" fmla="*/ 267060 h 734634"/>
              <a:gd name="connsiteX13" fmla="*/ 739039 w 745389"/>
              <a:gd name="connsiteY13" fmla="*/ 435335 h 734634"/>
              <a:gd name="connsiteX14" fmla="*/ 732689 w 745389"/>
              <a:gd name="connsiteY14" fmla="*/ 482960 h 734634"/>
              <a:gd name="connsiteX15" fmla="*/ 726339 w 745389"/>
              <a:gd name="connsiteY15" fmla="*/ 546460 h 734634"/>
              <a:gd name="connsiteX16" fmla="*/ 723164 w 745389"/>
              <a:gd name="connsiteY16" fmla="*/ 679810 h 734634"/>
              <a:gd name="connsiteX17" fmla="*/ 719989 w 745389"/>
              <a:gd name="connsiteY17" fmla="*/ 708385 h 734634"/>
              <a:gd name="connsiteX18" fmla="*/ 716814 w 745389"/>
              <a:gd name="connsiteY18" fmla="*/ 730610 h 734634"/>
              <a:gd name="connsiteX19" fmla="*/ 659664 w 745389"/>
              <a:gd name="connsiteY19" fmla="*/ 733785 h 734634"/>
              <a:gd name="connsiteX20" fmla="*/ 469164 w 745389"/>
              <a:gd name="connsiteY20" fmla="*/ 727435 h 734634"/>
              <a:gd name="connsiteX21" fmla="*/ 405664 w 745389"/>
              <a:gd name="connsiteY21" fmla="*/ 721085 h 734634"/>
              <a:gd name="connsiteX22" fmla="*/ 237389 w 745389"/>
              <a:gd name="connsiteY22" fmla="*/ 717910 h 734634"/>
              <a:gd name="connsiteX23" fmla="*/ 126264 w 745389"/>
              <a:gd name="connsiteY23" fmla="*/ 721085 h 734634"/>
              <a:gd name="connsiteX24" fmla="*/ 91339 w 745389"/>
              <a:gd name="connsiteY24" fmla="*/ 727435 h 734634"/>
              <a:gd name="connsiteX25" fmla="*/ 24664 w 745389"/>
              <a:gd name="connsiteY25" fmla="*/ 724260 h 734634"/>
              <a:gd name="connsiteX26" fmla="*/ 18314 w 745389"/>
              <a:gd name="connsiteY26" fmla="*/ 714735 h 734634"/>
              <a:gd name="connsiteX27" fmla="*/ 15139 w 745389"/>
              <a:gd name="connsiteY27" fmla="*/ 689335 h 734634"/>
              <a:gd name="connsiteX28" fmla="*/ 8789 w 745389"/>
              <a:gd name="connsiteY28" fmla="*/ 663935 h 734634"/>
              <a:gd name="connsiteX29" fmla="*/ 5614 w 745389"/>
              <a:gd name="connsiteY29" fmla="*/ 644885 h 734634"/>
              <a:gd name="connsiteX30" fmla="*/ 5614 w 745389"/>
              <a:gd name="connsiteY30" fmla="*/ 178160 h 734634"/>
              <a:gd name="connsiteX31" fmla="*/ 15139 w 745389"/>
              <a:gd name="connsiteY31" fmla="*/ 130535 h 734634"/>
              <a:gd name="connsiteX32" fmla="*/ 21489 w 745389"/>
              <a:gd name="connsiteY32" fmla="*/ 6710 h 734634"/>
              <a:gd name="connsiteX0" fmla="*/ 21489 w 745389"/>
              <a:gd name="connsiteY0" fmla="*/ 6014 h 733938"/>
              <a:gd name="connsiteX1" fmla="*/ 62764 w 745389"/>
              <a:gd name="connsiteY1" fmla="*/ 9189 h 733938"/>
              <a:gd name="connsiteX2" fmla="*/ 132614 w 745389"/>
              <a:gd name="connsiteY2" fmla="*/ 2839 h 733938"/>
              <a:gd name="connsiteX3" fmla="*/ 450114 w 745389"/>
              <a:gd name="connsiteY3" fmla="*/ 6014 h 733938"/>
              <a:gd name="connsiteX4" fmla="*/ 491389 w 745389"/>
              <a:gd name="connsiteY4" fmla="*/ 9189 h 733938"/>
              <a:gd name="connsiteX5" fmla="*/ 583464 w 745389"/>
              <a:gd name="connsiteY5" fmla="*/ 12364 h 733938"/>
              <a:gd name="connsiteX6" fmla="*/ 723164 w 745389"/>
              <a:gd name="connsiteY6" fmla="*/ 9189 h 733938"/>
              <a:gd name="connsiteX7" fmla="*/ 739039 w 745389"/>
              <a:gd name="connsiteY7" fmla="*/ 12364 h 733938"/>
              <a:gd name="connsiteX8" fmla="*/ 732689 w 745389"/>
              <a:gd name="connsiteY8" fmla="*/ 63164 h 733938"/>
              <a:gd name="connsiteX9" fmla="*/ 735864 w 745389"/>
              <a:gd name="connsiteY9" fmla="*/ 139364 h 733938"/>
              <a:gd name="connsiteX10" fmla="*/ 742214 w 745389"/>
              <a:gd name="connsiteY10" fmla="*/ 158414 h 733938"/>
              <a:gd name="connsiteX11" fmla="*/ 745389 w 745389"/>
              <a:gd name="connsiteY11" fmla="*/ 167939 h 733938"/>
              <a:gd name="connsiteX12" fmla="*/ 742214 w 745389"/>
              <a:gd name="connsiteY12" fmla="*/ 266364 h 733938"/>
              <a:gd name="connsiteX13" fmla="*/ 739039 w 745389"/>
              <a:gd name="connsiteY13" fmla="*/ 434639 h 733938"/>
              <a:gd name="connsiteX14" fmla="*/ 732689 w 745389"/>
              <a:gd name="connsiteY14" fmla="*/ 482264 h 733938"/>
              <a:gd name="connsiteX15" fmla="*/ 726339 w 745389"/>
              <a:gd name="connsiteY15" fmla="*/ 545764 h 733938"/>
              <a:gd name="connsiteX16" fmla="*/ 723164 w 745389"/>
              <a:gd name="connsiteY16" fmla="*/ 679114 h 733938"/>
              <a:gd name="connsiteX17" fmla="*/ 719989 w 745389"/>
              <a:gd name="connsiteY17" fmla="*/ 707689 h 733938"/>
              <a:gd name="connsiteX18" fmla="*/ 716814 w 745389"/>
              <a:gd name="connsiteY18" fmla="*/ 729914 h 733938"/>
              <a:gd name="connsiteX19" fmla="*/ 659664 w 745389"/>
              <a:gd name="connsiteY19" fmla="*/ 733089 h 733938"/>
              <a:gd name="connsiteX20" fmla="*/ 469164 w 745389"/>
              <a:gd name="connsiteY20" fmla="*/ 726739 h 733938"/>
              <a:gd name="connsiteX21" fmla="*/ 405664 w 745389"/>
              <a:gd name="connsiteY21" fmla="*/ 720389 h 733938"/>
              <a:gd name="connsiteX22" fmla="*/ 237389 w 745389"/>
              <a:gd name="connsiteY22" fmla="*/ 717214 h 733938"/>
              <a:gd name="connsiteX23" fmla="*/ 126264 w 745389"/>
              <a:gd name="connsiteY23" fmla="*/ 720389 h 733938"/>
              <a:gd name="connsiteX24" fmla="*/ 91339 w 745389"/>
              <a:gd name="connsiteY24" fmla="*/ 726739 h 733938"/>
              <a:gd name="connsiteX25" fmla="*/ 24664 w 745389"/>
              <a:gd name="connsiteY25" fmla="*/ 723564 h 733938"/>
              <a:gd name="connsiteX26" fmla="*/ 18314 w 745389"/>
              <a:gd name="connsiteY26" fmla="*/ 714039 h 733938"/>
              <a:gd name="connsiteX27" fmla="*/ 15139 w 745389"/>
              <a:gd name="connsiteY27" fmla="*/ 688639 h 733938"/>
              <a:gd name="connsiteX28" fmla="*/ 8789 w 745389"/>
              <a:gd name="connsiteY28" fmla="*/ 663239 h 733938"/>
              <a:gd name="connsiteX29" fmla="*/ 5614 w 745389"/>
              <a:gd name="connsiteY29" fmla="*/ 644189 h 733938"/>
              <a:gd name="connsiteX30" fmla="*/ 5614 w 745389"/>
              <a:gd name="connsiteY30" fmla="*/ 177464 h 733938"/>
              <a:gd name="connsiteX31" fmla="*/ 11964 w 745389"/>
              <a:gd name="connsiteY31" fmla="*/ 101264 h 733938"/>
              <a:gd name="connsiteX32" fmla="*/ 21489 w 745389"/>
              <a:gd name="connsiteY32" fmla="*/ 6014 h 733938"/>
              <a:gd name="connsiteX0" fmla="*/ 19035 w 742935"/>
              <a:gd name="connsiteY0" fmla="*/ 6014 h 733938"/>
              <a:gd name="connsiteX1" fmla="*/ 60310 w 742935"/>
              <a:gd name="connsiteY1" fmla="*/ 9189 h 733938"/>
              <a:gd name="connsiteX2" fmla="*/ 130160 w 742935"/>
              <a:gd name="connsiteY2" fmla="*/ 2839 h 733938"/>
              <a:gd name="connsiteX3" fmla="*/ 447660 w 742935"/>
              <a:gd name="connsiteY3" fmla="*/ 6014 h 733938"/>
              <a:gd name="connsiteX4" fmla="*/ 488935 w 742935"/>
              <a:gd name="connsiteY4" fmla="*/ 9189 h 733938"/>
              <a:gd name="connsiteX5" fmla="*/ 581010 w 742935"/>
              <a:gd name="connsiteY5" fmla="*/ 12364 h 733938"/>
              <a:gd name="connsiteX6" fmla="*/ 720710 w 742935"/>
              <a:gd name="connsiteY6" fmla="*/ 9189 h 733938"/>
              <a:gd name="connsiteX7" fmla="*/ 736585 w 742935"/>
              <a:gd name="connsiteY7" fmla="*/ 12364 h 733938"/>
              <a:gd name="connsiteX8" fmla="*/ 730235 w 742935"/>
              <a:gd name="connsiteY8" fmla="*/ 63164 h 733938"/>
              <a:gd name="connsiteX9" fmla="*/ 733410 w 742935"/>
              <a:gd name="connsiteY9" fmla="*/ 139364 h 733938"/>
              <a:gd name="connsiteX10" fmla="*/ 739760 w 742935"/>
              <a:gd name="connsiteY10" fmla="*/ 158414 h 733938"/>
              <a:gd name="connsiteX11" fmla="*/ 742935 w 742935"/>
              <a:gd name="connsiteY11" fmla="*/ 167939 h 733938"/>
              <a:gd name="connsiteX12" fmla="*/ 739760 w 742935"/>
              <a:gd name="connsiteY12" fmla="*/ 266364 h 733938"/>
              <a:gd name="connsiteX13" fmla="*/ 736585 w 742935"/>
              <a:gd name="connsiteY13" fmla="*/ 434639 h 733938"/>
              <a:gd name="connsiteX14" fmla="*/ 730235 w 742935"/>
              <a:gd name="connsiteY14" fmla="*/ 482264 h 733938"/>
              <a:gd name="connsiteX15" fmla="*/ 723885 w 742935"/>
              <a:gd name="connsiteY15" fmla="*/ 545764 h 733938"/>
              <a:gd name="connsiteX16" fmla="*/ 720710 w 742935"/>
              <a:gd name="connsiteY16" fmla="*/ 679114 h 733938"/>
              <a:gd name="connsiteX17" fmla="*/ 717535 w 742935"/>
              <a:gd name="connsiteY17" fmla="*/ 707689 h 733938"/>
              <a:gd name="connsiteX18" fmla="*/ 714360 w 742935"/>
              <a:gd name="connsiteY18" fmla="*/ 729914 h 733938"/>
              <a:gd name="connsiteX19" fmla="*/ 657210 w 742935"/>
              <a:gd name="connsiteY19" fmla="*/ 733089 h 733938"/>
              <a:gd name="connsiteX20" fmla="*/ 466710 w 742935"/>
              <a:gd name="connsiteY20" fmla="*/ 726739 h 733938"/>
              <a:gd name="connsiteX21" fmla="*/ 403210 w 742935"/>
              <a:gd name="connsiteY21" fmla="*/ 720389 h 733938"/>
              <a:gd name="connsiteX22" fmla="*/ 234935 w 742935"/>
              <a:gd name="connsiteY22" fmla="*/ 717214 h 733938"/>
              <a:gd name="connsiteX23" fmla="*/ 123810 w 742935"/>
              <a:gd name="connsiteY23" fmla="*/ 720389 h 733938"/>
              <a:gd name="connsiteX24" fmla="*/ 88885 w 742935"/>
              <a:gd name="connsiteY24" fmla="*/ 726739 h 733938"/>
              <a:gd name="connsiteX25" fmla="*/ 22210 w 742935"/>
              <a:gd name="connsiteY25" fmla="*/ 723564 h 733938"/>
              <a:gd name="connsiteX26" fmla="*/ 15860 w 742935"/>
              <a:gd name="connsiteY26" fmla="*/ 714039 h 733938"/>
              <a:gd name="connsiteX27" fmla="*/ 12685 w 742935"/>
              <a:gd name="connsiteY27" fmla="*/ 688639 h 733938"/>
              <a:gd name="connsiteX28" fmla="*/ 6335 w 742935"/>
              <a:gd name="connsiteY28" fmla="*/ 663239 h 733938"/>
              <a:gd name="connsiteX29" fmla="*/ 3160 w 742935"/>
              <a:gd name="connsiteY29" fmla="*/ 644189 h 733938"/>
              <a:gd name="connsiteX30" fmla="*/ 12685 w 742935"/>
              <a:gd name="connsiteY30" fmla="*/ 196514 h 733938"/>
              <a:gd name="connsiteX31" fmla="*/ 9510 w 742935"/>
              <a:gd name="connsiteY31" fmla="*/ 101264 h 733938"/>
              <a:gd name="connsiteX32" fmla="*/ 19035 w 742935"/>
              <a:gd name="connsiteY32" fmla="*/ 6014 h 733938"/>
              <a:gd name="connsiteX0" fmla="*/ 19035 w 742935"/>
              <a:gd name="connsiteY0" fmla="*/ 6014 h 733938"/>
              <a:gd name="connsiteX1" fmla="*/ 60310 w 742935"/>
              <a:gd name="connsiteY1" fmla="*/ 9189 h 733938"/>
              <a:gd name="connsiteX2" fmla="*/ 130160 w 742935"/>
              <a:gd name="connsiteY2" fmla="*/ 2839 h 733938"/>
              <a:gd name="connsiteX3" fmla="*/ 447660 w 742935"/>
              <a:gd name="connsiteY3" fmla="*/ 6014 h 733938"/>
              <a:gd name="connsiteX4" fmla="*/ 488935 w 742935"/>
              <a:gd name="connsiteY4" fmla="*/ 9189 h 733938"/>
              <a:gd name="connsiteX5" fmla="*/ 581010 w 742935"/>
              <a:gd name="connsiteY5" fmla="*/ 12364 h 733938"/>
              <a:gd name="connsiteX6" fmla="*/ 720710 w 742935"/>
              <a:gd name="connsiteY6" fmla="*/ 9189 h 733938"/>
              <a:gd name="connsiteX7" fmla="*/ 736585 w 742935"/>
              <a:gd name="connsiteY7" fmla="*/ 12364 h 733938"/>
              <a:gd name="connsiteX8" fmla="*/ 730235 w 742935"/>
              <a:gd name="connsiteY8" fmla="*/ 63164 h 733938"/>
              <a:gd name="connsiteX9" fmla="*/ 733410 w 742935"/>
              <a:gd name="connsiteY9" fmla="*/ 139364 h 733938"/>
              <a:gd name="connsiteX10" fmla="*/ 739760 w 742935"/>
              <a:gd name="connsiteY10" fmla="*/ 158414 h 733938"/>
              <a:gd name="connsiteX11" fmla="*/ 742935 w 742935"/>
              <a:gd name="connsiteY11" fmla="*/ 167939 h 733938"/>
              <a:gd name="connsiteX12" fmla="*/ 739760 w 742935"/>
              <a:gd name="connsiteY12" fmla="*/ 266364 h 733938"/>
              <a:gd name="connsiteX13" fmla="*/ 736585 w 742935"/>
              <a:gd name="connsiteY13" fmla="*/ 434639 h 733938"/>
              <a:gd name="connsiteX14" fmla="*/ 730235 w 742935"/>
              <a:gd name="connsiteY14" fmla="*/ 482264 h 733938"/>
              <a:gd name="connsiteX15" fmla="*/ 723885 w 742935"/>
              <a:gd name="connsiteY15" fmla="*/ 545764 h 733938"/>
              <a:gd name="connsiteX16" fmla="*/ 720710 w 742935"/>
              <a:gd name="connsiteY16" fmla="*/ 679114 h 733938"/>
              <a:gd name="connsiteX17" fmla="*/ 717535 w 742935"/>
              <a:gd name="connsiteY17" fmla="*/ 707689 h 733938"/>
              <a:gd name="connsiteX18" fmla="*/ 714360 w 742935"/>
              <a:gd name="connsiteY18" fmla="*/ 729914 h 733938"/>
              <a:gd name="connsiteX19" fmla="*/ 657210 w 742935"/>
              <a:gd name="connsiteY19" fmla="*/ 733089 h 733938"/>
              <a:gd name="connsiteX20" fmla="*/ 466710 w 742935"/>
              <a:gd name="connsiteY20" fmla="*/ 726739 h 733938"/>
              <a:gd name="connsiteX21" fmla="*/ 403210 w 742935"/>
              <a:gd name="connsiteY21" fmla="*/ 720389 h 733938"/>
              <a:gd name="connsiteX22" fmla="*/ 234935 w 742935"/>
              <a:gd name="connsiteY22" fmla="*/ 717214 h 733938"/>
              <a:gd name="connsiteX23" fmla="*/ 123810 w 742935"/>
              <a:gd name="connsiteY23" fmla="*/ 720389 h 733938"/>
              <a:gd name="connsiteX24" fmla="*/ 88885 w 742935"/>
              <a:gd name="connsiteY24" fmla="*/ 726739 h 733938"/>
              <a:gd name="connsiteX25" fmla="*/ 22210 w 742935"/>
              <a:gd name="connsiteY25" fmla="*/ 723564 h 733938"/>
              <a:gd name="connsiteX26" fmla="*/ 15860 w 742935"/>
              <a:gd name="connsiteY26" fmla="*/ 714039 h 733938"/>
              <a:gd name="connsiteX27" fmla="*/ 12685 w 742935"/>
              <a:gd name="connsiteY27" fmla="*/ 688639 h 733938"/>
              <a:gd name="connsiteX28" fmla="*/ 6335 w 742935"/>
              <a:gd name="connsiteY28" fmla="*/ 663239 h 733938"/>
              <a:gd name="connsiteX29" fmla="*/ 3160 w 742935"/>
              <a:gd name="connsiteY29" fmla="*/ 644189 h 733938"/>
              <a:gd name="connsiteX30" fmla="*/ 12685 w 742935"/>
              <a:gd name="connsiteY30" fmla="*/ 196514 h 733938"/>
              <a:gd name="connsiteX31" fmla="*/ 15860 w 742935"/>
              <a:gd name="connsiteY31" fmla="*/ 101264 h 733938"/>
              <a:gd name="connsiteX32" fmla="*/ 19035 w 742935"/>
              <a:gd name="connsiteY32" fmla="*/ 6014 h 733938"/>
              <a:gd name="connsiteX0" fmla="*/ 12700 w 736600"/>
              <a:gd name="connsiteY0" fmla="*/ 6014 h 733938"/>
              <a:gd name="connsiteX1" fmla="*/ 53975 w 736600"/>
              <a:gd name="connsiteY1" fmla="*/ 9189 h 733938"/>
              <a:gd name="connsiteX2" fmla="*/ 123825 w 736600"/>
              <a:gd name="connsiteY2" fmla="*/ 2839 h 733938"/>
              <a:gd name="connsiteX3" fmla="*/ 441325 w 736600"/>
              <a:gd name="connsiteY3" fmla="*/ 6014 h 733938"/>
              <a:gd name="connsiteX4" fmla="*/ 482600 w 736600"/>
              <a:gd name="connsiteY4" fmla="*/ 9189 h 733938"/>
              <a:gd name="connsiteX5" fmla="*/ 574675 w 736600"/>
              <a:gd name="connsiteY5" fmla="*/ 12364 h 733938"/>
              <a:gd name="connsiteX6" fmla="*/ 714375 w 736600"/>
              <a:gd name="connsiteY6" fmla="*/ 9189 h 733938"/>
              <a:gd name="connsiteX7" fmla="*/ 730250 w 736600"/>
              <a:gd name="connsiteY7" fmla="*/ 12364 h 733938"/>
              <a:gd name="connsiteX8" fmla="*/ 723900 w 736600"/>
              <a:gd name="connsiteY8" fmla="*/ 63164 h 733938"/>
              <a:gd name="connsiteX9" fmla="*/ 727075 w 736600"/>
              <a:gd name="connsiteY9" fmla="*/ 139364 h 733938"/>
              <a:gd name="connsiteX10" fmla="*/ 733425 w 736600"/>
              <a:gd name="connsiteY10" fmla="*/ 158414 h 733938"/>
              <a:gd name="connsiteX11" fmla="*/ 736600 w 736600"/>
              <a:gd name="connsiteY11" fmla="*/ 167939 h 733938"/>
              <a:gd name="connsiteX12" fmla="*/ 733425 w 736600"/>
              <a:gd name="connsiteY12" fmla="*/ 266364 h 733938"/>
              <a:gd name="connsiteX13" fmla="*/ 730250 w 736600"/>
              <a:gd name="connsiteY13" fmla="*/ 434639 h 733938"/>
              <a:gd name="connsiteX14" fmla="*/ 723900 w 736600"/>
              <a:gd name="connsiteY14" fmla="*/ 482264 h 733938"/>
              <a:gd name="connsiteX15" fmla="*/ 717550 w 736600"/>
              <a:gd name="connsiteY15" fmla="*/ 545764 h 733938"/>
              <a:gd name="connsiteX16" fmla="*/ 714375 w 736600"/>
              <a:gd name="connsiteY16" fmla="*/ 679114 h 733938"/>
              <a:gd name="connsiteX17" fmla="*/ 711200 w 736600"/>
              <a:gd name="connsiteY17" fmla="*/ 707689 h 733938"/>
              <a:gd name="connsiteX18" fmla="*/ 708025 w 736600"/>
              <a:gd name="connsiteY18" fmla="*/ 729914 h 733938"/>
              <a:gd name="connsiteX19" fmla="*/ 650875 w 736600"/>
              <a:gd name="connsiteY19" fmla="*/ 733089 h 733938"/>
              <a:gd name="connsiteX20" fmla="*/ 460375 w 736600"/>
              <a:gd name="connsiteY20" fmla="*/ 726739 h 733938"/>
              <a:gd name="connsiteX21" fmla="*/ 396875 w 736600"/>
              <a:gd name="connsiteY21" fmla="*/ 720389 h 733938"/>
              <a:gd name="connsiteX22" fmla="*/ 228600 w 736600"/>
              <a:gd name="connsiteY22" fmla="*/ 717214 h 733938"/>
              <a:gd name="connsiteX23" fmla="*/ 117475 w 736600"/>
              <a:gd name="connsiteY23" fmla="*/ 720389 h 733938"/>
              <a:gd name="connsiteX24" fmla="*/ 82550 w 736600"/>
              <a:gd name="connsiteY24" fmla="*/ 726739 h 733938"/>
              <a:gd name="connsiteX25" fmla="*/ 15875 w 736600"/>
              <a:gd name="connsiteY25" fmla="*/ 723564 h 733938"/>
              <a:gd name="connsiteX26" fmla="*/ 9525 w 736600"/>
              <a:gd name="connsiteY26" fmla="*/ 714039 h 733938"/>
              <a:gd name="connsiteX27" fmla="*/ 6350 w 736600"/>
              <a:gd name="connsiteY27" fmla="*/ 688639 h 733938"/>
              <a:gd name="connsiteX28" fmla="*/ 0 w 736600"/>
              <a:gd name="connsiteY28" fmla="*/ 663239 h 733938"/>
              <a:gd name="connsiteX29" fmla="*/ 6350 w 736600"/>
              <a:gd name="connsiteY29" fmla="*/ 196514 h 733938"/>
              <a:gd name="connsiteX30" fmla="*/ 9525 w 736600"/>
              <a:gd name="connsiteY30" fmla="*/ 101264 h 733938"/>
              <a:gd name="connsiteX31" fmla="*/ 12700 w 736600"/>
              <a:gd name="connsiteY31" fmla="*/ 6014 h 733938"/>
              <a:gd name="connsiteX0" fmla="*/ 6747 w 730647"/>
              <a:gd name="connsiteY0" fmla="*/ 6014 h 733938"/>
              <a:gd name="connsiteX1" fmla="*/ 48022 w 730647"/>
              <a:gd name="connsiteY1" fmla="*/ 9189 h 733938"/>
              <a:gd name="connsiteX2" fmla="*/ 117872 w 730647"/>
              <a:gd name="connsiteY2" fmla="*/ 2839 h 733938"/>
              <a:gd name="connsiteX3" fmla="*/ 435372 w 730647"/>
              <a:gd name="connsiteY3" fmla="*/ 6014 h 733938"/>
              <a:gd name="connsiteX4" fmla="*/ 476647 w 730647"/>
              <a:gd name="connsiteY4" fmla="*/ 9189 h 733938"/>
              <a:gd name="connsiteX5" fmla="*/ 568722 w 730647"/>
              <a:gd name="connsiteY5" fmla="*/ 12364 h 733938"/>
              <a:gd name="connsiteX6" fmla="*/ 708422 w 730647"/>
              <a:gd name="connsiteY6" fmla="*/ 9189 h 733938"/>
              <a:gd name="connsiteX7" fmla="*/ 724297 w 730647"/>
              <a:gd name="connsiteY7" fmla="*/ 12364 h 733938"/>
              <a:gd name="connsiteX8" fmla="*/ 717947 w 730647"/>
              <a:gd name="connsiteY8" fmla="*/ 63164 h 733938"/>
              <a:gd name="connsiteX9" fmla="*/ 721122 w 730647"/>
              <a:gd name="connsiteY9" fmla="*/ 139364 h 733938"/>
              <a:gd name="connsiteX10" fmla="*/ 727472 w 730647"/>
              <a:gd name="connsiteY10" fmla="*/ 158414 h 733938"/>
              <a:gd name="connsiteX11" fmla="*/ 730647 w 730647"/>
              <a:gd name="connsiteY11" fmla="*/ 167939 h 733938"/>
              <a:gd name="connsiteX12" fmla="*/ 727472 w 730647"/>
              <a:gd name="connsiteY12" fmla="*/ 266364 h 733938"/>
              <a:gd name="connsiteX13" fmla="*/ 724297 w 730647"/>
              <a:gd name="connsiteY13" fmla="*/ 434639 h 733938"/>
              <a:gd name="connsiteX14" fmla="*/ 717947 w 730647"/>
              <a:gd name="connsiteY14" fmla="*/ 482264 h 733938"/>
              <a:gd name="connsiteX15" fmla="*/ 711597 w 730647"/>
              <a:gd name="connsiteY15" fmla="*/ 545764 h 733938"/>
              <a:gd name="connsiteX16" fmla="*/ 708422 w 730647"/>
              <a:gd name="connsiteY16" fmla="*/ 679114 h 733938"/>
              <a:gd name="connsiteX17" fmla="*/ 705247 w 730647"/>
              <a:gd name="connsiteY17" fmla="*/ 707689 h 733938"/>
              <a:gd name="connsiteX18" fmla="*/ 702072 w 730647"/>
              <a:gd name="connsiteY18" fmla="*/ 729914 h 733938"/>
              <a:gd name="connsiteX19" fmla="*/ 644922 w 730647"/>
              <a:gd name="connsiteY19" fmla="*/ 733089 h 733938"/>
              <a:gd name="connsiteX20" fmla="*/ 454422 w 730647"/>
              <a:gd name="connsiteY20" fmla="*/ 726739 h 733938"/>
              <a:gd name="connsiteX21" fmla="*/ 390922 w 730647"/>
              <a:gd name="connsiteY21" fmla="*/ 720389 h 733938"/>
              <a:gd name="connsiteX22" fmla="*/ 222647 w 730647"/>
              <a:gd name="connsiteY22" fmla="*/ 717214 h 733938"/>
              <a:gd name="connsiteX23" fmla="*/ 111522 w 730647"/>
              <a:gd name="connsiteY23" fmla="*/ 720389 h 733938"/>
              <a:gd name="connsiteX24" fmla="*/ 76597 w 730647"/>
              <a:gd name="connsiteY24" fmla="*/ 726739 h 733938"/>
              <a:gd name="connsiteX25" fmla="*/ 9922 w 730647"/>
              <a:gd name="connsiteY25" fmla="*/ 723564 h 733938"/>
              <a:gd name="connsiteX26" fmla="*/ 3572 w 730647"/>
              <a:gd name="connsiteY26" fmla="*/ 714039 h 733938"/>
              <a:gd name="connsiteX27" fmla="*/ 397 w 730647"/>
              <a:gd name="connsiteY27" fmla="*/ 688639 h 733938"/>
              <a:gd name="connsiteX28" fmla="*/ 397 w 730647"/>
              <a:gd name="connsiteY28" fmla="*/ 196514 h 733938"/>
              <a:gd name="connsiteX29" fmla="*/ 3572 w 730647"/>
              <a:gd name="connsiteY29" fmla="*/ 101264 h 733938"/>
              <a:gd name="connsiteX30" fmla="*/ 6747 w 730647"/>
              <a:gd name="connsiteY30" fmla="*/ 6014 h 733938"/>
              <a:gd name="connsiteX0" fmla="*/ 6747 w 730647"/>
              <a:gd name="connsiteY0" fmla="*/ 6014 h 733938"/>
              <a:gd name="connsiteX1" fmla="*/ 48022 w 730647"/>
              <a:gd name="connsiteY1" fmla="*/ 9189 h 733938"/>
              <a:gd name="connsiteX2" fmla="*/ 117872 w 730647"/>
              <a:gd name="connsiteY2" fmla="*/ 2839 h 733938"/>
              <a:gd name="connsiteX3" fmla="*/ 435372 w 730647"/>
              <a:gd name="connsiteY3" fmla="*/ 6014 h 733938"/>
              <a:gd name="connsiteX4" fmla="*/ 476647 w 730647"/>
              <a:gd name="connsiteY4" fmla="*/ 9189 h 733938"/>
              <a:gd name="connsiteX5" fmla="*/ 568722 w 730647"/>
              <a:gd name="connsiteY5" fmla="*/ 12364 h 733938"/>
              <a:gd name="connsiteX6" fmla="*/ 708422 w 730647"/>
              <a:gd name="connsiteY6" fmla="*/ 9189 h 733938"/>
              <a:gd name="connsiteX7" fmla="*/ 724297 w 730647"/>
              <a:gd name="connsiteY7" fmla="*/ 12364 h 733938"/>
              <a:gd name="connsiteX8" fmla="*/ 717947 w 730647"/>
              <a:gd name="connsiteY8" fmla="*/ 63164 h 733938"/>
              <a:gd name="connsiteX9" fmla="*/ 721122 w 730647"/>
              <a:gd name="connsiteY9" fmla="*/ 139364 h 733938"/>
              <a:gd name="connsiteX10" fmla="*/ 727472 w 730647"/>
              <a:gd name="connsiteY10" fmla="*/ 158414 h 733938"/>
              <a:gd name="connsiteX11" fmla="*/ 730647 w 730647"/>
              <a:gd name="connsiteY11" fmla="*/ 167939 h 733938"/>
              <a:gd name="connsiteX12" fmla="*/ 727472 w 730647"/>
              <a:gd name="connsiteY12" fmla="*/ 266364 h 733938"/>
              <a:gd name="connsiteX13" fmla="*/ 724297 w 730647"/>
              <a:gd name="connsiteY13" fmla="*/ 434639 h 733938"/>
              <a:gd name="connsiteX14" fmla="*/ 717947 w 730647"/>
              <a:gd name="connsiteY14" fmla="*/ 482264 h 733938"/>
              <a:gd name="connsiteX15" fmla="*/ 711597 w 730647"/>
              <a:gd name="connsiteY15" fmla="*/ 545764 h 733938"/>
              <a:gd name="connsiteX16" fmla="*/ 708422 w 730647"/>
              <a:gd name="connsiteY16" fmla="*/ 679114 h 733938"/>
              <a:gd name="connsiteX17" fmla="*/ 705247 w 730647"/>
              <a:gd name="connsiteY17" fmla="*/ 707689 h 733938"/>
              <a:gd name="connsiteX18" fmla="*/ 702072 w 730647"/>
              <a:gd name="connsiteY18" fmla="*/ 729914 h 733938"/>
              <a:gd name="connsiteX19" fmla="*/ 644922 w 730647"/>
              <a:gd name="connsiteY19" fmla="*/ 733089 h 733938"/>
              <a:gd name="connsiteX20" fmla="*/ 454422 w 730647"/>
              <a:gd name="connsiteY20" fmla="*/ 726739 h 733938"/>
              <a:gd name="connsiteX21" fmla="*/ 390922 w 730647"/>
              <a:gd name="connsiteY21" fmla="*/ 720389 h 733938"/>
              <a:gd name="connsiteX22" fmla="*/ 222647 w 730647"/>
              <a:gd name="connsiteY22" fmla="*/ 733089 h 733938"/>
              <a:gd name="connsiteX23" fmla="*/ 111522 w 730647"/>
              <a:gd name="connsiteY23" fmla="*/ 720389 h 733938"/>
              <a:gd name="connsiteX24" fmla="*/ 76597 w 730647"/>
              <a:gd name="connsiteY24" fmla="*/ 726739 h 733938"/>
              <a:gd name="connsiteX25" fmla="*/ 9922 w 730647"/>
              <a:gd name="connsiteY25" fmla="*/ 723564 h 733938"/>
              <a:gd name="connsiteX26" fmla="*/ 3572 w 730647"/>
              <a:gd name="connsiteY26" fmla="*/ 714039 h 733938"/>
              <a:gd name="connsiteX27" fmla="*/ 397 w 730647"/>
              <a:gd name="connsiteY27" fmla="*/ 688639 h 733938"/>
              <a:gd name="connsiteX28" fmla="*/ 397 w 730647"/>
              <a:gd name="connsiteY28" fmla="*/ 196514 h 733938"/>
              <a:gd name="connsiteX29" fmla="*/ 3572 w 730647"/>
              <a:gd name="connsiteY29" fmla="*/ 101264 h 733938"/>
              <a:gd name="connsiteX30" fmla="*/ 6747 w 730647"/>
              <a:gd name="connsiteY30" fmla="*/ 6014 h 733938"/>
              <a:gd name="connsiteX0" fmla="*/ 6747 w 730647"/>
              <a:gd name="connsiteY0" fmla="*/ 6014 h 739557"/>
              <a:gd name="connsiteX1" fmla="*/ 48022 w 730647"/>
              <a:gd name="connsiteY1" fmla="*/ 9189 h 739557"/>
              <a:gd name="connsiteX2" fmla="*/ 117872 w 730647"/>
              <a:gd name="connsiteY2" fmla="*/ 2839 h 739557"/>
              <a:gd name="connsiteX3" fmla="*/ 435372 w 730647"/>
              <a:gd name="connsiteY3" fmla="*/ 6014 h 739557"/>
              <a:gd name="connsiteX4" fmla="*/ 476647 w 730647"/>
              <a:gd name="connsiteY4" fmla="*/ 9189 h 739557"/>
              <a:gd name="connsiteX5" fmla="*/ 568722 w 730647"/>
              <a:gd name="connsiteY5" fmla="*/ 12364 h 739557"/>
              <a:gd name="connsiteX6" fmla="*/ 708422 w 730647"/>
              <a:gd name="connsiteY6" fmla="*/ 9189 h 739557"/>
              <a:gd name="connsiteX7" fmla="*/ 724297 w 730647"/>
              <a:gd name="connsiteY7" fmla="*/ 12364 h 739557"/>
              <a:gd name="connsiteX8" fmla="*/ 717947 w 730647"/>
              <a:gd name="connsiteY8" fmla="*/ 63164 h 739557"/>
              <a:gd name="connsiteX9" fmla="*/ 721122 w 730647"/>
              <a:gd name="connsiteY9" fmla="*/ 139364 h 739557"/>
              <a:gd name="connsiteX10" fmla="*/ 727472 w 730647"/>
              <a:gd name="connsiteY10" fmla="*/ 158414 h 739557"/>
              <a:gd name="connsiteX11" fmla="*/ 730647 w 730647"/>
              <a:gd name="connsiteY11" fmla="*/ 167939 h 739557"/>
              <a:gd name="connsiteX12" fmla="*/ 727472 w 730647"/>
              <a:gd name="connsiteY12" fmla="*/ 266364 h 739557"/>
              <a:gd name="connsiteX13" fmla="*/ 724297 w 730647"/>
              <a:gd name="connsiteY13" fmla="*/ 434639 h 739557"/>
              <a:gd name="connsiteX14" fmla="*/ 717947 w 730647"/>
              <a:gd name="connsiteY14" fmla="*/ 482264 h 739557"/>
              <a:gd name="connsiteX15" fmla="*/ 711597 w 730647"/>
              <a:gd name="connsiteY15" fmla="*/ 545764 h 739557"/>
              <a:gd name="connsiteX16" fmla="*/ 708422 w 730647"/>
              <a:gd name="connsiteY16" fmla="*/ 679114 h 739557"/>
              <a:gd name="connsiteX17" fmla="*/ 705247 w 730647"/>
              <a:gd name="connsiteY17" fmla="*/ 707689 h 739557"/>
              <a:gd name="connsiteX18" fmla="*/ 702072 w 730647"/>
              <a:gd name="connsiteY18" fmla="*/ 729914 h 739557"/>
              <a:gd name="connsiteX19" fmla="*/ 644922 w 730647"/>
              <a:gd name="connsiteY19" fmla="*/ 733089 h 739557"/>
              <a:gd name="connsiteX20" fmla="*/ 454422 w 730647"/>
              <a:gd name="connsiteY20" fmla="*/ 726739 h 739557"/>
              <a:gd name="connsiteX21" fmla="*/ 390922 w 730647"/>
              <a:gd name="connsiteY21" fmla="*/ 739439 h 739557"/>
              <a:gd name="connsiteX22" fmla="*/ 222647 w 730647"/>
              <a:gd name="connsiteY22" fmla="*/ 733089 h 739557"/>
              <a:gd name="connsiteX23" fmla="*/ 111522 w 730647"/>
              <a:gd name="connsiteY23" fmla="*/ 720389 h 739557"/>
              <a:gd name="connsiteX24" fmla="*/ 76597 w 730647"/>
              <a:gd name="connsiteY24" fmla="*/ 726739 h 739557"/>
              <a:gd name="connsiteX25" fmla="*/ 9922 w 730647"/>
              <a:gd name="connsiteY25" fmla="*/ 723564 h 739557"/>
              <a:gd name="connsiteX26" fmla="*/ 3572 w 730647"/>
              <a:gd name="connsiteY26" fmla="*/ 714039 h 739557"/>
              <a:gd name="connsiteX27" fmla="*/ 397 w 730647"/>
              <a:gd name="connsiteY27" fmla="*/ 688639 h 739557"/>
              <a:gd name="connsiteX28" fmla="*/ 397 w 730647"/>
              <a:gd name="connsiteY28" fmla="*/ 196514 h 739557"/>
              <a:gd name="connsiteX29" fmla="*/ 3572 w 730647"/>
              <a:gd name="connsiteY29" fmla="*/ 101264 h 739557"/>
              <a:gd name="connsiteX30" fmla="*/ 6747 w 730647"/>
              <a:gd name="connsiteY30" fmla="*/ 6014 h 739557"/>
              <a:gd name="connsiteX0" fmla="*/ 6747 w 730647"/>
              <a:gd name="connsiteY0" fmla="*/ 6014 h 740232"/>
              <a:gd name="connsiteX1" fmla="*/ 48022 w 730647"/>
              <a:gd name="connsiteY1" fmla="*/ 9189 h 740232"/>
              <a:gd name="connsiteX2" fmla="*/ 117872 w 730647"/>
              <a:gd name="connsiteY2" fmla="*/ 2839 h 740232"/>
              <a:gd name="connsiteX3" fmla="*/ 435372 w 730647"/>
              <a:gd name="connsiteY3" fmla="*/ 6014 h 740232"/>
              <a:gd name="connsiteX4" fmla="*/ 476647 w 730647"/>
              <a:gd name="connsiteY4" fmla="*/ 9189 h 740232"/>
              <a:gd name="connsiteX5" fmla="*/ 568722 w 730647"/>
              <a:gd name="connsiteY5" fmla="*/ 12364 h 740232"/>
              <a:gd name="connsiteX6" fmla="*/ 708422 w 730647"/>
              <a:gd name="connsiteY6" fmla="*/ 9189 h 740232"/>
              <a:gd name="connsiteX7" fmla="*/ 724297 w 730647"/>
              <a:gd name="connsiteY7" fmla="*/ 12364 h 740232"/>
              <a:gd name="connsiteX8" fmla="*/ 717947 w 730647"/>
              <a:gd name="connsiteY8" fmla="*/ 63164 h 740232"/>
              <a:gd name="connsiteX9" fmla="*/ 721122 w 730647"/>
              <a:gd name="connsiteY9" fmla="*/ 139364 h 740232"/>
              <a:gd name="connsiteX10" fmla="*/ 727472 w 730647"/>
              <a:gd name="connsiteY10" fmla="*/ 158414 h 740232"/>
              <a:gd name="connsiteX11" fmla="*/ 730647 w 730647"/>
              <a:gd name="connsiteY11" fmla="*/ 167939 h 740232"/>
              <a:gd name="connsiteX12" fmla="*/ 727472 w 730647"/>
              <a:gd name="connsiteY12" fmla="*/ 266364 h 740232"/>
              <a:gd name="connsiteX13" fmla="*/ 724297 w 730647"/>
              <a:gd name="connsiteY13" fmla="*/ 434639 h 740232"/>
              <a:gd name="connsiteX14" fmla="*/ 717947 w 730647"/>
              <a:gd name="connsiteY14" fmla="*/ 482264 h 740232"/>
              <a:gd name="connsiteX15" fmla="*/ 711597 w 730647"/>
              <a:gd name="connsiteY15" fmla="*/ 545764 h 740232"/>
              <a:gd name="connsiteX16" fmla="*/ 708422 w 730647"/>
              <a:gd name="connsiteY16" fmla="*/ 679114 h 740232"/>
              <a:gd name="connsiteX17" fmla="*/ 705247 w 730647"/>
              <a:gd name="connsiteY17" fmla="*/ 707689 h 740232"/>
              <a:gd name="connsiteX18" fmla="*/ 702072 w 730647"/>
              <a:gd name="connsiteY18" fmla="*/ 729914 h 740232"/>
              <a:gd name="connsiteX19" fmla="*/ 644922 w 730647"/>
              <a:gd name="connsiteY19" fmla="*/ 733089 h 740232"/>
              <a:gd name="connsiteX20" fmla="*/ 521097 w 730647"/>
              <a:gd name="connsiteY20" fmla="*/ 739439 h 740232"/>
              <a:gd name="connsiteX21" fmla="*/ 390922 w 730647"/>
              <a:gd name="connsiteY21" fmla="*/ 739439 h 740232"/>
              <a:gd name="connsiteX22" fmla="*/ 222647 w 730647"/>
              <a:gd name="connsiteY22" fmla="*/ 733089 h 740232"/>
              <a:gd name="connsiteX23" fmla="*/ 111522 w 730647"/>
              <a:gd name="connsiteY23" fmla="*/ 720389 h 740232"/>
              <a:gd name="connsiteX24" fmla="*/ 76597 w 730647"/>
              <a:gd name="connsiteY24" fmla="*/ 726739 h 740232"/>
              <a:gd name="connsiteX25" fmla="*/ 9922 w 730647"/>
              <a:gd name="connsiteY25" fmla="*/ 723564 h 740232"/>
              <a:gd name="connsiteX26" fmla="*/ 3572 w 730647"/>
              <a:gd name="connsiteY26" fmla="*/ 714039 h 740232"/>
              <a:gd name="connsiteX27" fmla="*/ 397 w 730647"/>
              <a:gd name="connsiteY27" fmla="*/ 688639 h 740232"/>
              <a:gd name="connsiteX28" fmla="*/ 397 w 730647"/>
              <a:gd name="connsiteY28" fmla="*/ 196514 h 740232"/>
              <a:gd name="connsiteX29" fmla="*/ 3572 w 730647"/>
              <a:gd name="connsiteY29" fmla="*/ 101264 h 740232"/>
              <a:gd name="connsiteX30" fmla="*/ 6747 w 730647"/>
              <a:gd name="connsiteY30" fmla="*/ 6014 h 740232"/>
              <a:gd name="connsiteX0" fmla="*/ 6747 w 727541"/>
              <a:gd name="connsiteY0" fmla="*/ 6014 h 740232"/>
              <a:gd name="connsiteX1" fmla="*/ 48022 w 727541"/>
              <a:gd name="connsiteY1" fmla="*/ 9189 h 740232"/>
              <a:gd name="connsiteX2" fmla="*/ 117872 w 727541"/>
              <a:gd name="connsiteY2" fmla="*/ 2839 h 740232"/>
              <a:gd name="connsiteX3" fmla="*/ 435372 w 727541"/>
              <a:gd name="connsiteY3" fmla="*/ 6014 h 740232"/>
              <a:gd name="connsiteX4" fmla="*/ 476647 w 727541"/>
              <a:gd name="connsiteY4" fmla="*/ 9189 h 740232"/>
              <a:gd name="connsiteX5" fmla="*/ 568722 w 727541"/>
              <a:gd name="connsiteY5" fmla="*/ 12364 h 740232"/>
              <a:gd name="connsiteX6" fmla="*/ 708422 w 727541"/>
              <a:gd name="connsiteY6" fmla="*/ 9189 h 740232"/>
              <a:gd name="connsiteX7" fmla="*/ 724297 w 727541"/>
              <a:gd name="connsiteY7" fmla="*/ 12364 h 740232"/>
              <a:gd name="connsiteX8" fmla="*/ 717947 w 727541"/>
              <a:gd name="connsiteY8" fmla="*/ 63164 h 740232"/>
              <a:gd name="connsiteX9" fmla="*/ 721122 w 727541"/>
              <a:gd name="connsiteY9" fmla="*/ 139364 h 740232"/>
              <a:gd name="connsiteX10" fmla="*/ 727472 w 727541"/>
              <a:gd name="connsiteY10" fmla="*/ 158414 h 740232"/>
              <a:gd name="connsiteX11" fmla="*/ 724297 w 727541"/>
              <a:gd name="connsiteY11" fmla="*/ 202864 h 740232"/>
              <a:gd name="connsiteX12" fmla="*/ 727472 w 727541"/>
              <a:gd name="connsiteY12" fmla="*/ 266364 h 740232"/>
              <a:gd name="connsiteX13" fmla="*/ 724297 w 727541"/>
              <a:gd name="connsiteY13" fmla="*/ 434639 h 740232"/>
              <a:gd name="connsiteX14" fmla="*/ 717947 w 727541"/>
              <a:gd name="connsiteY14" fmla="*/ 482264 h 740232"/>
              <a:gd name="connsiteX15" fmla="*/ 711597 w 727541"/>
              <a:gd name="connsiteY15" fmla="*/ 545764 h 740232"/>
              <a:gd name="connsiteX16" fmla="*/ 708422 w 727541"/>
              <a:gd name="connsiteY16" fmla="*/ 679114 h 740232"/>
              <a:gd name="connsiteX17" fmla="*/ 705247 w 727541"/>
              <a:gd name="connsiteY17" fmla="*/ 707689 h 740232"/>
              <a:gd name="connsiteX18" fmla="*/ 702072 w 727541"/>
              <a:gd name="connsiteY18" fmla="*/ 729914 h 740232"/>
              <a:gd name="connsiteX19" fmla="*/ 644922 w 727541"/>
              <a:gd name="connsiteY19" fmla="*/ 733089 h 740232"/>
              <a:gd name="connsiteX20" fmla="*/ 521097 w 727541"/>
              <a:gd name="connsiteY20" fmla="*/ 739439 h 740232"/>
              <a:gd name="connsiteX21" fmla="*/ 390922 w 727541"/>
              <a:gd name="connsiteY21" fmla="*/ 739439 h 740232"/>
              <a:gd name="connsiteX22" fmla="*/ 222647 w 727541"/>
              <a:gd name="connsiteY22" fmla="*/ 733089 h 740232"/>
              <a:gd name="connsiteX23" fmla="*/ 111522 w 727541"/>
              <a:gd name="connsiteY23" fmla="*/ 720389 h 740232"/>
              <a:gd name="connsiteX24" fmla="*/ 76597 w 727541"/>
              <a:gd name="connsiteY24" fmla="*/ 726739 h 740232"/>
              <a:gd name="connsiteX25" fmla="*/ 9922 w 727541"/>
              <a:gd name="connsiteY25" fmla="*/ 723564 h 740232"/>
              <a:gd name="connsiteX26" fmla="*/ 3572 w 727541"/>
              <a:gd name="connsiteY26" fmla="*/ 714039 h 740232"/>
              <a:gd name="connsiteX27" fmla="*/ 397 w 727541"/>
              <a:gd name="connsiteY27" fmla="*/ 688639 h 740232"/>
              <a:gd name="connsiteX28" fmla="*/ 397 w 727541"/>
              <a:gd name="connsiteY28" fmla="*/ 196514 h 740232"/>
              <a:gd name="connsiteX29" fmla="*/ 3572 w 727541"/>
              <a:gd name="connsiteY29" fmla="*/ 101264 h 740232"/>
              <a:gd name="connsiteX30" fmla="*/ 6747 w 727541"/>
              <a:gd name="connsiteY30" fmla="*/ 6014 h 740232"/>
              <a:gd name="connsiteX0" fmla="*/ 6747 w 727472"/>
              <a:gd name="connsiteY0" fmla="*/ 6014 h 740232"/>
              <a:gd name="connsiteX1" fmla="*/ 48022 w 727472"/>
              <a:gd name="connsiteY1" fmla="*/ 9189 h 740232"/>
              <a:gd name="connsiteX2" fmla="*/ 117872 w 727472"/>
              <a:gd name="connsiteY2" fmla="*/ 2839 h 740232"/>
              <a:gd name="connsiteX3" fmla="*/ 435372 w 727472"/>
              <a:gd name="connsiteY3" fmla="*/ 6014 h 740232"/>
              <a:gd name="connsiteX4" fmla="*/ 476647 w 727472"/>
              <a:gd name="connsiteY4" fmla="*/ 9189 h 740232"/>
              <a:gd name="connsiteX5" fmla="*/ 568722 w 727472"/>
              <a:gd name="connsiteY5" fmla="*/ 12364 h 740232"/>
              <a:gd name="connsiteX6" fmla="*/ 708422 w 727472"/>
              <a:gd name="connsiteY6" fmla="*/ 9189 h 740232"/>
              <a:gd name="connsiteX7" fmla="*/ 724297 w 727472"/>
              <a:gd name="connsiteY7" fmla="*/ 12364 h 740232"/>
              <a:gd name="connsiteX8" fmla="*/ 717947 w 727472"/>
              <a:gd name="connsiteY8" fmla="*/ 63164 h 740232"/>
              <a:gd name="connsiteX9" fmla="*/ 721122 w 727472"/>
              <a:gd name="connsiteY9" fmla="*/ 139364 h 740232"/>
              <a:gd name="connsiteX10" fmla="*/ 724297 w 727472"/>
              <a:gd name="connsiteY10" fmla="*/ 202864 h 740232"/>
              <a:gd name="connsiteX11" fmla="*/ 727472 w 727472"/>
              <a:gd name="connsiteY11" fmla="*/ 266364 h 740232"/>
              <a:gd name="connsiteX12" fmla="*/ 724297 w 727472"/>
              <a:gd name="connsiteY12" fmla="*/ 434639 h 740232"/>
              <a:gd name="connsiteX13" fmla="*/ 717947 w 727472"/>
              <a:gd name="connsiteY13" fmla="*/ 482264 h 740232"/>
              <a:gd name="connsiteX14" fmla="*/ 711597 w 727472"/>
              <a:gd name="connsiteY14" fmla="*/ 545764 h 740232"/>
              <a:gd name="connsiteX15" fmla="*/ 708422 w 727472"/>
              <a:gd name="connsiteY15" fmla="*/ 679114 h 740232"/>
              <a:gd name="connsiteX16" fmla="*/ 705247 w 727472"/>
              <a:gd name="connsiteY16" fmla="*/ 707689 h 740232"/>
              <a:gd name="connsiteX17" fmla="*/ 702072 w 727472"/>
              <a:gd name="connsiteY17" fmla="*/ 729914 h 740232"/>
              <a:gd name="connsiteX18" fmla="*/ 644922 w 727472"/>
              <a:gd name="connsiteY18" fmla="*/ 733089 h 740232"/>
              <a:gd name="connsiteX19" fmla="*/ 521097 w 727472"/>
              <a:gd name="connsiteY19" fmla="*/ 739439 h 740232"/>
              <a:gd name="connsiteX20" fmla="*/ 390922 w 727472"/>
              <a:gd name="connsiteY20" fmla="*/ 739439 h 740232"/>
              <a:gd name="connsiteX21" fmla="*/ 222647 w 727472"/>
              <a:gd name="connsiteY21" fmla="*/ 733089 h 740232"/>
              <a:gd name="connsiteX22" fmla="*/ 111522 w 727472"/>
              <a:gd name="connsiteY22" fmla="*/ 720389 h 740232"/>
              <a:gd name="connsiteX23" fmla="*/ 76597 w 727472"/>
              <a:gd name="connsiteY23" fmla="*/ 726739 h 740232"/>
              <a:gd name="connsiteX24" fmla="*/ 9922 w 727472"/>
              <a:gd name="connsiteY24" fmla="*/ 723564 h 740232"/>
              <a:gd name="connsiteX25" fmla="*/ 3572 w 727472"/>
              <a:gd name="connsiteY25" fmla="*/ 714039 h 740232"/>
              <a:gd name="connsiteX26" fmla="*/ 397 w 727472"/>
              <a:gd name="connsiteY26" fmla="*/ 688639 h 740232"/>
              <a:gd name="connsiteX27" fmla="*/ 397 w 727472"/>
              <a:gd name="connsiteY27" fmla="*/ 196514 h 740232"/>
              <a:gd name="connsiteX28" fmla="*/ 3572 w 727472"/>
              <a:gd name="connsiteY28" fmla="*/ 101264 h 740232"/>
              <a:gd name="connsiteX29" fmla="*/ 6747 w 727472"/>
              <a:gd name="connsiteY29" fmla="*/ 6014 h 740232"/>
              <a:gd name="connsiteX0" fmla="*/ 6747 w 725498"/>
              <a:gd name="connsiteY0" fmla="*/ 6014 h 740232"/>
              <a:gd name="connsiteX1" fmla="*/ 48022 w 725498"/>
              <a:gd name="connsiteY1" fmla="*/ 9189 h 740232"/>
              <a:gd name="connsiteX2" fmla="*/ 117872 w 725498"/>
              <a:gd name="connsiteY2" fmla="*/ 2839 h 740232"/>
              <a:gd name="connsiteX3" fmla="*/ 435372 w 725498"/>
              <a:gd name="connsiteY3" fmla="*/ 6014 h 740232"/>
              <a:gd name="connsiteX4" fmla="*/ 476647 w 725498"/>
              <a:gd name="connsiteY4" fmla="*/ 9189 h 740232"/>
              <a:gd name="connsiteX5" fmla="*/ 568722 w 725498"/>
              <a:gd name="connsiteY5" fmla="*/ 12364 h 740232"/>
              <a:gd name="connsiteX6" fmla="*/ 708422 w 725498"/>
              <a:gd name="connsiteY6" fmla="*/ 9189 h 740232"/>
              <a:gd name="connsiteX7" fmla="*/ 724297 w 725498"/>
              <a:gd name="connsiteY7" fmla="*/ 12364 h 740232"/>
              <a:gd name="connsiteX8" fmla="*/ 717947 w 725498"/>
              <a:gd name="connsiteY8" fmla="*/ 63164 h 740232"/>
              <a:gd name="connsiteX9" fmla="*/ 721122 w 725498"/>
              <a:gd name="connsiteY9" fmla="*/ 139364 h 740232"/>
              <a:gd name="connsiteX10" fmla="*/ 724297 w 725498"/>
              <a:gd name="connsiteY10" fmla="*/ 202864 h 740232"/>
              <a:gd name="connsiteX11" fmla="*/ 717947 w 725498"/>
              <a:gd name="connsiteY11" fmla="*/ 323514 h 740232"/>
              <a:gd name="connsiteX12" fmla="*/ 724297 w 725498"/>
              <a:gd name="connsiteY12" fmla="*/ 434639 h 740232"/>
              <a:gd name="connsiteX13" fmla="*/ 717947 w 725498"/>
              <a:gd name="connsiteY13" fmla="*/ 482264 h 740232"/>
              <a:gd name="connsiteX14" fmla="*/ 711597 w 725498"/>
              <a:gd name="connsiteY14" fmla="*/ 545764 h 740232"/>
              <a:gd name="connsiteX15" fmla="*/ 708422 w 725498"/>
              <a:gd name="connsiteY15" fmla="*/ 679114 h 740232"/>
              <a:gd name="connsiteX16" fmla="*/ 705247 w 725498"/>
              <a:gd name="connsiteY16" fmla="*/ 707689 h 740232"/>
              <a:gd name="connsiteX17" fmla="*/ 702072 w 725498"/>
              <a:gd name="connsiteY17" fmla="*/ 729914 h 740232"/>
              <a:gd name="connsiteX18" fmla="*/ 644922 w 725498"/>
              <a:gd name="connsiteY18" fmla="*/ 733089 h 740232"/>
              <a:gd name="connsiteX19" fmla="*/ 521097 w 725498"/>
              <a:gd name="connsiteY19" fmla="*/ 739439 h 740232"/>
              <a:gd name="connsiteX20" fmla="*/ 390922 w 725498"/>
              <a:gd name="connsiteY20" fmla="*/ 739439 h 740232"/>
              <a:gd name="connsiteX21" fmla="*/ 222647 w 725498"/>
              <a:gd name="connsiteY21" fmla="*/ 733089 h 740232"/>
              <a:gd name="connsiteX22" fmla="*/ 111522 w 725498"/>
              <a:gd name="connsiteY22" fmla="*/ 720389 h 740232"/>
              <a:gd name="connsiteX23" fmla="*/ 76597 w 725498"/>
              <a:gd name="connsiteY23" fmla="*/ 726739 h 740232"/>
              <a:gd name="connsiteX24" fmla="*/ 9922 w 725498"/>
              <a:gd name="connsiteY24" fmla="*/ 723564 h 740232"/>
              <a:gd name="connsiteX25" fmla="*/ 3572 w 725498"/>
              <a:gd name="connsiteY25" fmla="*/ 714039 h 740232"/>
              <a:gd name="connsiteX26" fmla="*/ 397 w 725498"/>
              <a:gd name="connsiteY26" fmla="*/ 688639 h 740232"/>
              <a:gd name="connsiteX27" fmla="*/ 397 w 725498"/>
              <a:gd name="connsiteY27" fmla="*/ 196514 h 740232"/>
              <a:gd name="connsiteX28" fmla="*/ 3572 w 725498"/>
              <a:gd name="connsiteY28" fmla="*/ 101264 h 740232"/>
              <a:gd name="connsiteX29" fmla="*/ 6747 w 725498"/>
              <a:gd name="connsiteY29" fmla="*/ 6014 h 740232"/>
              <a:gd name="connsiteX0" fmla="*/ 6747 w 725498"/>
              <a:gd name="connsiteY0" fmla="*/ 6014 h 740232"/>
              <a:gd name="connsiteX1" fmla="*/ 48022 w 725498"/>
              <a:gd name="connsiteY1" fmla="*/ 9189 h 740232"/>
              <a:gd name="connsiteX2" fmla="*/ 117872 w 725498"/>
              <a:gd name="connsiteY2" fmla="*/ 2839 h 740232"/>
              <a:gd name="connsiteX3" fmla="*/ 435372 w 725498"/>
              <a:gd name="connsiteY3" fmla="*/ 6014 h 740232"/>
              <a:gd name="connsiteX4" fmla="*/ 476647 w 725498"/>
              <a:gd name="connsiteY4" fmla="*/ 9189 h 740232"/>
              <a:gd name="connsiteX5" fmla="*/ 568722 w 725498"/>
              <a:gd name="connsiteY5" fmla="*/ 12364 h 740232"/>
              <a:gd name="connsiteX6" fmla="*/ 708422 w 725498"/>
              <a:gd name="connsiteY6" fmla="*/ 9189 h 740232"/>
              <a:gd name="connsiteX7" fmla="*/ 724297 w 725498"/>
              <a:gd name="connsiteY7" fmla="*/ 12364 h 740232"/>
              <a:gd name="connsiteX8" fmla="*/ 717947 w 725498"/>
              <a:gd name="connsiteY8" fmla="*/ 63164 h 740232"/>
              <a:gd name="connsiteX9" fmla="*/ 721122 w 725498"/>
              <a:gd name="connsiteY9" fmla="*/ 139364 h 740232"/>
              <a:gd name="connsiteX10" fmla="*/ 724297 w 725498"/>
              <a:gd name="connsiteY10" fmla="*/ 202864 h 740232"/>
              <a:gd name="connsiteX11" fmla="*/ 717947 w 725498"/>
              <a:gd name="connsiteY11" fmla="*/ 323514 h 740232"/>
              <a:gd name="connsiteX12" fmla="*/ 711597 w 725498"/>
              <a:gd name="connsiteY12" fmla="*/ 437814 h 740232"/>
              <a:gd name="connsiteX13" fmla="*/ 717947 w 725498"/>
              <a:gd name="connsiteY13" fmla="*/ 482264 h 740232"/>
              <a:gd name="connsiteX14" fmla="*/ 711597 w 725498"/>
              <a:gd name="connsiteY14" fmla="*/ 545764 h 740232"/>
              <a:gd name="connsiteX15" fmla="*/ 708422 w 725498"/>
              <a:gd name="connsiteY15" fmla="*/ 679114 h 740232"/>
              <a:gd name="connsiteX16" fmla="*/ 705247 w 725498"/>
              <a:gd name="connsiteY16" fmla="*/ 707689 h 740232"/>
              <a:gd name="connsiteX17" fmla="*/ 702072 w 725498"/>
              <a:gd name="connsiteY17" fmla="*/ 729914 h 740232"/>
              <a:gd name="connsiteX18" fmla="*/ 644922 w 725498"/>
              <a:gd name="connsiteY18" fmla="*/ 733089 h 740232"/>
              <a:gd name="connsiteX19" fmla="*/ 521097 w 725498"/>
              <a:gd name="connsiteY19" fmla="*/ 739439 h 740232"/>
              <a:gd name="connsiteX20" fmla="*/ 390922 w 725498"/>
              <a:gd name="connsiteY20" fmla="*/ 739439 h 740232"/>
              <a:gd name="connsiteX21" fmla="*/ 222647 w 725498"/>
              <a:gd name="connsiteY21" fmla="*/ 733089 h 740232"/>
              <a:gd name="connsiteX22" fmla="*/ 111522 w 725498"/>
              <a:gd name="connsiteY22" fmla="*/ 720389 h 740232"/>
              <a:gd name="connsiteX23" fmla="*/ 76597 w 725498"/>
              <a:gd name="connsiteY23" fmla="*/ 726739 h 740232"/>
              <a:gd name="connsiteX24" fmla="*/ 9922 w 725498"/>
              <a:gd name="connsiteY24" fmla="*/ 723564 h 740232"/>
              <a:gd name="connsiteX25" fmla="*/ 3572 w 725498"/>
              <a:gd name="connsiteY25" fmla="*/ 714039 h 740232"/>
              <a:gd name="connsiteX26" fmla="*/ 397 w 725498"/>
              <a:gd name="connsiteY26" fmla="*/ 688639 h 740232"/>
              <a:gd name="connsiteX27" fmla="*/ 397 w 725498"/>
              <a:gd name="connsiteY27" fmla="*/ 196514 h 740232"/>
              <a:gd name="connsiteX28" fmla="*/ 3572 w 725498"/>
              <a:gd name="connsiteY28" fmla="*/ 101264 h 740232"/>
              <a:gd name="connsiteX29" fmla="*/ 6747 w 725498"/>
              <a:gd name="connsiteY29" fmla="*/ 6014 h 740232"/>
              <a:gd name="connsiteX0" fmla="*/ 6747 w 724366"/>
              <a:gd name="connsiteY0" fmla="*/ 6014 h 740232"/>
              <a:gd name="connsiteX1" fmla="*/ 48022 w 724366"/>
              <a:gd name="connsiteY1" fmla="*/ 9189 h 740232"/>
              <a:gd name="connsiteX2" fmla="*/ 117872 w 724366"/>
              <a:gd name="connsiteY2" fmla="*/ 2839 h 740232"/>
              <a:gd name="connsiteX3" fmla="*/ 435372 w 724366"/>
              <a:gd name="connsiteY3" fmla="*/ 6014 h 740232"/>
              <a:gd name="connsiteX4" fmla="*/ 476647 w 724366"/>
              <a:gd name="connsiteY4" fmla="*/ 9189 h 740232"/>
              <a:gd name="connsiteX5" fmla="*/ 568722 w 724366"/>
              <a:gd name="connsiteY5" fmla="*/ 12364 h 740232"/>
              <a:gd name="connsiteX6" fmla="*/ 708422 w 724366"/>
              <a:gd name="connsiteY6" fmla="*/ 9189 h 740232"/>
              <a:gd name="connsiteX7" fmla="*/ 714772 w 724366"/>
              <a:gd name="connsiteY7" fmla="*/ 15539 h 740232"/>
              <a:gd name="connsiteX8" fmla="*/ 717947 w 724366"/>
              <a:gd name="connsiteY8" fmla="*/ 63164 h 740232"/>
              <a:gd name="connsiteX9" fmla="*/ 721122 w 724366"/>
              <a:gd name="connsiteY9" fmla="*/ 139364 h 740232"/>
              <a:gd name="connsiteX10" fmla="*/ 724297 w 724366"/>
              <a:gd name="connsiteY10" fmla="*/ 202864 h 740232"/>
              <a:gd name="connsiteX11" fmla="*/ 717947 w 724366"/>
              <a:gd name="connsiteY11" fmla="*/ 323514 h 740232"/>
              <a:gd name="connsiteX12" fmla="*/ 711597 w 724366"/>
              <a:gd name="connsiteY12" fmla="*/ 437814 h 740232"/>
              <a:gd name="connsiteX13" fmla="*/ 717947 w 724366"/>
              <a:gd name="connsiteY13" fmla="*/ 482264 h 740232"/>
              <a:gd name="connsiteX14" fmla="*/ 711597 w 724366"/>
              <a:gd name="connsiteY14" fmla="*/ 545764 h 740232"/>
              <a:gd name="connsiteX15" fmla="*/ 708422 w 724366"/>
              <a:gd name="connsiteY15" fmla="*/ 679114 h 740232"/>
              <a:gd name="connsiteX16" fmla="*/ 705247 w 724366"/>
              <a:gd name="connsiteY16" fmla="*/ 707689 h 740232"/>
              <a:gd name="connsiteX17" fmla="*/ 702072 w 724366"/>
              <a:gd name="connsiteY17" fmla="*/ 729914 h 740232"/>
              <a:gd name="connsiteX18" fmla="*/ 644922 w 724366"/>
              <a:gd name="connsiteY18" fmla="*/ 733089 h 740232"/>
              <a:gd name="connsiteX19" fmla="*/ 521097 w 724366"/>
              <a:gd name="connsiteY19" fmla="*/ 739439 h 740232"/>
              <a:gd name="connsiteX20" fmla="*/ 390922 w 724366"/>
              <a:gd name="connsiteY20" fmla="*/ 739439 h 740232"/>
              <a:gd name="connsiteX21" fmla="*/ 222647 w 724366"/>
              <a:gd name="connsiteY21" fmla="*/ 733089 h 740232"/>
              <a:gd name="connsiteX22" fmla="*/ 111522 w 724366"/>
              <a:gd name="connsiteY22" fmla="*/ 720389 h 740232"/>
              <a:gd name="connsiteX23" fmla="*/ 76597 w 724366"/>
              <a:gd name="connsiteY23" fmla="*/ 726739 h 740232"/>
              <a:gd name="connsiteX24" fmla="*/ 9922 w 724366"/>
              <a:gd name="connsiteY24" fmla="*/ 723564 h 740232"/>
              <a:gd name="connsiteX25" fmla="*/ 3572 w 724366"/>
              <a:gd name="connsiteY25" fmla="*/ 714039 h 740232"/>
              <a:gd name="connsiteX26" fmla="*/ 397 w 724366"/>
              <a:gd name="connsiteY26" fmla="*/ 688639 h 740232"/>
              <a:gd name="connsiteX27" fmla="*/ 397 w 724366"/>
              <a:gd name="connsiteY27" fmla="*/ 196514 h 740232"/>
              <a:gd name="connsiteX28" fmla="*/ 3572 w 724366"/>
              <a:gd name="connsiteY28" fmla="*/ 101264 h 740232"/>
              <a:gd name="connsiteX29" fmla="*/ 6747 w 724366"/>
              <a:gd name="connsiteY29" fmla="*/ 6014 h 740232"/>
              <a:gd name="connsiteX0" fmla="*/ 6747 w 724366"/>
              <a:gd name="connsiteY0" fmla="*/ 6014 h 740232"/>
              <a:gd name="connsiteX1" fmla="*/ 48022 w 724366"/>
              <a:gd name="connsiteY1" fmla="*/ 9189 h 740232"/>
              <a:gd name="connsiteX2" fmla="*/ 117872 w 724366"/>
              <a:gd name="connsiteY2" fmla="*/ 2839 h 740232"/>
              <a:gd name="connsiteX3" fmla="*/ 435372 w 724366"/>
              <a:gd name="connsiteY3" fmla="*/ 6014 h 740232"/>
              <a:gd name="connsiteX4" fmla="*/ 476647 w 724366"/>
              <a:gd name="connsiteY4" fmla="*/ 9189 h 740232"/>
              <a:gd name="connsiteX5" fmla="*/ 568722 w 724366"/>
              <a:gd name="connsiteY5" fmla="*/ 12364 h 740232"/>
              <a:gd name="connsiteX6" fmla="*/ 708422 w 724366"/>
              <a:gd name="connsiteY6" fmla="*/ 9189 h 740232"/>
              <a:gd name="connsiteX7" fmla="*/ 714772 w 724366"/>
              <a:gd name="connsiteY7" fmla="*/ 15539 h 740232"/>
              <a:gd name="connsiteX8" fmla="*/ 717947 w 724366"/>
              <a:gd name="connsiteY8" fmla="*/ 63164 h 740232"/>
              <a:gd name="connsiteX9" fmla="*/ 721122 w 724366"/>
              <a:gd name="connsiteY9" fmla="*/ 139364 h 740232"/>
              <a:gd name="connsiteX10" fmla="*/ 724297 w 724366"/>
              <a:gd name="connsiteY10" fmla="*/ 202864 h 740232"/>
              <a:gd name="connsiteX11" fmla="*/ 717947 w 724366"/>
              <a:gd name="connsiteY11" fmla="*/ 323514 h 740232"/>
              <a:gd name="connsiteX12" fmla="*/ 711597 w 724366"/>
              <a:gd name="connsiteY12" fmla="*/ 437814 h 740232"/>
              <a:gd name="connsiteX13" fmla="*/ 717947 w 724366"/>
              <a:gd name="connsiteY13" fmla="*/ 482264 h 740232"/>
              <a:gd name="connsiteX14" fmla="*/ 711597 w 724366"/>
              <a:gd name="connsiteY14" fmla="*/ 545764 h 740232"/>
              <a:gd name="connsiteX15" fmla="*/ 708422 w 724366"/>
              <a:gd name="connsiteY15" fmla="*/ 679114 h 740232"/>
              <a:gd name="connsiteX16" fmla="*/ 705247 w 724366"/>
              <a:gd name="connsiteY16" fmla="*/ 707689 h 740232"/>
              <a:gd name="connsiteX17" fmla="*/ 702072 w 724366"/>
              <a:gd name="connsiteY17" fmla="*/ 729914 h 740232"/>
              <a:gd name="connsiteX18" fmla="*/ 644922 w 724366"/>
              <a:gd name="connsiteY18" fmla="*/ 733089 h 740232"/>
              <a:gd name="connsiteX19" fmla="*/ 521097 w 724366"/>
              <a:gd name="connsiteY19" fmla="*/ 739439 h 740232"/>
              <a:gd name="connsiteX20" fmla="*/ 390922 w 724366"/>
              <a:gd name="connsiteY20" fmla="*/ 739439 h 740232"/>
              <a:gd name="connsiteX21" fmla="*/ 222647 w 724366"/>
              <a:gd name="connsiteY21" fmla="*/ 733089 h 740232"/>
              <a:gd name="connsiteX22" fmla="*/ 76597 w 724366"/>
              <a:gd name="connsiteY22" fmla="*/ 726739 h 740232"/>
              <a:gd name="connsiteX23" fmla="*/ 9922 w 724366"/>
              <a:gd name="connsiteY23" fmla="*/ 723564 h 740232"/>
              <a:gd name="connsiteX24" fmla="*/ 3572 w 724366"/>
              <a:gd name="connsiteY24" fmla="*/ 714039 h 740232"/>
              <a:gd name="connsiteX25" fmla="*/ 397 w 724366"/>
              <a:gd name="connsiteY25" fmla="*/ 688639 h 740232"/>
              <a:gd name="connsiteX26" fmla="*/ 397 w 724366"/>
              <a:gd name="connsiteY26" fmla="*/ 196514 h 740232"/>
              <a:gd name="connsiteX27" fmla="*/ 3572 w 724366"/>
              <a:gd name="connsiteY27" fmla="*/ 101264 h 740232"/>
              <a:gd name="connsiteX28" fmla="*/ 6747 w 724366"/>
              <a:gd name="connsiteY28" fmla="*/ 6014 h 740232"/>
              <a:gd name="connsiteX0" fmla="*/ 7188 w 724807"/>
              <a:gd name="connsiteY0" fmla="*/ 6014 h 740232"/>
              <a:gd name="connsiteX1" fmla="*/ 48463 w 724807"/>
              <a:gd name="connsiteY1" fmla="*/ 9189 h 740232"/>
              <a:gd name="connsiteX2" fmla="*/ 118313 w 724807"/>
              <a:gd name="connsiteY2" fmla="*/ 2839 h 740232"/>
              <a:gd name="connsiteX3" fmla="*/ 435813 w 724807"/>
              <a:gd name="connsiteY3" fmla="*/ 6014 h 740232"/>
              <a:gd name="connsiteX4" fmla="*/ 477088 w 724807"/>
              <a:gd name="connsiteY4" fmla="*/ 9189 h 740232"/>
              <a:gd name="connsiteX5" fmla="*/ 569163 w 724807"/>
              <a:gd name="connsiteY5" fmla="*/ 12364 h 740232"/>
              <a:gd name="connsiteX6" fmla="*/ 708863 w 724807"/>
              <a:gd name="connsiteY6" fmla="*/ 9189 h 740232"/>
              <a:gd name="connsiteX7" fmla="*/ 715213 w 724807"/>
              <a:gd name="connsiteY7" fmla="*/ 15539 h 740232"/>
              <a:gd name="connsiteX8" fmla="*/ 718388 w 724807"/>
              <a:gd name="connsiteY8" fmla="*/ 63164 h 740232"/>
              <a:gd name="connsiteX9" fmla="*/ 721563 w 724807"/>
              <a:gd name="connsiteY9" fmla="*/ 139364 h 740232"/>
              <a:gd name="connsiteX10" fmla="*/ 724738 w 724807"/>
              <a:gd name="connsiteY10" fmla="*/ 202864 h 740232"/>
              <a:gd name="connsiteX11" fmla="*/ 718388 w 724807"/>
              <a:gd name="connsiteY11" fmla="*/ 323514 h 740232"/>
              <a:gd name="connsiteX12" fmla="*/ 712038 w 724807"/>
              <a:gd name="connsiteY12" fmla="*/ 437814 h 740232"/>
              <a:gd name="connsiteX13" fmla="*/ 718388 w 724807"/>
              <a:gd name="connsiteY13" fmla="*/ 482264 h 740232"/>
              <a:gd name="connsiteX14" fmla="*/ 712038 w 724807"/>
              <a:gd name="connsiteY14" fmla="*/ 545764 h 740232"/>
              <a:gd name="connsiteX15" fmla="*/ 708863 w 724807"/>
              <a:gd name="connsiteY15" fmla="*/ 679114 h 740232"/>
              <a:gd name="connsiteX16" fmla="*/ 705688 w 724807"/>
              <a:gd name="connsiteY16" fmla="*/ 707689 h 740232"/>
              <a:gd name="connsiteX17" fmla="*/ 702513 w 724807"/>
              <a:gd name="connsiteY17" fmla="*/ 729914 h 740232"/>
              <a:gd name="connsiteX18" fmla="*/ 645363 w 724807"/>
              <a:gd name="connsiteY18" fmla="*/ 733089 h 740232"/>
              <a:gd name="connsiteX19" fmla="*/ 521538 w 724807"/>
              <a:gd name="connsiteY19" fmla="*/ 739439 h 740232"/>
              <a:gd name="connsiteX20" fmla="*/ 391363 w 724807"/>
              <a:gd name="connsiteY20" fmla="*/ 739439 h 740232"/>
              <a:gd name="connsiteX21" fmla="*/ 223088 w 724807"/>
              <a:gd name="connsiteY21" fmla="*/ 733089 h 740232"/>
              <a:gd name="connsiteX22" fmla="*/ 77038 w 724807"/>
              <a:gd name="connsiteY22" fmla="*/ 726739 h 740232"/>
              <a:gd name="connsiteX23" fmla="*/ 10363 w 724807"/>
              <a:gd name="connsiteY23" fmla="*/ 723564 h 740232"/>
              <a:gd name="connsiteX24" fmla="*/ 838 w 724807"/>
              <a:gd name="connsiteY24" fmla="*/ 688639 h 740232"/>
              <a:gd name="connsiteX25" fmla="*/ 838 w 724807"/>
              <a:gd name="connsiteY25" fmla="*/ 196514 h 740232"/>
              <a:gd name="connsiteX26" fmla="*/ 4013 w 724807"/>
              <a:gd name="connsiteY26" fmla="*/ 101264 h 740232"/>
              <a:gd name="connsiteX27" fmla="*/ 7188 w 724807"/>
              <a:gd name="connsiteY27" fmla="*/ 6014 h 740232"/>
              <a:gd name="connsiteX0" fmla="*/ 7188 w 724807"/>
              <a:gd name="connsiteY0" fmla="*/ 6014 h 740232"/>
              <a:gd name="connsiteX1" fmla="*/ 48463 w 724807"/>
              <a:gd name="connsiteY1" fmla="*/ 9189 h 740232"/>
              <a:gd name="connsiteX2" fmla="*/ 118313 w 724807"/>
              <a:gd name="connsiteY2" fmla="*/ 2839 h 740232"/>
              <a:gd name="connsiteX3" fmla="*/ 435813 w 724807"/>
              <a:gd name="connsiteY3" fmla="*/ 6014 h 740232"/>
              <a:gd name="connsiteX4" fmla="*/ 477088 w 724807"/>
              <a:gd name="connsiteY4" fmla="*/ 9189 h 740232"/>
              <a:gd name="connsiteX5" fmla="*/ 569163 w 724807"/>
              <a:gd name="connsiteY5" fmla="*/ 12364 h 740232"/>
              <a:gd name="connsiteX6" fmla="*/ 708863 w 724807"/>
              <a:gd name="connsiteY6" fmla="*/ 9189 h 740232"/>
              <a:gd name="connsiteX7" fmla="*/ 715213 w 724807"/>
              <a:gd name="connsiteY7" fmla="*/ 15539 h 740232"/>
              <a:gd name="connsiteX8" fmla="*/ 718388 w 724807"/>
              <a:gd name="connsiteY8" fmla="*/ 63164 h 740232"/>
              <a:gd name="connsiteX9" fmla="*/ 721563 w 724807"/>
              <a:gd name="connsiteY9" fmla="*/ 139364 h 740232"/>
              <a:gd name="connsiteX10" fmla="*/ 724738 w 724807"/>
              <a:gd name="connsiteY10" fmla="*/ 202864 h 740232"/>
              <a:gd name="connsiteX11" fmla="*/ 718388 w 724807"/>
              <a:gd name="connsiteY11" fmla="*/ 323514 h 740232"/>
              <a:gd name="connsiteX12" fmla="*/ 712038 w 724807"/>
              <a:gd name="connsiteY12" fmla="*/ 437814 h 740232"/>
              <a:gd name="connsiteX13" fmla="*/ 718388 w 724807"/>
              <a:gd name="connsiteY13" fmla="*/ 482264 h 740232"/>
              <a:gd name="connsiteX14" fmla="*/ 712038 w 724807"/>
              <a:gd name="connsiteY14" fmla="*/ 545764 h 740232"/>
              <a:gd name="connsiteX15" fmla="*/ 708863 w 724807"/>
              <a:gd name="connsiteY15" fmla="*/ 679114 h 740232"/>
              <a:gd name="connsiteX16" fmla="*/ 705688 w 724807"/>
              <a:gd name="connsiteY16" fmla="*/ 707689 h 740232"/>
              <a:gd name="connsiteX17" fmla="*/ 702513 w 724807"/>
              <a:gd name="connsiteY17" fmla="*/ 729914 h 740232"/>
              <a:gd name="connsiteX18" fmla="*/ 645363 w 724807"/>
              <a:gd name="connsiteY18" fmla="*/ 733089 h 740232"/>
              <a:gd name="connsiteX19" fmla="*/ 521538 w 724807"/>
              <a:gd name="connsiteY19" fmla="*/ 739439 h 740232"/>
              <a:gd name="connsiteX20" fmla="*/ 391363 w 724807"/>
              <a:gd name="connsiteY20" fmla="*/ 739439 h 740232"/>
              <a:gd name="connsiteX21" fmla="*/ 223088 w 724807"/>
              <a:gd name="connsiteY21" fmla="*/ 733089 h 740232"/>
              <a:gd name="connsiteX22" fmla="*/ 77038 w 724807"/>
              <a:gd name="connsiteY22" fmla="*/ 726739 h 740232"/>
              <a:gd name="connsiteX23" fmla="*/ 10363 w 724807"/>
              <a:gd name="connsiteY23" fmla="*/ 723564 h 740232"/>
              <a:gd name="connsiteX24" fmla="*/ 838 w 724807"/>
              <a:gd name="connsiteY24" fmla="*/ 644189 h 740232"/>
              <a:gd name="connsiteX25" fmla="*/ 838 w 724807"/>
              <a:gd name="connsiteY25" fmla="*/ 196514 h 740232"/>
              <a:gd name="connsiteX26" fmla="*/ 4013 w 724807"/>
              <a:gd name="connsiteY26" fmla="*/ 101264 h 740232"/>
              <a:gd name="connsiteX27" fmla="*/ 7188 w 724807"/>
              <a:gd name="connsiteY27" fmla="*/ 6014 h 740232"/>
              <a:gd name="connsiteX0" fmla="*/ 7188 w 724807"/>
              <a:gd name="connsiteY0" fmla="*/ 6014 h 740232"/>
              <a:gd name="connsiteX1" fmla="*/ 48463 w 724807"/>
              <a:gd name="connsiteY1" fmla="*/ 9189 h 740232"/>
              <a:gd name="connsiteX2" fmla="*/ 118313 w 724807"/>
              <a:gd name="connsiteY2" fmla="*/ 2839 h 740232"/>
              <a:gd name="connsiteX3" fmla="*/ 435813 w 724807"/>
              <a:gd name="connsiteY3" fmla="*/ 6014 h 740232"/>
              <a:gd name="connsiteX4" fmla="*/ 477088 w 724807"/>
              <a:gd name="connsiteY4" fmla="*/ 9189 h 740232"/>
              <a:gd name="connsiteX5" fmla="*/ 569163 w 724807"/>
              <a:gd name="connsiteY5" fmla="*/ 12364 h 740232"/>
              <a:gd name="connsiteX6" fmla="*/ 708863 w 724807"/>
              <a:gd name="connsiteY6" fmla="*/ 9189 h 740232"/>
              <a:gd name="connsiteX7" fmla="*/ 715213 w 724807"/>
              <a:gd name="connsiteY7" fmla="*/ 15539 h 740232"/>
              <a:gd name="connsiteX8" fmla="*/ 718388 w 724807"/>
              <a:gd name="connsiteY8" fmla="*/ 63164 h 740232"/>
              <a:gd name="connsiteX9" fmla="*/ 721563 w 724807"/>
              <a:gd name="connsiteY9" fmla="*/ 139364 h 740232"/>
              <a:gd name="connsiteX10" fmla="*/ 724738 w 724807"/>
              <a:gd name="connsiteY10" fmla="*/ 202864 h 740232"/>
              <a:gd name="connsiteX11" fmla="*/ 718388 w 724807"/>
              <a:gd name="connsiteY11" fmla="*/ 323514 h 740232"/>
              <a:gd name="connsiteX12" fmla="*/ 712038 w 724807"/>
              <a:gd name="connsiteY12" fmla="*/ 437814 h 740232"/>
              <a:gd name="connsiteX13" fmla="*/ 718388 w 724807"/>
              <a:gd name="connsiteY13" fmla="*/ 482264 h 740232"/>
              <a:gd name="connsiteX14" fmla="*/ 712038 w 724807"/>
              <a:gd name="connsiteY14" fmla="*/ 545764 h 740232"/>
              <a:gd name="connsiteX15" fmla="*/ 708863 w 724807"/>
              <a:gd name="connsiteY15" fmla="*/ 679114 h 740232"/>
              <a:gd name="connsiteX16" fmla="*/ 705688 w 724807"/>
              <a:gd name="connsiteY16" fmla="*/ 707689 h 740232"/>
              <a:gd name="connsiteX17" fmla="*/ 702513 w 724807"/>
              <a:gd name="connsiteY17" fmla="*/ 729914 h 740232"/>
              <a:gd name="connsiteX18" fmla="*/ 645363 w 724807"/>
              <a:gd name="connsiteY18" fmla="*/ 733089 h 740232"/>
              <a:gd name="connsiteX19" fmla="*/ 521538 w 724807"/>
              <a:gd name="connsiteY19" fmla="*/ 739439 h 740232"/>
              <a:gd name="connsiteX20" fmla="*/ 391363 w 724807"/>
              <a:gd name="connsiteY20" fmla="*/ 739439 h 740232"/>
              <a:gd name="connsiteX21" fmla="*/ 223088 w 724807"/>
              <a:gd name="connsiteY21" fmla="*/ 733089 h 740232"/>
              <a:gd name="connsiteX22" fmla="*/ 96088 w 724807"/>
              <a:gd name="connsiteY22" fmla="*/ 733089 h 740232"/>
              <a:gd name="connsiteX23" fmla="*/ 10363 w 724807"/>
              <a:gd name="connsiteY23" fmla="*/ 723564 h 740232"/>
              <a:gd name="connsiteX24" fmla="*/ 838 w 724807"/>
              <a:gd name="connsiteY24" fmla="*/ 644189 h 740232"/>
              <a:gd name="connsiteX25" fmla="*/ 838 w 724807"/>
              <a:gd name="connsiteY25" fmla="*/ 196514 h 740232"/>
              <a:gd name="connsiteX26" fmla="*/ 4013 w 724807"/>
              <a:gd name="connsiteY26" fmla="*/ 101264 h 740232"/>
              <a:gd name="connsiteX27" fmla="*/ 7188 w 724807"/>
              <a:gd name="connsiteY27" fmla="*/ 6014 h 740232"/>
              <a:gd name="connsiteX0" fmla="*/ 7343 w 724962"/>
              <a:gd name="connsiteY0" fmla="*/ 6014 h 740232"/>
              <a:gd name="connsiteX1" fmla="*/ 48618 w 724962"/>
              <a:gd name="connsiteY1" fmla="*/ 9189 h 740232"/>
              <a:gd name="connsiteX2" fmla="*/ 118468 w 724962"/>
              <a:gd name="connsiteY2" fmla="*/ 2839 h 740232"/>
              <a:gd name="connsiteX3" fmla="*/ 435968 w 724962"/>
              <a:gd name="connsiteY3" fmla="*/ 6014 h 740232"/>
              <a:gd name="connsiteX4" fmla="*/ 477243 w 724962"/>
              <a:gd name="connsiteY4" fmla="*/ 9189 h 740232"/>
              <a:gd name="connsiteX5" fmla="*/ 569318 w 724962"/>
              <a:gd name="connsiteY5" fmla="*/ 12364 h 740232"/>
              <a:gd name="connsiteX6" fmla="*/ 709018 w 724962"/>
              <a:gd name="connsiteY6" fmla="*/ 9189 h 740232"/>
              <a:gd name="connsiteX7" fmla="*/ 715368 w 724962"/>
              <a:gd name="connsiteY7" fmla="*/ 15539 h 740232"/>
              <a:gd name="connsiteX8" fmla="*/ 718543 w 724962"/>
              <a:gd name="connsiteY8" fmla="*/ 63164 h 740232"/>
              <a:gd name="connsiteX9" fmla="*/ 721718 w 724962"/>
              <a:gd name="connsiteY9" fmla="*/ 139364 h 740232"/>
              <a:gd name="connsiteX10" fmla="*/ 724893 w 724962"/>
              <a:gd name="connsiteY10" fmla="*/ 202864 h 740232"/>
              <a:gd name="connsiteX11" fmla="*/ 718543 w 724962"/>
              <a:gd name="connsiteY11" fmla="*/ 323514 h 740232"/>
              <a:gd name="connsiteX12" fmla="*/ 712193 w 724962"/>
              <a:gd name="connsiteY12" fmla="*/ 437814 h 740232"/>
              <a:gd name="connsiteX13" fmla="*/ 718543 w 724962"/>
              <a:gd name="connsiteY13" fmla="*/ 482264 h 740232"/>
              <a:gd name="connsiteX14" fmla="*/ 712193 w 724962"/>
              <a:gd name="connsiteY14" fmla="*/ 545764 h 740232"/>
              <a:gd name="connsiteX15" fmla="*/ 709018 w 724962"/>
              <a:gd name="connsiteY15" fmla="*/ 679114 h 740232"/>
              <a:gd name="connsiteX16" fmla="*/ 705843 w 724962"/>
              <a:gd name="connsiteY16" fmla="*/ 707689 h 740232"/>
              <a:gd name="connsiteX17" fmla="*/ 702668 w 724962"/>
              <a:gd name="connsiteY17" fmla="*/ 729914 h 740232"/>
              <a:gd name="connsiteX18" fmla="*/ 645518 w 724962"/>
              <a:gd name="connsiteY18" fmla="*/ 733089 h 740232"/>
              <a:gd name="connsiteX19" fmla="*/ 521693 w 724962"/>
              <a:gd name="connsiteY19" fmla="*/ 739439 h 740232"/>
              <a:gd name="connsiteX20" fmla="*/ 391518 w 724962"/>
              <a:gd name="connsiteY20" fmla="*/ 739439 h 740232"/>
              <a:gd name="connsiteX21" fmla="*/ 223243 w 724962"/>
              <a:gd name="connsiteY21" fmla="*/ 733089 h 740232"/>
              <a:gd name="connsiteX22" fmla="*/ 102593 w 724962"/>
              <a:gd name="connsiteY22" fmla="*/ 720389 h 740232"/>
              <a:gd name="connsiteX23" fmla="*/ 10518 w 724962"/>
              <a:gd name="connsiteY23" fmla="*/ 723564 h 740232"/>
              <a:gd name="connsiteX24" fmla="*/ 993 w 724962"/>
              <a:gd name="connsiteY24" fmla="*/ 644189 h 740232"/>
              <a:gd name="connsiteX25" fmla="*/ 993 w 724962"/>
              <a:gd name="connsiteY25" fmla="*/ 196514 h 740232"/>
              <a:gd name="connsiteX26" fmla="*/ 4168 w 724962"/>
              <a:gd name="connsiteY26" fmla="*/ 101264 h 740232"/>
              <a:gd name="connsiteX27" fmla="*/ 7343 w 724962"/>
              <a:gd name="connsiteY27" fmla="*/ 6014 h 740232"/>
              <a:gd name="connsiteX0" fmla="*/ 7343 w 724962"/>
              <a:gd name="connsiteY0" fmla="*/ 6014 h 740232"/>
              <a:gd name="connsiteX1" fmla="*/ 48618 w 724962"/>
              <a:gd name="connsiteY1" fmla="*/ 9189 h 740232"/>
              <a:gd name="connsiteX2" fmla="*/ 118468 w 724962"/>
              <a:gd name="connsiteY2" fmla="*/ 2839 h 740232"/>
              <a:gd name="connsiteX3" fmla="*/ 435968 w 724962"/>
              <a:gd name="connsiteY3" fmla="*/ 6014 h 740232"/>
              <a:gd name="connsiteX4" fmla="*/ 477243 w 724962"/>
              <a:gd name="connsiteY4" fmla="*/ 9189 h 740232"/>
              <a:gd name="connsiteX5" fmla="*/ 569318 w 724962"/>
              <a:gd name="connsiteY5" fmla="*/ 12364 h 740232"/>
              <a:gd name="connsiteX6" fmla="*/ 709018 w 724962"/>
              <a:gd name="connsiteY6" fmla="*/ 9189 h 740232"/>
              <a:gd name="connsiteX7" fmla="*/ 715368 w 724962"/>
              <a:gd name="connsiteY7" fmla="*/ 15539 h 740232"/>
              <a:gd name="connsiteX8" fmla="*/ 718543 w 724962"/>
              <a:gd name="connsiteY8" fmla="*/ 63164 h 740232"/>
              <a:gd name="connsiteX9" fmla="*/ 721718 w 724962"/>
              <a:gd name="connsiteY9" fmla="*/ 139364 h 740232"/>
              <a:gd name="connsiteX10" fmla="*/ 724893 w 724962"/>
              <a:gd name="connsiteY10" fmla="*/ 202864 h 740232"/>
              <a:gd name="connsiteX11" fmla="*/ 718543 w 724962"/>
              <a:gd name="connsiteY11" fmla="*/ 323514 h 740232"/>
              <a:gd name="connsiteX12" fmla="*/ 712193 w 724962"/>
              <a:gd name="connsiteY12" fmla="*/ 437814 h 740232"/>
              <a:gd name="connsiteX13" fmla="*/ 718543 w 724962"/>
              <a:gd name="connsiteY13" fmla="*/ 482264 h 740232"/>
              <a:gd name="connsiteX14" fmla="*/ 712193 w 724962"/>
              <a:gd name="connsiteY14" fmla="*/ 545764 h 740232"/>
              <a:gd name="connsiteX15" fmla="*/ 709018 w 724962"/>
              <a:gd name="connsiteY15" fmla="*/ 679114 h 740232"/>
              <a:gd name="connsiteX16" fmla="*/ 705843 w 724962"/>
              <a:gd name="connsiteY16" fmla="*/ 707689 h 740232"/>
              <a:gd name="connsiteX17" fmla="*/ 702668 w 724962"/>
              <a:gd name="connsiteY17" fmla="*/ 729914 h 740232"/>
              <a:gd name="connsiteX18" fmla="*/ 645518 w 724962"/>
              <a:gd name="connsiteY18" fmla="*/ 733089 h 740232"/>
              <a:gd name="connsiteX19" fmla="*/ 521693 w 724962"/>
              <a:gd name="connsiteY19" fmla="*/ 739439 h 740232"/>
              <a:gd name="connsiteX20" fmla="*/ 391518 w 724962"/>
              <a:gd name="connsiteY20" fmla="*/ 739439 h 740232"/>
              <a:gd name="connsiteX21" fmla="*/ 223243 w 724962"/>
              <a:gd name="connsiteY21" fmla="*/ 733089 h 740232"/>
              <a:gd name="connsiteX22" fmla="*/ 102593 w 724962"/>
              <a:gd name="connsiteY22" fmla="*/ 733089 h 740232"/>
              <a:gd name="connsiteX23" fmla="*/ 10518 w 724962"/>
              <a:gd name="connsiteY23" fmla="*/ 723564 h 740232"/>
              <a:gd name="connsiteX24" fmla="*/ 993 w 724962"/>
              <a:gd name="connsiteY24" fmla="*/ 644189 h 740232"/>
              <a:gd name="connsiteX25" fmla="*/ 993 w 724962"/>
              <a:gd name="connsiteY25" fmla="*/ 196514 h 740232"/>
              <a:gd name="connsiteX26" fmla="*/ 4168 w 724962"/>
              <a:gd name="connsiteY26" fmla="*/ 101264 h 740232"/>
              <a:gd name="connsiteX27" fmla="*/ 7343 w 724962"/>
              <a:gd name="connsiteY27" fmla="*/ 6014 h 740232"/>
              <a:gd name="connsiteX0" fmla="*/ 7343 w 724962"/>
              <a:gd name="connsiteY0" fmla="*/ 8215 h 742433"/>
              <a:gd name="connsiteX1" fmla="*/ 118468 w 724962"/>
              <a:gd name="connsiteY1" fmla="*/ 5040 h 742433"/>
              <a:gd name="connsiteX2" fmla="*/ 435968 w 724962"/>
              <a:gd name="connsiteY2" fmla="*/ 8215 h 742433"/>
              <a:gd name="connsiteX3" fmla="*/ 477243 w 724962"/>
              <a:gd name="connsiteY3" fmla="*/ 11390 h 742433"/>
              <a:gd name="connsiteX4" fmla="*/ 569318 w 724962"/>
              <a:gd name="connsiteY4" fmla="*/ 14565 h 742433"/>
              <a:gd name="connsiteX5" fmla="*/ 709018 w 724962"/>
              <a:gd name="connsiteY5" fmla="*/ 11390 h 742433"/>
              <a:gd name="connsiteX6" fmla="*/ 715368 w 724962"/>
              <a:gd name="connsiteY6" fmla="*/ 17740 h 742433"/>
              <a:gd name="connsiteX7" fmla="*/ 718543 w 724962"/>
              <a:gd name="connsiteY7" fmla="*/ 65365 h 742433"/>
              <a:gd name="connsiteX8" fmla="*/ 721718 w 724962"/>
              <a:gd name="connsiteY8" fmla="*/ 141565 h 742433"/>
              <a:gd name="connsiteX9" fmla="*/ 724893 w 724962"/>
              <a:gd name="connsiteY9" fmla="*/ 205065 h 742433"/>
              <a:gd name="connsiteX10" fmla="*/ 718543 w 724962"/>
              <a:gd name="connsiteY10" fmla="*/ 325715 h 742433"/>
              <a:gd name="connsiteX11" fmla="*/ 712193 w 724962"/>
              <a:gd name="connsiteY11" fmla="*/ 440015 h 742433"/>
              <a:gd name="connsiteX12" fmla="*/ 718543 w 724962"/>
              <a:gd name="connsiteY12" fmla="*/ 484465 h 742433"/>
              <a:gd name="connsiteX13" fmla="*/ 712193 w 724962"/>
              <a:gd name="connsiteY13" fmla="*/ 547965 h 742433"/>
              <a:gd name="connsiteX14" fmla="*/ 709018 w 724962"/>
              <a:gd name="connsiteY14" fmla="*/ 681315 h 742433"/>
              <a:gd name="connsiteX15" fmla="*/ 705843 w 724962"/>
              <a:gd name="connsiteY15" fmla="*/ 709890 h 742433"/>
              <a:gd name="connsiteX16" fmla="*/ 702668 w 724962"/>
              <a:gd name="connsiteY16" fmla="*/ 732115 h 742433"/>
              <a:gd name="connsiteX17" fmla="*/ 645518 w 724962"/>
              <a:gd name="connsiteY17" fmla="*/ 735290 h 742433"/>
              <a:gd name="connsiteX18" fmla="*/ 521693 w 724962"/>
              <a:gd name="connsiteY18" fmla="*/ 741640 h 742433"/>
              <a:gd name="connsiteX19" fmla="*/ 391518 w 724962"/>
              <a:gd name="connsiteY19" fmla="*/ 741640 h 742433"/>
              <a:gd name="connsiteX20" fmla="*/ 223243 w 724962"/>
              <a:gd name="connsiteY20" fmla="*/ 735290 h 742433"/>
              <a:gd name="connsiteX21" fmla="*/ 102593 w 724962"/>
              <a:gd name="connsiteY21" fmla="*/ 735290 h 742433"/>
              <a:gd name="connsiteX22" fmla="*/ 10518 w 724962"/>
              <a:gd name="connsiteY22" fmla="*/ 725765 h 742433"/>
              <a:gd name="connsiteX23" fmla="*/ 993 w 724962"/>
              <a:gd name="connsiteY23" fmla="*/ 646390 h 742433"/>
              <a:gd name="connsiteX24" fmla="*/ 993 w 724962"/>
              <a:gd name="connsiteY24" fmla="*/ 198715 h 742433"/>
              <a:gd name="connsiteX25" fmla="*/ 4168 w 724962"/>
              <a:gd name="connsiteY25" fmla="*/ 103465 h 742433"/>
              <a:gd name="connsiteX26" fmla="*/ 7343 w 724962"/>
              <a:gd name="connsiteY26" fmla="*/ 8215 h 742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4962" h="742433">
                <a:moveTo>
                  <a:pt x="7343" y="8215"/>
                </a:moveTo>
                <a:cubicBezTo>
                  <a:pt x="26393" y="-8189"/>
                  <a:pt x="47031" y="5040"/>
                  <a:pt x="118468" y="5040"/>
                </a:cubicBezTo>
                <a:lnTo>
                  <a:pt x="435968" y="8215"/>
                </a:lnTo>
                <a:cubicBezTo>
                  <a:pt x="449765" y="8459"/>
                  <a:pt x="463460" y="10734"/>
                  <a:pt x="477243" y="11390"/>
                </a:cubicBezTo>
                <a:cubicBezTo>
                  <a:pt x="507918" y="12851"/>
                  <a:pt x="538626" y="13507"/>
                  <a:pt x="569318" y="14565"/>
                </a:cubicBezTo>
                <a:lnTo>
                  <a:pt x="709018" y="11390"/>
                </a:lnTo>
                <a:cubicBezTo>
                  <a:pt x="733360" y="11919"/>
                  <a:pt x="713781" y="12582"/>
                  <a:pt x="715368" y="17740"/>
                </a:cubicBezTo>
                <a:cubicBezTo>
                  <a:pt x="719271" y="30426"/>
                  <a:pt x="722261" y="50492"/>
                  <a:pt x="718543" y="65365"/>
                </a:cubicBezTo>
                <a:cubicBezTo>
                  <a:pt x="719601" y="90765"/>
                  <a:pt x="720660" y="118282"/>
                  <a:pt x="721718" y="141565"/>
                </a:cubicBezTo>
                <a:cubicBezTo>
                  <a:pt x="722776" y="164848"/>
                  <a:pt x="725422" y="174373"/>
                  <a:pt x="724893" y="205065"/>
                </a:cubicBezTo>
                <a:cubicBezTo>
                  <a:pt x="724364" y="235757"/>
                  <a:pt x="720660" y="286557"/>
                  <a:pt x="718543" y="325715"/>
                </a:cubicBezTo>
                <a:cubicBezTo>
                  <a:pt x="716426" y="364873"/>
                  <a:pt x="714031" y="383943"/>
                  <a:pt x="712193" y="440015"/>
                </a:cubicBezTo>
                <a:cubicBezTo>
                  <a:pt x="711891" y="449216"/>
                  <a:pt x="718543" y="466473"/>
                  <a:pt x="718543" y="484465"/>
                </a:cubicBezTo>
                <a:cubicBezTo>
                  <a:pt x="718543" y="502457"/>
                  <a:pt x="721282" y="475250"/>
                  <a:pt x="712193" y="547965"/>
                </a:cubicBezTo>
                <a:cubicBezTo>
                  <a:pt x="711135" y="592415"/>
                  <a:pt x="710760" y="636887"/>
                  <a:pt x="709018" y="681315"/>
                </a:cubicBezTo>
                <a:cubicBezTo>
                  <a:pt x="708642" y="690891"/>
                  <a:pt x="707032" y="700380"/>
                  <a:pt x="705843" y="709890"/>
                </a:cubicBezTo>
                <a:cubicBezTo>
                  <a:pt x="704915" y="717316"/>
                  <a:pt x="709565" y="729211"/>
                  <a:pt x="702668" y="732115"/>
                </a:cubicBezTo>
                <a:cubicBezTo>
                  <a:pt x="685084" y="739519"/>
                  <a:pt x="664568" y="734232"/>
                  <a:pt x="645518" y="735290"/>
                </a:cubicBezTo>
                <a:cubicBezTo>
                  <a:pt x="605192" y="734306"/>
                  <a:pt x="564026" y="740582"/>
                  <a:pt x="521693" y="741640"/>
                </a:cubicBezTo>
                <a:cubicBezTo>
                  <a:pt x="479360" y="742698"/>
                  <a:pt x="441260" y="742698"/>
                  <a:pt x="391518" y="741640"/>
                </a:cubicBezTo>
                <a:cubicBezTo>
                  <a:pt x="341776" y="740582"/>
                  <a:pt x="279335" y="736348"/>
                  <a:pt x="223243" y="735290"/>
                </a:cubicBezTo>
                <a:lnTo>
                  <a:pt x="102593" y="735290"/>
                </a:lnTo>
                <a:cubicBezTo>
                  <a:pt x="80368" y="734232"/>
                  <a:pt x="27451" y="740582"/>
                  <a:pt x="10518" y="725765"/>
                </a:cubicBezTo>
                <a:cubicBezTo>
                  <a:pt x="-6415" y="710948"/>
                  <a:pt x="2581" y="734232"/>
                  <a:pt x="993" y="646390"/>
                </a:cubicBezTo>
                <a:cubicBezTo>
                  <a:pt x="-595" y="558548"/>
                  <a:pt x="464" y="296611"/>
                  <a:pt x="993" y="198715"/>
                </a:cubicBezTo>
                <a:cubicBezTo>
                  <a:pt x="1297" y="178477"/>
                  <a:pt x="790" y="123733"/>
                  <a:pt x="4168" y="103465"/>
                </a:cubicBezTo>
                <a:cubicBezTo>
                  <a:pt x="6814" y="74890"/>
                  <a:pt x="-65" y="23561"/>
                  <a:pt x="7343" y="8215"/>
                </a:cubicBezTo>
                <a:close/>
              </a:path>
            </a:pathLst>
          </a:cu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Comic Sans MS" panose="030F0902030302020204" pitchFamily="66" charset="0"/>
              </a:rPr>
              <a:t>H</a:t>
            </a:r>
          </a:p>
        </p:txBody>
      </p:sp>
      <p:sp>
        <p:nvSpPr>
          <p:cNvPr id="10" name="Freeform 9">
            <a:extLst>
              <a:ext uri="{FF2B5EF4-FFF2-40B4-BE49-F238E27FC236}">
                <a16:creationId xmlns:a16="http://schemas.microsoft.com/office/drawing/2014/main" id="{CE3F88F0-8A6C-1041-9CB5-11071689CFB2}"/>
              </a:ext>
            </a:extLst>
          </p:cNvPr>
          <p:cNvSpPr/>
          <p:nvPr/>
        </p:nvSpPr>
        <p:spPr>
          <a:xfrm>
            <a:off x="2312776" y="1167647"/>
            <a:ext cx="8740033" cy="4850295"/>
          </a:xfrm>
          <a:custGeom>
            <a:avLst/>
            <a:gdLst>
              <a:gd name="connsiteX0" fmla="*/ 13252 w 4797286"/>
              <a:gd name="connsiteY0" fmla="*/ 0 h 4850295"/>
              <a:gd name="connsiteX1" fmla="*/ 2425147 w 4797286"/>
              <a:gd name="connsiteY1" fmla="*/ 0 h 4850295"/>
              <a:gd name="connsiteX2" fmla="*/ 4770782 w 4797286"/>
              <a:gd name="connsiteY2" fmla="*/ 53008 h 4850295"/>
              <a:gd name="connsiteX3" fmla="*/ 4784034 w 4797286"/>
              <a:gd name="connsiteY3" fmla="*/ 1364974 h 4850295"/>
              <a:gd name="connsiteX4" fmla="*/ 4797286 w 4797286"/>
              <a:gd name="connsiteY4" fmla="*/ 3737113 h 4850295"/>
              <a:gd name="connsiteX5" fmla="*/ 4797286 w 4797286"/>
              <a:gd name="connsiteY5" fmla="*/ 4850295 h 4850295"/>
              <a:gd name="connsiteX6" fmla="*/ 2054086 w 4797286"/>
              <a:gd name="connsiteY6" fmla="*/ 4850295 h 4850295"/>
              <a:gd name="connsiteX7" fmla="*/ 477078 w 4797286"/>
              <a:gd name="connsiteY7" fmla="*/ 4837043 h 4850295"/>
              <a:gd name="connsiteX8" fmla="*/ 0 w 4797286"/>
              <a:gd name="connsiteY8" fmla="*/ 4850295 h 4850295"/>
              <a:gd name="connsiteX9" fmla="*/ 39756 w 4797286"/>
              <a:gd name="connsiteY9" fmla="*/ 2213113 h 4850295"/>
              <a:gd name="connsiteX10" fmla="*/ 39756 w 4797286"/>
              <a:gd name="connsiteY10" fmla="*/ 848139 h 4850295"/>
              <a:gd name="connsiteX11" fmla="*/ 13252 w 4797286"/>
              <a:gd name="connsiteY11" fmla="*/ 119269 h 4850295"/>
              <a:gd name="connsiteX12" fmla="*/ 13252 w 4797286"/>
              <a:gd name="connsiteY12" fmla="*/ 0 h 4850295"/>
              <a:gd name="connsiteX0" fmla="*/ 13252 w 4797286"/>
              <a:gd name="connsiteY0" fmla="*/ 0 h 4850295"/>
              <a:gd name="connsiteX1" fmla="*/ 2425147 w 4797286"/>
              <a:gd name="connsiteY1" fmla="*/ 0 h 4850295"/>
              <a:gd name="connsiteX2" fmla="*/ 4777870 w 4797286"/>
              <a:gd name="connsiteY2" fmla="*/ 10478 h 4850295"/>
              <a:gd name="connsiteX3" fmla="*/ 4784034 w 4797286"/>
              <a:gd name="connsiteY3" fmla="*/ 1364974 h 4850295"/>
              <a:gd name="connsiteX4" fmla="*/ 4797286 w 4797286"/>
              <a:gd name="connsiteY4" fmla="*/ 3737113 h 4850295"/>
              <a:gd name="connsiteX5" fmla="*/ 4797286 w 4797286"/>
              <a:gd name="connsiteY5" fmla="*/ 4850295 h 4850295"/>
              <a:gd name="connsiteX6" fmla="*/ 2054086 w 4797286"/>
              <a:gd name="connsiteY6" fmla="*/ 4850295 h 4850295"/>
              <a:gd name="connsiteX7" fmla="*/ 477078 w 4797286"/>
              <a:gd name="connsiteY7" fmla="*/ 4837043 h 4850295"/>
              <a:gd name="connsiteX8" fmla="*/ 0 w 4797286"/>
              <a:gd name="connsiteY8" fmla="*/ 4850295 h 4850295"/>
              <a:gd name="connsiteX9" fmla="*/ 39756 w 4797286"/>
              <a:gd name="connsiteY9" fmla="*/ 2213113 h 4850295"/>
              <a:gd name="connsiteX10" fmla="*/ 39756 w 4797286"/>
              <a:gd name="connsiteY10" fmla="*/ 848139 h 4850295"/>
              <a:gd name="connsiteX11" fmla="*/ 13252 w 4797286"/>
              <a:gd name="connsiteY11" fmla="*/ 119269 h 4850295"/>
              <a:gd name="connsiteX12" fmla="*/ 13252 w 4797286"/>
              <a:gd name="connsiteY12" fmla="*/ 0 h 4850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97286" h="4850295">
                <a:moveTo>
                  <a:pt x="13252" y="0"/>
                </a:moveTo>
                <a:lnTo>
                  <a:pt x="2425147" y="0"/>
                </a:lnTo>
                <a:lnTo>
                  <a:pt x="4777870" y="10478"/>
                </a:lnTo>
                <a:cubicBezTo>
                  <a:pt x="4779925" y="461977"/>
                  <a:pt x="4781979" y="913475"/>
                  <a:pt x="4784034" y="1364974"/>
                </a:cubicBezTo>
                <a:cubicBezTo>
                  <a:pt x="4788451" y="2155687"/>
                  <a:pt x="4792869" y="2946400"/>
                  <a:pt x="4797286" y="3737113"/>
                </a:cubicBezTo>
                <a:lnTo>
                  <a:pt x="4797286" y="4850295"/>
                </a:lnTo>
                <a:lnTo>
                  <a:pt x="2054086" y="4850295"/>
                </a:lnTo>
                <a:lnTo>
                  <a:pt x="477078" y="4837043"/>
                </a:lnTo>
                <a:lnTo>
                  <a:pt x="0" y="4850295"/>
                </a:lnTo>
                <a:lnTo>
                  <a:pt x="39756" y="2213113"/>
                </a:lnTo>
                <a:lnTo>
                  <a:pt x="39756" y="848139"/>
                </a:lnTo>
                <a:lnTo>
                  <a:pt x="13252" y="119269"/>
                </a:lnTo>
                <a:lnTo>
                  <a:pt x="13252" y="0"/>
                </a:lnTo>
                <a:close/>
              </a:path>
            </a:pathLst>
          </a:cu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Comic Sans MS" panose="030F0902030302020204" pitchFamily="66" charset="0"/>
            </a:endParaRPr>
          </a:p>
        </p:txBody>
      </p:sp>
      <p:grpSp>
        <p:nvGrpSpPr>
          <p:cNvPr id="13" name="Group 12">
            <a:extLst>
              <a:ext uri="{FF2B5EF4-FFF2-40B4-BE49-F238E27FC236}">
                <a16:creationId xmlns:a16="http://schemas.microsoft.com/office/drawing/2014/main" id="{670C3C74-6E23-6542-A427-2877455D7BAE}"/>
              </a:ext>
            </a:extLst>
          </p:cNvPr>
          <p:cNvGrpSpPr/>
          <p:nvPr/>
        </p:nvGrpSpPr>
        <p:grpSpPr>
          <a:xfrm>
            <a:off x="5594321" y="2800746"/>
            <a:ext cx="2491461" cy="1485922"/>
            <a:chOff x="5594321" y="2800746"/>
            <a:chExt cx="2491461" cy="1485922"/>
          </a:xfrm>
        </p:grpSpPr>
        <p:sp>
          <p:nvSpPr>
            <p:cNvPr id="31" name="Freeform 30">
              <a:extLst>
                <a:ext uri="{FF2B5EF4-FFF2-40B4-BE49-F238E27FC236}">
                  <a16:creationId xmlns:a16="http://schemas.microsoft.com/office/drawing/2014/main" id="{B664C61E-6258-F54A-B666-5D9B0EDD9B9D}"/>
                </a:ext>
              </a:extLst>
            </p:cNvPr>
            <p:cNvSpPr/>
            <p:nvPr/>
          </p:nvSpPr>
          <p:spPr>
            <a:xfrm>
              <a:off x="5594321" y="4095194"/>
              <a:ext cx="2491461" cy="1675"/>
            </a:xfrm>
            <a:custGeom>
              <a:avLst/>
              <a:gdLst>
                <a:gd name="connsiteX0" fmla="*/ 0 w 1812925"/>
                <a:gd name="connsiteY0" fmla="*/ 0 h 3175"/>
                <a:gd name="connsiteX1" fmla="*/ 396875 w 1812925"/>
                <a:gd name="connsiteY1" fmla="*/ 0 h 3175"/>
                <a:gd name="connsiteX2" fmla="*/ 765175 w 1812925"/>
                <a:gd name="connsiteY2" fmla="*/ 0 h 3175"/>
                <a:gd name="connsiteX3" fmla="*/ 1136650 w 1812925"/>
                <a:gd name="connsiteY3" fmla="*/ 3175 h 3175"/>
                <a:gd name="connsiteX4" fmla="*/ 1666875 w 1812925"/>
                <a:gd name="connsiteY4" fmla="*/ 0 h 3175"/>
                <a:gd name="connsiteX5" fmla="*/ 1812925 w 1812925"/>
                <a:gd name="connsiteY5" fmla="*/ 0 h 3175"/>
                <a:gd name="connsiteX0" fmla="*/ 0 w 10000"/>
                <a:gd name="connsiteY0" fmla="*/ 324 h 13657"/>
                <a:gd name="connsiteX1" fmla="*/ 2189 w 10000"/>
                <a:gd name="connsiteY1" fmla="*/ 324 h 13657"/>
                <a:gd name="connsiteX2" fmla="*/ 4221 w 10000"/>
                <a:gd name="connsiteY2" fmla="*/ 324 h 13657"/>
                <a:gd name="connsiteX3" fmla="*/ 6270 w 10000"/>
                <a:gd name="connsiteY3" fmla="*/ 10324 h 13657"/>
                <a:gd name="connsiteX4" fmla="*/ 9194 w 10000"/>
                <a:gd name="connsiteY4" fmla="*/ 324 h 13657"/>
                <a:gd name="connsiteX5" fmla="*/ 10000 w 10000"/>
                <a:gd name="connsiteY5" fmla="*/ 324 h 13657"/>
                <a:gd name="connsiteX0" fmla="*/ 0 w 10000"/>
                <a:gd name="connsiteY0" fmla="*/ 324 h 10325"/>
                <a:gd name="connsiteX1" fmla="*/ 2189 w 10000"/>
                <a:gd name="connsiteY1" fmla="*/ 324 h 10325"/>
                <a:gd name="connsiteX2" fmla="*/ 4221 w 10000"/>
                <a:gd name="connsiteY2" fmla="*/ 324 h 10325"/>
                <a:gd name="connsiteX3" fmla="*/ 6270 w 10000"/>
                <a:gd name="connsiteY3" fmla="*/ 10324 h 10325"/>
                <a:gd name="connsiteX4" fmla="*/ 9194 w 10000"/>
                <a:gd name="connsiteY4" fmla="*/ 324 h 10325"/>
                <a:gd name="connsiteX5" fmla="*/ 10000 w 10000"/>
                <a:gd name="connsiteY5" fmla="*/ 324 h 10325"/>
                <a:gd name="connsiteX0" fmla="*/ 0 w 10000"/>
                <a:gd name="connsiteY0" fmla="*/ 4444 h 14445"/>
                <a:gd name="connsiteX1" fmla="*/ 2189 w 10000"/>
                <a:gd name="connsiteY1" fmla="*/ 4444 h 14445"/>
                <a:gd name="connsiteX2" fmla="*/ 4221 w 10000"/>
                <a:gd name="connsiteY2" fmla="*/ 4444 h 14445"/>
                <a:gd name="connsiteX3" fmla="*/ 6270 w 10000"/>
                <a:gd name="connsiteY3" fmla="*/ 14444 h 14445"/>
                <a:gd name="connsiteX4" fmla="*/ 9194 w 10000"/>
                <a:gd name="connsiteY4" fmla="*/ 4444 h 14445"/>
                <a:gd name="connsiteX5" fmla="*/ 10000 w 10000"/>
                <a:gd name="connsiteY5" fmla="*/ 4444 h 14445"/>
                <a:gd name="connsiteX0" fmla="*/ 0 w 10000"/>
                <a:gd name="connsiteY0" fmla="*/ 324 h 10325"/>
                <a:gd name="connsiteX1" fmla="*/ 2189 w 10000"/>
                <a:gd name="connsiteY1" fmla="*/ 324 h 10325"/>
                <a:gd name="connsiteX2" fmla="*/ 4221 w 10000"/>
                <a:gd name="connsiteY2" fmla="*/ 324 h 10325"/>
                <a:gd name="connsiteX3" fmla="*/ 6270 w 10000"/>
                <a:gd name="connsiteY3" fmla="*/ 10324 h 10325"/>
                <a:gd name="connsiteX4" fmla="*/ 9194 w 10000"/>
                <a:gd name="connsiteY4" fmla="*/ 324 h 10325"/>
                <a:gd name="connsiteX5" fmla="*/ 10000 w 10000"/>
                <a:gd name="connsiteY5" fmla="*/ 324 h 10325"/>
                <a:gd name="connsiteX0" fmla="*/ 0 w 10000"/>
                <a:gd name="connsiteY0" fmla="*/ 324 h 4768"/>
                <a:gd name="connsiteX1" fmla="*/ 2189 w 10000"/>
                <a:gd name="connsiteY1" fmla="*/ 324 h 4768"/>
                <a:gd name="connsiteX2" fmla="*/ 4221 w 10000"/>
                <a:gd name="connsiteY2" fmla="*/ 324 h 4768"/>
                <a:gd name="connsiteX3" fmla="*/ 6296 w 10000"/>
                <a:gd name="connsiteY3" fmla="*/ 3769 h 4768"/>
                <a:gd name="connsiteX4" fmla="*/ 9194 w 10000"/>
                <a:gd name="connsiteY4" fmla="*/ 324 h 4768"/>
                <a:gd name="connsiteX5" fmla="*/ 10000 w 10000"/>
                <a:gd name="connsiteY5" fmla="*/ 324 h 4768"/>
                <a:gd name="connsiteX0" fmla="*/ 0 w 10000"/>
                <a:gd name="connsiteY0" fmla="*/ 915 h 8140"/>
                <a:gd name="connsiteX1" fmla="*/ 2189 w 10000"/>
                <a:gd name="connsiteY1" fmla="*/ 915 h 8140"/>
                <a:gd name="connsiteX2" fmla="*/ 3007 w 10000"/>
                <a:gd name="connsiteY2" fmla="*/ 0 h 8140"/>
                <a:gd name="connsiteX3" fmla="*/ 4221 w 10000"/>
                <a:gd name="connsiteY3" fmla="*/ 915 h 8140"/>
                <a:gd name="connsiteX4" fmla="*/ 6296 w 10000"/>
                <a:gd name="connsiteY4" fmla="*/ 8140 h 8140"/>
                <a:gd name="connsiteX5" fmla="*/ 9194 w 10000"/>
                <a:gd name="connsiteY5" fmla="*/ 915 h 8140"/>
                <a:gd name="connsiteX6" fmla="*/ 10000 w 10000"/>
                <a:gd name="connsiteY6" fmla="*/ 915 h 8140"/>
                <a:gd name="connsiteX0" fmla="*/ 0 w 10000"/>
                <a:gd name="connsiteY0" fmla="*/ 1124 h 1554"/>
                <a:gd name="connsiteX1" fmla="*/ 2189 w 10000"/>
                <a:gd name="connsiteY1" fmla="*/ 1124 h 1554"/>
                <a:gd name="connsiteX2" fmla="*/ 3007 w 10000"/>
                <a:gd name="connsiteY2" fmla="*/ 0 h 1554"/>
                <a:gd name="connsiteX3" fmla="*/ 4221 w 10000"/>
                <a:gd name="connsiteY3" fmla="*/ 1124 h 1554"/>
                <a:gd name="connsiteX4" fmla="*/ 6322 w 10000"/>
                <a:gd name="connsiteY4" fmla="*/ 1554 h 1554"/>
                <a:gd name="connsiteX5" fmla="*/ 9194 w 10000"/>
                <a:gd name="connsiteY5" fmla="*/ 1124 h 1554"/>
                <a:gd name="connsiteX6" fmla="*/ 10000 w 10000"/>
                <a:gd name="connsiteY6" fmla="*/ 1124 h 1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554">
                  <a:moveTo>
                    <a:pt x="0" y="1124"/>
                  </a:moveTo>
                  <a:cubicBezTo>
                    <a:pt x="730" y="1124"/>
                    <a:pt x="1688" y="1311"/>
                    <a:pt x="2189" y="1124"/>
                  </a:cubicBezTo>
                  <a:cubicBezTo>
                    <a:pt x="2690" y="937"/>
                    <a:pt x="2668" y="0"/>
                    <a:pt x="3007" y="0"/>
                  </a:cubicBezTo>
                  <a:cubicBezTo>
                    <a:pt x="3346" y="0"/>
                    <a:pt x="3679" y="1569"/>
                    <a:pt x="4221" y="1124"/>
                  </a:cubicBezTo>
                  <a:lnTo>
                    <a:pt x="6322" y="1554"/>
                  </a:lnTo>
                  <a:lnTo>
                    <a:pt x="9194" y="1124"/>
                  </a:lnTo>
                  <a:lnTo>
                    <a:pt x="10000" y="1124"/>
                  </a:lnTo>
                </a:path>
              </a:pathLst>
            </a:custGeom>
            <a:noFill/>
            <a:ln w="63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Freeform 31">
              <a:extLst>
                <a:ext uri="{FF2B5EF4-FFF2-40B4-BE49-F238E27FC236}">
                  <a16:creationId xmlns:a16="http://schemas.microsoft.com/office/drawing/2014/main" id="{077A4B75-336E-E944-87A9-830CB40F9696}"/>
                </a:ext>
              </a:extLst>
            </p:cNvPr>
            <p:cNvSpPr/>
            <p:nvPr/>
          </p:nvSpPr>
          <p:spPr>
            <a:xfrm>
              <a:off x="5679430" y="3631939"/>
              <a:ext cx="525588" cy="464296"/>
            </a:xfrm>
            <a:custGeom>
              <a:avLst/>
              <a:gdLst>
                <a:gd name="connsiteX0" fmla="*/ 0 w 381000"/>
                <a:gd name="connsiteY0" fmla="*/ 1584325 h 1593850"/>
                <a:gd name="connsiteX1" fmla="*/ 3175 w 381000"/>
                <a:gd name="connsiteY1" fmla="*/ 1019175 h 1593850"/>
                <a:gd name="connsiteX2" fmla="*/ 9525 w 381000"/>
                <a:gd name="connsiteY2" fmla="*/ 469900 h 1593850"/>
                <a:gd name="connsiteX3" fmla="*/ 3175 w 381000"/>
                <a:gd name="connsiteY3" fmla="*/ 0 h 1593850"/>
                <a:gd name="connsiteX4" fmla="*/ 266700 w 381000"/>
                <a:gd name="connsiteY4" fmla="*/ 3175 h 1593850"/>
                <a:gd name="connsiteX5" fmla="*/ 381000 w 381000"/>
                <a:gd name="connsiteY5" fmla="*/ 3175 h 1593850"/>
                <a:gd name="connsiteX6" fmla="*/ 371475 w 381000"/>
                <a:gd name="connsiteY6" fmla="*/ 669925 h 1593850"/>
                <a:gd name="connsiteX7" fmla="*/ 371475 w 381000"/>
                <a:gd name="connsiteY7" fmla="*/ 1117600 h 1593850"/>
                <a:gd name="connsiteX8" fmla="*/ 371475 w 381000"/>
                <a:gd name="connsiteY8" fmla="*/ 1593850 h 1593850"/>
                <a:gd name="connsiteX9" fmla="*/ 146050 w 381000"/>
                <a:gd name="connsiteY9" fmla="*/ 1593850 h 1593850"/>
                <a:gd name="connsiteX10" fmla="*/ 0 w 381000"/>
                <a:gd name="connsiteY10" fmla="*/ 1584325 h 1593850"/>
                <a:gd name="connsiteX0" fmla="*/ 0 w 381000"/>
                <a:gd name="connsiteY0" fmla="*/ 1581150 h 1590675"/>
                <a:gd name="connsiteX1" fmla="*/ 3175 w 381000"/>
                <a:gd name="connsiteY1" fmla="*/ 1016000 h 1590675"/>
                <a:gd name="connsiteX2" fmla="*/ 9525 w 381000"/>
                <a:gd name="connsiteY2" fmla="*/ 466725 h 1590675"/>
                <a:gd name="connsiteX3" fmla="*/ 19050 w 381000"/>
                <a:gd name="connsiteY3" fmla="*/ 0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81150 h 1590675"/>
                <a:gd name="connsiteX1" fmla="*/ 3175 w 381000"/>
                <a:gd name="connsiteY1" fmla="*/ 1016000 h 1590675"/>
                <a:gd name="connsiteX2" fmla="*/ 9525 w 381000"/>
                <a:gd name="connsiteY2" fmla="*/ 466725 h 1590675"/>
                <a:gd name="connsiteX3" fmla="*/ 9525 w 381000"/>
                <a:gd name="connsiteY3" fmla="*/ 3175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97025 h 1597025"/>
                <a:gd name="connsiteX1" fmla="*/ 3175 w 381000"/>
                <a:gd name="connsiteY1" fmla="*/ 1016000 h 1597025"/>
                <a:gd name="connsiteX2" fmla="*/ 9525 w 381000"/>
                <a:gd name="connsiteY2" fmla="*/ 466725 h 1597025"/>
                <a:gd name="connsiteX3" fmla="*/ 9525 w 381000"/>
                <a:gd name="connsiteY3" fmla="*/ 3175 h 1597025"/>
                <a:gd name="connsiteX4" fmla="*/ 266700 w 381000"/>
                <a:gd name="connsiteY4" fmla="*/ 0 h 1597025"/>
                <a:gd name="connsiteX5" fmla="*/ 381000 w 381000"/>
                <a:gd name="connsiteY5" fmla="*/ 0 h 1597025"/>
                <a:gd name="connsiteX6" fmla="*/ 371475 w 381000"/>
                <a:gd name="connsiteY6" fmla="*/ 666750 h 1597025"/>
                <a:gd name="connsiteX7" fmla="*/ 371475 w 381000"/>
                <a:gd name="connsiteY7" fmla="*/ 1114425 h 1597025"/>
                <a:gd name="connsiteX8" fmla="*/ 371475 w 381000"/>
                <a:gd name="connsiteY8" fmla="*/ 1590675 h 1597025"/>
                <a:gd name="connsiteX9" fmla="*/ 146050 w 381000"/>
                <a:gd name="connsiteY9" fmla="*/ 1590675 h 1597025"/>
                <a:gd name="connsiteX10" fmla="*/ 0 w 381000"/>
                <a:gd name="connsiteY10" fmla="*/ 1597025 h 1597025"/>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146050 w 381000"/>
                <a:gd name="connsiteY9" fmla="*/ 1590675 h 1593850"/>
                <a:gd name="connsiteX10" fmla="*/ 0 w 381000"/>
                <a:gd name="connsiteY10" fmla="*/ 1593850 h 1593850"/>
                <a:gd name="connsiteX0" fmla="*/ 0 w 381000"/>
                <a:gd name="connsiteY0" fmla="*/ 1593850 h 1593870"/>
                <a:gd name="connsiteX1" fmla="*/ 3175 w 381000"/>
                <a:gd name="connsiteY1" fmla="*/ 1016000 h 1593870"/>
                <a:gd name="connsiteX2" fmla="*/ 9525 w 381000"/>
                <a:gd name="connsiteY2" fmla="*/ 466725 h 1593870"/>
                <a:gd name="connsiteX3" fmla="*/ 9525 w 381000"/>
                <a:gd name="connsiteY3" fmla="*/ 3175 h 1593870"/>
                <a:gd name="connsiteX4" fmla="*/ 266700 w 381000"/>
                <a:gd name="connsiteY4" fmla="*/ 0 h 1593870"/>
                <a:gd name="connsiteX5" fmla="*/ 381000 w 381000"/>
                <a:gd name="connsiteY5" fmla="*/ 0 h 1593870"/>
                <a:gd name="connsiteX6" fmla="*/ 371475 w 381000"/>
                <a:gd name="connsiteY6" fmla="*/ 666750 h 1593870"/>
                <a:gd name="connsiteX7" fmla="*/ 371475 w 381000"/>
                <a:gd name="connsiteY7" fmla="*/ 1114425 h 1593870"/>
                <a:gd name="connsiteX8" fmla="*/ 371475 w 381000"/>
                <a:gd name="connsiteY8" fmla="*/ 1590675 h 1593870"/>
                <a:gd name="connsiteX9" fmla="*/ 176292 w 381000"/>
                <a:gd name="connsiteY9" fmla="*/ 1593870 h 1593870"/>
                <a:gd name="connsiteX10" fmla="*/ 0 w 381000"/>
                <a:gd name="connsiteY10" fmla="*/ 1593850 h 1593870"/>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0 w 381000"/>
                <a:gd name="connsiteY9" fmla="*/ 1593850 h 1593850"/>
                <a:gd name="connsiteX0" fmla="*/ 0 w 381000"/>
                <a:gd name="connsiteY0" fmla="*/ 1593850 h 1600260"/>
                <a:gd name="connsiteX1" fmla="*/ 3175 w 381000"/>
                <a:gd name="connsiteY1" fmla="*/ 1016000 h 1600260"/>
                <a:gd name="connsiteX2" fmla="*/ 9525 w 381000"/>
                <a:gd name="connsiteY2" fmla="*/ 466725 h 1600260"/>
                <a:gd name="connsiteX3" fmla="*/ 9525 w 381000"/>
                <a:gd name="connsiteY3" fmla="*/ 3175 h 1600260"/>
                <a:gd name="connsiteX4" fmla="*/ 266700 w 381000"/>
                <a:gd name="connsiteY4" fmla="*/ 0 h 1600260"/>
                <a:gd name="connsiteX5" fmla="*/ 381000 w 381000"/>
                <a:gd name="connsiteY5" fmla="*/ 0 h 1600260"/>
                <a:gd name="connsiteX6" fmla="*/ 371475 w 381000"/>
                <a:gd name="connsiteY6" fmla="*/ 666750 h 1600260"/>
                <a:gd name="connsiteX7" fmla="*/ 371475 w 381000"/>
                <a:gd name="connsiteY7" fmla="*/ 1114425 h 1600260"/>
                <a:gd name="connsiteX8" fmla="*/ 371475 w 381000"/>
                <a:gd name="connsiteY8" fmla="*/ 1600260 h 1600260"/>
                <a:gd name="connsiteX9" fmla="*/ 0 w 381000"/>
                <a:gd name="connsiteY9" fmla="*/ 1593850 h 1600260"/>
                <a:gd name="connsiteX0" fmla="*/ 0 w 381000"/>
                <a:gd name="connsiteY0" fmla="*/ 1593850 h 1593871"/>
                <a:gd name="connsiteX1" fmla="*/ 3175 w 381000"/>
                <a:gd name="connsiteY1" fmla="*/ 1016000 h 1593871"/>
                <a:gd name="connsiteX2" fmla="*/ 9525 w 381000"/>
                <a:gd name="connsiteY2" fmla="*/ 466725 h 1593871"/>
                <a:gd name="connsiteX3" fmla="*/ 9525 w 381000"/>
                <a:gd name="connsiteY3" fmla="*/ 3175 h 1593871"/>
                <a:gd name="connsiteX4" fmla="*/ 266700 w 381000"/>
                <a:gd name="connsiteY4" fmla="*/ 0 h 1593871"/>
                <a:gd name="connsiteX5" fmla="*/ 381000 w 381000"/>
                <a:gd name="connsiteY5" fmla="*/ 0 h 1593871"/>
                <a:gd name="connsiteX6" fmla="*/ 371475 w 381000"/>
                <a:gd name="connsiteY6" fmla="*/ 666750 h 1593871"/>
                <a:gd name="connsiteX7" fmla="*/ 371475 w 381000"/>
                <a:gd name="connsiteY7" fmla="*/ 1114425 h 1593871"/>
                <a:gd name="connsiteX8" fmla="*/ 374835 w 381000"/>
                <a:gd name="connsiteY8" fmla="*/ 1593871 h 1593871"/>
                <a:gd name="connsiteX9" fmla="*/ 0 w 381000"/>
                <a:gd name="connsiteY9" fmla="*/ 1593850 h 1593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0" h="1593871">
                  <a:moveTo>
                    <a:pt x="0" y="1593850"/>
                  </a:moveTo>
                  <a:cubicBezTo>
                    <a:pt x="1058" y="1405467"/>
                    <a:pt x="2117" y="1204383"/>
                    <a:pt x="3175" y="1016000"/>
                  </a:cubicBezTo>
                  <a:cubicBezTo>
                    <a:pt x="5292" y="832908"/>
                    <a:pt x="7408" y="649817"/>
                    <a:pt x="9525" y="466725"/>
                  </a:cubicBezTo>
                  <a:cubicBezTo>
                    <a:pt x="7408" y="310092"/>
                    <a:pt x="11642" y="159808"/>
                    <a:pt x="9525" y="3175"/>
                  </a:cubicBezTo>
                  <a:lnTo>
                    <a:pt x="266700" y="0"/>
                  </a:lnTo>
                  <a:lnTo>
                    <a:pt x="381000" y="0"/>
                  </a:lnTo>
                  <a:lnTo>
                    <a:pt x="371475" y="666750"/>
                  </a:lnTo>
                  <a:cubicBezTo>
                    <a:pt x="371475" y="815975"/>
                    <a:pt x="370915" y="959905"/>
                    <a:pt x="371475" y="1114425"/>
                  </a:cubicBezTo>
                  <a:cubicBezTo>
                    <a:pt x="372035" y="1268945"/>
                    <a:pt x="373715" y="1434056"/>
                    <a:pt x="374835" y="1593871"/>
                  </a:cubicBezTo>
                  <a:lnTo>
                    <a:pt x="0" y="159385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3" name="Freeform 32">
              <a:extLst>
                <a:ext uri="{FF2B5EF4-FFF2-40B4-BE49-F238E27FC236}">
                  <a16:creationId xmlns:a16="http://schemas.microsoft.com/office/drawing/2014/main" id="{1741B34D-DD04-E34A-9EEF-F549B614C369}"/>
                </a:ext>
              </a:extLst>
            </p:cNvPr>
            <p:cNvSpPr/>
            <p:nvPr/>
          </p:nvSpPr>
          <p:spPr>
            <a:xfrm>
              <a:off x="6316485" y="2800746"/>
              <a:ext cx="525588" cy="1294760"/>
            </a:xfrm>
            <a:custGeom>
              <a:avLst/>
              <a:gdLst>
                <a:gd name="connsiteX0" fmla="*/ 0 w 381000"/>
                <a:gd name="connsiteY0" fmla="*/ 1584325 h 1593850"/>
                <a:gd name="connsiteX1" fmla="*/ 3175 w 381000"/>
                <a:gd name="connsiteY1" fmla="*/ 1019175 h 1593850"/>
                <a:gd name="connsiteX2" fmla="*/ 9525 w 381000"/>
                <a:gd name="connsiteY2" fmla="*/ 469900 h 1593850"/>
                <a:gd name="connsiteX3" fmla="*/ 3175 w 381000"/>
                <a:gd name="connsiteY3" fmla="*/ 0 h 1593850"/>
                <a:gd name="connsiteX4" fmla="*/ 266700 w 381000"/>
                <a:gd name="connsiteY4" fmla="*/ 3175 h 1593850"/>
                <a:gd name="connsiteX5" fmla="*/ 381000 w 381000"/>
                <a:gd name="connsiteY5" fmla="*/ 3175 h 1593850"/>
                <a:gd name="connsiteX6" fmla="*/ 371475 w 381000"/>
                <a:gd name="connsiteY6" fmla="*/ 669925 h 1593850"/>
                <a:gd name="connsiteX7" fmla="*/ 371475 w 381000"/>
                <a:gd name="connsiteY7" fmla="*/ 1117600 h 1593850"/>
                <a:gd name="connsiteX8" fmla="*/ 371475 w 381000"/>
                <a:gd name="connsiteY8" fmla="*/ 1593850 h 1593850"/>
                <a:gd name="connsiteX9" fmla="*/ 146050 w 381000"/>
                <a:gd name="connsiteY9" fmla="*/ 1593850 h 1593850"/>
                <a:gd name="connsiteX10" fmla="*/ 0 w 381000"/>
                <a:gd name="connsiteY10" fmla="*/ 1584325 h 1593850"/>
                <a:gd name="connsiteX0" fmla="*/ 0 w 381000"/>
                <a:gd name="connsiteY0" fmla="*/ 1581150 h 1590675"/>
                <a:gd name="connsiteX1" fmla="*/ 3175 w 381000"/>
                <a:gd name="connsiteY1" fmla="*/ 1016000 h 1590675"/>
                <a:gd name="connsiteX2" fmla="*/ 9525 w 381000"/>
                <a:gd name="connsiteY2" fmla="*/ 466725 h 1590675"/>
                <a:gd name="connsiteX3" fmla="*/ 19050 w 381000"/>
                <a:gd name="connsiteY3" fmla="*/ 0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81150 h 1590675"/>
                <a:gd name="connsiteX1" fmla="*/ 3175 w 381000"/>
                <a:gd name="connsiteY1" fmla="*/ 1016000 h 1590675"/>
                <a:gd name="connsiteX2" fmla="*/ 9525 w 381000"/>
                <a:gd name="connsiteY2" fmla="*/ 466725 h 1590675"/>
                <a:gd name="connsiteX3" fmla="*/ 9525 w 381000"/>
                <a:gd name="connsiteY3" fmla="*/ 3175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97025 h 1597025"/>
                <a:gd name="connsiteX1" fmla="*/ 3175 w 381000"/>
                <a:gd name="connsiteY1" fmla="*/ 1016000 h 1597025"/>
                <a:gd name="connsiteX2" fmla="*/ 9525 w 381000"/>
                <a:gd name="connsiteY2" fmla="*/ 466725 h 1597025"/>
                <a:gd name="connsiteX3" fmla="*/ 9525 w 381000"/>
                <a:gd name="connsiteY3" fmla="*/ 3175 h 1597025"/>
                <a:gd name="connsiteX4" fmla="*/ 266700 w 381000"/>
                <a:gd name="connsiteY4" fmla="*/ 0 h 1597025"/>
                <a:gd name="connsiteX5" fmla="*/ 381000 w 381000"/>
                <a:gd name="connsiteY5" fmla="*/ 0 h 1597025"/>
                <a:gd name="connsiteX6" fmla="*/ 371475 w 381000"/>
                <a:gd name="connsiteY6" fmla="*/ 666750 h 1597025"/>
                <a:gd name="connsiteX7" fmla="*/ 371475 w 381000"/>
                <a:gd name="connsiteY7" fmla="*/ 1114425 h 1597025"/>
                <a:gd name="connsiteX8" fmla="*/ 371475 w 381000"/>
                <a:gd name="connsiteY8" fmla="*/ 1590675 h 1597025"/>
                <a:gd name="connsiteX9" fmla="*/ 146050 w 381000"/>
                <a:gd name="connsiteY9" fmla="*/ 1590675 h 1597025"/>
                <a:gd name="connsiteX10" fmla="*/ 0 w 381000"/>
                <a:gd name="connsiteY10" fmla="*/ 1597025 h 1597025"/>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146050 w 381000"/>
                <a:gd name="connsiteY9" fmla="*/ 1590675 h 1593850"/>
                <a:gd name="connsiteX10" fmla="*/ 0 w 381000"/>
                <a:gd name="connsiteY10" fmla="*/ 1593850 h 1593850"/>
                <a:gd name="connsiteX0" fmla="*/ 0 w 381000"/>
                <a:gd name="connsiteY0" fmla="*/ 1593850 h 1593870"/>
                <a:gd name="connsiteX1" fmla="*/ 3175 w 381000"/>
                <a:gd name="connsiteY1" fmla="*/ 1016000 h 1593870"/>
                <a:gd name="connsiteX2" fmla="*/ 9525 w 381000"/>
                <a:gd name="connsiteY2" fmla="*/ 466725 h 1593870"/>
                <a:gd name="connsiteX3" fmla="*/ 9525 w 381000"/>
                <a:gd name="connsiteY3" fmla="*/ 3175 h 1593870"/>
                <a:gd name="connsiteX4" fmla="*/ 266700 w 381000"/>
                <a:gd name="connsiteY4" fmla="*/ 0 h 1593870"/>
                <a:gd name="connsiteX5" fmla="*/ 381000 w 381000"/>
                <a:gd name="connsiteY5" fmla="*/ 0 h 1593870"/>
                <a:gd name="connsiteX6" fmla="*/ 371475 w 381000"/>
                <a:gd name="connsiteY6" fmla="*/ 666750 h 1593870"/>
                <a:gd name="connsiteX7" fmla="*/ 371475 w 381000"/>
                <a:gd name="connsiteY7" fmla="*/ 1114425 h 1593870"/>
                <a:gd name="connsiteX8" fmla="*/ 371475 w 381000"/>
                <a:gd name="connsiteY8" fmla="*/ 1590675 h 1593870"/>
                <a:gd name="connsiteX9" fmla="*/ 176292 w 381000"/>
                <a:gd name="connsiteY9" fmla="*/ 1593870 h 1593870"/>
                <a:gd name="connsiteX10" fmla="*/ 0 w 381000"/>
                <a:gd name="connsiteY10" fmla="*/ 1593850 h 1593870"/>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0 w 381000"/>
                <a:gd name="connsiteY9" fmla="*/ 1593850 h 1593850"/>
                <a:gd name="connsiteX0" fmla="*/ 0 w 381000"/>
                <a:gd name="connsiteY0" fmla="*/ 1593850 h 1600260"/>
                <a:gd name="connsiteX1" fmla="*/ 3175 w 381000"/>
                <a:gd name="connsiteY1" fmla="*/ 1016000 h 1600260"/>
                <a:gd name="connsiteX2" fmla="*/ 9525 w 381000"/>
                <a:gd name="connsiteY2" fmla="*/ 466725 h 1600260"/>
                <a:gd name="connsiteX3" fmla="*/ 9525 w 381000"/>
                <a:gd name="connsiteY3" fmla="*/ 3175 h 1600260"/>
                <a:gd name="connsiteX4" fmla="*/ 266700 w 381000"/>
                <a:gd name="connsiteY4" fmla="*/ 0 h 1600260"/>
                <a:gd name="connsiteX5" fmla="*/ 381000 w 381000"/>
                <a:gd name="connsiteY5" fmla="*/ 0 h 1600260"/>
                <a:gd name="connsiteX6" fmla="*/ 371475 w 381000"/>
                <a:gd name="connsiteY6" fmla="*/ 666750 h 1600260"/>
                <a:gd name="connsiteX7" fmla="*/ 371475 w 381000"/>
                <a:gd name="connsiteY7" fmla="*/ 1114425 h 1600260"/>
                <a:gd name="connsiteX8" fmla="*/ 371475 w 381000"/>
                <a:gd name="connsiteY8" fmla="*/ 1600260 h 1600260"/>
                <a:gd name="connsiteX9" fmla="*/ 0 w 381000"/>
                <a:gd name="connsiteY9" fmla="*/ 1593850 h 1600260"/>
                <a:gd name="connsiteX0" fmla="*/ 0 w 381000"/>
                <a:gd name="connsiteY0" fmla="*/ 1593850 h 1593871"/>
                <a:gd name="connsiteX1" fmla="*/ 3175 w 381000"/>
                <a:gd name="connsiteY1" fmla="*/ 1016000 h 1593871"/>
                <a:gd name="connsiteX2" fmla="*/ 9525 w 381000"/>
                <a:gd name="connsiteY2" fmla="*/ 466725 h 1593871"/>
                <a:gd name="connsiteX3" fmla="*/ 9525 w 381000"/>
                <a:gd name="connsiteY3" fmla="*/ 3175 h 1593871"/>
                <a:gd name="connsiteX4" fmla="*/ 266700 w 381000"/>
                <a:gd name="connsiteY4" fmla="*/ 0 h 1593871"/>
                <a:gd name="connsiteX5" fmla="*/ 381000 w 381000"/>
                <a:gd name="connsiteY5" fmla="*/ 0 h 1593871"/>
                <a:gd name="connsiteX6" fmla="*/ 371475 w 381000"/>
                <a:gd name="connsiteY6" fmla="*/ 666750 h 1593871"/>
                <a:gd name="connsiteX7" fmla="*/ 371475 w 381000"/>
                <a:gd name="connsiteY7" fmla="*/ 1114425 h 1593871"/>
                <a:gd name="connsiteX8" fmla="*/ 374835 w 381000"/>
                <a:gd name="connsiteY8" fmla="*/ 1593871 h 1593871"/>
                <a:gd name="connsiteX9" fmla="*/ 0 w 381000"/>
                <a:gd name="connsiteY9" fmla="*/ 1593850 h 1593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0" h="1593871">
                  <a:moveTo>
                    <a:pt x="0" y="1593850"/>
                  </a:moveTo>
                  <a:cubicBezTo>
                    <a:pt x="1058" y="1405467"/>
                    <a:pt x="2117" y="1204383"/>
                    <a:pt x="3175" y="1016000"/>
                  </a:cubicBezTo>
                  <a:cubicBezTo>
                    <a:pt x="5292" y="832908"/>
                    <a:pt x="7408" y="649817"/>
                    <a:pt x="9525" y="466725"/>
                  </a:cubicBezTo>
                  <a:cubicBezTo>
                    <a:pt x="7408" y="310092"/>
                    <a:pt x="11642" y="159808"/>
                    <a:pt x="9525" y="3175"/>
                  </a:cubicBezTo>
                  <a:lnTo>
                    <a:pt x="266700" y="0"/>
                  </a:lnTo>
                  <a:lnTo>
                    <a:pt x="381000" y="0"/>
                  </a:lnTo>
                  <a:lnTo>
                    <a:pt x="371475" y="666750"/>
                  </a:lnTo>
                  <a:cubicBezTo>
                    <a:pt x="371475" y="815975"/>
                    <a:pt x="370915" y="959905"/>
                    <a:pt x="371475" y="1114425"/>
                  </a:cubicBezTo>
                  <a:cubicBezTo>
                    <a:pt x="372035" y="1268945"/>
                    <a:pt x="373715" y="1434056"/>
                    <a:pt x="374835" y="1593871"/>
                  </a:cubicBezTo>
                  <a:lnTo>
                    <a:pt x="0" y="159385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5" name="Freeform 34">
              <a:extLst>
                <a:ext uri="{FF2B5EF4-FFF2-40B4-BE49-F238E27FC236}">
                  <a16:creationId xmlns:a16="http://schemas.microsoft.com/office/drawing/2014/main" id="{D8DAC47F-F958-CA42-B7B0-DEA9DED954FF}"/>
                </a:ext>
              </a:extLst>
            </p:cNvPr>
            <p:cNvSpPr/>
            <p:nvPr/>
          </p:nvSpPr>
          <p:spPr>
            <a:xfrm>
              <a:off x="7389706" y="3631939"/>
              <a:ext cx="525588" cy="470342"/>
            </a:xfrm>
            <a:custGeom>
              <a:avLst/>
              <a:gdLst>
                <a:gd name="connsiteX0" fmla="*/ 0 w 381000"/>
                <a:gd name="connsiteY0" fmla="*/ 1584325 h 1593850"/>
                <a:gd name="connsiteX1" fmla="*/ 3175 w 381000"/>
                <a:gd name="connsiteY1" fmla="*/ 1019175 h 1593850"/>
                <a:gd name="connsiteX2" fmla="*/ 9525 w 381000"/>
                <a:gd name="connsiteY2" fmla="*/ 469900 h 1593850"/>
                <a:gd name="connsiteX3" fmla="*/ 3175 w 381000"/>
                <a:gd name="connsiteY3" fmla="*/ 0 h 1593850"/>
                <a:gd name="connsiteX4" fmla="*/ 266700 w 381000"/>
                <a:gd name="connsiteY4" fmla="*/ 3175 h 1593850"/>
                <a:gd name="connsiteX5" fmla="*/ 381000 w 381000"/>
                <a:gd name="connsiteY5" fmla="*/ 3175 h 1593850"/>
                <a:gd name="connsiteX6" fmla="*/ 371475 w 381000"/>
                <a:gd name="connsiteY6" fmla="*/ 669925 h 1593850"/>
                <a:gd name="connsiteX7" fmla="*/ 371475 w 381000"/>
                <a:gd name="connsiteY7" fmla="*/ 1117600 h 1593850"/>
                <a:gd name="connsiteX8" fmla="*/ 371475 w 381000"/>
                <a:gd name="connsiteY8" fmla="*/ 1593850 h 1593850"/>
                <a:gd name="connsiteX9" fmla="*/ 146050 w 381000"/>
                <a:gd name="connsiteY9" fmla="*/ 1593850 h 1593850"/>
                <a:gd name="connsiteX10" fmla="*/ 0 w 381000"/>
                <a:gd name="connsiteY10" fmla="*/ 1584325 h 1593850"/>
                <a:gd name="connsiteX0" fmla="*/ 0 w 381000"/>
                <a:gd name="connsiteY0" fmla="*/ 1581150 h 1590675"/>
                <a:gd name="connsiteX1" fmla="*/ 3175 w 381000"/>
                <a:gd name="connsiteY1" fmla="*/ 1016000 h 1590675"/>
                <a:gd name="connsiteX2" fmla="*/ 9525 w 381000"/>
                <a:gd name="connsiteY2" fmla="*/ 466725 h 1590675"/>
                <a:gd name="connsiteX3" fmla="*/ 19050 w 381000"/>
                <a:gd name="connsiteY3" fmla="*/ 0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81150 h 1590675"/>
                <a:gd name="connsiteX1" fmla="*/ 3175 w 381000"/>
                <a:gd name="connsiteY1" fmla="*/ 1016000 h 1590675"/>
                <a:gd name="connsiteX2" fmla="*/ 9525 w 381000"/>
                <a:gd name="connsiteY2" fmla="*/ 466725 h 1590675"/>
                <a:gd name="connsiteX3" fmla="*/ 9525 w 381000"/>
                <a:gd name="connsiteY3" fmla="*/ 3175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97025 h 1597025"/>
                <a:gd name="connsiteX1" fmla="*/ 3175 w 381000"/>
                <a:gd name="connsiteY1" fmla="*/ 1016000 h 1597025"/>
                <a:gd name="connsiteX2" fmla="*/ 9525 w 381000"/>
                <a:gd name="connsiteY2" fmla="*/ 466725 h 1597025"/>
                <a:gd name="connsiteX3" fmla="*/ 9525 w 381000"/>
                <a:gd name="connsiteY3" fmla="*/ 3175 h 1597025"/>
                <a:gd name="connsiteX4" fmla="*/ 266700 w 381000"/>
                <a:gd name="connsiteY4" fmla="*/ 0 h 1597025"/>
                <a:gd name="connsiteX5" fmla="*/ 381000 w 381000"/>
                <a:gd name="connsiteY5" fmla="*/ 0 h 1597025"/>
                <a:gd name="connsiteX6" fmla="*/ 371475 w 381000"/>
                <a:gd name="connsiteY6" fmla="*/ 666750 h 1597025"/>
                <a:gd name="connsiteX7" fmla="*/ 371475 w 381000"/>
                <a:gd name="connsiteY7" fmla="*/ 1114425 h 1597025"/>
                <a:gd name="connsiteX8" fmla="*/ 371475 w 381000"/>
                <a:gd name="connsiteY8" fmla="*/ 1590675 h 1597025"/>
                <a:gd name="connsiteX9" fmla="*/ 146050 w 381000"/>
                <a:gd name="connsiteY9" fmla="*/ 1590675 h 1597025"/>
                <a:gd name="connsiteX10" fmla="*/ 0 w 381000"/>
                <a:gd name="connsiteY10" fmla="*/ 1597025 h 1597025"/>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146050 w 381000"/>
                <a:gd name="connsiteY9" fmla="*/ 1590675 h 1593850"/>
                <a:gd name="connsiteX10" fmla="*/ 0 w 381000"/>
                <a:gd name="connsiteY10" fmla="*/ 1593850 h 1593850"/>
                <a:gd name="connsiteX0" fmla="*/ 0 w 381000"/>
                <a:gd name="connsiteY0" fmla="*/ 1593850 h 1593870"/>
                <a:gd name="connsiteX1" fmla="*/ 3175 w 381000"/>
                <a:gd name="connsiteY1" fmla="*/ 1016000 h 1593870"/>
                <a:gd name="connsiteX2" fmla="*/ 9525 w 381000"/>
                <a:gd name="connsiteY2" fmla="*/ 466725 h 1593870"/>
                <a:gd name="connsiteX3" fmla="*/ 9525 w 381000"/>
                <a:gd name="connsiteY3" fmla="*/ 3175 h 1593870"/>
                <a:gd name="connsiteX4" fmla="*/ 266700 w 381000"/>
                <a:gd name="connsiteY4" fmla="*/ 0 h 1593870"/>
                <a:gd name="connsiteX5" fmla="*/ 381000 w 381000"/>
                <a:gd name="connsiteY5" fmla="*/ 0 h 1593870"/>
                <a:gd name="connsiteX6" fmla="*/ 371475 w 381000"/>
                <a:gd name="connsiteY6" fmla="*/ 666750 h 1593870"/>
                <a:gd name="connsiteX7" fmla="*/ 371475 w 381000"/>
                <a:gd name="connsiteY7" fmla="*/ 1114425 h 1593870"/>
                <a:gd name="connsiteX8" fmla="*/ 371475 w 381000"/>
                <a:gd name="connsiteY8" fmla="*/ 1590675 h 1593870"/>
                <a:gd name="connsiteX9" fmla="*/ 176292 w 381000"/>
                <a:gd name="connsiteY9" fmla="*/ 1593870 h 1593870"/>
                <a:gd name="connsiteX10" fmla="*/ 0 w 381000"/>
                <a:gd name="connsiteY10" fmla="*/ 1593850 h 1593870"/>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0 w 381000"/>
                <a:gd name="connsiteY9" fmla="*/ 1593850 h 1593850"/>
                <a:gd name="connsiteX0" fmla="*/ 0 w 381000"/>
                <a:gd name="connsiteY0" fmla="*/ 1593850 h 1600260"/>
                <a:gd name="connsiteX1" fmla="*/ 3175 w 381000"/>
                <a:gd name="connsiteY1" fmla="*/ 1016000 h 1600260"/>
                <a:gd name="connsiteX2" fmla="*/ 9525 w 381000"/>
                <a:gd name="connsiteY2" fmla="*/ 466725 h 1600260"/>
                <a:gd name="connsiteX3" fmla="*/ 9525 w 381000"/>
                <a:gd name="connsiteY3" fmla="*/ 3175 h 1600260"/>
                <a:gd name="connsiteX4" fmla="*/ 266700 w 381000"/>
                <a:gd name="connsiteY4" fmla="*/ 0 h 1600260"/>
                <a:gd name="connsiteX5" fmla="*/ 381000 w 381000"/>
                <a:gd name="connsiteY5" fmla="*/ 0 h 1600260"/>
                <a:gd name="connsiteX6" fmla="*/ 371475 w 381000"/>
                <a:gd name="connsiteY6" fmla="*/ 666750 h 1600260"/>
                <a:gd name="connsiteX7" fmla="*/ 371475 w 381000"/>
                <a:gd name="connsiteY7" fmla="*/ 1114425 h 1600260"/>
                <a:gd name="connsiteX8" fmla="*/ 371475 w 381000"/>
                <a:gd name="connsiteY8" fmla="*/ 1600260 h 1600260"/>
                <a:gd name="connsiteX9" fmla="*/ 0 w 381000"/>
                <a:gd name="connsiteY9" fmla="*/ 1593850 h 1600260"/>
                <a:gd name="connsiteX0" fmla="*/ 0 w 381000"/>
                <a:gd name="connsiteY0" fmla="*/ 1593850 h 1593871"/>
                <a:gd name="connsiteX1" fmla="*/ 3175 w 381000"/>
                <a:gd name="connsiteY1" fmla="*/ 1016000 h 1593871"/>
                <a:gd name="connsiteX2" fmla="*/ 9525 w 381000"/>
                <a:gd name="connsiteY2" fmla="*/ 466725 h 1593871"/>
                <a:gd name="connsiteX3" fmla="*/ 9525 w 381000"/>
                <a:gd name="connsiteY3" fmla="*/ 3175 h 1593871"/>
                <a:gd name="connsiteX4" fmla="*/ 266700 w 381000"/>
                <a:gd name="connsiteY4" fmla="*/ 0 h 1593871"/>
                <a:gd name="connsiteX5" fmla="*/ 381000 w 381000"/>
                <a:gd name="connsiteY5" fmla="*/ 0 h 1593871"/>
                <a:gd name="connsiteX6" fmla="*/ 371475 w 381000"/>
                <a:gd name="connsiteY6" fmla="*/ 666750 h 1593871"/>
                <a:gd name="connsiteX7" fmla="*/ 371475 w 381000"/>
                <a:gd name="connsiteY7" fmla="*/ 1114425 h 1593871"/>
                <a:gd name="connsiteX8" fmla="*/ 374835 w 381000"/>
                <a:gd name="connsiteY8" fmla="*/ 1593871 h 1593871"/>
                <a:gd name="connsiteX9" fmla="*/ 0 w 381000"/>
                <a:gd name="connsiteY9" fmla="*/ 1593850 h 1593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0" h="1593871">
                  <a:moveTo>
                    <a:pt x="0" y="1593850"/>
                  </a:moveTo>
                  <a:cubicBezTo>
                    <a:pt x="1058" y="1405467"/>
                    <a:pt x="2117" y="1204383"/>
                    <a:pt x="3175" y="1016000"/>
                  </a:cubicBezTo>
                  <a:cubicBezTo>
                    <a:pt x="5292" y="832908"/>
                    <a:pt x="7408" y="649817"/>
                    <a:pt x="9525" y="466725"/>
                  </a:cubicBezTo>
                  <a:cubicBezTo>
                    <a:pt x="7408" y="310092"/>
                    <a:pt x="11642" y="159808"/>
                    <a:pt x="9525" y="3175"/>
                  </a:cubicBezTo>
                  <a:lnTo>
                    <a:pt x="266700" y="0"/>
                  </a:lnTo>
                  <a:lnTo>
                    <a:pt x="381000" y="0"/>
                  </a:lnTo>
                  <a:lnTo>
                    <a:pt x="371475" y="666750"/>
                  </a:lnTo>
                  <a:cubicBezTo>
                    <a:pt x="371475" y="815975"/>
                    <a:pt x="370915" y="959905"/>
                    <a:pt x="371475" y="1114425"/>
                  </a:cubicBezTo>
                  <a:cubicBezTo>
                    <a:pt x="372035" y="1268945"/>
                    <a:pt x="373715" y="1434056"/>
                    <a:pt x="374835" y="1593871"/>
                  </a:cubicBezTo>
                  <a:lnTo>
                    <a:pt x="0" y="159385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6" name="Oval 35">
              <a:extLst>
                <a:ext uri="{FF2B5EF4-FFF2-40B4-BE49-F238E27FC236}">
                  <a16:creationId xmlns:a16="http://schemas.microsoft.com/office/drawing/2014/main" id="{D56F4FA2-4323-8740-B49A-26C2050066C2}"/>
                </a:ext>
              </a:extLst>
            </p:cNvPr>
            <p:cNvSpPr/>
            <p:nvPr/>
          </p:nvSpPr>
          <p:spPr>
            <a:xfrm>
              <a:off x="6928648" y="4218927"/>
              <a:ext cx="95330" cy="67741"/>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BBAF436F-5F4C-B74B-908D-18D0837BAC8C}"/>
                </a:ext>
              </a:extLst>
            </p:cNvPr>
            <p:cNvSpPr/>
            <p:nvPr/>
          </p:nvSpPr>
          <p:spPr>
            <a:xfrm>
              <a:off x="7088652" y="4218927"/>
              <a:ext cx="95330" cy="67741"/>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2B1BAD9B-576D-0445-B030-E95CE61284F4}"/>
                </a:ext>
              </a:extLst>
            </p:cNvPr>
            <p:cNvSpPr/>
            <p:nvPr/>
          </p:nvSpPr>
          <p:spPr>
            <a:xfrm>
              <a:off x="7248656" y="4218927"/>
              <a:ext cx="95330" cy="67741"/>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3">
            <a:extLst>
              <a:ext uri="{FF2B5EF4-FFF2-40B4-BE49-F238E27FC236}">
                <a16:creationId xmlns:a16="http://schemas.microsoft.com/office/drawing/2014/main" id="{7D28E6D7-6BC9-D446-B436-B96C520DBE6D}"/>
              </a:ext>
            </a:extLst>
          </p:cNvPr>
          <p:cNvGrpSpPr/>
          <p:nvPr/>
        </p:nvGrpSpPr>
        <p:grpSpPr>
          <a:xfrm>
            <a:off x="8513285" y="2203217"/>
            <a:ext cx="2491461" cy="2041092"/>
            <a:chOff x="8513285" y="2203217"/>
            <a:chExt cx="2491461" cy="2041092"/>
          </a:xfrm>
        </p:grpSpPr>
        <p:sp>
          <p:nvSpPr>
            <p:cNvPr id="49" name="Freeform 48">
              <a:extLst>
                <a:ext uri="{FF2B5EF4-FFF2-40B4-BE49-F238E27FC236}">
                  <a16:creationId xmlns:a16="http://schemas.microsoft.com/office/drawing/2014/main" id="{9917E848-B071-9142-B7DC-989EDDD6A76C}"/>
                </a:ext>
              </a:extLst>
            </p:cNvPr>
            <p:cNvSpPr/>
            <p:nvPr/>
          </p:nvSpPr>
          <p:spPr>
            <a:xfrm>
              <a:off x="8513285" y="4052835"/>
              <a:ext cx="2491461" cy="1675"/>
            </a:xfrm>
            <a:custGeom>
              <a:avLst/>
              <a:gdLst>
                <a:gd name="connsiteX0" fmla="*/ 0 w 1812925"/>
                <a:gd name="connsiteY0" fmla="*/ 0 h 3175"/>
                <a:gd name="connsiteX1" fmla="*/ 396875 w 1812925"/>
                <a:gd name="connsiteY1" fmla="*/ 0 h 3175"/>
                <a:gd name="connsiteX2" fmla="*/ 765175 w 1812925"/>
                <a:gd name="connsiteY2" fmla="*/ 0 h 3175"/>
                <a:gd name="connsiteX3" fmla="*/ 1136650 w 1812925"/>
                <a:gd name="connsiteY3" fmla="*/ 3175 h 3175"/>
                <a:gd name="connsiteX4" fmla="*/ 1666875 w 1812925"/>
                <a:gd name="connsiteY4" fmla="*/ 0 h 3175"/>
                <a:gd name="connsiteX5" fmla="*/ 1812925 w 1812925"/>
                <a:gd name="connsiteY5" fmla="*/ 0 h 3175"/>
                <a:gd name="connsiteX0" fmla="*/ 0 w 10000"/>
                <a:gd name="connsiteY0" fmla="*/ 324 h 13657"/>
                <a:gd name="connsiteX1" fmla="*/ 2189 w 10000"/>
                <a:gd name="connsiteY1" fmla="*/ 324 h 13657"/>
                <a:gd name="connsiteX2" fmla="*/ 4221 w 10000"/>
                <a:gd name="connsiteY2" fmla="*/ 324 h 13657"/>
                <a:gd name="connsiteX3" fmla="*/ 6270 w 10000"/>
                <a:gd name="connsiteY3" fmla="*/ 10324 h 13657"/>
                <a:gd name="connsiteX4" fmla="*/ 9194 w 10000"/>
                <a:gd name="connsiteY4" fmla="*/ 324 h 13657"/>
                <a:gd name="connsiteX5" fmla="*/ 10000 w 10000"/>
                <a:gd name="connsiteY5" fmla="*/ 324 h 13657"/>
                <a:gd name="connsiteX0" fmla="*/ 0 w 10000"/>
                <a:gd name="connsiteY0" fmla="*/ 324 h 10325"/>
                <a:gd name="connsiteX1" fmla="*/ 2189 w 10000"/>
                <a:gd name="connsiteY1" fmla="*/ 324 h 10325"/>
                <a:gd name="connsiteX2" fmla="*/ 4221 w 10000"/>
                <a:gd name="connsiteY2" fmla="*/ 324 h 10325"/>
                <a:gd name="connsiteX3" fmla="*/ 6270 w 10000"/>
                <a:gd name="connsiteY3" fmla="*/ 10324 h 10325"/>
                <a:gd name="connsiteX4" fmla="*/ 9194 w 10000"/>
                <a:gd name="connsiteY4" fmla="*/ 324 h 10325"/>
                <a:gd name="connsiteX5" fmla="*/ 10000 w 10000"/>
                <a:gd name="connsiteY5" fmla="*/ 324 h 10325"/>
                <a:gd name="connsiteX0" fmla="*/ 0 w 10000"/>
                <a:gd name="connsiteY0" fmla="*/ 4444 h 14445"/>
                <a:gd name="connsiteX1" fmla="*/ 2189 w 10000"/>
                <a:gd name="connsiteY1" fmla="*/ 4444 h 14445"/>
                <a:gd name="connsiteX2" fmla="*/ 4221 w 10000"/>
                <a:gd name="connsiteY2" fmla="*/ 4444 h 14445"/>
                <a:gd name="connsiteX3" fmla="*/ 6270 w 10000"/>
                <a:gd name="connsiteY3" fmla="*/ 14444 h 14445"/>
                <a:gd name="connsiteX4" fmla="*/ 9194 w 10000"/>
                <a:gd name="connsiteY4" fmla="*/ 4444 h 14445"/>
                <a:gd name="connsiteX5" fmla="*/ 10000 w 10000"/>
                <a:gd name="connsiteY5" fmla="*/ 4444 h 14445"/>
                <a:gd name="connsiteX0" fmla="*/ 0 w 10000"/>
                <a:gd name="connsiteY0" fmla="*/ 324 h 10325"/>
                <a:gd name="connsiteX1" fmla="*/ 2189 w 10000"/>
                <a:gd name="connsiteY1" fmla="*/ 324 h 10325"/>
                <a:gd name="connsiteX2" fmla="*/ 4221 w 10000"/>
                <a:gd name="connsiteY2" fmla="*/ 324 h 10325"/>
                <a:gd name="connsiteX3" fmla="*/ 6270 w 10000"/>
                <a:gd name="connsiteY3" fmla="*/ 10324 h 10325"/>
                <a:gd name="connsiteX4" fmla="*/ 9194 w 10000"/>
                <a:gd name="connsiteY4" fmla="*/ 324 h 10325"/>
                <a:gd name="connsiteX5" fmla="*/ 10000 w 10000"/>
                <a:gd name="connsiteY5" fmla="*/ 324 h 10325"/>
                <a:gd name="connsiteX0" fmla="*/ 0 w 10000"/>
                <a:gd name="connsiteY0" fmla="*/ 324 h 4768"/>
                <a:gd name="connsiteX1" fmla="*/ 2189 w 10000"/>
                <a:gd name="connsiteY1" fmla="*/ 324 h 4768"/>
                <a:gd name="connsiteX2" fmla="*/ 4221 w 10000"/>
                <a:gd name="connsiteY2" fmla="*/ 324 h 4768"/>
                <a:gd name="connsiteX3" fmla="*/ 6296 w 10000"/>
                <a:gd name="connsiteY3" fmla="*/ 3769 h 4768"/>
                <a:gd name="connsiteX4" fmla="*/ 9194 w 10000"/>
                <a:gd name="connsiteY4" fmla="*/ 324 h 4768"/>
                <a:gd name="connsiteX5" fmla="*/ 10000 w 10000"/>
                <a:gd name="connsiteY5" fmla="*/ 324 h 4768"/>
                <a:gd name="connsiteX0" fmla="*/ 0 w 10000"/>
                <a:gd name="connsiteY0" fmla="*/ 915 h 8140"/>
                <a:gd name="connsiteX1" fmla="*/ 2189 w 10000"/>
                <a:gd name="connsiteY1" fmla="*/ 915 h 8140"/>
                <a:gd name="connsiteX2" fmla="*/ 3007 w 10000"/>
                <a:gd name="connsiteY2" fmla="*/ 0 h 8140"/>
                <a:gd name="connsiteX3" fmla="*/ 4221 w 10000"/>
                <a:gd name="connsiteY3" fmla="*/ 915 h 8140"/>
                <a:gd name="connsiteX4" fmla="*/ 6296 w 10000"/>
                <a:gd name="connsiteY4" fmla="*/ 8140 h 8140"/>
                <a:gd name="connsiteX5" fmla="*/ 9194 w 10000"/>
                <a:gd name="connsiteY5" fmla="*/ 915 h 8140"/>
                <a:gd name="connsiteX6" fmla="*/ 10000 w 10000"/>
                <a:gd name="connsiteY6" fmla="*/ 915 h 8140"/>
                <a:gd name="connsiteX0" fmla="*/ 0 w 10000"/>
                <a:gd name="connsiteY0" fmla="*/ 1124 h 1554"/>
                <a:gd name="connsiteX1" fmla="*/ 2189 w 10000"/>
                <a:gd name="connsiteY1" fmla="*/ 1124 h 1554"/>
                <a:gd name="connsiteX2" fmla="*/ 3007 w 10000"/>
                <a:gd name="connsiteY2" fmla="*/ 0 h 1554"/>
                <a:gd name="connsiteX3" fmla="*/ 4221 w 10000"/>
                <a:gd name="connsiteY3" fmla="*/ 1124 h 1554"/>
                <a:gd name="connsiteX4" fmla="*/ 6322 w 10000"/>
                <a:gd name="connsiteY4" fmla="*/ 1554 h 1554"/>
                <a:gd name="connsiteX5" fmla="*/ 9194 w 10000"/>
                <a:gd name="connsiteY5" fmla="*/ 1124 h 1554"/>
                <a:gd name="connsiteX6" fmla="*/ 10000 w 10000"/>
                <a:gd name="connsiteY6" fmla="*/ 1124 h 1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554">
                  <a:moveTo>
                    <a:pt x="0" y="1124"/>
                  </a:moveTo>
                  <a:cubicBezTo>
                    <a:pt x="730" y="1124"/>
                    <a:pt x="1688" y="1311"/>
                    <a:pt x="2189" y="1124"/>
                  </a:cubicBezTo>
                  <a:cubicBezTo>
                    <a:pt x="2690" y="937"/>
                    <a:pt x="2668" y="0"/>
                    <a:pt x="3007" y="0"/>
                  </a:cubicBezTo>
                  <a:cubicBezTo>
                    <a:pt x="3346" y="0"/>
                    <a:pt x="3679" y="1569"/>
                    <a:pt x="4221" y="1124"/>
                  </a:cubicBezTo>
                  <a:lnTo>
                    <a:pt x="6322" y="1554"/>
                  </a:lnTo>
                  <a:lnTo>
                    <a:pt x="9194" y="1124"/>
                  </a:lnTo>
                  <a:lnTo>
                    <a:pt x="10000" y="1124"/>
                  </a:lnTo>
                </a:path>
              </a:pathLst>
            </a:custGeom>
            <a:noFill/>
            <a:ln w="63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0" name="Freeform 49">
              <a:extLst>
                <a:ext uri="{FF2B5EF4-FFF2-40B4-BE49-F238E27FC236}">
                  <a16:creationId xmlns:a16="http://schemas.microsoft.com/office/drawing/2014/main" id="{C91B5A79-FFA9-F447-8860-153EB853AE65}"/>
                </a:ext>
              </a:extLst>
            </p:cNvPr>
            <p:cNvSpPr/>
            <p:nvPr/>
          </p:nvSpPr>
          <p:spPr>
            <a:xfrm>
              <a:off x="8598394" y="3910614"/>
              <a:ext cx="525588" cy="143262"/>
            </a:xfrm>
            <a:custGeom>
              <a:avLst/>
              <a:gdLst>
                <a:gd name="connsiteX0" fmla="*/ 0 w 381000"/>
                <a:gd name="connsiteY0" fmla="*/ 1584325 h 1593850"/>
                <a:gd name="connsiteX1" fmla="*/ 3175 w 381000"/>
                <a:gd name="connsiteY1" fmla="*/ 1019175 h 1593850"/>
                <a:gd name="connsiteX2" fmla="*/ 9525 w 381000"/>
                <a:gd name="connsiteY2" fmla="*/ 469900 h 1593850"/>
                <a:gd name="connsiteX3" fmla="*/ 3175 w 381000"/>
                <a:gd name="connsiteY3" fmla="*/ 0 h 1593850"/>
                <a:gd name="connsiteX4" fmla="*/ 266700 w 381000"/>
                <a:gd name="connsiteY4" fmla="*/ 3175 h 1593850"/>
                <a:gd name="connsiteX5" fmla="*/ 381000 w 381000"/>
                <a:gd name="connsiteY5" fmla="*/ 3175 h 1593850"/>
                <a:gd name="connsiteX6" fmla="*/ 371475 w 381000"/>
                <a:gd name="connsiteY6" fmla="*/ 669925 h 1593850"/>
                <a:gd name="connsiteX7" fmla="*/ 371475 w 381000"/>
                <a:gd name="connsiteY7" fmla="*/ 1117600 h 1593850"/>
                <a:gd name="connsiteX8" fmla="*/ 371475 w 381000"/>
                <a:gd name="connsiteY8" fmla="*/ 1593850 h 1593850"/>
                <a:gd name="connsiteX9" fmla="*/ 146050 w 381000"/>
                <a:gd name="connsiteY9" fmla="*/ 1593850 h 1593850"/>
                <a:gd name="connsiteX10" fmla="*/ 0 w 381000"/>
                <a:gd name="connsiteY10" fmla="*/ 1584325 h 1593850"/>
                <a:gd name="connsiteX0" fmla="*/ 0 w 381000"/>
                <a:gd name="connsiteY0" fmla="*/ 1581150 h 1590675"/>
                <a:gd name="connsiteX1" fmla="*/ 3175 w 381000"/>
                <a:gd name="connsiteY1" fmla="*/ 1016000 h 1590675"/>
                <a:gd name="connsiteX2" fmla="*/ 9525 w 381000"/>
                <a:gd name="connsiteY2" fmla="*/ 466725 h 1590675"/>
                <a:gd name="connsiteX3" fmla="*/ 19050 w 381000"/>
                <a:gd name="connsiteY3" fmla="*/ 0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81150 h 1590675"/>
                <a:gd name="connsiteX1" fmla="*/ 3175 w 381000"/>
                <a:gd name="connsiteY1" fmla="*/ 1016000 h 1590675"/>
                <a:gd name="connsiteX2" fmla="*/ 9525 w 381000"/>
                <a:gd name="connsiteY2" fmla="*/ 466725 h 1590675"/>
                <a:gd name="connsiteX3" fmla="*/ 9525 w 381000"/>
                <a:gd name="connsiteY3" fmla="*/ 3175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97025 h 1597025"/>
                <a:gd name="connsiteX1" fmla="*/ 3175 w 381000"/>
                <a:gd name="connsiteY1" fmla="*/ 1016000 h 1597025"/>
                <a:gd name="connsiteX2" fmla="*/ 9525 w 381000"/>
                <a:gd name="connsiteY2" fmla="*/ 466725 h 1597025"/>
                <a:gd name="connsiteX3" fmla="*/ 9525 w 381000"/>
                <a:gd name="connsiteY3" fmla="*/ 3175 h 1597025"/>
                <a:gd name="connsiteX4" fmla="*/ 266700 w 381000"/>
                <a:gd name="connsiteY4" fmla="*/ 0 h 1597025"/>
                <a:gd name="connsiteX5" fmla="*/ 381000 w 381000"/>
                <a:gd name="connsiteY5" fmla="*/ 0 h 1597025"/>
                <a:gd name="connsiteX6" fmla="*/ 371475 w 381000"/>
                <a:gd name="connsiteY6" fmla="*/ 666750 h 1597025"/>
                <a:gd name="connsiteX7" fmla="*/ 371475 w 381000"/>
                <a:gd name="connsiteY7" fmla="*/ 1114425 h 1597025"/>
                <a:gd name="connsiteX8" fmla="*/ 371475 w 381000"/>
                <a:gd name="connsiteY8" fmla="*/ 1590675 h 1597025"/>
                <a:gd name="connsiteX9" fmla="*/ 146050 w 381000"/>
                <a:gd name="connsiteY9" fmla="*/ 1590675 h 1597025"/>
                <a:gd name="connsiteX10" fmla="*/ 0 w 381000"/>
                <a:gd name="connsiteY10" fmla="*/ 1597025 h 1597025"/>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146050 w 381000"/>
                <a:gd name="connsiteY9" fmla="*/ 1590675 h 1593850"/>
                <a:gd name="connsiteX10" fmla="*/ 0 w 381000"/>
                <a:gd name="connsiteY10" fmla="*/ 1593850 h 1593850"/>
                <a:gd name="connsiteX0" fmla="*/ 0 w 381000"/>
                <a:gd name="connsiteY0" fmla="*/ 1593850 h 1593870"/>
                <a:gd name="connsiteX1" fmla="*/ 3175 w 381000"/>
                <a:gd name="connsiteY1" fmla="*/ 1016000 h 1593870"/>
                <a:gd name="connsiteX2" fmla="*/ 9525 w 381000"/>
                <a:gd name="connsiteY2" fmla="*/ 466725 h 1593870"/>
                <a:gd name="connsiteX3" fmla="*/ 9525 w 381000"/>
                <a:gd name="connsiteY3" fmla="*/ 3175 h 1593870"/>
                <a:gd name="connsiteX4" fmla="*/ 266700 w 381000"/>
                <a:gd name="connsiteY4" fmla="*/ 0 h 1593870"/>
                <a:gd name="connsiteX5" fmla="*/ 381000 w 381000"/>
                <a:gd name="connsiteY5" fmla="*/ 0 h 1593870"/>
                <a:gd name="connsiteX6" fmla="*/ 371475 w 381000"/>
                <a:gd name="connsiteY6" fmla="*/ 666750 h 1593870"/>
                <a:gd name="connsiteX7" fmla="*/ 371475 w 381000"/>
                <a:gd name="connsiteY7" fmla="*/ 1114425 h 1593870"/>
                <a:gd name="connsiteX8" fmla="*/ 371475 w 381000"/>
                <a:gd name="connsiteY8" fmla="*/ 1590675 h 1593870"/>
                <a:gd name="connsiteX9" fmla="*/ 176292 w 381000"/>
                <a:gd name="connsiteY9" fmla="*/ 1593870 h 1593870"/>
                <a:gd name="connsiteX10" fmla="*/ 0 w 381000"/>
                <a:gd name="connsiteY10" fmla="*/ 1593850 h 1593870"/>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0 w 381000"/>
                <a:gd name="connsiteY9" fmla="*/ 1593850 h 1593850"/>
                <a:gd name="connsiteX0" fmla="*/ 0 w 381000"/>
                <a:gd name="connsiteY0" fmla="*/ 1593850 h 1600260"/>
                <a:gd name="connsiteX1" fmla="*/ 3175 w 381000"/>
                <a:gd name="connsiteY1" fmla="*/ 1016000 h 1600260"/>
                <a:gd name="connsiteX2" fmla="*/ 9525 w 381000"/>
                <a:gd name="connsiteY2" fmla="*/ 466725 h 1600260"/>
                <a:gd name="connsiteX3" fmla="*/ 9525 w 381000"/>
                <a:gd name="connsiteY3" fmla="*/ 3175 h 1600260"/>
                <a:gd name="connsiteX4" fmla="*/ 266700 w 381000"/>
                <a:gd name="connsiteY4" fmla="*/ 0 h 1600260"/>
                <a:gd name="connsiteX5" fmla="*/ 381000 w 381000"/>
                <a:gd name="connsiteY5" fmla="*/ 0 h 1600260"/>
                <a:gd name="connsiteX6" fmla="*/ 371475 w 381000"/>
                <a:gd name="connsiteY6" fmla="*/ 666750 h 1600260"/>
                <a:gd name="connsiteX7" fmla="*/ 371475 w 381000"/>
                <a:gd name="connsiteY7" fmla="*/ 1114425 h 1600260"/>
                <a:gd name="connsiteX8" fmla="*/ 371475 w 381000"/>
                <a:gd name="connsiteY8" fmla="*/ 1600260 h 1600260"/>
                <a:gd name="connsiteX9" fmla="*/ 0 w 381000"/>
                <a:gd name="connsiteY9" fmla="*/ 1593850 h 1600260"/>
                <a:gd name="connsiteX0" fmla="*/ 0 w 381000"/>
                <a:gd name="connsiteY0" fmla="*/ 1593850 h 1593871"/>
                <a:gd name="connsiteX1" fmla="*/ 3175 w 381000"/>
                <a:gd name="connsiteY1" fmla="*/ 1016000 h 1593871"/>
                <a:gd name="connsiteX2" fmla="*/ 9525 w 381000"/>
                <a:gd name="connsiteY2" fmla="*/ 466725 h 1593871"/>
                <a:gd name="connsiteX3" fmla="*/ 9525 w 381000"/>
                <a:gd name="connsiteY3" fmla="*/ 3175 h 1593871"/>
                <a:gd name="connsiteX4" fmla="*/ 266700 w 381000"/>
                <a:gd name="connsiteY4" fmla="*/ 0 h 1593871"/>
                <a:gd name="connsiteX5" fmla="*/ 381000 w 381000"/>
                <a:gd name="connsiteY5" fmla="*/ 0 h 1593871"/>
                <a:gd name="connsiteX6" fmla="*/ 371475 w 381000"/>
                <a:gd name="connsiteY6" fmla="*/ 666750 h 1593871"/>
                <a:gd name="connsiteX7" fmla="*/ 371475 w 381000"/>
                <a:gd name="connsiteY7" fmla="*/ 1114425 h 1593871"/>
                <a:gd name="connsiteX8" fmla="*/ 374835 w 381000"/>
                <a:gd name="connsiteY8" fmla="*/ 1593871 h 1593871"/>
                <a:gd name="connsiteX9" fmla="*/ 0 w 381000"/>
                <a:gd name="connsiteY9" fmla="*/ 1593850 h 1593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0" h="1593871">
                  <a:moveTo>
                    <a:pt x="0" y="1593850"/>
                  </a:moveTo>
                  <a:cubicBezTo>
                    <a:pt x="1058" y="1405467"/>
                    <a:pt x="2117" y="1204383"/>
                    <a:pt x="3175" y="1016000"/>
                  </a:cubicBezTo>
                  <a:cubicBezTo>
                    <a:pt x="5292" y="832908"/>
                    <a:pt x="7408" y="649817"/>
                    <a:pt x="9525" y="466725"/>
                  </a:cubicBezTo>
                  <a:cubicBezTo>
                    <a:pt x="7408" y="310092"/>
                    <a:pt x="11642" y="159808"/>
                    <a:pt x="9525" y="3175"/>
                  </a:cubicBezTo>
                  <a:lnTo>
                    <a:pt x="266700" y="0"/>
                  </a:lnTo>
                  <a:lnTo>
                    <a:pt x="381000" y="0"/>
                  </a:lnTo>
                  <a:lnTo>
                    <a:pt x="371475" y="666750"/>
                  </a:lnTo>
                  <a:cubicBezTo>
                    <a:pt x="371475" y="815975"/>
                    <a:pt x="370915" y="959905"/>
                    <a:pt x="371475" y="1114425"/>
                  </a:cubicBezTo>
                  <a:cubicBezTo>
                    <a:pt x="372035" y="1268945"/>
                    <a:pt x="373715" y="1434056"/>
                    <a:pt x="374835" y="1593871"/>
                  </a:cubicBezTo>
                  <a:lnTo>
                    <a:pt x="0" y="159385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1" name="Freeform 50">
              <a:extLst>
                <a:ext uri="{FF2B5EF4-FFF2-40B4-BE49-F238E27FC236}">
                  <a16:creationId xmlns:a16="http://schemas.microsoft.com/office/drawing/2014/main" id="{E5B375E7-ECC8-E442-A67D-1AF5FA8F3C7A}"/>
                </a:ext>
              </a:extLst>
            </p:cNvPr>
            <p:cNvSpPr/>
            <p:nvPr/>
          </p:nvSpPr>
          <p:spPr>
            <a:xfrm>
              <a:off x="9235449" y="2203217"/>
              <a:ext cx="525588" cy="1849930"/>
            </a:xfrm>
            <a:custGeom>
              <a:avLst/>
              <a:gdLst>
                <a:gd name="connsiteX0" fmla="*/ 0 w 381000"/>
                <a:gd name="connsiteY0" fmla="*/ 1584325 h 1593850"/>
                <a:gd name="connsiteX1" fmla="*/ 3175 w 381000"/>
                <a:gd name="connsiteY1" fmla="*/ 1019175 h 1593850"/>
                <a:gd name="connsiteX2" fmla="*/ 9525 w 381000"/>
                <a:gd name="connsiteY2" fmla="*/ 469900 h 1593850"/>
                <a:gd name="connsiteX3" fmla="*/ 3175 w 381000"/>
                <a:gd name="connsiteY3" fmla="*/ 0 h 1593850"/>
                <a:gd name="connsiteX4" fmla="*/ 266700 w 381000"/>
                <a:gd name="connsiteY4" fmla="*/ 3175 h 1593850"/>
                <a:gd name="connsiteX5" fmla="*/ 381000 w 381000"/>
                <a:gd name="connsiteY5" fmla="*/ 3175 h 1593850"/>
                <a:gd name="connsiteX6" fmla="*/ 371475 w 381000"/>
                <a:gd name="connsiteY6" fmla="*/ 669925 h 1593850"/>
                <a:gd name="connsiteX7" fmla="*/ 371475 w 381000"/>
                <a:gd name="connsiteY7" fmla="*/ 1117600 h 1593850"/>
                <a:gd name="connsiteX8" fmla="*/ 371475 w 381000"/>
                <a:gd name="connsiteY8" fmla="*/ 1593850 h 1593850"/>
                <a:gd name="connsiteX9" fmla="*/ 146050 w 381000"/>
                <a:gd name="connsiteY9" fmla="*/ 1593850 h 1593850"/>
                <a:gd name="connsiteX10" fmla="*/ 0 w 381000"/>
                <a:gd name="connsiteY10" fmla="*/ 1584325 h 1593850"/>
                <a:gd name="connsiteX0" fmla="*/ 0 w 381000"/>
                <a:gd name="connsiteY0" fmla="*/ 1581150 h 1590675"/>
                <a:gd name="connsiteX1" fmla="*/ 3175 w 381000"/>
                <a:gd name="connsiteY1" fmla="*/ 1016000 h 1590675"/>
                <a:gd name="connsiteX2" fmla="*/ 9525 w 381000"/>
                <a:gd name="connsiteY2" fmla="*/ 466725 h 1590675"/>
                <a:gd name="connsiteX3" fmla="*/ 19050 w 381000"/>
                <a:gd name="connsiteY3" fmla="*/ 0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81150 h 1590675"/>
                <a:gd name="connsiteX1" fmla="*/ 3175 w 381000"/>
                <a:gd name="connsiteY1" fmla="*/ 1016000 h 1590675"/>
                <a:gd name="connsiteX2" fmla="*/ 9525 w 381000"/>
                <a:gd name="connsiteY2" fmla="*/ 466725 h 1590675"/>
                <a:gd name="connsiteX3" fmla="*/ 9525 w 381000"/>
                <a:gd name="connsiteY3" fmla="*/ 3175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97025 h 1597025"/>
                <a:gd name="connsiteX1" fmla="*/ 3175 w 381000"/>
                <a:gd name="connsiteY1" fmla="*/ 1016000 h 1597025"/>
                <a:gd name="connsiteX2" fmla="*/ 9525 w 381000"/>
                <a:gd name="connsiteY2" fmla="*/ 466725 h 1597025"/>
                <a:gd name="connsiteX3" fmla="*/ 9525 w 381000"/>
                <a:gd name="connsiteY3" fmla="*/ 3175 h 1597025"/>
                <a:gd name="connsiteX4" fmla="*/ 266700 w 381000"/>
                <a:gd name="connsiteY4" fmla="*/ 0 h 1597025"/>
                <a:gd name="connsiteX5" fmla="*/ 381000 w 381000"/>
                <a:gd name="connsiteY5" fmla="*/ 0 h 1597025"/>
                <a:gd name="connsiteX6" fmla="*/ 371475 w 381000"/>
                <a:gd name="connsiteY6" fmla="*/ 666750 h 1597025"/>
                <a:gd name="connsiteX7" fmla="*/ 371475 w 381000"/>
                <a:gd name="connsiteY7" fmla="*/ 1114425 h 1597025"/>
                <a:gd name="connsiteX8" fmla="*/ 371475 w 381000"/>
                <a:gd name="connsiteY8" fmla="*/ 1590675 h 1597025"/>
                <a:gd name="connsiteX9" fmla="*/ 146050 w 381000"/>
                <a:gd name="connsiteY9" fmla="*/ 1590675 h 1597025"/>
                <a:gd name="connsiteX10" fmla="*/ 0 w 381000"/>
                <a:gd name="connsiteY10" fmla="*/ 1597025 h 1597025"/>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146050 w 381000"/>
                <a:gd name="connsiteY9" fmla="*/ 1590675 h 1593850"/>
                <a:gd name="connsiteX10" fmla="*/ 0 w 381000"/>
                <a:gd name="connsiteY10" fmla="*/ 1593850 h 1593850"/>
                <a:gd name="connsiteX0" fmla="*/ 0 w 381000"/>
                <a:gd name="connsiteY0" fmla="*/ 1593850 h 1593870"/>
                <a:gd name="connsiteX1" fmla="*/ 3175 w 381000"/>
                <a:gd name="connsiteY1" fmla="*/ 1016000 h 1593870"/>
                <a:gd name="connsiteX2" fmla="*/ 9525 w 381000"/>
                <a:gd name="connsiteY2" fmla="*/ 466725 h 1593870"/>
                <a:gd name="connsiteX3" fmla="*/ 9525 w 381000"/>
                <a:gd name="connsiteY3" fmla="*/ 3175 h 1593870"/>
                <a:gd name="connsiteX4" fmla="*/ 266700 w 381000"/>
                <a:gd name="connsiteY4" fmla="*/ 0 h 1593870"/>
                <a:gd name="connsiteX5" fmla="*/ 381000 w 381000"/>
                <a:gd name="connsiteY5" fmla="*/ 0 h 1593870"/>
                <a:gd name="connsiteX6" fmla="*/ 371475 w 381000"/>
                <a:gd name="connsiteY6" fmla="*/ 666750 h 1593870"/>
                <a:gd name="connsiteX7" fmla="*/ 371475 w 381000"/>
                <a:gd name="connsiteY7" fmla="*/ 1114425 h 1593870"/>
                <a:gd name="connsiteX8" fmla="*/ 371475 w 381000"/>
                <a:gd name="connsiteY8" fmla="*/ 1590675 h 1593870"/>
                <a:gd name="connsiteX9" fmla="*/ 176292 w 381000"/>
                <a:gd name="connsiteY9" fmla="*/ 1593870 h 1593870"/>
                <a:gd name="connsiteX10" fmla="*/ 0 w 381000"/>
                <a:gd name="connsiteY10" fmla="*/ 1593850 h 1593870"/>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0 w 381000"/>
                <a:gd name="connsiteY9" fmla="*/ 1593850 h 1593850"/>
                <a:gd name="connsiteX0" fmla="*/ 0 w 381000"/>
                <a:gd name="connsiteY0" fmla="*/ 1593850 h 1600260"/>
                <a:gd name="connsiteX1" fmla="*/ 3175 w 381000"/>
                <a:gd name="connsiteY1" fmla="*/ 1016000 h 1600260"/>
                <a:gd name="connsiteX2" fmla="*/ 9525 w 381000"/>
                <a:gd name="connsiteY2" fmla="*/ 466725 h 1600260"/>
                <a:gd name="connsiteX3" fmla="*/ 9525 w 381000"/>
                <a:gd name="connsiteY3" fmla="*/ 3175 h 1600260"/>
                <a:gd name="connsiteX4" fmla="*/ 266700 w 381000"/>
                <a:gd name="connsiteY4" fmla="*/ 0 h 1600260"/>
                <a:gd name="connsiteX5" fmla="*/ 381000 w 381000"/>
                <a:gd name="connsiteY5" fmla="*/ 0 h 1600260"/>
                <a:gd name="connsiteX6" fmla="*/ 371475 w 381000"/>
                <a:gd name="connsiteY6" fmla="*/ 666750 h 1600260"/>
                <a:gd name="connsiteX7" fmla="*/ 371475 w 381000"/>
                <a:gd name="connsiteY7" fmla="*/ 1114425 h 1600260"/>
                <a:gd name="connsiteX8" fmla="*/ 371475 w 381000"/>
                <a:gd name="connsiteY8" fmla="*/ 1600260 h 1600260"/>
                <a:gd name="connsiteX9" fmla="*/ 0 w 381000"/>
                <a:gd name="connsiteY9" fmla="*/ 1593850 h 1600260"/>
                <a:gd name="connsiteX0" fmla="*/ 0 w 381000"/>
                <a:gd name="connsiteY0" fmla="*/ 1593850 h 1593871"/>
                <a:gd name="connsiteX1" fmla="*/ 3175 w 381000"/>
                <a:gd name="connsiteY1" fmla="*/ 1016000 h 1593871"/>
                <a:gd name="connsiteX2" fmla="*/ 9525 w 381000"/>
                <a:gd name="connsiteY2" fmla="*/ 466725 h 1593871"/>
                <a:gd name="connsiteX3" fmla="*/ 9525 w 381000"/>
                <a:gd name="connsiteY3" fmla="*/ 3175 h 1593871"/>
                <a:gd name="connsiteX4" fmla="*/ 266700 w 381000"/>
                <a:gd name="connsiteY4" fmla="*/ 0 h 1593871"/>
                <a:gd name="connsiteX5" fmla="*/ 381000 w 381000"/>
                <a:gd name="connsiteY5" fmla="*/ 0 h 1593871"/>
                <a:gd name="connsiteX6" fmla="*/ 371475 w 381000"/>
                <a:gd name="connsiteY6" fmla="*/ 666750 h 1593871"/>
                <a:gd name="connsiteX7" fmla="*/ 371475 w 381000"/>
                <a:gd name="connsiteY7" fmla="*/ 1114425 h 1593871"/>
                <a:gd name="connsiteX8" fmla="*/ 374835 w 381000"/>
                <a:gd name="connsiteY8" fmla="*/ 1593871 h 1593871"/>
                <a:gd name="connsiteX9" fmla="*/ 0 w 381000"/>
                <a:gd name="connsiteY9" fmla="*/ 1593850 h 1593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0" h="1593871">
                  <a:moveTo>
                    <a:pt x="0" y="1593850"/>
                  </a:moveTo>
                  <a:cubicBezTo>
                    <a:pt x="1058" y="1405467"/>
                    <a:pt x="2117" y="1204383"/>
                    <a:pt x="3175" y="1016000"/>
                  </a:cubicBezTo>
                  <a:cubicBezTo>
                    <a:pt x="5292" y="832908"/>
                    <a:pt x="7408" y="649817"/>
                    <a:pt x="9525" y="466725"/>
                  </a:cubicBezTo>
                  <a:cubicBezTo>
                    <a:pt x="7408" y="310092"/>
                    <a:pt x="11642" y="159808"/>
                    <a:pt x="9525" y="3175"/>
                  </a:cubicBezTo>
                  <a:lnTo>
                    <a:pt x="266700" y="0"/>
                  </a:lnTo>
                  <a:lnTo>
                    <a:pt x="381000" y="0"/>
                  </a:lnTo>
                  <a:lnTo>
                    <a:pt x="371475" y="666750"/>
                  </a:lnTo>
                  <a:cubicBezTo>
                    <a:pt x="371475" y="815975"/>
                    <a:pt x="370915" y="959905"/>
                    <a:pt x="371475" y="1114425"/>
                  </a:cubicBezTo>
                  <a:cubicBezTo>
                    <a:pt x="372035" y="1268945"/>
                    <a:pt x="373715" y="1434056"/>
                    <a:pt x="374835" y="1593871"/>
                  </a:cubicBezTo>
                  <a:lnTo>
                    <a:pt x="0" y="159385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2" name="Freeform 51">
              <a:extLst>
                <a:ext uri="{FF2B5EF4-FFF2-40B4-BE49-F238E27FC236}">
                  <a16:creationId xmlns:a16="http://schemas.microsoft.com/office/drawing/2014/main" id="{E09F338A-6EE9-F94C-A213-C6A60F0F113D}"/>
                </a:ext>
              </a:extLst>
            </p:cNvPr>
            <p:cNvSpPr/>
            <p:nvPr/>
          </p:nvSpPr>
          <p:spPr>
            <a:xfrm>
              <a:off x="10308670" y="3835076"/>
              <a:ext cx="525588" cy="224846"/>
            </a:xfrm>
            <a:custGeom>
              <a:avLst/>
              <a:gdLst>
                <a:gd name="connsiteX0" fmla="*/ 0 w 381000"/>
                <a:gd name="connsiteY0" fmla="*/ 1584325 h 1593850"/>
                <a:gd name="connsiteX1" fmla="*/ 3175 w 381000"/>
                <a:gd name="connsiteY1" fmla="*/ 1019175 h 1593850"/>
                <a:gd name="connsiteX2" fmla="*/ 9525 w 381000"/>
                <a:gd name="connsiteY2" fmla="*/ 469900 h 1593850"/>
                <a:gd name="connsiteX3" fmla="*/ 3175 w 381000"/>
                <a:gd name="connsiteY3" fmla="*/ 0 h 1593850"/>
                <a:gd name="connsiteX4" fmla="*/ 266700 w 381000"/>
                <a:gd name="connsiteY4" fmla="*/ 3175 h 1593850"/>
                <a:gd name="connsiteX5" fmla="*/ 381000 w 381000"/>
                <a:gd name="connsiteY5" fmla="*/ 3175 h 1593850"/>
                <a:gd name="connsiteX6" fmla="*/ 371475 w 381000"/>
                <a:gd name="connsiteY6" fmla="*/ 669925 h 1593850"/>
                <a:gd name="connsiteX7" fmla="*/ 371475 w 381000"/>
                <a:gd name="connsiteY7" fmla="*/ 1117600 h 1593850"/>
                <a:gd name="connsiteX8" fmla="*/ 371475 w 381000"/>
                <a:gd name="connsiteY8" fmla="*/ 1593850 h 1593850"/>
                <a:gd name="connsiteX9" fmla="*/ 146050 w 381000"/>
                <a:gd name="connsiteY9" fmla="*/ 1593850 h 1593850"/>
                <a:gd name="connsiteX10" fmla="*/ 0 w 381000"/>
                <a:gd name="connsiteY10" fmla="*/ 1584325 h 1593850"/>
                <a:gd name="connsiteX0" fmla="*/ 0 w 381000"/>
                <a:gd name="connsiteY0" fmla="*/ 1581150 h 1590675"/>
                <a:gd name="connsiteX1" fmla="*/ 3175 w 381000"/>
                <a:gd name="connsiteY1" fmla="*/ 1016000 h 1590675"/>
                <a:gd name="connsiteX2" fmla="*/ 9525 w 381000"/>
                <a:gd name="connsiteY2" fmla="*/ 466725 h 1590675"/>
                <a:gd name="connsiteX3" fmla="*/ 19050 w 381000"/>
                <a:gd name="connsiteY3" fmla="*/ 0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81150 h 1590675"/>
                <a:gd name="connsiteX1" fmla="*/ 3175 w 381000"/>
                <a:gd name="connsiteY1" fmla="*/ 1016000 h 1590675"/>
                <a:gd name="connsiteX2" fmla="*/ 9525 w 381000"/>
                <a:gd name="connsiteY2" fmla="*/ 466725 h 1590675"/>
                <a:gd name="connsiteX3" fmla="*/ 9525 w 381000"/>
                <a:gd name="connsiteY3" fmla="*/ 3175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97025 h 1597025"/>
                <a:gd name="connsiteX1" fmla="*/ 3175 w 381000"/>
                <a:gd name="connsiteY1" fmla="*/ 1016000 h 1597025"/>
                <a:gd name="connsiteX2" fmla="*/ 9525 w 381000"/>
                <a:gd name="connsiteY2" fmla="*/ 466725 h 1597025"/>
                <a:gd name="connsiteX3" fmla="*/ 9525 w 381000"/>
                <a:gd name="connsiteY3" fmla="*/ 3175 h 1597025"/>
                <a:gd name="connsiteX4" fmla="*/ 266700 w 381000"/>
                <a:gd name="connsiteY4" fmla="*/ 0 h 1597025"/>
                <a:gd name="connsiteX5" fmla="*/ 381000 w 381000"/>
                <a:gd name="connsiteY5" fmla="*/ 0 h 1597025"/>
                <a:gd name="connsiteX6" fmla="*/ 371475 w 381000"/>
                <a:gd name="connsiteY6" fmla="*/ 666750 h 1597025"/>
                <a:gd name="connsiteX7" fmla="*/ 371475 w 381000"/>
                <a:gd name="connsiteY7" fmla="*/ 1114425 h 1597025"/>
                <a:gd name="connsiteX8" fmla="*/ 371475 w 381000"/>
                <a:gd name="connsiteY8" fmla="*/ 1590675 h 1597025"/>
                <a:gd name="connsiteX9" fmla="*/ 146050 w 381000"/>
                <a:gd name="connsiteY9" fmla="*/ 1590675 h 1597025"/>
                <a:gd name="connsiteX10" fmla="*/ 0 w 381000"/>
                <a:gd name="connsiteY10" fmla="*/ 1597025 h 1597025"/>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146050 w 381000"/>
                <a:gd name="connsiteY9" fmla="*/ 1590675 h 1593850"/>
                <a:gd name="connsiteX10" fmla="*/ 0 w 381000"/>
                <a:gd name="connsiteY10" fmla="*/ 1593850 h 1593850"/>
                <a:gd name="connsiteX0" fmla="*/ 0 w 381000"/>
                <a:gd name="connsiteY0" fmla="*/ 1593850 h 1593870"/>
                <a:gd name="connsiteX1" fmla="*/ 3175 w 381000"/>
                <a:gd name="connsiteY1" fmla="*/ 1016000 h 1593870"/>
                <a:gd name="connsiteX2" fmla="*/ 9525 w 381000"/>
                <a:gd name="connsiteY2" fmla="*/ 466725 h 1593870"/>
                <a:gd name="connsiteX3" fmla="*/ 9525 w 381000"/>
                <a:gd name="connsiteY3" fmla="*/ 3175 h 1593870"/>
                <a:gd name="connsiteX4" fmla="*/ 266700 w 381000"/>
                <a:gd name="connsiteY4" fmla="*/ 0 h 1593870"/>
                <a:gd name="connsiteX5" fmla="*/ 381000 w 381000"/>
                <a:gd name="connsiteY5" fmla="*/ 0 h 1593870"/>
                <a:gd name="connsiteX6" fmla="*/ 371475 w 381000"/>
                <a:gd name="connsiteY6" fmla="*/ 666750 h 1593870"/>
                <a:gd name="connsiteX7" fmla="*/ 371475 w 381000"/>
                <a:gd name="connsiteY7" fmla="*/ 1114425 h 1593870"/>
                <a:gd name="connsiteX8" fmla="*/ 371475 w 381000"/>
                <a:gd name="connsiteY8" fmla="*/ 1590675 h 1593870"/>
                <a:gd name="connsiteX9" fmla="*/ 176292 w 381000"/>
                <a:gd name="connsiteY9" fmla="*/ 1593870 h 1593870"/>
                <a:gd name="connsiteX10" fmla="*/ 0 w 381000"/>
                <a:gd name="connsiteY10" fmla="*/ 1593850 h 1593870"/>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0 w 381000"/>
                <a:gd name="connsiteY9" fmla="*/ 1593850 h 1593850"/>
                <a:gd name="connsiteX0" fmla="*/ 0 w 381000"/>
                <a:gd name="connsiteY0" fmla="*/ 1593850 h 1600260"/>
                <a:gd name="connsiteX1" fmla="*/ 3175 w 381000"/>
                <a:gd name="connsiteY1" fmla="*/ 1016000 h 1600260"/>
                <a:gd name="connsiteX2" fmla="*/ 9525 w 381000"/>
                <a:gd name="connsiteY2" fmla="*/ 466725 h 1600260"/>
                <a:gd name="connsiteX3" fmla="*/ 9525 w 381000"/>
                <a:gd name="connsiteY3" fmla="*/ 3175 h 1600260"/>
                <a:gd name="connsiteX4" fmla="*/ 266700 w 381000"/>
                <a:gd name="connsiteY4" fmla="*/ 0 h 1600260"/>
                <a:gd name="connsiteX5" fmla="*/ 381000 w 381000"/>
                <a:gd name="connsiteY5" fmla="*/ 0 h 1600260"/>
                <a:gd name="connsiteX6" fmla="*/ 371475 w 381000"/>
                <a:gd name="connsiteY6" fmla="*/ 666750 h 1600260"/>
                <a:gd name="connsiteX7" fmla="*/ 371475 w 381000"/>
                <a:gd name="connsiteY7" fmla="*/ 1114425 h 1600260"/>
                <a:gd name="connsiteX8" fmla="*/ 371475 w 381000"/>
                <a:gd name="connsiteY8" fmla="*/ 1600260 h 1600260"/>
                <a:gd name="connsiteX9" fmla="*/ 0 w 381000"/>
                <a:gd name="connsiteY9" fmla="*/ 1593850 h 1600260"/>
                <a:gd name="connsiteX0" fmla="*/ 0 w 381000"/>
                <a:gd name="connsiteY0" fmla="*/ 1593850 h 1593871"/>
                <a:gd name="connsiteX1" fmla="*/ 3175 w 381000"/>
                <a:gd name="connsiteY1" fmla="*/ 1016000 h 1593871"/>
                <a:gd name="connsiteX2" fmla="*/ 9525 w 381000"/>
                <a:gd name="connsiteY2" fmla="*/ 466725 h 1593871"/>
                <a:gd name="connsiteX3" fmla="*/ 9525 w 381000"/>
                <a:gd name="connsiteY3" fmla="*/ 3175 h 1593871"/>
                <a:gd name="connsiteX4" fmla="*/ 266700 w 381000"/>
                <a:gd name="connsiteY4" fmla="*/ 0 h 1593871"/>
                <a:gd name="connsiteX5" fmla="*/ 381000 w 381000"/>
                <a:gd name="connsiteY5" fmla="*/ 0 h 1593871"/>
                <a:gd name="connsiteX6" fmla="*/ 371475 w 381000"/>
                <a:gd name="connsiteY6" fmla="*/ 666750 h 1593871"/>
                <a:gd name="connsiteX7" fmla="*/ 371475 w 381000"/>
                <a:gd name="connsiteY7" fmla="*/ 1114425 h 1593871"/>
                <a:gd name="connsiteX8" fmla="*/ 374835 w 381000"/>
                <a:gd name="connsiteY8" fmla="*/ 1593871 h 1593871"/>
                <a:gd name="connsiteX9" fmla="*/ 0 w 381000"/>
                <a:gd name="connsiteY9" fmla="*/ 1593850 h 1593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0" h="1593871">
                  <a:moveTo>
                    <a:pt x="0" y="1593850"/>
                  </a:moveTo>
                  <a:cubicBezTo>
                    <a:pt x="1058" y="1405467"/>
                    <a:pt x="2117" y="1204383"/>
                    <a:pt x="3175" y="1016000"/>
                  </a:cubicBezTo>
                  <a:cubicBezTo>
                    <a:pt x="5292" y="832908"/>
                    <a:pt x="7408" y="649817"/>
                    <a:pt x="9525" y="466725"/>
                  </a:cubicBezTo>
                  <a:cubicBezTo>
                    <a:pt x="7408" y="310092"/>
                    <a:pt x="11642" y="159808"/>
                    <a:pt x="9525" y="3175"/>
                  </a:cubicBezTo>
                  <a:lnTo>
                    <a:pt x="266700" y="0"/>
                  </a:lnTo>
                  <a:lnTo>
                    <a:pt x="381000" y="0"/>
                  </a:lnTo>
                  <a:lnTo>
                    <a:pt x="371475" y="666750"/>
                  </a:lnTo>
                  <a:cubicBezTo>
                    <a:pt x="371475" y="815975"/>
                    <a:pt x="370915" y="959905"/>
                    <a:pt x="371475" y="1114425"/>
                  </a:cubicBezTo>
                  <a:cubicBezTo>
                    <a:pt x="372035" y="1268945"/>
                    <a:pt x="373715" y="1434056"/>
                    <a:pt x="374835" y="1593871"/>
                  </a:cubicBezTo>
                  <a:lnTo>
                    <a:pt x="0" y="159385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3" name="Oval 52">
              <a:extLst>
                <a:ext uri="{FF2B5EF4-FFF2-40B4-BE49-F238E27FC236}">
                  <a16:creationId xmlns:a16="http://schemas.microsoft.com/office/drawing/2014/main" id="{6FE54824-2B7D-9142-B262-23FA24C899B9}"/>
                </a:ext>
              </a:extLst>
            </p:cNvPr>
            <p:cNvSpPr/>
            <p:nvPr/>
          </p:nvSpPr>
          <p:spPr>
            <a:xfrm>
              <a:off x="9847612" y="4176568"/>
              <a:ext cx="95330" cy="67741"/>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76870464-3685-F048-9017-F1728FD5DCED}"/>
                </a:ext>
              </a:extLst>
            </p:cNvPr>
            <p:cNvSpPr/>
            <p:nvPr/>
          </p:nvSpPr>
          <p:spPr>
            <a:xfrm>
              <a:off x="10007616" y="4176568"/>
              <a:ext cx="95330" cy="67741"/>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ED27A63D-C821-6141-88CB-81564F619909}"/>
                </a:ext>
              </a:extLst>
            </p:cNvPr>
            <p:cNvSpPr/>
            <p:nvPr/>
          </p:nvSpPr>
          <p:spPr>
            <a:xfrm>
              <a:off x="10167620" y="4176568"/>
              <a:ext cx="95330" cy="67741"/>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Rectangle 4">
            <a:extLst>
              <a:ext uri="{FF2B5EF4-FFF2-40B4-BE49-F238E27FC236}">
                <a16:creationId xmlns:a16="http://schemas.microsoft.com/office/drawing/2014/main" id="{0B2FF289-C214-EE4A-BF27-9A0AE2273F6E}"/>
              </a:ext>
            </a:extLst>
          </p:cNvPr>
          <p:cNvSpPr/>
          <p:nvPr/>
        </p:nvSpPr>
        <p:spPr>
          <a:xfrm>
            <a:off x="-29069" y="1525614"/>
            <a:ext cx="684803" cy="523220"/>
          </a:xfrm>
          <a:prstGeom prst="rect">
            <a:avLst/>
          </a:prstGeom>
        </p:spPr>
        <p:txBody>
          <a:bodyPr wrap="none">
            <a:spAutoFit/>
          </a:bodyPr>
          <a:lstStyle/>
          <a:p>
            <a:r>
              <a:rPr lang="en-US" sz="2800" dirty="0">
                <a:latin typeface="Comic Sans MS" panose="030F0902030302020204" pitchFamily="66" charset="0"/>
              </a:rPr>
              <a:t>|0⟩</a:t>
            </a:r>
          </a:p>
        </p:txBody>
      </p:sp>
      <p:sp>
        <p:nvSpPr>
          <p:cNvPr id="56" name="Rectangle 55">
            <a:extLst>
              <a:ext uri="{FF2B5EF4-FFF2-40B4-BE49-F238E27FC236}">
                <a16:creationId xmlns:a16="http://schemas.microsoft.com/office/drawing/2014/main" id="{FDA801DC-5B41-2A4F-90D8-D3F6775C9CBD}"/>
              </a:ext>
            </a:extLst>
          </p:cNvPr>
          <p:cNvSpPr/>
          <p:nvPr/>
        </p:nvSpPr>
        <p:spPr>
          <a:xfrm>
            <a:off x="-33866" y="2778149"/>
            <a:ext cx="684803" cy="523220"/>
          </a:xfrm>
          <a:prstGeom prst="rect">
            <a:avLst/>
          </a:prstGeom>
        </p:spPr>
        <p:txBody>
          <a:bodyPr wrap="none">
            <a:spAutoFit/>
          </a:bodyPr>
          <a:lstStyle/>
          <a:p>
            <a:r>
              <a:rPr lang="en-US" sz="2800" dirty="0">
                <a:latin typeface="Comic Sans MS" panose="030F0902030302020204" pitchFamily="66" charset="0"/>
              </a:rPr>
              <a:t>|0⟩</a:t>
            </a:r>
          </a:p>
        </p:txBody>
      </p:sp>
      <p:sp>
        <p:nvSpPr>
          <p:cNvPr id="57" name="Rectangle 56">
            <a:extLst>
              <a:ext uri="{FF2B5EF4-FFF2-40B4-BE49-F238E27FC236}">
                <a16:creationId xmlns:a16="http://schemas.microsoft.com/office/drawing/2014/main" id="{2B02DD95-337E-1044-9DE3-D90AB9B3C6F7}"/>
              </a:ext>
            </a:extLst>
          </p:cNvPr>
          <p:cNvSpPr/>
          <p:nvPr/>
        </p:nvSpPr>
        <p:spPr>
          <a:xfrm>
            <a:off x="-130546" y="5175183"/>
            <a:ext cx="684803" cy="523220"/>
          </a:xfrm>
          <a:prstGeom prst="rect">
            <a:avLst/>
          </a:prstGeom>
        </p:spPr>
        <p:txBody>
          <a:bodyPr wrap="none">
            <a:spAutoFit/>
          </a:bodyPr>
          <a:lstStyle/>
          <a:p>
            <a:r>
              <a:rPr lang="en-US" sz="2800" dirty="0">
                <a:latin typeface="Comic Sans MS" panose="030F0902030302020204" pitchFamily="66" charset="0"/>
              </a:rPr>
              <a:t>|0⟩</a:t>
            </a:r>
          </a:p>
        </p:txBody>
      </p:sp>
      <p:sp>
        <p:nvSpPr>
          <p:cNvPr id="6" name="TextBox 5">
            <a:extLst>
              <a:ext uri="{FF2B5EF4-FFF2-40B4-BE49-F238E27FC236}">
                <a16:creationId xmlns:a16="http://schemas.microsoft.com/office/drawing/2014/main" id="{F0DCE452-B76E-6E43-9048-62F5B83AA5C8}"/>
              </a:ext>
            </a:extLst>
          </p:cNvPr>
          <p:cNvSpPr txBox="1"/>
          <p:nvPr/>
        </p:nvSpPr>
        <p:spPr>
          <a:xfrm>
            <a:off x="5306334" y="5305843"/>
            <a:ext cx="3143809" cy="584775"/>
          </a:xfrm>
          <a:prstGeom prst="rect">
            <a:avLst/>
          </a:prstGeom>
          <a:noFill/>
        </p:spPr>
        <p:txBody>
          <a:bodyPr wrap="none" rtlCol="0">
            <a:spAutoFit/>
          </a:bodyPr>
          <a:lstStyle/>
          <a:p>
            <a:r>
              <a:rPr lang="en-US" sz="3200" dirty="0">
                <a:latin typeface="Comic Sans MS" panose="030F0902030302020204" pitchFamily="66" charset="0"/>
              </a:rPr>
              <a:t>quantum circuit</a:t>
            </a:r>
          </a:p>
        </p:txBody>
      </p:sp>
      <p:sp>
        <p:nvSpPr>
          <p:cNvPr id="58" name="TextBox 57">
            <a:extLst>
              <a:ext uri="{FF2B5EF4-FFF2-40B4-BE49-F238E27FC236}">
                <a16:creationId xmlns:a16="http://schemas.microsoft.com/office/drawing/2014/main" id="{BDD882C3-3809-6044-8CDF-EBC0C344F9A0}"/>
              </a:ext>
            </a:extLst>
          </p:cNvPr>
          <p:cNvSpPr txBox="1"/>
          <p:nvPr/>
        </p:nvSpPr>
        <p:spPr>
          <a:xfrm>
            <a:off x="3927487" y="195334"/>
            <a:ext cx="5694188" cy="707886"/>
          </a:xfrm>
          <a:prstGeom prst="rect">
            <a:avLst/>
          </a:prstGeom>
          <a:noFill/>
        </p:spPr>
        <p:txBody>
          <a:bodyPr wrap="none" rtlCol="0">
            <a:spAutoFit/>
          </a:bodyPr>
          <a:lstStyle/>
          <a:p>
            <a:r>
              <a:rPr lang="en-US" sz="4000" dirty="0">
                <a:latin typeface="Comic Sans MS" panose="030F0902030302020204" pitchFamily="66" charset="0"/>
              </a:rPr>
              <a:t>Quantum Interference</a:t>
            </a:r>
          </a:p>
        </p:txBody>
      </p:sp>
      <p:grpSp>
        <p:nvGrpSpPr>
          <p:cNvPr id="9" name="Group 8">
            <a:extLst>
              <a:ext uri="{FF2B5EF4-FFF2-40B4-BE49-F238E27FC236}">
                <a16:creationId xmlns:a16="http://schemas.microsoft.com/office/drawing/2014/main" id="{9A38DAD3-0B16-8A4C-A724-E2DDC474FA04}"/>
              </a:ext>
            </a:extLst>
          </p:cNvPr>
          <p:cNvGrpSpPr/>
          <p:nvPr/>
        </p:nvGrpSpPr>
        <p:grpSpPr>
          <a:xfrm>
            <a:off x="5441060" y="1986751"/>
            <a:ext cx="1940313" cy="221583"/>
            <a:chOff x="4081346" y="6379939"/>
            <a:chExt cx="1940313" cy="221583"/>
          </a:xfrm>
        </p:grpSpPr>
        <p:sp>
          <p:nvSpPr>
            <p:cNvPr id="7" name="Freeform 6">
              <a:extLst>
                <a:ext uri="{FF2B5EF4-FFF2-40B4-BE49-F238E27FC236}">
                  <a16:creationId xmlns:a16="http://schemas.microsoft.com/office/drawing/2014/main" id="{A576BB60-120E-F848-B7AE-2883E8F563FF}"/>
                </a:ext>
              </a:extLst>
            </p:cNvPr>
            <p:cNvSpPr/>
            <p:nvPr/>
          </p:nvSpPr>
          <p:spPr>
            <a:xfrm>
              <a:off x="4081346" y="6490010"/>
              <a:ext cx="1940313" cy="111512"/>
            </a:xfrm>
            <a:custGeom>
              <a:avLst/>
              <a:gdLst>
                <a:gd name="connsiteX0" fmla="*/ 0 w 1940313"/>
                <a:gd name="connsiteY0" fmla="*/ 0 h 111512"/>
                <a:gd name="connsiteX1" fmla="*/ 1204332 w 1940313"/>
                <a:gd name="connsiteY1" fmla="*/ 0 h 111512"/>
                <a:gd name="connsiteX2" fmla="*/ 1940313 w 1940313"/>
                <a:gd name="connsiteY2" fmla="*/ 0 h 111512"/>
                <a:gd name="connsiteX3" fmla="*/ 1940313 w 1940313"/>
                <a:gd name="connsiteY3" fmla="*/ 0 h 111512"/>
                <a:gd name="connsiteX4" fmla="*/ 1672683 w 1940313"/>
                <a:gd name="connsiteY4" fmla="*/ 111512 h 1115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0313" h="111512">
                  <a:moveTo>
                    <a:pt x="0" y="0"/>
                  </a:moveTo>
                  <a:lnTo>
                    <a:pt x="1204332" y="0"/>
                  </a:lnTo>
                  <a:lnTo>
                    <a:pt x="1940313" y="0"/>
                  </a:lnTo>
                  <a:lnTo>
                    <a:pt x="1940313" y="0"/>
                  </a:lnTo>
                  <a:lnTo>
                    <a:pt x="1672683" y="111512"/>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a:extLst>
                <a:ext uri="{FF2B5EF4-FFF2-40B4-BE49-F238E27FC236}">
                  <a16:creationId xmlns:a16="http://schemas.microsoft.com/office/drawing/2014/main" id="{98101AF3-684E-C74D-BE43-276ED7355011}"/>
                </a:ext>
              </a:extLst>
            </p:cNvPr>
            <p:cNvSpPr/>
            <p:nvPr/>
          </p:nvSpPr>
          <p:spPr>
            <a:xfrm>
              <a:off x="5754114" y="6379939"/>
              <a:ext cx="264237" cy="107781"/>
            </a:xfrm>
            <a:custGeom>
              <a:avLst/>
              <a:gdLst>
                <a:gd name="connsiteX0" fmla="*/ 236422 w 236422"/>
                <a:gd name="connsiteY0" fmla="*/ 107781 h 107781"/>
                <a:gd name="connsiteX1" fmla="*/ 0 w 236422"/>
                <a:gd name="connsiteY1" fmla="*/ 0 h 107781"/>
              </a:gdLst>
              <a:ahLst/>
              <a:cxnLst>
                <a:cxn ang="0">
                  <a:pos x="connsiteX0" y="connsiteY0"/>
                </a:cxn>
                <a:cxn ang="0">
                  <a:pos x="connsiteX1" y="connsiteY1"/>
                </a:cxn>
              </a:cxnLst>
              <a:rect l="l" t="t" r="r" b="b"/>
              <a:pathLst>
                <a:path w="236422" h="107781">
                  <a:moveTo>
                    <a:pt x="236422" y="107781"/>
                  </a:moveTo>
                  <a:lnTo>
                    <a:pt x="0"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up 1">
            <a:extLst>
              <a:ext uri="{FF2B5EF4-FFF2-40B4-BE49-F238E27FC236}">
                <a16:creationId xmlns:a16="http://schemas.microsoft.com/office/drawing/2014/main" id="{A7058782-0FEB-3F4E-8ABF-DD05D2974305}"/>
              </a:ext>
            </a:extLst>
          </p:cNvPr>
          <p:cNvGrpSpPr/>
          <p:nvPr/>
        </p:nvGrpSpPr>
        <p:grpSpPr>
          <a:xfrm>
            <a:off x="2426431" y="2583232"/>
            <a:ext cx="2678938" cy="1664465"/>
            <a:chOff x="2426431" y="2583232"/>
            <a:chExt cx="2678938" cy="1664465"/>
          </a:xfrm>
        </p:grpSpPr>
        <p:sp>
          <p:nvSpPr>
            <p:cNvPr id="17" name="Freeform 16">
              <a:extLst>
                <a:ext uri="{FF2B5EF4-FFF2-40B4-BE49-F238E27FC236}">
                  <a16:creationId xmlns:a16="http://schemas.microsoft.com/office/drawing/2014/main" id="{A4AB96F4-8443-B542-8A2B-3F7C5326C821}"/>
                </a:ext>
              </a:extLst>
            </p:cNvPr>
            <p:cNvSpPr/>
            <p:nvPr/>
          </p:nvSpPr>
          <p:spPr>
            <a:xfrm>
              <a:off x="2536670" y="4056223"/>
              <a:ext cx="2491461" cy="1675"/>
            </a:xfrm>
            <a:custGeom>
              <a:avLst/>
              <a:gdLst>
                <a:gd name="connsiteX0" fmla="*/ 0 w 1812925"/>
                <a:gd name="connsiteY0" fmla="*/ 0 h 3175"/>
                <a:gd name="connsiteX1" fmla="*/ 396875 w 1812925"/>
                <a:gd name="connsiteY1" fmla="*/ 0 h 3175"/>
                <a:gd name="connsiteX2" fmla="*/ 765175 w 1812925"/>
                <a:gd name="connsiteY2" fmla="*/ 0 h 3175"/>
                <a:gd name="connsiteX3" fmla="*/ 1136650 w 1812925"/>
                <a:gd name="connsiteY3" fmla="*/ 3175 h 3175"/>
                <a:gd name="connsiteX4" fmla="*/ 1666875 w 1812925"/>
                <a:gd name="connsiteY4" fmla="*/ 0 h 3175"/>
                <a:gd name="connsiteX5" fmla="*/ 1812925 w 1812925"/>
                <a:gd name="connsiteY5" fmla="*/ 0 h 3175"/>
                <a:gd name="connsiteX0" fmla="*/ 0 w 10000"/>
                <a:gd name="connsiteY0" fmla="*/ 324 h 13657"/>
                <a:gd name="connsiteX1" fmla="*/ 2189 w 10000"/>
                <a:gd name="connsiteY1" fmla="*/ 324 h 13657"/>
                <a:gd name="connsiteX2" fmla="*/ 4221 w 10000"/>
                <a:gd name="connsiteY2" fmla="*/ 324 h 13657"/>
                <a:gd name="connsiteX3" fmla="*/ 6270 w 10000"/>
                <a:gd name="connsiteY3" fmla="*/ 10324 h 13657"/>
                <a:gd name="connsiteX4" fmla="*/ 9194 w 10000"/>
                <a:gd name="connsiteY4" fmla="*/ 324 h 13657"/>
                <a:gd name="connsiteX5" fmla="*/ 10000 w 10000"/>
                <a:gd name="connsiteY5" fmla="*/ 324 h 13657"/>
                <a:gd name="connsiteX0" fmla="*/ 0 w 10000"/>
                <a:gd name="connsiteY0" fmla="*/ 324 h 10325"/>
                <a:gd name="connsiteX1" fmla="*/ 2189 w 10000"/>
                <a:gd name="connsiteY1" fmla="*/ 324 h 10325"/>
                <a:gd name="connsiteX2" fmla="*/ 4221 w 10000"/>
                <a:gd name="connsiteY2" fmla="*/ 324 h 10325"/>
                <a:gd name="connsiteX3" fmla="*/ 6270 w 10000"/>
                <a:gd name="connsiteY3" fmla="*/ 10324 h 10325"/>
                <a:gd name="connsiteX4" fmla="*/ 9194 w 10000"/>
                <a:gd name="connsiteY4" fmla="*/ 324 h 10325"/>
                <a:gd name="connsiteX5" fmla="*/ 10000 w 10000"/>
                <a:gd name="connsiteY5" fmla="*/ 324 h 10325"/>
                <a:gd name="connsiteX0" fmla="*/ 0 w 10000"/>
                <a:gd name="connsiteY0" fmla="*/ 4444 h 14445"/>
                <a:gd name="connsiteX1" fmla="*/ 2189 w 10000"/>
                <a:gd name="connsiteY1" fmla="*/ 4444 h 14445"/>
                <a:gd name="connsiteX2" fmla="*/ 4221 w 10000"/>
                <a:gd name="connsiteY2" fmla="*/ 4444 h 14445"/>
                <a:gd name="connsiteX3" fmla="*/ 6270 w 10000"/>
                <a:gd name="connsiteY3" fmla="*/ 14444 h 14445"/>
                <a:gd name="connsiteX4" fmla="*/ 9194 w 10000"/>
                <a:gd name="connsiteY4" fmla="*/ 4444 h 14445"/>
                <a:gd name="connsiteX5" fmla="*/ 10000 w 10000"/>
                <a:gd name="connsiteY5" fmla="*/ 4444 h 14445"/>
                <a:gd name="connsiteX0" fmla="*/ 0 w 10000"/>
                <a:gd name="connsiteY0" fmla="*/ 324 h 10325"/>
                <a:gd name="connsiteX1" fmla="*/ 2189 w 10000"/>
                <a:gd name="connsiteY1" fmla="*/ 324 h 10325"/>
                <a:gd name="connsiteX2" fmla="*/ 4221 w 10000"/>
                <a:gd name="connsiteY2" fmla="*/ 324 h 10325"/>
                <a:gd name="connsiteX3" fmla="*/ 6270 w 10000"/>
                <a:gd name="connsiteY3" fmla="*/ 10324 h 10325"/>
                <a:gd name="connsiteX4" fmla="*/ 9194 w 10000"/>
                <a:gd name="connsiteY4" fmla="*/ 324 h 10325"/>
                <a:gd name="connsiteX5" fmla="*/ 10000 w 10000"/>
                <a:gd name="connsiteY5" fmla="*/ 324 h 10325"/>
                <a:gd name="connsiteX0" fmla="*/ 0 w 10000"/>
                <a:gd name="connsiteY0" fmla="*/ 324 h 4768"/>
                <a:gd name="connsiteX1" fmla="*/ 2189 w 10000"/>
                <a:gd name="connsiteY1" fmla="*/ 324 h 4768"/>
                <a:gd name="connsiteX2" fmla="*/ 4221 w 10000"/>
                <a:gd name="connsiteY2" fmla="*/ 324 h 4768"/>
                <a:gd name="connsiteX3" fmla="*/ 6296 w 10000"/>
                <a:gd name="connsiteY3" fmla="*/ 3769 h 4768"/>
                <a:gd name="connsiteX4" fmla="*/ 9194 w 10000"/>
                <a:gd name="connsiteY4" fmla="*/ 324 h 4768"/>
                <a:gd name="connsiteX5" fmla="*/ 10000 w 10000"/>
                <a:gd name="connsiteY5" fmla="*/ 324 h 4768"/>
                <a:gd name="connsiteX0" fmla="*/ 0 w 10000"/>
                <a:gd name="connsiteY0" fmla="*/ 915 h 8140"/>
                <a:gd name="connsiteX1" fmla="*/ 2189 w 10000"/>
                <a:gd name="connsiteY1" fmla="*/ 915 h 8140"/>
                <a:gd name="connsiteX2" fmla="*/ 3007 w 10000"/>
                <a:gd name="connsiteY2" fmla="*/ 0 h 8140"/>
                <a:gd name="connsiteX3" fmla="*/ 4221 w 10000"/>
                <a:gd name="connsiteY3" fmla="*/ 915 h 8140"/>
                <a:gd name="connsiteX4" fmla="*/ 6296 w 10000"/>
                <a:gd name="connsiteY4" fmla="*/ 8140 h 8140"/>
                <a:gd name="connsiteX5" fmla="*/ 9194 w 10000"/>
                <a:gd name="connsiteY5" fmla="*/ 915 h 8140"/>
                <a:gd name="connsiteX6" fmla="*/ 10000 w 10000"/>
                <a:gd name="connsiteY6" fmla="*/ 915 h 8140"/>
                <a:gd name="connsiteX0" fmla="*/ 0 w 10000"/>
                <a:gd name="connsiteY0" fmla="*/ 1124 h 1554"/>
                <a:gd name="connsiteX1" fmla="*/ 2189 w 10000"/>
                <a:gd name="connsiteY1" fmla="*/ 1124 h 1554"/>
                <a:gd name="connsiteX2" fmla="*/ 3007 w 10000"/>
                <a:gd name="connsiteY2" fmla="*/ 0 h 1554"/>
                <a:gd name="connsiteX3" fmla="*/ 4221 w 10000"/>
                <a:gd name="connsiteY3" fmla="*/ 1124 h 1554"/>
                <a:gd name="connsiteX4" fmla="*/ 6322 w 10000"/>
                <a:gd name="connsiteY4" fmla="*/ 1554 h 1554"/>
                <a:gd name="connsiteX5" fmla="*/ 9194 w 10000"/>
                <a:gd name="connsiteY5" fmla="*/ 1124 h 1554"/>
                <a:gd name="connsiteX6" fmla="*/ 10000 w 10000"/>
                <a:gd name="connsiteY6" fmla="*/ 1124 h 1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554">
                  <a:moveTo>
                    <a:pt x="0" y="1124"/>
                  </a:moveTo>
                  <a:cubicBezTo>
                    <a:pt x="730" y="1124"/>
                    <a:pt x="1688" y="1311"/>
                    <a:pt x="2189" y="1124"/>
                  </a:cubicBezTo>
                  <a:cubicBezTo>
                    <a:pt x="2690" y="937"/>
                    <a:pt x="2668" y="0"/>
                    <a:pt x="3007" y="0"/>
                  </a:cubicBezTo>
                  <a:cubicBezTo>
                    <a:pt x="3346" y="0"/>
                    <a:pt x="3679" y="1569"/>
                    <a:pt x="4221" y="1124"/>
                  </a:cubicBezTo>
                  <a:lnTo>
                    <a:pt x="6322" y="1554"/>
                  </a:lnTo>
                  <a:lnTo>
                    <a:pt x="9194" y="1124"/>
                  </a:lnTo>
                  <a:lnTo>
                    <a:pt x="10000" y="1124"/>
                  </a:lnTo>
                </a:path>
              </a:pathLst>
            </a:custGeom>
            <a:noFill/>
            <a:ln w="63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8" name="Freeform 17">
              <a:extLst>
                <a:ext uri="{FF2B5EF4-FFF2-40B4-BE49-F238E27FC236}">
                  <a16:creationId xmlns:a16="http://schemas.microsoft.com/office/drawing/2014/main" id="{D317F32E-9DED-B448-8B15-BBBE08352831}"/>
                </a:ext>
              </a:extLst>
            </p:cNvPr>
            <p:cNvSpPr/>
            <p:nvPr/>
          </p:nvSpPr>
          <p:spPr>
            <a:xfrm>
              <a:off x="2621779" y="3266954"/>
              <a:ext cx="525588" cy="790310"/>
            </a:xfrm>
            <a:custGeom>
              <a:avLst/>
              <a:gdLst>
                <a:gd name="connsiteX0" fmla="*/ 0 w 381000"/>
                <a:gd name="connsiteY0" fmla="*/ 1584325 h 1593850"/>
                <a:gd name="connsiteX1" fmla="*/ 3175 w 381000"/>
                <a:gd name="connsiteY1" fmla="*/ 1019175 h 1593850"/>
                <a:gd name="connsiteX2" fmla="*/ 9525 w 381000"/>
                <a:gd name="connsiteY2" fmla="*/ 469900 h 1593850"/>
                <a:gd name="connsiteX3" fmla="*/ 3175 w 381000"/>
                <a:gd name="connsiteY3" fmla="*/ 0 h 1593850"/>
                <a:gd name="connsiteX4" fmla="*/ 266700 w 381000"/>
                <a:gd name="connsiteY4" fmla="*/ 3175 h 1593850"/>
                <a:gd name="connsiteX5" fmla="*/ 381000 w 381000"/>
                <a:gd name="connsiteY5" fmla="*/ 3175 h 1593850"/>
                <a:gd name="connsiteX6" fmla="*/ 371475 w 381000"/>
                <a:gd name="connsiteY6" fmla="*/ 669925 h 1593850"/>
                <a:gd name="connsiteX7" fmla="*/ 371475 w 381000"/>
                <a:gd name="connsiteY7" fmla="*/ 1117600 h 1593850"/>
                <a:gd name="connsiteX8" fmla="*/ 371475 w 381000"/>
                <a:gd name="connsiteY8" fmla="*/ 1593850 h 1593850"/>
                <a:gd name="connsiteX9" fmla="*/ 146050 w 381000"/>
                <a:gd name="connsiteY9" fmla="*/ 1593850 h 1593850"/>
                <a:gd name="connsiteX10" fmla="*/ 0 w 381000"/>
                <a:gd name="connsiteY10" fmla="*/ 1584325 h 1593850"/>
                <a:gd name="connsiteX0" fmla="*/ 0 w 381000"/>
                <a:gd name="connsiteY0" fmla="*/ 1581150 h 1590675"/>
                <a:gd name="connsiteX1" fmla="*/ 3175 w 381000"/>
                <a:gd name="connsiteY1" fmla="*/ 1016000 h 1590675"/>
                <a:gd name="connsiteX2" fmla="*/ 9525 w 381000"/>
                <a:gd name="connsiteY2" fmla="*/ 466725 h 1590675"/>
                <a:gd name="connsiteX3" fmla="*/ 19050 w 381000"/>
                <a:gd name="connsiteY3" fmla="*/ 0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81150 h 1590675"/>
                <a:gd name="connsiteX1" fmla="*/ 3175 w 381000"/>
                <a:gd name="connsiteY1" fmla="*/ 1016000 h 1590675"/>
                <a:gd name="connsiteX2" fmla="*/ 9525 w 381000"/>
                <a:gd name="connsiteY2" fmla="*/ 466725 h 1590675"/>
                <a:gd name="connsiteX3" fmla="*/ 9525 w 381000"/>
                <a:gd name="connsiteY3" fmla="*/ 3175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97025 h 1597025"/>
                <a:gd name="connsiteX1" fmla="*/ 3175 w 381000"/>
                <a:gd name="connsiteY1" fmla="*/ 1016000 h 1597025"/>
                <a:gd name="connsiteX2" fmla="*/ 9525 w 381000"/>
                <a:gd name="connsiteY2" fmla="*/ 466725 h 1597025"/>
                <a:gd name="connsiteX3" fmla="*/ 9525 w 381000"/>
                <a:gd name="connsiteY3" fmla="*/ 3175 h 1597025"/>
                <a:gd name="connsiteX4" fmla="*/ 266700 w 381000"/>
                <a:gd name="connsiteY4" fmla="*/ 0 h 1597025"/>
                <a:gd name="connsiteX5" fmla="*/ 381000 w 381000"/>
                <a:gd name="connsiteY5" fmla="*/ 0 h 1597025"/>
                <a:gd name="connsiteX6" fmla="*/ 371475 w 381000"/>
                <a:gd name="connsiteY6" fmla="*/ 666750 h 1597025"/>
                <a:gd name="connsiteX7" fmla="*/ 371475 w 381000"/>
                <a:gd name="connsiteY7" fmla="*/ 1114425 h 1597025"/>
                <a:gd name="connsiteX8" fmla="*/ 371475 w 381000"/>
                <a:gd name="connsiteY8" fmla="*/ 1590675 h 1597025"/>
                <a:gd name="connsiteX9" fmla="*/ 146050 w 381000"/>
                <a:gd name="connsiteY9" fmla="*/ 1590675 h 1597025"/>
                <a:gd name="connsiteX10" fmla="*/ 0 w 381000"/>
                <a:gd name="connsiteY10" fmla="*/ 1597025 h 1597025"/>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146050 w 381000"/>
                <a:gd name="connsiteY9" fmla="*/ 1590675 h 1593850"/>
                <a:gd name="connsiteX10" fmla="*/ 0 w 381000"/>
                <a:gd name="connsiteY10" fmla="*/ 1593850 h 1593850"/>
                <a:gd name="connsiteX0" fmla="*/ 0 w 381000"/>
                <a:gd name="connsiteY0" fmla="*/ 1593850 h 1593870"/>
                <a:gd name="connsiteX1" fmla="*/ 3175 w 381000"/>
                <a:gd name="connsiteY1" fmla="*/ 1016000 h 1593870"/>
                <a:gd name="connsiteX2" fmla="*/ 9525 w 381000"/>
                <a:gd name="connsiteY2" fmla="*/ 466725 h 1593870"/>
                <a:gd name="connsiteX3" fmla="*/ 9525 w 381000"/>
                <a:gd name="connsiteY3" fmla="*/ 3175 h 1593870"/>
                <a:gd name="connsiteX4" fmla="*/ 266700 w 381000"/>
                <a:gd name="connsiteY4" fmla="*/ 0 h 1593870"/>
                <a:gd name="connsiteX5" fmla="*/ 381000 w 381000"/>
                <a:gd name="connsiteY5" fmla="*/ 0 h 1593870"/>
                <a:gd name="connsiteX6" fmla="*/ 371475 w 381000"/>
                <a:gd name="connsiteY6" fmla="*/ 666750 h 1593870"/>
                <a:gd name="connsiteX7" fmla="*/ 371475 w 381000"/>
                <a:gd name="connsiteY7" fmla="*/ 1114425 h 1593870"/>
                <a:gd name="connsiteX8" fmla="*/ 371475 w 381000"/>
                <a:gd name="connsiteY8" fmla="*/ 1590675 h 1593870"/>
                <a:gd name="connsiteX9" fmla="*/ 176292 w 381000"/>
                <a:gd name="connsiteY9" fmla="*/ 1593870 h 1593870"/>
                <a:gd name="connsiteX10" fmla="*/ 0 w 381000"/>
                <a:gd name="connsiteY10" fmla="*/ 1593850 h 1593870"/>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0 w 381000"/>
                <a:gd name="connsiteY9" fmla="*/ 1593850 h 1593850"/>
                <a:gd name="connsiteX0" fmla="*/ 0 w 381000"/>
                <a:gd name="connsiteY0" fmla="*/ 1593850 h 1600260"/>
                <a:gd name="connsiteX1" fmla="*/ 3175 w 381000"/>
                <a:gd name="connsiteY1" fmla="*/ 1016000 h 1600260"/>
                <a:gd name="connsiteX2" fmla="*/ 9525 w 381000"/>
                <a:gd name="connsiteY2" fmla="*/ 466725 h 1600260"/>
                <a:gd name="connsiteX3" fmla="*/ 9525 w 381000"/>
                <a:gd name="connsiteY3" fmla="*/ 3175 h 1600260"/>
                <a:gd name="connsiteX4" fmla="*/ 266700 w 381000"/>
                <a:gd name="connsiteY4" fmla="*/ 0 h 1600260"/>
                <a:gd name="connsiteX5" fmla="*/ 381000 w 381000"/>
                <a:gd name="connsiteY5" fmla="*/ 0 h 1600260"/>
                <a:gd name="connsiteX6" fmla="*/ 371475 w 381000"/>
                <a:gd name="connsiteY6" fmla="*/ 666750 h 1600260"/>
                <a:gd name="connsiteX7" fmla="*/ 371475 w 381000"/>
                <a:gd name="connsiteY7" fmla="*/ 1114425 h 1600260"/>
                <a:gd name="connsiteX8" fmla="*/ 371475 w 381000"/>
                <a:gd name="connsiteY8" fmla="*/ 1600260 h 1600260"/>
                <a:gd name="connsiteX9" fmla="*/ 0 w 381000"/>
                <a:gd name="connsiteY9" fmla="*/ 1593850 h 1600260"/>
                <a:gd name="connsiteX0" fmla="*/ 0 w 381000"/>
                <a:gd name="connsiteY0" fmla="*/ 1593850 h 1593871"/>
                <a:gd name="connsiteX1" fmla="*/ 3175 w 381000"/>
                <a:gd name="connsiteY1" fmla="*/ 1016000 h 1593871"/>
                <a:gd name="connsiteX2" fmla="*/ 9525 w 381000"/>
                <a:gd name="connsiteY2" fmla="*/ 466725 h 1593871"/>
                <a:gd name="connsiteX3" fmla="*/ 9525 w 381000"/>
                <a:gd name="connsiteY3" fmla="*/ 3175 h 1593871"/>
                <a:gd name="connsiteX4" fmla="*/ 266700 w 381000"/>
                <a:gd name="connsiteY4" fmla="*/ 0 h 1593871"/>
                <a:gd name="connsiteX5" fmla="*/ 381000 w 381000"/>
                <a:gd name="connsiteY5" fmla="*/ 0 h 1593871"/>
                <a:gd name="connsiteX6" fmla="*/ 371475 w 381000"/>
                <a:gd name="connsiteY6" fmla="*/ 666750 h 1593871"/>
                <a:gd name="connsiteX7" fmla="*/ 371475 w 381000"/>
                <a:gd name="connsiteY7" fmla="*/ 1114425 h 1593871"/>
                <a:gd name="connsiteX8" fmla="*/ 374835 w 381000"/>
                <a:gd name="connsiteY8" fmla="*/ 1593871 h 1593871"/>
                <a:gd name="connsiteX9" fmla="*/ 0 w 381000"/>
                <a:gd name="connsiteY9" fmla="*/ 1593850 h 1593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0" h="1593871">
                  <a:moveTo>
                    <a:pt x="0" y="1593850"/>
                  </a:moveTo>
                  <a:cubicBezTo>
                    <a:pt x="1058" y="1405467"/>
                    <a:pt x="2117" y="1204383"/>
                    <a:pt x="3175" y="1016000"/>
                  </a:cubicBezTo>
                  <a:cubicBezTo>
                    <a:pt x="5292" y="832908"/>
                    <a:pt x="7408" y="649817"/>
                    <a:pt x="9525" y="466725"/>
                  </a:cubicBezTo>
                  <a:cubicBezTo>
                    <a:pt x="7408" y="310092"/>
                    <a:pt x="11642" y="159808"/>
                    <a:pt x="9525" y="3175"/>
                  </a:cubicBezTo>
                  <a:lnTo>
                    <a:pt x="266700" y="0"/>
                  </a:lnTo>
                  <a:lnTo>
                    <a:pt x="381000" y="0"/>
                  </a:lnTo>
                  <a:lnTo>
                    <a:pt x="371475" y="666750"/>
                  </a:lnTo>
                  <a:cubicBezTo>
                    <a:pt x="371475" y="815975"/>
                    <a:pt x="370915" y="959905"/>
                    <a:pt x="371475" y="1114425"/>
                  </a:cubicBezTo>
                  <a:cubicBezTo>
                    <a:pt x="372035" y="1268945"/>
                    <a:pt x="373715" y="1434056"/>
                    <a:pt x="374835" y="1593871"/>
                  </a:cubicBezTo>
                  <a:lnTo>
                    <a:pt x="0" y="159385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9" name="Freeform 18">
              <a:extLst>
                <a:ext uri="{FF2B5EF4-FFF2-40B4-BE49-F238E27FC236}">
                  <a16:creationId xmlns:a16="http://schemas.microsoft.com/office/drawing/2014/main" id="{E9F93249-DBCE-1A44-97B8-4D06D8B4237B}"/>
                </a:ext>
              </a:extLst>
            </p:cNvPr>
            <p:cNvSpPr/>
            <p:nvPr/>
          </p:nvSpPr>
          <p:spPr>
            <a:xfrm>
              <a:off x="3258834" y="3266225"/>
              <a:ext cx="525588" cy="790310"/>
            </a:xfrm>
            <a:custGeom>
              <a:avLst/>
              <a:gdLst>
                <a:gd name="connsiteX0" fmla="*/ 0 w 381000"/>
                <a:gd name="connsiteY0" fmla="*/ 1584325 h 1593850"/>
                <a:gd name="connsiteX1" fmla="*/ 3175 w 381000"/>
                <a:gd name="connsiteY1" fmla="*/ 1019175 h 1593850"/>
                <a:gd name="connsiteX2" fmla="*/ 9525 w 381000"/>
                <a:gd name="connsiteY2" fmla="*/ 469900 h 1593850"/>
                <a:gd name="connsiteX3" fmla="*/ 3175 w 381000"/>
                <a:gd name="connsiteY3" fmla="*/ 0 h 1593850"/>
                <a:gd name="connsiteX4" fmla="*/ 266700 w 381000"/>
                <a:gd name="connsiteY4" fmla="*/ 3175 h 1593850"/>
                <a:gd name="connsiteX5" fmla="*/ 381000 w 381000"/>
                <a:gd name="connsiteY5" fmla="*/ 3175 h 1593850"/>
                <a:gd name="connsiteX6" fmla="*/ 371475 w 381000"/>
                <a:gd name="connsiteY6" fmla="*/ 669925 h 1593850"/>
                <a:gd name="connsiteX7" fmla="*/ 371475 w 381000"/>
                <a:gd name="connsiteY7" fmla="*/ 1117600 h 1593850"/>
                <a:gd name="connsiteX8" fmla="*/ 371475 w 381000"/>
                <a:gd name="connsiteY8" fmla="*/ 1593850 h 1593850"/>
                <a:gd name="connsiteX9" fmla="*/ 146050 w 381000"/>
                <a:gd name="connsiteY9" fmla="*/ 1593850 h 1593850"/>
                <a:gd name="connsiteX10" fmla="*/ 0 w 381000"/>
                <a:gd name="connsiteY10" fmla="*/ 1584325 h 1593850"/>
                <a:gd name="connsiteX0" fmla="*/ 0 w 381000"/>
                <a:gd name="connsiteY0" fmla="*/ 1581150 h 1590675"/>
                <a:gd name="connsiteX1" fmla="*/ 3175 w 381000"/>
                <a:gd name="connsiteY1" fmla="*/ 1016000 h 1590675"/>
                <a:gd name="connsiteX2" fmla="*/ 9525 w 381000"/>
                <a:gd name="connsiteY2" fmla="*/ 466725 h 1590675"/>
                <a:gd name="connsiteX3" fmla="*/ 19050 w 381000"/>
                <a:gd name="connsiteY3" fmla="*/ 0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81150 h 1590675"/>
                <a:gd name="connsiteX1" fmla="*/ 3175 w 381000"/>
                <a:gd name="connsiteY1" fmla="*/ 1016000 h 1590675"/>
                <a:gd name="connsiteX2" fmla="*/ 9525 w 381000"/>
                <a:gd name="connsiteY2" fmla="*/ 466725 h 1590675"/>
                <a:gd name="connsiteX3" fmla="*/ 9525 w 381000"/>
                <a:gd name="connsiteY3" fmla="*/ 3175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97025 h 1597025"/>
                <a:gd name="connsiteX1" fmla="*/ 3175 w 381000"/>
                <a:gd name="connsiteY1" fmla="*/ 1016000 h 1597025"/>
                <a:gd name="connsiteX2" fmla="*/ 9525 w 381000"/>
                <a:gd name="connsiteY2" fmla="*/ 466725 h 1597025"/>
                <a:gd name="connsiteX3" fmla="*/ 9525 w 381000"/>
                <a:gd name="connsiteY3" fmla="*/ 3175 h 1597025"/>
                <a:gd name="connsiteX4" fmla="*/ 266700 w 381000"/>
                <a:gd name="connsiteY4" fmla="*/ 0 h 1597025"/>
                <a:gd name="connsiteX5" fmla="*/ 381000 w 381000"/>
                <a:gd name="connsiteY5" fmla="*/ 0 h 1597025"/>
                <a:gd name="connsiteX6" fmla="*/ 371475 w 381000"/>
                <a:gd name="connsiteY6" fmla="*/ 666750 h 1597025"/>
                <a:gd name="connsiteX7" fmla="*/ 371475 w 381000"/>
                <a:gd name="connsiteY7" fmla="*/ 1114425 h 1597025"/>
                <a:gd name="connsiteX8" fmla="*/ 371475 w 381000"/>
                <a:gd name="connsiteY8" fmla="*/ 1590675 h 1597025"/>
                <a:gd name="connsiteX9" fmla="*/ 146050 w 381000"/>
                <a:gd name="connsiteY9" fmla="*/ 1590675 h 1597025"/>
                <a:gd name="connsiteX10" fmla="*/ 0 w 381000"/>
                <a:gd name="connsiteY10" fmla="*/ 1597025 h 1597025"/>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146050 w 381000"/>
                <a:gd name="connsiteY9" fmla="*/ 1590675 h 1593850"/>
                <a:gd name="connsiteX10" fmla="*/ 0 w 381000"/>
                <a:gd name="connsiteY10" fmla="*/ 1593850 h 1593850"/>
                <a:gd name="connsiteX0" fmla="*/ 0 w 381000"/>
                <a:gd name="connsiteY0" fmla="*/ 1593850 h 1593870"/>
                <a:gd name="connsiteX1" fmla="*/ 3175 w 381000"/>
                <a:gd name="connsiteY1" fmla="*/ 1016000 h 1593870"/>
                <a:gd name="connsiteX2" fmla="*/ 9525 w 381000"/>
                <a:gd name="connsiteY2" fmla="*/ 466725 h 1593870"/>
                <a:gd name="connsiteX3" fmla="*/ 9525 w 381000"/>
                <a:gd name="connsiteY3" fmla="*/ 3175 h 1593870"/>
                <a:gd name="connsiteX4" fmla="*/ 266700 w 381000"/>
                <a:gd name="connsiteY4" fmla="*/ 0 h 1593870"/>
                <a:gd name="connsiteX5" fmla="*/ 381000 w 381000"/>
                <a:gd name="connsiteY5" fmla="*/ 0 h 1593870"/>
                <a:gd name="connsiteX6" fmla="*/ 371475 w 381000"/>
                <a:gd name="connsiteY6" fmla="*/ 666750 h 1593870"/>
                <a:gd name="connsiteX7" fmla="*/ 371475 w 381000"/>
                <a:gd name="connsiteY7" fmla="*/ 1114425 h 1593870"/>
                <a:gd name="connsiteX8" fmla="*/ 371475 w 381000"/>
                <a:gd name="connsiteY8" fmla="*/ 1590675 h 1593870"/>
                <a:gd name="connsiteX9" fmla="*/ 176292 w 381000"/>
                <a:gd name="connsiteY9" fmla="*/ 1593870 h 1593870"/>
                <a:gd name="connsiteX10" fmla="*/ 0 w 381000"/>
                <a:gd name="connsiteY10" fmla="*/ 1593850 h 1593870"/>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0 w 381000"/>
                <a:gd name="connsiteY9" fmla="*/ 1593850 h 1593850"/>
                <a:gd name="connsiteX0" fmla="*/ 0 w 381000"/>
                <a:gd name="connsiteY0" fmla="*/ 1593850 h 1600260"/>
                <a:gd name="connsiteX1" fmla="*/ 3175 w 381000"/>
                <a:gd name="connsiteY1" fmla="*/ 1016000 h 1600260"/>
                <a:gd name="connsiteX2" fmla="*/ 9525 w 381000"/>
                <a:gd name="connsiteY2" fmla="*/ 466725 h 1600260"/>
                <a:gd name="connsiteX3" fmla="*/ 9525 w 381000"/>
                <a:gd name="connsiteY3" fmla="*/ 3175 h 1600260"/>
                <a:gd name="connsiteX4" fmla="*/ 266700 w 381000"/>
                <a:gd name="connsiteY4" fmla="*/ 0 h 1600260"/>
                <a:gd name="connsiteX5" fmla="*/ 381000 w 381000"/>
                <a:gd name="connsiteY5" fmla="*/ 0 h 1600260"/>
                <a:gd name="connsiteX6" fmla="*/ 371475 w 381000"/>
                <a:gd name="connsiteY6" fmla="*/ 666750 h 1600260"/>
                <a:gd name="connsiteX7" fmla="*/ 371475 w 381000"/>
                <a:gd name="connsiteY7" fmla="*/ 1114425 h 1600260"/>
                <a:gd name="connsiteX8" fmla="*/ 371475 w 381000"/>
                <a:gd name="connsiteY8" fmla="*/ 1600260 h 1600260"/>
                <a:gd name="connsiteX9" fmla="*/ 0 w 381000"/>
                <a:gd name="connsiteY9" fmla="*/ 1593850 h 1600260"/>
                <a:gd name="connsiteX0" fmla="*/ 0 w 381000"/>
                <a:gd name="connsiteY0" fmla="*/ 1593850 h 1593871"/>
                <a:gd name="connsiteX1" fmla="*/ 3175 w 381000"/>
                <a:gd name="connsiteY1" fmla="*/ 1016000 h 1593871"/>
                <a:gd name="connsiteX2" fmla="*/ 9525 w 381000"/>
                <a:gd name="connsiteY2" fmla="*/ 466725 h 1593871"/>
                <a:gd name="connsiteX3" fmla="*/ 9525 w 381000"/>
                <a:gd name="connsiteY3" fmla="*/ 3175 h 1593871"/>
                <a:gd name="connsiteX4" fmla="*/ 266700 w 381000"/>
                <a:gd name="connsiteY4" fmla="*/ 0 h 1593871"/>
                <a:gd name="connsiteX5" fmla="*/ 381000 w 381000"/>
                <a:gd name="connsiteY5" fmla="*/ 0 h 1593871"/>
                <a:gd name="connsiteX6" fmla="*/ 371475 w 381000"/>
                <a:gd name="connsiteY6" fmla="*/ 666750 h 1593871"/>
                <a:gd name="connsiteX7" fmla="*/ 371475 w 381000"/>
                <a:gd name="connsiteY7" fmla="*/ 1114425 h 1593871"/>
                <a:gd name="connsiteX8" fmla="*/ 374835 w 381000"/>
                <a:gd name="connsiteY8" fmla="*/ 1593871 h 1593871"/>
                <a:gd name="connsiteX9" fmla="*/ 0 w 381000"/>
                <a:gd name="connsiteY9" fmla="*/ 1593850 h 1593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0" h="1593871">
                  <a:moveTo>
                    <a:pt x="0" y="1593850"/>
                  </a:moveTo>
                  <a:cubicBezTo>
                    <a:pt x="1058" y="1405467"/>
                    <a:pt x="2117" y="1204383"/>
                    <a:pt x="3175" y="1016000"/>
                  </a:cubicBezTo>
                  <a:cubicBezTo>
                    <a:pt x="5292" y="832908"/>
                    <a:pt x="7408" y="649817"/>
                    <a:pt x="9525" y="466725"/>
                  </a:cubicBezTo>
                  <a:cubicBezTo>
                    <a:pt x="7408" y="310092"/>
                    <a:pt x="11642" y="159808"/>
                    <a:pt x="9525" y="3175"/>
                  </a:cubicBezTo>
                  <a:lnTo>
                    <a:pt x="266700" y="0"/>
                  </a:lnTo>
                  <a:lnTo>
                    <a:pt x="381000" y="0"/>
                  </a:lnTo>
                  <a:lnTo>
                    <a:pt x="371475" y="666750"/>
                  </a:lnTo>
                  <a:cubicBezTo>
                    <a:pt x="371475" y="815975"/>
                    <a:pt x="370915" y="959905"/>
                    <a:pt x="371475" y="1114425"/>
                  </a:cubicBezTo>
                  <a:cubicBezTo>
                    <a:pt x="372035" y="1268945"/>
                    <a:pt x="373715" y="1434056"/>
                    <a:pt x="374835" y="1593871"/>
                  </a:cubicBezTo>
                  <a:lnTo>
                    <a:pt x="0" y="159385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4" name="Freeform 23">
              <a:extLst>
                <a:ext uri="{FF2B5EF4-FFF2-40B4-BE49-F238E27FC236}">
                  <a16:creationId xmlns:a16="http://schemas.microsoft.com/office/drawing/2014/main" id="{584D7B8E-49C8-A24D-A4F4-D3ECED53DAF1}"/>
                </a:ext>
              </a:extLst>
            </p:cNvPr>
            <p:cNvSpPr/>
            <p:nvPr/>
          </p:nvSpPr>
          <p:spPr>
            <a:xfrm>
              <a:off x="4332055" y="3273000"/>
              <a:ext cx="525588" cy="790310"/>
            </a:xfrm>
            <a:custGeom>
              <a:avLst/>
              <a:gdLst>
                <a:gd name="connsiteX0" fmla="*/ 0 w 381000"/>
                <a:gd name="connsiteY0" fmla="*/ 1584325 h 1593850"/>
                <a:gd name="connsiteX1" fmla="*/ 3175 w 381000"/>
                <a:gd name="connsiteY1" fmla="*/ 1019175 h 1593850"/>
                <a:gd name="connsiteX2" fmla="*/ 9525 w 381000"/>
                <a:gd name="connsiteY2" fmla="*/ 469900 h 1593850"/>
                <a:gd name="connsiteX3" fmla="*/ 3175 w 381000"/>
                <a:gd name="connsiteY3" fmla="*/ 0 h 1593850"/>
                <a:gd name="connsiteX4" fmla="*/ 266700 w 381000"/>
                <a:gd name="connsiteY4" fmla="*/ 3175 h 1593850"/>
                <a:gd name="connsiteX5" fmla="*/ 381000 w 381000"/>
                <a:gd name="connsiteY5" fmla="*/ 3175 h 1593850"/>
                <a:gd name="connsiteX6" fmla="*/ 371475 w 381000"/>
                <a:gd name="connsiteY6" fmla="*/ 669925 h 1593850"/>
                <a:gd name="connsiteX7" fmla="*/ 371475 w 381000"/>
                <a:gd name="connsiteY7" fmla="*/ 1117600 h 1593850"/>
                <a:gd name="connsiteX8" fmla="*/ 371475 w 381000"/>
                <a:gd name="connsiteY8" fmla="*/ 1593850 h 1593850"/>
                <a:gd name="connsiteX9" fmla="*/ 146050 w 381000"/>
                <a:gd name="connsiteY9" fmla="*/ 1593850 h 1593850"/>
                <a:gd name="connsiteX10" fmla="*/ 0 w 381000"/>
                <a:gd name="connsiteY10" fmla="*/ 1584325 h 1593850"/>
                <a:gd name="connsiteX0" fmla="*/ 0 w 381000"/>
                <a:gd name="connsiteY0" fmla="*/ 1581150 h 1590675"/>
                <a:gd name="connsiteX1" fmla="*/ 3175 w 381000"/>
                <a:gd name="connsiteY1" fmla="*/ 1016000 h 1590675"/>
                <a:gd name="connsiteX2" fmla="*/ 9525 w 381000"/>
                <a:gd name="connsiteY2" fmla="*/ 466725 h 1590675"/>
                <a:gd name="connsiteX3" fmla="*/ 19050 w 381000"/>
                <a:gd name="connsiteY3" fmla="*/ 0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81150 h 1590675"/>
                <a:gd name="connsiteX1" fmla="*/ 3175 w 381000"/>
                <a:gd name="connsiteY1" fmla="*/ 1016000 h 1590675"/>
                <a:gd name="connsiteX2" fmla="*/ 9525 w 381000"/>
                <a:gd name="connsiteY2" fmla="*/ 466725 h 1590675"/>
                <a:gd name="connsiteX3" fmla="*/ 9525 w 381000"/>
                <a:gd name="connsiteY3" fmla="*/ 3175 h 1590675"/>
                <a:gd name="connsiteX4" fmla="*/ 266700 w 381000"/>
                <a:gd name="connsiteY4" fmla="*/ 0 h 1590675"/>
                <a:gd name="connsiteX5" fmla="*/ 381000 w 381000"/>
                <a:gd name="connsiteY5" fmla="*/ 0 h 1590675"/>
                <a:gd name="connsiteX6" fmla="*/ 371475 w 381000"/>
                <a:gd name="connsiteY6" fmla="*/ 666750 h 1590675"/>
                <a:gd name="connsiteX7" fmla="*/ 371475 w 381000"/>
                <a:gd name="connsiteY7" fmla="*/ 1114425 h 1590675"/>
                <a:gd name="connsiteX8" fmla="*/ 371475 w 381000"/>
                <a:gd name="connsiteY8" fmla="*/ 1590675 h 1590675"/>
                <a:gd name="connsiteX9" fmla="*/ 146050 w 381000"/>
                <a:gd name="connsiteY9" fmla="*/ 1590675 h 1590675"/>
                <a:gd name="connsiteX10" fmla="*/ 0 w 381000"/>
                <a:gd name="connsiteY10" fmla="*/ 1581150 h 1590675"/>
                <a:gd name="connsiteX0" fmla="*/ 0 w 381000"/>
                <a:gd name="connsiteY0" fmla="*/ 1597025 h 1597025"/>
                <a:gd name="connsiteX1" fmla="*/ 3175 w 381000"/>
                <a:gd name="connsiteY1" fmla="*/ 1016000 h 1597025"/>
                <a:gd name="connsiteX2" fmla="*/ 9525 w 381000"/>
                <a:gd name="connsiteY2" fmla="*/ 466725 h 1597025"/>
                <a:gd name="connsiteX3" fmla="*/ 9525 w 381000"/>
                <a:gd name="connsiteY3" fmla="*/ 3175 h 1597025"/>
                <a:gd name="connsiteX4" fmla="*/ 266700 w 381000"/>
                <a:gd name="connsiteY4" fmla="*/ 0 h 1597025"/>
                <a:gd name="connsiteX5" fmla="*/ 381000 w 381000"/>
                <a:gd name="connsiteY5" fmla="*/ 0 h 1597025"/>
                <a:gd name="connsiteX6" fmla="*/ 371475 w 381000"/>
                <a:gd name="connsiteY6" fmla="*/ 666750 h 1597025"/>
                <a:gd name="connsiteX7" fmla="*/ 371475 w 381000"/>
                <a:gd name="connsiteY7" fmla="*/ 1114425 h 1597025"/>
                <a:gd name="connsiteX8" fmla="*/ 371475 w 381000"/>
                <a:gd name="connsiteY8" fmla="*/ 1590675 h 1597025"/>
                <a:gd name="connsiteX9" fmla="*/ 146050 w 381000"/>
                <a:gd name="connsiteY9" fmla="*/ 1590675 h 1597025"/>
                <a:gd name="connsiteX10" fmla="*/ 0 w 381000"/>
                <a:gd name="connsiteY10" fmla="*/ 1597025 h 1597025"/>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146050 w 381000"/>
                <a:gd name="connsiteY9" fmla="*/ 1590675 h 1593850"/>
                <a:gd name="connsiteX10" fmla="*/ 0 w 381000"/>
                <a:gd name="connsiteY10" fmla="*/ 1593850 h 1593850"/>
                <a:gd name="connsiteX0" fmla="*/ 0 w 381000"/>
                <a:gd name="connsiteY0" fmla="*/ 1593850 h 1593870"/>
                <a:gd name="connsiteX1" fmla="*/ 3175 w 381000"/>
                <a:gd name="connsiteY1" fmla="*/ 1016000 h 1593870"/>
                <a:gd name="connsiteX2" fmla="*/ 9525 w 381000"/>
                <a:gd name="connsiteY2" fmla="*/ 466725 h 1593870"/>
                <a:gd name="connsiteX3" fmla="*/ 9525 w 381000"/>
                <a:gd name="connsiteY3" fmla="*/ 3175 h 1593870"/>
                <a:gd name="connsiteX4" fmla="*/ 266700 w 381000"/>
                <a:gd name="connsiteY4" fmla="*/ 0 h 1593870"/>
                <a:gd name="connsiteX5" fmla="*/ 381000 w 381000"/>
                <a:gd name="connsiteY5" fmla="*/ 0 h 1593870"/>
                <a:gd name="connsiteX6" fmla="*/ 371475 w 381000"/>
                <a:gd name="connsiteY6" fmla="*/ 666750 h 1593870"/>
                <a:gd name="connsiteX7" fmla="*/ 371475 w 381000"/>
                <a:gd name="connsiteY7" fmla="*/ 1114425 h 1593870"/>
                <a:gd name="connsiteX8" fmla="*/ 371475 w 381000"/>
                <a:gd name="connsiteY8" fmla="*/ 1590675 h 1593870"/>
                <a:gd name="connsiteX9" fmla="*/ 176292 w 381000"/>
                <a:gd name="connsiteY9" fmla="*/ 1593870 h 1593870"/>
                <a:gd name="connsiteX10" fmla="*/ 0 w 381000"/>
                <a:gd name="connsiteY10" fmla="*/ 1593850 h 1593870"/>
                <a:gd name="connsiteX0" fmla="*/ 0 w 381000"/>
                <a:gd name="connsiteY0" fmla="*/ 1593850 h 1593850"/>
                <a:gd name="connsiteX1" fmla="*/ 3175 w 381000"/>
                <a:gd name="connsiteY1" fmla="*/ 1016000 h 1593850"/>
                <a:gd name="connsiteX2" fmla="*/ 9525 w 381000"/>
                <a:gd name="connsiteY2" fmla="*/ 466725 h 1593850"/>
                <a:gd name="connsiteX3" fmla="*/ 9525 w 381000"/>
                <a:gd name="connsiteY3" fmla="*/ 3175 h 1593850"/>
                <a:gd name="connsiteX4" fmla="*/ 266700 w 381000"/>
                <a:gd name="connsiteY4" fmla="*/ 0 h 1593850"/>
                <a:gd name="connsiteX5" fmla="*/ 381000 w 381000"/>
                <a:gd name="connsiteY5" fmla="*/ 0 h 1593850"/>
                <a:gd name="connsiteX6" fmla="*/ 371475 w 381000"/>
                <a:gd name="connsiteY6" fmla="*/ 666750 h 1593850"/>
                <a:gd name="connsiteX7" fmla="*/ 371475 w 381000"/>
                <a:gd name="connsiteY7" fmla="*/ 1114425 h 1593850"/>
                <a:gd name="connsiteX8" fmla="*/ 371475 w 381000"/>
                <a:gd name="connsiteY8" fmla="*/ 1590675 h 1593850"/>
                <a:gd name="connsiteX9" fmla="*/ 0 w 381000"/>
                <a:gd name="connsiteY9" fmla="*/ 1593850 h 1593850"/>
                <a:gd name="connsiteX0" fmla="*/ 0 w 381000"/>
                <a:gd name="connsiteY0" fmla="*/ 1593850 h 1600260"/>
                <a:gd name="connsiteX1" fmla="*/ 3175 w 381000"/>
                <a:gd name="connsiteY1" fmla="*/ 1016000 h 1600260"/>
                <a:gd name="connsiteX2" fmla="*/ 9525 w 381000"/>
                <a:gd name="connsiteY2" fmla="*/ 466725 h 1600260"/>
                <a:gd name="connsiteX3" fmla="*/ 9525 w 381000"/>
                <a:gd name="connsiteY3" fmla="*/ 3175 h 1600260"/>
                <a:gd name="connsiteX4" fmla="*/ 266700 w 381000"/>
                <a:gd name="connsiteY4" fmla="*/ 0 h 1600260"/>
                <a:gd name="connsiteX5" fmla="*/ 381000 w 381000"/>
                <a:gd name="connsiteY5" fmla="*/ 0 h 1600260"/>
                <a:gd name="connsiteX6" fmla="*/ 371475 w 381000"/>
                <a:gd name="connsiteY6" fmla="*/ 666750 h 1600260"/>
                <a:gd name="connsiteX7" fmla="*/ 371475 w 381000"/>
                <a:gd name="connsiteY7" fmla="*/ 1114425 h 1600260"/>
                <a:gd name="connsiteX8" fmla="*/ 371475 w 381000"/>
                <a:gd name="connsiteY8" fmla="*/ 1600260 h 1600260"/>
                <a:gd name="connsiteX9" fmla="*/ 0 w 381000"/>
                <a:gd name="connsiteY9" fmla="*/ 1593850 h 1600260"/>
                <a:gd name="connsiteX0" fmla="*/ 0 w 381000"/>
                <a:gd name="connsiteY0" fmla="*/ 1593850 h 1593871"/>
                <a:gd name="connsiteX1" fmla="*/ 3175 w 381000"/>
                <a:gd name="connsiteY1" fmla="*/ 1016000 h 1593871"/>
                <a:gd name="connsiteX2" fmla="*/ 9525 w 381000"/>
                <a:gd name="connsiteY2" fmla="*/ 466725 h 1593871"/>
                <a:gd name="connsiteX3" fmla="*/ 9525 w 381000"/>
                <a:gd name="connsiteY3" fmla="*/ 3175 h 1593871"/>
                <a:gd name="connsiteX4" fmla="*/ 266700 w 381000"/>
                <a:gd name="connsiteY4" fmla="*/ 0 h 1593871"/>
                <a:gd name="connsiteX5" fmla="*/ 381000 w 381000"/>
                <a:gd name="connsiteY5" fmla="*/ 0 h 1593871"/>
                <a:gd name="connsiteX6" fmla="*/ 371475 w 381000"/>
                <a:gd name="connsiteY6" fmla="*/ 666750 h 1593871"/>
                <a:gd name="connsiteX7" fmla="*/ 371475 w 381000"/>
                <a:gd name="connsiteY7" fmla="*/ 1114425 h 1593871"/>
                <a:gd name="connsiteX8" fmla="*/ 374835 w 381000"/>
                <a:gd name="connsiteY8" fmla="*/ 1593871 h 1593871"/>
                <a:gd name="connsiteX9" fmla="*/ 0 w 381000"/>
                <a:gd name="connsiteY9" fmla="*/ 1593850 h 1593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0" h="1593871">
                  <a:moveTo>
                    <a:pt x="0" y="1593850"/>
                  </a:moveTo>
                  <a:cubicBezTo>
                    <a:pt x="1058" y="1405467"/>
                    <a:pt x="2117" y="1204383"/>
                    <a:pt x="3175" y="1016000"/>
                  </a:cubicBezTo>
                  <a:cubicBezTo>
                    <a:pt x="5292" y="832908"/>
                    <a:pt x="7408" y="649817"/>
                    <a:pt x="9525" y="466725"/>
                  </a:cubicBezTo>
                  <a:cubicBezTo>
                    <a:pt x="7408" y="310092"/>
                    <a:pt x="11642" y="159808"/>
                    <a:pt x="9525" y="3175"/>
                  </a:cubicBezTo>
                  <a:lnTo>
                    <a:pt x="266700" y="0"/>
                  </a:lnTo>
                  <a:lnTo>
                    <a:pt x="381000" y="0"/>
                  </a:lnTo>
                  <a:lnTo>
                    <a:pt x="371475" y="666750"/>
                  </a:lnTo>
                  <a:cubicBezTo>
                    <a:pt x="371475" y="815975"/>
                    <a:pt x="370915" y="959905"/>
                    <a:pt x="371475" y="1114425"/>
                  </a:cubicBezTo>
                  <a:cubicBezTo>
                    <a:pt x="372035" y="1268945"/>
                    <a:pt x="373715" y="1434056"/>
                    <a:pt x="374835" y="1593871"/>
                  </a:cubicBezTo>
                  <a:lnTo>
                    <a:pt x="0" y="159385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Oval 24">
              <a:extLst>
                <a:ext uri="{FF2B5EF4-FFF2-40B4-BE49-F238E27FC236}">
                  <a16:creationId xmlns:a16="http://schemas.microsoft.com/office/drawing/2014/main" id="{A2EC3BC6-DAE9-E647-97DB-52579F228925}"/>
                </a:ext>
              </a:extLst>
            </p:cNvPr>
            <p:cNvSpPr/>
            <p:nvPr/>
          </p:nvSpPr>
          <p:spPr>
            <a:xfrm>
              <a:off x="3870997" y="4179956"/>
              <a:ext cx="95330" cy="67741"/>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135371EC-E032-BE44-ADC4-68071CA44A69}"/>
                </a:ext>
              </a:extLst>
            </p:cNvPr>
            <p:cNvSpPr/>
            <p:nvPr/>
          </p:nvSpPr>
          <p:spPr>
            <a:xfrm>
              <a:off x="4031001" y="4179956"/>
              <a:ext cx="95330" cy="67741"/>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AB017C69-270E-DD40-B7E9-A1E380E45A15}"/>
                </a:ext>
              </a:extLst>
            </p:cNvPr>
            <p:cNvSpPr/>
            <p:nvPr/>
          </p:nvSpPr>
          <p:spPr>
            <a:xfrm>
              <a:off x="4191005" y="4179956"/>
              <a:ext cx="95330" cy="67741"/>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8701CBE-7C6F-6844-8A69-F4010CB3E531}"/>
                </a:ext>
              </a:extLst>
            </p:cNvPr>
            <p:cNvSpPr/>
            <p:nvPr/>
          </p:nvSpPr>
          <p:spPr>
            <a:xfrm>
              <a:off x="2426431" y="2583232"/>
              <a:ext cx="2678938" cy="923330"/>
            </a:xfrm>
            <a:prstGeom prst="rect">
              <a:avLst/>
            </a:prstGeom>
          </p:spPr>
          <p:txBody>
            <a:bodyPr wrap="none">
              <a:spAutoFit/>
            </a:bodyPr>
            <a:lstStyle/>
            <a:p>
              <a:r>
                <a:rPr lang="en-US" dirty="0">
                  <a:latin typeface="Comic Sans MS" panose="030F0902030302020204" pitchFamily="66" charset="0"/>
                </a:rPr>
                <a:t>|0…0⟩-</a:t>
              </a:r>
              <a:r>
                <a:rPr lang="en-US" dirty="0">
                  <a:solidFill>
                    <a:srgbClr val="FF0000"/>
                  </a:solidFill>
                  <a:latin typeface="Comic Sans MS" panose="030F0902030302020204" pitchFamily="66" charset="0"/>
                </a:rPr>
                <a:t>|0…1⟩</a:t>
              </a:r>
              <a:r>
                <a:rPr lang="en-US" dirty="0">
                  <a:latin typeface="Comic Sans MS" panose="030F0902030302020204" pitchFamily="66" charset="0"/>
                </a:rPr>
                <a:t> + … + |1…1⟩</a:t>
              </a:r>
            </a:p>
            <a:p>
              <a:endParaRPr lang="en-US" dirty="0">
                <a:latin typeface="Comic Sans MS" panose="030F0902030302020204" pitchFamily="66" charset="0"/>
              </a:endParaRPr>
            </a:p>
            <a:p>
              <a:endParaRPr lang="en-US" dirty="0">
                <a:latin typeface="Comic Sans MS" panose="030F0902030302020204" pitchFamily="66" charset="0"/>
              </a:endParaRPr>
            </a:p>
          </p:txBody>
        </p:sp>
        <p:sp>
          <p:nvSpPr>
            <p:cNvPr id="12" name="Rectangle 11">
              <a:extLst>
                <a:ext uri="{FF2B5EF4-FFF2-40B4-BE49-F238E27FC236}">
                  <a16:creationId xmlns:a16="http://schemas.microsoft.com/office/drawing/2014/main" id="{9F213431-871B-E14B-A771-7A5EF2DE1E71}"/>
                </a:ext>
              </a:extLst>
            </p:cNvPr>
            <p:cNvSpPr/>
            <p:nvPr/>
          </p:nvSpPr>
          <p:spPr>
            <a:xfrm>
              <a:off x="3507390" y="2614482"/>
              <a:ext cx="614271" cy="646331"/>
            </a:xfrm>
            <a:prstGeom prst="rect">
              <a:avLst/>
            </a:prstGeom>
          </p:spPr>
          <p:txBody>
            <a:bodyPr wrap="none">
              <a:spAutoFit/>
            </a:bodyPr>
            <a:lstStyle/>
            <a:p>
              <a:r>
                <a:rPr lang="en-US" dirty="0">
                  <a:latin typeface="Comic Sans MS" panose="030F0902030302020204" pitchFamily="66" charset="0"/>
                </a:rPr>
                <a:t> </a:t>
              </a:r>
            </a:p>
            <a:p>
              <a:r>
                <a:rPr lang="en-US" dirty="0">
                  <a:latin typeface="Comic Sans MS" panose="030F0902030302020204" pitchFamily="66" charset="0"/>
                </a:rPr>
                <a:t>√2</a:t>
              </a:r>
              <a:r>
                <a:rPr lang="en-US" baseline="30000" dirty="0">
                  <a:latin typeface="Comic Sans MS" panose="030F0902030302020204" pitchFamily="66" charset="0"/>
                </a:rPr>
                <a:t>n</a:t>
              </a:r>
              <a:r>
                <a:rPr lang="en-US" dirty="0">
                  <a:latin typeface="Comic Sans MS" panose="030F0902030302020204" pitchFamily="66" charset="0"/>
                </a:rPr>
                <a:t> </a:t>
              </a:r>
            </a:p>
          </p:txBody>
        </p:sp>
        <p:cxnSp>
          <p:nvCxnSpPr>
            <p:cNvPr id="62" name="Straight Connector 61">
              <a:extLst>
                <a:ext uri="{FF2B5EF4-FFF2-40B4-BE49-F238E27FC236}">
                  <a16:creationId xmlns:a16="http://schemas.microsoft.com/office/drawing/2014/main" id="{381977A0-71E5-A641-903C-12AD17EF13E8}"/>
                </a:ext>
              </a:extLst>
            </p:cNvPr>
            <p:cNvCxnSpPr>
              <a:cxnSpLocks/>
            </p:cNvCxnSpPr>
            <p:nvPr/>
          </p:nvCxnSpPr>
          <p:spPr>
            <a:xfrm flipH="1">
              <a:off x="2536670" y="2923875"/>
              <a:ext cx="235628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489330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176AA-7827-2E46-9AF5-355EC2ABE1F1}"/>
              </a:ext>
            </a:extLst>
          </p:cNvPr>
          <p:cNvSpPr>
            <a:spLocks noGrp="1"/>
          </p:cNvSpPr>
          <p:nvPr>
            <p:ph type="title"/>
          </p:nvPr>
        </p:nvSpPr>
        <p:spPr>
          <a:xfrm>
            <a:off x="0" y="0"/>
            <a:ext cx="12192000" cy="928688"/>
          </a:xfrm>
        </p:spPr>
        <p:txBody>
          <a:bodyPr/>
          <a:lstStyle/>
          <a:p>
            <a:r>
              <a:rPr lang="en-ZA" dirty="0"/>
              <a:t>Example of Quantum Interference</a:t>
            </a:r>
            <a:endParaRPr lang="en-US" dirty="0"/>
          </a:p>
        </p:txBody>
      </p:sp>
      <p:sp>
        <p:nvSpPr>
          <p:cNvPr id="3" name="Slide Number Placeholder 2">
            <a:extLst>
              <a:ext uri="{FF2B5EF4-FFF2-40B4-BE49-F238E27FC236}">
                <a16:creationId xmlns:a16="http://schemas.microsoft.com/office/drawing/2014/main" id="{0EC0A684-47CD-FB41-8DC4-4B9DA71D6792}"/>
              </a:ext>
            </a:extLst>
          </p:cNvPr>
          <p:cNvSpPr>
            <a:spLocks noGrp="1"/>
          </p:cNvSpPr>
          <p:nvPr>
            <p:ph type="sldNum" sz="quarter" idx="12"/>
          </p:nvPr>
        </p:nvSpPr>
        <p:spPr/>
        <p:txBody>
          <a:bodyPr/>
          <a:lstStyle/>
          <a:p>
            <a:fld id="{591A223C-FA10-BC46-A853-03BA373D023C}" type="slidenum">
              <a:rPr lang="en-US" smtClean="0"/>
              <a:t>29</a:t>
            </a:fld>
            <a:endParaRPr lang="en-US"/>
          </a:p>
        </p:txBody>
      </p:sp>
      <p:cxnSp>
        <p:nvCxnSpPr>
          <p:cNvPr id="7" name="Straight Connector 6">
            <a:extLst>
              <a:ext uri="{FF2B5EF4-FFF2-40B4-BE49-F238E27FC236}">
                <a16:creationId xmlns:a16="http://schemas.microsoft.com/office/drawing/2014/main" id="{8C20C35D-E5E1-6340-8B16-9E2F66E93BC0}"/>
              </a:ext>
            </a:extLst>
          </p:cNvPr>
          <p:cNvCxnSpPr>
            <a:cxnSpLocks/>
          </p:cNvCxnSpPr>
          <p:nvPr/>
        </p:nvCxnSpPr>
        <p:spPr>
          <a:xfrm>
            <a:off x="1324612" y="2382038"/>
            <a:ext cx="9156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3" name="Group 82">
            <a:extLst>
              <a:ext uri="{FF2B5EF4-FFF2-40B4-BE49-F238E27FC236}">
                <a16:creationId xmlns:a16="http://schemas.microsoft.com/office/drawing/2014/main" id="{FFE0BA28-C44F-AD47-8EDF-B77065F3386D}"/>
              </a:ext>
            </a:extLst>
          </p:cNvPr>
          <p:cNvGrpSpPr/>
          <p:nvPr/>
        </p:nvGrpSpPr>
        <p:grpSpPr>
          <a:xfrm>
            <a:off x="4983186" y="1039060"/>
            <a:ext cx="5013271" cy="5082167"/>
            <a:chOff x="4463485" y="1341916"/>
            <a:chExt cx="5013271" cy="5082167"/>
          </a:xfrm>
        </p:grpSpPr>
        <p:sp>
          <p:nvSpPr>
            <p:cNvPr id="16" name="Rectangle 15">
              <a:extLst>
                <a:ext uri="{FF2B5EF4-FFF2-40B4-BE49-F238E27FC236}">
                  <a16:creationId xmlns:a16="http://schemas.microsoft.com/office/drawing/2014/main" id="{FD1F1C7D-9E2B-C04B-90E4-FA6E5D48750E}"/>
                </a:ext>
              </a:extLst>
            </p:cNvPr>
            <p:cNvSpPr/>
            <p:nvPr/>
          </p:nvSpPr>
          <p:spPr>
            <a:xfrm>
              <a:off x="4463485" y="2198696"/>
              <a:ext cx="2082699" cy="900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bg1"/>
                  </a:solidFill>
                  <a:latin typeface="Times" pitchFamily="2" charset="0"/>
                </a:rPr>
                <a:t>U(</a:t>
              </a:r>
              <a:r>
                <a:rPr lang="el-GR" sz="3200" dirty="0">
                  <a:solidFill>
                    <a:schemeClr val="bg1"/>
                  </a:solidFill>
                  <a:latin typeface="Times" pitchFamily="2" charset="0"/>
                </a:rPr>
                <a:t>π</a:t>
              </a:r>
              <a:r>
                <a:rPr lang="sr-Latn-RS" sz="3200" dirty="0">
                  <a:solidFill>
                    <a:schemeClr val="bg1"/>
                  </a:solidFill>
                  <a:latin typeface="Times" pitchFamily="2" charset="0"/>
                </a:rPr>
                <a:t>/2,0,</a:t>
              </a:r>
              <a:r>
                <a:rPr lang="el-GR" sz="3200" dirty="0">
                  <a:solidFill>
                    <a:schemeClr val="bg1"/>
                  </a:solidFill>
                  <a:latin typeface="Times" pitchFamily="2" charset="0"/>
                </a:rPr>
                <a:t> π</a:t>
              </a:r>
              <a:r>
                <a:rPr lang="en-US" sz="3200" dirty="0">
                  <a:solidFill>
                    <a:schemeClr val="bg1"/>
                  </a:solidFill>
                  <a:latin typeface="Times" pitchFamily="2" charset="0"/>
                </a:rPr>
                <a:t>)</a:t>
              </a:r>
            </a:p>
          </p:txBody>
        </p:sp>
        <p:grpSp>
          <p:nvGrpSpPr>
            <p:cNvPr id="80" name="Group 79">
              <a:extLst>
                <a:ext uri="{FF2B5EF4-FFF2-40B4-BE49-F238E27FC236}">
                  <a16:creationId xmlns:a16="http://schemas.microsoft.com/office/drawing/2014/main" id="{EAAB86AC-AC40-6141-8389-CB381A7ABC97}"/>
                </a:ext>
              </a:extLst>
            </p:cNvPr>
            <p:cNvGrpSpPr/>
            <p:nvPr/>
          </p:nvGrpSpPr>
          <p:grpSpPr>
            <a:xfrm>
              <a:off x="5509644" y="1341916"/>
              <a:ext cx="3967112" cy="5082167"/>
              <a:chOff x="5509644" y="1341916"/>
              <a:chExt cx="3967112" cy="5082167"/>
            </a:xfrm>
          </p:grpSpPr>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66A77B05-F58F-8542-8E17-3734FB4C9364}"/>
                      </a:ext>
                    </a:extLst>
                  </p:cNvPr>
                  <p:cNvSpPr/>
                  <p:nvPr/>
                </p:nvSpPr>
                <p:spPr>
                  <a:xfrm>
                    <a:off x="5509644" y="1341916"/>
                    <a:ext cx="3967112" cy="8552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smtClean="0">
                                  <a:solidFill>
                                    <a:srgbClr val="002060"/>
                                  </a:solidFill>
                                  <a:latin typeface="Cambria Math" panose="02040503050406030204" pitchFamily="18" charset="0"/>
                                  <a:ea typeface="Cambria Math" panose="02040503050406030204" pitchFamily="18" charset="0"/>
                                </a:rPr>
                              </m:ctrlPr>
                            </m:fPr>
                            <m:num>
                              <m:r>
                                <a:rPr lang="en-US" sz="2400" b="0" i="1" smtClean="0">
                                  <a:solidFill>
                                    <a:srgbClr val="002060"/>
                                  </a:solidFill>
                                  <a:latin typeface="Cambria Math" panose="02040503050406030204" pitchFamily="18" charset="0"/>
                                  <a:ea typeface="Cambria Math" panose="02040503050406030204" pitchFamily="18" charset="0"/>
                                </a:rPr>
                                <m:t>1</m:t>
                              </m:r>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f>
                            <m:fPr>
                              <m:ctrlPr>
                                <a:rPr lang="en-US" sz="2400" i="1">
                                  <a:solidFill>
                                    <a:srgbClr val="002060"/>
                                  </a:solidFill>
                                  <a:latin typeface="Cambria Math" panose="02040503050406030204" pitchFamily="18" charset="0"/>
                                  <a:ea typeface="Cambria Math" panose="02040503050406030204" pitchFamily="18" charset="0"/>
                                </a:rPr>
                              </m:ctrlPr>
                            </m:fPr>
                            <m:num>
                              <m:r>
                                <a:rPr lang="en-US" sz="2400" i="1">
                                  <a:solidFill>
                                    <a:srgbClr val="002060"/>
                                  </a:solidFill>
                                  <a:latin typeface="Cambria Math" panose="02040503050406030204" pitchFamily="18" charset="0"/>
                                  <a:ea typeface="Cambria Math" panose="02040503050406030204" pitchFamily="18" charset="0"/>
                                </a:rPr>
                                <m:t>1</m:t>
                              </m:r>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d>
                            <m:dPr>
                              <m:ctrlPr>
                                <a:rPr lang="en-US" sz="2400" i="1" smtClean="0">
                                  <a:solidFill>
                                    <a:srgbClr val="002060"/>
                                  </a:solidFill>
                                  <a:latin typeface="Cambria Math" panose="02040503050406030204" pitchFamily="18" charset="0"/>
                                  <a:ea typeface="Cambria Math" panose="02040503050406030204" pitchFamily="18" charset="0"/>
                                </a:rPr>
                              </m:ctrlPr>
                            </m:d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|1</m:t>
                                  </m:r>
                                </m:e>
                              </m:d>
                              <m:r>
                                <a:rPr lang="en-U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r>
                                <a:rPr lang="en-U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|1</m:t>
                                  </m:r>
                                </m:e>
                              </m:d>
                            </m:e>
                          </m:d>
                        </m:oMath>
                      </m:oMathPara>
                    </a14:m>
                    <a:endParaRPr lang="en-US" sz="2400" dirty="0"/>
                  </a:p>
                </p:txBody>
              </p:sp>
            </mc:Choice>
            <mc:Fallback xmlns="">
              <p:sp>
                <p:nvSpPr>
                  <p:cNvPr id="19" name="Rectangle 18">
                    <a:extLst>
                      <a:ext uri="{FF2B5EF4-FFF2-40B4-BE49-F238E27FC236}">
                        <a16:creationId xmlns:a16="http://schemas.microsoft.com/office/drawing/2014/main" id="{66A77B05-F58F-8542-8E17-3734FB4C9364}"/>
                      </a:ext>
                    </a:extLst>
                  </p:cNvPr>
                  <p:cNvSpPr>
                    <a:spLocks noRot="1" noChangeAspect="1" noMove="1" noResize="1" noEditPoints="1" noAdjustHandles="1" noChangeArrowheads="1" noChangeShapeType="1" noTextEdit="1"/>
                  </p:cNvSpPr>
                  <p:nvPr/>
                </p:nvSpPr>
                <p:spPr>
                  <a:xfrm>
                    <a:off x="5509644" y="1341916"/>
                    <a:ext cx="3967112" cy="855299"/>
                  </a:xfrm>
                  <a:prstGeom prst="rect">
                    <a:avLst/>
                  </a:prstGeom>
                  <a:blipFill>
                    <a:blip r:embed="rId3"/>
                    <a:stretch>
                      <a:fillRect t="-45588" r="-4473" b="-80882"/>
                    </a:stretch>
                  </a:blipFill>
                </p:spPr>
                <p:txBody>
                  <a:bodyPr/>
                  <a:lstStyle/>
                  <a:p>
                    <a:r>
                      <a:rPr lang="en-US">
                        <a:noFill/>
                      </a:rPr>
                      <a:t> </a:t>
                    </a:r>
                  </a:p>
                </p:txBody>
              </p:sp>
            </mc:Fallback>
          </mc:AlternateContent>
          <p:grpSp>
            <p:nvGrpSpPr>
              <p:cNvPr id="76" name="Group 75">
                <a:extLst>
                  <a:ext uri="{FF2B5EF4-FFF2-40B4-BE49-F238E27FC236}">
                    <a16:creationId xmlns:a16="http://schemas.microsoft.com/office/drawing/2014/main" id="{E44F306A-4295-9D48-BB21-0642C55718E5}"/>
                  </a:ext>
                </a:extLst>
              </p:cNvPr>
              <p:cNvGrpSpPr/>
              <p:nvPr/>
            </p:nvGrpSpPr>
            <p:grpSpPr>
              <a:xfrm>
                <a:off x="5675625" y="3171093"/>
                <a:ext cx="1892598" cy="3252990"/>
                <a:chOff x="5675625" y="3171093"/>
                <a:chExt cx="1892598" cy="3252990"/>
              </a:xfrm>
            </p:grpSpPr>
            <p:sp>
              <p:nvSpPr>
                <p:cNvPr id="55" name="Rectangle 54">
                  <a:extLst>
                    <a:ext uri="{FF2B5EF4-FFF2-40B4-BE49-F238E27FC236}">
                      <a16:creationId xmlns:a16="http://schemas.microsoft.com/office/drawing/2014/main" id="{C45029E9-2FE2-6C4A-8CE8-90241B290B4C}"/>
                    </a:ext>
                  </a:extLst>
                </p:cNvPr>
                <p:cNvSpPr/>
                <p:nvPr/>
              </p:nvSpPr>
              <p:spPr>
                <a:xfrm>
                  <a:off x="6974005" y="4837046"/>
                  <a:ext cx="360000" cy="720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 name="Straight Connector 46">
                  <a:extLst>
                    <a:ext uri="{FF2B5EF4-FFF2-40B4-BE49-F238E27FC236}">
                      <a16:creationId xmlns:a16="http://schemas.microsoft.com/office/drawing/2014/main" id="{7425DA97-3D2F-8C47-B2B7-25C3D2D653D3}"/>
                    </a:ext>
                  </a:extLst>
                </p:cNvPr>
                <p:cNvCxnSpPr>
                  <a:cxnSpLocks/>
                </p:cNvCxnSpPr>
                <p:nvPr/>
              </p:nvCxnSpPr>
              <p:spPr>
                <a:xfrm>
                  <a:off x="6286781" y="3401926"/>
                  <a:ext cx="0" cy="2880000"/>
                </a:xfrm>
                <a:prstGeom prst="line">
                  <a:avLst/>
                </a:prstGeom>
                <a:ln>
                  <a:headEnd type="diamond" w="lg" len="lg"/>
                  <a:tailEnd type="diamond" w="lg" len="lg"/>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754FB07-7B56-B94B-9761-9AAC707DF005}"/>
                    </a:ext>
                  </a:extLst>
                </p:cNvPr>
                <p:cNvCxnSpPr>
                  <a:cxnSpLocks/>
                </p:cNvCxnSpPr>
                <p:nvPr/>
              </p:nvCxnSpPr>
              <p:spPr>
                <a:xfrm flipV="1">
                  <a:off x="6287915" y="4832370"/>
                  <a:ext cx="1280308"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3F4CBC54-5E94-7647-A7E3-3801B10FF5DE}"/>
                    </a:ext>
                  </a:extLst>
                </p:cNvPr>
                <p:cNvSpPr/>
                <p:nvPr/>
              </p:nvSpPr>
              <p:spPr>
                <a:xfrm>
                  <a:off x="6485204" y="3392510"/>
                  <a:ext cx="360000" cy="144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9BB262DC-0B32-614A-AB26-73A99141C21F}"/>
                        </a:ext>
                      </a:extLst>
                    </p:cNvPr>
                    <p:cNvSpPr/>
                    <p:nvPr/>
                  </p:nvSpPr>
                  <p:spPr>
                    <a:xfrm>
                      <a:off x="5675625" y="6023973"/>
                      <a:ext cx="577401"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−1</m:t>
                            </m:r>
                          </m:oMath>
                        </m:oMathPara>
                      </a14:m>
                      <a:endParaRPr lang="en-US" sz="2000" dirty="0"/>
                    </a:p>
                  </p:txBody>
                </p:sp>
              </mc:Choice>
              <mc:Fallback xmlns="">
                <p:sp>
                  <p:nvSpPr>
                    <p:cNvPr id="50" name="Rectangle 49">
                      <a:extLst>
                        <a:ext uri="{FF2B5EF4-FFF2-40B4-BE49-F238E27FC236}">
                          <a16:creationId xmlns:a16="http://schemas.microsoft.com/office/drawing/2014/main" id="{9BB262DC-0B32-614A-AB26-73A99141C21F}"/>
                        </a:ext>
                      </a:extLst>
                    </p:cNvPr>
                    <p:cNvSpPr>
                      <a:spLocks noRot="1" noChangeAspect="1" noMove="1" noResize="1" noEditPoints="1" noAdjustHandles="1" noChangeArrowheads="1" noChangeShapeType="1" noTextEdit="1"/>
                    </p:cNvSpPr>
                    <p:nvPr/>
                  </p:nvSpPr>
                  <p:spPr>
                    <a:xfrm>
                      <a:off x="5675625" y="6023973"/>
                      <a:ext cx="577401" cy="400110"/>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0D782403-2FA4-6A41-B376-280DB6C578E8}"/>
                        </a:ext>
                      </a:extLst>
                    </p:cNvPr>
                    <p:cNvSpPr/>
                    <p:nvPr/>
                  </p:nvSpPr>
                  <p:spPr>
                    <a:xfrm>
                      <a:off x="5863267" y="3171093"/>
                      <a:ext cx="385041"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1</m:t>
                            </m:r>
                          </m:oMath>
                        </m:oMathPara>
                      </a14:m>
                      <a:endParaRPr lang="en-US" sz="2000" dirty="0"/>
                    </a:p>
                  </p:txBody>
                </p:sp>
              </mc:Choice>
              <mc:Fallback xmlns="">
                <p:sp>
                  <p:nvSpPr>
                    <p:cNvPr id="51" name="Rectangle 50">
                      <a:extLst>
                        <a:ext uri="{FF2B5EF4-FFF2-40B4-BE49-F238E27FC236}">
                          <a16:creationId xmlns:a16="http://schemas.microsoft.com/office/drawing/2014/main" id="{0D782403-2FA4-6A41-B376-280DB6C578E8}"/>
                        </a:ext>
                      </a:extLst>
                    </p:cNvPr>
                    <p:cNvSpPr>
                      <a:spLocks noRot="1" noChangeAspect="1" noMove="1" noResize="1" noEditPoints="1" noAdjustHandles="1" noChangeArrowheads="1" noChangeShapeType="1" noTextEdit="1"/>
                    </p:cNvSpPr>
                    <p:nvPr/>
                  </p:nvSpPr>
                  <p:spPr>
                    <a:xfrm>
                      <a:off x="5863267" y="3171093"/>
                      <a:ext cx="385041" cy="40011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D791B5BA-EF43-AD48-8CF7-810050D5DFA2}"/>
                        </a:ext>
                      </a:extLst>
                    </p:cNvPr>
                    <p:cNvSpPr/>
                    <p:nvPr/>
                  </p:nvSpPr>
                  <p:spPr>
                    <a:xfrm>
                      <a:off x="6387160" y="4832370"/>
                      <a:ext cx="558422"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solidFill>
                                      <a:schemeClr val="tx1"/>
                                    </a:solidFill>
                                    <a:latin typeface="Cambria Math" panose="02040503050406030204" pitchFamily="18" charset="0"/>
                                    <a:ea typeface="Cambria Math" panose="02040503050406030204" pitchFamily="18" charset="0"/>
                                  </a:rPr>
                                </m:ctrlPr>
                              </m:dPr>
                              <m:e>
                                <m:r>
                                  <a:rPr lang="en-US" sz="2000" b="0" i="1" smtClean="0">
                                    <a:solidFill>
                                      <a:schemeClr val="tx1"/>
                                    </a:solidFill>
                                    <a:latin typeface="Cambria Math" panose="02040503050406030204" pitchFamily="18" charset="0"/>
                                    <a:ea typeface="Cambria Math" panose="02040503050406030204" pitchFamily="18" charset="0"/>
                                  </a:rPr>
                                  <m:t>0</m:t>
                                </m:r>
                              </m:e>
                            </m:d>
                          </m:oMath>
                        </m:oMathPara>
                      </a14:m>
                      <a:endParaRPr lang="en-US" sz="2000" dirty="0">
                        <a:solidFill>
                          <a:schemeClr val="tx1"/>
                        </a:solidFill>
                      </a:endParaRPr>
                    </a:p>
                  </p:txBody>
                </p:sp>
              </mc:Choice>
              <mc:Fallback xmlns="">
                <p:sp>
                  <p:nvSpPr>
                    <p:cNvPr id="52" name="Rectangle 51">
                      <a:extLst>
                        <a:ext uri="{FF2B5EF4-FFF2-40B4-BE49-F238E27FC236}">
                          <a16:creationId xmlns:a16="http://schemas.microsoft.com/office/drawing/2014/main" id="{D791B5BA-EF43-AD48-8CF7-810050D5DFA2}"/>
                        </a:ext>
                      </a:extLst>
                    </p:cNvPr>
                    <p:cNvSpPr>
                      <a:spLocks noRot="1" noChangeAspect="1" noMove="1" noResize="1" noEditPoints="1" noAdjustHandles="1" noChangeArrowheads="1" noChangeShapeType="1" noTextEdit="1"/>
                    </p:cNvSpPr>
                    <p:nvPr/>
                  </p:nvSpPr>
                  <p:spPr>
                    <a:xfrm>
                      <a:off x="6387160" y="4832370"/>
                      <a:ext cx="558422" cy="400110"/>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6A04EE8A-EF09-5D4D-90B0-6085D347F249}"/>
                        </a:ext>
                      </a:extLst>
                    </p:cNvPr>
                    <p:cNvSpPr/>
                    <p:nvPr/>
                  </p:nvSpPr>
                  <p:spPr>
                    <a:xfrm>
                      <a:off x="6874794" y="4832369"/>
                      <a:ext cx="558423"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solidFill>
                                      <a:schemeClr val="bg1"/>
                                    </a:solidFill>
                                    <a:latin typeface="Cambria Math" panose="02040503050406030204" pitchFamily="18" charset="0"/>
                                    <a:ea typeface="Cambria Math" panose="02040503050406030204" pitchFamily="18" charset="0"/>
                                  </a:rPr>
                                </m:ctrlPr>
                              </m:dPr>
                              <m:e>
                                <m:r>
                                  <a:rPr lang="en-US" sz="2000" b="0" i="1" smtClean="0">
                                    <a:solidFill>
                                      <a:schemeClr val="bg1"/>
                                    </a:solidFill>
                                    <a:latin typeface="Cambria Math" panose="02040503050406030204" pitchFamily="18" charset="0"/>
                                    <a:ea typeface="Cambria Math" panose="02040503050406030204" pitchFamily="18" charset="0"/>
                                  </a:rPr>
                                  <m:t>1</m:t>
                                </m:r>
                              </m:e>
                            </m:d>
                          </m:oMath>
                        </m:oMathPara>
                      </a14:m>
                      <a:endParaRPr lang="en-US" sz="2000" dirty="0">
                        <a:solidFill>
                          <a:schemeClr val="bg1"/>
                        </a:solidFill>
                      </a:endParaRPr>
                    </a:p>
                  </p:txBody>
                </p:sp>
              </mc:Choice>
              <mc:Fallback xmlns="">
                <p:sp>
                  <p:nvSpPr>
                    <p:cNvPr id="53" name="Rectangle 52">
                      <a:extLst>
                        <a:ext uri="{FF2B5EF4-FFF2-40B4-BE49-F238E27FC236}">
                          <a16:creationId xmlns:a16="http://schemas.microsoft.com/office/drawing/2014/main" id="{6A04EE8A-EF09-5D4D-90B0-6085D347F249}"/>
                        </a:ext>
                      </a:extLst>
                    </p:cNvPr>
                    <p:cNvSpPr>
                      <a:spLocks noRot="1" noChangeAspect="1" noMove="1" noResize="1" noEditPoints="1" noAdjustHandles="1" noChangeArrowheads="1" noChangeShapeType="1" noTextEdit="1"/>
                    </p:cNvSpPr>
                    <p:nvPr/>
                  </p:nvSpPr>
                  <p:spPr>
                    <a:xfrm>
                      <a:off x="6874794" y="4832369"/>
                      <a:ext cx="558423" cy="400110"/>
                    </a:xfrm>
                    <a:prstGeom prst="rect">
                      <a:avLst/>
                    </a:prstGeom>
                    <a:blipFill>
                      <a:blip r:embed="rId16"/>
                      <a:stretch>
                        <a:fillRect/>
                      </a:stretch>
                    </a:blipFill>
                  </p:spPr>
                  <p:txBody>
                    <a:bodyPr/>
                    <a:lstStyle/>
                    <a:p>
                      <a:r>
                        <a:rPr lang="en-US">
                          <a:noFill/>
                        </a:rPr>
                        <a:t> </a:t>
                      </a:r>
                    </a:p>
                  </p:txBody>
                </p:sp>
              </mc:Fallback>
            </mc:AlternateContent>
            <p:sp>
              <p:nvSpPr>
                <p:cNvPr id="54" name="Rectangle 53">
                  <a:extLst>
                    <a:ext uri="{FF2B5EF4-FFF2-40B4-BE49-F238E27FC236}">
                      <a16:creationId xmlns:a16="http://schemas.microsoft.com/office/drawing/2014/main" id="{E9D39F02-BD0F-0144-AB17-30BF80A1A2BE}"/>
                    </a:ext>
                  </a:extLst>
                </p:cNvPr>
                <p:cNvSpPr/>
                <p:nvPr/>
              </p:nvSpPr>
              <p:spPr>
                <a:xfrm>
                  <a:off x="6974005" y="4110101"/>
                  <a:ext cx="36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Connector 56">
                  <a:extLst>
                    <a:ext uri="{FF2B5EF4-FFF2-40B4-BE49-F238E27FC236}">
                      <a16:creationId xmlns:a16="http://schemas.microsoft.com/office/drawing/2014/main" id="{B56F1E4D-CD36-274C-AE12-E34F781F8324}"/>
                    </a:ext>
                  </a:extLst>
                </p:cNvPr>
                <p:cNvCxnSpPr>
                  <a:cxnSpLocks/>
                  <a:stCxn id="49" idx="1"/>
                  <a:endCxn id="49" idx="3"/>
                </p:cNvCxnSpPr>
                <p:nvPr/>
              </p:nvCxnSpPr>
              <p:spPr>
                <a:xfrm>
                  <a:off x="6485204" y="4112510"/>
                  <a:ext cx="360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grpSp>
      <p:grpSp>
        <p:nvGrpSpPr>
          <p:cNvPr id="81" name="Group 80">
            <a:extLst>
              <a:ext uri="{FF2B5EF4-FFF2-40B4-BE49-F238E27FC236}">
                <a16:creationId xmlns:a16="http://schemas.microsoft.com/office/drawing/2014/main" id="{7942B901-9B71-0D44-965B-134276A26935}"/>
              </a:ext>
            </a:extLst>
          </p:cNvPr>
          <p:cNvGrpSpPr/>
          <p:nvPr/>
        </p:nvGrpSpPr>
        <p:grpSpPr>
          <a:xfrm>
            <a:off x="8494740" y="1502116"/>
            <a:ext cx="2609430" cy="4561114"/>
            <a:chOff x="7975039" y="1804972"/>
            <a:chExt cx="2609430" cy="4561114"/>
          </a:xfrm>
        </p:grpSpPr>
        <p:grpSp>
          <p:nvGrpSpPr>
            <p:cNvPr id="77" name="Group 76">
              <a:extLst>
                <a:ext uri="{FF2B5EF4-FFF2-40B4-BE49-F238E27FC236}">
                  <a16:creationId xmlns:a16="http://schemas.microsoft.com/office/drawing/2014/main" id="{F3E19635-A997-3846-A9A7-4DF23736AA34}"/>
                </a:ext>
              </a:extLst>
            </p:cNvPr>
            <p:cNvGrpSpPr/>
            <p:nvPr/>
          </p:nvGrpSpPr>
          <p:grpSpPr>
            <a:xfrm>
              <a:off x="7975039" y="3113096"/>
              <a:ext cx="2609430" cy="3252990"/>
              <a:chOff x="7975039" y="3113096"/>
              <a:chExt cx="2609430" cy="3252990"/>
            </a:xfrm>
          </p:grpSpPr>
          <p:grpSp>
            <p:nvGrpSpPr>
              <p:cNvPr id="59" name="Group 58">
                <a:extLst>
                  <a:ext uri="{FF2B5EF4-FFF2-40B4-BE49-F238E27FC236}">
                    <a16:creationId xmlns:a16="http://schemas.microsoft.com/office/drawing/2014/main" id="{B480A157-30F9-7B46-B28C-F5959AD16624}"/>
                  </a:ext>
                </a:extLst>
              </p:cNvPr>
              <p:cNvGrpSpPr/>
              <p:nvPr/>
            </p:nvGrpSpPr>
            <p:grpSpPr>
              <a:xfrm>
                <a:off x="8691871" y="3113096"/>
                <a:ext cx="1892598" cy="3252990"/>
                <a:chOff x="2038805" y="3239885"/>
                <a:chExt cx="1892598" cy="3252990"/>
              </a:xfrm>
            </p:grpSpPr>
            <p:cxnSp>
              <p:nvCxnSpPr>
                <p:cNvPr id="60" name="Straight Connector 59">
                  <a:extLst>
                    <a:ext uri="{FF2B5EF4-FFF2-40B4-BE49-F238E27FC236}">
                      <a16:creationId xmlns:a16="http://schemas.microsoft.com/office/drawing/2014/main" id="{0ED9B81A-F216-8E49-A083-41F705280FA7}"/>
                    </a:ext>
                  </a:extLst>
                </p:cNvPr>
                <p:cNvCxnSpPr>
                  <a:cxnSpLocks/>
                </p:cNvCxnSpPr>
                <p:nvPr/>
              </p:nvCxnSpPr>
              <p:spPr>
                <a:xfrm>
                  <a:off x="2649961" y="3470718"/>
                  <a:ext cx="0" cy="2880000"/>
                </a:xfrm>
                <a:prstGeom prst="line">
                  <a:avLst/>
                </a:prstGeom>
                <a:ln>
                  <a:headEnd type="diamond" w="lg" len="lg"/>
                  <a:tailEnd type="diamond" w="lg" len="lg"/>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4B2576C0-220D-C542-BFDD-DFEC5C6DBFAC}"/>
                    </a:ext>
                  </a:extLst>
                </p:cNvPr>
                <p:cNvCxnSpPr>
                  <a:cxnSpLocks/>
                </p:cNvCxnSpPr>
                <p:nvPr/>
              </p:nvCxnSpPr>
              <p:spPr>
                <a:xfrm flipV="1">
                  <a:off x="2651095" y="4901162"/>
                  <a:ext cx="1280308" cy="0"/>
                </a:xfrm>
                <a:prstGeom prst="line">
                  <a:avLst/>
                </a:prstGeom>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BD8E6E57-DB73-0547-936E-A1E766B24FEE}"/>
                    </a:ext>
                  </a:extLst>
                </p:cNvPr>
                <p:cNvSpPr/>
                <p:nvPr/>
              </p:nvSpPr>
              <p:spPr>
                <a:xfrm>
                  <a:off x="2848384" y="3461302"/>
                  <a:ext cx="360000" cy="144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3" name="Rectangle 62">
                      <a:extLst>
                        <a:ext uri="{FF2B5EF4-FFF2-40B4-BE49-F238E27FC236}">
                          <a16:creationId xmlns:a16="http://schemas.microsoft.com/office/drawing/2014/main" id="{527F4084-EF3E-284A-BE73-72AFE15C74B4}"/>
                        </a:ext>
                      </a:extLst>
                    </p:cNvPr>
                    <p:cNvSpPr/>
                    <p:nvPr/>
                  </p:nvSpPr>
                  <p:spPr>
                    <a:xfrm>
                      <a:off x="2038805" y="6092765"/>
                      <a:ext cx="577401"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−1</m:t>
                            </m:r>
                          </m:oMath>
                        </m:oMathPara>
                      </a14:m>
                      <a:endParaRPr lang="en-US" sz="2000" dirty="0"/>
                    </a:p>
                  </p:txBody>
                </p:sp>
              </mc:Choice>
              <mc:Fallback xmlns="">
                <p:sp>
                  <p:nvSpPr>
                    <p:cNvPr id="63" name="Rectangle 62">
                      <a:extLst>
                        <a:ext uri="{FF2B5EF4-FFF2-40B4-BE49-F238E27FC236}">
                          <a16:creationId xmlns:a16="http://schemas.microsoft.com/office/drawing/2014/main" id="{527F4084-EF3E-284A-BE73-72AFE15C74B4}"/>
                        </a:ext>
                      </a:extLst>
                    </p:cNvPr>
                    <p:cNvSpPr>
                      <a:spLocks noRot="1" noChangeAspect="1" noMove="1" noResize="1" noEditPoints="1" noAdjustHandles="1" noChangeArrowheads="1" noChangeShapeType="1" noTextEdit="1"/>
                    </p:cNvSpPr>
                    <p:nvPr/>
                  </p:nvSpPr>
                  <p:spPr>
                    <a:xfrm>
                      <a:off x="2038805" y="6092765"/>
                      <a:ext cx="577401" cy="400110"/>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Rectangle 63">
                      <a:extLst>
                        <a:ext uri="{FF2B5EF4-FFF2-40B4-BE49-F238E27FC236}">
                          <a16:creationId xmlns:a16="http://schemas.microsoft.com/office/drawing/2014/main" id="{6E4EC878-FC2E-944C-8D5B-38CD1AEE87D1}"/>
                        </a:ext>
                      </a:extLst>
                    </p:cNvPr>
                    <p:cNvSpPr/>
                    <p:nvPr/>
                  </p:nvSpPr>
                  <p:spPr>
                    <a:xfrm>
                      <a:off x="2226447" y="3239885"/>
                      <a:ext cx="385041"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1</m:t>
                            </m:r>
                          </m:oMath>
                        </m:oMathPara>
                      </a14:m>
                      <a:endParaRPr lang="en-US" sz="2000" dirty="0"/>
                    </a:p>
                  </p:txBody>
                </p:sp>
              </mc:Choice>
              <mc:Fallback xmlns="">
                <p:sp>
                  <p:nvSpPr>
                    <p:cNvPr id="64" name="Rectangle 63">
                      <a:extLst>
                        <a:ext uri="{FF2B5EF4-FFF2-40B4-BE49-F238E27FC236}">
                          <a16:creationId xmlns:a16="http://schemas.microsoft.com/office/drawing/2014/main" id="{6E4EC878-FC2E-944C-8D5B-38CD1AEE87D1}"/>
                        </a:ext>
                      </a:extLst>
                    </p:cNvPr>
                    <p:cNvSpPr>
                      <a:spLocks noRot="1" noChangeAspect="1" noMove="1" noResize="1" noEditPoints="1" noAdjustHandles="1" noChangeArrowheads="1" noChangeShapeType="1" noTextEdit="1"/>
                    </p:cNvSpPr>
                    <p:nvPr/>
                  </p:nvSpPr>
                  <p:spPr>
                    <a:xfrm>
                      <a:off x="2226447" y="3239885"/>
                      <a:ext cx="385041" cy="400110"/>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Rectangle 64">
                      <a:extLst>
                        <a:ext uri="{FF2B5EF4-FFF2-40B4-BE49-F238E27FC236}">
                          <a16:creationId xmlns:a16="http://schemas.microsoft.com/office/drawing/2014/main" id="{914BB403-0173-EB46-B5DF-ACD04E7B51FB}"/>
                        </a:ext>
                      </a:extLst>
                    </p:cNvPr>
                    <p:cNvSpPr/>
                    <p:nvPr/>
                  </p:nvSpPr>
                  <p:spPr>
                    <a:xfrm>
                      <a:off x="2750340" y="4901162"/>
                      <a:ext cx="558422"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solidFill>
                                      <a:schemeClr val="tx1"/>
                                    </a:solidFill>
                                    <a:latin typeface="Cambria Math" panose="02040503050406030204" pitchFamily="18" charset="0"/>
                                    <a:ea typeface="Cambria Math" panose="02040503050406030204" pitchFamily="18" charset="0"/>
                                  </a:rPr>
                                </m:ctrlPr>
                              </m:dPr>
                              <m:e>
                                <m:r>
                                  <a:rPr lang="en-US" sz="2000" b="0" i="1" smtClean="0">
                                    <a:solidFill>
                                      <a:schemeClr val="tx1"/>
                                    </a:solidFill>
                                    <a:latin typeface="Cambria Math" panose="02040503050406030204" pitchFamily="18" charset="0"/>
                                    <a:ea typeface="Cambria Math" panose="02040503050406030204" pitchFamily="18" charset="0"/>
                                  </a:rPr>
                                  <m:t>0</m:t>
                                </m:r>
                              </m:e>
                            </m:d>
                          </m:oMath>
                        </m:oMathPara>
                      </a14:m>
                      <a:endParaRPr lang="en-US" sz="2000" dirty="0">
                        <a:solidFill>
                          <a:schemeClr val="tx1"/>
                        </a:solidFill>
                      </a:endParaRPr>
                    </a:p>
                  </p:txBody>
                </p:sp>
              </mc:Choice>
              <mc:Fallback xmlns="">
                <p:sp>
                  <p:nvSpPr>
                    <p:cNvPr id="65" name="Rectangle 64">
                      <a:extLst>
                        <a:ext uri="{FF2B5EF4-FFF2-40B4-BE49-F238E27FC236}">
                          <a16:creationId xmlns:a16="http://schemas.microsoft.com/office/drawing/2014/main" id="{914BB403-0173-EB46-B5DF-ACD04E7B51FB}"/>
                        </a:ext>
                      </a:extLst>
                    </p:cNvPr>
                    <p:cNvSpPr>
                      <a:spLocks noRot="1" noChangeAspect="1" noMove="1" noResize="1" noEditPoints="1" noAdjustHandles="1" noChangeArrowheads="1" noChangeShapeType="1" noTextEdit="1"/>
                    </p:cNvSpPr>
                    <p:nvPr/>
                  </p:nvSpPr>
                  <p:spPr>
                    <a:xfrm>
                      <a:off x="2750340" y="4901162"/>
                      <a:ext cx="558422" cy="400110"/>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8A24FD4E-F9B1-784E-86AD-E0AE9C27E6FA}"/>
                        </a:ext>
                      </a:extLst>
                    </p:cNvPr>
                    <p:cNvSpPr/>
                    <p:nvPr/>
                  </p:nvSpPr>
                  <p:spPr>
                    <a:xfrm>
                      <a:off x="3237974" y="4901161"/>
                      <a:ext cx="558423"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solidFill>
                                      <a:schemeClr val="tx1"/>
                                    </a:solidFill>
                                    <a:latin typeface="Cambria Math" panose="02040503050406030204" pitchFamily="18" charset="0"/>
                                    <a:ea typeface="Cambria Math" panose="02040503050406030204" pitchFamily="18" charset="0"/>
                                  </a:rPr>
                                </m:ctrlPr>
                              </m:dPr>
                              <m:e>
                                <m:r>
                                  <a:rPr lang="en-US" sz="2000" b="0" i="1" smtClean="0">
                                    <a:solidFill>
                                      <a:schemeClr val="tx1"/>
                                    </a:solidFill>
                                    <a:latin typeface="Cambria Math" panose="02040503050406030204" pitchFamily="18" charset="0"/>
                                    <a:ea typeface="Cambria Math" panose="02040503050406030204" pitchFamily="18" charset="0"/>
                                  </a:rPr>
                                  <m:t>1</m:t>
                                </m:r>
                              </m:e>
                            </m:d>
                          </m:oMath>
                        </m:oMathPara>
                      </a14:m>
                      <a:endParaRPr lang="en-US" sz="2000" dirty="0">
                        <a:solidFill>
                          <a:schemeClr val="tx1"/>
                        </a:solidFill>
                      </a:endParaRPr>
                    </a:p>
                  </p:txBody>
                </p:sp>
              </mc:Choice>
              <mc:Fallback xmlns="">
                <p:sp>
                  <p:nvSpPr>
                    <p:cNvPr id="66" name="Rectangle 65">
                      <a:extLst>
                        <a:ext uri="{FF2B5EF4-FFF2-40B4-BE49-F238E27FC236}">
                          <a16:creationId xmlns:a16="http://schemas.microsoft.com/office/drawing/2014/main" id="{8A24FD4E-F9B1-784E-86AD-E0AE9C27E6FA}"/>
                        </a:ext>
                      </a:extLst>
                    </p:cNvPr>
                    <p:cNvSpPr>
                      <a:spLocks noRot="1" noChangeAspect="1" noMove="1" noResize="1" noEditPoints="1" noAdjustHandles="1" noChangeArrowheads="1" noChangeShapeType="1" noTextEdit="1"/>
                    </p:cNvSpPr>
                    <p:nvPr/>
                  </p:nvSpPr>
                  <p:spPr>
                    <a:xfrm>
                      <a:off x="3237974" y="4901161"/>
                      <a:ext cx="558423" cy="400110"/>
                    </a:xfrm>
                    <a:prstGeom prst="rect">
                      <a:avLst/>
                    </a:prstGeom>
                    <a:blipFill>
                      <a:blip r:embed="rId20"/>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8" name="Rectangle 67">
                    <a:extLst>
                      <a:ext uri="{FF2B5EF4-FFF2-40B4-BE49-F238E27FC236}">
                        <a16:creationId xmlns:a16="http://schemas.microsoft.com/office/drawing/2014/main" id="{857C7E5C-FA42-1741-9DAE-5FFE2874F271}"/>
                      </a:ext>
                    </a:extLst>
                  </p:cNvPr>
                  <p:cNvSpPr/>
                  <p:nvPr/>
                </p:nvSpPr>
                <p:spPr>
                  <a:xfrm>
                    <a:off x="7975039" y="3905202"/>
                    <a:ext cx="784189" cy="8309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800" i="1">
                              <a:solidFill>
                                <a:srgbClr val="002060"/>
                              </a:solidFill>
                              <a:latin typeface="Cambria Math" panose="02040503050406030204" pitchFamily="18" charset="0"/>
                              <a:ea typeface="Cambria Math" panose="02040503050406030204" pitchFamily="18" charset="0"/>
                            </a:rPr>
                            <m:t>=</m:t>
                          </m:r>
                        </m:oMath>
                      </m:oMathPara>
                    </a14:m>
                    <a:endParaRPr lang="en-US" sz="4800" dirty="0"/>
                  </a:p>
                </p:txBody>
              </p:sp>
            </mc:Choice>
            <mc:Fallback xmlns="">
              <p:sp>
                <p:nvSpPr>
                  <p:cNvPr id="68" name="Rectangle 67">
                    <a:extLst>
                      <a:ext uri="{FF2B5EF4-FFF2-40B4-BE49-F238E27FC236}">
                        <a16:creationId xmlns:a16="http://schemas.microsoft.com/office/drawing/2014/main" id="{857C7E5C-FA42-1741-9DAE-5FFE2874F271}"/>
                      </a:ext>
                    </a:extLst>
                  </p:cNvPr>
                  <p:cNvSpPr>
                    <a:spLocks noRot="1" noChangeAspect="1" noMove="1" noResize="1" noEditPoints="1" noAdjustHandles="1" noChangeArrowheads="1" noChangeShapeType="1" noTextEdit="1"/>
                  </p:cNvSpPr>
                  <p:nvPr/>
                </p:nvSpPr>
                <p:spPr>
                  <a:xfrm>
                    <a:off x="7975039" y="3905202"/>
                    <a:ext cx="784189" cy="830997"/>
                  </a:xfrm>
                  <a:prstGeom prst="rect">
                    <a:avLst/>
                  </a:prstGeom>
                  <a:blipFill>
                    <a:blip r:embed="rId21"/>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79" name="Rectangle 78">
                  <a:extLst>
                    <a:ext uri="{FF2B5EF4-FFF2-40B4-BE49-F238E27FC236}">
                      <a16:creationId xmlns:a16="http://schemas.microsoft.com/office/drawing/2014/main" id="{BE585EB0-D7DC-B440-8380-9BA9E352A286}"/>
                    </a:ext>
                  </a:extLst>
                </p:cNvPr>
                <p:cNvSpPr/>
                <p:nvPr/>
              </p:nvSpPr>
              <p:spPr>
                <a:xfrm>
                  <a:off x="9417737" y="1804972"/>
                  <a:ext cx="94660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79" name="Rectangle 78">
                  <a:extLst>
                    <a:ext uri="{FF2B5EF4-FFF2-40B4-BE49-F238E27FC236}">
                      <a16:creationId xmlns:a16="http://schemas.microsoft.com/office/drawing/2014/main" id="{BE585EB0-D7DC-B440-8380-9BA9E352A286}"/>
                    </a:ext>
                  </a:extLst>
                </p:cNvPr>
                <p:cNvSpPr>
                  <a:spLocks noRot="1" noChangeAspect="1" noMove="1" noResize="1" noEditPoints="1" noAdjustHandles="1" noChangeArrowheads="1" noChangeShapeType="1" noTextEdit="1"/>
                </p:cNvSpPr>
                <p:nvPr/>
              </p:nvSpPr>
              <p:spPr>
                <a:xfrm>
                  <a:off x="9417737" y="1804972"/>
                  <a:ext cx="946606" cy="461665"/>
                </a:xfrm>
                <a:prstGeom prst="rect">
                  <a:avLst/>
                </a:prstGeom>
                <a:blipFill>
                  <a:blip r:embed="rId22"/>
                  <a:stretch>
                    <a:fillRect t="-124324" r="-33333" b="-194595"/>
                  </a:stretch>
                </a:blipFill>
              </p:spPr>
              <p:txBody>
                <a:bodyPr/>
                <a:lstStyle/>
                <a:p>
                  <a:r>
                    <a:rPr lang="en-US">
                      <a:noFill/>
                    </a:rPr>
                    <a:t> </a:t>
                  </a:r>
                </a:p>
              </p:txBody>
            </p:sp>
          </mc:Fallback>
        </mc:AlternateContent>
      </p:grpSp>
      <p:grpSp>
        <p:nvGrpSpPr>
          <p:cNvPr id="6" name="Group 5">
            <a:extLst>
              <a:ext uri="{FF2B5EF4-FFF2-40B4-BE49-F238E27FC236}">
                <a16:creationId xmlns:a16="http://schemas.microsoft.com/office/drawing/2014/main" id="{50489EFA-1DBD-1A4B-BFF2-627AFD044B44}"/>
              </a:ext>
            </a:extLst>
          </p:cNvPr>
          <p:cNvGrpSpPr/>
          <p:nvPr/>
        </p:nvGrpSpPr>
        <p:grpSpPr>
          <a:xfrm>
            <a:off x="2010210" y="1080490"/>
            <a:ext cx="2974812" cy="5040737"/>
            <a:chOff x="2010210" y="1080490"/>
            <a:chExt cx="2974812" cy="5040737"/>
          </a:xfrm>
        </p:grpSpPr>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A49543B2-B84C-7E48-9213-CCD91EEFEA4A}"/>
                    </a:ext>
                  </a:extLst>
                </p:cNvPr>
                <p:cNvSpPr/>
                <p:nvPr/>
              </p:nvSpPr>
              <p:spPr>
                <a:xfrm>
                  <a:off x="2929972" y="1080490"/>
                  <a:ext cx="2055050" cy="8552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smtClean="0">
                                <a:solidFill>
                                  <a:srgbClr val="002060"/>
                                </a:solidFill>
                                <a:latin typeface="Cambria Math" panose="02040503050406030204" pitchFamily="18" charset="0"/>
                                <a:ea typeface="Cambria Math" panose="02040503050406030204" pitchFamily="18" charset="0"/>
                              </a:rPr>
                            </m:ctrlPr>
                          </m:fPr>
                          <m:num>
                            <m:r>
                              <a:rPr lang="en-US" sz="2400" b="0" i="1" smtClean="0">
                                <a:solidFill>
                                  <a:srgbClr val="002060"/>
                                </a:solidFill>
                                <a:latin typeface="Cambria Math" panose="02040503050406030204" pitchFamily="18" charset="0"/>
                                <a:ea typeface="Cambria Math" panose="02040503050406030204" pitchFamily="18" charset="0"/>
                              </a:rPr>
                              <m:t>1</m:t>
                            </m:r>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d>
                          <m:dPr>
                            <m:ctrlPr>
                              <a:rPr lang="en-US" sz="2400" i="1" smtClean="0">
                                <a:solidFill>
                                  <a:srgbClr val="002060"/>
                                </a:solidFill>
                                <a:latin typeface="Cambria Math" panose="02040503050406030204" pitchFamily="18" charset="0"/>
                                <a:ea typeface="Cambria Math" panose="02040503050406030204" pitchFamily="18" charset="0"/>
                              </a:rPr>
                            </m:ctrlPr>
                          </m:d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|1</m:t>
                                </m:r>
                              </m:e>
                            </m:d>
                          </m:e>
                        </m:d>
                      </m:oMath>
                    </m:oMathPara>
                  </a14:m>
                  <a:endParaRPr lang="en-US" sz="2400" dirty="0"/>
                </a:p>
              </p:txBody>
            </p:sp>
          </mc:Choice>
          <mc:Fallback xmlns="">
            <p:sp>
              <p:nvSpPr>
                <p:cNvPr id="17" name="Rectangle 16">
                  <a:extLst>
                    <a:ext uri="{FF2B5EF4-FFF2-40B4-BE49-F238E27FC236}">
                      <a16:creationId xmlns:a16="http://schemas.microsoft.com/office/drawing/2014/main" id="{A49543B2-B84C-7E48-9213-CCD91EEFEA4A}"/>
                    </a:ext>
                  </a:extLst>
                </p:cNvPr>
                <p:cNvSpPr>
                  <a:spLocks noRot="1" noChangeAspect="1" noMove="1" noResize="1" noEditPoints="1" noAdjustHandles="1" noChangeArrowheads="1" noChangeShapeType="1" noTextEdit="1"/>
                </p:cNvSpPr>
                <p:nvPr/>
              </p:nvSpPr>
              <p:spPr>
                <a:xfrm>
                  <a:off x="2929972" y="1080490"/>
                  <a:ext cx="2055050" cy="855299"/>
                </a:xfrm>
                <a:prstGeom prst="rect">
                  <a:avLst/>
                </a:prstGeom>
                <a:blipFill>
                  <a:blip r:embed="rId23"/>
                  <a:stretch>
                    <a:fillRect t="-45588" r="-8589" b="-80882"/>
                  </a:stretch>
                </a:blipFill>
              </p:spPr>
              <p:txBody>
                <a:bodyPr/>
                <a:lstStyle/>
                <a:p>
                  <a:r>
                    <a:rPr lang="en-US">
                      <a:noFill/>
                    </a:rPr>
                    <a:t> </a:t>
                  </a:r>
                </a:p>
              </p:txBody>
            </p:sp>
          </mc:Fallback>
        </mc:AlternateContent>
        <p:grpSp>
          <p:nvGrpSpPr>
            <p:cNvPr id="75" name="Group 74">
              <a:extLst>
                <a:ext uri="{FF2B5EF4-FFF2-40B4-BE49-F238E27FC236}">
                  <a16:creationId xmlns:a16="http://schemas.microsoft.com/office/drawing/2014/main" id="{06057D4C-B952-C34C-AB3C-5925A60CF4A7}"/>
                </a:ext>
              </a:extLst>
            </p:cNvPr>
            <p:cNvGrpSpPr/>
            <p:nvPr/>
          </p:nvGrpSpPr>
          <p:grpSpPr>
            <a:xfrm>
              <a:off x="3090588" y="2868237"/>
              <a:ext cx="1892598" cy="3252990"/>
              <a:chOff x="2570887" y="3171093"/>
              <a:chExt cx="1892598" cy="3252990"/>
            </a:xfrm>
          </p:grpSpPr>
          <p:cxnSp>
            <p:nvCxnSpPr>
              <p:cNvPr id="38" name="Straight Connector 37">
                <a:extLst>
                  <a:ext uri="{FF2B5EF4-FFF2-40B4-BE49-F238E27FC236}">
                    <a16:creationId xmlns:a16="http://schemas.microsoft.com/office/drawing/2014/main" id="{E69E6FEA-8EF7-2A4E-998A-C34E6E7872E1}"/>
                  </a:ext>
                </a:extLst>
              </p:cNvPr>
              <p:cNvCxnSpPr>
                <a:cxnSpLocks/>
              </p:cNvCxnSpPr>
              <p:nvPr/>
            </p:nvCxnSpPr>
            <p:spPr>
              <a:xfrm>
                <a:off x="3182043" y="3401926"/>
                <a:ext cx="0" cy="2880000"/>
              </a:xfrm>
              <a:prstGeom prst="line">
                <a:avLst/>
              </a:prstGeom>
              <a:ln>
                <a:headEnd type="diamond" w="lg" len="lg"/>
                <a:tailEnd type="diamond" w="lg" len="lg"/>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9386D6E-8D06-7743-AF7F-29EEB71DE357}"/>
                  </a:ext>
                </a:extLst>
              </p:cNvPr>
              <p:cNvCxnSpPr>
                <a:cxnSpLocks/>
              </p:cNvCxnSpPr>
              <p:nvPr/>
            </p:nvCxnSpPr>
            <p:spPr>
              <a:xfrm flipV="1">
                <a:off x="3183177" y="4832370"/>
                <a:ext cx="1280308" cy="0"/>
              </a:xfrm>
              <a:prstGeom prst="line">
                <a:avLst/>
              </a:prstGeom>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40908750-261A-2548-AE81-8B3E5AA9CE10}"/>
                  </a:ext>
                </a:extLst>
              </p:cNvPr>
              <p:cNvSpPr/>
              <p:nvPr/>
            </p:nvSpPr>
            <p:spPr>
              <a:xfrm>
                <a:off x="3380465" y="3811301"/>
                <a:ext cx="360000" cy="1018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D136D248-BACC-ED4A-9B37-74117AA632AE}"/>
                      </a:ext>
                    </a:extLst>
                  </p:cNvPr>
                  <p:cNvSpPr/>
                  <p:nvPr/>
                </p:nvSpPr>
                <p:spPr>
                  <a:xfrm>
                    <a:off x="2570887" y="6023973"/>
                    <a:ext cx="577401"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−1</m:t>
                          </m:r>
                        </m:oMath>
                      </m:oMathPara>
                    </a14:m>
                    <a:endParaRPr lang="en-US" sz="2000" dirty="0"/>
                  </a:p>
                </p:txBody>
              </p:sp>
            </mc:Choice>
            <mc:Fallback xmlns="">
              <p:sp>
                <p:nvSpPr>
                  <p:cNvPr id="41" name="Rectangle 40">
                    <a:extLst>
                      <a:ext uri="{FF2B5EF4-FFF2-40B4-BE49-F238E27FC236}">
                        <a16:creationId xmlns:a16="http://schemas.microsoft.com/office/drawing/2014/main" id="{D136D248-BACC-ED4A-9B37-74117AA632AE}"/>
                      </a:ext>
                    </a:extLst>
                  </p:cNvPr>
                  <p:cNvSpPr>
                    <a:spLocks noRot="1" noChangeAspect="1" noMove="1" noResize="1" noEditPoints="1" noAdjustHandles="1" noChangeArrowheads="1" noChangeShapeType="1" noTextEdit="1"/>
                  </p:cNvSpPr>
                  <p:nvPr/>
                </p:nvSpPr>
                <p:spPr>
                  <a:xfrm>
                    <a:off x="2570887" y="6023973"/>
                    <a:ext cx="577401" cy="40011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9D029BBE-CD3B-C243-A275-765750C2CFE0}"/>
                      </a:ext>
                    </a:extLst>
                  </p:cNvPr>
                  <p:cNvSpPr/>
                  <p:nvPr/>
                </p:nvSpPr>
                <p:spPr>
                  <a:xfrm>
                    <a:off x="2758529" y="3171093"/>
                    <a:ext cx="385041"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1</m:t>
                          </m:r>
                        </m:oMath>
                      </m:oMathPara>
                    </a14:m>
                    <a:endParaRPr lang="en-US" sz="2000" dirty="0"/>
                  </a:p>
                </p:txBody>
              </p:sp>
            </mc:Choice>
            <mc:Fallback xmlns="">
              <p:sp>
                <p:nvSpPr>
                  <p:cNvPr id="42" name="Rectangle 41">
                    <a:extLst>
                      <a:ext uri="{FF2B5EF4-FFF2-40B4-BE49-F238E27FC236}">
                        <a16:creationId xmlns:a16="http://schemas.microsoft.com/office/drawing/2014/main" id="{9D029BBE-CD3B-C243-A275-765750C2CFE0}"/>
                      </a:ext>
                    </a:extLst>
                  </p:cNvPr>
                  <p:cNvSpPr>
                    <a:spLocks noRot="1" noChangeAspect="1" noMove="1" noResize="1" noEditPoints="1" noAdjustHandles="1" noChangeArrowheads="1" noChangeShapeType="1" noTextEdit="1"/>
                  </p:cNvSpPr>
                  <p:nvPr/>
                </p:nvSpPr>
                <p:spPr>
                  <a:xfrm>
                    <a:off x="2758529" y="3171093"/>
                    <a:ext cx="385041" cy="40011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AAD6DFC4-440B-7840-9637-D7E4AF33067B}"/>
                      </a:ext>
                    </a:extLst>
                  </p:cNvPr>
                  <p:cNvSpPr/>
                  <p:nvPr/>
                </p:nvSpPr>
                <p:spPr>
                  <a:xfrm>
                    <a:off x="3282422" y="4832370"/>
                    <a:ext cx="558422"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solidFill>
                                    <a:schemeClr val="tx1"/>
                                  </a:solidFill>
                                  <a:latin typeface="Cambria Math" panose="02040503050406030204" pitchFamily="18" charset="0"/>
                                  <a:ea typeface="Cambria Math" panose="02040503050406030204" pitchFamily="18" charset="0"/>
                                </a:rPr>
                              </m:ctrlPr>
                            </m:dPr>
                            <m:e>
                              <m:r>
                                <a:rPr lang="en-US" sz="2000" b="0" i="1" smtClean="0">
                                  <a:solidFill>
                                    <a:schemeClr val="tx1"/>
                                  </a:solidFill>
                                  <a:latin typeface="Cambria Math" panose="02040503050406030204" pitchFamily="18" charset="0"/>
                                  <a:ea typeface="Cambria Math" panose="02040503050406030204" pitchFamily="18" charset="0"/>
                                </a:rPr>
                                <m:t>0</m:t>
                              </m:r>
                            </m:e>
                          </m:d>
                        </m:oMath>
                      </m:oMathPara>
                    </a14:m>
                    <a:endParaRPr lang="en-US" sz="2000" dirty="0">
                      <a:solidFill>
                        <a:schemeClr val="tx1"/>
                      </a:solidFill>
                    </a:endParaRPr>
                  </a:p>
                </p:txBody>
              </p:sp>
            </mc:Choice>
            <mc:Fallback xmlns="">
              <p:sp>
                <p:nvSpPr>
                  <p:cNvPr id="43" name="Rectangle 42">
                    <a:extLst>
                      <a:ext uri="{FF2B5EF4-FFF2-40B4-BE49-F238E27FC236}">
                        <a16:creationId xmlns:a16="http://schemas.microsoft.com/office/drawing/2014/main" id="{AAD6DFC4-440B-7840-9637-D7E4AF33067B}"/>
                      </a:ext>
                    </a:extLst>
                  </p:cNvPr>
                  <p:cNvSpPr>
                    <a:spLocks noRot="1" noChangeAspect="1" noMove="1" noResize="1" noEditPoints="1" noAdjustHandles="1" noChangeArrowheads="1" noChangeShapeType="1" noTextEdit="1"/>
                  </p:cNvSpPr>
                  <p:nvPr/>
                </p:nvSpPr>
                <p:spPr>
                  <a:xfrm>
                    <a:off x="3282422" y="4832370"/>
                    <a:ext cx="558422" cy="40011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420AD977-E156-BA49-9678-B173D39DC447}"/>
                      </a:ext>
                    </a:extLst>
                  </p:cNvPr>
                  <p:cNvSpPr/>
                  <p:nvPr/>
                </p:nvSpPr>
                <p:spPr>
                  <a:xfrm>
                    <a:off x="3770056" y="4832369"/>
                    <a:ext cx="558423"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solidFill>
                                    <a:schemeClr val="tx1"/>
                                  </a:solidFill>
                                  <a:latin typeface="Cambria Math" panose="02040503050406030204" pitchFamily="18" charset="0"/>
                                  <a:ea typeface="Cambria Math" panose="02040503050406030204" pitchFamily="18" charset="0"/>
                                </a:rPr>
                              </m:ctrlPr>
                            </m:dPr>
                            <m:e>
                              <m:r>
                                <a:rPr lang="en-US" sz="2000" b="0" i="1" smtClean="0">
                                  <a:solidFill>
                                    <a:schemeClr val="tx1"/>
                                  </a:solidFill>
                                  <a:latin typeface="Cambria Math" panose="02040503050406030204" pitchFamily="18" charset="0"/>
                                  <a:ea typeface="Cambria Math" panose="02040503050406030204" pitchFamily="18" charset="0"/>
                                </a:rPr>
                                <m:t>1</m:t>
                              </m:r>
                            </m:e>
                          </m:d>
                        </m:oMath>
                      </m:oMathPara>
                    </a14:m>
                    <a:endParaRPr lang="en-US" sz="2000" dirty="0">
                      <a:solidFill>
                        <a:schemeClr val="tx1"/>
                      </a:solidFill>
                    </a:endParaRPr>
                  </a:p>
                </p:txBody>
              </p:sp>
            </mc:Choice>
            <mc:Fallback xmlns="">
              <p:sp>
                <p:nvSpPr>
                  <p:cNvPr id="44" name="Rectangle 43">
                    <a:extLst>
                      <a:ext uri="{FF2B5EF4-FFF2-40B4-BE49-F238E27FC236}">
                        <a16:creationId xmlns:a16="http://schemas.microsoft.com/office/drawing/2014/main" id="{420AD977-E156-BA49-9678-B173D39DC447}"/>
                      </a:ext>
                    </a:extLst>
                  </p:cNvPr>
                  <p:cNvSpPr>
                    <a:spLocks noRot="1" noChangeAspect="1" noMove="1" noResize="1" noEditPoints="1" noAdjustHandles="1" noChangeArrowheads="1" noChangeShapeType="1" noTextEdit="1"/>
                  </p:cNvSpPr>
                  <p:nvPr/>
                </p:nvSpPr>
                <p:spPr>
                  <a:xfrm>
                    <a:off x="3770056" y="4832369"/>
                    <a:ext cx="558423" cy="400110"/>
                  </a:xfrm>
                  <a:prstGeom prst="rect">
                    <a:avLst/>
                  </a:prstGeom>
                  <a:blipFill>
                    <a:blip r:embed="rId12"/>
                    <a:stretch>
                      <a:fillRect/>
                    </a:stretch>
                  </a:blipFill>
                </p:spPr>
                <p:txBody>
                  <a:bodyPr/>
                  <a:lstStyle/>
                  <a:p>
                    <a:r>
                      <a:rPr lang="en-US">
                        <a:noFill/>
                      </a:rPr>
                      <a:t> </a:t>
                    </a:r>
                  </a:p>
                </p:txBody>
              </p:sp>
            </mc:Fallback>
          </mc:AlternateContent>
          <p:sp>
            <p:nvSpPr>
              <p:cNvPr id="45" name="Rectangle 44">
                <a:extLst>
                  <a:ext uri="{FF2B5EF4-FFF2-40B4-BE49-F238E27FC236}">
                    <a16:creationId xmlns:a16="http://schemas.microsoft.com/office/drawing/2014/main" id="{B552D1A9-ED13-0A4E-9CFE-D5E84B0443D3}"/>
                  </a:ext>
                </a:extLst>
              </p:cNvPr>
              <p:cNvSpPr/>
              <p:nvPr/>
            </p:nvSpPr>
            <p:spPr>
              <a:xfrm>
                <a:off x="3869267" y="3815837"/>
                <a:ext cx="360000" cy="1018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8" name="Rectangle 57">
              <a:extLst>
                <a:ext uri="{FF2B5EF4-FFF2-40B4-BE49-F238E27FC236}">
                  <a16:creationId xmlns:a16="http://schemas.microsoft.com/office/drawing/2014/main" id="{77705C42-9FF9-B543-9110-4B864A8059B9}"/>
                </a:ext>
              </a:extLst>
            </p:cNvPr>
            <p:cNvSpPr/>
            <p:nvPr/>
          </p:nvSpPr>
          <p:spPr>
            <a:xfrm>
              <a:off x="2010210" y="1963781"/>
              <a:ext cx="900000" cy="90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grpSp>
      <mc:AlternateContent xmlns:mc="http://schemas.openxmlformats.org/markup-compatibility/2006" xmlns:a14="http://schemas.microsoft.com/office/drawing/2010/main">
        <mc:Choice Requires="a14">
          <p:sp>
            <p:nvSpPr>
              <p:cNvPr id="67" name="Rectangle 66">
                <a:extLst>
                  <a:ext uri="{FF2B5EF4-FFF2-40B4-BE49-F238E27FC236}">
                    <a16:creationId xmlns:a16="http://schemas.microsoft.com/office/drawing/2014/main" id="{C725DFE9-999D-024D-8063-74F83529FD8C}"/>
                  </a:ext>
                </a:extLst>
              </p:cNvPr>
              <p:cNvSpPr/>
              <p:nvPr/>
            </p:nvSpPr>
            <p:spPr>
              <a:xfrm>
                <a:off x="1238031" y="1807171"/>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sr-Latn-RS" sz="2400" b="0" i="1" smtClean="0">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67" name="Rectangle 66">
                <a:extLst>
                  <a:ext uri="{FF2B5EF4-FFF2-40B4-BE49-F238E27FC236}">
                    <a16:creationId xmlns:a16="http://schemas.microsoft.com/office/drawing/2014/main" id="{C725DFE9-999D-024D-8063-74F83529FD8C}"/>
                  </a:ext>
                </a:extLst>
              </p:cNvPr>
              <p:cNvSpPr>
                <a:spLocks noRot="1" noChangeAspect="1" noMove="1" noResize="1" noEditPoints="1" noAdjustHandles="1" noChangeArrowheads="1" noChangeShapeType="1" noTextEdit="1"/>
              </p:cNvSpPr>
              <p:nvPr/>
            </p:nvSpPr>
            <p:spPr>
              <a:xfrm>
                <a:off x="1238031" y="1807171"/>
                <a:ext cx="631904" cy="461665"/>
              </a:xfrm>
              <a:prstGeom prst="rect">
                <a:avLst/>
              </a:prstGeom>
              <a:blipFill>
                <a:blip r:embed="rId24"/>
                <a:stretch>
                  <a:fillRect l="-23529" t="-121053" r="-49020" b="-186842"/>
                </a:stretch>
              </a:blipFill>
            </p:spPr>
            <p:txBody>
              <a:bodyPr/>
              <a:lstStyle/>
              <a:p>
                <a:r>
                  <a:rPr lang="en-US">
                    <a:noFill/>
                  </a:rPr>
                  <a:t> </a:t>
                </a:r>
              </a:p>
            </p:txBody>
          </p:sp>
        </mc:Fallback>
      </mc:AlternateContent>
      <p:cxnSp>
        <p:nvCxnSpPr>
          <p:cNvPr id="70" name="Straight Connector 69">
            <a:extLst>
              <a:ext uri="{FF2B5EF4-FFF2-40B4-BE49-F238E27FC236}">
                <a16:creationId xmlns:a16="http://schemas.microsoft.com/office/drawing/2014/main" id="{60E6EFA0-0F84-7044-A77B-383B79A34D70}"/>
              </a:ext>
            </a:extLst>
          </p:cNvPr>
          <p:cNvCxnSpPr>
            <a:cxnSpLocks/>
          </p:cNvCxnSpPr>
          <p:nvPr/>
        </p:nvCxnSpPr>
        <p:spPr>
          <a:xfrm>
            <a:off x="686632" y="2985867"/>
            <a:ext cx="0" cy="2880000"/>
          </a:xfrm>
          <a:prstGeom prst="line">
            <a:avLst/>
          </a:prstGeom>
          <a:ln>
            <a:headEnd type="diamond" w="lg" len="lg"/>
            <a:tailEnd type="diamond" w="lg" len="lg"/>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EECF58C7-8016-C64E-ADE3-D491E2720538}"/>
              </a:ext>
            </a:extLst>
          </p:cNvPr>
          <p:cNvCxnSpPr>
            <a:cxnSpLocks/>
          </p:cNvCxnSpPr>
          <p:nvPr/>
        </p:nvCxnSpPr>
        <p:spPr>
          <a:xfrm flipV="1">
            <a:off x="687766" y="4416311"/>
            <a:ext cx="1280308" cy="0"/>
          </a:xfrm>
          <a:prstGeom prst="line">
            <a:avLst/>
          </a:prstGeom>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52AAA353-087D-C54B-8572-A1D1BB2FFD68}"/>
              </a:ext>
            </a:extLst>
          </p:cNvPr>
          <p:cNvSpPr/>
          <p:nvPr/>
        </p:nvSpPr>
        <p:spPr>
          <a:xfrm>
            <a:off x="885054" y="2985867"/>
            <a:ext cx="360000" cy="14281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3" name="Rectangle 72">
                <a:extLst>
                  <a:ext uri="{FF2B5EF4-FFF2-40B4-BE49-F238E27FC236}">
                    <a16:creationId xmlns:a16="http://schemas.microsoft.com/office/drawing/2014/main" id="{D55F499C-CEF6-0847-9885-364B7F73910F}"/>
                  </a:ext>
                </a:extLst>
              </p:cNvPr>
              <p:cNvSpPr/>
              <p:nvPr/>
            </p:nvSpPr>
            <p:spPr>
              <a:xfrm>
                <a:off x="75476" y="5607914"/>
                <a:ext cx="577401"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−1</m:t>
                      </m:r>
                    </m:oMath>
                  </m:oMathPara>
                </a14:m>
                <a:endParaRPr lang="en-US" sz="2000" dirty="0"/>
              </a:p>
            </p:txBody>
          </p:sp>
        </mc:Choice>
        <mc:Fallback xmlns="">
          <p:sp>
            <p:nvSpPr>
              <p:cNvPr id="73" name="Rectangle 72">
                <a:extLst>
                  <a:ext uri="{FF2B5EF4-FFF2-40B4-BE49-F238E27FC236}">
                    <a16:creationId xmlns:a16="http://schemas.microsoft.com/office/drawing/2014/main" id="{D55F499C-CEF6-0847-9885-364B7F73910F}"/>
                  </a:ext>
                </a:extLst>
              </p:cNvPr>
              <p:cNvSpPr>
                <a:spLocks noRot="1" noChangeAspect="1" noMove="1" noResize="1" noEditPoints="1" noAdjustHandles="1" noChangeArrowheads="1" noChangeShapeType="1" noTextEdit="1"/>
              </p:cNvSpPr>
              <p:nvPr/>
            </p:nvSpPr>
            <p:spPr>
              <a:xfrm>
                <a:off x="75476" y="5607914"/>
                <a:ext cx="577401" cy="400110"/>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Rectangle 73">
                <a:extLst>
                  <a:ext uri="{FF2B5EF4-FFF2-40B4-BE49-F238E27FC236}">
                    <a16:creationId xmlns:a16="http://schemas.microsoft.com/office/drawing/2014/main" id="{3C09544D-0F43-164F-84C9-409BCCB0B010}"/>
                  </a:ext>
                </a:extLst>
              </p:cNvPr>
              <p:cNvSpPr/>
              <p:nvPr/>
            </p:nvSpPr>
            <p:spPr>
              <a:xfrm>
                <a:off x="263118" y="2755034"/>
                <a:ext cx="385041"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1</m:t>
                      </m:r>
                    </m:oMath>
                  </m:oMathPara>
                </a14:m>
                <a:endParaRPr lang="en-US" sz="2000" dirty="0"/>
              </a:p>
            </p:txBody>
          </p:sp>
        </mc:Choice>
        <mc:Fallback xmlns="">
          <p:sp>
            <p:nvSpPr>
              <p:cNvPr id="74" name="Rectangle 73">
                <a:extLst>
                  <a:ext uri="{FF2B5EF4-FFF2-40B4-BE49-F238E27FC236}">
                    <a16:creationId xmlns:a16="http://schemas.microsoft.com/office/drawing/2014/main" id="{3C09544D-0F43-164F-84C9-409BCCB0B010}"/>
                  </a:ext>
                </a:extLst>
              </p:cNvPr>
              <p:cNvSpPr>
                <a:spLocks noRot="1" noChangeAspect="1" noMove="1" noResize="1" noEditPoints="1" noAdjustHandles="1" noChangeArrowheads="1" noChangeShapeType="1" noTextEdit="1"/>
              </p:cNvSpPr>
              <p:nvPr/>
            </p:nvSpPr>
            <p:spPr>
              <a:xfrm>
                <a:off x="263118" y="2755034"/>
                <a:ext cx="385041" cy="400110"/>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Rectangle 77">
                <a:extLst>
                  <a:ext uri="{FF2B5EF4-FFF2-40B4-BE49-F238E27FC236}">
                    <a16:creationId xmlns:a16="http://schemas.microsoft.com/office/drawing/2014/main" id="{36D3C4AE-849F-8644-90F4-F3AD3F6B28B7}"/>
                  </a:ext>
                </a:extLst>
              </p:cNvPr>
              <p:cNvSpPr/>
              <p:nvPr/>
            </p:nvSpPr>
            <p:spPr>
              <a:xfrm>
                <a:off x="787011" y="4416311"/>
                <a:ext cx="558422"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solidFill>
                                <a:schemeClr val="tx1"/>
                              </a:solidFill>
                              <a:latin typeface="Cambria Math" panose="02040503050406030204" pitchFamily="18" charset="0"/>
                              <a:ea typeface="Cambria Math" panose="02040503050406030204" pitchFamily="18" charset="0"/>
                            </a:rPr>
                          </m:ctrlPr>
                        </m:dPr>
                        <m:e>
                          <m:r>
                            <a:rPr lang="en-US" sz="2000" b="0" i="1" smtClean="0">
                              <a:solidFill>
                                <a:schemeClr val="tx1"/>
                              </a:solidFill>
                              <a:latin typeface="Cambria Math" panose="02040503050406030204" pitchFamily="18" charset="0"/>
                              <a:ea typeface="Cambria Math" panose="02040503050406030204" pitchFamily="18" charset="0"/>
                            </a:rPr>
                            <m:t>0</m:t>
                          </m:r>
                        </m:e>
                      </m:d>
                    </m:oMath>
                  </m:oMathPara>
                </a14:m>
                <a:endParaRPr lang="en-US" sz="2000" dirty="0">
                  <a:solidFill>
                    <a:schemeClr val="tx1"/>
                  </a:solidFill>
                </a:endParaRPr>
              </a:p>
            </p:txBody>
          </p:sp>
        </mc:Choice>
        <mc:Fallback xmlns="">
          <p:sp>
            <p:nvSpPr>
              <p:cNvPr id="78" name="Rectangle 77">
                <a:extLst>
                  <a:ext uri="{FF2B5EF4-FFF2-40B4-BE49-F238E27FC236}">
                    <a16:creationId xmlns:a16="http://schemas.microsoft.com/office/drawing/2014/main" id="{36D3C4AE-849F-8644-90F4-F3AD3F6B28B7}"/>
                  </a:ext>
                </a:extLst>
              </p:cNvPr>
              <p:cNvSpPr>
                <a:spLocks noRot="1" noChangeAspect="1" noMove="1" noResize="1" noEditPoints="1" noAdjustHandles="1" noChangeArrowheads="1" noChangeShapeType="1" noTextEdit="1"/>
              </p:cNvSpPr>
              <p:nvPr/>
            </p:nvSpPr>
            <p:spPr>
              <a:xfrm>
                <a:off x="787011" y="4416311"/>
                <a:ext cx="558422" cy="400110"/>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Rectangle 81">
                <a:extLst>
                  <a:ext uri="{FF2B5EF4-FFF2-40B4-BE49-F238E27FC236}">
                    <a16:creationId xmlns:a16="http://schemas.microsoft.com/office/drawing/2014/main" id="{3DC08959-D242-1A45-889C-B60427EF70C6}"/>
                  </a:ext>
                </a:extLst>
              </p:cNvPr>
              <p:cNvSpPr/>
              <p:nvPr/>
            </p:nvSpPr>
            <p:spPr>
              <a:xfrm>
                <a:off x="1274645" y="4416310"/>
                <a:ext cx="558423"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solidFill>
                                <a:schemeClr val="tx1"/>
                              </a:solidFill>
                              <a:latin typeface="Cambria Math" panose="02040503050406030204" pitchFamily="18" charset="0"/>
                              <a:ea typeface="Cambria Math" panose="02040503050406030204" pitchFamily="18" charset="0"/>
                            </a:rPr>
                          </m:ctrlPr>
                        </m:dPr>
                        <m:e>
                          <m:r>
                            <a:rPr lang="en-US" sz="2000" b="0" i="1" smtClean="0">
                              <a:solidFill>
                                <a:schemeClr val="tx1"/>
                              </a:solidFill>
                              <a:latin typeface="Cambria Math" panose="02040503050406030204" pitchFamily="18" charset="0"/>
                              <a:ea typeface="Cambria Math" panose="02040503050406030204" pitchFamily="18" charset="0"/>
                            </a:rPr>
                            <m:t>1</m:t>
                          </m:r>
                        </m:e>
                      </m:d>
                    </m:oMath>
                  </m:oMathPara>
                </a14:m>
                <a:endParaRPr lang="en-US" sz="2000" dirty="0">
                  <a:solidFill>
                    <a:schemeClr val="tx1"/>
                  </a:solidFill>
                </a:endParaRPr>
              </a:p>
            </p:txBody>
          </p:sp>
        </mc:Choice>
        <mc:Fallback xmlns="">
          <p:sp>
            <p:nvSpPr>
              <p:cNvPr id="82" name="Rectangle 81">
                <a:extLst>
                  <a:ext uri="{FF2B5EF4-FFF2-40B4-BE49-F238E27FC236}">
                    <a16:creationId xmlns:a16="http://schemas.microsoft.com/office/drawing/2014/main" id="{3DC08959-D242-1A45-889C-B60427EF70C6}"/>
                  </a:ext>
                </a:extLst>
              </p:cNvPr>
              <p:cNvSpPr>
                <a:spLocks noRot="1" noChangeAspect="1" noMove="1" noResize="1" noEditPoints="1" noAdjustHandles="1" noChangeArrowheads="1" noChangeShapeType="1" noTextEdit="1"/>
              </p:cNvSpPr>
              <p:nvPr/>
            </p:nvSpPr>
            <p:spPr>
              <a:xfrm>
                <a:off x="1274645" y="4416310"/>
                <a:ext cx="558423" cy="400110"/>
              </a:xfrm>
              <a:prstGeom prst="rect">
                <a:avLst/>
              </a:prstGeom>
              <a:blipFill>
                <a:blip r:embed="rId2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01420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3"/>
                                        </p:tgtEl>
                                        <p:attrNameLst>
                                          <p:attrName>style.visibility</p:attrName>
                                        </p:attrNameLst>
                                      </p:cBhvr>
                                      <p:to>
                                        <p:strVal val="visible"/>
                                      </p:to>
                                    </p:set>
                                    <p:animEffect transition="in" filter="blinds(horizontal)">
                                      <p:cBhvr>
                                        <p:cTn id="12" dur="500"/>
                                        <p:tgtEl>
                                          <p:spTgt spid="8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1"/>
                                        </p:tgtEl>
                                        <p:attrNameLst>
                                          <p:attrName>style.visibility</p:attrName>
                                        </p:attrNameLst>
                                      </p:cBhvr>
                                      <p:to>
                                        <p:strVal val="visible"/>
                                      </p:to>
                                    </p:set>
                                    <p:animEffect transition="in" filter="blinds(horizontal)">
                                      <p:cBhvr>
                                        <p:cTn id="17"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2">
            <a:extLst>
              <a:ext uri="{FF2B5EF4-FFF2-40B4-BE49-F238E27FC236}">
                <a16:creationId xmlns:a16="http://schemas.microsoft.com/office/drawing/2014/main" id="{1F5D63C6-1EFC-8D4D-9AB4-F3B9BE40D5D7}"/>
              </a:ext>
            </a:extLst>
          </p:cNvPr>
          <p:cNvSpPr>
            <a:spLocks noGrp="1"/>
          </p:cNvSpPr>
          <p:nvPr>
            <p:ph type="sldNum" sz="quarter" idx="12"/>
          </p:nvPr>
        </p:nvSpPr>
        <p:spPr>
          <a:xfrm>
            <a:off x="0" y="6492875"/>
            <a:ext cx="587829" cy="365125"/>
          </a:xfrm>
        </p:spPr>
        <p:txBody>
          <a:bodyPr/>
          <a:lstStyle/>
          <a:p>
            <a:fld id="{591A223C-FA10-BC46-A853-03BA373D023C}" type="slidenum">
              <a:rPr lang="en-US" smtClean="0"/>
              <a:t>30</a:t>
            </a:fld>
            <a:endParaRPr lang="en-US"/>
          </a:p>
        </p:txBody>
      </p:sp>
      <p:sp>
        <p:nvSpPr>
          <p:cNvPr id="7" name="TextBox 6">
            <a:extLst>
              <a:ext uri="{FF2B5EF4-FFF2-40B4-BE49-F238E27FC236}">
                <a16:creationId xmlns:a16="http://schemas.microsoft.com/office/drawing/2014/main" id="{3EE9865C-721A-E144-BC00-D4EA7CA79194}"/>
              </a:ext>
            </a:extLst>
          </p:cNvPr>
          <p:cNvSpPr txBox="1"/>
          <p:nvPr/>
        </p:nvSpPr>
        <p:spPr>
          <a:xfrm>
            <a:off x="6381422" y="1288359"/>
            <a:ext cx="5609229" cy="1015663"/>
          </a:xfrm>
          <a:prstGeom prst="rect">
            <a:avLst/>
          </a:prstGeom>
          <a:noFill/>
        </p:spPr>
        <p:txBody>
          <a:bodyPr wrap="none" rtlCol="0">
            <a:spAutoFit/>
          </a:bodyPr>
          <a:lstStyle/>
          <a:p>
            <a:pPr algn="ctr"/>
            <a:r>
              <a:rPr lang="en-US" sz="6000" dirty="0">
                <a:latin typeface="Comic Sans MS" panose="030F0902030302020204" pitchFamily="66" charset="0"/>
              </a:rPr>
              <a:t>Phase Kickback</a:t>
            </a:r>
          </a:p>
        </p:txBody>
      </p:sp>
      <p:pic>
        <p:nvPicPr>
          <p:cNvPr id="8" name="Picture 7">
            <a:extLst>
              <a:ext uri="{FF2B5EF4-FFF2-40B4-BE49-F238E27FC236}">
                <a16:creationId xmlns:a16="http://schemas.microsoft.com/office/drawing/2014/main" id="{99118049-A7F9-9546-A586-0AEA3AD74758}"/>
              </a:ext>
            </a:extLst>
          </p:cNvPr>
          <p:cNvPicPr>
            <a:picLocks noChangeAspect="1"/>
          </p:cNvPicPr>
          <p:nvPr/>
        </p:nvPicPr>
        <p:blipFill>
          <a:blip r:embed="rId3"/>
          <a:stretch>
            <a:fillRect/>
          </a:stretch>
        </p:blipFill>
        <p:spPr>
          <a:xfrm>
            <a:off x="391886" y="1807029"/>
            <a:ext cx="5849127" cy="4549321"/>
          </a:xfrm>
          <a:prstGeom prst="rect">
            <a:avLst/>
          </a:prstGeom>
        </p:spPr>
      </p:pic>
    </p:spTree>
    <p:extLst>
      <p:ext uri="{BB962C8B-B14F-4D97-AF65-F5344CB8AC3E}">
        <p14:creationId xmlns:p14="http://schemas.microsoft.com/office/powerpoint/2010/main" val="24645933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5">
            <a:extLst>
              <a:ext uri="{FF2B5EF4-FFF2-40B4-BE49-F238E27FC236}">
                <a16:creationId xmlns:a16="http://schemas.microsoft.com/office/drawing/2014/main" id="{B10D74C2-5244-FD4F-9BF9-B3D9F6F2027A}"/>
              </a:ext>
            </a:extLst>
          </p:cNvPr>
          <p:cNvSpPr/>
          <p:nvPr/>
        </p:nvSpPr>
        <p:spPr>
          <a:xfrm>
            <a:off x="6596743" y="1328032"/>
            <a:ext cx="5257800" cy="3211311"/>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5849B6-0FC7-8947-B0F5-1EF97F6A3923}"/>
              </a:ext>
            </a:extLst>
          </p:cNvPr>
          <p:cNvSpPr>
            <a:spLocks noGrp="1"/>
          </p:cNvSpPr>
          <p:nvPr>
            <p:ph type="title"/>
          </p:nvPr>
        </p:nvSpPr>
        <p:spPr/>
        <p:txBody>
          <a:bodyPr>
            <a:normAutofit/>
          </a:bodyPr>
          <a:lstStyle/>
          <a:p>
            <a:r>
              <a:rPr lang="en-ZA" dirty="0" err="1"/>
              <a:t>MathBox</a:t>
            </a:r>
            <a:r>
              <a:rPr lang="en-ZA" dirty="0"/>
              <a:t>: Eigenvalues and Eigenvectors</a:t>
            </a:r>
            <a:endParaRPr lang="en-US" dirty="0"/>
          </a:p>
        </p:txBody>
      </p:sp>
      <p:sp>
        <p:nvSpPr>
          <p:cNvPr id="3" name="Slide Number Placeholder 2">
            <a:extLst>
              <a:ext uri="{FF2B5EF4-FFF2-40B4-BE49-F238E27FC236}">
                <a16:creationId xmlns:a16="http://schemas.microsoft.com/office/drawing/2014/main" id="{DB6F5299-1E31-C24C-A85B-3752149AED52}"/>
              </a:ext>
            </a:extLst>
          </p:cNvPr>
          <p:cNvSpPr>
            <a:spLocks noGrp="1"/>
          </p:cNvSpPr>
          <p:nvPr>
            <p:ph type="sldNum" sz="quarter" idx="12"/>
          </p:nvPr>
        </p:nvSpPr>
        <p:spPr/>
        <p:txBody>
          <a:bodyPr/>
          <a:lstStyle/>
          <a:p>
            <a:fld id="{591A223C-FA10-BC46-A853-03BA373D023C}" type="slidenum">
              <a:rPr lang="en-US" smtClean="0"/>
              <a:t>31</a:t>
            </a:fld>
            <a:endParaRPr lang="en-US"/>
          </a:p>
        </p:txBody>
      </p:sp>
      <p:grpSp>
        <p:nvGrpSpPr>
          <p:cNvPr id="25" name="Group 24">
            <a:extLst>
              <a:ext uri="{FF2B5EF4-FFF2-40B4-BE49-F238E27FC236}">
                <a16:creationId xmlns:a16="http://schemas.microsoft.com/office/drawing/2014/main" id="{4A0F0B8E-F9AD-6E41-81E7-4095ED98BE9F}"/>
              </a:ext>
            </a:extLst>
          </p:cNvPr>
          <p:cNvGrpSpPr/>
          <p:nvPr/>
        </p:nvGrpSpPr>
        <p:grpSpPr>
          <a:xfrm>
            <a:off x="6594989" y="4879184"/>
            <a:ext cx="5212966" cy="1347404"/>
            <a:chOff x="4011313" y="4751578"/>
            <a:chExt cx="5212966" cy="1347404"/>
          </a:xfrm>
        </p:grpSpPr>
        <p:sp>
          <p:nvSpPr>
            <p:cNvPr id="7" name="TextBox 6">
              <a:extLst>
                <a:ext uri="{FF2B5EF4-FFF2-40B4-BE49-F238E27FC236}">
                  <a16:creationId xmlns:a16="http://schemas.microsoft.com/office/drawing/2014/main" id="{8EEECB8D-C3A4-A146-8BF4-A0CD0EF1D0CD}"/>
                </a:ext>
              </a:extLst>
            </p:cNvPr>
            <p:cNvSpPr txBox="1"/>
            <p:nvPr/>
          </p:nvSpPr>
          <p:spPr>
            <a:xfrm>
              <a:off x="4011313" y="4751578"/>
              <a:ext cx="1323632" cy="461665"/>
            </a:xfrm>
            <a:prstGeom prst="rect">
              <a:avLst/>
            </a:prstGeom>
            <a:noFill/>
          </p:spPr>
          <p:txBody>
            <a:bodyPr wrap="none" rtlCol="0">
              <a:spAutoFit/>
            </a:bodyPr>
            <a:lstStyle/>
            <a:p>
              <a:r>
                <a:rPr lang="en-US" sz="2400" dirty="0"/>
                <a:t>Example:</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2CED248-ADE0-CA49-94BF-69FB6949E6AA}"/>
                    </a:ext>
                  </a:extLst>
                </p:cNvPr>
                <p:cNvSpPr txBox="1"/>
                <p:nvPr/>
              </p:nvSpPr>
              <p:spPr>
                <a:xfrm>
                  <a:off x="4011313" y="5383593"/>
                  <a:ext cx="5212966" cy="715389"/>
                </a:xfrm>
                <a:prstGeom prst="rect">
                  <a:avLst/>
                </a:prstGeom>
                <a:noFill/>
              </p:spPr>
              <p:txBody>
                <a:bodyPr wrap="none" rtlCol="0">
                  <a:spAutoFit/>
                </a:bodyPr>
                <a:lstStyle/>
                <a:p>
                  <a14:m>
                    <m:oMath xmlns:m="http://schemas.openxmlformats.org/officeDocument/2006/math">
                      <m:r>
                        <a:rPr lang="sr-Latn-RS" sz="2400" b="0" i="1" smtClean="0">
                          <a:latin typeface="Cambria Math" panose="02040503050406030204" pitchFamily="18" charset="0"/>
                        </a:rPr>
                        <m:t>𝐼</m:t>
                      </m:r>
                      <m:d>
                        <m:dPr>
                          <m:begChr m:val="|"/>
                          <m:endChr m:val="⟩"/>
                          <m:ctrlPr>
                            <a:rPr lang="en-US" sz="2400" i="1">
                              <a:latin typeface="Cambria Math" panose="02040503050406030204" pitchFamily="18" charset="0"/>
                            </a:rPr>
                          </m:ctrlPr>
                        </m:dPr>
                        <m:e>
                          <m:r>
                            <a:rPr lang="en-US" sz="2400" b="0" i="1">
                              <a:latin typeface="Cambria Math" panose="02040503050406030204" pitchFamily="18" charset="0"/>
                            </a:rPr>
                            <m:t>𝑥</m:t>
                          </m:r>
                        </m:e>
                      </m:d>
                      <m:r>
                        <a:rPr lang="en-US" sz="2400" b="0" i="1" smtClean="0">
                          <a:latin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m>
                            <m:mPr>
                              <m:mcs>
                                <m:mc>
                                  <m:mcPr>
                                    <m:count m:val="2"/>
                                    <m:mcJc m:val="center"/>
                                  </m:mcPr>
                                </m:mc>
                              </m:mcs>
                              <m:ctrlPr>
                                <a:rPr lang="en-US" sz="2400" i="1">
                                  <a:latin typeface="Cambria Math" panose="02040503050406030204" pitchFamily="18" charset="0"/>
                                  <a:ea typeface="Cambria Math" panose="02040503050406030204" pitchFamily="18" charset="0"/>
                                </a:rPr>
                              </m:ctrlPr>
                            </m:mPr>
                            <m:mr>
                              <m:e>
                                <m:r>
                                  <m:rPr>
                                    <m:brk m:alnAt="7"/>
                                  </m:rPr>
                                  <a:rPr lang="en-US" sz="2400" b="0" i="1">
                                    <a:latin typeface="Cambria Math" panose="02040503050406030204" pitchFamily="18" charset="0"/>
                                    <a:ea typeface="Cambria Math" panose="02040503050406030204" pitchFamily="18" charset="0"/>
                                  </a:rPr>
                                  <m:t>1</m:t>
                                </m:r>
                              </m:e>
                              <m:e>
                                <m:r>
                                  <a:rPr lang="en-US" sz="2400" b="0" i="1">
                                    <a:latin typeface="Cambria Math" panose="02040503050406030204" pitchFamily="18" charset="0"/>
                                    <a:ea typeface="Cambria Math" panose="02040503050406030204" pitchFamily="18" charset="0"/>
                                  </a:rPr>
                                  <m:t>0</m:t>
                                </m:r>
                              </m:e>
                            </m:mr>
                            <m:mr>
                              <m:e>
                                <m:r>
                                  <a:rPr lang="en-US" sz="2400" b="0" i="1">
                                    <a:latin typeface="Cambria Math" panose="02040503050406030204" pitchFamily="18" charset="0"/>
                                    <a:ea typeface="Cambria Math" panose="02040503050406030204" pitchFamily="18" charset="0"/>
                                  </a:rPr>
                                  <m:t>0</m:t>
                                </m:r>
                              </m:e>
                              <m:e>
                                <m:r>
                                  <a:rPr lang="en-US" sz="2400" b="0" i="1">
                                    <a:latin typeface="Cambria Math" panose="02040503050406030204" pitchFamily="18" charset="0"/>
                                    <a:ea typeface="Cambria Math" panose="02040503050406030204" pitchFamily="18" charset="0"/>
                                  </a:rPr>
                                  <m:t>1</m:t>
                                </m:r>
                              </m:e>
                            </m:mr>
                          </m:m>
                        </m:e>
                      </m:d>
                      <m:d>
                        <m:dPr>
                          <m:ctrlPr>
                            <a:rPr lang="en-US" sz="2400" i="1" smtClean="0">
                              <a:latin typeface="Cambria Math" panose="02040503050406030204" pitchFamily="18" charset="0"/>
                              <a:ea typeface="Cambria Math" panose="02040503050406030204" pitchFamily="18" charset="0"/>
                            </a:rPr>
                          </m:ctrlPr>
                        </m:dPr>
                        <m:e>
                          <m:m>
                            <m:mPr>
                              <m:mcs>
                                <m:mc>
                                  <m:mcPr>
                                    <m:count m:val="1"/>
                                    <m:mcJc m:val="center"/>
                                  </m:mcPr>
                                </m:mc>
                              </m:mcs>
                              <m:ctrlPr>
                                <a:rPr lang="en-US" sz="2400" i="1" smtClean="0">
                                  <a:latin typeface="Cambria Math" panose="02040503050406030204" pitchFamily="18" charset="0"/>
                                  <a:ea typeface="Cambria Math" panose="02040503050406030204" pitchFamily="18" charset="0"/>
                                </a:rPr>
                              </m:ctrlPr>
                            </m:mPr>
                            <m:mr>
                              <m:e>
                                <m:r>
                                  <m:rPr>
                                    <m:brk m:alnAt="7"/>
                                  </m:rPr>
                                  <a:rPr lang="en-US" sz="2400" b="0" i="1" smtClean="0">
                                    <a:latin typeface="Cambria Math" panose="02040503050406030204" pitchFamily="18" charset="0"/>
                                    <a:ea typeface="Cambria Math" panose="02040503050406030204" pitchFamily="18" charset="0"/>
                                  </a:rPr>
                                  <m:t>𝑥</m:t>
                                </m:r>
                              </m:e>
                            </m:mr>
                            <m:mr>
                              <m:e>
                                <m:r>
                                  <a:rPr lang="en-US" sz="2400" b="0" i="1" smtClean="0">
                                    <a:latin typeface="Cambria Math" panose="02040503050406030204" pitchFamily="18" charset="0"/>
                                    <a:ea typeface="Cambria Math" panose="02040503050406030204" pitchFamily="18" charset="0"/>
                                  </a:rPr>
                                  <m:t>𝑦</m:t>
                                </m:r>
                              </m:e>
                            </m:mr>
                          </m:m>
                        </m:e>
                      </m:d>
                      <m:r>
                        <a:rPr lang="en-US" sz="2400" b="0" i="1" smtClean="0">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m>
                            <m:mPr>
                              <m:mcs>
                                <m:mc>
                                  <m:mcPr>
                                    <m:count m:val="1"/>
                                    <m:mcJc m:val="center"/>
                                  </m:mcPr>
                                </m:mc>
                              </m:mcs>
                              <m:ctrlPr>
                                <a:rPr lang="en-US" sz="2400" i="1">
                                  <a:latin typeface="Cambria Math" panose="02040503050406030204" pitchFamily="18" charset="0"/>
                                  <a:ea typeface="Cambria Math" panose="02040503050406030204" pitchFamily="18" charset="0"/>
                                </a:rPr>
                              </m:ctrlPr>
                            </m:mPr>
                            <m:mr>
                              <m:e>
                                <m:r>
                                  <m:rPr>
                                    <m:brk m:alnAt="7"/>
                                  </m:rPr>
                                  <a:rPr lang="en-US" sz="2400" b="0" i="1">
                                    <a:latin typeface="Cambria Math" panose="02040503050406030204" pitchFamily="18" charset="0"/>
                                    <a:ea typeface="Cambria Math" panose="02040503050406030204" pitchFamily="18" charset="0"/>
                                  </a:rPr>
                                  <m:t>𝑥</m:t>
                                </m:r>
                              </m:e>
                            </m:mr>
                            <m:mr>
                              <m:e>
                                <m:r>
                                  <a:rPr lang="en-US" sz="2400" b="0" i="1">
                                    <a:latin typeface="Cambria Math" panose="02040503050406030204" pitchFamily="18" charset="0"/>
                                    <a:ea typeface="Cambria Math" panose="02040503050406030204" pitchFamily="18" charset="0"/>
                                  </a:rPr>
                                  <m:t>𝑦</m:t>
                                </m:r>
                              </m:e>
                            </m:mr>
                          </m:m>
                        </m:e>
                      </m:d>
                      <m:r>
                        <a:rPr lang="en-US" sz="2400" b="0" i="1" smtClean="0">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rPr>
                          </m:ctrlPr>
                        </m:dPr>
                        <m:e>
                          <m:r>
                            <a:rPr lang="en-US" sz="2400" b="0" i="1">
                              <a:latin typeface="Cambria Math" panose="02040503050406030204" pitchFamily="18" charset="0"/>
                            </a:rPr>
                            <m:t>𝑥</m:t>
                          </m:r>
                        </m:e>
                      </m:d>
                      <m:r>
                        <a:rPr lang="en-US" sz="2400" b="0" i="1" smtClean="0">
                          <a:latin typeface="Cambria Math" panose="02040503050406030204" pitchFamily="18" charset="0"/>
                          <a:ea typeface="Cambria Math" panose="02040503050406030204" pitchFamily="18" charset="0"/>
                        </a:rPr>
                        <m:t>⇒</m:t>
                      </m:r>
                      <m:r>
                        <a:rPr lang="en-US" sz="2400" b="0" i="1">
                          <a:latin typeface="Cambria Math" panose="02040503050406030204" pitchFamily="18" charset="0"/>
                          <a:ea typeface="Cambria Math" panose="02040503050406030204" pitchFamily="18" charset="0"/>
                        </a:rPr>
                        <m:t>𝜆</m:t>
                      </m:r>
                    </m:oMath>
                  </a14:m>
                  <a:r>
                    <a:rPr lang="en-US" sz="2400" dirty="0"/>
                    <a:t>=1</a:t>
                  </a:r>
                </a:p>
              </p:txBody>
            </p:sp>
          </mc:Choice>
          <mc:Fallback xmlns="">
            <p:sp>
              <p:nvSpPr>
                <p:cNvPr id="8" name="TextBox 7">
                  <a:extLst>
                    <a:ext uri="{FF2B5EF4-FFF2-40B4-BE49-F238E27FC236}">
                      <a16:creationId xmlns:a16="http://schemas.microsoft.com/office/drawing/2014/main" id="{A2CED248-ADE0-CA49-94BF-69FB6949E6AA}"/>
                    </a:ext>
                  </a:extLst>
                </p:cNvPr>
                <p:cNvSpPr txBox="1">
                  <a:spLocks noRot="1" noChangeAspect="1" noMove="1" noResize="1" noEditPoints="1" noAdjustHandles="1" noChangeArrowheads="1" noChangeShapeType="1" noTextEdit="1"/>
                </p:cNvSpPr>
                <p:nvPr/>
              </p:nvSpPr>
              <p:spPr>
                <a:xfrm>
                  <a:off x="4011313" y="5383593"/>
                  <a:ext cx="5212966" cy="715389"/>
                </a:xfrm>
                <a:prstGeom prst="rect">
                  <a:avLst/>
                </a:prstGeom>
                <a:blipFill>
                  <a:blip r:embed="rId3"/>
                  <a:stretch>
                    <a:fillRect b="-7018"/>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D70856C-8C1B-A643-939D-2EDE7EA2B49B}"/>
                  </a:ext>
                </a:extLst>
              </p:cNvPr>
              <p:cNvSpPr txBox="1"/>
              <p:nvPr/>
            </p:nvSpPr>
            <p:spPr>
              <a:xfrm>
                <a:off x="6881618" y="2066324"/>
                <a:ext cx="2575449"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rPr>
                        <m:t>𝐴</m:t>
                      </m:r>
                      <m:d>
                        <m:dPr>
                          <m:begChr m:val="|"/>
                          <m:endChr m:val="⟩"/>
                          <m:ctrlPr>
                            <a:rPr lang="en-US" sz="3600" i="1">
                              <a:latin typeface="Cambria Math" panose="02040503050406030204" pitchFamily="18" charset="0"/>
                            </a:rPr>
                          </m:ctrlPr>
                        </m:dPr>
                        <m:e>
                          <m:r>
                            <a:rPr lang="en-US" sz="3600" b="0" i="1" smtClean="0">
                              <a:latin typeface="Cambria Math" panose="02040503050406030204" pitchFamily="18" charset="0"/>
                            </a:rPr>
                            <m:t>𝑥</m:t>
                          </m:r>
                        </m:e>
                      </m:d>
                      <m:r>
                        <a:rPr lang="en-US" sz="3600" b="0" i="1" smtClean="0">
                          <a:latin typeface="Cambria Math" panose="02040503050406030204" pitchFamily="18" charset="0"/>
                        </a:rPr>
                        <m:t>=</m:t>
                      </m:r>
                      <m:r>
                        <a:rPr lang="en-US" sz="3600" i="1">
                          <a:latin typeface="Cambria Math" panose="02040503050406030204" pitchFamily="18" charset="0"/>
                          <a:ea typeface="Cambria Math" panose="02040503050406030204" pitchFamily="18" charset="0"/>
                        </a:rPr>
                        <m:t>𝜆</m:t>
                      </m:r>
                      <m:d>
                        <m:dPr>
                          <m:begChr m:val="|"/>
                          <m:endChr m:val="⟩"/>
                          <m:ctrlPr>
                            <a:rPr lang="en-US" sz="3600" i="1">
                              <a:latin typeface="Cambria Math" panose="02040503050406030204" pitchFamily="18" charset="0"/>
                            </a:rPr>
                          </m:ctrlPr>
                        </m:dPr>
                        <m:e>
                          <m:r>
                            <a:rPr lang="en-US" sz="3600" i="1">
                              <a:latin typeface="Cambria Math" panose="02040503050406030204" pitchFamily="18" charset="0"/>
                            </a:rPr>
                            <m:t>𝑥</m:t>
                          </m:r>
                        </m:e>
                      </m:d>
                    </m:oMath>
                  </m:oMathPara>
                </a14:m>
                <a:endParaRPr lang="en-US" sz="3600" dirty="0"/>
              </a:p>
            </p:txBody>
          </p:sp>
        </mc:Choice>
        <mc:Fallback xmlns="">
          <p:sp>
            <p:nvSpPr>
              <p:cNvPr id="12" name="TextBox 11">
                <a:extLst>
                  <a:ext uri="{FF2B5EF4-FFF2-40B4-BE49-F238E27FC236}">
                    <a16:creationId xmlns:a16="http://schemas.microsoft.com/office/drawing/2014/main" id="{2D70856C-8C1B-A643-939D-2EDE7EA2B49B}"/>
                  </a:ext>
                </a:extLst>
              </p:cNvPr>
              <p:cNvSpPr txBox="1">
                <a:spLocks noRot="1" noChangeAspect="1" noMove="1" noResize="1" noEditPoints="1" noAdjustHandles="1" noChangeArrowheads="1" noChangeShapeType="1" noTextEdit="1"/>
              </p:cNvSpPr>
              <p:nvPr/>
            </p:nvSpPr>
            <p:spPr>
              <a:xfrm>
                <a:off x="6881618" y="2066324"/>
                <a:ext cx="2575449" cy="64633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5CA3E87-5192-CD4A-BC6D-69777927A8F7}"/>
                  </a:ext>
                </a:extLst>
              </p:cNvPr>
              <p:cNvSpPr txBox="1"/>
              <p:nvPr/>
            </p:nvSpPr>
            <p:spPr>
              <a:xfrm>
                <a:off x="7365954" y="2933687"/>
                <a:ext cx="2536272" cy="954107"/>
              </a:xfrm>
              <a:prstGeom prst="rect">
                <a:avLst/>
              </a:prstGeom>
              <a:noFill/>
            </p:spPr>
            <p:txBody>
              <a:bodyPr wrap="none" rtlCol="0">
                <a:spAutoFit/>
              </a:bodyPr>
              <a:lstStyle/>
              <a:p>
                <a14:m>
                  <m:oMath xmlns:m="http://schemas.openxmlformats.org/officeDocument/2006/math">
                    <m:r>
                      <a:rPr lang="en-US" sz="2800" i="1">
                        <a:latin typeface="Cambria Math" panose="02040503050406030204" pitchFamily="18" charset="0"/>
                        <a:ea typeface="Cambria Math" panose="02040503050406030204" pitchFamily="18" charset="0"/>
                      </a:rPr>
                      <m:t>𝜆</m:t>
                    </m:r>
                  </m:oMath>
                </a14:m>
                <a:r>
                  <a:rPr lang="en-US" sz="2800" dirty="0"/>
                  <a:t>.  : eigenvalue</a:t>
                </a:r>
              </a:p>
              <a:p>
                <a14:m>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𝑥</m:t>
                        </m:r>
                      </m:e>
                    </m:d>
                  </m:oMath>
                </a14:m>
                <a:r>
                  <a:rPr lang="en-US" sz="2800" dirty="0"/>
                  <a:t>: eigenvector</a:t>
                </a:r>
              </a:p>
            </p:txBody>
          </p:sp>
        </mc:Choice>
        <mc:Fallback xmlns="">
          <p:sp>
            <p:nvSpPr>
              <p:cNvPr id="14" name="TextBox 13">
                <a:extLst>
                  <a:ext uri="{FF2B5EF4-FFF2-40B4-BE49-F238E27FC236}">
                    <a16:creationId xmlns:a16="http://schemas.microsoft.com/office/drawing/2014/main" id="{C5CA3E87-5192-CD4A-BC6D-69777927A8F7}"/>
                  </a:ext>
                </a:extLst>
              </p:cNvPr>
              <p:cNvSpPr txBox="1">
                <a:spLocks noRot="1" noChangeAspect="1" noMove="1" noResize="1" noEditPoints="1" noAdjustHandles="1" noChangeArrowheads="1" noChangeShapeType="1" noTextEdit="1"/>
              </p:cNvSpPr>
              <p:nvPr/>
            </p:nvSpPr>
            <p:spPr>
              <a:xfrm>
                <a:off x="7365954" y="2933687"/>
                <a:ext cx="2536272" cy="954107"/>
              </a:xfrm>
              <a:prstGeom prst="rect">
                <a:avLst/>
              </a:prstGeom>
              <a:blipFill>
                <a:blip r:embed="rId8"/>
                <a:stretch>
                  <a:fillRect l="-1493" t="-5263" r="-2488" b="-15789"/>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2E1829DC-18E2-5A48-887E-F86BB48EC0F2}"/>
              </a:ext>
            </a:extLst>
          </p:cNvPr>
          <p:cNvCxnSpPr>
            <a:cxnSpLocks/>
          </p:cNvCxnSpPr>
          <p:nvPr/>
        </p:nvCxnSpPr>
        <p:spPr>
          <a:xfrm>
            <a:off x="1288379" y="5333913"/>
            <a:ext cx="3859354" cy="3"/>
          </a:xfrm>
          <a:prstGeom prst="straightConnector1">
            <a:avLst/>
          </a:prstGeom>
          <a:ln w="12700" cap="rnd">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443C9D9-F52D-C347-A986-E9AB77FA39F7}"/>
              </a:ext>
            </a:extLst>
          </p:cNvPr>
          <p:cNvCxnSpPr>
            <a:cxnSpLocks/>
          </p:cNvCxnSpPr>
          <p:nvPr/>
        </p:nvCxnSpPr>
        <p:spPr>
          <a:xfrm flipV="1">
            <a:off x="1288379" y="1461204"/>
            <a:ext cx="0" cy="3859354"/>
          </a:xfrm>
          <a:prstGeom prst="straightConnector1">
            <a:avLst/>
          </a:prstGeom>
          <a:ln w="12700" cap="rnd">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FDE312C-EDE1-BF4D-B4C4-4686FF87DC37}"/>
              </a:ext>
            </a:extLst>
          </p:cNvPr>
          <p:cNvCxnSpPr>
            <a:cxnSpLocks/>
          </p:cNvCxnSpPr>
          <p:nvPr/>
        </p:nvCxnSpPr>
        <p:spPr>
          <a:xfrm flipV="1">
            <a:off x="1288379" y="2344208"/>
            <a:ext cx="2433893" cy="3003062"/>
          </a:xfrm>
          <a:prstGeom prst="straightConnector1">
            <a:avLst/>
          </a:prstGeom>
          <a:ln w="25400">
            <a:solidFill>
              <a:srgbClr val="0000FF"/>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3467602-E951-DA4D-9ADE-C1375828E30F}"/>
              </a:ext>
            </a:extLst>
          </p:cNvPr>
          <p:cNvCxnSpPr>
            <a:cxnSpLocks/>
          </p:cNvCxnSpPr>
          <p:nvPr/>
        </p:nvCxnSpPr>
        <p:spPr>
          <a:xfrm>
            <a:off x="3722273" y="2344208"/>
            <a:ext cx="0" cy="2989705"/>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E07030E-2D91-804F-947B-4DB5C5F92B05}"/>
              </a:ext>
            </a:extLst>
          </p:cNvPr>
          <p:cNvCxnSpPr>
            <a:cxnSpLocks/>
          </p:cNvCxnSpPr>
          <p:nvPr/>
        </p:nvCxnSpPr>
        <p:spPr>
          <a:xfrm flipV="1">
            <a:off x="1288379" y="2344205"/>
            <a:ext cx="2433893" cy="3"/>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AD3DDB42-C446-3D4F-9954-5E0C7B23F677}"/>
              </a:ext>
            </a:extLst>
          </p:cNvPr>
          <p:cNvCxnSpPr>
            <a:cxnSpLocks noChangeAspect="1"/>
          </p:cNvCxnSpPr>
          <p:nvPr/>
        </p:nvCxnSpPr>
        <p:spPr>
          <a:xfrm flipV="1">
            <a:off x="1288378" y="3553579"/>
            <a:ext cx="1447258" cy="1783997"/>
          </a:xfrm>
          <a:prstGeom prst="straightConnector1">
            <a:avLst/>
          </a:prstGeom>
          <a:ln w="25400">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6FFACBE-621B-2F4B-85F3-6F4A240836C3}"/>
              </a:ext>
            </a:extLst>
          </p:cNvPr>
          <p:cNvCxnSpPr>
            <a:cxnSpLocks/>
          </p:cNvCxnSpPr>
          <p:nvPr/>
        </p:nvCxnSpPr>
        <p:spPr>
          <a:xfrm flipH="1">
            <a:off x="2735636" y="3571567"/>
            <a:ext cx="0" cy="1762346"/>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77D406C-ADD2-0D41-809C-48B46710B9EC}"/>
              </a:ext>
            </a:extLst>
          </p:cNvPr>
          <p:cNvCxnSpPr>
            <a:cxnSpLocks/>
          </p:cNvCxnSpPr>
          <p:nvPr/>
        </p:nvCxnSpPr>
        <p:spPr>
          <a:xfrm>
            <a:off x="1288378" y="3571567"/>
            <a:ext cx="1447258"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19B040EA-3ABC-2040-93EB-6481B403FD79}"/>
                  </a:ext>
                </a:extLst>
              </p:cNvPr>
              <p:cNvSpPr/>
              <p:nvPr/>
            </p:nvSpPr>
            <p:spPr>
              <a:xfrm>
                <a:off x="1444735" y="3943068"/>
                <a:ext cx="785408" cy="584775"/>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a:latin typeface="Cambria Math" panose="02040503050406030204" pitchFamily="18" charset="0"/>
                            </a:rPr>
                          </m:ctrlPr>
                        </m:dPr>
                        <m:e>
                          <m:r>
                            <a:rPr lang="en-US" sz="3200" i="1">
                              <a:latin typeface="Cambria Math" panose="02040503050406030204" pitchFamily="18" charset="0"/>
                            </a:rPr>
                            <m:t>𝑥</m:t>
                          </m:r>
                        </m:e>
                      </m:d>
                    </m:oMath>
                  </m:oMathPara>
                </a14:m>
                <a:endParaRPr lang="en-US" sz="3200" dirty="0"/>
              </a:p>
            </p:txBody>
          </p:sp>
        </mc:Choice>
        <mc:Fallback xmlns="">
          <p:sp>
            <p:nvSpPr>
              <p:cNvPr id="40" name="Rectangle 39">
                <a:extLst>
                  <a:ext uri="{FF2B5EF4-FFF2-40B4-BE49-F238E27FC236}">
                    <a16:creationId xmlns:a16="http://schemas.microsoft.com/office/drawing/2014/main" id="{19B040EA-3ABC-2040-93EB-6481B403FD79}"/>
                  </a:ext>
                </a:extLst>
              </p:cNvPr>
              <p:cNvSpPr>
                <a:spLocks noRot="1" noChangeAspect="1" noMove="1" noResize="1" noEditPoints="1" noAdjustHandles="1" noChangeArrowheads="1" noChangeShapeType="1" noTextEdit="1"/>
              </p:cNvSpPr>
              <p:nvPr/>
            </p:nvSpPr>
            <p:spPr>
              <a:xfrm>
                <a:off x="1444735" y="3943068"/>
                <a:ext cx="785408" cy="58477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89558E00-699E-914B-BA76-AD06E3E749B6}"/>
                  </a:ext>
                </a:extLst>
              </p:cNvPr>
              <p:cNvSpPr/>
              <p:nvPr/>
            </p:nvSpPr>
            <p:spPr>
              <a:xfrm>
                <a:off x="3393397" y="5415815"/>
                <a:ext cx="58509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a:latin typeface="Cambria Math" panose="02040503050406030204" pitchFamily="18" charset="0"/>
                          <a:ea typeface="Cambria Math" panose="02040503050406030204" pitchFamily="18" charset="0"/>
                        </a:rPr>
                        <m:t>𝜆</m:t>
                      </m:r>
                      <m:r>
                        <a:rPr lang="en-US" sz="2400" b="0" i="1">
                          <a:latin typeface="Cambria Math" panose="02040503050406030204" pitchFamily="18" charset="0"/>
                          <a:ea typeface="Cambria Math" panose="02040503050406030204" pitchFamily="18" charset="0"/>
                        </a:rPr>
                        <m:t>𝑥</m:t>
                      </m:r>
                    </m:oMath>
                  </m:oMathPara>
                </a14:m>
                <a:endParaRPr lang="en-US" sz="2400" dirty="0"/>
              </a:p>
            </p:txBody>
          </p:sp>
        </mc:Choice>
        <mc:Fallback xmlns="">
          <p:sp>
            <p:nvSpPr>
              <p:cNvPr id="41" name="Rectangle 40">
                <a:extLst>
                  <a:ext uri="{FF2B5EF4-FFF2-40B4-BE49-F238E27FC236}">
                    <a16:creationId xmlns:a16="http://schemas.microsoft.com/office/drawing/2014/main" id="{89558E00-699E-914B-BA76-AD06E3E749B6}"/>
                  </a:ext>
                </a:extLst>
              </p:cNvPr>
              <p:cNvSpPr>
                <a:spLocks noRot="1" noChangeAspect="1" noMove="1" noResize="1" noEditPoints="1" noAdjustHandles="1" noChangeArrowheads="1" noChangeShapeType="1" noTextEdit="1"/>
              </p:cNvSpPr>
              <p:nvPr/>
            </p:nvSpPr>
            <p:spPr>
              <a:xfrm>
                <a:off x="3393397" y="5415815"/>
                <a:ext cx="585097" cy="461665"/>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B17FA7F5-4F34-4146-AD9A-6AFC38FFDD87}"/>
                  </a:ext>
                </a:extLst>
              </p:cNvPr>
              <p:cNvSpPr/>
              <p:nvPr/>
            </p:nvSpPr>
            <p:spPr>
              <a:xfrm>
                <a:off x="2505326" y="5424189"/>
                <a:ext cx="42639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a:latin typeface="Cambria Math" panose="02040503050406030204" pitchFamily="18" charset="0"/>
                        </a:rPr>
                        <m:t>𝑥</m:t>
                      </m:r>
                    </m:oMath>
                  </m:oMathPara>
                </a14:m>
                <a:endParaRPr lang="en-US" sz="2400" dirty="0"/>
              </a:p>
            </p:txBody>
          </p:sp>
        </mc:Choice>
        <mc:Fallback xmlns="">
          <p:sp>
            <p:nvSpPr>
              <p:cNvPr id="42" name="Rectangle 41">
                <a:extLst>
                  <a:ext uri="{FF2B5EF4-FFF2-40B4-BE49-F238E27FC236}">
                    <a16:creationId xmlns:a16="http://schemas.microsoft.com/office/drawing/2014/main" id="{B17FA7F5-4F34-4146-AD9A-6AFC38FFDD87}"/>
                  </a:ext>
                </a:extLst>
              </p:cNvPr>
              <p:cNvSpPr>
                <a:spLocks noRot="1" noChangeAspect="1" noMove="1" noResize="1" noEditPoints="1" noAdjustHandles="1" noChangeArrowheads="1" noChangeShapeType="1" noTextEdit="1"/>
              </p:cNvSpPr>
              <p:nvPr/>
            </p:nvSpPr>
            <p:spPr>
              <a:xfrm>
                <a:off x="2505326" y="5424189"/>
                <a:ext cx="426399" cy="461665"/>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05784ABB-38B2-894B-A057-B1AB445691E0}"/>
                  </a:ext>
                </a:extLst>
              </p:cNvPr>
              <p:cNvSpPr/>
              <p:nvPr/>
            </p:nvSpPr>
            <p:spPr>
              <a:xfrm>
                <a:off x="549222" y="2087211"/>
                <a:ext cx="58907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𝜆</m:t>
                      </m:r>
                      <m:r>
                        <a:rPr lang="en-US" sz="2400" b="0" i="1" smtClean="0">
                          <a:latin typeface="Cambria Math" panose="02040503050406030204" pitchFamily="18" charset="0"/>
                          <a:ea typeface="Cambria Math" panose="02040503050406030204" pitchFamily="18" charset="0"/>
                        </a:rPr>
                        <m:t>𝑦</m:t>
                      </m:r>
                    </m:oMath>
                  </m:oMathPara>
                </a14:m>
                <a:endParaRPr lang="en-US" sz="2400" dirty="0"/>
              </a:p>
            </p:txBody>
          </p:sp>
        </mc:Choice>
        <mc:Fallback xmlns="">
          <p:sp>
            <p:nvSpPr>
              <p:cNvPr id="43" name="Rectangle 42">
                <a:extLst>
                  <a:ext uri="{FF2B5EF4-FFF2-40B4-BE49-F238E27FC236}">
                    <a16:creationId xmlns:a16="http://schemas.microsoft.com/office/drawing/2014/main" id="{05784ABB-38B2-894B-A057-B1AB445691E0}"/>
                  </a:ext>
                </a:extLst>
              </p:cNvPr>
              <p:cNvSpPr>
                <a:spLocks noRot="1" noChangeAspect="1" noMove="1" noResize="1" noEditPoints="1" noAdjustHandles="1" noChangeArrowheads="1" noChangeShapeType="1" noTextEdit="1"/>
              </p:cNvSpPr>
              <p:nvPr/>
            </p:nvSpPr>
            <p:spPr>
              <a:xfrm>
                <a:off x="549222" y="2087211"/>
                <a:ext cx="589071" cy="461665"/>
              </a:xfrm>
              <a:prstGeom prst="rect">
                <a:avLst/>
              </a:prstGeom>
              <a:blipFill>
                <a:blip r:embed="rId13"/>
                <a:stretch>
                  <a:fillRect b="-157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22699E18-031A-0B48-AA75-3D73D5DBAE80}"/>
                  </a:ext>
                </a:extLst>
              </p:cNvPr>
              <p:cNvSpPr/>
              <p:nvPr/>
            </p:nvSpPr>
            <p:spPr>
              <a:xfrm>
                <a:off x="645115" y="3265396"/>
                <a:ext cx="43037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oMath>
                  </m:oMathPara>
                </a14:m>
                <a:endParaRPr lang="en-US" sz="2400" dirty="0"/>
              </a:p>
            </p:txBody>
          </p:sp>
        </mc:Choice>
        <mc:Fallback xmlns="">
          <p:sp>
            <p:nvSpPr>
              <p:cNvPr id="44" name="Rectangle 43">
                <a:extLst>
                  <a:ext uri="{FF2B5EF4-FFF2-40B4-BE49-F238E27FC236}">
                    <a16:creationId xmlns:a16="http://schemas.microsoft.com/office/drawing/2014/main" id="{22699E18-031A-0B48-AA75-3D73D5DBAE80}"/>
                  </a:ext>
                </a:extLst>
              </p:cNvPr>
              <p:cNvSpPr>
                <a:spLocks noRot="1" noChangeAspect="1" noMove="1" noResize="1" noEditPoints="1" noAdjustHandles="1" noChangeArrowheads="1" noChangeShapeType="1" noTextEdit="1"/>
              </p:cNvSpPr>
              <p:nvPr/>
            </p:nvSpPr>
            <p:spPr>
              <a:xfrm>
                <a:off x="645115" y="3265396"/>
                <a:ext cx="430374" cy="461665"/>
              </a:xfrm>
              <a:prstGeom prst="rect">
                <a:avLst/>
              </a:prstGeom>
              <a:blipFill>
                <a:blip r:embed="rId14"/>
                <a:stretch>
                  <a:fillRect b="-108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076C464C-C733-4F42-827D-ACB944C3974D}"/>
                  </a:ext>
                </a:extLst>
              </p:cNvPr>
              <p:cNvSpPr txBox="1"/>
              <p:nvPr/>
            </p:nvSpPr>
            <p:spPr>
              <a:xfrm>
                <a:off x="3081528" y="2986792"/>
                <a:ext cx="2309671"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rPr>
                        <m:t>𝐴</m:t>
                      </m:r>
                      <m:d>
                        <m:dPr>
                          <m:begChr m:val="|"/>
                          <m:endChr m:val="⟩"/>
                          <m:ctrlPr>
                            <a:rPr lang="en-US" sz="3200" i="1">
                              <a:latin typeface="Cambria Math" panose="02040503050406030204" pitchFamily="18" charset="0"/>
                            </a:rPr>
                          </m:ctrlPr>
                        </m:dPr>
                        <m:e>
                          <m:r>
                            <a:rPr lang="en-US" sz="3200" b="0" i="1" smtClean="0">
                              <a:latin typeface="Cambria Math" panose="02040503050406030204" pitchFamily="18" charset="0"/>
                            </a:rPr>
                            <m:t>𝑥</m:t>
                          </m:r>
                        </m:e>
                      </m:d>
                      <m:r>
                        <a:rPr lang="en-US" sz="3200" b="0" i="1" smtClean="0">
                          <a:latin typeface="Cambria Math" panose="02040503050406030204" pitchFamily="18" charset="0"/>
                        </a:rPr>
                        <m:t>=</m:t>
                      </m:r>
                      <m:r>
                        <a:rPr lang="en-US" sz="3200" i="1">
                          <a:latin typeface="Cambria Math" panose="02040503050406030204" pitchFamily="18" charset="0"/>
                          <a:ea typeface="Cambria Math" panose="02040503050406030204" pitchFamily="18" charset="0"/>
                        </a:rPr>
                        <m:t>𝜆</m:t>
                      </m:r>
                      <m:d>
                        <m:dPr>
                          <m:begChr m:val="|"/>
                          <m:endChr m:val="⟩"/>
                          <m:ctrlPr>
                            <a:rPr lang="en-US" sz="3200" i="1">
                              <a:latin typeface="Cambria Math" panose="02040503050406030204" pitchFamily="18" charset="0"/>
                            </a:rPr>
                          </m:ctrlPr>
                        </m:dPr>
                        <m:e>
                          <m:r>
                            <a:rPr lang="en-US" sz="3200" i="1">
                              <a:latin typeface="Cambria Math" panose="02040503050406030204" pitchFamily="18" charset="0"/>
                            </a:rPr>
                            <m:t>𝑥</m:t>
                          </m:r>
                        </m:e>
                      </m:d>
                    </m:oMath>
                  </m:oMathPara>
                </a14:m>
                <a:endParaRPr lang="en-US" sz="3200" dirty="0"/>
              </a:p>
            </p:txBody>
          </p:sp>
        </mc:Choice>
        <mc:Fallback xmlns="">
          <p:sp>
            <p:nvSpPr>
              <p:cNvPr id="24" name="TextBox 23">
                <a:extLst>
                  <a:ext uri="{FF2B5EF4-FFF2-40B4-BE49-F238E27FC236}">
                    <a16:creationId xmlns:a16="http://schemas.microsoft.com/office/drawing/2014/main" id="{076C464C-C733-4F42-827D-ACB944C3974D}"/>
                  </a:ext>
                </a:extLst>
              </p:cNvPr>
              <p:cNvSpPr txBox="1">
                <a:spLocks noRot="1" noChangeAspect="1" noMove="1" noResize="1" noEditPoints="1" noAdjustHandles="1" noChangeArrowheads="1" noChangeShapeType="1" noTextEdit="1"/>
              </p:cNvSpPr>
              <p:nvPr/>
            </p:nvSpPr>
            <p:spPr>
              <a:xfrm>
                <a:off x="3081528" y="2986792"/>
                <a:ext cx="2309671" cy="584775"/>
              </a:xfrm>
              <a:prstGeom prst="rect">
                <a:avLst/>
              </a:prstGeom>
              <a:blipFill>
                <a:blip r:embed="rId15"/>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D76AEED3-A518-EB4B-9F22-D34EB47F8B4E}"/>
              </a:ext>
            </a:extLst>
          </p:cNvPr>
          <p:cNvSpPr txBox="1"/>
          <p:nvPr/>
        </p:nvSpPr>
        <p:spPr>
          <a:xfrm>
            <a:off x="8079814" y="1461204"/>
            <a:ext cx="2718373" cy="461665"/>
          </a:xfrm>
          <a:prstGeom prst="rect">
            <a:avLst/>
          </a:prstGeom>
          <a:noFill/>
        </p:spPr>
        <p:txBody>
          <a:bodyPr wrap="none" rtlCol="0">
            <a:spAutoFit/>
          </a:bodyPr>
          <a:lstStyle/>
          <a:p>
            <a:r>
              <a:rPr lang="en-ZA" sz="2400" dirty="0"/>
              <a:t>eigenvalue equation</a:t>
            </a:r>
            <a:endParaRPr lang="en-US" sz="2400" dirty="0"/>
          </a:p>
        </p:txBody>
      </p:sp>
    </p:spTree>
    <p:extLst>
      <p:ext uri="{BB962C8B-B14F-4D97-AF65-F5344CB8AC3E}">
        <p14:creationId xmlns:p14="http://schemas.microsoft.com/office/powerpoint/2010/main" val="2708997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linds(horizontal)">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5DC7B5FE-46E8-8741-A8AF-33440C228CA7}"/>
              </a:ext>
            </a:extLst>
          </p:cNvPr>
          <p:cNvCxnSpPr>
            <a:cxnSpLocks/>
          </p:cNvCxnSpPr>
          <p:nvPr/>
        </p:nvCxnSpPr>
        <p:spPr>
          <a:xfrm>
            <a:off x="1831406" y="5148129"/>
            <a:ext cx="334361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C5F19C74-A2F5-0A45-AFA6-E4B4DB4BF209}"/>
              </a:ext>
            </a:extLst>
          </p:cNvPr>
          <p:cNvPicPr>
            <a:picLocks noChangeAspect="1"/>
          </p:cNvPicPr>
          <p:nvPr/>
        </p:nvPicPr>
        <p:blipFill>
          <a:blip r:embed="rId3">
            <a:alphaModFix amt="42000"/>
          </a:blip>
          <a:stretch>
            <a:fillRect/>
          </a:stretch>
        </p:blipFill>
        <p:spPr>
          <a:xfrm>
            <a:off x="1116120" y="2563645"/>
            <a:ext cx="2724581" cy="2328657"/>
          </a:xfrm>
          <a:prstGeom prst="rect">
            <a:avLst/>
          </a:prstGeom>
        </p:spPr>
      </p:pic>
      <p:sp>
        <p:nvSpPr>
          <p:cNvPr id="2" name="Title 1">
            <a:extLst>
              <a:ext uri="{FF2B5EF4-FFF2-40B4-BE49-F238E27FC236}">
                <a16:creationId xmlns:a16="http://schemas.microsoft.com/office/drawing/2014/main" id="{A7D5D3F4-D0BF-6947-B640-C0415A8084B7}"/>
              </a:ext>
            </a:extLst>
          </p:cNvPr>
          <p:cNvSpPr>
            <a:spLocks noGrp="1"/>
          </p:cNvSpPr>
          <p:nvPr>
            <p:ph type="title"/>
          </p:nvPr>
        </p:nvSpPr>
        <p:spPr/>
        <p:txBody>
          <a:bodyPr/>
          <a:lstStyle/>
          <a:p>
            <a:r>
              <a:rPr lang="en-US" dirty="0"/>
              <a:t>Phase Kickback</a:t>
            </a:r>
          </a:p>
        </p:txBody>
      </p:sp>
      <p:sp>
        <p:nvSpPr>
          <p:cNvPr id="3" name="Slide Number Placeholder 2">
            <a:extLst>
              <a:ext uri="{FF2B5EF4-FFF2-40B4-BE49-F238E27FC236}">
                <a16:creationId xmlns:a16="http://schemas.microsoft.com/office/drawing/2014/main" id="{B13148F6-04BB-1A4C-BB0D-47E9AC63DA65}"/>
              </a:ext>
            </a:extLst>
          </p:cNvPr>
          <p:cNvSpPr>
            <a:spLocks noGrp="1"/>
          </p:cNvSpPr>
          <p:nvPr>
            <p:ph type="sldNum" sz="quarter" idx="12"/>
          </p:nvPr>
        </p:nvSpPr>
        <p:spPr/>
        <p:txBody>
          <a:bodyPr/>
          <a:lstStyle/>
          <a:p>
            <a:fld id="{591A223C-FA10-BC46-A853-03BA373D023C}" type="slidenum">
              <a:rPr lang="en-US" smtClean="0"/>
              <a:t>32</a:t>
            </a:fld>
            <a:endParaRPr lang="en-US"/>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A6F557AE-6A0C-DE42-8757-DB14C98F5D51}"/>
                  </a:ext>
                </a:extLst>
              </p:cNvPr>
              <p:cNvSpPr/>
              <p:nvPr/>
            </p:nvSpPr>
            <p:spPr>
              <a:xfrm rot="20140813">
                <a:off x="3795689" y="2321990"/>
                <a:ext cx="1116780" cy="7913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4400" i="1" smtClean="0">
                              <a:solidFill>
                                <a:srgbClr val="002060"/>
                              </a:solidFill>
                              <a:latin typeface="Cambria Math" panose="02040503050406030204" pitchFamily="18" charset="0"/>
                              <a:ea typeface="Cambria Math" panose="02040503050406030204" pitchFamily="18" charset="0"/>
                            </a:rPr>
                          </m:ctrlPr>
                        </m:sSupPr>
                        <m:e>
                          <m:r>
                            <a:rPr lang="en-US" sz="4400" b="0" i="1" smtClean="0">
                              <a:solidFill>
                                <a:srgbClr val="002060"/>
                              </a:solidFill>
                              <a:latin typeface="Cambria Math" panose="02040503050406030204" pitchFamily="18" charset="0"/>
                              <a:ea typeface="Cambria Math" panose="02040503050406030204" pitchFamily="18" charset="0"/>
                            </a:rPr>
                            <m:t>𝑒</m:t>
                          </m:r>
                        </m:e>
                        <m:sup>
                          <m:r>
                            <a:rPr lang="en-US" sz="4400" b="0" i="1" smtClean="0">
                              <a:solidFill>
                                <a:srgbClr val="002060"/>
                              </a:solidFill>
                              <a:latin typeface="Cambria Math" panose="02040503050406030204" pitchFamily="18" charset="0"/>
                              <a:ea typeface="Cambria Math" panose="02040503050406030204" pitchFamily="18" charset="0"/>
                            </a:rPr>
                            <m:t>𝑖</m:t>
                          </m:r>
                          <m:r>
                            <a:rPr lang="el-GR" sz="4400" i="1">
                              <a:solidFill>
                                <a:srgbClr val="002060"/>
                              </a:solidFill>
                              <a:latin typeface="Cambria Math" panose="02040503050406030204" pitchFamily="18" charset="0"/>
                              <a:ea typeface="Cambria Math" panose="02040503050406030204" pitchFamily="18" charset="0"/>
                            </a:rPr>
                            <m:t>𝜑</m:t>
                          </m:r>
                        </m:sup>
                      </m:sSup>
                    </m:oMath>
                  </m:oMathPara>
                </a14:m>
                <a:endParaRPr lang="en-US" sz="4400" dirty="0"/>
              </a:p>
            </p:txBody>
          </p:sp>
        </mc:Choice>
        <mc:Fallback xmlns="">
          <p:sp>
            <p:nvSpPr>
              <p:cNvPr id="10" name="Rectangle 9">
                <a:extLst>
                  <a:ext uri="{FF2B5EF4-FFF2-40B4-BE49-F238E27FC236}">
                    <a16:creationId xmlns:a16="http://schemas.microsoft.com/office/drawing/2014/main" id="{A6F557AE-6A0C-DE42-8757-DB14C98F5D51}"/>
                  </a:ext>
                </a:extLst>
              </p:cNvPr>
              <p:cNvSpPr>
                <a:spLocks noRot="1" noChangeAspect="1" noMove="1" noResize="1" noEditPoints="1" noAdjustHandles="1" noChangeArrowheads="1" noChangeShapeType="1" noTextEdit="1"/>
              </p:cNvSpPr>
              <p:nvPr/>
            </p:nvSpPr>
            <p:spPr>
              <a:xfrm rot="20140813">
                <a:off x="3795689" y="2321990"/>
                <a:ext cx="1116780" cy="791370"/>
              </a:xfrm>
              <a:prstGeom prst="rect">
                <a:avLst/>
              </a:prstGeom>
              <a:blipFill>
                <a:blip r:embed="rId4"/>
                <a:stretch>
                  <a:fillRect/>
                </a:stretch>
              </a:blipFill>
            </p:spPr>
            <p:txBody>
              <a:bodyPr/>
              <a:lstStyle/>
              <a:p>
                <a:r>
                  <a:rPr lang="en-US">
                    <a:noFill/>
                  </a:rPr>
                  <a:t> </a:t>
                </a:r>
              </a:p>
            </p:txBody>
          </p:sp>
        </mc:Fallback>
      </mc:AlternateContent>
      <p:pic>
        <p:nvPicPr>
          <p:cNvPr id="21" name="Picture 20">
            <a:extLst>
              <a:ext uri="{FF2B5EF4-FFF2-40B4-BE49-F238E27FC236}">
                <a16:creationId xmlns:a16="http://schemas.microsoft.com/office/drawing/2014/main" id="{3E63359C-2569-894A-86F7-F2EAADEA4733}"/>
              </a:ext>
            </a:extLst>
          </p:cNvPr>
          <p:cNvPicPr>
            <a:picLocks noChangeAspect="1"/>
          </p:cNvPicPr>
          <p:nvPr/>
        </p:nvPicPr>
        <p:blipFill>
          <a:blip r:embed="rId5"/>
          <a:stretch>
            <a:fillRect/>
          </a:stretch>
        </p:blipFill>
        <p:spPr>
          <a:xfrm rot="6486082" flipV="1">
            <a:off x="3904987" y="2796114"/>
            <a:ext cx="1358344" cy="448844"/>
          </a:xfrm>
          <a:prstGeom prst="rect">
            <a:avLst/>
          </a:prstGeom>
        </p:spPr>
      </p:pic>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0EB4A784-A008-1D44-A377-AF1BBCEBC205}"/>
                  </a:ext>
                </a:extLst>
              </p:cNvPr>
              <p:cNvSpPr/>
              <p:nvPr/>
            </p:nvSpPr>
            <p:spPr>
              <a:xfrm>
                <a:off x="602412" y="4498698"/>
                <a:ext cx="940257"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000" i="1" smtClean="0">
                              <a:solidFill>
                                <a:srgbClr val="002060"/>
                              </a:solidFill>
                              <a:latin typeface="Cambria Math" panose="02040503050406030204" pitchFamily="18" charset="0"/>
                              <a:ea typeface="Cambria Math" panose="02040503050406030204" pitchFamily="18" charset="0"/>
                            </a:rPr>
                          </m:ctrlPr>
                        </m:dPr>
                        <m:e>
                          <m:r>
                            <a:rPr lang="en-US" sz="4000" i="1">
                              <a:solidFill>
                                <a:srgbClr val="002060"/>
                              </a:solidFill>
                              <a:latin typeface="Cambria Math" panose="02040503050406030204" pitchFamily="18" charset="0"/>
                              <a:ea typeface="Cambria Math" panose="02040503050406030204" pitchFamily="18" charset="0"/>
                            </a:rPr>
                            <m:t>|</m:t>
                          </m:r>
                          <m:r>
                            <a:rPr lang="en-US" sz="4000" b="0" i="1" smtClean="0">
                              <a:solidFill>
                                <a:srgbClr val="002060"/>
                              </a:solidFill>
                              <a:latin typeface="Cambria Math" panose="02040503050406030204" pitchFamily="18" charset="0"/>
                              <a:ea typeface="Cambria Math" panose="02040503050406030204" pitchFamily="18" charset="0"/>
                            </a:rPr>
                            <m:t>𝑣</m:t>
                          </m:r>
                        </m:e>
                      </m:d>
                    </m:oMath>
                  </m:oMathPara>
                </a14:m>
                <a:endParaRPr lang="en-US" sz="4000" dirty="0"/>
              </a:p>
            </p:txBody>
          </p:sp>
        </mc:Choice>
        <mc:Fallback xmlns="">
          <p:sp>
            <p:nvSpPr>
              <p:cNvPr id="24" name="Rectangle 23">
                <a:extLst>
                  <a:ext uri="{FF2B5EF4-FFF2-40B4-BE49-F238E27FC236}">
                    <a16:creationId xmlns:a16="http://schemas.microsoft.com/office/drawing/2014/main" id="{0EB4A784-A008-1D44-A377-AF1BBCEBC205}"/>
                  </a:ext>
                </a:extLst>
              </p:cNvPr>
              <p:cNvSpPr>
                <a:spLocks noRot="1" noChangeAspect="1" noMove="1" noResize="1" noEditPoints="1" noAdjustHandles="1" noChangeArrowheads="1" noChangeShapeType="1" noTextEdit="1"/>
              </p:cNvSpPr>
              <p:nvPr/>
            </p:nvSpPr>
            <p:spPr>
              <a:xfrm>
                <a:off x="602412" y="4498698"/>
                <a:ext cx="940257" cy="707886"/>
              </a:xfrm>
              <a:prstGeom prst="rect">
                <a:avLst/>
              </a:prstGeom>
              <a:blipFill>
                <a:blip r:embed="rId6"/>
                <a:stretch>
                  <a:fillRect l="-34667" t="-138596" r="-64000" b="-2157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5987BCAD-0FF3-5048-B820-0B6D2B41F9DA}"/>
                  </a:ext>
                </a:extLst>
              </p:cNvPr>
              <p:cNvSpPr/>
              <p:nvPr/>
            </p:nvSpPr>
            <p:spPr>
              <a:xfrm>
                <a:off x="6404195" y="3568852"/>
                <a:ext cx="3935052" cy="854978"/>
              </a:xfrm>
              <a:prstGeom prst="rect">
                <a:avLst/>
              </a:prstGeom>
              <a:solidFill>
                <a:schemeClr val="accent4">
                  <a:lumMod val="20000"/>
                  <a:lumOff val="80000"/>
                </a:schemeClr>
              </a:solidFill>
            </p:spPr>
            <p:txBody>
              <a:bodyPr wrap="none">
                <a:spAutoFit/>
              </a:bodyPr>
              <a:lstStyle/>
              <a:p>
                <a14:m>
                  <m:oMath xmlns:m="http://schemas.openxmlformats.org/officeDocument/2006/math">
                    <m:r>
                      <a:rPr lang="en-US" sz="4800" b="0" i="1" smtClean="0">
                        <a:solidFill>
                          <a:srgbClr val="002060"/>
                        </a:solidFill>
                        <a:latin typeface="Cambria Math" panose="02040503050406030204" pitchFamily="18" charset="0"/>
                        <a:ea typeface="Cambria Math" panose="02040503050406030204" pitchFamily="18" charset="0"/>
                      </a:rPr>
                      <m:t>𝑉</m:t>
                    </m:r>
                    <m:d>
                      <m:dPr>
                        <m:begChr m:val=""/>
                        <m:endChr m:val="⟩"/>
                        <m:ctrlPr>
                          <a:rPr lang="en-US" sz="4800" i="1">
                            <a:solidFill>
                              <a:srgbClr val="002060"/>
                            </a:solidFill>
                            <a:latin typeface="Cambria Math" panose="02040503050406030204" pitchFamily="18" charset="0"/>
                            <a:ea typeface="Cambria Math" panose="02040503050406030204" pitchFamily="18" charset="0"/>
                          </a:rPr>
                        </m:ctrlPr>
                      </m:dPr>
                      <m:e>
                        <m:r>
                          <a:rPr lang="en-US" sz="4800" i="1">
                            <a:solidFill>
                              <a:srgbClr val="002060"/>
                            </a:solidFill>
                            <a:latin typeface="Cambria Math" panose="02040503050406030204" pitchFamily="18" charset="0"/>
                            <a:ea typeface="Cambria Math" panose="02040503050406030204" pitchFamily="18" charset="0"/>
                          </a:rPr>
                          <m:t>|</m:t>
                        </m:r>
                        <m:r>
                          <a:rPr lang="en-US" sz="4800" b="0" i="1" smtClean="0">
                            <a:solidFill>
                              <a:srgbClr val="002060"/>
                            </a:solidFill>
                            <a:latin typeface="Cambria Math" panose="02040503050406030204" pitchFamily="18" charset="0"/>
                            <a:ea typeface="Cambria Math" panose="02040503050406030204" pitchFamily="18" charset="0"/>
                          </a:rPr>
                          <m:t>𝑣</m:t>
                        </m:r>
                      </m:e>
                    </m:d>
                    <m:r>
                      <a:rPr lang="en-US" sz="4800" b="0" i="1" smtClean="0">
                        <a:solidFill>
                          <a:schemeClr val="tx1"/>
                        </a:solidFill>
                        <a:latin typeface="Cambria Math" panose="02040503050406030204" pitchFamily="18" charset="0"/>
                        <a:ea typeface="Cambria Math" panose="02040503050406030204" pitchFamily="18" charset="0"/>
                      </a:rPr>
                      <m:t>=</m:t>
                    </m:r>
                    <m:sSup>
                      <m:sSupPr>
                        <m:ctrlPr>
                          <a:rPr lang="en-US" sz="4800" i="1">
                            <a:latin typeface="Cambria Math" panose="02040503050406030204" pitchFamily="18" charset="0"/>
                            <a:ea typeface="Cambria Math" panose="02040503050406030204" pitchFamily="18" charset="0"/>
                          </a:rPr>
                        </m:ctrlPr>
                      </m:sSupPr>
                      <m:e>
                        <m:r>
                          <a:rPr lang="en-US" sz="4800" i="1">
                            <a:latin typeface="Cambria Math" panose="02040503050406030204" pitchFamily="18" charset="0"/>
                            <a:ea typeface="Cambria Math" panose="02040503050406030204" pitchFamily="18" charset="0"/>
                          </a:rPr>
                          <m:t>𝑒</m:t>
                        </m:r>
                      </m:e>
                      <m:sup>
                        <m:r>
                          <a:rPr lang="en-US" sz="4800" i="1">
                            <a:latin typeface="Cambria Math" panose="02040503050406030204" pitchFamily="18" charset="0"/>
                            <a:ea typeface="Cambria Math" panose="02040503050406030204" pitchFamily="18" charset="0"/>
                          </a:rPr>
                          <m:t>𝑖</m:t>
                        </m:r>
                        <m:r>
                          <a:rPr lang="el-GR" sz="4800" i="1">
                            <a:latin typeface="Cambria Math" panose="02040503050406030204" pitchFamily="18" charset="0"/>
                            <a:ea typeface="Cambria Math" panose="02040503050406030204" pitchFamily="18" charset="0"/>
                          </a:rPr>
                          <m:t>𝜑</m:t>
                        </m:r>
                      </m:sup>
                    </m:sSup>
                  </m:oMath>
                </a14:m>
                <a:r>
                  <a:rPr lang="en-US" sz="4800" dirty="0">
                    <a:solidFill>
                      <a:srgbClr val="002060"/>
                    </a:solidFill>
                    <a:ea typeface="Cambria Math" panose="02040503050406030204" pitchFamily="18" charset="0"/>
                  </a:rPr>
                  <a:t> </a:t>
                </a:r>
                <a14:m>
                  <m:oMath xmlns:m="http://schemas.openxmlformats.org/officeDocument/2006/math">
                    <m:d>
                      <m:dPr>
                        <m:begChr m:val=""/>
                        <m:endChr m:val="⟩"/>
                        <m:ctrlPr>
                          <a:rPr lang="en-US" sz="4800" i="1">
                            <a:solidFill>
                              <a:srgbClr val="002060"/>
                            </a:solidFill>
                            <a:latin typeface="Cambria Math" panose="02040503050406030204" pitchFamily="18" charset="0"/>
                            <a:ea typeface="Cambria Math" panose="02040503050406030204" pitchFamily="18" charset="0"/>
                          </a:rPr>
                        </m:ctrlPr>
                      </m:dPr>
                      <m:e>
                        <m:r>
                          <a:rPr lang="en-US" sz="4800" i="1">
                            <a:solidFill>
                              <a:srgbClr val="002060"/>
                            </a:solidFill>
                            <a:latin typeface="Cambria Math" panose="02040503050406030204" pitchFamily="18" charset="0"/>
                            <a:ea typeface="Cambria Math" panose="02040503050406030204" pitchFamily="18" charset="0"/>
                          </a:rPr>
                          <m:t>|</m:t>
                        </m:r>
                        <m:r>
                          <a:rPr lang="en-US" sz="4800" b="0" i="1" smtClean="0">
                            <a:solidFill>
                              <a:srgbClr val="002060"/>
                            </a:solidFill>
                            <a:latin typeface="Cambria Math" panose="02040503050406030204" pitchFamily="18" charset="0"/>
                            <a:ea typeface="Cambria Math" panose="02040503050406030204" pitchFamily="18" charset="0"/>
                          </a:rPr>
                          <m:t>𝑣</m:t>
                        </m:r>
                      </m:e>
                    </m:d>
                  </m:oMath>
                </a14:m>
                <a:endParaRPr lang="en-US" sz="4800" i="1" dirty="0">
                  <a:solidFill>
                    <a:schemeClr val="tx1"/>
                  </a:solidFill>
                </a:endParaRPr>
              </a:p>
            </p:txBody>
          </p:sp>
        </mc:Choice>
        <mc:Fallback xmlns="">
          <p:sp>
            <p:nvSpPr>
              <p:cNvPr id="36" name="Rectangle 35">
                <a:extLst>
                  <a:ext uri="{FF2B5EF4-FFF2-40B4-BE49-F238E27FC236}">
                    <a16:creationId xmlns:a16="http://schemas.microsoft.com/office/drawing/2014/main" id="{5987BCAD-0FF3-5048-B820-0B6D2B41F9DA}"/>
                  </a:ext>
                </a:extLst>
              </p:cNvPr>
              <p:cNvSpPr>
                <a:spLocks noRot="1" noChangeAspect="1" noMove="1" noResize="1" noEditPoints="1" noAdjustHandles="1" noChangeArrowheads="1" noChangeShapeType="1" noTextEdit="1"/>
              </p:cNvSpPr>
              <p:nvPr/>
            </p:nvSpPr>
            <p:spPr>
              <a:xfrm>
                <a:off x="6404195" y="3568852"/>
                <a:ext cx="3935052" cy="854978"/>
              </a:xfrm>
              <a:prstGeom prst="rect">
                <a:avLst/>
              </a:prstGeom>
              <a:blipFill>
                <a:blip r:embed="rId7"/>
                <a:stretch>
                  <a:fillRect l="-2903" t="-139706" r="-19677" b="-213235"/>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662143EF-98A4-094A-BFD3-3FE93FB1511E}"/>
              </a:ext>
            </a:extLst>
          </p:cNvPr>
          <p:cNvSpPr txBox="1"/>
          <p:nvPr/>
        </p:nvSpPr>
        <p:spPr>
          <a:xfrm>
            <a:off x="6622226" y="2802526"/>
            <a:ext cx="1527982" cy="430887"/>
          </a:xfrm>
          <a:prstGeom prst="rect">
            <a:avLst/>
          </a:prstGeom>
          <a:noFill/>
        </p:spPr>
        <p:txBody>
          <a:bodyPr wrap="none" rtlCol="0">
            <a:spAutoFit/>
          </a:bodyPr>
          <a:lstStyle/>
          <a:p>
            <a:r>
              <a:rPr lang="en-US" sz="2200" dirty="0">
                <a:latin typeface="Comic Sans MS" panose="030F0902030302020204" pitchFamily="66" charset="0"/>
              </a:rPr>
              <a:t>eigenvalue</a:t>
            </a:r>
          </a:p>
        </p:txBody>
      </p:sp>
      <p:sp>
        <p:nvSpPr>
          <p:cNvPr id="28" name="TextBox 27">
            <a:extLst>
              <a:ext uri="{FF2B5EF4-FFF2-40B4-BE49-F238E27FC236}">
                <a16:creationId xmlns:a16="http://schemas.microsoft.com/office/drawing/2014/main" id="{C96D04EA-C80F-7049-965A-259BFF11B5B5}"/>
              </a:ext>
            </a:extLst>
          </p:cNvPr>
          <p:cNvSpPr txBox="1"/>
          <p:nvPr/>
        </p:nvSpPr>
        <p:spPr>
          <a:xfrm>
            <a:off x="9846816" y="2802526"/>
            <a:ext cx="1721946" cy="430887"/>
          </a:xfrm>
          <a:prstGeom prst="rect">
            <a:avLst/>
          </a:prstGeom>
          <a:noFill/>
        </p:spPr>
        <p:txBody>
          <a:bodyPr wrap="none" rtlCol="0">
            <a:spAutoFit/>
          </a:bodyPr>
          <a:lstStyle/>
          <a:p>
            <a:r>
              <a:rPr lang="en-US" sz="2200" dirty="0">
                <a:latin typeface="Comic Sans MS" panose="030F0902030302020204" pitchFamily="66" charset="0"/>
              </a:rPr>
              <a:t>eigenvector</a:t>
            </a:r>
          </a:p>
        </p:txBody>
      </p:sp>
      <p:cxnSp>
        <p:nvCxnSpPr>
          <p:cNvPr id="8" name="Straight Arrow Connector 7">
            <a:extLst>
              <a:ext uri="{FF2B5EF4-FFF2-40B4-BE49-F238E27FC236}">
                <a16:creationId xmlns:a16="http://schemas.microsoft.com/office/drawing/2014/main" id="{E38D6027-2A02-3149-955E-0A9D2FD52A5C}"/>
              </a:ext>
            </a:extLst>
          </p:cNvPr>
          <p:cNvCxnSpPr>
            <a:cxnSpLocks/>
          </p:cNvCxnSpPr>
          <p:nvPr/>
        </p:nvCxnSpPr>
        <p:spPr>
          <a:xfrm>
            <a:off x="8218355" y="3233413"/>
            <a:ext cx="447296" cy="461994"/>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4DB213B8-7551-7F46-9DD7-14A36DC244B9}"/>
              </a:ext>
            </a:extLst>
          </p:cNvPr>
          <p:cNvCxnSpPr>
            <a:cxnSpLocks/>
          </p:cNvCxnSpPr>
          <p:nvPr/>
        </p:nvCxnSpPr>
        <p:spPr>
          <a:xfrm flipH="1">
            <a:off x="9966647" y="3233413"/>
            <a:ext cx="447296" cy="461994"/>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9C8DF251-1501-1C45-8B39-235F5912B86B}"/>
                  </a:ext>
                </a:extLst>
              </p:cNvPr>
              <p:cNvSpPr/>
              <p:nvPr/>
            </p:nvSpPr>
            <p:spPr>
              <a:xfrm>
                <a:off x="625494" y="1600803"/>
                <a:ext cx="898259"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000" i="1" smtClean="0">
                              <a:solidFill>
                                <a:srgbClr val="002060"/>
                              </a:solidFill>
                              <a:latin typeface="Cambria Math" panose="02040503050406030204" pitchFamily="18" charset="0"/>
                              <a:ea typeface="Cambria Math" panose="02040503050406030204" pitchFamily="18" charset="0"/>
                            </a:rPr>
                          </m:ctrlPr>
                        </m:dPr>
                        <m:e>
                          <m:r>
                            <a:rPr lang="en-US" sz="4000" i="1">
                              <a:solidFill>
                                <a:srgbClr val="002060"/>
                              </a:solidFill>
                              <a:latin typeface="Cambria Math" panose="02040503050406030204" pitchFamily="18" charset="0"/>
                              <a:ea typeface="Cambria Math" panose="02040503050406030204" pitchFamily="18" charset="0"/>
                            </a:rPr>
                            <m:t>|</m:t>
                          </m:r>
                          <m:r>
                            <a:rPr lang="en-US" sz="4000" b="0" i="1" smtClean="0">
                              <a:solidFill>
                                <a:srgbClr val="002060"/>
                              </a:solidFill>
                              <a:latin typeface="Cambria Math" panose="02040503050406030204" pitchFamily="18" charset="0"/>
                              <a:ea typeface="Cambria Math" panose="02040503050406030204" pitchFamily="18" charset="0"/>
                            </a:rPr>
                            <m:t>𝑐</m:t>
                          </m:r>
                        </m:e>
                      </m:d>
                    </m:oMath>
                  </m:oMathPara>
                </a14:m>
                <a:endParaRPr lang="en-US" sz="4000" dirty="0"/>
              </a:p>
            </p:txBody>
          </p:sp>
        </mc:Choice>
        <mc:Fallback xmlns="">
          <p:sp>
            <p:nvSpPr>
              <p:cNvPr id="32" name="Rectangle 31">
                <a:extLst>
                  <a:ext uri="{FF2B5EF4-FFF2-40B4-BE49-F238E27FC236}">
                    <a16:creationId xmlns:a16="http://schemas.microsoft.com/office/drawing/2014/main" id="{9C8DF251-1501-1C45-8B39-235F5912B86B}"/>
                  </a:ext>
                </a:extLst>
              </p:cNvPr>
              <p:cNvSpPr>
                <a:spLocks noRot="1" noChangeAspect="1" noMove="1" noResize="1" noEditPoints="1" noAdjustHandles="1" noChangeArrowheads="1" noChangeShapeType="1" noTextEdit="1"/>
              </p:cNvSpPr>
              <p:nvPr/>
            </p:nvSpPr>
            <p:spPr>
              <a:xfrm>
                <a:off x="625494" y="1600803"/>
                <a:ext cx="898259" cy="707886"/>
              </a:xfrm>
              <a:prstGeom prst="rect">
                <a:avLst/>
              </a:prstGeom>
              <a:blipFill>
                <a:blip r:embed="rId8"/>
                <a:stretch>
                  <a:fillRect l="-40278" t="-140351" r="-66667" b="-2157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BCCA04FC-B0CB-4F44-9C9D-64AA66EA737A}"/>
                  </a:ext>
                </a:extLst>
              </p:cNvPr>
              <p:cNvSpPr/>
              <p:nvPr/>
            </p:nvSpPr>
            <p:spPr>
              <a:xfrm>
                <a:off x="3144159" y="4413694"/>
                <a:ext cx="1440000" cy="1440000"/>
              </a:xfrm>
              <a:prstGeom prst="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4000" b="0" i="0" smtClean="0">
                          <a:solidFill>
                            <a:schemeClr val="tx1"/>
                          </a:solidFill>
                          <a:latin typeface="Cambria Math" panose="02040503050406030204" pitchFamily="18" charset="0"/>
                          <a:ea typeface="Cambria Math" panose="02040503050406030204" pitchFamily="18" charset="0"/>
                        </a:rPr>
                        <m:t>  </m:t>
                      </m:r>
                      <m:r>
                        <m:rPr>
                          <m:sty m:val="p"/>
                        </m:rPr>
                        <a:rPr lang="en-US" sz="4000" smtClean="0">
                          <a:solidFill>
                            <a:schemeClr val="tx1"/>
                          </a:solidFill>
                          <a:latin typeface="Cambria Math" panose="02040503050406030204" pitchFamily="18" charset="0"/>
                          <a:ea typeface="Cambria Math" panose="02040503050406030204" pitchFamily="18" charset="0"/>
                        </a:rPr>
                        <m:t>V</m:t>
                      </m:r>
                      <m:r>
                        <a:rPr lang="en-US" sz="4000" smtClean="0">
                          <a:solidFill>
                            <a:schemeClr val="tx1"/>
                          </a:solidFill>
                          <a:latin typeface="Cambria Math" panose="02040503050406030204" pitchFamily="18" charset="0"/>
                          <a:ea typeface="Cambria Math" panose="02040503050406030204" pitchFamily="18" charset="0"/>
                        </a:rPr>
                        <m:t>(</m:t>
                      </m:r>
                      <m:r>
                        <a:rPr lang="el-GR" sz="4000" i="1">
                          <a:solidFill>
                            <a:schemeClr val="tx1"/>
                          </a:solidFill>
                          <a:latin typeface="Cambria Math" panose="02040503050406030204" pitchFamily="18" charset="0"/>
                          <a:ea typeface="Cambria Math" panose="02040503050406030204" pitchFamily="18" charset="0"/>
                        </a:rPr>
                        <m:t>𝜑</m:t>
                      </m:r>
                      <m:r>
                        <a:rPr lang="en-US" sz="4000">
                          <a:solidFill>
                            <a:schemeClr val="tx1"/>
                          </a:solidFill>
                          <a:latin typeface="Cambria Math" panose="02040503050406030204" pitchFamily="18" charset="0"/>
                          <a:ea typeface="Cambria Math" panose="02040503050406030204" pitchFamily="18" charset="0"/>
                        </a:rPr>
                        <m:t>)</m:t>
                      </m:r>
                    </m:oMath>
                  </m:oMathPara>
                </a14:m>
                <a:endParaRPr lang="en-US" sz="4000" dirty="0">
                  <a:solidFill>
                    <a:schemeClr val="tx1"/>
                  </a:solidFill>
                </a:endParaRPr>
              </a:p>
            </p:txBody>
          </p:sp>
        </mc:Choice>
        <mc:Fallback xmlns="">
          <p:sp>
            <p:nvSpPr>
              <p:cNvPr id="9" name="Rectangle 8">
                <a:extLst>
                  <a:ext uri="{FF2B5EF4-FFF2-40B4-BE49-F238E27FC236}">
                    <a16:creationId xmlns:a16="http://schemas.microsoft.com/office/drawing/2014/main" id="{BCCA04FC-B0CB-4F44-9C9D-64AA66EA737A}"/>
                  </a:ext>
                </a:extLst>
              </p:cNvPr>
              <p:cNvSpPr>
                <a:spLocks noRot="1" noChangeAspect="1" noMove="1" noResize="1" noEditPoints="1" noAdjustHandles="1" noChangeArrowheads="1" noChangeShapeType="1" noTextEdit="1"/>
              </p:cNvSpPr>
              <p:nvPr/>
            </p:nvSpPr>
            <p:spPr>
              <a:xfrm>
                <a:off x="3144159" y="4413694"/>
                <a:ext cx="1440000" cy="1440000"/>
              </a:xfrm>
              <a:prstGeom prst="rect">
                <a:avLst/>
              </a:prstGeom>
              <a:blipFill>
                <a:blip r:embed="rId13"/>
                <a:stretch>
                  <a:fillRect l="-16522" r="-6957"/>
                </a:stretch>
              </a:blipFill>
              <a:ln>
                <a:solidFill>
                  <a:schemeClr val="accent4">
                    <a:lumMod val="50000"/>
                  </a:schemeClr>
                </a:solidFill>
              </a:ln>
            </p:spPr>
            <p:txBody>
              <a:bodyPr/>
              <a:lstStyle/>
              <a:p>
                <a:r>
                  <a:rPr lang="en-US">
                    <a:noFill/>
                  </a:rPr>
                  <a:t> </a:t>
                </a:r>
              </a:p>
            </p:txBody>
          </p:sp>
        </mc:Fallback>
      </mc:AlternateContent>
      <p:cxnSp>
        <p:nvCxnSpPr>
          <p:cNvPr id="33" name="Straight Connector 32">
            <a:extLst>
              <a:ext uri="{FF2B5EF4-FFF2-40B4-BE49-F238E27FC236}">
                <a16:creationId xmlns:a16="http://schemas.microsoft.com/office/drawing/2014/main" id="{4DF8DF79-46BA-6641-BAFB-43CEFF06D7E9}"/>
              </a:ext>
            </a:extLst>
          </p:cNvPr>
          <p:cNvCxnSpPr>
            <a:cxnSpLocks/>
          </p:cNvCxnSpPr>
          <p:nvPr/>
        </p:nvCxnSpPr>
        <p:spPr>
          <a:xfrm>
            <a:off x="3881628" y="2038973"/>
            <a:ext cx="0" cy="237472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77B5DC4-7E0A-4B40-B010-73CC7E2CEAF4}"/>
              </a:ext>
            </a:extLst>
          </p:cNvPr>
          <p:cNvCxnSpPr>
            <a:cxnSpLocks/>
          </p:cNvCxnSpPr>
          <p:nvPr/>
        </p:nvCxnSpPr>
        <p:spPr>
          <a:xfrm>
            <a:off x="1831406" y="2008745"/>
            <a:ext cx="334361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687904A0-92A0-9045-9C59-8F01175295D2}"/>
              </a:ext>
            </a:extLst>
          </p:cNvPr>
          <p:cNvSpPr/>
          <p:nvPr/>
        </p:nvSpPr>
        <p:spPr>
          <a:xfrm>
            <a:off x="3701575" y="1824066"/>
            <a:ext cx="360000" cy="36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49153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1EB68-8533-AD4C-A7DA-97EF247B36DD}"/>
              </a:ext>
            </a:extLst>
          </p:cNvPr>
          <p:cNvSpPr>
            <a:spLocks noGrp="1"/>
          </p:cNvSpPr>
          <p:nvPr>
            <p:ph type="title"/>
          </p:nvPr>
        </p:nvSpPr>
        <p:spPr>
          <a:xfrm>
            <a:off x="0" y="0"/>
            <a:ext cx="12192000" cy="928688"/>
          </a:xfrm>
        </p:spPr>
        <p:txBody>
          <a:bodyPr/>
          <a:lstStyle/>
          <a:p>
            <a:r>
              <a:rPr lang="en-ZA" dirty="0"/>
              <a:t>Phase Kickback Example</a:t>
            </a:r>
            <a:endParaRPr lang="en-US" dirty="0"/>
          </a:p>
        </p:txBody>
      </p:sp>
      <p:sp>
        <p:nvSpPr>
          <p:cNvPr id="3" name="Slide Number Placeholder 2">
            <a:extLst>
              <a:ext uri="{FF2B5EF4-FFF2-40B4-BE49-F238E27FC236}">
                <a16:creationId xmlns:a16="http://schemas.microsoft.com/office/drawing/2014/main" id="{E060479E-310E-5F43-B0B0-A3CC5BCA74E7}"/>
              </a:ext>
            </a:extLst>
          </p:cNvPr>
          <p:cNvSpPr>
            <a:spLocks noGrp="1"/>
          </p:cNvSpPr>
          <p:nvPr>
            <p:ph type="sldNum" sz="quarter" idx="12"/>
          </p:nvPr>
        </p:nvSpPr>
        <p:spPr/>
        <p:txBody>
          <a:bodyPr/>
          <a:lstStyle/>
          <a:p>
            <a:fld id="{591A223C-FA10-BC46-A853-03BA373D023C}" type="slidenum">
              <a:rPr lang="en-US" smtClean="0"/>
              <a:t>33</a:t>
            </a:fld>
            <a:endParaRPr lang="en-US"/>
          </a:p>
        </p:txBody>
      </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860BB498-A112-C84F-AA6D-1A2B4C0E3AB4}"/>
                  </a:ext>
                </a:extLst>
              </p:cNvPr>
              <p:cNvSpPr/>
              <p:nvPr/>
            </p:nvSpPr>
            <p:spPr>
              <a:xfrm>
                <a:off x="4729476" y="2358769"/>
                <a:ext cx="3450945" cy="179183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US" sz="2400" b="0" i="1" smtClean="0">
                              <a:solidFill>
                                <a:srgbClr val="002060"/>
                              </a:solidFill>
                              <a:latin typeface="Cambria Math" panose="02040503050406030204" pitchFamily="18" charset="0"/>
                              <a:ea typeface="Cambria Math" panose="02040503050406030204" pitchFamily="18" charset="0"/>
                            </a:rPr>
                          </m:ctrlPr>
                        </m:mPr>
                        <m:m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𝑆</m:t>
                                    </m:r>
                                  </m:e>
                                  <m:sub>
                                    <m:r>
                                      <a:rPr lang="en-US" sz="2400" i="1">
                                        <a:solidFill>
                                          <a:srgbClr val="002060"/>
                                        </a:solidFill>
                                        <a:latin typeface="Cambria Math" panose="02040503050406030204" pitchFamily="18" charset="0"/>
                                        <a:ea typeface="Cambria Math" panose="02040503050406030204" pitchFamily="18" charset="0"/>
                                      </a:rPr>
                                      <m:t>2</m:t>
                                    </m:r>
                                  </m:sub>
                                </m:sSub>
                              </m:e>
                            </m:d>
                            <m:r>
                              <a:rPr lang="en-US" sz="2400" i="1">
                                <a:solidFill>
                                  <a:srgbClr val="002060"/>
                                </a:solidFill>
                                <a:latin typeface="Cambria Math" panose="02040503050406030204" pitchFamily="18" charset="0"/>
                                <a:ea typeface="Cambria Math" panose="02040503050406030204" pitchFamily="18" charset="0"/>
                              </a:rPr>
                              <m:t>=</m:t>
                            </m:r>
                          </m:e>
                          <m:e>
                            <m:f>
                              <m:fPr>
                                <m:ctrlPr>
                                  <a:rPr lang="en-US" sz="2400" i="1">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|01</m:t>
                                    </m:r>
                                  </m:e>
                                </m:d>
                                <m:r>
                                  <a:rPr lang="en-US" sz="2400" i="1">
                                    <a:solidFill>
                                      <a:srgbClr val="002060"/>
                                    </a:solidFill>
                                    <a:latin typeface="Cambria Math" panose="02040503050406030204" pitchFamily="18" charset="0"/>
                                    <a:ea typeface="Cambria Math" panose="02040503050406030204" pitchFamily="18" charset="0"/>
                                  </a:rPr>
                                  <m:t>+</m:t>
                                </m:r>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𝑒</m:t>
                                    </m:r>
                                  </m:e>
                                  <m:sup>
                                    <m:r>
                                      <a:rPr lang="en-US" sz="2400" i="1">
                                        <a:solidFill>
                                          <a:srgbClr val="002060"/>
                                        </a:solidFill>
                                        <a:latin typeface="Cambria Math" panose="02040503050406030204" pitchFamily="18" charset="0"/>
                                        <a:ea typeface="Cambria Math" panose="02040503050406030204" pitchFamily="18" charset="0"/>
                                      </a:rPr>
                                      <m:t>𝑖</m:t>
                                    </m:r>
                                    <m:r>
                                      <a:rPr lang="el-GR" sz="2400" i="1">
                                        <a:solidFill>
                                          <a:srgbClr val="002060"/>
                                        </a:solidFill>
                                        <a:latin typeface="Cambria Math" panose="02040503050406030204" pitchFamily="18" charset="0"/>
                                        <a:ea typeface="Cambria Math" panose="02040503050406030204" pitchFamily="18" charset="0"/>
                                      </a:rPr>
                                      <m:t>𝜑</m:t>
                                    </m:r>
                                  </m:sup>
                                </m:sSup>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|11</m:t>
                                    </m:r>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e>
                        </m:mr>
                        <m:mr>
                          <m:e>
                            <m:r>
                              <a:rPr lang="sr-Latn-RS" sz="2400" b="0" i="1" smtClean="0">
                                <a:solidFill>
                                  <a:srgbClr val="002060"/>
                                </a:solidFill>
                                <a:latin typeface="Cambria Math" panose="02040503050406030204" pitchFamily="18" charset="0"/>
                                <a:ea typeface="Cambria Math" panose="02040503050406030204" pitchFamily="18" charset="0"/>
                              </a:rPr>
                              <m:t>         </m:t>
                            </m:r>
                            <m:r>
                              <a:rPr lang="en-US" sz="2400" i="1">
                                <a:solidFill>
                                  <a:srgbClr val="002060"/>
                                </a:solidFill>
                                <a:latin typeface="Cambria Math" panose="02040503050406030204" pitchFamily="18" charset="0"/>
                                <a:ea typeface="Cambria Math" panose="02040503050406030204" pitchFamily="18" charset="0"/>
                              </a:rPr>
                              <m:t>=</m:t>
                            </m:r>
                          </m:e>
                          <m:e>
                            <m:f>
                              <m:fPr>
                                <m:ctrlPr>
                                  <a:rPr lang="en-US" sz="2400" i="1">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r>
                                  <a:rPr lang="en-US" sz="2400" i="1">
                                    <a:solidFill>
                                      <a:srgbClr val="002060"/>
                                    </a:solidFill>
                                    <a:latin typeface="Cambria Math" panose="02040503050406030204" pitchFamily="18" charset="0"/>
                                    <a:ea typeface="Cambria Math" panose="02040503050406030204" pitchFamily="18" charset="0"/>
                                  </a:rPr>
                                  <m:t>+</m:t>
                                </m:r>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𝑒</m:t>
                                    </m:r>
                                  </m:e>
                                  <m:sup>
                                    <m:r>
                                      <a:rPr lang="en-US" sz="2400" i="1">
                                        <a:solidFill>
                                          <a:srgbClr val="002060"/>
                                        </a:solidFill>
                                        <a:latin typeface="Cambria Math" panose="02040503050406030204" pitchFamily="18" charset="0"/>
                                        <a:ea typeface="Cambria Math" panose="02040503050406030204" pitchFamily="18" charset="0"/>
                                      </a:rPr>
                                      <m:t>𝑖</m:t>
                                    </m:r>
                                    <m:r>
                                      <a:rPr lang="el-GR" sz="2400" i="1">
                                        <a:solidFill>
                                          <a:srgbClr val="002060"/>
                                        </a:solidFill>
                                        <a:latin typeface="Cambria Math" panose="02040503050406030204" pitchFamily="18" charset="0"/>
                                        <a:ea typeface="Cambria Math" panose="02040503050406030204" pitchFamily="18" charset="0"/>
                                      </a:rPr>
                                      <m:t>𝜑</m:t>
                                    </m:r>
                                  </m:sup>
                                </m:sSup>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|1</m:t>
                                    </m:r>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|1</m:t>
                                </m:r>
                              </m:e>
                            </m:d>
                          </m:e>
                        </m:mr>
                      </m:m>
                    </m:oMath>
                  </m:oMathPara>
                </a14:m>
                <a:endParaRPr lang="en-US" sz="2400" dirty="0"/>
              </a:p>
            </p:txBody>
          </p:sp>
        </mc:Choice>
        <mc:Fallback xmlns="">
          <p:sp>
            <p:nvSpPr>
              <p:cNvPr id="34" name="Rectangle 33">
                <a:extLst>
                  <a:ext uri="{FF2B5EF4-FFF2-40B4-BE49-F238E27FC236}">
                    <a16:creationId xmlns:a16="http://schemas.microsoft.com/office/drawing/2014/main" id="{860BB498-A112-C84F-AA6D-1A2B4C0E3AB4}"/>
                  </a:ext>
                </a:extLst>
              </p:cNvPr>
              <p:cNvSpPr>
                <a:spLocks noRot="1" noChangeAspect="1" noMove="1" noResize="1" noEditPoints="1" noAdjustHandles="1" noChangeArrowheads="1" noChangeShapeType="1" noTextEdit="1"/>
              </p:cNvSpPr>
              <p:nvPr/>
            </p:nvSpPr>
            <p:spPr>
              <a:xfrm>
                <a:off x="4729476" y="2358769"/>
                <a:ext cx="3450945" cy="1791837"/>
              </a:xfrm>
              <a:prstGeom prst="rect">
                <a:avLst/>
              </a:prstGeom>
              <a:blipFill>
                <a:blip r:embed="rId6"/>
                <a:stretch>
                  <a:fillRect t="-31690" r="-7721" b="-380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C670A857-BCC4-1945-A867-0093CF6AA5F2}"/>
                  </a:ext>
                </a:extLst>
              </p:cNvPr>
              <p:cNvSpPr/>
              <p:nvPr/>
            </p:nvSpPr>
            <p:spPr>
              <a:xfrm>
                <a:off x="263417" y="1671064"/>
                <a:ext cx="1047916"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600" i="1" smtClean="0">
                              <a:solidFill>
                                <a:srgbClr val="002060"/>
                              </a:solidFill>
                              <a:latin typeface="Cambria Math" panose="02040503050406030204" pitchFamily="18" charset="0"/>
                              <a:ea typeface="Cambria Math" panose="02040503050406030204" pitchFamily="18" charset="0"/>
                            </a:rPr>
                          </m:ctrlPr>
                        </m:dPr>
                        <m:e>
                          <m:r>
                            <a:rPr lang="en-US" sz="3600" i="1">
                              <a:solidFill>
                                <a:srgbClr val="002060"/>
                              </a:solidFill>
                              <a:latin typeface="Cambria Math" panose="02040503050406030204" pitchFamily="18" charset="0"/>
                              <a:ea typeface="Cambria Math" panose="02040503050406030204" pitchFamily="18" charset="0"/>
                            </a:rPr>
                            <m:t>|</m:t>
                          </m:r>
                          <m:r>
                            <a:rPr lang="en-US" sz="3600" b="0" i="1" smtClean="0">
                              <a:solidFill>
                                <a:srgbClr val="002060"/>
                              </a:solidFill>
                              <a:latin typeface="Cambria Math" panose="02040503050406030204" pitchFamily="18" charset="0"/>
                              <a:ea typeface="Cambria Math" panose="02040503050406030204" pitchFamily="18" charset="0"/>
                            </a:rPr>
                            <m:t>+</m:t>
                          </m:r>
                        </m:e>
                      </m:d>
                    </m:oMath>
                  </m:oMathPara>
                </a14:m>
                <a:endParaRPr lang="en-US" sz="3600" dirty="0"/>
              </a:p>
            </p:txBody>
          </p:sp>
        </mc:Choice>
        <mc:Fallback xmlns="">
          <p:sp>
            <p:nvSpPr>
              <p:cNvPr id="4" name="Rectangle 3">
                <a:extLst>
                  <a:ext uri="{FF2B5EF4-FFF2-40B4-BE49-F238E27FC236}">
                    <a16:creationId xmlns:a16="http://schemas.microsoft.com/office/drawing/2014/main" id="{C670A857-BCC4-1945-A867-0093CF6AA5F2}"/>
                  </a:ext>
                </a:extLst>
              </p:cNvPr>
              <p:cNvSpPr>
                <a:spLocks noRot="1" noChangeAspect="1" noMove="1" noResize="1" noEditPoints="1" noAdjustHandles="1" noChangeArrowheads="1" noChangeShapeType="1" noTextEdit="1"/>
              </p:cNvSpPr>
              <p:nvPr/>
            </p:nvSpPr>
            <p:spPr>
              <a:xfrm>
                <a:off x="263417" y="1671064"/>
                <a:ext cx="1047916" cy="646331"/>
              </a:xfrm>
              <a:prstGeom prst="rect">
                <a:avLst/>
              </a:prstGeom>
              <a:blipFill>
                <a:blip r:embed="rId8"/>
                <a:stretch>
                  <a:fillRect l="-9639" t="-144000" r="-49398" b="-21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97D8F1A8-2BE3-5E45-A0AE-D3D0FB1D82FD}"/>
                  </a:ext>
                </a:extLst>
              </p:cNvPr>
              <p:cNvSpPr/>
              <p:nvPr/>
            </p:nvSpPr>
            <p:spPr>
              <a:xfrm>
                <a:off x="359598" y="4354905"/>
                <a:ext cx="855555"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600" i="1" smtClean="0">
                              <a:solidFill>
                                <a:srgbClr val="002060"/>
                              </a:solidFill>
                              <a:latin typeface="Cambria Math" panose="02040503050406030204" pitchFamily="18" charset="0"/>
                              <a:ea typeface="Cambria Math" panose="02040503050406030204" pitchFamily="18" charset="0"/>
                            </a:rPr>
                          </m:ctrlPr>
                        </m:dPr>
                        <m:e>
                          <m:r>
                            <a:rPr lang="en-US" sz="3600" i="1">
                              <a:solidFill>
                                <a:srgbClr val="002060"/>
                              </a:solidFill>
                              <a:latin typeface="Cambria Math" panose="02040503050406030204" pitchFamily="18" charset="0"/>
                              <a:ea typeface="Cambria Math" panose="02040503050406030204" pitchFamily="18" charset="0"/>
                            </a:rPr>
                            <m:t>|</m:t>
                          </m:r>
                          <m:r>
                            <a:rPr lang="en-US" sz="3600" b="0" i="1" smtClean="0">
                              <a:solidFill>
                                <a:srgbClr val="002060"/>
                              </a:solidFill>
                              <a:latin typeface="Cambria Math" panose="02040503050406030204" pitchFamily="18" charset="0"/>
                              <a:ea typeface="Cambria Math" panose="02040503050406030204" pitchFamily="18" charset="0"/>
                            </a:rPr>
                            <m:t>1</m:t>
                          </m:r>
                        </m:e>
                      </m:d>
                    </m:oMath>
                  </m:oMathPara>
                </a14:m>
                <a:endParaRPr lang="en-US" sz="3600" dirty="0"/>
              </a:p>
            </p:txBody>
          </p:sp>
        </mc:Choice>
        <mc:Fallback xmlns="">
          <p:sp>
            <p:nvSpPr>
              <p:cNvPr id="41" name="Rectangle 40">
                <a:extLst>
                  <a:ext uri="{FF2B5EF4-FFF2-40B4-BE49-F238E27FC236}">
                    <a16:creationId xmlns:a16="http://schemas.microsoft.com/office/drawing/2014/main" id="{97D8F1A8-2BE3-5E45-A0AE-D3D0FB1D82FD}"/>
                  </a:ext>
                </a:extLst>
              </p:cNvPr>
              <p:cNvSpPr>
                <a:spLocks noRot="1" noChangeAspect="1" noMove="1" noResize="1" noEditPoints="1" noAdjustHandles="1" noChangeArrowheads="1" noChangeShapeType="1" noTextEdit="1"/>
              </p:cNvSpPr>
              <p:nvPr/>
            </p:nvSpPr>
            <p:spPr>
              <a:xfrm>
                <a:off x="359598" y="4354905"/>
                <a:ext cx="855555" cy="646331"/>
              </a:xfrm>
              <a:prstGeom prst="rect">
                <a:avLst/>
              </a:prstGeom>
              <a:blipFill>
                <a:blip r:embed="rId9"/>
                <a:stretch>
                  <a:fillRect l="-33333" t="-136538" r="-59420" b="-2096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A21F0097-94E5-764A-8F5E-F9B100F5F85E}"/>
                  </a:ext>
                </a:extLst>
              </p:cNvPr>
              <p:cNvSpPr/>
              <p:nvPr/>
            </p:nvSpPr>
            <p:spPr>
              <a:xfrm>
                <a:off x="1559052" y="2816630"/>
                <a:ext cx="2610138"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𝑆</m:t>
                              </m:r>
                            </m:e>
                            <m:sub>
                              <m:r>
                                <a:rPr lang="en-US" sz="2400" i="1">
                                  <a:solidFill>
                                    <a:srgbClr val="002060"/>
                                  </a:solidFill>
                                  <a:latin typeface="Cambria Math" panose="02040503050406030204" pitchFamily="18" charset="0"/>
                                  <a:ea typeface="Cambria Math" panose="02040503050406030204" pitchFamily="18" charset="0"/>
                                </a:rPr>
                                <m:t>1</m:t>
                              </m:r>
                            </m:sub>
                          </m:sSub>
                        </m:e>
                      </m:d>
                      <m:r>
                        <a:rPr lang="en-US" sz="2400" i="1">
                          <a:solidFill>
                            <a:srgbClr val="002060"/>
                          </a:solidFill>
                          <a:latin typeface="Cambria Math" panose="02040503050406030204" pitchFamily="18" charset="0"/>
                          <a:ea typeface="Cambria Math" panose="02040503050406030204" pitchFamily="18" charset="0"/>
                        </a:rPr>
                        <m:t>=</m:t>
                      </m:r>
                      <m:f>
                        <m:fPr>
                          <m:ctrlPr>
                            <a:rPr lang="en-US" sz="2400" i="1">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|01</m:t>
                              </m:r>
                            </m:e>
                          </m:d>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|11</m:t>
                              </m:r>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oMath>
                  </m:oMathPara>
                </a14:m>
                <a:endParaRPr lang="en-US" sz="2400" dirty="0"/>
              </a:p>
            </p:txBody>
          </p:sp>
        </mc:Choice>
        <mc:Fallback xmlns="">
          <p:sp>
            <p:nvSpPr>
              <p:cNvPr id="18" name="Rectangle 17">
                <a:extLst>
                  <a:ext uri="{FF2B5EF4-FFF2-40B4-BE49-F238E27FC236}">
                    <a16:creationId xmlns:a16="http://schemas.microsoft.com/office/drawing/2014/main" id="{A21F0097-94E5-764A-8F5E-F9B100F5F85E}"/>
                  </a:ext>
                </a:extLst>
              </p:cNvPr>
              <p:cNvSpPr>
                <a:spLocks noRot="1" noChangeAspect="1" noMove="1" noResize="1" noEditPoints="1" noAdjustHandles="1" noChangeArrowheads="1" noChangeShapeType="1" noTextEdit="1"/>
              </p:cNvSpPr>
              <p:nvPr/>
            </p:nvSpPr>
            <p:spPr>
              <a:xfrm>
                <a:off x="1559052" y="2816630"/>
                <a:ext cx="2610138" cy="876202"/>
              </a:xfrm>
              <a:prstGeom prst="rect">
                <a:avLst/>
              </a:prstGeom>
              <a:blipFill>
                <a:blip r:embed="rId24"/>
                <a:stretch>
                  <a:fillRect l="-1456" t="-70000" r="-12136" b="-7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B7D5E85-B961-554B-8E06-6D30776B1BD1}"/>
                  </a:ext>
                </a:extLst>
              </p:cNvPr>
              <p:cNvSpPr txBox="1"/>
              <p:nvPr/>
            </p:nvSpPr>
            <p:spPr>
              <a:xfrm>
                <a:off x="1462371" y="5414529"/>
                <a:ext cx="5477205" cy="10515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2060"/>
                          </a:solidFill>
                          <a:latin typeface="Cambria Math" panose="02040503050406030204" pitchFamily="18" charset="0"/>
                          <a:ea typeface="Cambria Math" panose="02040503050406030204" pitchFamily="18" charset="0"/>
                        </a:rPr>
                        <m:t>𝑃</m:t>
                      </m:r>
                      <m:d>
                        <m:dPr>
                          <m:ctrlPr>
                            <a:rPr lang="en-US" sz="2400" b="0" i="1" smtClean="0">
                              <a:solidFill>
                                <a:srgbClr val="002060"/>
                              </a:solidFill>
                              <a:latin typeface="Cambria Math" panose="02040503050406030204" pitchFamily="18" charset="0"/>
                              <a:ea typeface="Cambria Math" panose="02040503050406030204" pitchFamily="18" charset="0"/>
                            </a:rPr>
                          </m:ctrlPr>
                        </m:dPr>
                        <m:e>
                          <m:r>
                            <a:rPr lang="el-GR" sz="2400" i="1">
                              <a:solidFill>
                                <a:srgbClr val="002060"/>
                              </a:solidFill>
                              <a:latin typeface="Cambria Math" panose="02040503050406030204" pitchFamily="18" charset="0"/>
                              <a:ea typeface="Cambria Math" panose="02040503050406030204" pitchFamily="18" charset="0"/>
                            </a:rPr>
                            <m:t>𝜑</m:t>
                          </m:r>
                        </m:e>
                      </m:d>
                      <m:r>
                        <a:rPr lang="en-US" sz="2400" b="0" i="1" smtClean="0">
                          <a:solidFill>
                            <a:srgbClr val="002060"/>
                          </a:solidFill>
                          <a:latin typeface="Cambria Math" panose="02040503050406030204" pitchFamily="18" charset="0"/>
                          <a:ea typeface="Cambria Math" panose="02040503050406030204" pitchFamily="18" charset="0"/>
                        </a:rPr>
                        <m:t>=</m:t>
                      </m:r>
                      <m:d>
                        <m:dPr>
                          <m:ctrlPr>
                            <a:rPr lang="en-US" sz="2400" b="0" i="1" smtClean="0">
                              <a:solidFill>
                                <a:srgbClr val="002060"/>
                              </a:solidFill>
                              <a:latin typeface="Cambria Math" panose="02040503050406030204" pitchFamily="18" charset="0"/>
                              <a:ea typeface="Cambria Math" panose="02040503050406030204" pitchFamily="18" charset="0"/>
                            </a:rPr>
                          </m:ctrlPr>
                        </m:dPr>
                        <m:e>
                          <m:m>
                            <m:mPr>
                              <m:mcs>
                                <m:mc>
                                  <m:mcPr>
                                    <m:count m:val="2"/>
                                    <m:mcJc m:val="center"/>
                                  </m:mcPr>
                                </m:mc>
                              </m:mcs>
                              <m:ctrlPr>
                                <a:rPr lang="en-US" sz="2400" b="0" i="1" smtClean="0">
                                  <a:solidFill>
                                    <a:srgbClr val="002060"/>
                                  </a:solidFill>
                                  <a:latin typeface="Cambria Math" panose="02040503050406030204" pitchFamily="18" charset="0"/>
                                  <a:ea typeface="Cambria Math" panose="02040503050406030204" pitchFamily="18" charset="0"/>
                                </a:rPr>
                              </m:ctrlPr>
                            </m:mPr>
                            <m:mr>
                              <m:e>
                                <m:r>
                                  <m:rPr>
                                    <m:brk m:alnAt="7"/>
                                  </m:rPr>
                                  <a:rPr lang="en-US" sz="2400" b="0" i="1" smtClean="0">
                                    <a:solidFill>
                                      <a:srgbClr val="002060"/>
                                    </a:solidFill>
                                    <a:latin typeface="Cambria Math" panose="02040503050406030204" pitchFamily="18" charset="0"/>
                                    <a:ea typeface="Cambria Math" panose="02040503050406030204" pitchFamily="18" charset="0"/>
                                  </a:rPr>
                                  <m:t>1</m:t>
                                </m:r>
                              </m:e>
                              <m:e>
                                <m:r>
                                  <a:rPr lang="en-US" sz="2400" b="0" i="1" smtClean="0">
                                    <a:solidFill>
                                      <a:srgbClr val="002060"/>
                                    </a:solidFill>
                                    <a:latin typeface="Cambria Math" panose="02040503050406030204" pitchFamily="18" charset="0"/>
                                    <a:ea typeface="Cambria Math" panose="02040503050406030204" pitchFamily="18" charset="0"/>
                                  </a:rPr>
                                  <m:t>0</m:t>
                                </m:r>
                              </m:e>
                            </m:mr>
                            <m:mr>
                              <m:e>
                                <m:r>
                                  <a:rPr lang="en-US" sz="2400" b="0" i="1" smtClean="0">
                                    <a:solidFill>
                                      <a:srgbClr val="002060"/>
                                    </a:solidFill>
                                    <a:latin typeface="Cambria Math" panose="02040503050406030204" pitchFamily="18" charset="0"/>
                                    <a:ea typeface="Cambria Math" panose="02040503050406030204" pitchFamily="18" charset="0"/>
                                  </a:rPr>
                                  <m:t>0</m:t>
                                </m:r>
                              </m:e>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𝑒</m:t>
                                    </m:r>
                                  </m:e>
                                  <m:sup>
                                    <m:r>
                                      <a:rPr lang="en-US" sz="2400" i="1">
                                        <a:solidFill>
                                          <a:srgbClr val="002060"/>
                                        </a:solidFill>
                                        <a:latin typeface="Cambria Math" panose="02040503050406030204" pitchFamily="18" charset="0"/>
                                        <a:ea typeface="Cambria Math" panose="02040503050406030204" pitchFamily="18" charset="0"/>
                                      </a:rPr>
                                      <m:t>𝑖</m:t>
                                    </m:r>
                                    <m:r>
                                      <a:rPr lang="el-GR" sz="2400" i="1">
                                        <a:solidFill>
                                          <a:srgbClr val="002060"/>
                                        </a:solidFill>
                                        <a:latin typeface="Cambria Math" panose="02040503050406030204" pitchFamily="18" charset="0"/>
                                        <a:ea typeface="Cambria Math" panose="02040503050406030204" pitchFamily="18" charset="0"/>
                                      </a:rPr>
                                      <m:t>𝜑</m:t>
                                    </m:r>
                                  </m:sup>
                                </m:sSup>
                              </m:e>
                            </m:mr>
                          </m:m>
                        </m:e>
                      </m:d>
                      <m:r>
                        <a:rPr lang="en-US" sz="2400" b="0" i="1" smtClean="0">
                          <a:solidFill>
                            <a:srgbClr val="002060"/>
                          </a:solidFill>
                          <a:latin typeface="Cambria Math" panose="02040503050406030204" pitchFamily="18" charset="0"/>
                          <a:ea typeface="Cambria Math" panose="02040503050406030204" pitchFamily="18" charset="0"/>
                        </a:rPr>
                        <m:t>,  </m:t>
                      </m:r>
                      <m:d>
                        <m:dPr>
                          <m:begChr m:val="{"/>
                          <m:endChr m:val=""/>
                          <m:ctrlPr>
                            <a:rPr lang="en-US" sz="2400" b="0" i="1" smtClean="0">
                              <a:solidFill>
                                <a:srgbClr val="002060"/>
                              </a:solidFill>
                              <a:latin typeface="Cambria Math" panose="02040503050406030204" pitchFamily="18" charset="0"/>
                              <a:ea typeface="Cambria Math" panose="02040503050406030204" pitchFamily="18" charset="0"/>
                            </a:rPr>
                          </m:ctrlPr>
                        </m:dPr>
                        <m:e>
                          <m:m>
                            <m:mPr>
                              <m:mcs>
                                <m:mc>
                                  <m:mcPr>
                                    <m:count m:val="2"/>
                                    <m:mcJc m:val="center"/>
                                  </m:mcPr>
                                </m:mc>
                              </m:mcs>
                              <m:ctrlPr>
                                <a:rPr lang="en-US" sz="2400" b="0" i="1" smtClean="0">
                                  <a:solidFill>
                                    <a:srgbClr val="002060"/>
                                  </a:solidFill>
                                  <a:latin typeface="Cambria Math" panose="02040503050406030204" pitchFamily="18" charset="0"/>
                                  <a:ea typeface="Cambria Math" panose="02040503050406030204" pitchFamily="18" charset="0"/>
                                </a:rPr>
                              </m:ctrlPr>
                            </m:mPr>
                            <m:m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|1</m:t>
                                    </m:r>
                                  </m:e>
                                </m:d>
                              </m:e>
                              <m:e>
                                <m:r>
                                  <m:rPr>
                                    <m:nor/>
                                  </m:rPr>
                                  <a:rPr lang="en-ZA" sz="2400" dirty="0">
                                    <a:latin typeface="+mj-lt"/>
                                  </a:rPr>
                                  <m:t>eigenstate</m:t>
                                </m:r>
                              </m:e>
                            </m:mr>
                            <m:mr>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𝑒</m:t>
                                    </m:r>
                                  </m:e>
                                  <m:sup>
                                    <m:r>
                                      <a:rPr lang="en-US" sz="2400" i="1">
                                        <a:solidFill>
                                          <a:srgbClr val="002060"/>
                                        </a:solidFill>
                                        <a:latin typeface="Cambria Math" panose="02040503050406030204" pitchFamily="18" charset="0"/>
                                        <a:ea typeface="Cambria Math" panose="02040503050406030204" pitchFamily="18" charset="0"/>
                                      </a:rPr>
                                      <m:t>𝑖</m:t>
                                    </m:r>
                                    <m:r>
                                      <a:rPr lang="el-GR" sz="2400" i="1">
                                        <a:solidFill>
                                          <a:srgbClr val="002060"/>
                                        </a:solidFill>
                                        <a:latin typeface="Cambria Math" panose="02040503050406030204" pitchFamily="18" charset="0"/>
                                        <a:ea typeface="Cambria Math" panose="02040503050406030204" pitchFamily="18" charset="0"/>
                                      </a:rPr>
                                      <m:t>𝜑</m:t>
                                    </m:r>
                                  </m:sup>
                                </m:sSup>
                              </m:e>
                              <m:e>
                                <m:r>
                                  <m:rPr>
                                    <m:nor/>
                                  </m:rPr>
                                  <a:rPr lang="en-ZA" sz="2400" dirty="0">
                                    <a:latin typeface="+mj-lt"/>
                                  </a:rPr>
                                  <m:t>eigenvalue</m:t>
                                </m:r>
                              </m:e>
                            </m:mr>
                          </m:m>
                        </m:e>
                      </m:d>
                    </m:oMath>
                  </m:oMathPara>
                </a14:m>
                <a:endParaRPr lang="en-US" sz="2400" dirty="0"/>
              </a:p>
            </p:txBody>
          </p:sp>
        </mc:Choice>
        <mc:Fallback xmlns="">
          <p:sp>
            <p:nvSpPr>
              <p:cNvPr id="8" name="TextBox 7">
                <a:extLst>
                  <a:ext uri="{FF2B5EF4-FFF2-40B4-BE49-F238E27FC236}">
                    <a16:creationId xmlns:a16="http://schemas.microsoft.com/office/drawing/2014/main" id="{AB7D5E85-B961-554B-8E06-6D30776B1BD1}"/>
                  </a:ext>
                </a:extLst>
              </p:cNvPr>
              <p:cNvSpPr txBox="1">
                <a:spLocks noRot="1" noChangeAspect="1" noMove="1" noResize="1" noEditPoints="1" noAdjustHandles="1" noChangeArrowheads="1" noChangeShapeType="1" noTextEdit="1"/>
              </p:cNvSpPr>
              <p:nvPr/>
            </p:nvSpPr>
            <p:spPr>
              <a:xfrm>
                <a:off x="1462371" y="5414529"/>
                <a:ext cx="5477205" cy="1051570"/>
              </a:xfrm>
              <a:prstGeom prst="rect">
                <a:avLst/>
              </a:prstGeom>
              <a:blipFill>
                <a:blip r:embed="rId25"/>
                <a:stretch>
                  <a:fillRect t="-202381" b="-290476"/>
                </a:stretch>
              </a:blipFill>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C0AA3847-C268-0C4E-A678-503973E9CFAD}"/>
              </a:ext>
            </a:extLst>
          </p:cNvPr>
          <p:cNvCxnSpPr>
            <a:cxnSpLocks/>
          </p:cNvCxnSpPr>
          <p:nvPr/>
        </p:nvCxnSpPr>
        <p:spPr>
          <a:xfrm>
            <a:off x="1462371" y="1971379"/>
            <a:ext cx="599573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322EB58-37FF-6B40-B476-286346306481}"/>
              </a:ext>
            </a:extLst>
          </p:cNvPr>
          <p:cNvCxnSpPr>
            <a:cxnSpLocks/>
          </p:cNvCxnSpPr>
          <p:nvPr/>
        </p:nvCxnSpPr>
        <p:spPr>
          <a:xfrm>
            <a:off x="1731607" y="4578990"/>
            <a:ext cx="599573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EB86F0F-2D3A-BE4B-8985-2A541DBF37AE}"/>
              </a:ext>
            </a:extLst>
          </p:cNvPr>
          <p:cNvCxnSpPr>
            <a:cxnSpLocks/>
          </p:cNvCxnSpPr>
          <p:nvPr/>
        </p:nvCxnSpPr>
        <p:spPr>
          <a:xfrm>
            <a:off x="4275750" y="2184127"/>
            <a:ext cx="3977" cy="191841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410A501B-9AAF-E14B-A859-92F96D1B9598}"/>
                  </a:ext>
                </a:extLst>
              </p:cNvPr>
              <p:cNvSpPr/>
              <p:nvPr/>
            </p:nvSpPr>
            <p:spPr>
              <a:xfrm>
                <a:off x="3721733" y="4084955"/>
                <a:ext cx="1134752" cy="1063753"/>
              </a:xfrm>
              <a:prstGeom prst="rect">
                <a:avLst/>
              </a:prstGeom>
              <a:solidFill>
                <a:srgbClr val="33B0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sz="3200" i="0">
                          <a:solidFill>
                            <a:srgbClr val="002060"/>
                          </a:solidFill>
                          <a:latin typeface="Cambria Math" panose="02040503050406030204" pitchFamily="18" charset="0"/>
                          <a:ea typeface="Cambria Math" panose="02040503050406030204" pitchFamily="18" charset="0"/>
                        </a:rPr>
                        <m:t>P</m:t>
                      </m:r>
                      <m:d>
                        <m:dPr>
                          <m:ctrlPr>
                            <a:rPr lang="en-US" sz="3200" i="1">
                              <a:solidFill>
                                <a:srgbClr val="002060"/>
                              </a:solidFill>
                              <a:latin typeface="Cambria Math" panose="02040503050406030204" pitchFamily="18" charset="0"/>
                              <a:ea typeface="Cambria Math" panose="02040503050406030204" pitchFamily="18" charset="0"/>
                            </a:rPr>
                          </m:ctrlPr>
                        </m:dPr>
                        <m:e>
                          <m:r>
                            <a:rPr lang="el-GR" sz="3200" i="1">
                              <a:solidFill>
                                <a:srgbClr val="002060"/>
                              </a:solidFill>
                              <a:latin typeface="Cambria Math" panose="02040503050406030204" pitchFamily="18" charset="0"/>
                              <a:ea typeface="Cambria Math" panose="02040503050406030204" pitchFamily="18" charset="0"/>
                            </a:rPr>
                            <m:t>𝜑</m:t>
                          </m:r>
                        </m:e>
                      </m:d>
                    </m:oMath>
                  </m:oMathPara>
                </a14:m>
                <a:endParaRPr lang="en-US" sz="3200" dirty="0"/>
              </a:p>
            </p:txBody>
          </p:sp>
        </mc:Choice>
        <mc:Fallback xmlns="">
          <p:sp>
            <p:nvSpPr>
              <p:cNvPr id="23" name="Rectangle 22">
                <a:extLst>
                  <a:ext uri="{FF2B5EF4-FFF2-40B4-BE49-F238E27FC236}">
                    <a16:creationId xmlns:a16="http://schemas.microsoft.com/office/drawing/2014/main" id="{410A501B-9AAF-E14B-A859-92F96D1B9598}"/>
                  </a:ext>
                </a:extLst>
              </p:cNvPr>
              <p:cNvSpPr>
                <a:spLocks noRot="1" noChangeAspect="1" noMove="1" noResize="1" noEditPoints="1" noAdjustHandles="1" noChangeArrowheads="1" noChangeShapeType="1" noTextEdit="1"/>
              </p:cNvSpPr>
              <p:nvPr/>
            </p:nvSpPr>
            <p:spPr>
              <a:xfrm>
                <a:off x="3721733" y="4084955"/>
                <a:ext cx="1134752" cy="1063753"/>
              </a:xfrm>
              <a:prstGeom prst="rect">
                <a:avLst/>
              </a:prstGeom>
              <a:blipFill>
                <a:blip r:embed="rId26"/>
                <a:stretch>
                  <a:fillRect l="-32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2A827C3-4649-C64F-A49F-35384CA21971}"/>
                  </a:ext>
                </a:extLst>
              </p:cNvPr>
              <p:cNvSpPr txBox="1"/>
              <p:nvPr/>
            </p:nvSpPr>
            <p:spPr>
              <a:xfrm>
                <a:off x="1216700" y="1184211"/>
                <a:ext cx="803489" cy="707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4000" b="0" i="1" smtClean="0">
                              <a:solidFill>
                                <a:srgbClr val="002060"/>
                              </a:solidFill>
                              <a:latin typeface="Cambria Math" panose="02040503050406030204" pitchFamily="18" charset="0"/>
                              <a:ea typeface="Cambria Math" panose="02040503050406030204" pitchFamily="18" charset="0"/>
                            </a:rPr>
                          </m:ctrlPr>
                        </m:sSubPr>
                        <m:e>
                          <m:r>
                            <a:rPr lang="en-US" sz="4000" i="1">
                              <a:solidFill>
                                <a:srgbClr val="002060"/>
                              </a:solidFill>
                              <a:latin typeface="Cambria Math" panose="02040503050406030204" pitchFamily="18" charset="0"/>
                              <a:ea typeface="Cambria Math" panose="02040503050406030204" pitchFamily="18" charset="0"/>
                            </a:rPr>
                            <m:t>𝑞</m:t>
                          </m:r>
                        </m:e>
                        <m:sub>
                          <m:r>
                            <a:rPr lang="en-US" sz="4000" b="0" i="1" smtClean="0">
                              <a:solidFill>
                                <a:srgbClr val="002060"/>
                              </a:solidFill>
                              <a:latin typeface="Cambria Math" panose="02040503050406030204" pitchFamily="18" charset="0"/>
                              <a:ea typeface="Cambria Math" panose="02040503050406030204" pitchFamily="18" charset="0"/>
                            </a:rPr>
                            <m:t>0</m:t>
                          </m:r>
                        </m:sub>
                      </m:sSub>
                    </m:oMath>
                  </m:oMathPara>
                </a14:m>
                <a:endParaRPr lang="en-US" sz="4000" dirty="0"/>
              </a:p>
            </p:txBody>
          </p:sp>
        </mc:Choice>
        <mc:Fallback xmlns="">
          <p:sp>
            <p:nvSpPr>
              <p:cNvPr id="24" name="TextBox 23">
                <a:extLst>
                  <a:ext uri="{FF2B5EF4-FFF2-40B4-BE49-F238E27FC236}">
                    <a16:creationId xmlns:a16="http://schemas.microsoft.com/office/drawing/2014/main" id="{22A827C3-4649-C64F-A49F-35384CA21971}"/>
                  </a:ext>
                </a:extLst>
              </p:cNvPr>
              <p:cNvSpPr txBox="1">
                <a:spLocks noRot="1" noChangeAspect="1" noMove="1" noResize="1" noEditPoints="1" noAdjustHandles="1" noChangeArrowheads="1" noChangeShapeType="1" noTextEdit="1"/>
              </p:cNvSpPr>
              <p:nvPr/>
            </p:nvSpPr>
            <p:spPr>
              <a:xfrm>
                <a:off x="1216700" y="1184211"/>
                <a:ext cx="803489" cy="707886"/>
              </a:xfrm>
              <a:prstGeom prst="rect">
                <a:avLst/>
              </a:prstGeom>
              <a:blipFill>
                <a:blip r:embed="rId27"/>
                <a:stretch>
                  <a:fillRect l="-3175" b="-122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BDAED44-4AF8-1E4F-B5FB-CD84FE1D6903}"/>
                  </a:ext>
                </a:extLst>
              </p:cNvPr>
              <p:cNvSpPr txBox="1"/>
              <p:nvPr/>
            </p:nvSpPr>
            <p:spPr>
              <a:xfrm>
                <a:off x="1211831" y="3768943"/>
                <a:ext cx="791627" cy="707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4000" b="0" i="1" smtClean="0">
                              <a:solidFill>
                                <a:srgbClr val="002060"/>
                              </a:solidFill>
                              <a:latin typeface="Cambria Math" panose="02040503050406030204" pitchFamily="18" charset="0"/>
                              <a:ea typeface="Cambria Math" panose="02040503050406030204" pitchFamily="18" charset="0"/>
                            </a:rPr>
                          </m:ctrlPr>
                        </m:sSubPr>
                        <m:e>
                          <m:r>
                            <a:rPr lang="en-US" sz="4000" i="1">
                              <a:solidFill>
                                <a:srgbClr val="002060"/>
                              </a:solidFill>
                              <a:latin typeface="Cambria Math" panose="02040503050406030204" pitchFamily="18" charset="0"/>
                              <a:ea typeface="Cambria Math" panose="02040503050406030204" pitchFamily="18" charset="0"/>
                            </a:rPr>
                            <m:t>𝑞</m:t>
                          </m:r>
                        </m:e>
                        <m:sub>
                          <m:r>
                            <a:rPr lang="en-US" sz="4000" b="0" i="1" smtClean="0">
                              <a:solidFill>
                                <a:srgbClr val="002060"/>
                              </a:solidFill>
                              <a:latin typeface="Cambria Math" panose="02040503050406030204" pitchFamily="18" charset="0"/>
                              <a:ea typeface="Cambria Math" panose="02040503050406030204" pitchFamily="18" charset="0"/>
                            </a:rPr>
                            <m:t>1</m:t>
                          </m:r>
                        </m:sub>
                      </m:sSub>
                    </m:oMath>
                  </m:oMathPara>
                </a14:m>
                <a:endParaRPr lang="en-US" sz="4000" dirty="0"/>
              </a:p>
            </p:txBody>
          </p:sp>
        </mc:Choice>
        <mc:Fallback xmlns="">
          <p:sp>
            <p:nvSpPr>
              <p:cNvPr id="35" name="TextBox 34">
                <a:extLst>
                  <a:ext uri="{FF2B5EF4-FFF2-40B4-BE49-F238E27FC236}">
                    <a16:creationId xmlns:a16="http://schemas.microsoft.com/office/drawing/2014/main" id="{BBDAED44-4AF8-1E4F-B5FB-CD84FE1D6903}"/>
                  </a:ext>
                </a:extLst>
              </p:cNvPr>
              <p:cNvSpPr txBox="1">
                <a:spLocks noRot="1" noChangeAspect="1" noMove="1" noResize="1" noEditPoints="1" noAdjustHandles="1" noChangeArrowheads="1" noChangeShapeType="1" noTextEdit="1"/>
              </p:cNvSpPr>
              <p:nvPr/>
            </p:nvSpPr>
            <p:spPr>
              <a:xfrm>
                <a:off x="1211831" y="3768943"/>
                <a:ext cx="791627" cy="707886"/>
              </a:xfrm>
              <a:prstGeom prst="rect">
                <a:avLst/>
              </a:prstGeom>
              <a:blipFill>
                <a:blip r:embed="rId28"/>
                <a:stretch>
                  <a:fillRect l="-1563" b="-12281"/>
                </a:stretch>
              </a:blipFill>
            </p:spPr>
            <p:txBody>
              <a:bodyPr/>
              <a:lstStyle/>
              <a:p>
                <a:r>
                  <a:rPr lang="en-US">
                    <a:noFill/>
                  </a:rPr>
                  <a:t> </a:t>
                </a:r>
              </a:p>
            </p:txBody>
          </p:sp>
        </mc:Fallback>
      </mc:AlternateContent>
      <p:sp>
        <p:nvSpPr>
          <p:cNvPr id="25" name="Oval 24">
            <a:extLst>
              <a:ext uri="{FF2B5EF4-FFF2-40B4-BE49-F238E27FC236}">
                <a16:creationId xmlns:a16="http://schemas.microsoft.com/office/drawing/2014/main" id="{910326CB-C2CB-CB4B-91A0-0E4ACE381A85}"/>
              </a:ext>
            </a:extLst>
          </p:cNvPr>
          <p:cNvSpPr/>
          <p:nvPr/>
        </p:nvSpPr>
        <p:spPr>
          <a:xfrm>
            <a:off x="4100177" y="1818201"/>
            <a:ext cx="360000" cy="36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91F8F610-C662-334B-93E9-68667DD22DE9}"/>
              </a:ext>
            </a:extLst>
          </p:cNvPr>
          <p:cNvSpPr>
            <a:spLocks noChangeAspect="1"/>
          </p:cNvSpPr>
          <p:nvPr/>
        </p:nvSpPr>
        <p:spPr>
          <a:xfrm>
            <a:off x="9096455" y="619997"/>
            <a:ext cx="2406925" cy="2406925"/>
          </a:xfrm>
          <a:prstGeom prst="ellipse">
            <a:avLst/>
          </a:prstGeom>
          <a:gradFill flip="none" rotWithShape="1">
            <a:gsLst>
              <a:gs pos="0">
                <a:schemeClr val="bg1"/>
              </a:gs>
              <a:gs pos="100000">
                <a:schemeClr val="accent5">
                  <a:lumMod val="20000"/>
                  <a:lumOff val="80000"/>
                </a:schemeClr>
              </a:gs>
            </a:gsLst>
            <a:lin ang="5400000" scaled="1"/>
            <a:tileRect/>
          </a:gra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0BEF0F5B-B6C9-CD40-921F-8D9DFB3F9864}"/>
              </a:ext>
            </a:extLst>
          </p:cNvPr>
          <p:cNvCxnSpPr>
            <a:cxnSpLocks/>
          </p:cNvCxnSpPr>
          <p:nvPr/>
        </p:nvCxnSpPr>
        <p:spPr>
          <a:xfrm flipH="1" flipV="1">
            <a:off x="10304604" y="426189"/>
            <a:ext cx="0" cy="2352766"/>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FF7D384-ABAE-9E40-9FC3-B19E0D199A77}"/>
              </a:ext>
            </a:extLst>
          </p:cNvPr>
          <p:cNvCxnSpPr>
            <a:cxnSpLocks/>
          </p:cNvCxnSpPr>
          <p:nvPr/>
        </p:nvCxnSpPr>
        <p:spPr>
          <a:xfrm>
            <a:off x="9352673" y="1517556"/>
            <a:ext cx="2320767" cy="547489"/>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52D2A63-D099-5C4D-82DE-80D1B68F185A}"/>
              </a:ext>
            </a:extLst>
          </p:cNvPr>
          <p:cNvCxnSpPr>
            <a:cxnSpLocks/>
          </p:cNvCxnSpPr>
          <p:nvPr/>
        </p:nvCxnSpPr>
        <p:spPr>
          <a:xfrm flipH="1">
            <a:off x="9393159" y="1307662"/>
            <a:ext cx="1417570" cy="1164493"/>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ED26283D-0DE7-344B-8BD5-A016DBDDCF79}"/>
              </a:ext>
            </a:extLst>
          </p:cNvPr>
          <p:cNvSpPr/>
          <p:nvPr/>
        </p:nvSpPr>
        <p:spPr>
          <a:xfrm>
            <a:off x="9105824" y="1256468"/>
            <a:ext cx="2406925" cy="1149878"/>
          </a:xfrm>
          <a:prstGeom prst="ellipse">
            <a:avLst/>
          </a:prstGeom>
          <a:noFill/>
          <a:ln w="635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Arrow Connector 30">
            <a:extLst>
              <a:ext uri="{FF2B5EF4-FFF2-40B4-BE49-F238E27FC236}">
                <a16:creationId xmlns:a16="http://schemas.microsoft.com/office/drawing/2014/main" id="{CED13776-398E-0244-A009-97BE2D5C8641}"/>
              </a:ext>
            </a:extLst>
          </p:cNvPr>
          <p:cNvCxnSpPr>
            <a:cxnSpLocks/>
          </p:cNvCxnSpPr>
          <p:nvPr/>
        </p:nvCxnSpPr>
        <p:spPr>
          <a:xfrm>
            <a:off x="10318652" y="1716958"/>
            <a:ext cx="344320" cy="675603"/>
          </a:xfrm>
          <a:prstGeom prst="straightConnector1">
            <a:avLst/>
          </a:prstGeom>
          <a:ln w="25400" cap="rnd">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4744DBD5-9165-9849-AE88-6194A9F7D9E6}"/>
              </a:ext>
            </a:extLst>
          </p:cNvPr>
          <p:cNvCxnSpPr>
            <a:cxnSpLocks/>
          </p:cNvCxnSpPr>
          <p:nvPr/>
        </p:nvCxnSpPr>
        <p:spPr>
          <a:xfrm flipH="1">
            <a:off x="9575447" y="1726409"/>
            <a:ext cx="728615" cy="589729"/>
          </a:xfrm>
          <a:prstGeom prst="straightConnector1">
            <a:avLst/>
          </a:prstGeom>
          <a:ln w="25400" cap="rnd">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A0E3E33B-1F47-4B40-B74E-C30735DE0DBA}"/>
                  </a:ext>
                </a:extLst>
              </p:cNvPr>
              <p:cNvSpPr/>
              <p:nvPr/>
            </p:nvSpPr>
            <p:spPr>
              <a:xfrm>
                <a:off x="9080945" y="2239801"/>
                <a:ext cx="326371"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400" b="0" i="1" smtClean="0">
                          <a:solidFill>
                            <a:srgbClr val="002060"/>
                          </a:solidFill>
                          <a:latin typeface="Cambria Math" panose="02040503050406030204" pitchFamily="18" charset="0"/>
                          <a:ea typeface="Cambria Math" panose="02040503050406030204" pitchFamily="18" charset="0"/>
                        </a:rPr>
                        <m:t>𝑥</m:t>
                      </m:r>
                    </m:oMath>
                  </m:oMathPara>
                </a14:m>
                <a:endParaRPr lang="en-US" sz="1400" dirty="0"/>
              </a:p>
            </p:txBody>
          </p:sp>
        </mc:Choice>
        <mc:Fallback xmlns="">
          <p:sp>
            <p:nvSpPr>
              <p:cNvPr id="36" name="Rectangle 35">
                <a:extLst>
                  <a:ext uri="{FF2B5EF4-FFF2-40B4-BE49-F238E27FC236}">
                    <a16:creationId xmlns:a16="http://schemas.microsoft.com/office/drawing/2014/main" id="{A0E3E33B-1F47-4B40-B74E-C30735DE0DBA}"/>
                  </a:ext>
                </a:extLst>
              </p:cNvPr>
              <p:cNvSpPr>
                <a:spLocks noRot="1" noChangeAspect="1" noMove="1" noResize="1" noEditPoints="1" noAdjustHandles="1" noChangeArrowheads="1" noChangeShapeType="1" noTextEdit="1"/>
              </p:cNvSpPr>
              <p:nvPr/>
            </p:nvSpPr>
            <p:spPr>
              <a:xfrm>
                <a:off x="9080945" y="2239801"/>
                <a:ext cx="326371" cy="307777"/>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1292DED9-E392-424B-88A2-DAA9A5B5FB99}"/>
                  </a:ext>
                </a:extLst>
              </p:cNvPr>
              <p:cNvSpPr/>
              <p:nvPr/>
            </p:nvSpPr>
            <p:spPr>
              <a:xfrm>
                <a:off x="9985536" y="274319"/>
                <a:ext cx="314381"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400" b="0" i="1" smtClean="0">
                          <a:solidFill>
                            <a:srgbClr val="002060"/>
                          </a:solidFill>
                          <a:latin typeface="Cambria Math" panose="02040503050406030204" pitchFamily="18" charset="0"/>
                          <a:ea typeface="Cambria Math" panose="02040503050406030204" pitchFamily="18" charset="0"/>
                        </a:rPr>
                        <m:t>𝑧</m:t>
                      </m:r>
                    </m:oMath>
                  </m:oMathPara>
                </a14:m>
                <a:endParaRPr lang="en-US" sz="1400" dirty="0"/>
              </a:p>
            </p:txBody>
          </p:sp>
        </mc:Choice>
        <mc:Fallback xmlns="">
          <p:sp>
            <p:nvSpPr>
              <p:cNvPr id="37" name="Rectangle 36">
                <a:extLst>
                  <a:ext uri="{FF2B5EF4-FFF2-40B4-BE49-F238E27FC236}">
                    <a16:creationId xmlns:a16="http://schemas.microsoft.com/office/drawing/2014/main" id="{1292DED9-E392-424B-88A2-DAA9A5B5FB99}"/>
                  </a:ext>
                </a:extLst>
              </p:cNvPr>
              <p:cNvSpPr>
                <a:spLocks noRot="1" noChangeAspect="1" noMove="1" noResize="1" noEditPoints="1" noAdjustHandles="1" noChangeArrowheads="1" noChangeShapeType="1" noTextEdit="1"/>
              </p:cNvSpPr>
              <p:nvPr/>
            </p:nvSpPr>
            <p:spPr>
              <a:xfrm>
                <a:off x="9985536" y="274319"/>
                <a:ext cx="314381" cy="307777"/>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B6A18495-F709-CC45-A03D-77827FA13747}"/>
                  </a:ext>
                </a:extLst>
              </p:cNvPr>
              <p:cNvSpPr/>
              <p:nvPr/>
            </p:nvSpPr>
            <p:spPr>
              <a:xfrm>
                <a:off x="11543822" y="1688182"/>
                <a:ext cx="328808"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𝑦</m:t>
                      </m:r>
                    </m:oMath>
                  </m:oMathPara>
                </a14:m>
                <a:endParaRPr lang="en-US" sz="1400" dirty="0"/>
              </a:p>
            </p:txBody>
          </p:sp>
        </mc:Choice>
        <mc:Fallback xmlns="">
          <p:sp>
            <p:nvSpPr>
              <p:cNvPr id="39" name="Rectangle 38">
                <a:extLst>
                  <a:ext uri="{FF2B5EF4-FFF2-40B4-BE49-F238E27FC236}">
                    <a16:creationId xmlns:a16="http://schemas.microsoft.com/office/drawing/2014/main" id="{B6A18495-F709-CC45-A03D-77827FA13747}"/>
                  </a:ext>
                </a:extLst>
              </p:cNvPr>
              <p:cNvSpPr>
                <a:spLocks noRot="1" noChangeAspect="1" noMove="1" noResize="1" noEditPoints="1" noAdjustHandles="1" noChangeArrowheads="1" noChangeShapeType="1" noTextEdit="1"/>
              </p:cNvSpPr>
              <p:nvPr/>
            </p:nvSpPr>
            <p:spPr>
              <a:xfrm>
                <a:off x="11543822" y="1688182"/>
                <a:ext cx="328808" cy="307777"/>
              </a:xfrm>
              <a:prstGeom prst="rect">
                <a:avLst/>
              </a:prstGeom>
              <a:blipFill>
                <a:blip r:embed="rId3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7DC941D9-3B38-D14C-BEEB-8B9C0D84971A}"/>
                  </a:ext>
                </a:extLst>
              </p:cNvPr>
              <p:cNvSpPr/>
              <p:nvPr/>
            </p:nvSpPr>
            <p:spPr>
              <a:xfrm>
                <a:off x="9868679" y="2094635"/>
                <a:ext cx="694485" cy="4583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400" i="1" smtClean="0">
                          <a:solidFill>
                            <a:srgbClr val="002060"/>
                          </a:solidFill>
                          <a:latin typeface="Cambria Math" panose="02040503050406030204" pitchFamily="18" charset="0"/>
                          <a:ea typeface="Cambria Math" panose="02040503050406030204" pitchFamily="18" charset="0"/>
                        </a:rPr>
                        <m:t>𝜑</m:t>
                      </m:r>
                      <m:r>
                        <a:rPr lang="en-US" sz="1400" b="0" i="1" smtClean="0">
                          <a:solidFill>
                            <a:srgbClr val="002060"/>
                          </a:solidFill>
                          <a:latin typeface="Cambria Math" panose="02040503050406030204" pitchFamily="18" charset="0"/>
                          <a:ea typeface="Cambria Math" panose="02040503050406030204" pitchFamily="18" charset="0"/>
                        </a:rPr>
                        <m:t>=</m:t>
                      </m:r>
                      <m:f>
                        <m:fPr>
                          <m:ctrlPr>
                            <a:rPr lang="en-US" sz="1400" i="1" smtClean="0">
                              <a:solidFill>
                                <a:srgbClr val="002060"/>
                              </a:solidFill>
                              <a:latin typeface="Cambria Math" panose="02040503050406030204" pitchFamily="18" charset="0"/>
                              <a:ea typeface="Cambria Math" panose="02040503050406030204" pitchFamily="18" charset="0"/>
                            </a:rPr>
                          </m:ctrlPr>
                        </m:fPr>
                        <m:num>
                          <m:r>
                            <a:rPr lang="en-US" sz="1400" i="1" smtClean="0">
                              <a:solidFill>
                                <a:srgbClr val="002060"/>
                              </a:solidFill>
                              <a:latin typeface="Cambria Math" panose="02040503050406030204" pitchFamily="18" charset="0"/>
                              <a:ea typeface="Cambria Math" panose="02040503050406030204" pitchFamily="18" charset="0"/>
                            </a:rPr>
                            <m:t>𝜋</m:t>
                          </m:r>
                        </m:num>
                        <m:den>
                          <m:r>
                            <a:rPr lang="en-US" sz="1400" b="0" i="1" smtClean="0">
                              <a:solidFill>
                                <a:srgbClr val="002060"/>
                              </a:solidFill>
                              <a:latin typeface="Cambria Math" panose="02040503050406030204" pitchFamily="18" charset="0"/>
                              <a:ea typeface="Cambria Math" panose="02040503050406030204" pitchFamily="18" charset="0"/>
                            </a:rPr>
                            <m:t>4</m:t>
                          </m:r>
                        </m:den>
                      </m:f>
                    </m:oMath>
                  </m:oMathPara>
                </a14:m>
                <a:endParaRPr lang="en-US" sz="1400" dirty="0"/>
              </a:p>
            </p:txBody>
          </p:sp>
        </mc:Choice>
        <mc:Fallback xmlns="">
          <p:sp>
            <p:nvSpPr>
              <p:cNvPr id="40" name="Rectangle 39">
                <a:extLst>
                  <a:ext uri="{FF2B5EF4-FFF2-40B4-BE49-F238E27FC236}">
                    <a16:creationId xmlns:a16="http://schemas.microsoft.com/office/drawing/2014/main" id="{7DC941D9-3B38-D14C-BEEB-8B9C0D84971A}"/>
                  </a:ext>
                </a:extLst>
              </p:cNvPr>
              <p:cNvSpPr>
                <a:spLocks noRot="1" noChangeAspect="1" noMove="1" noResize="1" noEditPoints="1" noAdjustHandles="1" noChangeArrowheads="1" noChangeShapeType="1" noTextEdit="1"/>
              </p:cNvSpPr>
              <p:nvPr/>
            </p:nvSpPr>
            <p:spPr>
              <a:xfrm>
                <a:off x="9868679" y="2094635"/>
                <a:ext cx="694485" cy="458395"/>
              </a:xfrm>
              <a:prstGeom prst="rect">
                <a:avLst/>
              </a:prstGeom>
              <a:blipFill>
                <a:blip r:embed="rId32"/>
                <a:stretch>
                  <a:fillRect b="-2703"/>
                </a:stretch>
              </a:blipFill>
            </p:spPr>
            <p:txBody>
              <a:bodyPr/>
              <a:lstStyle/>
              <a:p>
                <a:r>
                  <a:rPr lang="en-US">
                    <a:noFill/>
                  </a:rPr>
                  <a:t> </a:t>
                </a:r>
              </a:p>
            </p:txBody>
          </p:sp>
        </mc:Fallback>
      </mc:AlternateContent>
      <p:sp>
        <p:nvSpPr>
          <p:cNvPr id="44" name="Arc 43">
            <a:extLst>
              <a:ext uri="{FF2B5EF4-FFF2-40B4-BE49-F238E27FC236}">
                <a16:creationId xmlns:a16="http://schemas.microsoft.com/office/drawing/2014/main" id="{1F5D0C4C-63C7-C049-95DE-AB46C524E65A}"/>
              </a:ext>
            </a:extLst>
          </p:cNvPr>
          <p:cNvSpPr/>
          <p:nvPr/>
        </p:nvSpPr>
        <p:spPr>
          <a:xfrm flipH="1">
            <a:off x="9954822" y="1801052"/>
            <a:ext cx="480812" cy="289762"/>
          </a:xfrm>
          <a:prstGeom prst="arc">
            <a:avLst>
              <a:gd name="adj1" fmla="val 558074"/>
              <a:gd name="adj2" fmla="val 10198139"/>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E0865CB2-24BD-3040-93EC-B2E16241E6D5}"/>
                  </a:ext>
                </a:extLst>
              </p:cNvPr>
              <p:cNvSpPr/>
              <p:nvPr/>
            </p:nvSpPr>
            <p:spPr>
              <a:xfrm>
                <a:off x="9835272" y="598871"/>
                <a:ext cx="482824"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a:solidFill>
                                <a:srgbClr val="002060"/>
                              </a:solidFill>
                              <a:latin typeface="Cambria Math" panose="02040503050406030204" pitchFamily="18" charset="0"/>
                              <a:ea typeface="Cambria Math" panose="02040503050406030204" pitchFamily="18" charset="0"/>
                            </a:rPr>
                          </m:ctrlPr>
                        </m:dPr>
                        <m:e>
                          <m:r>
                            <a:rPr lang="en-US" sz="1600" i="1">
                              <a:solidFill>
                                <a:srgbClr val="002060"/>
                              </a:solidFill>
                              <a:latin typeface="Cambria Math" panose="02040503050406030204" pitchFamily="18" charset="0"/>
                              <a:ea typeface="Cambria Math" panose="02040503050406030204" pitchFamily="18" charset="0"/>
                            </a:rPr>
                            <m:t>|0</m:t>
                          </m:r>
                        </m:e>
                      </m:d>
                    </m:oMath>
                  </m:oMathPara>
                </a14:m>
                <a:endParaRPr lang="en-US" sz="1600" dirty="0"/>
              </a:p>
            </p:txBody>
          </p:sp>
        </mc:Choice>
        <mc:Fallback xmlns="">
          <p:sp>
            <p:nvSpPr>
              <p:cNvPr id="47" name="Rectangle 46">
                <a:extLst>
                  <a:ext uri="{FF2B5EF4-FFF2-40B4-BE49-F238E27FC236}">
                    <a16:creationId xmlns:a16="http://schemas.microsoft.com/office/drawing/2014/main" id="{E0865CB2-24BD-3040-93EC-B2E16241E6D5}"/>
                  </a:ext>
                </a:extLst>
              </p:cNvPr>
              <p:cNvSpPr>
                <a:spLocks noRot="1" noChangeAspect="1" noMove="1" noResize="1" noEditPoints="1" noAdjustHandles="1" noChangeArrowheads="1" noChangeShapeType="1" noTextEdit="1"/>
              </p:cNvSpPr>
              <p:nvPr/>
            </p:nvSpPr>
            <p:spPr>
              <a:xfrm>
                <a:off x="9835272" y="598871"/>
                <a:ext cx="482824" cy="338554"/>
              </a:xfrm>
              <a:prstGeom prst="rect">
                <a:avLst/>
              </a:prstGeom>
              <a:blipFill>
                <a:blip r:embed="rId33"/>
                <a:stretch>
                  <a:fillRect l="-15385" t="-107143" r="-41026" b="-17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872D3C45-2E5E-A14F-8272-405AC5B3901D}"/>
                  </a:ext>
                </a:extLst>
              </p:cNvPr>
              <p:cNvSpPr/>
              <p:nvPr/>
            </p:nvSpPr>
            <p:spPr>
              <a:xfrm>
                <a:off x="9803361" y="2704463"/>
                <a:ext cx="482824"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smtClean="0">
                              <a:solidFill>
                                <a:srgbClr val="002060"/>
                              </a:solidFill>
                              <a:latin typeface="Cambria Math" panose="02040503050406030204" pitchFamily="18" charset="0"/>
                              <a:ea typeface="Cambria Math" panose="02040503050406030204" pitchFamily="18" charset="0"/>
                            </a:rPr>
                          </m:ctrlPr>
                        </m:dPr>
                        <m:e>
                          <m:r>
                            <a:rPr lang="en-US" sz="1600" i="1">
                              <a:solidFill>
                                <a:srgbClr val="002060"/>
                              </a:solidFill>
                              <a:latin typeface="Cambria Math" panose="02040503050406030204" pitchFamily="18" charset="0"/>
                              <a:ea typeface="Cambria Math" panose="02040503050406030204" pitchFamily="18" charset="0"/>
                            </a:rPr>
                            <m:t>|</m:t>
                          </m:r>
                          <m:r>
                            <a:rPr lang="en-US" sz="1600" b="0" i="1" smtClean="0">
                              <a:solidFill>
                                <a:srgbClr val="002060"/>
                              </a:solidFill>
                              <a:latin typeface="Cambria Math" panose="02040503050406030204" pitchFamily="18" charset="0"/>
                              <a:ea typeface="Cambria Math" panose="02040503050406030204" pitchFamily="18" charset="0"/>
                            </a:rPr>
                            <m:t>1</m:t>
                          </m:r>
                        </m:e>
                      </m:d>
                    </m:oMath>
                  </m:oMathPara>
                </a14:m>
                <a:endParaRPr lang="en-US" sz="1600" dirty="0"/>
              </a:p>
            </p:txBody>
          </p:sp>
        </mc:Choice>
        <mc:Fallback xmlns="">
          <p:sp>
            <p:nvSpPr>
              <p:cNvPr id="48" name="Rectangle 47">
                <a:extLst>
                  <a:ext uri="{FF2B5EF4-FFF2-40B4-BE49-F238E27FC236}">
                    <a16:creationId xmlns:a16="http://schemas.microsoft.com/office/drawing/2014/main" id="{872D3C45-2E5E-A14F-8272-405AC5B3901D}"/>
                  </a:ext>
                </a:extLst>
              </p:cNvPr>
              <p:cNvSpPr>
                <a:spLocks noRot="1" noChangeAspect="1" noMove="1" noResize="1" noEditPoints="1" noAdjustHandles="1" noChangeArrowheads="1" noChangeShapeType="1" noTextEdit="1"/>
              </p:cNvSpPr>
              <p:nvPr/>
            </p:nvSpPr>
            <p:spPr>
              <a:xfrm>
                <a:off x="9803361" y="2704463"/>
                <a:ext cx="482824" cy="338554"/>
              </a:xfrm>
              <a:prstGeom prst="rect">
                <a:avLst/>
              </a:prstGeom>
              <a:blipFill>
                <a:blip r:embed="rId34"/>
                <a:stretch>
                  <a:fillRect l="-17949" t="-107143" r="-38462" b="-17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B568D81C-E6BB-7343-B9AA-E7CDA733B67C}"/>
                  </a:ext>
                </a:extLst>
              </p:cNvPr>
              <p:cNvSpPr/>
              <p:nvPr/>
            </p:nvSpPr>
            <p:spPr>
              <a:xfrm>
                <a:off x="9172022" y="1901247"/>
                <a:ext cx="568489"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smtClean="0">
                              <a:solidFill>
                                <a:srgbClr val="002060"/>
                              </a:solidFill>
                              <a:latin typeface="Cambria Math" panose="02040503050406030204" pitchFamily="18" charset="0"/>
                              <a:ea typeface="Cambria Math" panose="02040503050406030204" pitchFamily="18" charset="0"/>
                            </a:rPr>
                          </m:ctrlPr>
                        </m:dPr>
                        <m:e>
                          <m:r>
                            <a:rPr lang="en-US" sz="1600" i="1">
                              <a:solidFill>
                                <a:srgbClr val="002060"/>
                              </a:solidFill>
                              <a:latin typeface="Cambria Math" panose="02040503050406030204" pitchFamily="18" charset="0"/>
                              <a:ea typeface="Cambria Math" panose="02040503050406030204" pitchFamily="18" charset="0"/>
                            </a:rPr>
                            <m:t>|</m:t>
                          </m:r>
                          <m:r>
                            <a:rPr lang="en-US" sz="1600" b="0" i="1" smtClean="0">
                              <a:solidFill>
                                <a:srgbClr val="002060"/>
                              </a:solidFill>
                              <a:latin typeface="Cambria Math" panose="02040503050406030204" pitchFamily="18" charset="0"/>
                              <a:ea typeface="Cambria Math" panose="02040503050406030204" pitchFamily="18" charset="0"/>
                            </a:rPr>
                            <m:t>+</m:t>
                          </m:r>
                        </m:e>
                      </m:d>
                    </m:oMath>
                  </m:oMathPara>
                </a14:m>
                <a:endParaRPr lang="en-US" sz="1600" dirty="0"/>
              </a:p>
            </p:txBody>
          </p:sp>
        </mc:Choice>
        <mc:Fallback xmlns="">
          <p:sp>
            <p:nvSpPr>
              <p:cNvPr id="11" name="Rectangle 10">
                <a:extLst>
                  <a:ext uri="{FF2B5EF4-FFF2-40B4-BE49-F238E27FC236}">
                    <a16:creationId xmlns:a16="http://schemas.microsoft.com/office/drawing/2014/main" id="{B568D81C-E6BB-7343-B9AA-E7CDA733B67C}"/>
                  </a:ext>
                </a:extLst>
              </p:cNvPr>
              <p:cNvSpPr>
                <a:spLocks noRot="1" noChangeAspect="1" noMove="1" noResize="1" noEditPoints="1" noAdjustHandles="1" noChangeArrowheads="1" noChangeShapeType="1" noTextEdit="1"/>
              </p:cNvSpPr>
              <p:nvPr/>
            </p:nvSpPr>
            <p:spPr>
              <a:xfrm>
                <a:off x="9172022" y="1901247"/>
                <a:ext cx="568489" cy="338554"/>
              </a:xfrm>
              <a:prstGeom prst="rect">
                <a:avLst/>
              </a:prstGeom>
              <a:blipFill>
                <a:blip r:embed="rId35"/>
                <a:stretch>
                  <a:fillRect t="-111111" r="-32609" b="-181481"/>
                </a:stretch>
              </a:blipFill>
            </p:spPr>
            <p:txBody>
              <a:bodyPr/>
              <a:lstStyle/>
              <a:p>
                <a:r>
                  <a:rPr lang="en-US">
                    <a:noFill/>
                  </a:rPr>
                  <a:t> </a:t>
                </a:r>
              </a:p>
            </p:txBody>
          </p:sp>
        </mc:Fallback>
      </mc:AlternateContent>
      <p:sp>
        <p:nvSpPr>
          <p:cNvPr id="49" name="Oval 48">
            <a:extLst>
              <a:ext uri="{FF2B5EF4-FFF2-40B4-BE49-F238E27FC236}">
                <a16:creationId xmlns:a16="http://schemas.microsoft.com/office/drawing/2014/main" id="{C94B672B-5950-7A47-A8B1-7BA4575BCCA9}"/>
              </a:ext>
            </a:extLst>
          </p:cNvPr>
          <p:cNvSpPr>
            <a:spLocks noChangeAspect="1"/>
          </p:cNvSpPr>
          <p:nvPr/>
        </p:nvSpPr>
        <p:spPr>
          <a:xfrm>
            <a:off x="9105824" y="3762288"/>
            <a:ext cx="2406925" cy="2406925"/>
          </a:xfrm>
          <a:prstGeom prst="ellipse">
            <a:avLst/>
          </a:prstGeom>
          <a:gradFill flip="none" rotWithShape="1">
            <a:gsLst>
              <a:gs pos="0">
                <a:schemeClr val="bg1"/>
              </a:gs>
              <a:gs pos="100000">
                <a:schemeClr val="accent5">
                  <a:lumMod val="20000"/>
                  <a:lumOff val="80000"/>
                </a:schemeClr>
              </a:gs>
            </a:gsLst>
            <a:lin ang="5400000" scaled="1"/>
            <a:tileRect/>
          </a:gra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Arrow Connector 49">
            <a:extLst>
              <a:ext uri="{FF2B5EF4-FFF2-40B4-BE49-F238E27FC236}">
                <a16:creationId xmlns:a16="http://schemas.microsoft.com/office/drawing/2014/main" id="{AAF348EE-946A-3A4B-B165-452756674D60}"/>
              </a:ext>
            </a:extLst>
          </p:cNvPr>
          <p:cNvCxnSpPr>
            <a:cxnSpLocks/>
          </p:cNvCxnSpPr>
          <p:nvPr/>
        </p:nvCxnSpPr>
        <p:spPr>
          <a:xfrm flipH="1" flipV="1">
            <a:off x="10313973" y="3568480"/>
            <a:ext cx="0" cy="2352766"/>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4B6D9915-D8FB-DE4B-A0DF-FD042D919A0F}"/>
              </a:ext>
            </a:extLst>
          </p:cNvPr>
          <p:cNvCxnSpPr>
            <a:cxnSpLocks/>
          </p:cNvCxnSpPr>
          <p:nvPr/>
        </p:nvCxnSpPr>
        <p:spPr>
          <a:xfrm>
            <a:off x="9362042" y="4659847"/>
            <a:ext cx="2320767" cy="547489"/>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D132DA69-9C7F-1143-9018-826EDCAE8A89}"/>
              </a:ext>
            </a:extLst>
          </p:cNvPr>
          <p:cNvCxnSpPr>
            <a:cxnSpLocks/>
          </p:cNvCxnSpPr>
          <p:nvPr/>
        </p:nvCxnSpPr>
        <p:spPr>
          <a:xfrm flipH="1">
            <a:off x="9402528" y="4449953"/>
            <a:ext cx="1417570" cy="1164493"/>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2BAABE23-EA4F-0C43-A2F4-09C085FFE0CA}"/>
              </a:ext>
            </a:extLst>
          </p:cNvPr>
          <p:cNvSpPr/>
          <p:nvPr/>
        </p:nvSpPr>
        <p:spPr>
          <a:xfrm>
            <a:off x="9115193" y="4398759"/>
            <a:ext cx="2406925" cy="1149878"/>
          </a:xfrm>
          <a:prstGeom prst="ellipse">
            <a:avLst/>
          </a:prstGeom>
          <a:noFill/>
          <a:ln w="635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Arrow Connector 54">
            <a:extLst>
              <a:ext uri="{FF2B5EF4-FFF2-40B4-BE49-F238E27FC236}">
                <a16:creationId xmlns:a16="http://schemas.microsoft.com/office/drawing/2014/main" id="{7B879918-E269-2949-9BBA-9B1EDB12597B}"/>
              </a:ext>
            </a:extLst>
          </p:cNvPr>
          <p:cNvCxnSpPr>
            <a:cxnSpLocks/>
          </p:cNvCxnSpPr>
          <p:nvPr/>
        </p:nvCxnSpPr>
        <p:spPr>
          <a:xfrm>
            <a:off x="10313432" y="4868700"/>
            <a:ext cx="0" cy="1075765"/>
          </a:xfrm>
          <a:prstGeom prst="straightConnector1">
            <a:avLst/>
          </a:prstGeom>
          <a:ln w="25400" cap="rnd">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Rectangle 55">
                <a:extLst>
                  <a:ext uri="{FF2B5EF4-FFF2-40B4-BE49-F238E27FC236}">
                    <a16:creationId xmlns:a16="http://schemas.microsoft.com/office/drawing/2014/main" id="{46D3F35E-430C-5141-8AD5-2F338B969C3D}"/>
                  </a:ext>
                </a:extLst>
              </p:cNvPr>
              <p:cNvSpPr/>
              <p:nvPr/>
            </p:nvSpPr>
            <p:spPr>
              <a:xfrm>
                <a:off x="9090314" y="5382092"/>
                <a:ext cx="326371"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400" b="0" i="1" smtClean="0">
                          <a:solidFill>
                            <a:srgbClr val="002060"/>
                          </a:solidFill>
                          <a:latin typeface="Cambria Math" panose="02040503050406030204" pitchFamily="18" charset="0"/>
                          <a:ea typeface="Cambria Math" panose="02040503050406030204" pitchFamily="18" charset="0"/>
                        </a:rPr>
                        <m:t>𝑥</m:t>
                      </m:r>
                    </m:oMath>
                  </m:oMathPara>
                </a14:m>
                <a:endParaRPr lang="en-US" sz="1400" dirty="0"/>
              </a:p>
            </p:txBody>
          </p:sp>
        </mc:Choice>
        <mc:Fallback xmlns="">
          <p:sp>
            <p:nvSpPr>
              <p:cNvPr id="56" name="Rectangle 55">
                <a:extLst>
                  <a:ext uri="{FF2B5EF4-FFF2-40B4-BE49-F238E27FC236}">
                    <a16:creationId xmlns:a16="http://schemas.microsoft.com/office/drawing/2014/main" id="{46D3F35E-430C-5141-8AD5-2F338B969C3D}"/>
                  </a:ext>
                </a:extLst>
              </p:cNvPr>
              <p:cNvSpPr>
                <a:spLocks noRot="1" noChangeAspect="1" noMove="1" noResize="1" noEditPoints="1" noAdjustHandles="1" noChangeArrowheads="1" noChangeShapeType="1" noTextEdit="1"/>
              </p:cNvSpPr>
              <p:nvPr/>
            </p:nvSpPr>
            <p:spPr>
              <a:xfrm>
                <a:off x="9090314" y="5382092"/>
                <a:ext cx="326371" cy="307777"/>
              </a:xfrm>
              <a:prstGeom prst="rect">
                <a:avLst/>
              </a:prstGeom>
              <a:blipFill>
                <a:blip r:embed="rId3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8722102A-87FA-8340-B081-17BFD3A5DC7A}"/>
                  </a:ext>
                </a:extLst>
              </p:cNvPr>
              <p:cNvSpPr/>
              <p:nvPr/>
            </p:nvSpPr>
            <p:spPr>
              <a:xfrm>
                <a:off x="9994905" y="3416610"/>
                <a:ext cx="314381"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400" b="0" i="1" smtClean="0">
                          <a:solidFill>
                            <a:srgbClr val="002060"/>
                          </a:solidFill>
                          <a:latin typeface="Cambria Math" panose="02040503050406030204" pitchFamily="18" charset="0"/>
                          <a:ea typeface="Cambria Math" panose="02040503050406030204" pitchFamily="18" charset="0"/>
                        </a:rPr>
                        <m:t>𝑧</m:t>
                      </m:r>
                    </m:oMath>
                  </m:oMathPara>
                </a14:m>
                <a:endParaRPr lang="en-US" sz="1400" dirty="0"/>
              </a:p>
            </p:txBody>
          </p:sp>
        </mc:Choice>
        <mc:Fallback xmlns="">
          <p:sp>
            <p:nvSpPr>
              <p:cNvPr id="57" name="Rectangle 56">
                <a:extLst>
                  <a:ext uri="{FF2B5EF4-FFF2-40B4-BE49-F238E27FC236}">
                    <a16:creationId xmlns:a16="http://schemas.microsoft.com/office/drawing/2014/main" id="{8722102A-87FA-8340-B081-17BFD3A5DC7A}"/>
                  </a:ext>
                </a:extLst>
              </p:cNvPr>
              <p:cNvSpPr>
                <a:spLocks noRot="1" noChangeAspect="1" noMove="1" noResize="1" noEditPoints="1" noAdjustHandles="1" noChangeArrowheads="1" noChangeShapeType="1" noTextEdit="1"/>
              </p:cNvSpPr>
              <p:nvPr/>
            </p:nvSpPr>
            <p:spPr>
              <a:xfrm>
                <a:off x="9994905" y="3416610"/>
                <a:ext cx="314381" cy="307777"/>
              </a:xfrm>
              <a:prstGeom prst="rect">
                <a:avLst/>
              </a:prstGeom>
              <a:blipFill>
                <a:blip r:embed="rId3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Rectangle 57">
                <a:extLst>
                  <a:ext uri="{FF2B5EF4-FFF2-40B4-BE49-F238E27FC236}">
                    <a16:creationId xmlns:a16="http://schemas.microsoft.com/office/drawing/2014/main" id="{D0C0CF72-5336-7441-9E09-1B0E1713395F}"/>
                  </a:ext>
                </a:extLst>
              </p:cNvPr>
              <p:cNvSpPr/>
              <p:nvPr/>
            </p:nvSpPr>
            <p:spPr>
              <a:xfrm>
                <a:off x="11553191" y="4830473"/>
                <a:ext cx="328808"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𝑦</m:t>
                      </m:r>
                    </m:oMath>
                  </m:oMathPara>
                </a14:m>
                <a:endParaRPr lang="en-US" sz="1400" dirty="0"/>
              </a:p>
            </p:txBody>
          </p:sp>
        </mc:Choice>
        <mc:Fallback xmlns="">
          <p:sp>
            <p:nvSpPr>
              <p:cNvPr id="58" name="Rectangle 57">
                <a:extLst>
                  <a:ext uri="{FF2B5EF4-FFF2-40B4-BE49-F238E27FC236}">
                    <a16:creationId xmlns:a16="http://schemas.microsoft.com/office/drawing/2014/main" id="{D0C0CF72-5336-7441-9E09-1B0E1713395F}"/>
                  </a:ext>
                </a:extLst>
              </p:cNvPr>
              <p:cNvSpPr>
                <a:spLocks noRot="1" noChangeAspect="1" noMove="1" noResize="1" noEditPoints="1" noAdjustHandles="1" noChangeArrowheads="1" noChangeShapeType="1" noTextEdit="1"/>
              </p:cNvSpPr>
              <p:nvPr/>
            </p:nvSpPr>
            <p:spPr>
              <a:xfrm>
                <a:off x="11553191" y="4830473"/>
                <a:ext cx="328808" cy="307777"/>
              </a:xfrm>
              <a:prstGeom prst="rect">
                <a:avLst/>
              </a:prstGeom>
              <a:blipFill>
                <a:blip r:embed="rId3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Rectangle 60">
                <a:extLst>
                  <a:ext uri="{FF2B5EF4-FFF2-40B4-BE49-F238E27FC236}">
                    <a16:creationId xmlns:a16="http://schemas.microsoft.com/office/drawing/2014/main" id="{37A68064-8A4B-6B4A-84CE-95EA2B1A0D1A}"/>
                  </a:ext>
                </a:extLst>
              </p:cNvPr>
              <p:cNvSpPr/>
              <p:nvPr/>
            </p:nvSpPr>
            <p:spPr>
              <a:xfrm>
                <a:off x="9844641" y="3741162"/>
                <a:ext cx="482824"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a:solidFill>
                                <a:srgbClr val="002060"/>
                              </a:solidFill>
                              <a:latin typeface="Cambria Math" panose="02040503050406030204" pitchFamily="18" charset="0"/>
                              <a:ea typeface="Cambria Math" panose="02040503050406030204" pitchFamily="18" charset="0"/>
                            </a:rPr>
                          </m:ctrlPr>
                        </m:dPr>
                        <m:e>
                          <m:r>
                            <a:rPr lang="en-US" sz="1600" i="1">
                              <a:solidFill>
                                <a:srgbClr val="002060"/>
                              </a:solidFill>
                              <a:latin typeface="Cambria Math" panose="02040503050406030204" pitchFamily="18" charset="0"/>
                              <a:ea typeface="Cambria Math" panose="02040503050406030204" pitchFamily="18" charset="0"/>
                            </a:rPr>
                            <m:t>|0</m:t>
                          </m:r>
                        </m:e>
                      </m:d>
                    </m:oMath>
                  </m:oMathPara>
                </a14:m>
                <a:endParaRPr lang="en-US" sz="1600" dirty="0"/>
              </a:p>
            </p:txBody>
          </p:sp>
        </mc:Choice>
        <mc:Fallback xmlns="">
          <p:sp>
            <p:nvSpPr>
              <p:cNvPr id="61" name="Rectangle 60">
                <a:extLst>
                  <a:ext uri="{FF2B5EF4-FFF2-40B4-BE49-F238E27FC236}">
                    <a16:creationId xmlns:a16="http://schemas.microsoft.com/office/drawing/2014/main" id="{37A68064-8A4B-6B4A-84CE-95EA2B1A0D1A}"/>
                  </a:ext>
                </a:extLst>
              </p:cNvPr>
              <p:cNvSpPr>
                <a:spLocks noRot="1" noChangeAspect="1" noMove="1" noResize="1" noEditPoints="1" noAdjustHandles="1" noChangeArrowheads="1" noChangeShapeType="1" noTextEdit="1"/>
              </p:cNvSpPr>
              <p:nvPr/>
            </p:nvSpPr>
            <p:spPr>
              <a:xfrm>
                <a:off x="9844641" y="3741162"/>
                <a:ext cx="482824" cy="338554"/>
              </a:xfrm>
              <a:prstGeom prst="rect">
                <a:avLst/>
              </a:prstGeom>
              <a:blipFill>
                <a:blip r:embed="rId39"/>
                <a:stretch>
                  <a:fillRect l="-15385" t="-111111" r="-38462" b="-17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Rectangle 61">
                <a:extLst>
                  <a:ext uri="{FF2B5EF4-FFF2-40B4-BE49-F238E27FC236}">
                    <a16:creationId xmlns:a16="http://schemas.microsoft.com/office/drawing/2014/main" id="{9CC9EDB5-7720-6F46-9310-F40F233EDAFC}"/>
                  </a:ext>
                </a:extLst>
              </p:cNvPr>
              <p:cNvSpPr/>
              <p:nvPr/>
            </p:nvSpPr>
            <p:spPr>
              <a:xfrm>
                <a:off x="9812730" y="5846754"/>
                <a:ext cx="482824"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smtClean="0">
                              <a:solidFill>
                                <a:srgbClr val="002060"/>
                              </a:solidFill>
                              <a:latin typeface="Cambria Math" panose="02040503050406030204" pitchFamily="18" charset="0"/>
                              <a:ea typeface="Cambria Math" panose="02040503050406030204" pitchFamily="18" charset="0"/>
                            </a:rPr>
                          </m:ctrlPr>
                        </m:dPr>
                        <m:e>
                          <m:r>
                            <a:rPr lang="en-US" sz="1600" i="1">
                              <a:solidFill>
                                <a:srgbClr val="002060"/>
                              </a:solidFill>
                              <a:latin typeface="Cambria Math" panose="02040503050406030204" pitchFamily="18" charset="0"/>
                              <a:ea typeface="Cambria Math" panose="02040503050406030204" pitchFamily="18" charset="0"/>
                            </a:rPr>
                            <m:t>|</m:t>
                          </m:r>
                          <m:r>
                            <a:rPr lang="en-US" sz="1600" b="0" i="1" smtClean="0">
                              <a:solidFill>
                                <a:srgbClr val="002060"/>
                              </a:solidFill>
                              <a:latin typeface="Cambria Math" panose="02040503050406030204" pitchFamily="18" charset="0"/>
                              <a:ea typeface="Cambria Math" panose="02040503050406030204" pitchFamily="18" charset="0"/>
                            </a:rPr>
                            <m:t>1</m:t>
                          </m:r>
                        </m:e>
                      </m:d>
                    </m:oMath>
                  </m:oMathPara>
                </a14:m>
                <a:endParaRPr lang="en-US" sz="1600" dirty="0"/>
              </a:p>
            </p:txBody>
          </p:sp>
        </mc:Choice>
        <mc:Fallback xmlns="">
          <p:sp>
            <p:nvSpPr>
              <p:cNvPr id="62" name="Rectangle 61">
                <a:extLst>
                  <a:ext uri="{FF2B5EF4-FFF2-40B4-BE49-F238E27FC236}">
                    <a16:creationId xmlns:a16="http://schemas.microsoft.com/office/drawing/2014/main" id="{9CC9EDB5-7720-6F46-9310-F40F233EDAFC}"/>
                  </a:ext>
                </a:extLst>
              </p:cNvPr>
              <p:cNvSpPr>
                <a:spLocks noRot="1" noChangeAspect="1" noMove="1" noResize="1" noEditPoints="1" noAdjustHandles="1" noChangeArrowheads="1" noChangeShapeType="1" noTextEdit="1"/>
              </p:cNvSpPr>
              <p:nvPr/>
            </p:nvSpPr>
            <p:spPr>
              <a:xfrm>
                <a:off x="9812730" y="5846754"/>
                <a:ext cx="482824" cy="338554"/>
              </a:xfrm>
              <a:prstGeom prst="rect">
                <a:avLst/>
              </a:prstGeom>
              <a:blipFill>
                <a:blip r:embed="rId40"/>
                <a:stretch>
                  <a:fillRect l="-17949" t="-103571" r="-38462" b="-171429"/>
                </a:stretch>
              </a:blipFill>
            </p:spPr>
            <p:txBody>
              <a:bodyPr/>
              <a:lstStyle/>
              <a:p>
                <a:r>
                  <a:rPr lang="en-US">
                    <a:noFill/>
                  </a:rPr>
                  <a:t> </a:t>
                </a:r>
              </a:p>
            </p:txBody>
          </p:sp>
        </mc:Fallback>
      </mc:AlternateContent>
    </p:spTree>
    <p:extLst>
      <p:ext uri="{BB962C8B-B14F-4D97-AF65-F5344CB8AC3E}">
        <p14:creationId xmlns:p14="http://schemas.microsoft.com/office/powerpoint/2010/main" val="1324742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FD00E0F-8ED8-7148-A57F-64A04F9C5C83}"/>
              </a:ext>
            </a:extLst>
          </p:cNvPr>
          <p:cNvPicPr>
            <a:picLocks noChangeAspect="1"/>
          </p:cNvPicPr>
          <p:nvPr/>
        </p:nvPicPr>
        <p:blipFill>
          <a:blip r:embed="rId3"/>
          <a:stretch>
            <a:fillRect/>
          </a:stretch>
        </p:blipFill>
        <p:spPr>
          <a:xfrm>
            <a:off x="2826396" y="383592"/>
            <a:ext cx="6834717" cy="4681709"/>
          </a:xfrm>
          <a:prstGeom prst="rect">
            <a:avLst/>
          </a:prstGeom>
        </p:spPr>
      </p:pic>
      <p:pic>
        <p:nvPicPr>
          <p:cNvPr id="9" name="Picture 8">
            <a:extLst>
              <a:ext uri="{FF2B5EF4-FFF2-40B4-BE49-F238E27FC236}">
                <a16:creationId xmlns:a16="http://schemas.microsoft.com/office/drawing/2014/main" id="{15AFD1B2-E8AC-B94E-92F1-7B1C1972646F}"/>
              </a:ext>
            </a:extLst>
          </p:cNvPr>
          <p:cNvPicPr>
            <a:picLocks noChangeAspect="1"/>
          </p:cNvPicPr>
          <p:nvPr/>
        </p:nvPicPr>
        <p:blipFill>
          <a:blip r:embed="rId4">
            <a:alphaModFix amt="68000"/>
            <a:extLst>
              <a:ext uri="{BEBA8EAE-BF5A-486C-A8C5-ECC9F3942E4B}">
                <a14:imgProps xmlns:a14="http://schemas.microsoft.com/office/drawing/2010/main">
                  <a14:imgLayer>
                    <a14:imgEffect>
                      <a14:sharpenSoften amount="-100000"/>
                    </a14:imgEffect>
                  </a14:imgLayer>
                </a14:imgProps>
              </a:ext>
            </a:extLst>
          </a:blip>
          <a:stretch>
            <a:fillRect/>
          </a:stretch>
        </p:blipFill>
        <p:spPr>
          <a:xfrm>
            <a:off x="401028" y="1026987"/>
            <a:ext cx="10935856" cy="4908885"/>
          </a:xfrm>
          <a:prstGeom prst="rect">
            <a:avLst/>
          </a:prstGeom>
        </p:spPr>
      </p:pic>
      <p:pic>
        <p:nvPicPr>
          <p:cNvPr id="4" name="Picture 3">
            <a:extLst>
              <a:ext uri="{FF2B5EF4-FFF2-40B4-BE49-F238E27FC236}">
                <a16:creationId xmlns:a16="http://schemas.microsoft.com/office/drawing/2014/main" id="{3D79598E-FBE1-484F-A6DD-27F95138D107}"/>
              </a:ext>
            </a:extLst>
          </p:cNvPr>
          <p:cNvPicPr>
            <a:picLocks noChangeAspect="1"/>
          </p:cNvPicPr>
          <p:nvPr/>
        </p:nvPicPr>
        <p:blipFill>
          <a:blip r:embed="rId5"/>
          <a:stretch>
            <a:fillRect/>
          </a:stretch>
        </p:blipFill>
        <p:spPr>
          <a:xfrm>
            <a:off x="1522733" y="2318359"/>
            <a:ext cx="9153287" cy="2864114"/>
          </a:xfrm>
          <a:prstGeom prst="rect">
            <a:avLst/>
          </a:prstGeom>
        </p:spPr>
      </p:pic>
      <p:sp>
        <p:nvSpPr>
          <p:cNvPr id="11" name="TextBox 10">
            <a:extLst>
              <a:ext uri="{FF2B5EF4-FFF2-40B4-BE49-F238E27FC236}">
                <a16:creationId xmlns:a16="http://schemas.microsoft.com/office/drawing/2014/main" id="{1F565EF2-9E55-BF43-B3BC-B25BA20E9C86}"/>
              </a:ext>
            </a:extLst>
          </p:cNvPr>
          <p:cNvSpPr txBox="1"/>
          <p:nvPr/>
        </p:nvSpPr>
        <p:spPr>
          <a:xfrm>
            <a:off x="3155103" y="5723434"/>
            <a:ext cx="6247223" cy="769441"/>
          </a:xfrm>
          <a:prstGeom prst="rect">
            <a:avLst/>
          </a:prstGeom>
          <a:noFill/>
        </p:spPr>
        <p:txBody>
          <a:bodyPr wrap="none" rtlCol="0">
            <a:spAutoFit/>
          </a:bodyPr>
          <a:lstStyle/>
          <a:p>
            <a:r>
              <a:rPr lang="en-US" sz="4400" dirty="0">
                <a:latin typeface="Comic Sans MS" panose="030F0902030302020204" pitchFamily="66" charset="0"/>
              </a:rPr>
              <a:t>Quantum entanglement</a:t>
            </a:r>
          </a:p>
        </p:txBody>
      </p:sp>
      <p:sp>
        <p:nvSpPr>
          <p:cNvPr id="7" name="Slide Number Placeholder 2">
            <a:extLst>
              <a:ext uri="{FF2B5EF4-FFF2-40B4-BE49-F238E27FC236}">
                <a16:creationId xmlns:a16="http://schemas.microsoft.com/office/drawing/2014/main" id="{0361E5F7-570F-124A-A60E-C41F5A8C1960}"/>
              </a:ext>
            </a:extLst>
          </p:cNvPr>
          <p:cNvSpPr>
            <a:spLocks noGrp="1"/>
          </p:cNvSpPr>
          <p:nvPr>
            <p:ph type="sldNum" sz="quarter" idx="12"/>
          </p:nvPr>
        </p:nvSpPr>
        <p:spPr>
          <a:xfrm>
            <a:off x="0" y="6492875"/>
            <a:ext cx="587829" cy="365125"/>
          </a:xfrm>
        </p:spPr>
        <p:txBody>
          <a:bodyPr/>
          <a:lstStyle/>
          <a:p>
            <a:fld id="{591A223C-FA10-BC46-A853-03BA373D023C}" type="slidenum">
              <a:rPr lang="en-US" smtClean="0"/>
              <a:t>34</a:t>
            </a:fld>
            <a:endParaRPr lang="en-US"/>
          </a:p>
        </p:txBody>
      </p:sp>
    </p:spTree>
    <p:extLst>
      <p:ext uri="{BB962C8B-B14F-4D97-AF65-F5344CB8AC3E}">
        <p14:creationId xmlns:p14="http://schemas.microsoft.com/office/powerpoint/2010/main" val="39803720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A0E7C-9016-C643-A2E7-5F955C69CBA2}"/>
              </a:ext>
            </a:extLst>
          </p:cNvPr>
          <p:cNvSpPr>
            <a:spLocks noGrp="1"/>
          </p:cNvSpPr>
          <p:nvPr>
            <p:ph type="title"/>
          </p:nvPr>
        </p:nvSpPr>
        <p:spPr/>
        <p:txBody>
          <a:bodyPr/>
          <a:lstStyle/>
          <a:p>
            <a:r>
              <a:rPr lang="en-ZA" dirty="0"/>
              <a:t>Creating Quantum Entanglement</a:t>
            </a:r>
            <a:endParaRPr lang="en-US" dirty="0"/>
          </a:p>
        </p:txBody>
      </p:sp>
      <p:sp>
        <p:nvSpPr>
          <p:cNvPr id="3" name="Slide Number Placeholder 2">
            <a:extLst>
              <a:ext uri="{FF2B5EF4-FFF2-40B4-BE49-F238E27FC236}">
                <a16:creationId xmlns:a16="http://schemas.microsoft.com/office/drawing/2014/main" id="{A15F7518-3CE6-5248-B615-0D042A4456E6}"/>
              </a:ext>
            </a:extLst>
          </p:cNvPr>
          <p:cNvSpPr>
            <a:spLocks noGrp="1"/>
          </p:cNvSpPr>
          <p:nvPr>
            <p:ph type="sldNum" sz="quarter" idx="12"/>
          </p:nvPr>
        </p:nvSpPr>
        <p:spPr/>
        <p:txBody>
          <a:bodyPr/>
          <a:lstStyle/>
          <a:p>
            <a:fld id="{591A223C-FA10-BC46-A853-03BA373D023C}" type="slidenum">
              <a:rPr lang="en-US" smtClean="0"/>
              <a:t>35</a:t>
            </a:fld>
            <a:endParaRPr lang="en-US"/>
          </a:p>
        </p:txBody>
      </p:sp>
      <p:cxnSp>
        <p:nvCxnSpPr>
          <p:cNvPr id="5" name="Straight Connector 4">
            <a:extLst>
              <a:ext uri="{FF2B5EF4-FFF2-40B4-BE49-F238E27FC236}">
                <a16:creationId xmlns:a16="http://schemas.microsoft.com/office/drawing/2014/main" id="{492A8507-757E-8C46-970C-4AE6E33D4670}"/>
              </a:ext>
            </a:extLst>
          </p:cNvPr>
          <p:cNvCxnSpPr>
            <a:cxnSpLocks/>
          </p:cNvCxnSpPr>
          <p:nvPr/>
        </p:nvCxnSpPr>
        <p:spPr>
          <a:xfrm>
            <a:off x="962467" y="3643380"/>
            <a:ext cx="568718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6894AC0-5B5B-7A49-9630-BB572B72689B}"/>
              </a:ext>
            </a:extLst>
          </p:cNvPr>
          <p:cNvCxnSpPr>
            <a:cxnSpLocks/>
          </p:cNvCxnSpPr>
          <p:nvPr/>
        </p:nvCxnSpPr>
        <p:spPr>
          <a:xfrm>
            <a:off x="962467" y="2488431"/>
            <a:ext cx="4515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AEE601F-B031-B944-BA31-D5F9A975A9FE}"/>
              </a:ext>
            </a:extLst>
          </p:cNvPr>
          <p:cNvCxnSpPr>
            <a:cxnSpLocks/>
            <a:stCxn id="22" idx="0"/>
          </p:cNvCxnSpPr>
          <p:nvPr/>
        </p:nvCxnSpPr>
        <p:spPr>
          <a:xfrm flipV="1">
            <a:off x="3486095" y="2478154"/>
            <a:ext cx="1" cy="80054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ADDE49A4-17C6-8C4B-985A-BFA4A61809BD}"/>
              </a:ext>
            </a:extLst>
          </p:cNvPr>
          <p:cNvSpPr/>
          <p:nvPr/>
        </p:nvSpPr>
        <p:spPr>
          <a:xfrm>
            <a:off x="3360096" y="2352151"/>
            <a:ext cx="251999" cy="251999"/>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65C018-2983-FB45-9A09-2CBEFA793530}"/>
              </a:ext>
            </a:extLst>
          </p:cNvPr>
          <p:cNvSpPr/>
          <p:nvPr/>
        </p:nvSpPr>
        <p:spPr>
          <a:xfrm>
            <a:off x="1173126" y="2132798"/>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sp>
        <p:nvSpPr>
          <p:cNvPr id="22" name="Oval 21">
            <a:extLst>
              <a:ext uri="{FF2B5EF4-FFF2-40B4-BE49-F238E27FC236}">
                <a16:creationId xmlns:a16="http://schemas.microsoft.com/office/drawing/2014/main" id="{720862B8-2548-F341-8584-D84B5DB77B2E}"/>
              </a:ext>
            </a:extLst>
          </p:cNvPr>
          <p:cNvSpPr/>
          <p:nvPr/>
        </p:nvSpPr>
        <p:spPr>
          <a:xfrm>
            <a:off x="3126095" y="3278698"/>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pic>
        <p:nvPicPr>
          <p:cNvPr id="24" name="Picture 23">
            <a:extLst>
              <a:ext uri="{FF2B5EF4-FFF2-40B4-BE49-F238E27FC236}">
                <a16:creationId xmlns:a16="http://schemas.microsoft.com/office/drawing/2014/main" id="{6270E3C8-6D42-0F4C-810C-E8D5FF4FEE43}"/>
              </a:ext>
            </a:extLst>
          </p:cNvPr>
          <p:cNvPicPr>
            <a:picLocks noChangeAspect="1"/>
          </p:cNvPicPr>
          <p:nvPr/>
        </p:nvPicPr>
        <p:blipFill>
          <a:blip r:embed="rId3"/>
          <a:stretch>
            <a:fillRect/>
          </a:stretch>
        </p:blipFill>
        <p:spPr>
          <a:xfrm>
            <a:off x="5352359" y="2142750"/>
            <a:ext cx="720000" cy="720000"/>
          </a:xfrm>
          <a:prstGeom prst="rect">
            <a:avLst/>
          </a:prstGeom>
        </p:spPr>
      </p:pic>
      <p:pic>
        <p:nvPicPr>
          <p:cNvPr id="25" name="Picture 24">
            <a:extLst>
              <a:ext uri="{FF2B5EF4-FFF2-40B4-BE49-F238E27FC236}">
                <a16:creationId xmlns:a16="http://schemas.microsoft.com/office/drawing/2014/main" id="{31A7F91A-A2F6-5647-99BF-75688DFCD5F7}"/>
              </a:ext>
            </a:extLst>
          </p:cNvPr>
          <p:cNvPicPr>
            <a:picLocks noChangeAspect="1"/>
          </p:cNvPicPr>
          <p:nvPr/>
        </p:nvPicPr>
        <p:blipFill>
          <a:blip r:embed="rId3"/>
          <a:stretch>
            <a:fillRect/>
          </a:stretch>
        </p:blipFill>
        <p:spPr>
          <a:xfrm>
            <a:off x="6530427" y="3297699"/>
            <a:ext cx="720000" cy="720000"/>
          </a:xfrm>
          <a:prstGeom prst="rect">
            <a:avLst/>
          </a:prstGeom>
        </p:spPr>
      </p:pic>
      <p:cxnSp>
        <p:nvCxnSpPr>
          <p:cNvPr id="27" name="Straight Connector 26">
            <a:extLst>
              <a:ext uri="{FF2B5EF4-FFF2-40B4-BE49-F238E27FC236}">
                <a16:creationId xmlns:a16="http://schemas.microsoft.com/office/drawing/2014/main" id="{CB64DC4E-4479-6F45-8A6C-1D3FB953E624}"/>
              </a:ext>
            </a:extLst>
          </p:cNvPr>
          <p:cNvCxnSpPr>
            <a:cxnSpLocks/>
          </p:cNvCxnSpPr>
          <p:nvPr/>
        </p:nvCxnSpPr>
        <p:spPr>
          <a:xfrm>
            <a:off x="962467" y="4685645"/>
            <a:ext cx="510989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5C65201-834B-BA45-8A5A-EBF989881B71}"/>
              </a:ext>
            </a:extLst>
          </p:cNvPr>
          <p:cNvCxnSpPr>
            <a:cxnSpLocks/>
            <a:stCxn id="24" idx="2"/>
          </p:cNvCxnSpPr>
          <p:nvPr/>
        </p:nvCxnSpPr>
        <p:spPr>
          <a:xfrm flipH="1">
            <a:off x="5703483" y="2862750"/>
            <a:ext cx="8876" cy="1822895"/>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87A7063E-C4C2-DD4E-BC2C-A7917BA19B58}"/>
              </a:ext>
            </a:extLst>
          </p:cNvPr>
          <p:cNvCxnSpPr>
            <a:cxnSpLocks/>
            <a:stCxn id="25" idx="2"/>
          </p:cNvCxnSpPr>
          <p:nvPr/>
        </p:nvCxnSpPr>
        <p:spPr>
          <a:xfrm>
            <a:off x="6890427" y="4017699"/>
            <a:ext cx="0" cy="1054789"/>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8A7B0F13-4DF4-D042-8C13-5AB1F26BF454}"/>
              </a:ext>
            </a:extLst>
          </p:cNvPr>
          <p:cNvCxnSpPr>
            <a:cxnSpLocks/>
          </p:cNvCxnSpPr>
          <p:nvPr/>
        </p:nvCxnSpPr>
        <p:spPr>
          <a:xfrm>
            <a:off x="962467" y="5072488"/>
            <a:ext cx="621985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FDE2495B-8D15-684C-81E8-76C4605F1263}"/>
                  </a:ext>
                </a:extLst>
              </p:cNvPr>
              <p:cNvSpPr/>
              <p:nvPr/>
            </p:nvSpPr>
            <p:spPr>
              <a:xfrm>
                <a:off x="1808741" y="2726788"/>
                <a:ext cx="1716111"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0</m:t>
                              </m:r>
                            </m:e>
                          </m:d>
                          <m:r>
                            <a:rPr lang="en-U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10</m:t>
                              </m:r>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oMath>
                  </m:oMathPara>
                </a14:m>
                <a:endParaRPr lang="en-US" sz="2400" dirty="0"/>
              </a:p>
            </p:txBody>
          </p:sp>
        </mc:Choice>
        <mc:Fallback xmlns="">
          <p:sp>
            <p:nvSpPr>
              <p:cNvPr id="50" name="Rectangle 49">
                <a:extLst>
                  <a:ext uri="{FF2B5EF4-FFF2-40B4-BE49-F238E27FC236}">
                    <a16:creationId xmlns:a16="http://schemas.microsoft.com/office/drawing/2014/main" id="{FDE2495B-8D15-684C-81E8-76C4605F1263}"/>
                  </a:ext>
                </a:extLst>
              </p:cNvPr>
              <p:cNvSpPr>
                <a:spLocks noRot="1" noChangeAspect="1" noMove="1" noResize="1" noEditPoints="1" noAdjustHandles="1" noChangeArrowheads="1" noChangeShapeType="1" noTextEdit="1"/>
              </p:cNvSpPr>
              <p:nvPr/>
            </p:nvSpPr>
            <p:spPr>
              <a:xfrm>
                <a:off x="1808741" y="2726788"/>
                <a:ext cx="1716111" cy="876202"/>
              </a:xfrm>
              <a:prstGeom prst="rect">
                <a:avLst/>
              </a:prstGeom>
              <a:blipFill>
                <a:blip r:embed="rId4"/>
                <a:stretch>
                  <a:fillRect t="-68571" r="-17518" b="-51429"/>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2EDDD222-18F4-A945-8FE8-AAA9C1824C60}"/>
              </a:ext>
            </a:extLst>
          </p:cNvPr>
          <p:cNvGrpSpPr/>
          <p:nvPr/>
        </p:nvGrpSpPr>
        <p:grpSpPr>
          <a:xfrm>
            <a:off x="3664434" y="2226768"/>
            <a:ext cx="1716111" cy="1874949"/>
            <a:chOff x="3664434" y="2226768"/>
            <a:chExt cx="1716111" cy="1874949"/>
          </a:xfrm>
        </p:grpSpPr>
        <p:pic>
          <p:nvPicPr>
            <p:cNvPr id="43" name="Picture 42">
              <a:extLst>
                <a:ext uri="{FF2B5EF4-FFF2-40B4-BE49-F238E27FC236}">
                  <a16:creationId xmlns:a16="http://schemas.microsoft.com/office/drawing/2014/main" id="{7EE59EAC-E20C-9C40-8D7A-2956F502E87C}"/>
                </a:ext>
              </a:extLst>
            </p:cNvPr>
            <p:cNvPicPr>
              <a:picLocks noChangeAspect="1"/>
            </p:cNvPicPr>
            <p:nvPr/>
          </p:nvPicPr>
          <p:blipFill>
            <a:blip r:embed="rId5"/>
            <a:stretch>
              <a:fillRect/>
            </a:stretch>
          </p:blipFill>
          <p:spPr>
            <a:xfrm rot="5400000">
              <a:off x="3596818" y="2879337"/>
              <a:ext cx="1874949" cy="569811"/>
            </a:xfrm>
            <a:prstGeom prst="rect">
              <a:avLst/>
            </a:prstGeom>
          </p:spPr>
        </p:pic>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7E0B1F70-4223-3C4E-9057-3DCA50B61F15}"/>
                    </a:ext>
                  </a:extLst>
                </p:cNvPr>
                <p:cNvSpPr/>
                <p:nvPr/>
              </p:nvSpPr>
              <p:spPr>
                <a:xfrm>
                  <a:off x="3664434" y="2679863"/>
                  <a:ext cx="1716111"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0</m:t>
                                </m:r>
                              </m:e>
                            </m:d>
                            <m:r>
                              <a:rPr lang="en-U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11</m:t>
                                </m:r>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oMath>
                    </m:oMathPara>
                  </a14:m>
                  <a:endParaRPr lang="en-US" sz="2400" dirty="0"/>
                </a:p>
              </p:txBody>
            </p:sp>
          </mc:Choice>
          <mc:Fallback xmlns="">
            <p:sp>
              <p:nvSpPr>
                <p:cNvPr id="51" name="Rectangle 50">
                  <a:extLst>
                    <a:ext uri="{FF2B5EF4-FFF2-40B4-BE49-F238E27FC236}">
                      <a16:creationId xmlns:a16="http://schemas.microsoft.com/office/drawing/2014/main" id="{7E0B1F70-4223-3C4E-9057-3DCA50B61F15}"/>
                    </a:ext>
                  </a:extLst>
                </p:cNvPr>
                <p:cNvSpPr>
                  <a:spLocks noRot="1" noChangeAspect="1" noMove="1" noResize="1" noEditPoints="1" noAdjustHandles="1" noChangeArrowheads="1" noChangeShapeType="1" noTextEdit="1"/>
                </p:cNvSpPr>
                <p:nvPr/>
              </p:nvSpPr>
              <p:spPr>
                <a:xfrm>
                  <a:off x="3664434" y="2679863"/>
                  <a:ext cx="1716111" cy="876202"/>
                </a:xfrm>
                <a:prstGeom prst="rect">
                  <a:avLst/>
                </a:prstGeom>
                <a:blipFill>
                  <a:blip r:embed="rId6"/>
                  <a:stretch>
                    <a:fillRect t="-68571" r="-17647" b="-51429"/>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5D28D732-9B7B-1E4A-A254-2740E6540FE2}"/>
                  </a:ext>
                </a:extLst>
              </p:cNvPr>
              <p:cNvSpPr/>
              <p:nvPr/>
            </p:nvSpPr>
            <p:spPr>
              <a:xfrm>
                <a:off x="539546" y="2005635"/>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57" name="Rectangle 56">
                <a:extLst>
                  <a:ext uri="{FF2B5EF4-FFF2-40B4-BE49-F238E27FC236}">
                    <a16:creationId xmlns:a16="http://schemas.microsoft.com/office/drawing/2014/main" id="{5D28D732-9B7B-1E4A-A254-2740E6540FE2}"/>
                  </a:ext>
                </a:extLst>
              </p:cNvPr>
              <p:cNvSpPr>
                <a:spLocks noRot="1" noChangeAspect="1" noMove="1" noResize="1" noEditPoints="1" noAdjustHandles="1" noChangeArrowheads="1" noChangeShapeType="1" noTextEdit="1"/>
              </p:cNvSpPr>
              <p:nvPr/>
            </p:nvSpPr>
            <p:spPr>
              <a:xfrm>
                <a:off x="539546" y="2005635"/>
                <a:ext cx="631903" cy="461665"/>
              </a:xfrm>
              <a:prstGeom prst="rect">
                <a:avLst/>
              </a:prstGeom>
              <a:blipFill>
                <a:blip r:embed="rId8"/>
                <a:stretch>
                  <a:fillRect l="-23529" t="-124324" r="-4902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Rectangle 69">
                <a:extLst>
                  <a:ext uri="{FF2B5EF4-FFF2-40B4-BE49-F238E27FC236}">
                    <a16:creationId xmlns:a16="http://schemas.microsoft.com/office/drawing/2014/main" id="{677B174B-8288-7A42-8EDB-4529287414F7}"/>
                  </a:ext>
                </a:extLst>
              </p:cNvPr>
              <p:cNvSpPr/>
              <p:nvPr/>
            </p:nvSpPr>
            <p:spPr>
              <a:xfrm>
                <a:off x="138380" y="2265123"/>
                <a:ext cx="55528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en-US" sz="2400" b="0" i="1" smtClean="0">
                              <a:solidFill>
                                <a:srgbClr val="002060"/>
                              </a:solidFill>
                              <a:latin typeface="Cambria Math" panose="02040503050406030204" pitchFamily="18" charset="0"/>
                              <a:ea typeface="Cambria Math" panose="02040503050406030204" pitchFamily="18" charset="0"/>
                            </a:rPr>
                            <m:t>𝑞</m:t>
                          </m:r>
                        </m:e>
                        <m:sub>
                          <m:r>
                            <a:rPr lang="en-US" sz="2400" b="0" i="1" smtClean="0">
                              <a:solidFill>
                                <a:srgbClr val="002060"/>
                              </a:solidFill>
                              <a:latin typeface="Cambria Math" panose="02040503050406030204" pitchFamily="18" charset="0"/>
                              <a:ea typeface="Cambria Math" panose="02040503050406030204" pitchFamily="18" charset="0"/>
                            </a:rPr>
                            <m:t>0</m:t>
                          </m:r>
                        </m:sub>
                      </m:sSub>
                    </m:oMath>
                  </m:oMathPara>
                </a14:m>
                <a:endParaRPr lang="en-US" sz="2400" dirty="0"/>
              </a:p>
            </p:txBody>
          </p:sp>
        </mc:Choice>
        <mc:Fallback xmlns="">
          <p:sp>
            <p:nvSpPr>
              <p:cNvPr id="70" name="Rectangle 69">
                <a:extLst>
                  <a:ext uri="{FF2B5EF4-FFF2-40B4-BE49-F238E27FC236}">
                    <a16:creationId xmlns:a16="http://schemas.microsoft.com/office/drawing/2014/main" id="{677B174B-8288-7A42-8EDB-4529287414F7}"/>
                  </a:ext>
                </a:extLst>
              </p:cNvPr>
              <p:cNvSpPr>
                <a:spLocks noRot="1" noChangeAspect="1" noMove="1" noResize="1" noEditPoints="1" noAdjustHandles="1" noChangeArrowheads="1" noChangeShapeType="1" noTextEdit="1"/>
              </p:cNvSpPr>
              <p:nvPr/>
            </p:nvSpPr>
            <p:spPr>
              <a:xfrm>
                <a:off x="138380" y="2265123"/>
                <a:ext cx="555280" cy="461665"/>
              </a:xfrm>
              <a:prstGeom prst="rect">
                <a:avLst/>
              </a:prstGeom>
              <a:blipFill>
                <a:blip r:embed="rId9"/>
                <a:stretch>
                  <a:fillRect b="-7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Rectangle 70">
                <a:extLst>
                  <a:ext uri="{FF2B5EF4-FFF2-40B4-BE49-F238E27FC236}">
                    <a16:creationId xmlns:a16="http://schemas.microsoft.com/office/drawing/2014/main" id="{D243B505-E444-3E4C-8BC5-3D1928FA6991}"/>
                  </a:ext>
                </a:extLst>
              </p:cNvPr>
              <p:cNvSpPr/>
              <p:nvPr/>
            </p:nvSpPr>
            <p:spPr>
              <a:xfrm>
                <a:off x="539546" y="3210990"/>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71" name="Rectangle 70">
                <a:extLst>
                  <a:ext uri="{FF2B5EF4-FFF2-40B4-BE49-F238E27FC236}">
                    <a16:creationId xmlns:a16="http://schemas.microsoft.com/office/drawing/2014/main" id="{D243B505-E444-3E4C-8BC5-3D1928FA6991}"/>
                  </a:ext>
                </a:extLst>
              </p:cNvPr>
              <p:cNvSpPr>
                <a:spLocks noRot="1" noChangeAspect="1" noMove="1" noResize="1" noEditPoints="1" noAdjustHandles="1" noChangeArrowheads="1" noChangeShapeType="1" noTextEdit="1"/>
              </p:cNvSpPr>
              <p:nvPr/>
            </p:nvSpPr>
            <p:spPr>
              <a:xfrm>
                <a:off x="539546" y="3210990"/>
                <a:ext cx="631903" cy="461665"/>
              </a:xfrm>
              <a:prstGeom prst="rect">
                <a:avLst/>
              </a:prstGeom>
              <a:blipFill>
                <a:blip r:embed="rId8"/>
                <a:stretch>
                  <a:fillRect l="-23529" t="-124324" r="-4902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Rectangle 71">
                <a:extLst>
                  <a:ext uri="{FF2B5EF4-FFF2-40B4-BE49-F238E27FC236}">
                    <a16:creationId xmlns:a16="http://schemas.microsoft.com/office/drawing/2014/main" id="{96591658-4BD8-6C4D-A9F6-E80CF7FE7BAA}"/>
                  </a:ext>
                </a:extLst>
              </p:cNvPr>
              <p:cNvSpPr/>
              <p:nvPr/>
            </p:nvSpPr>
            <p:spPr>
              <a:xfrm>
                <a:off x="138380" y="3325232"/>
                <a:ext cx="54816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en-US" sz="2400" b="0" i="1" smtClean="0">
                              <a:solidFill>
                                <a:srgbClr val="002060"/>
                              </a:solidFill>
                              <a:latin typeface="Cambria Math" panose="02040503050406030204" pitchFamily="18" charset="0"/>
                              <a:ea typeface="Cambria Math" panose="02040503050406030204" pitchFamily="18" charset="0"/>
                            </a:rPr>
                            <m:t>𝑞</m:t>
                          </m:r>
                        </m:e>
                        <m:sub>
                          <m:r>
                            <a:rPr lang="en-US" sz="2400" b="0" i="1" smtClean="0">
                              <a:solidFill>
                                <a:srgbClr val="002060"/>
                              </a:solidFill>
                              <a:latin typeface="Cambria Math" panose="02040503050406030204" pitchFamily="18" charset="0"/>
                              <a:ea typeface="Cambria Math" panose="02040503050406030204" pitchFamily="18" charset="0"/>
                            </a:rPr>
                            <m:t>1</m:t>
                          </m:r>
                        </m:sub>
                      </m:sSub>
                    </m:oMath>
                  </m:oMathPara>
                </a14:m>
                <a:endParaRPr lang="en-US" sz="2400" dirty="0"/>
              </a:p>
            </p:txBody>
          </p:sp>
        </mc:Choice>
        <mc:Fallback xmlns="">
          <p:sp>
            <p:nvSpPr>
              <p:cNvPr id="72" name="Rectangle 71">
                <a:extLst>
                  <a:ext uri="{FF2B5EF4-FFF2-40B4-BE49-F238E27FC236}">
                    <a16:creationId xmlns:a16="http://schemas.microsoft.com/office/drawing/2014/main" id="{96591658-4BD8-6C4D-A9F6-E80CF7FE7BAA}"/>
                  </a:ext>
                </a:extLst>
              </p:cNvPr>
              <p:cNvSpPr>
                <a:spLocks noRot="1" noChangeAspect="1" noMove="1" noResize="1" noEditPoints="1" noAdjustHandles="1" noChangeArrowheads="1" noChangeShapeType="1" noTextEdit="1"/>
              </p:cNvSpPr>
              <p:nvPr/>
            </p:nvSpPr>
            <p:spPr>
              <a:xfrm>
                <a:off x="138380" y="3325232"/>
                <a:ext cx="548163" cy="461665"/>
              </a:xfrm>
              <a:prstGeom prst="rect">
                <a:avLst/>
              </a:prstGeom>
              <a:blipFill>
                <a:blip r:embed="rId10"/>
                <a:stretch>
                  <a:fillRect b="-81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Rectangle 72">
                <a:extLst>
                  <a:ext uri="{FF2B5EF4-FFF2-40B4-BE49-F238E27FC236}">
                    <a16:creationId xmlns:a16="http://schemas.microsoft.com/office/drawing/2014/main" id="{DCE71017-3115-1347-A65C-5B49B05A5CB2}"/>
                  </a:ext>
                </a:extLst>
              </p:cNvPr>
              <p:cNvSpPr/>
              <p:nvPr/>
            </p:nvSpPr>
            <p:spPr>
              <a:xfrm>
                <a:off x="391464" y="4369336"/>
                <a:ext cx="52976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en-US" sz="2400" b="0" i="1" smtClean="0">
                              <a:solidFill>
                                <a:srgbClr val="002060"/>
                              </a:solidFill>
                              <a:latin typeface="Cambria Math" panose="02040503050406030204" pitchFamily="18" charset="0"/>
                              <a:ea typeface="Cambria Math" panose="02040503050406030204" pitchFamily="18" charset="0"/>
                            </a:rPr>
                            <m:t>𝑐</m:t>
                          </m:r>
                        </m:e>
                        <m:sub>
                          <m:r>
                            <a:rPr lang="en-US" sz="2400" b="0" i="1" smtClean="0">
                              <a:solidFill>
                                <a:srgbClr val="002060"/>
                              </a:solidFill>
                              <a:latin typeface="Cambria Math" panose="02040503050406030204" pitchFamily="18" charset="0"/>
                              <a:ea typeface="Cambria Math" panose="02040503050406030204" pitchFamily="18" charset="0"/>
                            </a:rPr>
                            <m:t>0</m:t>
                          </m:r>
                        </m:sub>
                      </m:sSub>
                    </m:oMath>
                  </m:oMathPara>
                </a14:m>
                <a:endParaRPr lang="en-US" sz="2400" dirty="0"/>
              </a:p>
            </p:txBody>
          </p:sp>
        </mc:Choice>
        <mc:Fallback xmlns="">
          <p:sp>
            <p:nvSpPr>
              <p:cNvPr id="73" name="Rectangle 72">
                <a:extLst>
                  <a:ext uri="{FF2B5EF4-FFF2-40B4-BE49-F238E27FC236}">
                    <a16:creationId xmlns:a16="http://schemas.microsoft.com/office/drawing/2014/main" id="{DCE71017-3115-1347-A65C-5B49B05A5CB2}"/>
                  </a:ext>
                </a:extLst>
              </p:cNvPr>
              <p:cNvSpPr>
                <a:spLocks noRot="1" noChangeAspect="1" noMove="1" noResize="1" noEditPoints="1" noAdjustHandles="1" noChangeArrowheads="1" noChangeShapeType="1" noTextEdit="1"/>
              </p:cNvSpPr>
              <p:nvPr/>
            </p:nvSpPr>
            <p:spPr>
              <a:xfrm>
                <a:off x="391464" y="4369336"/>
                <a:ext cx="529760" cy="461665"/>
              </a:xfrm>
              <a:prstGeom prst="rect">
                <a:avLst/>
              </a:prstGeom>
              <a:blipFill>
                <a:blip r:embed="rId11"/>
                <a:stretch>
                  <a:fillRect b="-27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Rectangle 73">
                <a:extLst>
                  <a:ext uri="{FF2B5EF4-FFF2-40B4-BE49-F238E27FC236}">
                    <a16:creationId xmlns:a16="http://schemas.microsoft.com/office/drawing/2014/main" id="{21898A91-8A0A-CB41-8AF4-701F99F99123}"/>
                  </a:ext>
                </a:extLst>
              </p:cNvPr>
              <p:cNvSpPr/>
              <p:nvPr/>
            </p:nvSpPr>
            <p:spPr>
              <a:xfrm>
                <a:off x="382263" y="4831001"/>
                <a:ext cx="52264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en-US" sz="2400" b="0" i="1" smtClean="0">
                              <a:solidFill>
                                <a:srgbClr val="002060"/>
                              </a:solidFill>
                              <a:latin typeface="Cambria Math" panose="02040503050406030204" pitchFamily="18" charset="0"/>
                              <a:ea typeface="Cambria Math" panose="02040503050406030204" pitchFamily="18" charset="0"/>
                            </a:rPr>
                            <m:t>𝑐</m:t>
                          </m:r>
                        </m:e>
                        <m:sub>
                          <m:r>
                            <a:rPr lang="en-US" sz="2400" b="0" i="1" smtClean="0">
                              <a:solidFill>
                                <a:srgbClr val="002060"/>
                              </a:solidFill>
                              <a:latin typeface="Cambria Math" panose="02040503050406030204" pitchFamily="18" charset="0"/>
                              <a:ea typeface="Cambria Math" panose="02040503050406030204" pitchFamily="18" charset="0"/>
                            </a:rPr>
                            <m:t>1</m:t>
                          </m:r>
                        </m:sub>
                      </m:sSub>
                    </m:oMath>
                  </m:oMathPara>
                </a14:m>
                <a:endParaRPr lang="en-US" sz="2400" dirty="0"/>
              </a:p>
            </p:txBody>
          </p:sp>
        </mc:Choice>
        <mc:Fallback xmlns="">
          <p:sp>
            <p:nvSpPr>
              <p:cNvPr id="74" name="Rectangle 73">
                <a:extLst>
                  <a:ext uri="{FF2B5EF4-FFF2-40B4-BE49-F238E27FC236}">
                    <a16:creationId xmlns:a16="http://schemas.microsoft.com/office/drawing/2014/main" id="{21898A91-8A0A-CB41-8AF4-701F99F99123}"/>
                  </a:ext>
                </a:extLst>
              </p:cNvPr>
              <p:cNvSpPr>
                <a:spLocks noRot="1" noChangeAspect="1" noMove="1" noResize="1" noEditPoints="1" noAdjustHandles="1" noChangeArrowheads="1" noChangeShapeType="1" noTextEdit="1"/>
              </p:cNvSpPr>
              <p:nvPr/>
            </p:nvSpPr>
            <p:spPr>
              <a:xfrm>
                <a:off x="382263" y="4831001"/>
                <a:ext cx="522643" cy="461665"/>
              </a:xfrm>
              <a:prstGeom prst="rect">
                <a:avLst/>
              </a:prstGeom>
              <a:blipFill>
                <a:blip r:embed="rId12"/>
                <a:stretch>
                  <a:fillRect/>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46938D2A-9668-1D49-A09D-0971E9747F2A}"/>
              </a:ext>
            </a:extLst>
          </p:cNvPr>
          <p:cNvGrpSpPr/>
          <p:nvPr/>
        </p:nvGrpSpPr>
        <p:grpSpPr>
          <a:xfrm>
            <a:off x="7553452" y="1037866"/>
            <a:ext cx="4433497" cy="5700312"/>
            <a:chOff x="7553452" y="1037866"/>
            <a:chExt cx="4433497" cy="5700312"/>
          </a:xfrm>
        </p:grpSpPr>
        <p:sp>
          <p:nvSpPr>
            <p:cNvPr id="62" name="Rectangle 61">
              <a:extLst>
                <a:ext uri="{FF2B5EF4-FFF2-40B4-BE49-F238E27FC236}">
                  <a16:creationId xmlns:a16="http://schemas.microsoft.com/office/drawing/2014/main" id="{A1DFFB4F-1314-BD46-8594-49F7959D181C}"/>
                </a:ext>
              </a:extLst>
            </p:cNvPr>
            <p:cNvSpPr/>
            <p:nvPr/>
          </p:nvSpPr>
          <p:spPr>
            <a:xfrm>
              <a:off x="7553452" y="1037866"/>
              <a:ext cx="4433497" cy="2123658"/>
            </a:xfrm>
            <a:prstGeom prst="rect">
              <a:avLst/>
            </a:prstGeom>
            <a:solidFill>
              <a:srgbClr val="F7F7F7"/>
            </a:solidFill>
          </p:spPr>
          <p:txBody>
            <a:bodyPr wrap="square">
              <a:spAutoFit/>
            </a:bodyPr>
            <a:lstStyle/>
            <a:p>
              <a:r>
                <a:rPr lang="en-US" sz="2200" b="1" dirty="0">
                  <a:solidFill>
                    <a:srgbClr val="219125"/>
                  </a:solidFill>
                  <a:latin typeface="Andale Mono" panose="020B0509000000000004" pitchFamily="49" charset="0"/>
                </a:rPr>
                <a:t>from </a:t>
              </a:r>
              <a:r>
                <a:rPr lang="en-US" sz="2200" b="1" dirty="0" err="1">
                  <a:latin typeface="Andale Mono" panose="020B0509000000000004" pitchFamily="49" charset="0"/>
                </a:rPr>
                <a:t>qiskit</a:t>
              </a:r>
              <a:r>
                <a:rPr lang="en-US" sz="2200" b="1" dirty="0">
                  <a:latin typeface="Andale Mono" panose="020B0509000000000004" pitchFamily="49" charset="0"/>
                </a:rPr>
                <a:t> </a:t>
              </a:r>
              <a:r>
                <a:rPr lang="en-US" sz="2200" b="1" dirty="0">
                  <a:solidFill>
                    <a:srgbClr val="219125"/>
                  </a:solidFill>
                  <a:latin typeface="Andale Mono" panose="020B0509000000000004" pitchFamily="49" charset="0"/>
                </a:rPr>
                <a:t>import *</a:t>
              </a:r>
              <a:endParaRPr lang="en-US" sz="2200" b="1" dirty="0">
                <a:latin typeface="Andale Mono" panose="020B0509000000000004" pitchFamily="49" charset="0"/>
              </a:endParaRPr>
            </a:p>
            <a:p>
              <a:endParaRPr lang="en-US" sz="2200" b="1" dirty="0">
                <a:latin typeface="Andale Mono" panose="020B0509000000000004" pitchFamily="49" charset="0"/>
              </a:endParaRPr>
            </a:p>
            <a:p>
              <a:r>
                <a:rPr lang="en-US" sz="2200" b="1" dirty="0">
                  <a:latin typeface="Andale Mono" panose="020B0509000000000004" pitchFamily="49" charset="0"/>
                </a:rPr>
                <a:t>qc = </a:t>
              </a:r>
              <a:r>
                <a:rPr lang="en-US" sz="2200" b="1" dirty="0" err="1">
                  <a:latin typeface="Andale Mono" panose="020B0509000000000004" pitchFamily="49" charset="0"/>
                </a:rPr>
                <a:t>QuantumCircuit</a:t>
              </a:r>
              <a:r>
                <a:rPr lang="en-US" sz="2200" b="1" dirty="0">
                  <a:latin typeface="Andale Mono" panose="020B0509000000000004" pitchFamily="49" charset="0"/>
                </a:rPr>
                <a:t>(2, 2)</a:t>
              </a:r>
            </a:p>
            <a:p>
              <a:r>
                <a:rPr lang="en-US" sz="2200" b="1" dirty="0" err="1">
                  <a:latin typeface="Andale Mono" panose="020B0509000000000004" pitchFamily="49" charset="0"/>
                </a:rPr>
                <a:t>qc.h</a:t>
              </a:r>
              <a:r>
                <a:rPr lang="en-US" sz="2200" b="1" dirty="0">
                  <a:latin typeface="Andale Mono" panose="020B0509000000000004" pitchFamily="49" charset="0"/>
                </a:rPr>
                <a:t>(0)</a:t>
              </a:r>
            </a:p>
            <a:p>
              <a:r>
                <a:rPr lang="en-US" sz="2200" b="1" dirty="0" err="1">
                  <a:latin typeface="Andale Mono" panose="020B0509000000000004" pitchFamily="49" charset="0"/>
                </a:rPr>
                <a:t>qc.cx</a:t>
              </a:r>
              <a:r>
                <a:rPr lang="en-US" sz="2200" b="1" dirty="0">
                  <a:latin typeface="Andale Mono" panose="020B0509000000000004" pitchFamily="49" charset="0"/>
                </a:rPr>
                <a:t>(0, 1)</a:t>
              </a:r>
            </a:p>
            <a:p>
              <a:r>
                <a:rPr lang="en-US" sz="2200" b="1" dirty="0" err="1">
                  <a:latin typeface="Andale Mono" panose="020B0509000000000004" pitchFamily="49" charset="0"/>
                </a:rPr>
                <a:t>qc.measure</a:t>
              </a:r>
              <a:r>
                <a:rPr lang="en-US" sz="2200" b="1" dirty="0">
                  <a:latin typeface="Andale Mono" panose="020B0509000000000004" pitchFamily="49" charset="0"/>
                </a:rPr>
                <a:t>([0,1], [0,1])</a:t>
              </a:r>
            </a:p>
          </p:txBody>
        </p:sp>
        <p:pic>
          <p:nvPicPr>
            <p:cNvPr id="75" name="Picture 74">
              <a:extLst>
                <a:ext uri="{FF2B5EF4-FFF2-40B4-BE49-F238E27FC236}">
                  <a16:creationId xmlns:a16="http://schemas.microsoft.com/office/drawing/2014/main" id="{568E7411-5B96-D643-B3CD-908155495A59}"/>
                </a:ext>
              </a:extLst>
            </p:cNvPr>
            <p:cNvPicPr>
              <a:picLocks noChangeAspect="1"/>
            </p:cNvPicPr>
            <p:nvPr/>
          </p:nvPicPr>
          <p:blipFill>
            <a:blip r:embed="rId13"/>
            <a:stretch>
              <a:fillRect/>
            </a:stretch>
          </p:blipFill>
          <p:spPr>
            <a:xfrm>
              <a:off x="7751692" y="3847154"/>
              <a:ext cx="4235257" cy="2891024"/>
            </a:xfrm>
            <a:prstGeom prst="rect">
              <a:avLst/>
            </a:prstGeom>
          </p:spPr>
        </p:pic>
      </p:grpSp>
    </p:spTree>
    <p:extLst>
      <p:ext uri="{BB962C8B-B14F-4D97-AF65-F5344CB8AC3E}">
        <p14:creationId xmlns:p14="http://schemas.microsoft.com/office/powerpoint/2010/main" val="2695416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dissolve">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7D0B6-B58E-9040-BE00-C1A9E5267A95}"/>
              </a:ext>
            </a:extLst>
          </p:cNvPr>
          <p:cNvSpPr>
            <a:spLocks noGrp="1"/>
          </p:cNvSpPr>
          <p:nvPr>
            <p:ph type="title"/>
          </p:nvPr>
        </p:nvSpPr>
        <p:spPr/>
        <p:txBody>
          <a:bodyPr/>
          <a:lstStyle/>
          <a:p>
            <a:r>
              <a:rPr lang="en-US" dirty="0"/>
              <a:t>Transforming Bell States</a:t>
            </a:r>
          </a:p>
        </p:txBody>
      </p:sp>
      <p:sp>
        <p:nvSpPr>
          <p:cNvPr id="3" name="Slide Number Placeholder 2">
            <a:extLst>
              <a:ext uri="{FF2B5EF4-FFF2-40B4-BE49-F238E27FC236}">
                <a16:creationId xmlns:a16="http://schemas.microsoft.com/office/drawing/2014/main" id="{F0A1CFD2-E542-D440-A8C0-1FDD5CEEC179}"/>
              </a:ext>
            </a:extLst>
          </p:cNvPr>
          <p:cNvSpPr>
            <a:spLocks noGrp="1"/>
          </p:cNvSpPr>
          <p:nvPr>
            <p:ph type="sldNum" sz="quarter" idx="12"/>
          </p:nvPr>
        </p:nvSpPr>
        <p:spPr/>
        <p:txBody>
          <a:bodyPr/>
          <a:lstStyle/>
          <a:p>
            <a:fld id="{591A223C-FA10-BC46-A853-03BA373D023C}" type="slidenum">
              <a:rPr lang="en-US" smtClean="0"/>
              <a:t>36</a:t>
            </a:fld>
            <a:endParaRPr lang="en-US"/>
          </a:p>
        </p:txBody>
      </p: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313EAEAC-F1BA-B54D-AA70-75349135446D}"/>
                  </a:ext>
                </a:extLst>
              </p:cNvPr>
              <p:cNvSpPr/>
              <p:nvPr/>
            </p:nvSpPr>
            <p:spPr>
              <a:xfrm>
                <a:off x="2925485" y="2119707"/>
                <a:ext cx="2785571"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en-US" sz="2400" b="0" i="1" smtClean="0">
                                  <a:solidFill>
                                    <a:srgbClr val="002060"/>
                                  </a:solidFill>
                                  <a:latin typeface="Cambria Math" panose="02040503050406030204" pitchFamily="18" charset="0"/>
                                  <a:ea typeface="Cambria Math" panose="02040503050406030204" pitchFamily="18" charset="0"/>
                                </a:rPr>
                                <m:t>𝐵</m:t>
                              </m:r>
                            </m:e>
                            <m:sub>
                              <m:r>
                                <a:rPr lang="en-US" sz="2400" b="0" i="1" smtClean="0">
                                  <a:solidFill>
                                    <a:srgbClr val="002060"/>
                                  </a:solidFill>
                                  <a:latin typeface="Cambria Math" panose="02040503050406030204" pitchFamily="18" charset="0"/>
                                  <a:ea typeface="Cambria Math" panose="02040503050406030204" pitchFamily="18" charset="0"/>
                                </a:rPr>
                                <m:t>00</m:t>
                              </m:r>
                            </m:sub>
                          </m:sSub>
                        </m:e>
                      </m:d>
                      <m:r>
                        <a:rPr lang="en-US" sz="2400" b="0" i="1" smtClean="0">
                          <a:solidFill>
                            <a:srgbClr val="002060"/>
                          </a:solidFill>
                          <a:latin typeface="Cambria Math" panose="02040503050406030204" pitchFamily="18" charset="0"/>
                          <a:ea typeface="Cambria Math" panose="02040503050406030204" pitchFamily="18" charset="0"/>
                        </a:rPr>
                        <m:t>=</m:t>
                      </m:r>
                      <m:f>
                        <m:fPr>
                          <m:ctrlPr>
                            <a:rPr lang="en-US" sz="24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0</m:t>
                              </m:r>
                            </m:e>
                          </m:d>
                          <m:r>
                            <a:rPr lang="en-U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11</m:t>
                              </m:r>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oMath>
                  </m:oMathPara>
                </a14:m>
                <a:endParaRPr lang="en-US" sz="2400" dirty="0"/>
              </a:p>
            </p:txBody>
          </p:sp>
        </mc:Choice>
        <mc:Fallback xmlns="">
          <p:sp>
            <p:nvSpPr>
              <p:cNvPr id="16" name="Rectangle 15">
                <a:extLst>
                  <a:ext uri="{FF2B5EF4-FFF2-40B4-BE49-F238E27FC236}">
                    <a16:creationId xmlns:a16="http://schemas.microsoft.com/office/drawing/2014/main" id="{313EAEAC-F1BA-B54D-AA70-75349135446D}"/>
                  </a:ext>
                </a:extLst>
              </p:cNvPr>
              <p:cNvSpPr>
                <a:spLocks noRot="1" noChangeAspect="1" noMove="1" noResize="1" noEditPoints="1" noAdjustHandles="1" noChangeArrowheads="1" noChangeShapeType="1" noTextEdit="1"/>
              </p:cNvSpPr>
              <p:nvPr/>
            </p:nvSpPr>
            <p:spPr>
              <a:xfrm>
                <a:off x="2925485" y="2119707"/>
                <a:ext cx="2785571" cy="876202"/>
              </a:xfrm>
              <a:prstGeom prst="rect">
                <a:avLst/>
              </a:prstGeom>
              <a:blipFill>
                <a:blip r:embed="rId3"/>
                <a:stretch>
                  <a:fillRect t="-68571" r="-10860" b="-77143"/>
                </a:stretch>
              </a:blipFill>
            </p:spPr>
            <p:txBody>
              <a:bodyPr/>
              <a:lstStyle/>
              <a:p>
                <a:r>
                  <a:rPr lang="en-US">
                    <a:noFill/>
                  </a:rPr>
                  <a:t> </a:t>
                </a:r>
              </a:p>
            </p:txBody>
          </p:sp>
        </mc:Fallback>
      </mc:AlternateContent>
      <p:cxnSp>
        <p:nvCxnSpPr>
          <p:cNvPr id="69" name="Straight Connector 68">
            <a:extLst>
              <a:ext uri="{FF2B5EF4-FFF2-40B4-BE49-F238E27FC236}">
                <a16:creationId xmlns:a16="http://schemas.microsoft.com/office/drawing/2014/main" id="{BFD98772-EBD1-0044-B761-51CBA8275A52}"/>
              </a:ext>
            </a:extLst>
          </p:cNvPr>
          <p:cNvCxnSpPr>
            <a:cxnSpLocks/>
          </p:cNvCxnSpPr>
          <p:nvPr/>
        </p:nvCxnSpPr>
        <p:spPr>
          <a:xfrm>
            <a:off x="659085" y="3081802"/>
            <a:ext cx="306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BC588EBF-A04A-BA4B-909E-6011B8F8F0DB}"/>
              </a:ext>
            </a:extLst>
          </p:cNvPr>
          <p:cNvCxnSpPr>
            <a:cxnSpLocks/>
          </p:cNvCxnSpPr>
          <p:nvPr/>
        </p:nvCxnSpPr>
        <p:spPr>
          <a:xfrm>
            <a:off x="659084" y="1926853"/>
            <a:ext cx="306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83505452-20AA-9241-8E43-8C5DECC2C924}"/>
              </a:ext>
            </a:extLst>
          </p:cNvPr>
          <p:cNvSpPr>
            <a:spLocks/>
          </p:cNvSpPr>
          <p:nvPr/>
        </p:nvSpPr>
        <p:spPr>
          <a:xfrm>
            <a:off x="1214871" y="1615808"/>
            <a:ext cx="630000" cy="63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pitchFamily="2" charset="0"/>
              </a:rPr>
              <a:t>H</a:t>
            </a:r>
          </a:p>
        </p:txBody>
      </p:sp>
      <p:cxnSp>
        <p:nvCxnSpPr>
          <p:cNvPr id="72" name="Straight Connector 71">
            <a:extLst>
              <a:ext uri="{FF2B5EF4-FFF2-40B4-BE49-F238E27FC236}">
                <a16:creationId xmlns:a16="http://schemas.microsoft.com/office/drawing/2014/main" id="{1C4CCE4D-B031-654B-A3CF-8DDF35003E1E}"/>
              </a:ext>
            </a:extLst>
          </p:cNvPr>
          <p:cNvCxnSpPr>
            <a:cxnSpLocks/>
            <a:stCxn id="78" idx="0"/>
          </p:cNvCxnSpPr>
          <p:nvPr/>
        </p:nvCxnSpPr>
        <p:spPr>
          <a:xfrm flipV="1">
            <a:off x="2263557" y="2042961"/>
            <a:ext cx="0" cy="77524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Oval 72">
            <a:extLst>
              <a:ext uri="{FF2B5EF4-FFF2-40B4-BE49-F238E27FC236}">
                <a16:creationId xmlns:a16="http://schemas.microsoft.com/office/drawing/2014/main" id="{A59FDC73-F9EF-F549-A8D6-ABEA509E67CA}"/>
              </a:ext>
            </a:extLst>
          </p:cNvPr>
          <p:cNvSpPr/>
          <p:nvPr/>
        </p:nvSpPr>
        <p:spPr>
          <a:xfrm>
            <a:off x="2139134" y="1795692"/>
            <a:ext cx="251999" cy="251999"/>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4" name="Rectangle 73">
                <a:extLst>
                  <a:ext uri="{FF2B5EF4-FFF2-40B4-BE49-F238E27FC236}">
                    <a16:creationId xmlns:a16="http://schemas.microsoft.com/office/drawing/2014/main" id="{A75AA068-92C5-8642-9E14-74CCB56CFB59}"/>
                  </a:ext>
                </a:extLst>
              </p:cNvPr>
              <p:cNvSpPr/>
              <p:nvPr/>
            </p:nvSpPr>
            <p:spPr>
              <a:xfrm>
                <a:off x="236164" y="1444057"/>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74" name="Rectangle 73">
                <a:extLst>
                  <a:ext uri="{FF2B5EF4-FFF2-40B4-BE49-F238E27FC236}">
                    <a16:creationId xmlns:a16="http://schemas.microsoft.com/office/drawing/2014/main" id="{A75AA068-92C5-8642-9E14-74CCB56CFB59}"/>
                  </a:ext>
                </a:extLst>
              </p:cNvPr>
              <p:cNvSpPr>
                <a:spLocks noRot="1" noChangeAspect="1" noMove="1" noResize="1" noEditPoints="1" noAdjustHandles="1" noChangeArrowheads="1" noChangeShapeType="1" noTextEdit="1"/>
              </p:cNvSpPr>
              <p:nvPr/>
            </p:nvSpPr>
            <p:spPr>
              <a:xfrm>
                <a:off x="236164" y="1444057"/>
                <a:ext cx="631903" cy="461665"/>
              </a:xfrm>
              <a:prstGeom prst="rect">
                <a:avLst/>
              </a:prstGeom>
              <a:blipFill>
                <a:blip r:embed="rId4"/>
                <a:stretch>
                  <a:fillRect l="-26000" t="-124324" r="-5200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Rectangle 74">
                <a:extLst>
                  <a:ext uri="{FF2B5EF4-FFF2-40B4-BE49-F238E27FC236}">
                    <a16:creationId xmlns:a16="http://schemas.microsoft.com/office/drawing/2014/main" id="{7F0D6FB4-54AC-B248-89E0-B2B03C199708}"/>
                  </a:ext>
                </a:extLst>
              </p:cNvPr>
              <p:cNvSpPr/>
              <p:nvPr/>
            </p:nvSpPr>
            <p:spPr>
              <a:xfrm>
                <a:off x="236164" y="2649412"/>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75" name="Rectangle 74">
                <a:extLst>
                  <a:ext uri="{FF2B5EF4-FFF2-40B4-BE49-F238E27FC236}">
                    <a16:creationId xmlns:a16="http://schemas.microsoft.com/office/drawing/2014/main" id="{7F0D6FB4-54AC-B248-89E0-B2B03C199708}"/>
                  </a:ext>
                </a:extLst>
              </p:cNvPr>
              <p:cNvSpPr>
                <a:spLocks noRot="1" noChangeAspect="1" noMove="1" noResize="1" noEditPoints="1" noAdjustHandles="1" noChangeArrowheads="1" noChangeShapeType="1" noTextEdit="1"/>
              </p:cNvSpPr>
              <p:nvPr/>
            </p:nvSpPr>
            <p:spPr>
              <a:xfrm>
                <a:off x="236164" y="2649412"/>
                <a:ext cx="631903" cy="461665"/>
              </a:xfrm>
              <a:prstGeom prst="rect">
                <a:avLst/>
              </a:prstGeom>
              <a:blipFill>
                <a:blip r:embed="rId5"/>
                <a:stretch>
                  <a:fillRect l="-26000" t="-127027" r="-52000" b="-191892"/>
                </a:stretch>
              </a:blipFill>
            </p:spPr>
            <p:txBody>
              <a:bodyPr/>
              <a:lstStyle/>
              <a:p>
                <a:r>
                  <a:rPr lang="en-US">
                    <a:noFill/>
                  </a:rPr>
                  <a:t> </a:t>
                </a:r>
              </a:p>
            </p:txBody>
          </p:sp>
        </mc:Fallback>
      </mc:AlternateContent>
      <p:sp>
        <p:nvSpPr>
          <p:cNvPr id="78" name="Oval 77">
            <a:extLst>
              <a:ext uri="{FF2B5EF4-FFF2-40B4-BE49-F238E27FC236}">
                <a16:creationId xmlns:a16="http://schemas.microsoft.com/office/drawing/2014/main" id="{F40678E3-14AD-1848-A73F-F089E6006849}"/>
              </a:ext>
            </a:extLst>
          </p:cNvPr>
          <p:cNvSpPr/>
          <p:nvPr/>
        </p:nvSpPr>
        <p:spPr>
          <a:xfrm>
            <a:off x="1993557" y="2818205"/>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mc:AlternateContent xmlns:mc="http://schemas.openxmlformats.org/markup-compatibility/2006" xmlns:a14="http://schemas.microsoft.com/office/drawing/2010/main">
        <mc:Choice Requires="a14">
          <p:sp>
            <p:nvSpPr>
              <p:cNvPr id="101" name="Rectangle 100">
                <a:extLst>
                  <a:ext uri="{FF2B5EF4-FFF2-40B4-BE49-F238E27FC236}">
                    <a16:creationId xmlns:a16="http://schemas.microsoft.com/office/drawing/2014/main" id="{D07EEC22-9FEA-DF43-B267-8660C4146913}"/>
                  </a:ext>
                </a:extLst>
              </p:cNvPr>
              <p:cNvSpPr/>
              <p:nvPr/>
            </p:nvSpPr>
            <p:spPr>
              <a:xfrm>
                <a:off x="2941084" y="4725487"/>
                <a:ext cx="2778453"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𝐵</m:t>
                              </m:r>
                            </m:e>
                            <m:sub>
                              <m:r>
                                <a:rPr lang="en-US" sz="2400" b="0" i="1" smtClean="0">
                                  <a:solidFill>
                                    <a:srgbClr val="002060"/>
                                  </a:solidFill>
                                  <a:latin typeface="Cambria Math" panose="02040503050406030204" pitchFamily="18" charset="0"/>
                                  <a:ea typeface="Cambria Math" panose="02040503050406030204" pitchFamily="18" charset="0"/>
                                </a:rPr>
                                <m:t>10</m:t>
                              </m:r>
                            </m:sub>
                          </m:sSub>
                        </m:e>
                      </m:d>
                      <m:r>
                        <a:rPr lang="en-US" sz="2400" b="0" i="1" smtClean="0">
                          <a:solidFill>
                            <a:srgbClr val="002060"/>
                          </a:solidFill>
                          <a:latin typeface="Cambria Math" panose="02040503050406030204" pitchFamily="18" charset="0"/>
                          <a:ea typeface="Cambria Math" panose="02040503050406030204" pitchFamily="18" charset="0"/>
                        </a:rPr>
                        <m:t>=</m:t>
                      </m:r>
                      <m:f>
                        <m:fPr>
                          <m:ctrlPr>
                            <a:rPr lang="en-US" sz="24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0</m:t>
                              </m:r>
                            </m:e>
                          </m:d>
                          <m:r>
                            <a:rPr lang="en-U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11</m:t>
                              </m:r>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oMath>
                  </m:oMathPara>
                </a14:m>
                <a:endParaRPr lang="en-US" sz="2400" dirty="0"/>
              </a:p>
            </p:txBody>
          </p:sp>
        </mc:Choice>
        <mc:Fallback xmlns="">
          <p:sp>
            <p:nvSpPr>
              <p:cNvPr id="101" name="Rectangle 100">
                <a:extLst>
                  <a:ext uri="{FF2B5EF4-FFF2-40B4-BE49-F238E27FC236}">
                    <a16:creationId xmlns:a16="http://schemas.microsoft.com/office/drawing/2014/main" id="{D07EEC22-9FEA-DF43-B267-8660C4146913}"/>
                  </a:ext>
                </a:extLst>
              </p:cNvPr>
              <p:cNvSpPr>
                <a:spLocks noRot="1" noChangeAspect="1" noMove="1" noResize="1" noEditPoints="1" noAdjustHandles="1" noChangeArrowheads="1" noChangeShapeType="1" noTextEdit="1"/>
              </p:cNvSpPr>
              <p:nvPr/>
            </p:nvSpPr>
            <p:spPr>
              <a:xfrm>
                <a:off x="2941084" y="4725487"/>
                <a:ext cx="2778453" cy="876202"/>
              </a:xfrm>
              <a:prstGeom prst="rect">
                <a:avLst/>
              </a:prstGeom>
              <a:blipFill>
                <a:blip r:embed="rId6"/>
                <a:stretch>
                  <a:fillRect t="-71014" r="-11416" b="-78261"/>
                </a:stretch>
              </a:blipFill>
            </p:spPr>
            <p:txBody>
              <a:bodyPr/>
              <a:lstStyle/>
              <a:p>
                <a:r>
                  <a:rPr lang="en-US">
                    <a:noFill/>
                  </a:rPr>
                  <a:t> </a:t>
                </a:r>
              </a:p>
            </p:txBody>
          </p:sp>
        </mc:Fallback>
      </mc:AlternateContent>
      <p:cxnSp>
        <p:nvCxnSpPr>
          <p:cNvPr id="115" name="Straight Connector 114">
            <a:extLst>
              <a:ext uri="{FF2B5EF4-FFF2-40B4-BE49-F238E27FC236}">
                <a16:creationId xmlns:a16="http://schemas.microsoft.com/office/drawing/2014/main" id="{BA8FA798-81E2-AB4A-A5F0-406E10638A4B}"/>
              </a:ext>
            </a:extLst>
          </p:cNvPr>
          <p:cNvCxnSpPr>
            <a:cxnSpLocks/>
          </p:cNvCxnSpPr>
          <p:nvPr/>
        </p:nvCxnSpPr>
        <p:spPr>
          <a:xfrm>
            <a:off x="659084" y="5693958"/>
            <a:ext cx="306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001BD447-2CB4-9041-B846-CF4B813B4743}"/>
              </a:ext>
            </a:extLst>
          </p:cNvPr>
          <p:cNvCxnSpPr>
            <a:cxnSpLocks/>
          </p:cNvCxnSpPr>
          <p:nvPr/>
        </p:nvCxnSpPr>
        <p:spPr>
          <a:xfrm>
            <a:off x="659083" y="4539009"/>
            <a:ext cx="306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7" name="Rectangle 116">
            <a:extLst>
              <a:ext uri="{FF2B5EF4-FFF2-40B4-BE49-F238E27FC236}">
                <a16:creationId xmlns:a16="http://schemas.microsoft.com/office/drawing/2014/main" id="{38DC1076-02A4-C340-A671-7BE41E37A687}"/>
              </a:ext>
            </a:extLst>
          </p:cNvPr>
          <p:cNvSpPr>
            <a:spLocks/>
          </p:cNvSpPr>
          <p:nvPr/>
        </p:nvSpPr>
        <p:spPr>
          <a:xfrm>
            <a:off x="1214871" y="4228127"/>
            <a:ext cx="630000" cy="63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pitchFamily="2" charset="0"/>
              </a:rPr>
              <a:t>H</a:t>
            </a:r>
          </a:p>
        </p:txBody>
      </p:sp>
      <p:cxnSp>
        <p:nvCxnSpPr>
          <p:cNvPr id="118" name="Straight Connector 117">
            <a:extLst>
              <a:ext uri="{FF2B5EF4-FFF2-40B4-BE49-F238E27FC236}">
                <a16:creationId xmlns:a16="http://schemas.microsoft.com/office/drawing/2014/main" id="{52A13DE1-2BB1-064F-9BE0-87D0CF87679D}"/>
              </a:ext>
            </a:extLst>
          </p:cNvPr>
          <p:cNvCxnSpPr>
            <a:cxnSpLocks/>
            <a:stCxn id="124" idx="0"/>
          </p:cNvCxnSpPr>
          <p:nvPr/>
        </p:nvCxnSpPr>
        <p:spPr>
          <a:xfrm flipV="1">
            <a:off x="2236799" y="4633685"/>
            <a:ext cx="0" cy="77524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9" name="Oval 118">
            <a:extLst>
              <a:ext uri="{FF2B5EF4-FFF2-40B4-BE49-F238E27FC236}">
                <a16:creationId xmlns:a16="http://schemas.microsoft.com/office/drawing/2014/main" id="{4AC88CA1-E2DF-0149-8182-8343BBEDA2B5}"/>
              </a:ext>
            </a:extLst>
          </p:cNvPr>
          <p:cNvSpPr/>
          <p:nvPr/>
        </p:nvSpPr>
        <p:spPr>
          <a:xfrm>
            <a:off x="2112376" y="4407848"/>
            <a:ext cx="251999" cy="251999"/>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0" name="Rectangle 119">
                <a:extLst>
                  <a:ext uri="{FF2B5EF4-FFF2-40B4-BE49-F238E27FC236}">
                    <a16:creationId xmlns:a16="http://schemas.microsoft.com/office/drawing/2014/main" id="{479BE757-7D92-D044-8823-E64AE528DBB3}"/>
                  </a:ext>
                </a:extLst>
              </p:cNvPr>
              <p:cNvSpPr/>
              <p:nvPr/>
            </p:nvSpPr>
            <p:spPr>
              <a:xfrm>
                <a:off x="236163" y="4056213"/>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120" name="Rectangle 119">
                <a:extLst>
                  <a:ext uri="{FF2B5EF4-FFF2-40B4-BE49-F238E27FC236}">
                    <a16:creationId xmlns:a16="http://schemas.microsoft.com/office/drawing/2014/main" id="{479BE757-7D92-D044-8823-E64AE528DBB3}"/>
                  </a:ext>
                </a:extLst>
              </p:cNvPr>
              <p:cNvSpPr>
                <a:spLocks noRot="1" noChangeAspect="1" noMove="1" noResize="1" noEditPoints="1" noAdjustHandles="1" noChangeArrowheads="1" noChangeShapeType="1" noTextEdit="1"/>
              </p:cNvSpPr>
              <p:nvPr/>
            </p:nvSpPr>
            <p:spPr>
              <a:xfrm>
                <a:off x="236163" y="4056213"/>
                <a:ext cx="631903" cy="461665"/>
              </a:xfrm>
              <a:prstGeom prst="rect">
                <a:avLst/>
              </a:prstGeom>
              <a:blipFill>
                <a:blip r:embed="rId7"/>
                <a:stretch>
                  <a:fillRect l="-26000" t="-121053" r="-52000" b="-186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1" name="Rectangle 120">
                <a:extLst>
                  <a:ext uri="{FF2B5EF4-FFF2-40B4-BE49-F238E27FC236}">
                    <a16:creationId xmlns:a16="http://schemas.microsoft.com/office/drawing/2014/main" id="{CFD15858-8441-8841-B556-1740FA49E186}"/>
                  </a:ext>
                </a:extLst>
              </p:cNvPr>
              <p:cNvSpPr/>
              <p:nvPr/>
            </p:nvSpPr>
            <p:spPr>
              <a:xfrm>
                <a:off x="236163" y="5261568"/>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121" name="Rectangle 120">
                <a:extLst>
                  <a:ext uri="{FF2B5EF4-FFF2-40B4-BE49-F238E27FC236}">
                    <a16:creationId xmlns:a16="http://schemas.microsoft.com/office/drawing/2014/main" id="{CFD15858-8441-8841-B556-1740FA49E186}"/>
                  </a:ext>
                </a:extLst>
              </p:cNvPr>
              <p:cNvSpPr>
                <a:spLocks noRot="1" noChangeAspect="1" noMove="1" noResize="1" noEditPoints="1" noAdjustHandles="1" noChangeArrowheads="1" noChangeShapeType="1" noTextEdit="1"/>
              </p:cNvSpPr>
              <p:nvPr/>
            </p:nvSpPr>
            <p:spPr>
              <a:xfrm>
                <a:off x="236163" y="5261568"/>
                <a:ext cx="631903" cy="461665"/>
              </a:xfrm>
              <a:prstGeom prst="rect">
                <a:avLst/>
              </a:prstGeom>
              <a:blipFill>
                <a:blip r:embed="rId7"/>
                <a:stretch>
                  <a:fillRect l="-26000" t="-121053" r="-52000" b="-186842"/>
                </a:stretch>
              </a:blipFill>
            </p:spPr>
            <p:txBody>
              <a:bodyPr/>
              <a:lstStyle/>
              <a:p>
                <a:r>
                  <a:rPr lang="en-US">
                    <a:noFill/>
                  </a:rPr>
                  <a:t> </a:t>
                </a:r>
              </a:p>
            </p:txBody>
          </p:sp>
        </mc:Fallback>
      </mc:AlternateContent>
      <p:sp>
        <p:nvSpPr>
          <p:cNvPr id="124" name="Oval 123">
            <a:extLst>
              <a:ext uri="{FF2B5EF4-FFF2-40B4-BE49-F238E27FC236}">
                <a16:creationId xmlns:a16="http://schemas.microsoft.com/office/drawing/2014/main" id="{F7EC7BFA-1C47-904D-B77B-C8ED94DEDC8A}"/>
              </a:ext>
            </a:extLst>
          </p:cNvPr>
          <p:cNvSpPr/>
          <p:nvPr/>
        </p:nvSpPr>
        <p:spPr>
          <a:xfrm>
            <a:off x="1966799" y="5408929"/>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48" name="Rectangle 47">
            <a:extLst>
              <a:ext uri="{FF2B5EF4-FFF2-40B4-BE49-F238E27FC236}">
                <a16:creationId xmlns:a16="http://schemas.microsoft.com/office/drawing/2014/main" id="{58444A56-4ED8-4246-AE6A-524ACE3498CE}"/>
              </a:ext>
            </a:extLst>
          </p:cNvPr>
          <p:cNvSpPr/>
          <p:nvPr/>
        </p:nvSpPr>
        <p:spPr>
          <a:xfrm>
            <a:off x="2818186" y="4208585"/>
            <a:ext cx="630000" cy="63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Z</a:t>
            </a:r>
          </a:p>
        </p:txBody>
      </p:sp>
      <p:grpSp>
        <p:nvGrpSpPr>
          <p:cNvPr id="11" name="Group 10">
            <a:extLst>
              <a:ext uri="{FF2B5EF4-FFF2-40B4-BE49-F238E27FC236}">
                <a16:creationId xmlns:a16="http://schemas.microsoft.com/office/drawing/2014/main" id="{C159442E-99BE-8C48-BC7C-0BFFAA19DF4E}"/>
              </a:ext>
            </a:extLst>
          </p:cNvPr>
          <p:cNvGrpSpPr/>
          <p:nvPr/>
        </p:nvGrpSpPr>
        <p:grpSpPr>
          <a:xfrm>
            <a:off x="6165087" y="4056213"/>
            <a:ext cx="5655232" cy="1921292"/>
            <a:chOff x="6123523" y="3832541"/>
            <a:chExt cx="5655232" cy="1921292"/>
          </a:xfrm>
        </p:grpSpPr>
        <mc:AlternateContent xmlns:mc="http://schemas.openxmlformats.org/markup-compatibility/2006" xmlns:a14="http://schemas.microsoft.com/office/drawing/2010/main">
          <mc:Choice Requires="a14">
            <p:sp>
              <p:nvSpPr>
                <p:cNvPr id="102" name="Rectangle 101">
                  <a:extLst>
                    <a:ext uri="{FF2B5EF4-FFF2-40B4-BE49-F238E27FC236}">
                      <a16:creationId xmlns:a16="http://schemas.microsoft.com/office/drawing/2014/main" id="{5A2E2A44-4EA6-CC4B-8632-98A42C322286}"/>
                    </a:ext>
                  </a:extLst>
                </p:cNvPr>
                <p:cNvSpPr/>
                <p:nvPr/>
              </p:nvSpPr>
              <p:spPr>
                <a:xfrm>
                  <a:off x="9000302" y="4573577"/>
                  <a:ext cx="2778453"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𝐵</m:t>
                                </m:r>
                              </m:e>
                              <m:sub>
                                <m:r>
                                  <a:rPr lang="en-US" sz="2400" b="0" i="1" smtClean="0">
                                    <a:solidFill>
                                      <a:srgbClr val="002060"/>
                                    </a:solidFill>
                                    <a:latin typeface="Cambria Math" panose="02040503050406030204" pitchFamily="18" charset="0"/>
                                    <a:ea typeface="Cambria Math" panose="02040503050406030204" pitchFamily="18" charset="0"/>
                                  </a:rPr>
                                  <m:t>11</m:t>
                                </m:r>
                              </m:sub>
                            </m:sSub>
                          </m:e>
                        </m:d>
                        <m:r>
                          <a:rPr lang="en-US" sz="2400" b="0" i="1" smtClean="0">
                            <a:solidFill>
                              <a:srgbClr val="002060"/>
                            </a:solidFill>
                            <a:latin typeface="Cambria Math" panose="02040503050406030204" pitchFamily="18" charset="0"/>
                            <a:ea typeface="Cambria Math" panose="02040503050406030204" pitchFamily="18" charset="0"/>
                          </a:rPr>
                          <m:t>=</m:t>
                        </m:r>
                        <m:f>
                          <m:fPr>
                            <m:ctrlPr>
                              <a:rPr lang="en-US" sz="24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1</m:t>
                                </m:r>
                              </m:e>
                            </m:d>
                            <m:r>
                              <a:rPr lang="en-U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10</m:t>
                                </m:r>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oMath>
                    </m:oMathPara>
                  </a14:m>
                  <a:endParaRPr lang="en-US" sz="2400" dirty="0"/>
                </a:p>
              </p:txBody>
            </p:sp>
          </mc:Choice>
          <mc:Fallback xmlns="">
            <p:sp>
              <p:nvSpPr>
                <p:cNvPr id="102" name="Rectangle 101">
                  <a:extLst>
                    <a:ext uri="{FF2B5EF4-FFF2-40B4-BE49-F238E27FC236}">
                      <a16:creationId xmlns:a16="http://schemas.microsoft.com/office/drawing/2014/main" id="{5A2E2A44-4EA6-CC4B-8632-98A42C322286}"/>
                    </a:ext>
                  </a:extLst>
                </p:cNvPr>
                <p:cNvSpPr>
                  <a:spLocks noRot="1" noChangeAspect="1" noMove="1" noResize="1" noEditPoints="1" noAdjustHandles="1" noChangeArrowheads="1" noChangeShapeType="1" noTextEdit="1"/>
                </p:cNvSpPr>
                <p:nvPr/>
              </p:nvSpPr>
              <p:spPr>
                <a:xfrm>
                  <a:off x="9000302" y="4573577"/>
                  <a:ext cx="2778453" cy="876202"/>
                </a:xfrm>
                <a:prstGeom prst="rect">
                  <a:avLst/>
                </a:prstGeom>
                <a:blipFill>
                  <a:blip r:embed="rId9"/>
                  <a:stretch>
                    <a:fillRect t="-68571" r="-11416" b="-77143"/>
                  </a:stretch>
                </a:blipFill>
              </p:spPr>
              <p:txBody>
                <a:bodyPr/>
                <a:lstStyle/>
                <a:p>
                  <a:r>
                    <a:rPr lang="en-US">
                      <a:noFill/>
                    </a:rPr>
                    <a:t> </a:t>
                  </a:r>
                </a:p>
              </p:txBody>
            </p:sp>
          </mc:Fallback>
        </mc:AlternateContent>
        <p:cxnSp>
          <p:nvCxnSpPr>
            <p:cNvPr id="93" name="Straight Connector 92">
              <a:extLst>
                <a:ext uri="{FF2B5EF4-FFF2-40B4-BE49-F238E27FC236}">
                  <a16:creationId xmlns:a16="http://schemas.microsoft.com/office/drawing/2014/main" id="{452774D6-0380-F947-AF7A-40B3B65DDFEE}"/>
                </a:ext>
              </a:extLst>
            </p:cNvPr>
            <p:cNvCxnSpPr>
              <a:cxnSpLocks/>
            </p:cNvCxnSpPr>
            <p:nvPr/>
          </p:nvCxnSpPr>
          <p:spPr>
            <a:xfrm>
              <a:off x="6439474" y="4294206"/>
              <a:ext cx="417235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CAB64F54-4658-CF43-A69E-8FB659CAD054}"/>
                </a:ext>
              </a:extLst>
            </p:cNvPr>
            <p:cNvCxnSpPr>
              <a:cxnSpLocks/>
            </p:cNvCxnSpPr>
            <p:nvPr/>
          </p:nvCxnSpPr>
          <p:spPr>
            <a:xfrm>
              <a:off x="6546444" y="5470286"/>
              <a:ext cx="417235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151270F1-FCC6-5E4E-9C58-808536E72FBB}"/>
                </a:ext>
              </a:extLst>
            </p:cNvPr>
            <p:cNvSpPr>
              <a:spLocks/>
            </p:cNvSpPr>
            <p:nvPr/>
          </p:nvSpPr>
          <p:spPr>
            <a:xfrm>
              <a:off x="7102231" y="3983023"/>
              <a:ext cx="630000" cy="63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pitchFamily="2" charset="0"/>
                </a:rPr>
                <a:t>H</a:t>
              </a:r>
            </a:p>
          </p:txBody>
        </p:sp>
        <p:cxnSp>
          <p:nvCxnSpPr>
            <p:cNvPr id="86" name="Straight Connector 85">
              <a:extLst>
                <a:ext uri="{FF2B5EF4-FFF2-40B4-BE49-F238E27FC236}">
                  <a16:creationId xmlns:a16="http://schemas.microsoft.com/office/drawing/2014/main" id="{BEABC7D1-6D42-514C-9004-6F08A376F305}"/>
                </a:ext>
              </a:extLst>
            </p:cNvPr>
            <p:cNvCxnSpPr>
              <a:cxnSpLocks/>
              <a:stCxn id="90" idx="0"/>
            </p:cNvCxnSpPr>
            <p:nvPr/>
          </p:nvCxnSpPr>
          <p:spPr>
            <a:xfrm flipV="1">
              <a:off x="8124159" y="4401317"/>
              <a:ext cx="0" cy="81251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Oval 86">
              <a:extLst>
                <a:ext uri="{FF2B5EF4-FFF2-40B4-BE49-F238E27FC236}">
                  <a16:creationId xmlns:a16="http://schemas.microsoft.com/office/drawing/2014/main" id="{D18709F2-FFBA-8F45-B3C0-19CEA76EB38A}"/>
                </a:ext>
              </a:extLst>
            </p:cNvPr>
            <p:cNvSpPr/>
            <p:nvPr/>
          </p:nvSpPr>
          <p:spPr>
            <a:xfrm>
              <a:off x="7999736" y="4155600"/>
              <a:ext cx="251999" cy="251999"/>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8" name="Rectangle 87">
                  <a:extLst>
                    <a:ext uri="{FF2B5EF4-FFF2-40B4-BE49-F238E27FC236}">
                      <a16:creationId xmlns:a16="http://schemas.microsoft.com/office/drawing/2014/main" id="{B1FE8CD5-AA1B-8E41-A814-07F055DF791D}"/>
                    </a:ext>
                  </a:extLst>
                </p:cNvPr>
                <p:cNvSpPr/>
                <p:nvPr/>
              </p:nvSpPr>
              <p:spPr>
                <a:xfrm>
                  <a:off x="6123523" y="3832541"/>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88" name="Rectangle 87">
                  <a:extLst>
                    <a:ext uri="{FF2B5EF4-FFF2-40B4-BE49-F238E27FC236}">
                      <a16:creationId xmlns:a16="http://schemas.microsoft.com/office/drawing/2014/main" id="{B1FE8CD5-AA1B-8E41-A814-07F055DF791D}"/>
                    </a:ext>
                  </a:extLst>
                </p:cNvPr>
                <p:cNvSpPr>
                  <a:spLocks noRot="1" noChangeAspect="1" noMove="1" noResize="1" noEditPoints="1" noAdjustHandles="1" noChangeArrowheads="1" noChangeShapeType="1" noTextEdit="1"/>
                </p:cNvSpPr>
                <p:nvPr/>
              </p:nvSpPr>
              <p:spPr>
                <a:xfrm>
                  <a:off x="6123523" y="3832541"/>
                  <a:ext cx="631903" cy="461665"/>
                </a:xfrm>
                <a:prstGeom prst="rect">
                  <a:avLst/>
                </a:prstGeom>
                <a:blipFill>
                  <a:blip r:embed="rId10"/>
                  <a:stretch>
                    <a:fillRect l="-25490" t="-124324" r="-4902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Rectangle 88">
                  <a:extLst>
                    <a:ext uri="{FF2B5EF4-FFF2-40B4-BE49-F238E27FC236}">
                      <a16:creationId xmlns:a16="http://schemas.microsoft.com/office/drawing/2014/main" id="{3B7DD52B-620B-AA49-87F4-3C5999C65C6B}"/>
                    </a:ext>
                  </a:extLst>
                </p:cNvPr>
                <p:cNvSpPr/>
                <p:nvPr/>
              </p:nvSpPr>
              <p:spPr>
                <a:xfrm>
                  <a:off x="6123523" y="5037896"/>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89" name="Rectangle 88">
                  <a:extLst>
                    <a:ext uri="{FF2B5EF4-FFF2-40B4-BE49-F238E27FC236}">
                      <a16:creationId xmlns:a16="http://schemas.microsoft.com/office/drawing/2014/main" id="{3B7DD52B-620B-AA49-87F4-3C5999C65C6B}"/>
                    </a:ext>
                  </a:extLst>
                </p:cNvPr>
                <p:cNvSpPr>
                  <a:spLocks noRot="1" noChangeAspect="1" noMove="1" noResize="1" noEditPoints="1" noAdjustHandles="1" noChangeArrowheads="1" noChangeShapeType="1" noTextEdit="1"/>
                </p:cNvSpPr>
                <p:nvPr/>
              </p:nvSpPr>
              <p:spPr>
                <a:xfrm>
                  <a:off x="6123523" y="5037896"/>
                  <a:ext cx="631903" cy="461665"/>
                </a:xfrm>
                <a:prstGeom prst="rect">
                  <a:avLst/>
                </a:prstGeom>
                <a:blipFill>
                  <a:blip r:embed="rId11"/>
                  <a:stretch>
                    <a:fillRect l="-25490" t="-127027" r="-49020" b="-191892"/>
                  </a:stretch>
                </a:blipFill>
              </p:spPr>
              <p:txBody>
                <a:bodyPr/>
                <a:lstStyle/>
                <a:p>
                  <a:r>
                    <a:rPr lang="en-US">
                      <a:noFill/>
                    </a:rPr>
                    <a:t> </a:t>
                  </a:r>
                </a:p>
              </p:txBody>
            </p:sp>
          </mc:Fallback>
        </mc:AlternateContent>
        <p:sp>
          <p:nvSpPr>
            <p:cNvPr id="90" name="Oval 89">
              <a:extLst>
                <a:ext uri="{FF2B5EF4-FFF2-40B4-BE49-F238E27FC236}">
                  <a16:creationId xmlns:a16="http://schemas.microsoft.com/office/drawing/2014/main" id="{1A31BB1B-1CCD-BE46-9E9A-7E6D1DF0B94B}"/>
                </a:ext>
              </a:extLst>
            </p:cNvPr>
            <p:cNvSpPr/>
            <p:nvPr/>
          </p:nvSpPr>
          <p:spPr>
            <a:xfrm>
              <a:off x="7854159" y="5213833"/>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91" name="Rectangle 90">
              <a:extLst>
                <a:ext uri="{FF2B5EF4-FFF2-40B4-BE49-F238E27FC236}">
                  <a16:creationId xmlns:a16="http://schemas.microsoft.com/office/drawing/2014/main" id="{48B21A99-99D7-C642-A883-614AB0C7B180}"/>
                </a:ext>
              </a:extLst>
            </p:cNvPr>
            <p:cNvSpPr/>
            <p:nvPr/>
          </p:nvSpPr>
          <p:spPr>
            <a:xfrm>
              <a:off x="9377930" y="3981954"/>
              <a:ext cx="630000" cy="63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Z</a:t>
              </a:r>
            </a:p>
          </p:txBody>
        </p:sp>
        <p:sp>
          <p:nvSpPr>
            <p:cNvPr id="92" name="Oval 91">
              <a:extLst>
                <a:ext uri="{FF2B5EF4-FFF2-40B4-BE49-F238E27FC236}">
                  <a16:creationId xmlns:a16="http://schemas.microsoft.com/office/drawing/2014/main" id="{5F9C8AC0-3245-D74A-AC18-D3D0212641C1}"/>
                </a:ext>
              </a:extLst>
            </p:cNvPr>
            <p:cNvSpPr/>
            <p:nvPr/>
          </p:nvSpPr>
          <p:spPr>
            <a:xfrm>
              <a:off x="8480780" y="4021327"/>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grpSp>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A6E10CC6-70F7-3740-9563-58BE44D15A67}"/>
                  </a:ext>
                </a:extLst>
              </p:cNvPr>
              <p:cNvSpPr/>
              <p:nvPr/>
            </p:nvSpPr>
            <p:spPr>
              <a:xfrm>
                <a:off x="8985827" y="2116418"/>
                <a:ext cx="2785571"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𝐵</m:t>
                              </m:r>
                            </m:e>
                            <m:sub>
                              <m:r>
                                <a:rPr lang="en-US" sz="2400" i="1">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1</m:t>
                              </m:r>
                            </m:sub>
                          </m:sSub>
                        </m:e>
                      </m:d>
                      <m:r>
                        <a:rPr lang="en-US" sz="2400" b="0" i="1" smtClean="0">
                          <a:solidFill>
                            <a:srgbClr val="002060"/>
                          </a:solidFill>
                          <a:latin typeface="Cambria Math" panose="02040503050406030204" pitchFamily="18" charset="0"/>
                          <a:ea typeface="Cambria Math" panose="02040503050406030204" pitchFamily="18" charset="0"/>
                        </a:rPr>
                        <m:t>=</m:t>
                      </m:r>
                      <m:f>
                        <m:fPr>
                          <m:ctrlPr>
                            <a:rPr lang="en-US" sz="24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i="1" smtClean="0">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1</m:t>
                              </m:r>
                            </m:e>
                          </m:d>
                          <m:r>
                            <a:rPr lang="en-U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10</m:t>
                              </m:r>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oMath>
                  </m:oMathPara>
                </a14:m>
                <a:endParaRPr lang="en-US" sz="2400" dirty="0"/>
              </a:p>
            </p:txBody>
          </p:sp>
        </mc:Choice>
        <mc:Fallback xmlns="">
          <p:sp>
            <p:nvSpPr>
              <p:cNvPr id="28" name="Rectangle 27">
                <a:extLst>
                  <a:ext uri="{FF2B5EF4-FFF2-40B4-BE49-F238E27FC236}">
                    <a16:creationId xmlns:a16="http://schemas.microsoft.com/office/drawing/2014/main" id="{A6E10CC6-70F7-3740-9563-58BE44D15A67}"/>
                  </a:ext>
                </a:extLst>
              </p:cNvPr>
              <p:cNvSpPr>
                <a:spLocks noRot="1" noChangeAspect="1" noMove="1" noResize="1" noEditPoints="1" noAdjustHandles="1" noChangeArrowheads="1" noChangeShapeType="1" noTextEdit="1"/>
              </p:cNvSpPr>
              <p:nvPr/>
            </p:nvSpPr>
            <p:spPr>
              <a:xfrm>
                <a:off x="8985827" y="2116418"/>
                <a:ext cx="2785571" cy="876202"/>
              </a:xfrm>
              <a:prstGeom prst="rect">
                <a:avLst/>
              </a:prstGeom>
              <a:blipFill>
                <a:blip r:embed="rId12"/>
                <a:stretch>
                  <a:fillRect l="-457" t="-68571" r="-10959" b="-77143"/>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B4854FBF-C866-DC41-BA25-86CE99464F66}"/>
              </a:ext>
            </a:extLst>
          </p:cNvPr>
          <p:cNvCxnSpPr>
            <a:cxnSpLocks/>
          </p:cNvCxnSpPr>
          <p:nvPr/>
        </p:nvCxnSpPr>
        <p:spPr>
          <a:xfrm>
            <a:off x="6588009" y="3087709"/>
            <a:ext cx="306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99B7CF6-17AE-6244-A826-22138627A191}"/>
              </a:ext>
            </a:extLst>
          </p:cNvPr>
          <p:cNvCxnSpPr>
            <a:cxnSpLocks/>
          </p:cNvCxnSpPr>
          <p:nvPr/>
        </p:nvCxnSpPr>
        <p:spPr>
          <a:xfrm>
            <a:off x="6588008" y="1932760"/>
            <a:ext cx="306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8A33394E-D82E-DD4F-AFD6-7A496AB1D628}"/>
              </a:ext>
            </a:extLst>
          </p:cNvPr>
          <p:cNvSpPr>
            <a:spLocks/>
          </p:cNvSpPr>
          <p:nvPr/>
        </p:nvSpPr>
        <p:spPr>
          <a:xfrm>
            <a:off x="7143796" y="1621878"/>
            <a:ext cx="630000" cy="63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pitchFamily="2" charset="0"/>
              </a:rPr>
              <a:t>H</a:t>
            </a:r>
          </a:p>
        </p:txBody>
      </p:sp>
      <p:cxnSp>
        <p:nvCxnSpPr>
          <p:cNvPr id="65" name="Straight Connector 64">
            <a:extLst>
              <a:ext uri="{FF2B5EF4-FFF2-40B4-BE49-F238E27FC236}">
                <a16:creationId xmlns:a16="http://schemas.microsoft.com/office/drawing/2014/main" id="{E2DEF2AA-F515-9D4D-9B45-F1C847616C79}"/>
              </a:ext>
            </a:extLst>
          </p:cNvPr>
          <p:cNvCxnSpPr>
            <a:cxnSpLocks/>
            <a:stCxn id="79" idx="0"/>
          </p:cNvCxnSpPr>
          <p:nvPr/>
        </p:nvCxnSpPr>
        <p:spPr>
          <a:xfrm flipV="1">
            <a:off x="8165724" y="2041724"/>
            <a:ext cx="0" cy="77524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Oval 65">
            <a:extLst>
              <a:ext uri="{FF2B5EF4-FFF2-40B4-BE49-F238E27FC236}">
                <a16:creationId xmlns:a16="http://schemas.microsoft.com/office/drawing/2014/main" id="{927CCEDE-DA50-E049-9B07-9097EA6F0CCD}"/>
              </a:ext>
            </a:extLst>
          </p:cNvPr>
          <p:cNvSpPr/>
          <p:nvPr/>
        </p:nvSpPr>
        <p:spPr>
          <a:xfrm>
            <a:off x="8041301" y="1794455"/>
            <a:ext cx="251999" cy="251999"/>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6" name="Rectangle 75">
                <a:extLst>
                  <a:ext uri="{FF2B5EF4-FFF2-40B4-BE49-F238E27FC236}">
                    <a16:creationId xmlns:a16="http://schemas.microsoft.com/office/drawing/2014/main" id="{576FD375-8D8B-514B-ADEC-C9056BB37ED1}"/>
                  </a:ext>
                </a:extLst>
              </p:cNvPr>
              <p:cNvSpPr/>
              <p:nvPr/>
            </p:nvSpPr>
            <p:spPr>
              <a:xfrm>
                <a:off x="6165088" y="1449964"/>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76" name="Rectangle 75">
                <a:extLst>
                  <a:ext uri="{FF2B5EF4-FFF2-40B4-BE49-F238E27FC236}">
                    <a16:creationId xmlns:a16="http://schemas.microsoft.com/office/drawing/2014/main" id="{576FD375-8D8B-514B-ADEC-C9056BB37ED1}"/>
                  </a:ext>
                </a:extLst>
              </p:cNvPr>
              <p:cNvSpPr>
                <a:spLocks noRot="1" noChangeAspect="1" noMove="1" noResize="1" noEditPoints="1" noAdjustHandles="1" noChangeArrowheads="1" noChangeShapeType="1" noTextEdit="1"/>
              </p:cNvSpPr>
              <p:nvPr/>
            </p:nvSpPr>
            <p:spPr>
              <a:xfrm>
                <a:off x="6165088" y="1449964"/>
                <a:ext cx="631903" cy="461665"/>
              </a:xfrm>
              <a:prstGeom prst="rect">
                <a:avLst/>
              </a:prstGeom>
              <a:blipFill>
                <a:blip r:embed="rId13"/>
                <a:stretch>
                  <a:fillRect l="-23529" t="-121053" r="-49020" b="-186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Rectangle 76">
                <a:extLst>
                  <a:ext uri="{FF2B5EF4-FFF2-40B4-BE49-F238E27FC236}">
                    <a16:creationId xmlns:a16="http://schemas.microsoft.com/office/drawing/2014/main" id="{0BF6709E-20DF-D440-B986-4946544BBB3A}"/>
                  </a:ext>
                </a:extLst>
              </p:cNvPr>
              <p:cNvSpPr/>
              <p:nvPr/>
            </p:nvSpPr>
            <p:spPr>
              <a:xfrm>
                <a:off x="6165088" y="2671795"/>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77" name="Rectangle 76">
                <a:extLst>
                  <a:ext uri="{FF2B5EF4-FFF2-40B4-BE49-F238E27FC236}">
                    <a16:creationId xmlns:a16="http://schemas.microsoft.com/office/drawing/2014/main" id="{0BF6709E-20DF-D440-B986-4946544BBB3A}"/>
                  </a:ext>
                </a:extLst>
              </p:cNvPr>
              <p:cNvSpPr>
                <a:spLocks noRot="1" noChangeAspect="1" noMove="1" noResize="1" noEditPoints="1" noAdjustHandles="1" noChangeArrowheads="1" noChangeShapeType="1" noTextEdit="1"/>
              </p:cNvSpPr>
              <p:nvPr/>
            </p:nvSpPr>
            <p:spPr>
              <a:xfrm>
                <a:off x="6165088" y="2671795"/>
                <a:ext cx="631903" cy="461665"/>
              </a:xfrm>
              <a:prstGeom prst="rect">
                <a:avLst/>
              </a:prstGeom>
              <a:blipFill>
                <a:blip r:embed="rId13"/>
                <a:stretch>
                  <a:fillRect l="-23529" t="-121053" r="-49020" b="-186842"/>
                </a:stretch>
              </a:blipFill>
            </p:spPr>
            <p:txBody>
              <a:bodyPr/>
              <a:lstStyle/>
              <a:p>
                <a:r>
                  <a:rPr lang="en-US">
                    <a:noFill/>
                  </a:rPr>
                  <a:t> </a:t>
                </a:r>
              </a:p>
            </p:txBody>
          </p:sp>
        </mc:Fallback>
      </mc:AlternateContent>
      <p:sp>
        <p:nvSpPr>
          <p:cNvPr id="79" name="Oval 78">
            <a:extLst>
              <a:ext uri="{FF2B5EF4-FFF2-40B4-BE49-F238E27FC236}">
                <a16:creationId xmlns:a16="http://schemas.microsoft.com/office/drawing/2014/main" id="{89864FCA-5A25-A34D-B8DB-061CE80C0104}"/>
              </a:ext>
            </a:extLst>
          </p:cNvPr>
          <p:cNvSpPr/>
          <p:nvPr/>
        </p:nvSpPr>
        <p:spPr>
          <a:xfrm>
            <a:off x="7895724" y="2816968"/>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81" name="Oval 80">
            <a:extLst>
              <a:ext uri="{FF2B5EF4-FFF2-40B4-BE49-F238E27FC236}">
                <a16:creationId xmlns:a16="http://schemas.microsoft.com/office/drawing/2014/main" id="{141EB74F-7CE4-584D-8EB4-D88FBE95B786}"/>
              </a:ext>
            </a:extLst>
          </p:cNvPr>
          <p:cNvSpPr/>
          <p:nvPr/>
        </p:nvSpPr>
        <p:spPr>
          <a:xfrm>
            <a:off x="8771866" y="1676423"/>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Tree>
    <p:extLst>
      <p:ext uri="{BB962C8B-B14F-4D97-AF65-F5344CB8AC3E}">
        <p14:creationId xmlns:p14="http://schemas.microsoft.com/office/powerpoint/2010/main" val="21380115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74232-9F74-BE47-A2C6-04012F2572A6}"/>
              </a:ext>
            </a:extLst>
          </p:cNvPr>
          <p:cNvSpPr>
            <a:spLocks noGrp="1"/>
          </p:cNvSpPr>
          <p:nvPr>
            <p:ph type="title"/>
          </p:nvPr>
        </p:nvSpPr>
        <p:spPr/>
        <p:txBody>
          <a:bodyPr/>
          <a:lstStyle/>
          <a:p>
            <a:r>
              <a:rPr lang="en-ZA" dirty="0"/>
              <a:t>Bell-State Measurement Correlations</a:t>
            </a:r>
            <a:endParaRPr lang="en-US" dirty="0"/>
          </a:p>
        </p:txBody>
      </p:sp>
      <p:sp>
        <p:nvSpPr>
          <p:cNvPr id="3" name="Slide Number Placeholder 2">
            <a:extLst>
              <a:ext uri="{FF2B5EF4-FFF2-40B4-BE49-F238E27FC236}">
                <a16:creationId xmlns:a16="http://schemas.microsoft.com/office/drawing/2014/main" id="{C177EEC0-A1F2-A34F-98AF-4D8238B68070}"/>
              </a:ext>
            </a:extLst>
          </p:cNvPr>
          <p:cNvSpPr>
            <a:spLocks noGrp="1"/>
          </p:cNvSpPr>
          <p:nvPr>
            <p:ph type="sldNum" sz="quarter" idx="12"/>
          </p:nvPr>
        </p:nvSpPr>
        <p:spPr/>
        <p:txBody>
          <a:bodyPr/>
          <a:lstStyle/>
          <a:p>
            <a:fld id="{591A223C-FA10-BC46-A853-03BA373D023C}" type="slidenum">
              <a:rPr lang="en-US" smtClean="0"/>
              <a:t>37</a:t>
            </a:fld>
            <a:endParaRPr lang="en-US"/>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F7454801-762B-9A4C-9D0A-D372AAB556C1}"/>
                  </a:ext>
                </a:extLst>
              </p:cNvPr>
              <p:cNvSpPr/>
              <p:nvPr/>
            </p:nvSpPr>
            <p:spPr>
              <a:xfrm>
                <a:off x="536442" y="1204800"/>
                <a:ext cx="4428841" cy="100681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m:t>
                          </m:r>
                          <m:sSup>
                            <m:sSupPr>
                              <m:ctrlPr>
                                <a:rPr lang="en-US" sz="2800" i="1" smtClean="0">
                                  <a:solidFill>
                                    <a:srgbClr val="002060"/>
                                  </a:solidFill>
                                  <a:latin typeface="Cambria Math" panose="02040503050406030204" pitchFamily="18" charset="0"/>
                                  <a:ea typeface="Cambria Math" panose="02040503050406030204" pitchFamily="18" charset="0"/>
                                </a:rPr>
                              </m:ctrlPr>
                            </m:sSupPr>
                            <m:e>
                              <m:r>
                                <m:rPr>
                                  <m:sty m:val="p"/>
                                </m:rPr>
                                <a:rPr lang="el-GR" sz="2800" i="1">
                                  <a:solidFill>
                                    <a:srgbClr val="002060"/>
                                  </a:solidFill>
                                  <a:latin typeface="Cambria Math" panose="02040503050406030204" pitchFamily="18" charset="0"/>
                                  <a:ea typeface="Cambria Math" panose="02040503050406030204" pitchFamily="18" charset="0"/>
                                </a:rPr>
                                <m:t>Φ</m:t>
                              </m:r>
                            </m:e>
                            <m:sup>
                              <m:r>
                                <a:rPr lang="sr-Latn-RS" sz="2800" b="0" i="1" smtClean="0">
                                  <a:solidFill>
                                    <a:srgbClr val="002060"/>
                                  </a:solidFill>
                                  <a:latin typeface="Cambria Math" panose="02040503050406030204" pitchFamily="18" charset="0"/>
                                  <a:ea typeface="Cambria Math" panose="02040503050406030204" pitchFamily="18" charset="0"/>
                                </a:rPr>
                                <m:t>+</m:t>
                              </m:r>
                            </m:sup>
                          </m:sSup>
                        </m:e>
                      </m:d>
                      <m:r>
                        <a:rPr lang="sr-Latn-RS" sz="28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800" i="1" smtClean="0">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m:t>
                          </m:r>
                          <m:sSub>
                            <m:sSubPr>
                              <m:ctrlPr>
                                <a:rPr lang="en-US" sz="2800" i="1" smtClean="0">
                                  <a:solidFill>
                                    <a:srgbClr val="002060"/>
                                  </a:solidFill>
                                  <a:latin typeface="Cambria Math" panose="02040503050406030204" pitchFamily="18" charset="0"/>
                                  <a:ea typeface="Cambria Math" panose="02040503050406030204" pitchFamily="18" charset="0"/>
                                </a:rPr>
                              </m:ctrlPr>
                            </m:sSubPr>
                            <m:e>
                              <m:r>
                                <a:rPr lang="en-US" sz="2800" b="0" i="1" smtClean="0">
                                  <a:solidFill>
                                    <a:srgbClr val="002060"/>
                                  </a:solidFill>
                                  <a:latin typeface="Cambria Math" panose="02040503050406030204" pitchFamily="18" charset="0"/>
                                  <a:ea typeface="Cambria Math" panose="02040503050406030204" pitchFamily="18" charset="0"/>
                                </a:rPr>
                                <m:t>𝐵</m:t>
                              </m:r>
                            </m:e>
                            <m:sub>
                              <m:r>
                                <a:rPr lang="en-US" sz="2800" b="0" i="1" smtClean="0">
                                  <a:solidFill>
                                    <a:srgbClr val="002060"/>
                                  </a:solidFill>
                                  <a:latin typeface="Cambria Math" panose="02040503050406030204" pitchFamily="18" charset="0"/>
                                  <a:ea typeface="Cambria Math" panose="02040503050406030204" pitchFamily="18" charset="0"/>
                                </a:rPr>
                                <m:t>00</m:t>
                              </m:r>
                            </m:sub>
                          </m:sSub>
                        </m:e>
                      </m:d>
                      <m:r>
                        <a:rPr lang="en-US" sz="2800" b="0" i="1" smtClean="0">
                          <a:solidFill>
                            <a:srgbClr val="002060"/>
                          </a:solidFill>
                          <a:latin typeface="Cambria Math" panose="02040503050406030204" pitchFamily="18" charset="0"/>
                          <a:ea typeface="Cambria Math" panose="02040503050406030204" pitchFamily="18" charset="0"/>
                        </a:rPr>
                        <m:t>=</m:t>
                      </m:r>
                      <m:f>
                        <m:fPr>
                          <m:ctrlPr>
                            <a:rPr lang="en-US" sz="28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|0</m:t>
                              </m:r>
                              <m:r>
                                <a:rPr lang="en-US" sz="2800" b="0" i="1" smtClean="0">
                                  <a:solidFill>
                                    <a:srgbClr val="002060"/>
                                  </a:solidFill>
                                  <a:latin typeface="Cambria Math" panose="02040503050406030204" pitchFamily="18" charset="0"/>
                                  <a:ea typeface="Cambria Math" panose="02040503050406030204" pitchFamily="18" charset="0"/>
                                </a:rPr>
                                <m:t>0</m:t>
                              </m:r>
                            </m:e>
                          </m:d>
                          <m:r>
                            <a:rPr lang="en-US" sz="28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m:t>
                              </m:r>
                              <m:r>
                                <a:rPr lang="en-US" sz="2800" b="0" i="1" smtClean="0">
                                  <a:solidFill>
                                    <a:srgbClr val="002060"/>
                                  </a:solidFill>
                                  <a:latin typeface="Cambria Math" panose="02040503050406030204" pitchFamily="18" charset="0"/>
                                  <a:ea typeface="Cambria Math" panose="02040503050406030204" pitchFamily="18" charset="0"/>
                                </a:rPr>
                                <m:t>11</m:t>
                              </m:r>
                            </m:e>
                          </m:d>
                        </m:num>
                        <m:den>
                          <m:rad>
                            <m:radPr>
                              <m:degHide m:val="on"/>
                              <m:ctrlPr>
                                <a:rPr lang="en-US" sz="2800" i="1">
                                  <a:solidFill>
                                    <a:srgbClr val="002060"/>
                                  </a:solidFill>
                                  <a:latin typeface="Cambria Math" panose="02040503050406030204" pitchFamily="18" charset="0"/>
                                  <a:ea typeface="Cambria Math" panose="02040503050406030204" pitchFamily="18" charset="0"/>
                                </a:rPr>
                              </m:ctrlPr>
                            </m:radPr>
                            <m:deg/>
                            <m:e>
                              <m:r>
                                <a:rPr lang="en-US" sz="2800" i="1">
                                  <a:solidFill>
                                    <a:srgbClr val="002060"/>
                                  </a:solidFill>
                                  <a:latin typeface="Cambria Math" panose="02040503050406030204" pitchFamily="18" charset="0"/>
                                  <a:ea typeface="Cambria Math" panose="02040503050406030204" pitchFamily="18" charset="0"/>
                                </a:rPr>
                                <m:t>2</m:t>
                              </m:r>
                            </m:e>
                          </m:rad>
                        </m:den>
                      </m:f>
                    </m:oMath>
                  </m:oMathPara>
                </a14:m>
                <a:endParaRPr lang="en-US" sz="2800" dirty="0"/>
              </a:p>
            </p:txBody>
          </p:sp>
        </mc:Choice>
        <mc:Fallback xmlns="">
          <p:sp>
            <p:nvSpPr>
              <p:cNvPr id="4" name="Rectangle 3">
                <a:extLst>
                  <a:ext uri="{FF2B5EF4-FFF2-40B4-BE49-F238E27FC236}">
                    <a16:creationId xmlns:a16="http://schemas.microsoft.com/office/drawing/2014/main" id="{F7454801-762B-9A4C-9D0A-D372AAB556C1}"/>
                  </a:ext>
                </a:extLst>
              </p:cNvPr>
              <p:cNvSpPr>
                <a:spLocks noRot="1" noChangeAspect="1" noMove="1" noResize="1" noEditPoints="1" noAdjustHandles="1" noChangeArrowheads="1" noChangeShapeType="1" noTextEdit="1"/>
              </p:cNvSpPr>
              <p:nvPr/>
            </p:nvSpPr>
            <p:spPr>
              <a:xfrm>
                <a:off x="536442" y="1204800"/>
                <a:ext cx="4428841" cy="1006814"/>
              </a:xfrm>
              <a:prstGeom prst="rect">
                <a:avLst/>
              </a:prstGeom>
              <a:blipFill>
                <a:blip r:embed="rId3"/>
                <a:stretch>
                  <a:fillRect l="-286" t="-72500" r="-8286" b="-82500"/>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7D2FA3FA-AC05-FD42-BBF2-A3793D443261}"/>
              </a:ext>
            </a:extLst>
          </p:cNvPr>
          <p:cNvGrpSpPr>
            <a:grpSpLocks noChangeAspect="1"/>
          </p:cNvGrpSpPr>
          <p:nvPr/>
        </p:nvGrpSpPr>
        <p:grpSpPr>
          <a:xfrm>
            <a:off x="5380022" y="1250472"/>
            <a:ext cx="823310" cy="895414"/>
            <a:chOff x="8902649" y="1353231"/>
            <a:chExt cx="720000" cy="807700"/>
          </a:xfrm>
        </p:grpSpPr>
        <p:sp>
          <p:nvSpPr>
            <p:cNvPr id="6" name="Rectangle 5">
              <a:extLst>
                <a:ext uri="{FF2B5EF4-FFF2-40B4-BE49-F238E27FC236}">
                  <a16:creationId xmlns:a16="http://schemas.microsoft.com/office/drawing/2014/main" id="{E9863A01-3554-CA48-99F9-0FBFCE76DB39}"/>
                </a:ext>
              </a:extLst>
            </p:cNvPr>
            <p:cNvSpPr/>
            <p:nvPr/>
          </p:nvSpPr>
          <p:spPr>
            <a:xfrm>
              <a:off x="8902649" y="1353231"/>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7" name="Arc 6">
              <a:extLst>
                <a:ext uri="{FF2B5EF4-FFF2-40B4-BE49-F238E27FC236}">
                  <a16:creationId xmlns:a16="http://schemas.microsoft.com/office/drawing/2014/main" id="{1789E7A1-3F5F-DD4E-82C6-2811F9AE2B91}"/>
                </a:ext>
              </a:extLst>
            </p:cNvPr>
            <p:cNvSpPr/>
            <p:nvPr/>
          </p:nvSpPr>
          <p:spPr>
            <a:xfrm>
              <a:off x="9008649" y="1636523"/>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1397EFC2-767C-3943-9B68-BFFC3B95D4AE}"/>
                </a:ext>
              </a:extLst>
            </p:cNvPr>
            <p:cNvCxnSpPr>
              <a:cxnSpLocks/>
            </p:cNvCxnSpPr>
            <p:nvPr/>
          </p:nvCxnSpPr>
          <p:spPr>
            <a:xfrm flipV="1">
              <a:off x="9262649" y="1527175"/>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816663C8-FDF0-764C-AC9E-DF0B4FFE0C19}"/>
              </a:ext>
            </a:extLst>
          </p:cNvPr>
          <p:cNvSpPr txBox="1"/>
          <p:nvPr/>
        </p:nvSpPr>
        <p:spPr>
          <a:xfrm>
            <a:off x="7299717" y="1165425"/>
            <a:ext cx="550151" cy="954107"/>
          </a:xfrm>
          <a:prstGeom prst="rect">
            <a:avLst/>
          </a:prstGeom>
          <a:noFill/>
        </p:spPr>
        <p:txBody>
          <a:bodyPr wrap="none" rtlCol="0">
            <a:spAutoFit/>
          </a:bodyPr>
          <a:lstStyle/>
          <a:p>
            <a:r>
              <a:rPr lang="en-US" sz="2800" dirty="0"/>
              <a:t>00</a:t>
            </a:r>
          </a:p>
          <a:p>
            <a:r>
              <a:rPr lang="en-US" sz="2800" dirty="0"/>
              <a:t>11</a:t>
            </a:r>
          </a:p>
        </p:txBody>
      </p:sp>
      <p:sp>
        <p:nvSpPr>
          <p:cNvPr id="10" name="Left Brace 9">
            <a:extLst>
              <a:ext uri="{FF2B5EF4-FFF2-40B4-BE49-F238E27FC236}">
                <a16:creationId xmlns:a16="http://schemas.microsoft.com/office/drawing/2014/main" id="{E52BE690-9763-1B46-871A-7871E3E7EA7D}"/>
              </a:ext>
            </a:extLst>
          </p:cNvPr>
          <p:cNvSpPr/>
          <p:nvPr/>
        </p:nvSpPr>
        <p:spPr>
          <a:xfrm>
            <a:off x="6710814" y="1059022"/>
            <a:ext cx="510363" cy="1181090"/>
          </a:xfrm>
          <a:prstGeom prst="leftBrace">
            <a:avLst>
              <a:gd name="adj1" fmla="val 21906"/>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34" name="Group 33">
            <a:extLst>
              <a:ext uri="{FF2B5EF4-FFF2-40B4-BE49-F238E27FC236}">
                <a16:creationId xmlns:a16="http://schemas.microsoft.com/office/drawing/2014/main" id="{A57655BA-23DA-2146-8305-C288CDF4CBCB}"/>
              </a:ext>
            </a:extLst>
          </p:cNvPr>
          <p:cNvGrpSpPr/>
          <p:nvPr/>
        </p:nvGrpSpPr>
        <p:grpSpPr>
          <a:xfrm>
            <a:off x="536442" y="2575336"/>
            <a:ext cx="7313426" cy="1181090"/>
            <a:chOff x="536442" y="2575336"/>
            <a:chExt cx="7313426" cy="1181090"/>
          </a:xfrm>
        </p:grpSpPr>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EA7457D6-28FC-764D-9A04-892896A2F19D}"/>
                    </a:ext>
                  </a:extLst>
                </p:cNvPr>
                <p:cNvSpPr/>
                <p:nvPr/>
              </p:nvSpPr>
              <p:spPr>
                <a:xfrm>
                  <a:off x="536442" y="2694875"/>
                  <a:ext cx="4420569" cy="100681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rgbClr val="002060"/>
                                </a:solidFill>
                                <a:latin typeface="Cambria Math" panose="02040503050406030204" pitchFamily="18" charset="0"/>
                                <a:ea typeface="Cambria Math" panose="02040503050406030204" pitchFamily="18" charset="0"/>
                              </a:rPr>
                            </m:ctrlPr>
                          </m:dPr>
                          <m:e>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m:t>
                                </m:r>
                                <m:sSup>
                                  <m:sSupPr>
                                    <m:ctrlPr>
                                      <a:rPr lang="en-US" sz="2800" i="1">
                                        <a:solidFill>
                                          <a:srgbClr val="002060"/>
                                        </a:solidFill>
                                        <a:latin typeface="Cambria Math" panose="02040503050406030204" pitchFamily="18" charset="0"/>
                                        <a:ea typeface="Cambria Math" panose="02040503050406030204" pitchFamily="18" charset="0"/>
                                      </a:rPr>
                                    </m:ctrlPr>
                                  </m:sSupPr>
                                  <m:e>
                                    <m:r>
                                      <m:rPr>
                                        <m:sty m:val="p"/>
                                      </m:rPr>
                                      <a:rPr lang="el-GR" sz="2800" i="1">
                                        <a:solidFill>
                                          <a:srgbClr val="002060"/>
                                        </a:solidFill>
                                        <a:latin typeface="Cambria Math" panose="02040503050406030204" pitchFamily="18" charset="0"/>
                                        <a:ea typeface="Cambria Math" panose="02040503050406030204" pitchFamily="18" charset="0"/>
                                      </a:rPr>
                                      <m:t>Φ</m:t>
                                    </m:r>
                                  </m:e>
                                  <m:sup>
                                    <m:r>
                                      <a:rPr lang="sr-Latn-RS" sz="2800" b="0" i="1" smtClean="0">
                                        <a:solidFill>
                                          <a:srgbClr val="002060"/>
                                        </a:solidFill>
                                        <a:latin typeface="Cambria Math" panose="02040503050406030204" pitchFamily="18" charset="0"/>
                                        <a:ea typeface="Cambria Math" panose="02040503050406030204" pitchFamily="18" charset="0"/>
                                      </a:rPr>
                                      <m:t>−</m:t>
                                    </m:r>
                                  </m:sup>
                                </m:sSup>
                              </m:e>
                            </m:d>
                            <m:r>
                              <a:rPr lang="sr-Latn-RS" sz="2800" i="1">
                                <a:solidFill>
                                  <a:srgbClr val="002060"/>
                                </a:solidFill>
                                <a:latin typeface="Cambria Math" panose="02040503050406030204" pitchFamily="18" charset="0"/>
                                <a:ea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m:t>
                            </m:r>
                            <m:sSub>
                              <m:sSubPr>
                                <m:ctrlPr>
                                  <a:rPr lang="en-US" sz="2800" i="1">
                                    <a:solidFill>
                                      <a:srgbClr val="002060"/>
                                    </a:solidFill>
                                    <a:latin typeface="Cambria Math" panose="02040503050406030204" pitchFamily="18" charset="0"/>
                                    <a:ea typeface="Cambria Math" panose="02040503050406030204" pitchFamily="18" charset="0"/>
                                  </a:rPr>
                                </m:ctrlPr>
                              </m:sSubPr>
                              <m:e>
                                <m:r>
                                  <a:rPr lang="en-US" sz="2800" i="1">
                                    <a:solidFill>
                                      <a:srgbClr val="002060"/>
                                    </a:solidFill>
                                    <a:latin typeface="Cambria Math" panose="02040503050406030204" pitchFamily="18" charset="0"/>
                                    <a:ea typeface="Cambria Math" panose="02040503050406030204" pitchFamily="18" charset="0"/>
                                  </a:rPr>
                                  <m:t>𝐵</m:t>
                                </m:r>
                              </m:e>
                              <m:sub>
                                <m:r>
                                  <a:rPr lang="sr-Latn-RS" sz="2800" b="0" i="1" smtClean="0">
                                    <a:solidFill>
                                      <a:srgbClr val="002060"/>
                                    </a:solidFill>
                                    <a:latin typeface="Cambria Math" panose="02040503050406030204" pitchFamily="18" charset="0"/>
                                    <a:ea typeface="Cambria Math" panose="02040503050406030204" pitchFamily="18" charset="0"/>
                                  </a:rPr>
                                  <m:t>10</m:t>
                                </m:r>
                              </m:sub>
                            </m:sSub>
                          </m:e>
                        </m:d>
                        <m:r>
                          <a:rPr lang="en-US" sz="2800" b="0" i="1" smtClean="0">
                            <a:solidFill>
                              <a:srgbClr val="002060"/>
                            </a:solidFill>
                            <a:latin typeface="Cambria Math" panose="02040503050406030204" pitchFamily="18" charset="0"/>
                            <a:ea typeface="Cambria Math" panose="02040503050406030204" pitchFamily="18" charset="0"/>
                          </a:rPr>
                          <m:t>=</m:t>
                        </m:r>
                        <m:f>
                          <m:fPr>
                            <m:ctrlPr>
                              <a:rPr lang="en-US" sz="28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|0</m:t>
                                </m:r>
                                <m:r>
                                  <a:rPr lang="en-US" sz="2800" b="0" i="1" smtClean="0">
                                    <a:solidFill>
                                      <a:srgbClr val="002060"/>
                                    </a:solidFill>
                                    <a:latin typeface="Cambria Math" panose="02040503050406030204" pitchFamily="18" charset="0"/>
                                    <a:ea typeface="Cambria Math" panose="02040503050406030204" pitchFamily="18" charset="0"/>
                                  </a:rPr>
                                  <m:t>0</m:t>
                                </m:r>
                              </m:e>
                            </m:d>
                            <m:r>
                              <a:rPr lang="en-US" sz="28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m:t>
                                </m:r>
                                <m:r>
                                  <a:rPr lang="en-US" sz="2800" b="0" i="1" smtClean="0">
                                    <a:solidFill>
                                      <a:srgbClr val="002060"/>
                                    </a:solidFill>
                                    <a:latin typeface="Cambria Math" panose="02040503050406030204" pitchFamily="18" charset="0"/>
                                    <a:ea typeface="Cambria Math" panose="02040503050406030204" pitchFamily="18" charset="0"/>
                                  </a:rPr>
                                  <m:t>11</m:t>
                                </m:r>
                              </m:e>
                            </m:d>
                          </m:num>
                          <m:den>
                            <m:rad>
                              <m:radPr>
                                <m:degHide m:val="on"/>
                                <m:ctrlPr>
                                  <a:rPr lang="en-US" sz="2800" i="1">
                                    <a:solidFill>
                                      <a:srgbClr val="002060"/>
                                    </a:solidFill>
                                    <a:latin typeface="Cambria Math" panose="02040503050406030204" pitchFamily="18" charset="0"/>
                                    <a:ea typeface="Cambria Math" panose="02040503050406030204" pitchFamily="18" charset="0"/>
                                  </a:rPr>
                                </m:ctrlPr>
                              </m:radPr>
                              <m:deg/>
                              <m:e>
                                <m:r>
                                  <a:rPr lang="en-US" sz="2800" i="1">
                                    <a:solidFill>
                                      <a:srgbClr val="002060"/>
                                    </a:solidFill>
                                    <a:latin typeface="Cambria Math" panose="02040503050406030204" pitchFamily="18" charset="0"/>
                                    <a:ea typeface="Cambria Math" panose="02040503050406030204" pitchFamily="18" charset="0"/>
                                  </a:rPr>
                                  <m:t>2</m:t>
                                </m:r>
                              </m:e>
                            </m:rad>
                          </m:den>
                        </m:f>
                      </m:oMath>
                    </m:oMathPara>
                  </a14:m>
                  <a:endParaRPr lang="en-US" sz="2800" dirty="0"/>
                </a:p>
              </p:txBody>
            </p:sp>
          </mc:Choice>
          <mc:Fallback xmlns="">
            <p:sp>
              <p:nvSpPr>
                <p:cNvPr id="11" name="Rectangle 10">
                  <a:extLst>
                    <a:ext uri="{FF2B5EF4-FFF2-40B4-BE49-F238E27FC236}">
                      <a16:creationId xmlns:a16="http://schemas.microsoft.com/office/drawing/2014/main" id="{EA7457D6-28FC-764D-9A04-892896A2F19D}"/>
                    </a:ext>
                  </a:extLst>
                </p:cNvPr>
                <p:cNvSpPr>
                  <a:spLocks noRot="1" noChangeAspect="1" noMove="1" noResize="1" noEditPoints="1" noAdjustHandles="1" noChangeArrowheads="1" noChangeShapeType="1" noTextEdit="1"/>
                </p:cNvSpPr>
                <p:nvPr/>
              </p:nvSpPr>
              <p:spPr>
                <a:xfrm>
                  <a:off x="536442" y="2694875"/>
                  <a:ext cx="4420569" cy="1006814"/>
                </a:xfrm>
                <a:prstGeom prst="rect">
                  <a:avLst/>
                </a:prstGeom>
                <a:blipFill>
                  <a:blip r:embed="rId4"/>
                  <a:stretch>
                    <a:fillRect t="-75000" r="-8596" b="-123750"/>
                  </a:stretch>
                </a:blipFill>
              </p:spPr>
              <p:txBody>
                <a:bodyPr/>
                <a:lstStyle/>
                <a:p>
                  <a:r>
                    <a:rPr lang="en-US">
                      <a:noFill/>
                    </a:rPr>
                    <a:t> </a:t>
                  </a:r>
                </a:p>
              </p:txBody>
            </p:sp>
          </mc:Fallback>
        </mc:AlternateContent>
        <p:grpSp>
          <p:nvGrpSpPr>
            <p:cNvPr id="14" name="Group 13">
              <a:extLst>
                <a:ext uri="{FF2B5EF4-FFF2-40B4-BE49-F238E27FC236}">
                  <a16:creationId xmlns:a16="http://schemas.microsoft.com/office/drawing/2014/main" id="{B2FC3EEB-5710-0E4E-B7C6-42D8117093E4}"/>
                </a:ext>
              </a:extLst>
            </p:cNvPr>
            <p:cNvGrpSpPr>
              <a:grpSpLocks noChangeAspect="1"/>
            </p:cNvGrpSpPr>
            <p:nvPr/>
          </p:nvGrpSpPr>
          <p:grpSpPr>
            <a:xfrm>
              <a:off x="5380022" y="2766786"/>
              <a:ext cx="823310" cy="895414"/>
              <a:chOff x="8902649" y="1353231"/>
              <a:chExt cx="720000" cy="807700"/>
            </a:xfrm>
          </p:grpSpPr>
          <p:sp>
            <p:nvSpPr>
              <p:cNvPr id="15" name="Rectangle 14">
                <a:extLst>
                  <a:ext uri="{FF2B5EF4-FFF2-40B4-BE49-F238E27FC236}">
                    <a16:creationId xmlns:a16="http://schemas.microsoft.com/office/drawing/2014/main" id="{58FB8991-F55F-1D48-A18D-9B605472B115}"/>
                  </a:ext>
                </a:extLst>
              </p:cNvPr>
              <p:cNvSpPr/>
              <p:nvPr/>
            </p:nvSpPr>
            <p:spPr>
              <a:xfrm>
                <a:off x="8902649" y="1353231"/>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16" name="Arc 15">
                <a:extLst>
                  <a:ext uri="{FF2B5EF4-FFF2-40B4-BE49-F238E27FC236}">
                    <a16:creationId xmlns:a16="http://schemas.microsoft.com/office/drawing/2014/main" id="{2EB46259-570F-F149-8CCF-E088BA93AF35}"/>
                  </a:ext>
                </a:extLst>
              </p:cNvPr>
              <p:cNvSpPr/>
              <p:nvPr/>
            </p:nvSpPr>
            <p:spPr>
              <a:xfrm>
                <a:off x="9008649" y="1636523"/>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7C609AC2-A81F-0D48-A101-3242263F25EE}"/>
                  </a:ext>
                </a:extLst>
              </p:cNvPr>
              <p:cNvCxnSpPr>
                <a:cxnSpLocks/>
              </p:cNvCxnSpPr>
              <p:nvPr/>
            </p:nvCxnSpPr>
            <p:spPr>
              <a:xfrm flipV="1">
                <a:off x="9262649" y="1527175"/>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sp>
          <p:nvSpPr>
            <p:cNvPr id="18" name="TextBox 17">
              <a:extLst>
                <a:ext uri="{FF2B5EF4-FFF2-40B4-BE49-F238E27FC236}">
                  <a16:creationId xmlns:a16="http://schemas.microsoft.com/office/drawing/2014/main" id="{9F1C4D4C-BA11-2842-B86E-7BB8A3DC5019}"/>
                </a:ext>
              </a:extLst>
            </p:cNvPr>
            <p:cNvSpPr txBox="1"/>
            <p:nvPr/>
          </p:nvSpPr>
          <p:spPr>
            <a:xfrm>
              <a:off x="7299717" y="2681739"/>
              <a:ext cx="550151" cy="954107"/>
            </a:xfrm>
            <a:prstGeom prst="rect">
              <a:avLst/>
            </a:prstGeom>
            <a:noFill/>
          </p:spPr>
          <p:txBody>
            <a:bodyPr wrap="none" rtlCol="0">
              <a:spAutoFit/>
            </a:bodyPr>
            <a:lstStyle/>
            <a:p>
              <a:r>
                <a:rPr lang="en-US" sz="2800" dirty="0"/>
                <a:t>00</a:t>
              </a:r>
            </a:p>
            <a:p>
              <a:r>
                <a:rPr lang="en-US" sz="2800" dirty="0"/>
                <a:t>11</a:t>
              </a:r>
            </a:p>
          </p:txBody>
        </p:sp>
        <p:sp>
          <p:nvSpPr>
            <p:cNvPr id="19" name="Left Brace 18">
              <a:extLst>
                <a:ext uri="{FF2B5EF4-FFF2-40B4-BE49-F238E27FC236}">
                  <a16:creationId xmlns:a16="http://schemas.microsoft.com/office/drawing/2014/main" id="{B754F584-A0F6-A348-A99F-6B7E994EF4D8}"/>
                </a:ext>
              </a:extLst>
            </p:cNvPr>
            <p:cNvSpPr/>
            <p:nvPr/>
          </p:nvSpPr>
          <p:spPr>
            <a:xfrm>
              <a:off x="6710814" y="2575336"/>
              <a:ext cx="510363" cy="1181090"/>
            </a:xfrm>
            <a:prstGeom prst="leftBrace">
              <a:avLst>
                <a:gd name="adj1" fmla="val 21906"/>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C9F7F230-F3BE-D34A-A122-667520241797}"/>
              </a:ext>
            </a:extLst>
          </p:cNvPr>
          <p:cNvGrpSpPr/>
          <p:nvPr/>
        </p:nvGrpSpPr>
        <p:grpSpPr>
          <a:xfrm>
            <a:off x="544637" y="3989711"/>
            <a:ext cx="7305231" cy="1202053"/>
            <a:chOff x="544637" y="3989711"/>
            <a:chExt cx="7305231" cy="1202053"/>
          </a:xfrm>
        </p:grpSpPr>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DB29F49A-756C-EA49-860E-60E4D38CD0D0}"/>
                    </a:ext>
                  </a:extLst>
                </p:cNvPr>
                <p:cNvSpPr/>
                <p:nvPr/>
              </p:nvSpPr>
              <p:spPr>
                <a:xfrm>
                  <a:off x="544637" y="4184950"/>
                  <a:ext cx="4431662" cy="100681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rgbClr val="002060"/>
                                </a:solidFill>
                                <a:latin typeface="Cambria Math" panose="02040503050406030204" pitchFamily="18" charset="0"/>
                                <a:ea typeface="Cambria Math" panose="02040503050406030204" pitchFamily="18" charset="0"/>
                              </a:rPr>
                            </m:ctrlPr>
                          </m:dPr>
                          <m:e>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m:t>
                                </m:r>
                                <m:sSup>
                                  <m:sSupPr>
                                    <m:ctrlPr>
                                      <a:rPr lang="en-US" sz="2800" i="1">
                                        <a:solidFill>
                                          <a:srgbClr val="002060"/>
                                        </a:solidFill>
                                        <a:latin typeface="Cambria Math" panose="02040503050406030204" pitchFamily="18" charset="0"/>
                                        <a:ea typeface="Cambria Math" panose="02040503050406030204" pitchFamily="18" charset="0"/>
                                      </a:rPr>
                                    </m:ctrlPr>
                                  </m:sSupPr>
                                  <m:e>
                                    <m:r>
                                      <m:rPr>
                                        <m:sty m:val="p"/>
                                      </m:rPr>
                                      <a:rPr lang="el-GR" sz="2800" i="1" smtClean="0">
                                        <a:solidFill>
                                          <a:srgbClr val="002060"/>
                                        </a:solidFill>
                                        <a:latin typeface="Cambria Math" panose="02040503050406030204" pitchFamily="18" charset="0"/>
                                        <a:ea typeface="Cambria Math" panose="02040503050406030204" pitchFamily="18" charset="0"/>
                                      </a:rPr>
                                      <m:t>Ψ</m:t>
                                    </m:r>
                                  </m:e>
                                  <m:sup>
                                    <m:r>
                                      <a:rPr lang="sr-Latn-RS" sz="2800" b="0" i="1" smtClean="0">
                                        <a:solidFill>
                                          <a:srgbClr val="002060"/>
                                        </a:solidFill>
                                        <a:latin typeface="Cambria Math" panose="02040503050406030204" pitchFamily="18" charset="0"/>
                                        <a:ea typeface="Cambria Math" panose="02040503050406030204" pitchFamily="18" charset="0"/>
                                      </a:rPr>
                                      <m:t>+</m:t>
                                    </m:r>
                                  </m:sup>
                                </m:sSup>
                              </m:e>
                            </m:d>
                            <m:r>
                              <a:rPr lang="sr-Latn-RS" sz="2800" i="1">
                                <a:solidFill>
                                  <a:srgbClr val="002060"/>
                                </a:solidFill>
                                <a:latin typeface="Cambria Math" panose="02040503050406030204" pitchFamily="18" charset="0"/>
                                <a:ea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m:t>
                            </m:r>
                            <m:sSub>
                              <m:sSubPr>
                                <m:ctrlPr>
                                  <a:rPr lang="en-US" sz="2800" i="1">
                                    <a:solidFill>
                                      <a:srgbClr val="002060"/>
                                    </a:solidFill>
                                    <a:latin typeface="Cambria Math" panose="02040503050406030204" pitchFamily="18" charset="0"/>
                                    <a:ea typeface="Cambria Math" panose="02040503050406030204" pitchFamily="18" charset="0"/>
                                  </a:rPr>
                                </m:ctrlPr>
                              </m:sSubPr>
                              <m:e>
                                <m:r>
                                  <a:rPr lang="en-US" sz="2800" i="1">
                                    <a:solidFill>
                                      <a:srgbClr val="002060"/>
                                    </a:solidFill>
                                    <a:latin typeface="Cambria Math" panose="02040503050406030204" pitchFamily="18" charset="0"/>
                                    <a:ea typeface="Cambria Math" panose="02040503050406030204" pitchFamily="18" charset="0"/>
                                  </a:rPr>
                                  <m:t>𝐵</m:t>
                                </m:r>
                              </m:e>
                              <m:sub>
                                <m:r>
                                  <a:rPr lang="en-US" sz="2800" i="1">
                                    <a:solidFill>
                                      <a:srgbClr val="002060"/>
                                    </a:solidFill>
                                    <a:latin typeface="Cambria Math" panose="02040503050406030204" pitchFamily="18" charset="0"/>
                                    <a:ea typeface="Cambria Math" panose="02040503050406030204" pitchFamily="18" charset="0"/>
                                  </a:rPr>
                                  <m:t>0</m:t>
                                </m:r>
                                <m:r>
                                  <a:rPr lang="en-US" sz="2800" b="0" i="1" smtClean="0">
                                    <a:solidFill>
                                      <a:srgbClr val="002060"/>
                                    </a:solidFill>
                                    <a:latin typeface="Cambria Math" panose="02040503050406030204" pitchFamily="18" charset="0"/>
                                    <a:ea typeface="Cambria Math" panose="02040503050406030204" pitchFamily="18" charset="0"/>
                                  </a:rPr>
                                  <m:t>1</m:t>
                                </m:r>
                              </m:sub>
                            </m:sSub>
                          </m:e>
                        </m:d>
                        <m:r>
                          <a:rPr lang="en-US" sz="2800" b="0" i="1" smtClean="0">
                            <a:solidFill>
                              <a:srgbClr val="002060"/>
                            </a:solidFill>
                            <a:latin typeface="Cambria Math" panose="02040503050406030204" pitchFamily="18" charset="0"/>
                            <a:ea typeface="Cambria Math" panose="02040503050406030204" pitchFamily="18" charset="0"/>
                          </a:rPr>
                          <m:t>=</m:t>
                        </m:r>
                        <m:f>
                          <m:fPr>
                            <m:ctrlPr>
                              <a:rPr lang="en-US" sz="28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|0</m:t>
                                </m:r>
                                <m:r>
                                  <a:rPr lang="en-US" sz="2800" b="0" i="1" smtClean="0">
                                    <a:solidFill>
                                      <a:srgbClr val="002060"/>
                                    </a:solidFill>
                                    <a:latin typeface="Cambria Math" panose="02040503050406030204" pitchFamily="18" charset="0"/>
                                    <a:ea typeface="Cambria Math" panose="02040503050406030204" pitchFamily="18" charset="0"/>
                                  </a:rPr>
                                  <m:t>1</m:t>
                                </m:r>
                              </m:e>
                            </m:d>
                            <m:r>
                              <a:rPr lang="en-US" sz="28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m:t>
                                </m:r>
                                <m:r>
                                  <a:rPr lang="en-US" sz="2800" b="0" i="1" smtClean="0">
                                    <a:solidFill>
                                      <a:srgbClr val="002060"/>
                                    </a:solidFill>
                                    <a:latin typeface="Cambria Math" panose="02040503050406030204" pitchFamily="18" charset="0"/>
                                    <a:ea typeface="Cambria Math" panose="02040503050406030204" pitchFamily="18" charset="0"/>
                                  </a:rPr>
                                  <m:t>10</m:t>
                                </m:r>
                              </m:e>
                            </m:d>
                          </m:num>
                          <m:den>
                            <m:rad>
                              <m:radPr>
                                <m:degHide m:val="on"/>
                                <m:ctrlPr>
                                  <a:rPr lang="en-US" sz="2800" i="1">
                                    <a:solidFill>
                                      <a:srgbClr val="002060"/>
                                    </a:solidFill>
                                    <a:latin typeface="Cambria Math" panose="02040503050406030204" pitchFamily="18" charset="0"/>
                                    <a:ea typeface="Cambria Math" panose="02040503050406030204" pitchFamily="18" charset="0"/>
                                  </a:rPr>
                                </m:ctrlPr>
                              </m:radPr>
                              <m:deg/>
                              <m:e>
                                <m:r>
                                  <a:rPr lang="en-US" sz="2800" i="1">
                                    <a:solidFill>
                                      <a:srgbClr val="002060"/>
                                    </a:solidFill>
                                    <a:latin typeface="Cambria Math" panose="02040503050406030204" pitchFamily="18" charset="0"/>
                                    <a:ea typeface="Cambria Math" panose="02040503050406030204" pitchFamily="18" charset="0"/>
                                  </a:rPr>
                                  <m:t>2</m:t>
                                </m:r>
                              </m:e>
                            </m:rad>
                          </m:den>
                        </m:f>
                      </m:oMath>
                    </m:oMathPara>
                  </a14:m>
                  <a:endParaRPr lang="en-US" sz="2800" dirty="0"/>
                </a:p>
              </p:txBody>
            </p:sp>
          </mc:Choice>
          <mc:Fallback xmlns="">
            <p:sp>
              <p:nvSpPr>
                <p:cNvPr id="12" name="Rectangle 11">
                  <a:extLst>
                    <a:ext uri="{FF2B5EF4-FFF2-40B4-BE49-F238E27FC236}">
                      <a16:creationId xmlns:a16="http://schemas.microsoft.com/office/drawing/2014/main" id="{DB29F49A-756C-EA49-860E-60E4D38CD0D0}"/>
                    </a:ext>
                  </a:extLst>
                </p:cNvPr>
                <p:cNvSpPr>
                  <a:spLocks noRot="1" noChangeAspect="1" noMove="1" noResize="1" noEditPoints="1" noAdjustHandles="1" noChangeArrowheads="1" noChangeShapeType="1" noTextEdit="1"/>
                </p:cNvSpPr>
                <p:nvPr/>
              </p:nvSpPr>
              <p:spPr>
                <a:xfrm>
                  <a:off x="544637" y="4184950"/>
                  <a:ext cx="4431662" cy="1006814"/>
                </a:xfrm>
                <a:prstGeom prst="rect">
                  <a:avLst/>
                </a:prstGeom>
                <a:blipFill>
                  <a:blip r:embed="rId5"/>
                  <a:stretch>
                    <a:fillRect l="-286" t="-76250" r="-8286" b="-122500"/>
                  </a:stretch>
                </a:blipFill>
              </p:spPr>
              <p:txBody>
                <a:bodyPr/>
                <a:lstStyle/>
                <a:p>
                  <a:r>
                    <a:rPr lang="en-US">
                      <a:noFill/>
                    </a:rPr>
                    <a:t> </a:t>
                  </a:r>
                </a:p>
              </p:txBody>
            </p:sp>
          </mc:Fallback>
        </mc:AlternateContent>
        <p:grpSp>
          <p:nvGrpSpPr>
            <p:cNvPr id="20" name="Group 19">
              <a:extLst>
                <a:ext uri="{FF2B5EF4-FFF2-40B4-BE49-F238E27FC236}">
                  <a16:creationId xmlns:a16="http://schemas.microsoft.com/office/drawing/2014/main" id="{A798CBD1-1336-3B4D-BAE3-207841D3874A}"/>
                </a:ext>
              </a:extLst>
            </p:cNvPr>
            <p:cNvGrpSpPr>
              <a:grpSpLocks noChangeAspect="1"/>
            </p:cNvGrpSpPr>
            <p:nvPr/>
          </p:nvGrpSpPr>
          <p:grpSpPr>
            <a:xfrm>
              <a:off x="5380022" y="4181161"/>
              <a:ext cx="823310" cy="895414"/>
              <a:chOff x="8902649" y="1353231"/>
              <a:chExt cx="720000" cy="807700"/>
            </a:xfrm>
          </p:grpSpPr>
          <p:sp>
            <p:nvSpPr>
              <p:cNvPr id="21" name="Rectangle 20">
                <a:extLst>
                  <a:ext uri="{FF2B5EF4-FFF2-40B4-BE49-F238E27FC236}">
                    <a16:creationId xmlns:a16="http://schemas.microsoft.com/office/drawing/2014/main" id="{8A568683-5E16-A147-932B-05E4E8AB85B7}"/>
                  </a:ext>
                </a:extLst>
              </p:cNvPr>
              <p:cNvSpPr/>
              <p:nvPr/>
            </p:nvSpPr>
            <p:spPr>
              <a:xfrm>
                <a:off x="8902649" y="1353231"/>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22" name="Arc 21">
                <a:extLst>
                  <a:ext uri="{FF2B5EF4-FFF2-40B4-BE49-F238E27FC236}">
                    <a16:creationId xmlns:a16="http://schemas.microsoft.com/office/drawing/2014/main" id="{8D0C85A6-4136-3440-A6CC-7A149E3E9234}"/>
                  </a:ext>
                </a:extLst>
              </p:cNvPr>
              <p:cNvSpPr/>
              <p:nvPr/>
            </p:nvSpPr>
            <p:spPr>
              <a:xfrm>
                <a:off x="9008649" y="1636523"/>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15960C51-396D-E448-B5CD-AE2AD3386E20}"/>
                  </a:ext>
                </a:extLst>
              </p:cNvPr>
              <p:cNvCxnSpPr>
                <a:cxnSpLocks/>
              </p:cNvCxnSpPr>
              <p:nvPr/>
            </p:nvCxnSpPr>
            <p:spPr>
              <a:xfrm flipV="1">
                <a:off x="9262649" y="1527175"/>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a16="http://schemas.microsoft.com/office/drawing/2014/main" id="{FAB982CE-AD34-FD4D-8212-1E244A2E78CA}"/>
                </a:ext>
              </a:extLst>
            </p:cNvPr>
            <p:cNvSpPr txBox="1"/>
            <p:nvPr/>
          </p:nvSpPr>
          <p:spPr>
            <a:xfrm>
              <a:off x="7299717" y="4096114"/>
              <a:ext cx="550151" cy="954107"/>
            </a:xfrm>
            <a:prstGeom prst="rect">
              <a:avLst/>
            </a:prstGeom>
            <a:noFill/>
          </p:spPr>
          <p:txBody>
            <a:bodyPr wrap="none" rtlCol="0">
              <a:spAutoFit/>
            </a:bodyPr>
            <a:lstStyle/>
            <a:p>
              <a:r>
                <a:rPr lang="en-US" sz="2800" dirty="0"/>
                <a:t>01</a:t>
              </a:r>
            </a:p>
            <a:p>
              <a:r>
                <a:rPr lang="en-US" sz="2800" dirty="0"/>
                <a:t>10</a:t>
              </a:r>
            </a:p>
          </p:txBody>
        </p:sp>
        <p:sp>
          <p:nvSpPr>
            <p:cNvPr id="25" name="Left Brace 24">
              <a:extLst>
                <a:ext uri="{FF2B5EF4-FFF2-40B4-BE49-F238E27FC236}">
                  <a16:creationId xmlns:a16="http://schemas.microsoft.com/office/drawing/2014/main" id="{8B4B6176-17EA-B342-B9E9-E8EED06C3A3A}"/>
                </a:ext>
              </a:extLst>
            </p:cNvPr>
            <p:cNvSpPr/>
            <p:nvPr/>
          </p:nvSpPr>
          <p:spPr>
            <a:xfrm>
              <a:off x="6710814" y="3989711"/>
              <a:ext cx="510363" cy="1181090"/>
            </a:xfrm>
            <a:prstGeom prst="leftBrace">
              <a:avLst>
                <a:gd name="adj1" fmla="val 21906"/>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6CE2D372-FA63-2B49-AEFA-3F4374B27A52}"/>
              </a:ext>
            </a:extLst>
          </p:cNvPr>
          <p:cNvGrpSpPr/>
          <p:nvPr/>
        </p:nvGrpSpPr>
        <p:grpSpPr>
          <a:xfrm>
            <a:off x="544637" y="5537853"/>
            <a:ext cx="7305231" cy="1181090"/>
            <a:chOff x="544637" y="5537853"/>
            <a:chExt cx="7305231" cy="1181090"/>
          </a:xfrm>
        </p:grpSpPr>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C175DB53-9635-2641-A4AF-E222247E8D99}"/>
                    </a:ext>
                  </a:extLst>
                </p:cNvPr>
                <p:cNvSpPr/>
                <p:nvPr/>
              </p:nvSpPr>
              <p:spPr>
                <a:xfrm>
                  <a:off x="544637" y="5675024"/>
                  <a:ext cx="4423390" cy="100681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rgbClr val="002060"/>
                                </a:solidFill>
                                <a:latin typeface="Cambria Math" panose="02040503050406030204" pitchFamily="18" charset="0"/>
                                <a:ea typeface="Cambria Math" panose="02040503050406030204" pitchFamily="18" charset="0"/>
                              </a:rPr>
                            </m:ctrlPr>
                          </m:dPr>
                          <m:e>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m:t>
                                </m:r>
                                <m:sSup>
                                  <m:sSupPr>
                                    <m:ctrlPr>
                                      <a:rPr lang="en-US" sz="2800" i="1">
                                        <a:solidFill>
                                          <a:srgbClr val="002060"/>
                                        </a:solidFill>
                                        <a:latin typeface="Cambria Math" panose="02040503050406030204" pitchFamily="18" charset="0"/>
                                        <a:ea typeface="Cambria Math" panose="02040503050406030204" pitchFamily="18" charset="0"/>
                                      </a:rPr>
                                    </m:ctrlPr>
                                  </m:sSupPr>
                                  <m:e>
                                    <m:r>
                                      <m:rPr>
                                        <m:sty m:val="p"/>
                                      </m:rPr>
                                      <a:rPr lang="el-GR" sz="2800" i="1">
                                        <a:solidFill>
                                          <a:srgbClr val="002060"/>
                                        </a:solidFill>
                                        <a:latin typeface="Cambria Math" panose="02040503050406030204" pitchFamily="18" charset="0"/>
                                        <a:ea typeface="Cambria Math" panose="02040503050406030204" pitchFamily="18" charset="0"/>
                                      </a:rPr>
                                      <m:t>Ψ</m:t>
                                    </m:r>
                                  </m:e>
                                  <m:sup>
                                    <m:r>
                                      <a:rPr lang="sr-Latn-RS" sz="2800" i="1">
                                        <a:solidFill>
                                          <a:srgbClr val="002060"/>
                                        </a:solidFill>
                                        <a:latin typeface="Cambria Math" panose="02040503050406030204" pitchFamily="18" charset="0"/>
                                        <a:ea typeface="Cambria Math" panose="02040503050406030204" pitchFamily="18" charset="0"/>
                                      </a:rPr>
                                      <m:t>−</m:t>
                                    </m:r>
                                  </m:sup>
                                </m:sSup>
                              </m:e>
                            </m:d>
                            <m:r>
                              <a:rPr lang="sr-Latn-RS" sz="2800" i="1">
                                <a:solidFill>
                                  <a:srgbClr val="002060"/>
                                </a:solidFill>
                                <a:latin typeface="Cambria Math" panose="02040503050406030204" pitchFamily="18" charset="0"/>
                                <a:ea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m:t>
                            </m:r>
                            <m:sSub>
                              <m:sSubPr>
                                <m:ctrlPr>
                                  <a:rPr lang="en-US" sz="2800" i="1">
                                    <a:solidFill>
                                      <a:srgbClr val="002060"/>
                                    </a:solidFill>
                                    <a:latin typeface="Cambria Math" panose="02040503050406030204" pitchFamily="18" charset="0"/>
                                    <a:ea typeface="Cambria Math" panose="02040503050406030204" pitchFamily="18" charset="0"/>
                                  </a:rPr>
                                </m:ctrlPr>
                              </m:sSubPr>
                              <m:e>
                                <m:r>
                                  <a:rPr lang="en-US" sz="2800" i="1">
                                    <a:solidFill>
                                      <a:srgbClr val="002060"/>
                                    </a:solidFill>
                                    <a:latin typeface="Cambria Math" panose="02040503050406030204" pitchFamily="18" charset="0"/>
                                    <a:ea typeface="Cambria Math" panose="02040503050406030204" pitchFamily="18" charset="0"/>
                                  </a:rPr>
                                  <m:t>𝐵</m:t>
                                </m:r>
                              </m:e>
                              <m:sub>
                                <m:r>
                                  <a:rPr lang="en-US" sz="2800" b="0" i="1" smtClean="0">
                                    <a:solidFill>
                                      <a:srgbClr val="002060"/>
                                    </a:solidFill>
                                    <a:latin typeface="Cambria Math" panose="02040503050406030204" pitchFamily="18" charset="0"/>
                                    <a:ea typeface="Cambria Math" panose="02040503050406030204" pitchFamily="18" charset="0"/>
                                  </a:rPr>
                                  <m:t>11</m:t>
                                </m:r>
                              </m:sub>
                            </m:sSub>
                          </m:e>
                        </m:d>
                        <m:r>
                          <a:rPr lang="en-US" sz="2800" b="0" i="1" smtClean="0">
                            <a:solidFill>
                              <a:srgbClr val="002060"/>
                            </a:solidFill>
                            <a:latin typeface="Cambria Math" panose="02040503050406030204" pitchFamily="18" charset="0"/>
                            <a:ea typeface="Cambria Math" panose="02040503050406030204" pitchFamily="18" charset="0"/>
                          </a:rPr>
                          <m:t>=</m:t>
                        </m:r>
                        <m:f>
                          <m:fPr>
                            <m:ctrlPr>
                              <a:rPr lang="en-US" sz="28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|0</m:t>
                                </m:r>
                                <m:r>
                                  <a:rPr lang="en-US" sz="2800" b="0" i="1" smtClean="0">
                                    <a:solidFill>
                                      <a:srgbClr val="002060"/>
                                    </a:solidFill>
                                    <a:latin typeface="Cambria Math" panose="02040503050406030204" pitchFamily="18" charset="0"/>
                                    <a:ea typeface="Cambria Math" panose="02040503050406030204" pitchFamily="18" charset="0"/>
                                  </a:rPr>
                                  <m:t>1</m:t>
                                </m:r>
                              </m:e>
                            </m:d>
                            <m:r>
                              <a:rPr lang="en-US" sz="28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m:t>
                                </m:r>
                                <m:r>
                                  <a:rPr lang="en-US" sz="2800" b="0" i="1" smtClean="0">
                                    <a:solidFill>
                                      <a:srgbClr val="002060"/>
                                    </a:solidFill>
                                    <a:latin typeface="Cambria Math" panose="02040503050406030204" pitchFamily="18" charset="0"/>
                                    <a:ea typeface="Cambria Math" panose="02040503050406030204" pitchFamily="18" charset="0"/>
                                  </a:rPr>
                                  <m:t>10</m:t>
                                </m:r>
                              </m:e>
                            </m:d>
                          </m:num>
                          <m:den>
                            <m:rad>
                              <m:radPr>
                                <m:degHide m:val="on"/>
                                <m:ctrlPr>
                                  <a:rPr lang="en-US" sz="2800" i="1">
                                    <a:solidFill>
                                      <a:srgbClr val="002060"/>
                                    </a:solidFill>
                                    <a:latin typeface="Cambria Math" panose="02040503050406030204" pitchFamily="18" charset="0"/>
                                    <a:ea typeface="Cambria Math" panose="02040503050406030204" pitchFamily="18" charset="0"/>
                                  </a:rPr>
                                </m:ctrlPr>
                              </m:radPr>
                              <m:deg/>
                              <m:e>
                                <m:r>
                                  <a:rPr lang="en-US" sz="2800" i="1">
                                    <a:solidFill>
                                      <a:srgbClr val="002060"/>
                                    </a:solidFill>
                                    <a:latin typeface="Cambria Math" panose="02040503050406030204" pitchFamily="18" charset="0"/>
                                    <a:ea typeface="Cambria Math" panose="02040503050406030204" pitchFamily="18" charset="0"/>
                                  </a:rPr>
                                  <m:t>2</m:t>
                                </m:r>
                              </m:e>
                            </m:rad>
                          </m:den>
                        </m:f>
                      </m:oMath>
                    </m:oMathPara>
                  </a14:m>
                  <a:endParaRPr lang="en-US" sz="2800" dirty="0"/>
                </a:p>
              </p:txBody>
            </p:sp>
          </mc:Choice>
          <mc:Fallback xmlns="">
            <p:sp>
              <p:nvSpPr>
                <p:cNvPr id="13" name="Rectangle 12">
                  <a:extLst>
                    <a:ext uri="{FF2B5EF4-FFF2-40B4-BE49-F238E27FC236}">
                      <a16:creationId xmlns:a16="http://schemas.microsoft.com/office/drawing/2014/main" id="{C175DB53-9635-2641-A4AF-E222247E8D99}"/>
                    </a:ext>
                  </a:extLst>
                </p:cNvPr>
                <p:cNvSpPr>
                  <a:spLocks noRot="1" noChangeAspect="1" noMove="1" noResize="1" noEditPoints="1" noAdjustHandles="1" noChangeArrowheads="1" noChangeShapeType="1" noTextEdit="1"/>
                </p:cNvSpPr>
                <p:nvPr/>
              </p:nvSpPr>
              <p:spPr>
                <a:xfrm>
                  <a:off x="544637" y="5675024"/>
                  <a:ext cx="4423390" cy="1006814"/>
                </a:xfrm>
                <a:prstGeom prst="rect">
                  <a:avLst/>
                </a:prstGeom>
                <a:blipFill>
                  <a:blip r:embed="rId6"/>
                  <a:stretch>
                    <a:fillRect l="-287" t="-75000" r="-8596" b="-122500"/>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87155CB4-D996-5849-8119-DFE35162BBDB}"/>
                </a:ext>
              </a:extLst>
            </p:cNvPr>
            <p:cNvGrpSpPr>
              <a:grpSpLocks noChangeAspect="1"/>
            </p:cNvGrpSpPr>
            <p:nvPr/>
          </p:nvGrpSpPr>
          <p:grpSpPr>
            <a:xfrm>
              <a:off x="5380022" y="5729303"/>
              <a:ext cx="823310" cy="895414"/>
              <a:chOff x="8902649" y="1353231"/>
              <a:chExt cx="720000" cy="807700"/>
            </a:xfrm>
          </p:grpSpPr>
          <p:sp>
            <p:nvSpPr>
              <p:cNvPr id="27" name="Rectangle 26">
                <a:extLst>
                  <a:ext uri="{FF2B5EF4-FFF2-40B4-BE49-F238E27FC236}">
                    <a16:creationId xmlns:a16="http://schemas.microsoft.com/office/drawing/2014/main" id="{7F98C0E0-EC74-2149-A097-70E55132137D}"/>
                  </a:ext>
                </a:extLst>
              </p:cNvPr>
              <p:cNvSpPr/>
              <p:nvPr/>
            </p:nvSpPr>
            <p:spPr>
              <a:xfrm>
                <a:off x="8902649" y="1353231"/>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28" name="Arc 27">
                <a:extLst>
                  <a:ext uri="{FF2B5EF4-FFF2-40B4-BE49-F238E27FC236}">
                    <a16:creationId xmlns:a16="http://schemas.microsoft.com/office/drawing/2014/main" id="{10C9528B-0726-A146-B798-E96C1ED1E376}"/>
                  </a:ext>
                </a:extLst>
              </p:cNvPr>
              <p:cNvSpPr/>
              <p:nvPr/>
            </p:nvSpPr>
            <p:spPr>
              <a:xfrm>
                <a:off x="9008649" y="1636523"/>
                <a:ext cx="508000" cy="524408"/>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50F3789B-C95D-3046-BD0C-264BA0F99E5F}"/>
                  </a:ext>
                </a:extLst>
              </p:cNvPr>
              <p:cNvCxnSpPr>
                <a:cxnSpLocks/>
              </p:cNvCxnSpPr>
              <p:nvPr/>
            </p:nvCxnSpPr>
            <p:spPr>
              <a:xfrm flipV="1">
                <a:off x="9262649" y="1527175"/>
                <a:ext cx="129001" cy="369690"/>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sp>
          <p:nvSpPr>
            <p:cNvPr id="30" name="TextBox 29">
              <a:extLst>
                <a:ext uri="{FF2B5EF4-FFF2-40B4-BE49-F238E27FC236}">
                  <a16:creationId xmlns:a16="http://schemas.microsoft.com/office/drawing/2014/main" id="{A5C145F3-1F7B-3342-877E-912666AD6985}"/>
                </a:ext>
              </a:extLst>
            </p:cNvPr>
            <p:cNvSpPr txBox="1"/>
            <p:nvPr/>
          </p:nvSpPr>
          <p:spPr>
            <a:xfrm>
              <a:off x="7299717" y="5644256"/>
              <a:ext cx="550151" cy="954107"/>
            </a:xfrm>
            <a:prstGeom prst="rect">
              <a:avLst/>
            </a:prstGeom>
            <a:noFill/>
          </p:spPr>
          <p:txBody>
            <a:bodyPr wrap="none" rtlCol="0">
              <a:spAutoFit/>
            </a:bodyPr>
            <a:lstStyle/>
            <a:p>
              <a:r>
                <a:rPr lang="en-US" sz="2800" dirty="0"/>
                <a:t>01</a:t>
              </a:r>
            </a:p>
            <a:p>
              <a:r>
                <a:rPr lang="en-US" sz="2800" dirty="0"/>
                <a:t>10</a:t>
              </a:r>
            </a:p>
          </p:txBody>
        </p:sp>
        <p:sp>
          <p:nvSpPr>
            <p:cNvPr id="31" name="Left Brace 30">
              <a:extLst>
                <a:ext uri="{FF2B5EF4-FFF2-40B4-BE49-F238E27FC236}">
                  <a16:creationId xmlns:a16="http://schemas.microsoft.com/office/drawing/2014/main" id="{F4B33B9D-91E8-6447-AB52-2919A7296C0F}"/>
                </a:ext>
              </a:extLst>
            </p:cNvPr>
            <p:cNvSpPr/>
            <p:nvPr/>
          </p:nvSpPr>
          <p:spPr>
            <a:xfrm>
              <a:off x="6710814" y="5537853"/>
              <a:ext cx="510363" cy="1181090"/>
            </a:xfrm>
            <a:prstGeom prst="leftBrace">
              <a:avLst>
                <a:gd name="adj1" fmla="val 21906"/>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1124434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dissolve">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dissolve">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dissolve">
                                      <p:cBhvr>
                                        <p:cTn id="1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9" name="Straight Connector 68">
            <a:extLst>
              <a:ext uri="{FF2B5EF4-FFF2-40B4-BE49-F238E27FC236}">
                <a16:creationId xmlns:a16="http://schemas.microsoft.com/office/drawing/2014/main" id="{BFD98772-EBD1-0044-B761-51CBA8275A52}"/>
              </a:ext>
            </a:extLst>
          </p:cNvPr>
          <p:cNvCxnSpPr>
            <a:cxnSpLocks/>
          </p:cNvCxnSpPr>
          <p:nvPr/>
        </p:nvCxnSpPr>
        <p:spPr>
          <a:xfrm flipV="1">
            <a:off x="812310" y="3350451"/>
            <a:ext cx="9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BC588EBF-A04A-BA4B-909E-6011B8F8F0DB}"/>
              </a:ext>
            </a:extLst>
          </p:cNvPr>
          <p:cNvCxnSpPr>
            <a:cxnSpLocks/>
          </p:cNvCxnSpPr>
          <p:nvPr/>
        </p:nvCxnSpPr>
        <p:spPr>
          <a:xfrm flipV="1">
            <a:off x="812309" y="2189400"/>
            <a:ext cx="9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F0A1CFD2-E542-D440-A8C0-1FDD5CEEC179}"/>
              </a:ext>
            </a:extLst>
          </p:cNvPr>
          <p:cNvSpPr>
            <a:spLocks noGrp="1"/>
          </p:cNvSpPr>
          <p:nvPr>
            <p:ph type="sldNum" sz="quarter" idx="12"/>
          </p:nvPr>
        </p:nvSpPr>
        <p:spPr/>
        <p:txBody>
          <a:bodyPr/>
          <a:lstStyle/>
          <a:p>
            <a:fld id="{591A223C-FA10-BC46-A853-03BA373D023C}" type="slidenum">
              <a:rPr lang="en-US" smtClean="0"/>
              <a:t>38</a:t>
            </a:fld>
            <a:endParaRPr lang="en-US"/>
          </a:p>
        </p:txBody>
      </p:sp>
      <p:sp>
        <p:nvSpPr>
          <p:cNvPr id="2" name="Title 1">
            <a:extLst>
              <a:ext uri="{FF2B5EF4-FFF2-40B4-BE49-F238E27FC236}">
                <a16:creationId xmlns:a16="http://schemas.microsoft.com/office/drawing/2014/main" id="{EA27D0B6-B58E-9040-BE00-C1A9E5267A95}"/>
              </a:ext>
            </a:extLst>
          </p:cNvPr>
          <p:cNvSpPr>
            <a:spLocks noGrp="1"/>
          </p:cNvSpPr>
          <p:nvPr>
            <p:ph type="title"/>
          </p:nvPr>
        </p:nvSpPr>
        <p:spPr/>
        <p:txBody>
          <a:bodyPr/>
          <a:lstStyle/>
          <a:p>
            <a:r>
              <a:rPr lang="en-ZA" dirty="0"/>
              <a:t>Measurement in the Bell basis</a:t>
            </a:r>
            <a:endParaRPr lang="en-ZA" b="1" dirty="0"/>
          </a:p>
        </p:txBody>
      </p:sp>
      <p:sp>
        <p:nvSpPr>
          <p:cNvPr id="71" name="Rectangle 70">
            <a:extLst>
              <a:ext uri="{FF2B5EF4-FFF2-40B4-BE49-F238E27FC236}">
                <a16:creationId xmlns:a16="http://schemas.microsoft.com/office/drawing/2014/main" id="{83505452-20AA-9241-8E43-8C5DECC2C924}"/>
              </a:ext>
            </a:extLst>
          </p:cNvPr>
          <p:cNvSpPr>
            <a:spLocks/>
          </p:cNvSpPr>
          <p:nvPr/>
        </p:nvSpPr>
        <p:spPr>
          <a:xfrm>
            <a:off x="1586767" y="1843897"/>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pitchFamily="2" charset="0"/>
              </a:rPr>
              <a:t>H</a:t>
            </a:r>
          </a:p>
        </p:txBody>
      </p:sp>
      <p:cxnSp>
        <p:nvCxnSpPr>
          <p:cNvPr id="72" name="Straight Connector 71">
            <a:extLst>
              <a:ext uri="{FF2B5EF4-FFF2-40B4-BE49-F238E27FC236}">
                <a16:creationId xmlns:a16="http://schemas.microsoft.com/office/drawing/2014/main" id="{1C4CCE4D-B031-654B-A3CF-8DDF35003E1E}"/>
              </a:ext>
            </a:extLst>
          </p:cNvPr>
          <p:cNvCxnSpPr>
            <a:cxnSpLocks/>
            <a:stCxn id="78" idx="0"/>
          </p:cNvCxnSpPr>
          <p:nvPr/>
        </p:nvCxnSpPr>
        <p:spPr>
          <a:xfrm flipV="1">
            <a:off x="3243645" y="2305207"/>
            <a:ext cx="0" cy="77524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Oval 72">
            <a:extLst>
              <a:ext uri="{FF2B5EF4-FFF2-40B4-BE49-F238E27FC236}">
                <a16:creationId xmlns:a16="http://schemas.microsoft.com/office/drawing/2014/main" id="{A59FDC73-F9EF-F549-A8D6-ABEA509E67CA}"/>
              </a:ext>
            </a:extLst>
          </p:cNvPr>
          <p:cNvSpPr/>
          <p:nvPr/>
        </p:nvSpPr>
        <p:spPr>
          <a:xfrm>
            <a:off x="3119222" y="2064510"/>
            <a:ext cx="251999" cy="251999"/>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4" name="Rectangle 73">
                <a:extLst>
                  <a:ext uri="{FF2B5EF4-FFF2-40B4-BE49-F238E27FC236}">
                    <a16:creationId xmlns:a16="http://schemas.microsoft.com/office/drawing/2014/main" id="{A75AA068-92C5-8642-9E14-74CCB56CFB59}"/>
                  </a:ext>
                </a:extLst>
              </p:cNvPr>
              <p:cNvSpPr/>
              <p:nvPr/>
            </p:nvSpPr>
            <p:spPr>
              <a:xfrm>
                <a:off x="389389" y="1727735"/>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74" name="Rectangle 73">
                <a:extLst>
                  <a:ext uri="{FF2B5EF4-FFF2-40B4-BE49-F238E27FC236}">
                    <a16:creationId xmlns:a16="http://schemas.microsoft.com/office/drawing/2014/main" id="{A75AA068-92C5-8642-9E14-74CCB56CFB59}"/>
                  </a:ext>
                </a:extLst>
              </p:cNvPr>
              <p:cNvSpPr>
                <a:spLocks noRot="1" noChangeAspect="1" noMove="1" noResize="1" noEditPoints="1" noAdjustHandles="1" noChangeArrowheads="1" noChangeShapeType="1" noTextEdit="1"/>
              </p:cNvSpPr>
              <p:nvPr/>
            </p:nvSpPr>
            <p:spPr>
              <a:xfrm>
                <a:off x="389389" y="1727735"/>
                <a:ext cx="631903" cy="461665"/>
              </a:xfrm>
              <a:prstGeom prst="rect">
                <a:avLst/>
              </a:prstGeom>
              <a:blipFill>
                <a:blip r:embed="rId4"/>
                <a:stretch>
                  <a:fillRect l="-26000" t="-124324" r="-5200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Rectangle 74">
                <a:extLst>
                  <a:ext uri="{FF2B5EF4-FFF2-40B4-BE49-F238E27FC236}">
                    <a16:creationId xmlns:a16="http://schemas.microsoft.com/office/drawing/2014/main" id="{7F0D6FB4-54AC-B248-89E0-B2B03C199708}"/>
                  </a:ext>
                </a:extLst>
              </p:cNvPr>
              <p:cNvSpPr/>
              <p:nvPr/>
            </p:nvSpPr>
            <p:spPr>
              <a:xfrm>
                <a:off x="389389" y="2933090"/>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75" name="Rectangle 74">
                <a:extLst>
                  <a:ext uri="{FF2B5EF4-FFF2-40B4-BE49-F238E27FC236}">
                    <a16:creationId xmlns:a16="http://schemas.microsoft.com/office/drawing/2014/main" id="{7F0D6FB4-54AC-B248-89E0-B2B03C199708}"/>
                  </a:ext>
                </a:extLst>
              </p:cNvPr>
              <p:cNvSpPr>
                <a:spLocks noRot="1" noChangeAspect="1" noMove="1" noResize="1" noEditPoints="1" noAdjustHandles="1" noChangeArrowheads="1" noChangeShapeType="1" noTextEdit="1"/>
              </p:cNvSpPr>
              <p:nvPr/>
            </p:nvSpPr>
            <p:spPr>
              <a:xfrm>
                <a:off x="389389" y="2933090"/>
                <a:ext cx="631903" cy="461665"/>
              </a:xfrm>
              <a:prstGeom prst="rect">
                <a:avLst/>
              </a:prstGeom>
              <a:blipFill>
                <a:blip r:embed="rId4"/>
                <a:stretch>
                  <a:fillRect l="-26000" t="-124324" r="-52000" b="-191892"/>
                </a:stretch>
              </a:blipFill>
            </p:spPr>
            <p:txBody>
              <a:bodyPr/>
              <a:lstStyle/>
              <a:p>
                <a:r>
                  <a:rPr lang="en-US">
                    <a:noFill/>
                  </a:rPr>
                  <a:t> </a:t>
                </a:r>
              </a:p>
            </p:txBody>
          </p:sp>
        </mc:Fallback>
      </mc:AlternateContent>
      <p:sp>
        <p:nvSpPr>
          <p:cNvPr id="78" name="Oval 77">
            <a:extLst>
              <a:ext uri="{FF2B5EF4-FFF2-40B4-BE49-F238E27FC236}">
                <a16:creationId xmlns:a16="http://schemas.microsoft.com/office/drawing/2014/main" id="{F40678E3-14AD-1848-A73F-F089E6006849}"/>
              </a:ext>
            </a:extLst>
          </p:cNvPr>
          <p:cNvSpPr/>
          <p:nvPr/>
        </p:nvSpPr>
        <p:spPr>
          <a:xfrm>
            <a:off x="2973645" y="3080451"/>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BA937FB0-8967-B445-AF35-FBEEFB9F71BE}"/>
                  </a:ext>
                </a:extLst>
              </p:cNvPr>
              <p:cNvSpPr/>
              <p:nvPr/>
            </p:nvSpPr>
            <p:spPr>
              <a:xfrm>
                <a:off x="3449557" y="2618786"/>
                <a:ext cx="92288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en-US" sz="2400" b="0" i="1" smtClean="0">
                                  <a:solidFill>
                                    <a:srgbClr val="002060"/>
                                  </a:solidFill>
                                  <a:latin typeface="Cambria Math" panose="02040503050406030204" pitchFamily="18" charset="0"/>
                                  <a:ea typeface="Cambria Math" panose="02040503050406030204" pitchFamily="18" charset="0"/>
                                </a:rPr>
                                <m:t>𝐵</m:t>
                              </m:r>
                            </m:e>
                            <m:sub>
                              <m:r>
                                <a:rPr lang="en-US" sz="2400" b="0" i="1" smtClean="0">
                                  <a:solidFill>
                                    <a:srgbClr val="002060"/>
                                  </a:solidFill>
                                  <a:latin typeface="Cambria Math" panose="02040503050406030204" pitchFamily="18" charset="0"/>
                                  <a:ea typeface="Cambria Math" panose="02040503050406030204" pitchFamily="18" charset="0"/>
                                </a:rPr>
                                <m:t>00</m:t>
                              </m:r>
                            </m:sub>
                          </m:sSub>
                        </m:e>
                      </m:d>
                    </m:oMath>
                  </m:oMathPara>
                </a14:m>
                <a:endParaRPr lang="en-US" sz="2400" dirty="0"/>
              </a:p>
            </p:txBody>
          </p:sp>
        </mc:Choice>
        <mc:Fallback xmlns="">
          <p:sp>
            <p:nvSpPr>
              <p:cNvPr id="57" name="Rectangle 56">
                <a:extLst>
                  <a:ext uri="{FF2B5EF4-FFF2-40B4-BE49-F238E27FC236}">
                    <a16:creationId xmlns:a16="http://schemas.microsoft.com/office/drawing/2014/main" id="{BA937FB0-8967-B445-AF35-FBEEFB9F71BE}"/>
                  </a:ext>
                </a:extLst>
              </p:cNvPr>
              <p:cNvSpPr>
                <a:spLocks noRot="1" noChangeAspect="1" noMove="1" noResize="1" noEditPoints="1" noAdjustHandles="1" noChangeArrowheads="1" noChangeShapeType="1" noTextEdit="1"/>
              </p:cNvSpPr>
              <p:nvPr/>
            </p:nvSpPr>
            <p:spPr>
              <a:xfrm>
                <a:off x="3449557" y="2618786"/>
                <a:ext cx="922880" cy="461665"/>
              </a:xfrm>
              <a:prstGeom prst="rect">
                <a:avLst/>
              </a:prstGeom>
              <a:blipFill>
                <a:blip r:embed="rId5"/>
                <a:stretch>
                  <a:fillRect l="-1370" t="-121053" r="-34247" b="-184211"/>
                </a:stretch>
              </a:blipFill>
            </p:spPr>
            <p:txBody>
              <a:bodyPr/>
              <a:lstStyle/>
              <a:p>
                <a:r>
                  <a:rPr lang="en-US">
                    <a:noFill/>
                  </a:rPr>
                  <a:t> </a:t>
                </a:r>
              </a:p>
            </p:txBody>
          </p:sp>
        </mc:Fallback>
      </mc:AlternateContent>
      <p:grpSp>
        <p:nvGrpSpPr>
          <p:cNvPr id="13" name="Group 12">
            <a:extLst>
              <a:ext uri="{FF2B5EF4-FFF2-40B4-BE49-F238E27FC236}">
                <a16:creationId xmlns:a16="http://schemas.microsoft.com/office/drawing/2014/main" id="{413975F8-2E5E-8847-ABAF-3E7056BF77C9}"/>
              </a:ext>
            </a:extLst>
          </p:cNvPr>
          <p:cNvGrpSpPr/>
          <p:nvPr/>
        </p:nvGrpSpPr>
        <p:grpSpPr>
          <a:xfrm>
            <a:off x="9366454" y="1830509"/>
            <a:ext cx="720000" cy="1885677"/>
            <a:chOff x="9366454" y="1830509"/>
            <a:chExt cx="720000" cy="1885677"/>
          </a:xfrm>
        </p:grpSpPr>
        <p:grpSp>
          <p:nvGrpSpPr>
            <p:cNvPr id="76" name="Group 75">
              <a:extLst>
                <a:ext uri="{FF2B5EF4-FFF2-40B4-BE49-F238E27FC236}">
                  <a16:creationId xmlns:a16="http://schemas.microsoft.com/office/drawing/2014/main" id="{86CB94CD-D8D4-A145-A720-EE7A5AA92F5D}"/>
                </a:ext>
              </a:extLst>
            </p:cNvPr>
            <p:cNvGrpSpPr/>
            <p:nvPr/>
          </p:nvGrpSpPr>
          <p:grpSpPr>
            <a:xfrm>
              <a:off x="9366454" y="1830509"/>
              <a:ext cx="720000" cy="720000"/>
              <a:chOff x="8665028" y="817674"/>
              <a:chExt cx="720000" cy="720000"/>
            </a:xfrm>
          </p:grpSpPr>
          <p:sp>
            <p:nvSpPr>
              <p:cNvPr id="77" name="Rectangle 76">
                <a:extLst>
                  <a:ext uri="{FF2B5EF4-FFF2-40B4-BE49-F238E27FC236}">
                    <a16:creationId xmlns:a16="http://schemas.microsoft.com/office/drawing/2014/main" id="{BB6970E5-3B2B-3646-8CF1-5DCF665ADB8E}"/>
                  </a:ext>
                </a:extLst>
              </p:cNvPr>
              <p:cNvSpPr/>
              <p:nvPr/>
            </p:nvSpPr>
            <p:spPr>
              <a:xfrm>
                <a:off x="8665028" y="817674"/>
                <a:ext cx="720000" cy="720000"/>
              </a:xfrm>
              <a:prstGeom prst="rect">
                <a:avLst/>
              </a:prstGeom>
              <a:solidFill>
                <a:schemeClr val="bg1">
                  <a:lumMod val="95000"/>
                </a:schemeClr>
              </a:solidFill>
              <a:ln w="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00" dirty="0">
                  <a:latin typeface="Times" pitchFamily="2" charset="0"/>
                </a:endParaRPr>
              </a:p>
            </p:txBody>
          </p:sp>
          <p:cxnSp>
            <p:nvCxnSpPr>
              <p:cNvPr id="79" name="Straight Connector 78">
                <a:extLst>
                  <a:ext uri="{FF2B5EF4-FFF2-40B4-BE49-F238E27FC236}">
                    <a16:creationId xmlns:a16="http://schemas.microsoft.com/office/drawing/2014/main" id="{80C2BFC6-6375-0A47-A6B6-ECEB65EBF829}"/>
                  </a:ext>
                </a:extLst>
              </p:cNvPr>
              <p:cNvCxnSpPr>
                <a:cxnSpLocks/>
              </p:cNvCxnSpPr>
              <p:nvPr/>
            </p:nvCxnSpPr>
            <p:spPr>
              <a:xfrm flipV="1">
                <a:off x="9023348" y="979487"/>
                <a:ext cx="190224" cy="370131"/>
              </a:xfrm>
              <a:prstGeom prst="line">
                <a:avLst/>
              </a:prstGeom>
              <a:ln w="12700">
                <a:solidFill>
                  <a:schemeClr val="tx1"/>
                </a:solidFill>
                <a:headEnd type="oval"/>
              </a:ln>
            </p:spPr>
            <p:style>
              <a:lnRef idx="1">
                <a:schemeClr val="accent1"/>
              </a:lnRef>
              <a:fillRef idx="0">
                <a:schemeClr val="accent1"/>
              </a:fillRef>
              <a:effectRef idx="0">
                <a:schemeClr val="accent1"/>
              </a:effectRef>
              <a:fontRef idx="minor">
                <a:schemeClr val="tx1"/>
              </a:fontRef>
            </p:style>
          </p:cxnSp>
          <p:sp>
            <p:nvSpPr>
              <p:cNvPr id="80" name="Arc 79">
                <a:extLst>
                  <a:ext uri="{FF2B5EF4-FFF2-40B4-BE49-F238E27FC236}">
                    <a16:creationId xmlns:a16="http://schemas.microsoft.com/office/drawing/2014/main" id="{FBB31B86-BF84-2F49-8077-F09FED7906CE}"/>
                  </a:ext>
                </a:extLst>
              </p:cNvPr>
              <p:cNvSpPr/>
              <p:nvPr/>
            </p:nvSpPr>
            <p:spPr>
              <a:xfrm>
                <a:off x="8745179" y="981197"/>
                <a:ext cx="559698" cy="508401"/>
              </a:xfrm>
              <a:prstGeom prst="arc">
                <a:avLst>
                  <a:gd name="adj1" fmla="val 10673269"/>
                  <a:gd name="adj2" fmla="val 3562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81" name="Group 80">
              <a:extLst>
                <a:ext uri="{FF2B5EF4-FFF2-40B4-BE49-F238E27FC236}">
                  <a16:creationId xmlns:a16="http://schemas.microsoft.com/office/drawing/2014/main" id="{98632D00-852A-024E-9F50-1E63C02D345B}"/>
                </a:ext>
              </a:extLst>
            </p:cNvPr>
            <p:cNvGrpSpPr/>
            <p:nvPr/>
          </p:nvGrpSpPr>
          <p:grpSpPr>
            <a:xfrm>
              <a:off x="9366454" y="2996186"/>
              <a:ext cx="720000" cy="720000"/>
              <a:chOff x="8665028" y="849762"/>
              <a:chExt cx="720000" cy="720000"/>
            </a:xfrm>
          </p:grpSpPr>
          <p:sp>
            <p:nvSpPr>
              <p:cNvPr id="82" name="Rectangle 81">
                <a:extLst>
                  <a:ext uri="{FF2B5EF4-FFF2-40B4-BE49-F238E27FC236}">
                    <a16:creationId xmlns:a16="http://schemas.microsoft.com/office/drawing/2014/main" id="{CCC69D69-121A-BE4D-BE00-D202A77FFD27}"/>
                  </a:ext>
                </a:extLst>
              </p:cNvPr>
              <p:cNvSpPr/>
              <p:nvPr/>
            </p:nvSpPr>
            <p:spPr>
              <a:xfrm>
                <a:off x="8665028" y="849762"/>
                <a:ext cx="720000" cy="720000"/>
              </a:xfrm>
              <a:prstGeom prst="rect">
                <a:avLst/>
              </a:prstGeom>
              <a:solidFill>
                <a:schemeClr val="bg1">
                  <a:lumMod val="95000"/>
                </a:schemeClr>
              </a:solidFill>
              <a:ln w="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00" dirty="0">
                  <a:latin typeface="Times" pitchFamily="2" charset="0"/>
                </a:endParaRPr>
              </a:p>
            </p:txBody>
          </p:sp>
          <p:cxnSp>
            <p:nvCxnSpPr>
              <p:cNvPr id="83" name="Straight Connector 82">
                <a:extLst>
                  <a:ext uri="{FF2B5EF4-FFF2-40B4-BE49-F238E27FC236}">
                    <a16:creationId xmlns:a16="http://schemas.microsoft.com/office/drawing/2014/main" id="{21BE02A7-9053-C84B-B08A-B0C5DB5507E6}"/>
                  </a:ext>
                </a:extLst>
              </p:cNvPr>
              <p:cNvCxnSpPr>
                <a:cxnSpLocks/>
              </p:cNvCxnSpPr>
              <p:nvPr/>
            </p:nvCxnSpPr>
            <p:spPr>
              <a:xfrm flipV="1">
                <a:off x="9023348" y="979487"/>
                <a:ext cx="190224" cy="370131"/>
              </a:xfrm>
              <a:prstGeom prst="line">
                <a:avLst/>
              </a:prstGeom>
              <a:ln w="12700">
                <a:solidFill>
                  <a:schemeClr val="tx1"/>
                </a:solidFill>
                <a:headEnd type="oval"/>
              </a:ln>
            </p:spPr>
            <p:style>
              <a:lnRef idx="1">
                <a:schemeClr val="accent1"/>
              </a:lnRef>
              <a:fillRef idx="0">
                <a:schemeClr val="accent1"/>
              </a:fillRef>
              <a:effectRef idx="0">
                <a:schemeClr val="accent1"/>
              </a:effectRef>
              <a:fontRef idx="minor">
                <a:schemeClr val="tx1"/>
              </a:fontRef>
            </p:style>
          </p:cxnSp>
          <p:sp>
            <p:nvSpPr>
              <p:cNvPr id="84" name="Arc 83">
                <a:extLst>
                  <a:ext uri="{FF2B5EF4-FFF2-40B4-BE49-F238E27FC236}">
                    <a16:creationId xmlns:a16="http://schemas.microsoft.com/office/drawing/2014/main" id="{3B79B65F-62E3-6145-9618-58A12DC66C54}"/>
                  </a:ext>
                </a:extLst>
              </p:cNvPr>
              <p:cNvSpPr/>
              <p:nvPr/>
            </p:nvSpPr>
            <p:spPr>
              <a:xfrm>
                <a:off x="8745179" y="981197"/>
                <a:ext cx="559698" cy="508401"/>
              </a:xfrm>
              <a:prstGeom prst="arc">
                <a:avLst>
                  <a:gd name="adj1" fmla="val 10673269"/>
                  <a:gd name="adj2" fmla="val 3562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313EAEAC-F1BA-B54D-AA70-75349135446D}"/>
                  </a:ext>
                </a:extLst>
              </p:cNvPr>
              <p:cNvSpPr/>
              <p:nvPr/>
            </p:nvSpPr>
            <p:spPr>
              <a:xfrm>
                <a:off x="0" y="4760965"/>
                <a:ext cx="2567241" cy="81099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m:t>
                          </m:r>
                          <m:sSub>
                            <m:sSubPr>
                              <m:ctrlPr>
                                <a:rPr lang="en-US" sz="2200" i="1" smtClean="0">
                                  <a:solidFill>
                                    <a:srgbClr val="002060"/>
                                  </a:solidFill>
                                  <a:latin typeface="Cambria Math" panose="02040503050406030204" pitchFamily="18" charset="0"/>
                                  <a:ea typeface="Cambria Math" panose="02040503050406030204" pitchFamily="18" charset="0"/>
                                </a:rPr>
                              </m:ctrlPr>
                            </m:sSubPr>
                            <m:e>
                              <m:r>
                                <a:rPr lang="en-US" sz="2200" b="0" i="1" smtClean="0">
                                  <a:solidFill>
                                    <a:srgbClr val="002060"/>
                                  </a:solidFill>
                                  <a:latin typeface="Cambria Math" panose="02040503050406030204" pitchFamily="18" charset="0"/>
                                  <a:ea typeface="Cambria Math" panose="02040503050406030204" pitchFamily="18" charset="0"/>
                                </a:rPr>
                                <m:t>𝐵</m:t>
                              </m:r>
                            </m:e>
                            <m:sub>
                              <m:r>
                                <a:rPr lang="en-US" sz="2200" b="0" i="1" smtClean="0">
                                  <a:solidFill>
                                    <a:srgbClr val="002060"/>
                                  </a:solidFill>
                                  <a:latin typeface="Cambria Math" panose="02040503050406030204" pitchFamily="18" charset="0"/>
                                  <a:ea typeface="Cambria Math" panose="02040503050406030204" pitchFamily="18" charset="0"/>
                                </a:rPr>
                                <m:t>00</m:t>
                              </m:r>
                            </m:sub>
                          </m:sSub>
                        </m:e>
                      </m:d>
                      <m:r>
                        <a:rPr lang="en-US" sz="2200" b="0" i="1" smtClean="0">
                          <a:solidFill>
                            <a:srgbClr val="002060"/>
                          </a:solidFill>
                          <a:latin typeface="Cambria Math" panose="02040503050406030204" pitchFamily="18" charset="0"/>
                          <a:ea typeface="Cambria Math" panose="02040503050406030204" pitchFamily="18" charset="0"/>
                        </a:rPr>
                        <m:t>=</m:t>
                      </m:r>
                      <m:f>
                        <m:fPr>
                          <m:ctrlPr>
                            <a:rPr lang="en-US" sz="220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|0</m:t>
                              </m:r>
                              <m:r>
                                <a:rPr lang="en-US" sz="2200" b="0" i="1" smtClean="0">
                                  <a:solidFill>
                                    <a:srgbClr val="002060"/>
                                  </a:solidFill>
                                  <a:latin typeface="Cambria Math" panose="02040503050406030204" pitchFamily="18" charset="0"/>
                                  <a:ea typeface="Cambria Math" panose="02040503050406030204" pitchFamily="18" charset="0"/>
                                </a:rPr>
                                <m:t>0</m:t>
                              </m:r>
                            </m:e>
                          </m:d>
                          <m:r>
                            <a:rPr lang="en-US" sz="22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m:t>
                              </m:r>
                              <m:r>
                                <a:rPr lang="en-US" sz="2200" b="0" i="1" smtClean="0">
                                  <a:solidFill>
                                    <a:srgbClr val="002060"/>
                                  </a:solidFill>
                                  <a:latin typeface="Cambria Math" panose="02040503050406030204" pitchFamily="18" charset="0"/>
                                  <a:ea typeface="Cambria Math" panose="02040503050406030204" pitchFamily="18" charset="0"/>
                                </a:rPr>
                                <m:t>11</m:t>
                              </m:r>
                            </m:e>
                          </m:d>
                        </m:num>
                        <m:den>
                          <m:rad>
                            <m:radPr>
                              <m:degHide m:val="on"/>
                              <m:ctrlPr>
                                <a:rPr lang="en-US" sz="2200" i="1">
                                  <a:solidFill>
                                    <a:srgbClr val="002060"/>
                                  </a:solidFill>
                                  <a:latin typeface="Cambria Math" panose="02040503050406030204" pitchFamily="18" charset="0"/>
                                  <a:ea typeface="Cambria Math" panose="02040503050406030204" pitchFamily="18" charset="0"/>
                                </a:rPr>
                              </m:ctrlPr>
                            </m:radPr>
                            <m:deg/>
                            <m:e>
                              <m:r>
                                <a:rPr lang="en-US" sz="2200" i="1">
                                  <a:solidFill>
                                    <a:srgbClr val="002060"/>
                                  </a:solidFill>
                                  <a:latin typeface="Cambria Math" panose="02040503050406030204" pitchFamily="18" charset="0"/>
                                  <a:ea typeface="Cambria Math" panose="02040503050406030204" pitchFamily="18" charset="0"/>
                                </a:rPr>
                                <m:t>2</m:t>
                              </m:r>
                            </m:e>
                          </m:rad>
                        </m:den>
                      </m:f>
                    </m:oMath>
                  </m:oMathPara>
                </a14:m>
                <a:endParaRPr lang="en-US" sz="2200" dirty="0"/>
              </a:p>
            </p:txBody>
          </p:sp>
        </mc:Choice>
        <mc:Fallback xmlns="">
          <p:sp>
            <p:nvSpPr>
              <p:cNvPr id="16" name="Rectangle 15">
                <a:extLst>
                  <a:ext uri="{FF2B5EF4-FFF2-40B4-BE49-F238E27FC236}">
                    <a16:creationId xmlns:a16="http://schemas.microsoft.com/office/drawing/2014/main" id="{313EAEAC-F1BA-B54D-AA70-75349135446D}"/>
                  </a:ext>
                </a:extLst>
              </p:cNvPr>
              <p:cNvSpPr>
                <a:spLocks noRot="1" noChangeAspect="1" noMove="1" noResize="1" noEditPoints="1" noAdjustHandles="1" noChangeArrowheads="1" noChangeShapeType="1" noTextEdit="1"/>
              </p:cNvSpPr>
              <p:nvPr/>
            </p:nvSpPr>
            <p:spPr>
              <a:xfrm>
                <a:off x="0" y="4760965"/>
                <a:ext cx="2567241" cy="810991"/>
              </a:xfrm>
              <a:prstGeom prst="rect">
                <a:avLst/>
              </a:prstGeom>
              <a:blipFill>
                <a:blip r:embed="rId6"/>
                <a:stretch>
                  <a:fillRect t="-66154" r="-10396" b="-75385"/>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9A4DD391-69C0-954B-A47A-2EE7FE6B4815}"/>
              </a:ext>
            </a:extLst>
          </p:cNvPr>
          <p:cNvGrpSpPr/>
          <p:nvPr/>
        </p:nvGrpSpPr>
        <p:grpSpPr>
          <a:xfrm>
            <a:off x="2607906" y="1517515"/>
            <a:ext cx="7722868" cy="4054441"/>
            <a:chOff x="2607906" y="1517515"/>
            <a:chExt cx="7722868" cy="4054441"/>
          </a:xfrm>
        </p:grpSpPr>
        <p:cxnSp>
          <p:nvCxnSpPr>
            <p:cNvPr id="7" name="Straight Connector 6">
              <a:extLst>
                <a:ext uri="{FF2B5EF4-FFF2-40B4-BE49-F238E27FC236}">
                  <a16:creationId xmlns:a16="http://schemas.microsoft.com/office/drawing/2014/main" id="{3CB71F00-D12E-EF47-8213-018E7207B1E4}"/>
                </a:ext>
              </a:extLst>
            </p:cNvPr>
            <p:cNvCxnSpPr>
              <a:cxnSpLocks/>
            </p:cNvCxnSpPr>
            <p:nvPr/>
          </p:nvCxnSpPr>
          <p:spPr>
            <a:xfrm>
              <a:off x="4789189" y="1843897"/>
              <a:ext cx="0" cy="2144949"/>
            </a:xfrm>
            <a:prstGeom prst="line">
              <a:avLst/>
            </a:prstGeom>
            <a:ln w="76200" cap="rnd">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C8C3E20E-75B8-0749-A9B4-BEA171F5E0C7}"/>
                </a:ext>
              </a:extLst>
            </p:cNvPr>
            <p:cNvGrpSpPr/>
            <p:nvPr/>
          </p:nvGrpSpPr>
          <p:grpSpPr>
            <a:xfrm>
              <a:off x="6072583" y="2058160"/>
              <a:ext cx="540000" cy="1562291"/>
              <a:chOff x="6072583" y="2058160"/>
              <a:chExt cx="540000" cy="1562291"/>
            </a:xfrm>
          </p:grpSpPr>
          <p:cxnSp>
            <p:nvCxnSpPr>
              <p:cNvPr id="24" name="Straight Connector 23">
                <a:extLst>
                  <a:ext uri="{FF2B5EF4-FFF2-40B4-BE49-F238E27FC236}">
                    <a16:creationId xmlns:a16="http://schemas.microsoft.com/office/drawing/2014/main" id="{228E013D-FA66-2944-A61A-2507CBE3F5A2}"/>
                  </a:ext>
                </a:extLst>
              </p:cNvPr>
              <p:cNvCxnSpPr>
                <a:cxnSpLocks/>
                <a:stCxn id="62" idx="0"/>
              </p:cNvCxnSpPr>
              <p:nvPr/>
            </p:nvCxnSpPr>
            <p:spPr>
              <a:xfrm flipV="1">
                <a:off x="6342583" y="2305207"/>
                <a:ext cx="0" cy="77524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E54D7964-8CBE-B041-8FCE-CCA6EB654434}"/>
                  </a:ext>
                </a:extLst>
              </p:cNvPr>
              <p:cNvSpPr/>
              <p:nvPr/>
            </p:nvSpPr>
            <p:spPr>
              <a:xfrm>
                <a:off x="6224510" y="2058160"/>
                <a:ext cx="251999" cy="251999"/>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74836161-F909-9E4A-9D91-638CB31C0CD7}"/>
                  </a:ext>
                </a:extLst>
              </p:cNvPr>
              <p:cNvSpPr/>
              <p:nvPr/>
            </p:nvSpPr>
            <p:spPr>
              <a:xfrm>
                <a:off x="6072583" y="3080451"/>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gr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63BD2577-E790-0E42-8091-F442DE9A2520}"/>
                    </a:ext>
                  </a:extLst>
                </p:cNvPr>
                <p:cNvSpPr/>
                <p:nvPr/>
              </p:nvSpPr>
              <p:spPr>
                <a:xfrm>
                  <a:off x="6509492" y="2598846"/>
                  <a:ext cx="101656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𝐵</m:t>
                                </m:r>
                                <m:r>
                                  <a:rPr lang="en-US" sz="2400" i="1">
                                    <a:solidFill>
                                      <a:srgbClr val="002060"/>
                                    </a:solidFill>
                                    <a:latin typeface="Cambria Math" panose="02040503050406030204" pitchFamily="18" charset="0"/>
                                    <a:ea typeface="Cambria Math" panose="02040503050406030204" pitchFamily="18" charset="0"/>
                                  </a:rPr>
                                  <m:t>′</m:t>
                                </m:r>
                              </m:e>
                              <m:sub>
                                <m:r>
                                  <a:rPr lang="en-US" sz="2400" i="1">
                                    <a:solidFill>
                                      <a:srgbClr val="002060"/>
                                    </a:solidFill>
                                    <a:latin typeface="Cambria Math" panose="02040503050406030204" pitchFamily="18" charset="0"/>
                                    <a:ea typeface="Cambria Math" panose="02040503050406030204" pitchFamily="18" charset="0"/>
                                  </a:rPr>
                                  <m:t>00</m:t>
                                </m:r>
                              </m:sub>
                            </m:sSub>
                          </m:e>
                        </m:d>
                      </m:oMath>
                    </m:oMathPara>
                  </a14:m>
                  <a:endParaRPr lang="en-US" sz="2400" dirty="0"/>
                </a:p>
              </p:txBody>
            </p:sp>
          </mc:Choice>
          <mc:Fallback xmlns="">
            <p:sp>
              <p:nvSpPr>
                <p:cNvPr id="11" name="Rectangle 10">
                  <a:extLst>
                    <a:ext uri="{FF2B5EF4-FFF2-40B4-BE49-F238E27FC236}">
                      <a16:creationId xmlns:a16="http://schemas.microsoft.com/office/drawing/2014/main" id="{63BD2577-E790-0E42-8091-F442DE9A2520}"/>
                    </a:ext>
                  </a:extLst>
                </p:cNvPr>
                <p:cNvSpPr>
                  <a:spLocks noRot="1" noChangeAspect="1" noMove="1" noResize="1" noEditPoints="1" noAdjustHandles="1" noChangeArrowheads="1" noChangeShapeType="1" noTextEdit="1"/>
                </p:cNvSpPr>
                <p:nvPr/>
              </p:nvSpPr>
              <p:spPr>
                <a:xfrm>
                  <a:off x="6509492" y="2598846"/>
                  <a:ext cx="1016560" cy="461665"/>
                </a:xfrm>
                <a:prstGeom prst="rect">
                  <a:avLst/>
                </a:prstGeom>
                <a:blipFill>
                  <a:blip r:embed="rId7"/>
                  <a:stretch>
                    <a:fillRect l="-1235" t="-127027" r="-30864" b="-191892"/>
                  </a:stretch>
                </a:blipFill>
              </p:spPr>
              <p:txBody>
                <a:bodyPr/>
                <a:lstStyle/>
                <a:p>
                  <a:r>
                    <a:rPr lang="en-US">
                      <a:noFill/>
                    </a:rPr>
                    <a:t> </a:t>
                  </a:r>
                </a:p>
              </p:txBody>
            </p:sp>
          </mc:Fallback>
        </mc:AlternateContent>
        <p:sp>
          <p:nvSpPr>
            <p:cNvPr id="14" name="Rectangle 13">
              <a:extLst>
                <a:ext uri="{FF2B5EF4-FFF2-40B4-BE49-F238E27FC236}">
                  <a16:creationId xmlns:a16="http://schemas.microsoft.com/office/drawing/2014/main" id="{A4E0CD28-ABC2-A747-991E-83221EF13240}"/>
                </a:ext>
              </a:extLst>
            </p:cNvPr>
            <p:cNvSpPr/>
            <p:nvPr/>
          </p:nvSpPr>
          <p:spPr>
            <a:xfrm>
              <a:off x="5675423" y="1517515"/>
              <a:ext cx="4655351" cy="2471331"/>
            </a:xfrm>
            <a:prstGeom prst="rect">
              <a:avLst/>
            </a:prstGeom>
            <a:noFill/>
            <a:ln w="25400">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8" name="Rectangle 57">
                  <a:extLst>
                    <a:ext uri="{FF2B5EF4-FFF2-40B4-BE49-F238E27FC236}">
                      <a16:creationId xmlns:a16="http://schemas.microsoft.com/office/drawing/2014/main" id="{9B4032F6-2C28-6C42-906E-C4FC735364B8}"/>
                    </a:ext>
                  </a:extLst>
                </p:cNvPr>
                <p:cNvSpPr/>
                <p:nvPr/>
              </p:nvSpPr>
              <p:spPr>
                <a:xfrm>
                  <a:off x="3132999" y="4760965"/>
                  <a:ext cx="2651752" cy="81099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m:t>
                            </m:r>
                            <m:sSub>
                              <m:sSubPr>
                                <m:ctrlPr>
                                  <a:rPr lang="en-US" sz="2200" i="1" smtClean="0">
                                    <a:solidFill>
                                      <a:srgbClr val="002060"/>
                                    </a:solidFill>
                                    <a:latin typeface="Cambria Math" panose="02040503050406030204" pitchFamily="18" charset="0"/>
                                    <a:ea typeface="Cambria Math" panose="02040503050406030204" pitchFamily="18" charset="0"/>
                                  </a:rPr>
                                </m:ctrlPr>
                              </m:sSubPr>
                              <m:e>
                                <m:r>
                                  <a:rPr lang="en-US" sz="2200" b="0" i="1" smtClean="0">
                                    <a:solidFill>
                                      <a:srgbClr val="002060"/>
                                    </a:solidFill>
                                    <a:latin typeface="Cambria Math" panose="02040503050406030204" pitchFamily="18" charset="0"/>
                                    <a:ea typeface="Cambria Math" panose="02040503050406030204" pitchFamily="18" charset="0"/>
                                  </a:rPr>
                                  <m:t>𝐵</m:t>
                                </m:r>
                                <m:r>
                                  <a:rPr lang="en-US" sz="2200" b="0" i="1" smtClean="0">
                                    <a:solidFill>
                                      <a:srgbClr val="002060"/>
                                    </a:solidFill>
                                    <a:latin typeface="Cambria Math" panose="02040503050406030204" pitchFamily="18" charset="0"/>
                                    <a:ea typeface="Cambria Math" panose="02040503050406030204" pitchFamily="18" charset="0"/>
                                  </a:rPr>
                                  <m:t>′</m:t>
                                </m:r>
                              </m:e>
                              <m:sub>
                                <m:r>
                                  <a:rPr lang="en-US" sz="2200" b="0" i="1" smtClean="0">
                                    <a:solidFill>
                                      <a:srgbClr val="002060"/>
                                    </a:solidFill>
                                    <a:latin typeface="Cambria Math" panose="02040503050406030204" pitchFamily="18" charset="0"/>
                                    <a:ea typeface="Cambria Math" panose="02040503050406030204" pitchFamily="18" charset="0"/>
                                  </a:rPr>
                                  <m:t>00</m:t>
                                </m:r>
                              </m:sub>
                            </m:sSub>
                          </m:e>
                        </m:d>
                        <m:r>
                          <a:rPr lang="en-US" sz="2200" b="0" i="1" smtClean="0">
                            <a:solidFill>
                              <a:srgbClr val="002060"/>
                            </a:solidFill>
                            <a:latin typeface="Cambria Math" panose="02040503050406030204" pitchFamily="18" charset="0"/>
                            <a:ea typeface="Cambria Math" panose="02040503050406030204" pitchFamily="18" charset="0"/>
                          </a:rPr>
                          <m:t>=</m:t>
                        </m:r>
                        <m:f>
                          <m:fPr>
                            <m:ctrlPr>
                              <a:rPr lang="en-US" sz="2200" b="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|00</m:t>
                                </m:r>
                              </m:e>
                            </m:d>
                            <m:r>
                              <a:rPr lang="en-US" sz="22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m:t>
                                </m:r>
                                <m:r>
                                  <a:rPr lang="en-US" sz="2200" b="0" i="1" smtClean="0">
                                    <a:solidFill>
                                      <a:srgbClr val="002060"/>
                                    </a:solidFill>
                                    <a:latin typeface="Cambria Math" panose="02040503050406030204" pitchFamily="18" charset="0"/>
                                    <a:ea typeface="Cambria Math" panose="02040503050406030204" pitchFamily="18" charset="0"/>
                                  </a:rPr>
                                  <m:t>10</m:t>
                                </m:r>
                              </m:e>
                            </m:d>
                          </m:num>
                          <m:den>
                            <m:rad>
                              <m:radPr>
                                <m:degHide m:val="on"/>
                                <m:ctrlPr>
                                  <a:rPr lang="en-US" sz="2200" i="1">
                                    <a:solidFill>
                                      <a:srgbClr val="002060"/>
                                    </a:solidFill>
                                    <a:latin typeface="Cambria Math" panose="02040503050406030204" pitchFamily="18" charset="0"/>
                                    <a:ea typeface="Cambria Math" panose="02040503050406030204" pitchFamily="18" charset="0"/>
                                  </a:rPr>
                                </m:ctrlPr>
                              </m:radPr>
                              <m:deg/>
                              <m:e>
                                <m:r>
                                  <a:rPr lang="en-US" sz="2200" i="1">
                                    <a:solidFill>
                                      <a:srgbClr val="002060"/>
                                    </a:solidFill>
                                    <a:latin typeface="Cambria Math" panose="02040503050406030204" pitchFamily="18" charset="0"/>
                                    <a:ea typeface="Cambria Math" panose="02040503050406030204" pitchFamily="18" charset="0"/>
                                  </a:rPr>
                                  <m:t>2</m:t>
                                </m:r>
                              </m:e>
                            </m:rad>
                          </m:den>
                        </m:f>
                      </m:oMath>
                    </m:oMathPara>
                  </a14:m>
                  <a:endParaRPr lang="en-US" sz="2200" dirty="0"/>
                </a:p>
              </p:txBody>
            </p:sp>
          </mc:Choice>
          <mc:Fallback xmlns="">
            <p:sp>
              <p:nvSpPr>
                <p:cNvPr id="58" name="Rectangle 57">
                  <a:extLst>
                    <a:ext uri="{FF2B5EF4-FFF2-40B4-BE49-F238E27FC236}">
                      <a16:creationId xmlns:a16="http://schemas.microsoft.com/office/drawing/2014/main" id="{9B4032F6-2C28-6C42-906E-C4FC735364B8}"/>
                    </a:ext>
                  </a:extLst>
                </p:cNvPr>
                <p:cNvSpPr>
                  <a:spLocks noRot="1" noChangeAspect="1" noMove="1" noResize="1" noEditPoints="1" noAdjustHandles="1" noChangeArrowheads="1" noChangeShapeType="1" noTextEdit="1"/>
                </p:cNvSpPr>
                <p:nvPr/>
              </p:nvSpPr>
              <p:spPr>
                <a:xfrm>
                  <a:off x="3132999" y="4760965"/>
                  <a:ext cx="2651752" cy="810991"/>
                </a:xfrm>
                <a:prstGeom prst="rect">
                  <a:avLst/>
                </a:prstGeom>
                <a:blipFill>
                  <a:blip r:embed="rId8"/>
                  <a:stretch>
                    <a:fillRect t="-66154" r="-10526" b="-7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F8AE4E23-7281-BE4C-A003-CAA6D5B62F6E}"/>
                    </a:ext>
                  </a:extLst>
                </p:cNvPr>
                <p:cNvSpPr/>
                <p:nvPr/>
              </p:nvSpPr>
              <p:spPr>
                <a:xfrm>
                  <a:off x="2607906" y="4951017"/>
                  <a:ext cx="519438" cy="5491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groupChr>
                          <m:groupChrPr>
                            <m:chr m:val="→"/>
                            <m:vertJc m:val="bot"/>
                            <m:ctrlPr>
                              <a:rPr lang="en-US" sz="2200" i="1" smtClean="0">
                                <a:solidFill>
                                  <a:srgbClr val="002060"/>
                                </a:solidFill>
                                <a:latin typeface="Cambria Math" panose="02040503050406030204" pitchFamily="18" charset="0"/>
                                <a:ea typeface="Cambria Math" panose="02040503050406030204" pitchFamily="18" charset="0"/>
                              </a:rPr>
                            </m:ctrlPr>
                          </m:groupChrPr>
                          <m:e>
                            <m:r>
                              <m:rPr>
                                <m:brk m:alnAt="2"/>
                              </m:rPr>
                              <a:rPr lang="en-US" sz="2200" b="0" i="1" smtClean="0">
                                <a:solidFill>
                                  <a:srgbClr val="002060"/>
                                </a:solidFill>
                                <a:latin typeface="Cambria Math" panose="02040503050406030204" pitchFamily="18" charset="0"/>
                                <a:ea typeface="Cambria Math" panose="02040503050406030204" pitchFamily="18" charset="0"/>
                              </a:rPr>
                              <m:t>𝐶</m:t>
                            </m:r>
                            <m:r>
                              <a:rPr lang="sr-Latn-RS" sz="2200" b="0" i="1" smtClean="0">
                                <a:solidFill>
                                  <a:srgbClr val="002060"/>
                                </a:solidFill>
                                <a:latin typeface="Cambria Math" panose="02040503050406030204" pitchFamily="18" charset="0"/>
                                <a:ea typeface="Cambria Math" panose="02040503050406030204" pitchFamily="18" charset="0"/>
                              </a:rPr>
                              <m:t>𝑋</m:t>
                            </m:r>
                          </m:e>
                        </m:groupChr>
                      </m:oMath>
                    </m:oMathPara>
                  </a14:m>
                  <a:endParaRPr lang="en-US" sz="2200" dirty="0"/>
                </a:p>
              </p:txBody>
            </p:sp>
          </mc:Choice>
          <mc:Fallback xmlns="">
            <p:sp>
              <p:nvSpPr>
                <p:cNvPr id="4" name="Rectangle 3">
                  <a:extLst>
                    <a:ext uri="{FF2B5EF4-FFF2-40B4-BE49-F238E27FC236}">
                      <a16:creationId xmlns:a16="http://schemas.microsoft.com/office/drawing/2014/main" id="{F8AE4E23-7281-BE4C-A003-CAA6D5B62F6E}"/>
                    </a:ext>
                  </a:extLst>
                </p:cNvPr>
                <p:cNvSpPr>
                  <a:spLocks noRot="1" noChangeAspect="1" noMove="1" noResize="1" noEditPoints="1" noAdjustHandles="1" noChangeArrowheads="1" noChangeShapeType="1" noTextEdit="1"/>
                </p:cNvSpPr>
                <p:nvPr/>
              </p:nvSpPr>
              <p:spPr>
                <a:xfrm>
                  <a:off x="2607906" y="4951017"/>
                  <a:ext cx="519438" cy="549189"/>
                </a:xfrm>
                <a:prstGeom prst="rect">
                  <a:avLst/>
                </a:prstGeom>
                <a:blipFill>
                  <a:blip r:embed="rId9"/>
                  <a:stretch>
                    <a:fillRect/>
                  </a:stretch>
                </a:blipFill>
              </p:spPr>
              <p:txBody>
                <a:bodyPr/>
                <a:lstStyle/>
                <a:p>
                  <a:r>
                    <a:rPr lang="en-US">
                      <a:noFill/>
                    </a:rPr>
                    <a:t> </a:t>
                  </a:r>
                </a:p>
              </p:txBody>
            </p:sp>
          </mc:Fallback>
        </mc:AlternateContent>
      </p:grpSp>
      <p:grpSp>
        <p:nvGrpSpPr>
          <p:cNvPr id="12" name="Group 11">
            <a:extLst>
              <a:ext uri="{FF2B5EF4-FFF2-40B4-BE49-F238E27FC236}">
                <a16:creationId xmlns:a16="http://schemas.microsoft.com/office/drawing/2014/main" id="{5403C7D9-F060-F042-B784-9421D0BDE66F}"/>
              </a:ext>
            </a:extLst>
          </p:cNvPr>
          <p:cNvGrpSpPr/>
          <p:nvPr/>
        </p:nvGrpSpPr>
        <p:grpSpPr>
          <a:xfrm>
            <a:off x="5825416" y="1700056"/>
            <a:ext cx="6166715" cy="3889276"/>
            <a:chOff x="5825416" y="1700056"/>
            <a:chExt cx="6166715" cy="3889276"/>
          </a:xfrm>
        </p:grpSpPr>
        <mc:AlternateContent xmlns:mc="http://schemas.openxmlformats.org/markup-compatibility/2006" xmlns:a14="http://schemas.microsoft.com/office/drawing/2010/main">
          <mc:Choice Requires="a14">
            <p:sp>
              <p:nvSpPr>
                <p:cNvPr id="63" name="Rectangle 62">
                  <a:extLst>
                    <a:ext uri="{FF2B5EF4-FFF2-40B4-BE49-F238E27FC236}">
                      <a16:creationId xmlns:a16="http://schemas.microsoft.com/office/drawing/2014/main" id="{2BD868B4-7E4A-A948-8AC8-0386D0C02DFA}"/>
                    </a:ext>
                  </a:extLst>
                </p:cNvPr>
                <p:cNvSpPr/>
                <p:nvPr/>
              </p:nvSpPr>
              <p:spPr>
                <a:xfrm>
                  <a:off x="8366847" y="1700056"/>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63" name="Rectangle 62">
                  <a:extLst>
                    <a:ext uri="{FF2B5EF4-FFF2-40B4-BE49-F238E27FC236}">
                      <a16:creationId xmlns:a16="http://schemas.microsoft.com/office/drawing/2014/main" id="{2BD868B4-7E4A-A948-8AC8-0386D0C02DFA}"/>
                    </a:ext>
                  </a:extLst>
                </p:cNvPr>
                <p:cNvSpPr>
                  <a:spLocks noRot="1" noChangeAspect="1" noMove="1" noResize="1" noEditPoints="1" noAdjustHandles="1" noChangeArrowheads="1" noChangeShapeType="1" noTextEdit="1"/>
                </p:cNvSpPr>
                <p:nvPr/>
              </p:nvSpPr>
              <p:spPr>
                <a:xfrm>
                  <a:off x="8366847" y="1700056"/>
                  <a:ext cx="631903" cy="461665"/>
                </a:xfrm>
                <a:prstGeom prst="rect">
                  <a:avLst/>
                </a:prstGeom>
                <a:blipFill>
                  <a:blip r:embed="rId10"/>
                  <a:stretch>
                    <a:fillRect l="-25490" t="-124324" r="-47059"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Rectangle 63">
                  <a:extLst>
                    <a:ext uri="{FF2B5EF4-FFF2-40B4-BE49-F238E27FC236}">
                      <a16:creationId xmlns:a16="http://schemas.microsoft.com/office/drawing/2014/main" id="{602036BE-96E2-CC45-B4EA-79C568D9BE4F}"/>
                    </a:ext>
                  </a:extLst>
                </p:cNvPr>
                <p:cNvSpPr/>
                <p:nvPr/>
              </p:nvSpPr>
              <p:spPr>
                <a:xfrm>
                  <a:off x="8366846" y="3382982"/>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64" name="Rectangle 63">
                  <a:extLst>
                    <a:ext uri="{FF2B5EF4-FFF2-40B4-BE49-F238E27FC236}">
                      <a16:creationId xmlns:a16="http://schemas.microsoft.com/office/drawing/2014/main" id="{602036BE-96E2-CC45-B4EA-79C568D9BE4F}"/>
                    </a:ext>
                  </a:extLst>
                </p:cNvPr>
                <p:cNvSpPr>
                  <a:spLocks noRot="1" noChangeAspect="1" noMove="1" noResize="1" noEditPoints="1" noAdjustHandles="1" noChangeArrowheads="1" noChangeShapeType="1" noTextEdit="1"/>
                </p:cNvSpPr>
                <p:nvPr/>
              </p:nvSpPr>
              <p:spPr>
                <a:xfrm>
                  <a:off x="8366846" y="3382982"/>
                  <a:ext cx="631903" cy="461665"/>
                </a:xfrm>
                <a:prstGeom prst="rect">
                  <a:avLst/>
                </a:prstGeom>
                <a:blipFill>
                  <a:blip r:embed="rId11"/>
                  <a:stretch>
                    <a:fillRect l="-25490" t="-121053" r="-47059" b="-186842"/>
                  </a:stretch>
                </a:blipFill>
              </p:spPr>
              <p:txBody>
                <a:bodyPr/>
                <a:lstStyle/>
                <a:p>
                  <a:r>
                    <a:rPr lang="en-US">
                      <a:noFill/>
                    </a:rPr>
                    <a:t> </a:t>
                  </a:r>
                </a:p>
              </p:txBody>
            </p:sp>
          </mc:Fallback>
        </mc:AlternateContent>
        <p:sp>
          <p:nvSpPr>
            <p:cNvPr id="26" name="Rectangle 25">
              <a:extLst>
                <a:ext uri="{FF2B5EF4-FFF2-40B4-BE49-F238E27FC236}">
                  <a16:creationId xmlns:a16="http://schemas.microsoft.com/office/drawing/2014/main" id="{A2D9610B-E094-5F46-860D-ECFE090E2944}"/>
                </a:ext>
              </a:extLst>
            </p:cNvPr>
            <p:cNvSpPr>
              <a:spLocks/>
            </p:cNvSpPr>
            <p:nvPr/>
          </p:nvSpPr>
          <p:spPr>
            <a:xfrm>
              <a:off x="7531637" y="1835242"/>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pitchFamily="2" charset="0"/>
                </a:rPr>
                <a:t>H</a:t>
              </a:r>
            </a:p>
          </p:txBody>
        </p:sp>
        <mc:AlternateContent xmlns:mc="http://schemas.openxmlformats.org/markup-compatibility/2006" xmlns:a14="http://schemas.microsoft.com/office/drawing/2010/main">
          <mc:Choice Requires="a14">
            <p:sp>
              <p:nvSpPr>
                <p:cNvPr id="65" name="Rectangle 64">
                  <a:extLst>
                    <a:ext uri="{FF2B5EF4-FFF2-40B4-BE49-F238E27FC236}">
                      <a16:creationId xmlns:a16="http://schemas.microsoft.com/office/drawing/2014/main" id="{7DA2CAD4-7E4A-A148-86E2-5F31E654FDF8}"/>
                    </a:ext>
                  </a:extLst>
                </p:cNvPr>
                <p:cNvSpPr/>
                <p:nvPr/>
              </p:nvSpPr>
              <p:spPr>
                <a:xfrm>
                  <a:off x="8098968" y="2588499"/>
                  <a:ext cx="109671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𝐵</m:t>
                                </m:r>
                                <m:r>
                                  <a:rPr lang="en-US" sz="2400" b="0" i="1" smtClean="0">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m:t>
                                </m:r>
                              </m:e>
                              <m:sub>
                                <m:r>
                                  <a:rPr lang="en-US" sz="2400" i="1">
                                    <a:solidFill>
                                      <a:srgbClr val="002060"/>
                                    </a:solidFill>
                                    <a:latin typeface="Cambria Math" panose="02040503050406030204" pitchFamily="18" charset="0"/>
                                    <a:ea typeface="Cambria Math" panose="02040503050406030204" pitchFamily="18" charset="0"/>
                                  </a:rPr>
                                  <m:t>00</m:t>
                                </m:r>
                              </m:sub>
                            </m:sSub>
                          </m:e>
                        </m:d>
                      </m:oMath>
                    </m:oMathPara>
                  </a14:m>
                  <a:endParaRPr lang="en-US" sz="2400" dirty="0"/>
                </a:p>
              </p:txBody>
            </p:sp>
          </mc:Choice>
          <mc:Fallback xmlns="">
            <p:sp>
              <p:nvSpPr>
                <p:cNvPr id="65" name="Rectangle 64">
                  <a:extLst>
                    <a:ext uri="{FF2B5EF4-FFF2-40B4-BE49-F238E27FC236}">
                      <a16:creationId xmlns:a16="http://schemas.microsoft.com/office/drawing/2014/main" id="{7DA2CAD4-7E4A-A148-86E2-5F31E654FDF8}"/>
                    </a:ext>
                  </a:extLst>
                </p:cNvPr>
                <p:cNvSpPr>
                  <a:spLocks noRot="1" noChangeAspect="1" noMove="1" noResize="1" noEditPoints="1" noAdjustHandles="1" noChangeArrowheads="1" noChangeShapeType="1" noTextEdit="1"/>
                </p:cNvSpPr>
                <p:nvPr/>
              </p:nvSpPr>
              <p:spPr>
                <a:xfrm>
                  <a:off x="8098968" y="2588499"/>
                  <a:ext cx="1096710" cy="461665"/>
                </a:xfrm>
                <a:prstGeom prst="rect">
                  <a:avLst/>
                </a:prstGeom>
                <a:blipFill>
                  <a:blip r:embed="rId12"/>
                  <a:stretch>
                    <a:fillRect l="-1149" t="-133333" r="-28736" b="-1972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81187136-3907-0244-B83E-25CF4E42F56D}"/>
                    </a:ext>
                  </a:extLst>
                </p:cNvPr>
                <p:cNvSpPr/>
                <p:nvPr/>
              </p:nvSpPr>
              <p:spPr>
                <a:xfrm>
                  <a:off x="6350509" y="4743588"/>
                  <a:ext cx="5641622" cy="84574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m:t>
                            </m:r>
                            <m:sSub>
                              <m:sSubPr>
                                <m:ctrlPr>
                                  <a:rPr lang="en-US" sz="2200" i="1">
                                    <a:solidFill>
                                      <a:schemeClr val="tx1"/>
                                    </a:solidFill>
                                    <a:latin typeface="Cambria Math" panose="02040503050406030204" pitchFamily="18" charset="0"/>
                                    <a:ea typeface="Cambria Math" panose="02040503050406030204" pitchFamily="18" charset="0"/>
                                  </a:rPr>
                                </m:ctrlPr>
                              </m:sSubPr>
                              <m:e>
                                <m:r>
                                  <a:rPr lang="en-US" sz="2200" i="1">
                                    <a:solidFill>
                                      <a:schemeClr val="tx1"/>
                                    </a:solidFill>
                                    <a:latin typeface="Cambria Math" panose="02040503050406030204" pitchFamily="18" charset="0"/>
                                    <a:ea typeface="Cambria Math" panose="02040503050406030204" pitchFamily="18" charset="0"/>
                                  </a:rPr>
                                  <m:t>𝐵</m:t>
                                </m:r>
                                <m:r>
                                  <a:rPr lang="en-US" sz="2200" i="1">
                                    <a:solidFill>
                                      <a:schemeClr val="tx1"/>
                                    </a:solidFill>
                                    <a:latin typeface="Cambria Math" panose="02040503050406030204" pitchFamily="18" charset="0"/>
                                    <a:ea typeface="Cambria Math" panose="02040503050406030204" pitchFamily="18" charset="0"/>
                                  </a:rPr>
                                  <m:t>′′</m:t>
                                </m:r>
                              </m:e>
                              <m:sub>
                                <m:r>
                                  <a:rPr lang="en-US" sz="2200" i="1">
                                    <a:solidFill>
                                      <a:schemeClr val="tx1"/>
                                    </a:solidFill>
                                    <a:latin typeface="Cambria Math" panose="02040503050406030204" pitchFamily="18" charset="0"/>
                                    <a:ea typeface="Cambria Math" panose="02040503050406030204" pitchFamily="18" charset="0"/>
                                  </a:rPr>
                                  <m:t>00</m:t>
                                </m:r>
                              </m:sub>
                            </m:sSub>
                          </m:e>
                        </m:d>
                        <m:r>
                          <a:rPr lang="en-US" sz="2200" b="0" i="1" smtClean="0">
                            <a:solidFill>
                              <a:schemeClr val="tx1"/>
                            </a:solidFill>
                            <a:latin typeface="Cambria Math" panose="02040503050406030204" pitchFamily="18" charset="0"/>
                            <a:ea typeface="Cambria Math" panose="02040503050406030204" pitchFamily="18" charset="0"/>
                          </a:rPr>
                          <m:t>=</m:t>
                        </m:r>
                        <m:f>
                          <m:fPr>
                            <m:ctrlPr>
                              <a:rPr lang="en-US" sz="2200" i="1">
                                <a:solidFill>
                                  <a:schemeClr val="tx1"/>
                                </a:solidFill>
                                <a:latin typeface="Cambria Math" panose="02040503050406030204" pitchFamily="18" charset="0"/>
                                <a:ea typeface="Cambria Math" panose="02040503050406030204" pitchFamily="18" charset="0"/>
                              </a:rPr>
                            </m:ctrlPr>
                          </m:fPr>
                          <m:num>
                            <m:r>
                              <a:rPr lang="en-US" sz="2200" i="1">
                                <a:solidFill>
                                  <a:schemeClr val="tx1"/>
                                </a:solidFill>
                                <a:latin typeface="Cambria Math" panose="02040503050406030204" pitchFamily="18" charset="0"/>
                                <a:ea typeface="Cambria Math" panose="02040503050406030204" pitchFamily="18" charset="0"/>
                              </a:rPr>
                              <m:t>1</m:t>
                            </m:r>
                          </m:num>
                          <m:den>
                            <m:rad>
                              <m:radPr>
                                <m:degHide m:val="on"/>
                                <m:ctrlPr>
                                  <a:rPr lang="en-US" sz="2200" i="1">
                                    <a:solidFill>
                                      <a:schemeClr val="tx1"/>
                                    </a:solidFill>
                                    <a:latin typeface="Cambria Math" panose="02040503050406030204" pitchFamily="18" charset="0"/>
                                    <a:ea typeface="Cambria Math" panose="02040503050406030204" pitchFamily="18" charset="0"/>
                                  </a:rPr>
                                </m:ctrlPr>
                              </m:radPr>
                              <m:deg/>
                              <m:e>
                                <m:r>
                                  <a:rPr lang="en-US" sz="2200" i="1">
                                    <a:solidFill>
                                      <a:schemeClr val="tx1"/>
                                    </a:solidFill>
                                    <a:latin typeface="Cambria Math" panose="02040503050406030204" pitchFamily="18" charset="0"/>
                                    <a:ea typeface="Cambria Math" panose="02040503050406030204" pitchFamily="18" charset="0"/>
                                  </a:rPr>
                                  <m:t>2</m:t>
                                </m:r>
                              </m:e>
                            </m:rad>
                          </m:den>
                        </m:f>
                        <m:d>
                          <m:dPr>
                            <m:begChr m:val="["/>
                            <m:endChr m:val="]"/>
                            <m:ctrlPr>
                              <a:rPr lang="en-US" sz="2200" i="1">
                                <a:solidFill>
                                  <a:schemeClr val="tx1"/>
                                </a:solidFill>
                                <a:latin typeface="Cambria Math" panose="02040503050406030204" pitchFamily="18" charset="0"/>
                                <a:ea typeface="Cambria Math" panose="02040503050406030204" pitchFamily="18" charset="0"/>
                              </a:rPr>
                            </m:ctrlPr>
                          </m:dPr>
                          <m:e>
                            <m:f>
                              <m:fPr>
                                <m:ctrlPr>
                                  <a:rPr lang="en-US" sz="2200" i="1">
                                    <a:solidFill>
                                      <a:schemeClr val="tx1"/>
                                    </a:solidFill>
                                    <a:latin typeface="Cambria Math" panose="02040503050406030204" pitchFamily="18" charset="0"/>
                                    <a:ea typeface="Cambria Math" panose="02040503050406030204" pitchFamily="18" charset="0"/>
                                  </a:rPr>
                                </m:ctrlPr>
                              </m:fPr>
                              <m:num>
                                <m:d>
                                  <m:dPr>
                                    <m:begChr m:val=""/>
                                    <m:endChr m:val="⟩"/>
                                    <m:ctrlPr>
                                      <a:rPr lang="en-US" sz="2200" i="1">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|0</m:t>
                                    </m:r>
                                  </m:e>
                                </m:d>
                                <m:r>
                                  <a:rPr lang="en-US" sz="2200" i="1">
                                    <a:solidFill>
                                      <a:schemeClr val="tx1"/>
                                    </a:solidFill>
                                    <a:latin typeface="Cambria Math" panose="02040503050406030204" pitchFamily="18" charset="0"/>
                                    <a:ea typeface="Cambria Math" panose="02040503050406030204" pitchFamily="18" charset="0"/>
                                  </a:rPr>
                                  <m:t>+</m:t>
                                </m:r>
                                <m:d>
                                  <m:dPr>
                                    <m:begChr m:val=""/>
                                    <m:endChr m:val="⟩"/>
                                    <m:ctrlPr>
                                      <a:rPr lang="en-US" sz="2200" i="1">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|1</m:t>
                                    </m:r>
                                  </m:e>
                                </m:d>
                              </m:num>
                              <m:den>
                                <m:rad>
                                  <m:radPr>
                                    <m:degHide m:val="on"/>
                                    <m:ctrlPr>
                                      <a:rPr lang="en-US" sz="2200" i="1">
                                        <a:solidFill>
                                          <a:schemeClr val="tx1"/>
                                        </a:solidFill>
                                        <a:latin typeface="Cambria Math" panose="02040503050406030204" pitchFamily="18" charset="0"/>
                                        <a:ea typeface="Cambria Math" panose="02040503050406030204" pitchFamily="18" charset="0"/>
                                      </a:rPr>
                                    </m:ctrlPr>
                                  </m:radPr>
                                  <m:deg/>
                                  <m:e>
                                    <m:r>
                                      <a:rPr lang="en-US" sz="2200" i="1">
                                        <a:solidFill>
                                          <a:schemeClr val="tx1"/>
                                        </a:solidFill>
                                        <a:latin typeface="Cambria Math" panose="02040503050406030204" pitchFamily="18" charset="0"/>
                                        <a:ea typeface="Cambria Math" panose="02040503050406030204" pitchFamily="18" charset="0"/>
                                      </a:rPr>
                                      <m:t>2</m:t>
                                    </m:r>
                                  </m:e>
                                </m:rad>
                              </m:den>
                            </m:f>
                            <m:r>
                              <a:rPr lang="en-US" sz="2200" i="1">
                                <a:solidFill>
                                  <a:schemeClr val="tx1"/>
                                </a:solidFill>
                                <a:latin typeface="Cambria Math" panose="02040503050406030204" pitchFamily="18" charset="0"/>
                                <a:ea typeface="Cambria Math" panose="02040503050406030204" pitchFamily="18" charset="0"/>
                              </a:rPr>
                              <m:t>+</m:t>
                            </m:r>
                            <m:f>
                              <m:fPr>
                                <m:ctrlPr>
                                  <a:rPr lang="en-US" sz="2200" i="1">
                                    <a:solidFill>
                                      <a:schemeClr val="tx1"/>
                                    </a:solidFill>
                                    <a:latin typeface="Cambria Math" panose="02040503050406030204" pitchFamily="18" charset="0"/>
                                    <a:ea typeface="Cambria Math" panose="02040503050406030204" pitchFamily="18" charset="0"/>
                                  </a:rPr>
                                </m:ctrlPr>
                              </m:fPr>
                              <m:num>
                                <m:d>
                                  <m:dPr>
                                    <m:begChr m:val=""/>
                                    <m:endChr m:val="⟩"/>
                                    <m:ctrlPr>
                                      <a:rPr lang="en-US" sz="2200" i="1">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|0</m:t>
                                    </m:r>
                                  </m:e>
                                </m:d>
                                <m:r>
                                  <a:rPr lang="en-US" sz="2200" i="1">
                                    <a:solidFill>
                                      <a:schemeClr val="tx1"/>
                                    </a:solidFill>
                                    <a:latin typeface="Cambria Math" panose="02040503050406030204" pitchFamily="18" charset="0"/>
                                    <a:ea typeface="Cambria Math" panose="02040503050406030204" pitchFamily="18" charset="0"/>
                                  </a:rPr>
                                  <m:t>−</m:t>
                                </m:r>
                                <m:d>
                                  <m:dPr>
                                    <m:begChr m:val=""/>
                                    <m:endChr m:val="⟩"/>
                                    <m:ctrlPr>
                                      <a:rPr lang="en-US" sz="2200" i="1">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|1</m:t>
                                    </m:r>
                                  </m:e>
                                </m:d>
                              </m:num>
                              <m:den>
                                <m:rad>
                                  <m:radPr>
                                    <m:degHide m:val="on"/>
                                    <m:ctrlPr>
                                      <a:rPr lang="en-US" sz="2200" i="1">
                                        <a:solidFill>
                                          <a:schemeClr val="tx1"/>
                                        </a:solidFill>
                                        <a:latin typeface="Cambria Math" panose="02040503050406030204" pitchFamily="18" charset="0"/>
                                        <a:ea typeface="Cambria Math" panose="02040503050406030204" pitchFamily="18" charset="0"/>
                                      </a:rPr>
                                    </m:ctrlPr>
                                  </m:radPr>
                                  <m:deg/>
                                  <m:e>
                                    <m:r>
                                      <a:rPr lang="en-US" sz="2200" i="1">
                                        <a:solidFill>
                                          <a:schemeClr val="tx1"/>
                                        </a:solidFill>
                                        <a:latin typeface="Cambria Math" panose="02040503050406030204" pitchFamily="18" charset="0"/>
                                        <a:ea typeface="Cambria Math" panose="02040503050406030204" pitchFamily="18" charset="0"/>
                                      </a:rPr>
                                      <m:t>2</m:t>
                                    </m:r>
                                  </m:e>
                                </m:rad>
                              </m:den>
                            </m:f>
                          </m:e>
                        </m:d>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|0</m:t>
                            </m:r>
                          </m:e>
                        </m:d>
                        <m:r>
                          <a:rPr lang="en-US" sz="2200" b="0" i="1" smtClean="0">
                            <a:solidFill>
                              <a:schemeClr val="tx1"/>
                            </a:solidFill>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|00</m:t>
                            </m:r>
                          </m:e>
                        </m:d>
                      </m:oMath>
                    </m:oMathPara>
                  </a14:m>
                  <a:endParaRPr lang="en-US" sz="2200" dirty="0">
                    <a:solidFill>
                      <a:schemeClr val="tx1"/>
                    </a:solidFill>
                  </a:endParaRPr>
                </a:p>
              </p:txBody>
            </p:sp>
          </mc:Choice>
          <mc:Fallback xmlns="">
            <p:sp>
              <p:nvSpPr>
                <p:cNvPr id="37" name="Rectangle 36">
                  <a:extLst>
                    <a:ext uri="{FF2B5EF4-FFF2-40B4-BE49-F238E27FC236}">
                      <a16:creationId xmlns:a16="http://schemas.microsoft.com/office/drawing/2014/main" id="{81187136-3907-0244-B83E-25CF4E42F56D}"/>
                    </a:ext>
                  </a:extLst>
                </p:cNvPr>
                <p:cNvSpPr>
                  <a:spLocks noRot="1" noChangeAspect="1" noMove="1" noResize="1" noEditPoints="1" noAdjustHandles="1" noChangeArrowheads="1" noChangeShapeType="1" noTextEdit="1"/>
                </p:cNvSpPr>
                <p:nvPr/>
              </p:nvSpPr>
              <p:spPr>
                <a:xfrm>
                  <a:off x="6350509" y="4743588"/>
                  <a:ext cx="5641622" cy="845744"/>
                </a:xfrm>
                <a:prstGeom prst="rect">
                  <a:avLst/>
                </a:prstGeom>
                <a:blipFill>
                  <a:blip r:embed="rId13"/>
                  <a:stretch>
                    <a:fillRect t="-62687" r="-4494" b="-716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BEE9D931-1F60-EF45-81F2-4437DAFE58D9}"/>
                    </a:ext>
                  </a:extLst>
                </p:cNvPr>
                <p:cNvSpPr/>
                <p:nvPr/>
              </p:nvSpPr>
              <p:spPr>
                <a:xfrm>
                  <a:off x="5825416" y="4951017"/>
                  <a:ext cx="498598" cy="5472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groupChr>
                          <m:groupChrPr>
                            <m:chr m:val="→"/>
                            <m:vertJc m:val="bot"/>
                            <m:ctrlPr>
                              <a:rPr lang="en-US" sz="2200" i="1" smtClean="0">
                                <a:solidFill>
                                  <a:srgbClr val="002060"/>
                                </a:solidFill>
                                <a:latin typeface="Cambria Math" panose="02040503050406030204" pitchFamily="18" charset="0"/>
                                <a:ea typeface="Cambria Math" panose="02040503050406030204" pitchFamily="18" charset="0"/>
                              </a:rPr>
                            </m:ctrlPr>
                          </m:groupChrPr>
                          <m:e>
                            <m:r>
                              <a:rPr lang="sr-Latn-RS" sz="2200" b="0" i="1" smtClean="0">
                                <a:solidFill>
                                  <a:srgbClr val="002060"/>
                                </a:solidFill>
                                <a:latin typeface="Cambria Math" panose="02040503050406030204" pitchFamily="18" charset="0"/>
                                <a:ea typeface="Cambria Math" panose="02040503050406030204" pitchFamily="18" charset="0"/>
                              </a:rPr>
                              <m:t>𝐻</m:t>
                            </m:r>
                          </m:e>
                        </m:groupChr>
                      </m:oMath>
                    </m:oMathPara>
                  </a14:m>
                  <a:endParaRPr lang="en-US" sz="2200" dirty="0"/>
                </a:p>
              </p:txBody>
            </p:sp>
          </mc:Choice>
          <mc:Fallback xmlns="">
            <p:sp>
              <p:nvSpPr>
                <p:cNvPr id="39" name="Rectangle 38">
                  <a:extLst>
                    <a:ext uri="{FF2B5EF4-FFF2-40B4-BE49-F238E27FC236}">
                      <a16:creationId xmlns:a16="http://schemas.microsoft.com/office/drawing/2014/main" id="{BEE9D931-1F60-EF45-81F2-4437DAFE58D9}"/>
                    </a:ext>
                  </a:extLst>
                </p:cNvPr>
                <p:cNvSpPr>
                  <a:spLocks noRot="1" noChangeAspect="1" noMove="1" noResize="1" noEditPoints="1" noAdjustHandles="1" noChangeArrowheads="1" noChangeShapeType="1" noTextEdit="1"/>
                </p:cNvSpPr>
                <p:nvPr/>
              </p:nvSpPr>
              <p:spPr>
                <a:xfrm>
                  <a:off x="5825416" y="4951017"/>
                  <a:ext cx="498598" cy="547266"/>
                </a:xfrm>
                <a:prstGeom prst="rect">
                  <a:avLst/>
                </a:prstGeom>
                <a:blipFill>
                  <a:blip r:embed="rId14"/>
                  <a:stretch>
                    <a:fillRect l="-20000" b="-45455"/>
                  </a:stretch>
                </a:blipFill>
              </p:spPr>
              <p:txBody>
                <a:bodyPr/>
                <a:lstStyle/>
                <a:p>
                  <a:r>
                    <a:rPr lang="en-US">
                      <a:noFill/>
                    </a:rPr>
                    <a:t> </a:t>
                  </a:r>
                </a:p>
              </p:txBody>
            </p:sp>
          </mc:Fallback>
        </mc:AlternateContent>
      </p:grpSp>
    </p:spTree>
    <p:extLst>
      <p:ext uri="{BB962C8B-B14F-4D97-AF65-F5344CB8AC3E}">
        <p14:creationId xmlns:p14="http://schemas.microsoft.com/office/powerpoint/2010/main" val="935469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dissolve">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BD8DB98-DE51-4240-84A9-72520FC3198E}"/>
              </a:ext>
            </a:extLst>
          </p:cNvPr>
          <p:cNvSpPr>
            <a:spLocks noGrp="1"/>
          </p:cNvSpPr>
          <p:nvPr>
            <p:ph type="sldNum" sz="quarter" idx="12"/>
          </p:nvPr>
        </p:nvSpPr>
        <p:spPr/>
        <p:txBody>
          <a:bodyPr/>
          <a:lstStyle/>
          <a:p>
            <a:fld id="{591A223C-FA10-BC46-A853-03BA373D023C}" type="slidenum">
              <a:rPr lang="en-US" smtClean="0"/>
              <a:t>39</a:t>
            </a:fld>
            <a:endParaRPr lang="en-US"/>
          </a:p>
        </p:txBody>
      </p:sp>
      <p:sp>
        <p:nvSpPr>
          <p:cNvPr id="2" name="Title 1">
            <a:extLst>
              <a:ext uri="{FF2B5EF4-FFF2-40B4-BE49-F238E27FC236}">
                <a16:creationId xmlns:a16="http://schemas.microsoft.com/office/drawing/2014/main" id="{46AFF0A7-8AA1-EA40-9293-D3F2389EF173}"/>
              </a:ext>
            </a:extLst>
          </p:cNvPr>
          <p:cNvSpPr>
            <a:spLocks noGrp="1"/>
          </p:cNvSpPr>
          <p:nvPr>
            <p:ph type="title"/>
          </p:nvPr>
        </p:nvSpPr>
        <p:spPr/>
        <p:txBody>
          <a:bodyPr>
            <a:normAutofit/>
          </a:bodyPr>
          <a:lstStyle/>
          <a:p>
            <a:r>
              <a:rPr lang="en-ZA" dirty="0"/>
              <a:t>Entangling Multiple Qubits: GHZ States</a:t>
            </a:r>
            <a:endParaRPr lang="en-US" dirty="0"/>
          </a:p>
        </p:txBody>
      </p:sp>
      <p:cxnSp>
        <p:nvCxnSpPr>
          <p:cNvPr id="4" name="Straight Connector 3">
            <a:extLst>
              <a:ext uri="{FF2B5EF4-FFF2-40B4-BE49-F238E27FC236}">
                <a16:creationId xmlns:a16="http://schemas.microsoft.com/office/drawing/2014/main" id="{56CEF931-34A7-C649-8A55-23BBF087A2F3}"/>
              </a:ext>
            </a:extLst>
          </p:cNvPr>
          <p:cNvCxnSpPr>
            <a:cxnSpLocks/>
          </p:cNvCxnSpPr>
          <p:nvPr/>
        </p:nvCxnSpPr>
        <p:spPr>
          <a:xfrm>
            <a:off x="668551" y="2573781"/>
            <a:ext cx="558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8091898-D840-2A48-AC5E-460275BEBFD1}"/>
              </a:ext>
            </a:extLst>
          </p:cNvPr>
          <p:cNvCxnSpPr>
            <a:cxnSpLocks/>
          </p:cNvCxnSpPr>
          <p:nvPr/>
        </p:nvCxnSpPr>
        <p:spPr>
          <a:xfrm>
            <a:off x="668551" y="1560553"/>
            <a:ext cx="558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26BFF9AF-06A8-774F-9817-436152CEBE0B}"/>
              </a:ext>
            </a:extLst>
          </p:cNvPr>
          <p:cNvSpPr/>
          <p:nvPr/>
        </p:nvSpPr>
        <p:spPr>
          <a:xfrm>
            <a:off x="990043" y="1232628"/>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grpSp>
        <p:nvGrpSpPr>
          <p:cNvPr id="26" name="Group 25">
            <a:extLst>
              <a:ext uri="{FF2B5EF4-FFF2-40B4-BE49-F238E27FC236}">
                <a16:creationId xmlns:a16="http://schemas.microsoft.com/office/drawing/2014/main" id="{216A5DBD-3C19-5F45-84B5-926F121EBC94}"/>
              </a:ext>
            </a:extLst>
          </p:cNvPr>
          <p:cNvGrpSpPr/>
          <p:nvPr/>
        </p:nvGrpSpPr>
        <p:grpSpPr>
          <a:xfrm>
            <a:off x="2033145" y="1428955"/>
            <a:ext cx="720000" cy="1468653"/>
            <a:chOff x="2327060" y="2356833"/>
            <a:chExt cx="720000" cy="1468653"/>
          </a:xfrm>
        </p:grpSpPr>
        <p:cxnSp>
          <p:nvCxnSpPr>
            <p:cNvPr id="6" name="Straight Connector 5">
              <a:extLst>
                <a:ext uri="{FF2B5EF4-FFF2-40B4-BE49-F238E27FC236}">
                  <a16:creationId xmlns:a16="http://schemas.microsoft.com/office/drawing/2014/main" id="{F3003276-1430-504D-A448-BD80210CF19E}"/>
                </a:ext>
              </a:extLst>
            </p:cNvPr>
            <p:cNvCxnSpPr>
              <a:cxnSpLocks/>
              <a:stCxn id="9" idx="0"/>
              <a:endCxn id="7" idx="4"/>
            </p:cNvCxnSpPr>
            <p:nvPr/>
          </p:nvCxnSpPr>
          <p:spPr>
            <a:xfrm flipH="1" flipV="1">
              <a:off x="2685450" y="2608832"/>
              <a:ext cx="1610" cy="49665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3FC5E667-F423-A84E-A5C3-A3CF16247868}"/>
                </a:ext>
              </a:extLst>
            </p:cNvPr>
            <p:cNvSpPr/>
            <p:nvPr/>
          </p:nvSpPr>
          <p:spPr>
            <a:xfrm>
              <a:off x="2559450" y="2356833"/>
              <a:ext cx="251999" cy="251999"/>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17DFCB4-3B89-4B4C-A7BE-B0A5C9BA9C2B}"/>
                </a:ext>
              </a:extLst>
            </p:cNvPr>
            <p:cNvSpPr/>
            <p:nvPr/>
          </p:nvSpPr>
          <p:spPr>
            <a:xfrm>
              <a:off x="2327060" y="3105486"/>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grp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20B16F6A-8639-B040-BECE-7E9075A4B595}"/>
                  </a:ext>
                </a:extLst>
              </p:cNvPr>
              <p:cNvSpPr/>
              <p:nvPr/>
            </p:nvSpPr>
            <p:spPr>
              <a:xfrm>
                <a:off x="245631" y="1077757"/>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20" name="Rectangle 19">
                <a:extLst>
                  <a:ext uri="{FF2B5EF4-FFF2-40B4-BE49-F238E27FC236}">
                    <a16:creationId xmlns:a16="http://schemas.microsoft.com/office/drawing/2014/main" id="{20B16F6A-8639-B040-BECE-7E9075A4B595}"/>
                  </a:ext>
                </a:extLst>
              </p:cNvPr>
              <p:cNvSpPr>
                <a:spLocks noRot="1" noChangeAspect="1" noMove="1" noResize="1" noEditPoints="1" noAdjustHandles="1" noChangeArrowheads="1" noChangeShapeType="1" noTextEdit="1"/>
              </p:cNvSpPr>
              <p:nvPr/>
            </p:nvSpPr>
            <p:spPr>
              <a:xfrm>
                <a:off x="245631" y="1077757"/>
                <a:ext cx="631903" cy="461665"/>
              </a:xfrm>
              <a:prstGeom prst="rect">
                <a:avLst/>
              </a:prstGeom>
              <a:blipFill>
                <a:blip r:embed="rId3"/>
                <a:stretch>
                  <a:fillRect l="-23529" t="-124324" r="-4902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4CE89ACD-6023-7D46-B29D-9825ED793B6D}"/>
                  </a:ext>
                </a:extLst>
              </p:cNvPr>
              <p:cNvSpPr/>
              <p:nvPr/>
            </p:nvSpPr>
            <p:spPr>
              <a:xfrm>
                <a:off x="245630" y="2118451"/>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22" name="Rectangle 21">
                <a:extLst>
                  <a:ext uri="{FF2B5EF4-FFF2-40B4-BE49-F238E27FC236}">
                    <a16:creationId xmlns:a16="http://schemas.microsoft.com/office/drawing/2014/main" id="{4CE89ACD-6023-7D46-B29D-9825ED793B6D}"/>
                  </a:ext>
                </a:extLst>
              </p:cNvPr>
              <p:cNvSpPr>
                <a:spLocks noRot="1" noChangeAspect="1" noMove="1" noResize="1" noEditPoints="1" noAdjustHandles="1" noChangeArrowheads="1" noChangeShapeType="1" noTextEdit="1"/>
              </p:cNvSpPr>
              <p:nvPr/>
            </p:nvSpPr>
            <p:spPr>
              <a:xfrm>
                <a:off x="245630" y="2118451"/>
                <a:ext cx="631903" cy="461665"/>
              </a:xfrm>
              <a:prstGeom prst="rect">
                <a:avLst/>
              </a:prstGeom>
              <a:blipFill>
                <a:blip r:embed="rId3"/>
                <a:stretch>
                  <a:fillRect l="-23529" t="-124324" r="-49020" b="-191892"/>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04EEEA71-E19A-0245-90FC-C17993F230A5}"/>
              </a:ext>
            </a:extLst>
          </p:cNvPr>
          <p:cNvCxnSpPr>
            <a:cxnSpLocks/>
          </p:cNvCxnSpPr>
          <p:nvPr/>
        </p:nvCxnSpPr>
        <p:spPr>
          <a:xfrm>
            <a:off x="668551" y="3557399"/>
            <a:ext cx="558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71E2615-A1CC-8B47-AC9F-D0FF95F57476}"/>
              </a:ext>
            </a:extLst>
          </p:cNvPr>
          <p:cNvCxnSpPr>
            <a:cxnSpLocks/>
          </p:cNvCxnSpPr>
          <p:nvPr/>
        </p:nvCxnSpPr>
        <p:spPr>
          <a:xfrm>
            <a:off x="668551" y="5249512"/>
            <a:ext cx="558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0C09700-BCD1-D24F-AE2B-AB8454CD2692}"/>
              </a:ext>
            </a:extLst>
          </p:cNvPr>
          <p:cNvCxnSpPr>
            <a:cxnSpLocks/>
          </p:cNvCxnSpPr>
          <p:nvPr/>
        </p:nvCxnSpPr>
        <p:spPr>
          <a:xfrm>
            <a:off x="668551" y="6233620"/>
            <a:ext cx="558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6586B052-5D99-9B4C-9B79-8C9D39D137FA}"/>
              </a:ext>
            </a:extLst>
          </p:cNvPr>
          <p:cNvGrpSpPr/>
          <p:nvPr/>
        </p:nvGrpSpPr>
        <p:grpSpPr>
          <a:xfrm>
            <a:off x="2930960" y="2448746"/>
            <a:ext cx="720000" cy="1468653"/>
            <a:chOff x="2327060" y="2356833"/>
            <a:chExt cx="720000" cy="1468653"/>
          </a:xfrm>
        </p:grpSpPr>
        <p:cxnSp>
          <p:nvCxnSpPr>
            <p:cNvPr id="40" name="Straight Connector 39">
              <a:extLst>
                <a:ext uri="{FF2B5EF4-FFF2-40B4-BE49-F238E27FC236}">
                  <a16:creationId xmlns:a16="http://schemas.microsoft.com/office/drawing/2014/main" id="{CD5EF9ED-48E6-B342-AC02-DB6CE6FAFD86}"/>
                </a:ext>
              </a:extLst>
            </p:cNvPr>
            <p:cNvCxnSpPr>
              <a:cxnSpLocks/>
              <a:stCxn id="42" idx="0"/>
              <a:endCxn id="41" idx="4"/>
            </p:cNvCxnSpPr>
            <p:nvPr/>
          </p:nvCxnSpPr>
          <p:spPr>
            <a:xfrm flipH="1" flipV="1">
              <a:off x="2685450" y="2608832"/>
              <a:ext cx="1610" cy="49665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C24EB959-0EA8-B94C-910B-7EC0D25BCFAB}"/>
                </a:ext>
              </a:extLst>
            </p:cNvPr>
            <p:cNvSpPr/>
            <p:nvPr/>
          </p:nvSpPr>
          <p:spPr>
            <a:xfrm>
              <a:off x="2559450" y="2356833"/>
              <a:ext cx="251999" cy="251999"/>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7564D95E-A245-094A-8768-EE98EB4F1C79}"/>
                </a:ext>
              </a:extLst>
            </p:cNvPr>
            <p:cNvSpPr/>
            <p:nvPr/>
          </p:nvSpPr>
          <p:spPr>
            <a:xfrm>
              <a:off x="2327060" y="3105486"/>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grpSp>
      <p:grpSp>
        <p:nvGrpSpPr>
          <p:cNvPr id="43" name="Group 42">
            <a:extLst>
              <a:ext uri="{FF2B5EF4-FFF2-40B4-BE49-F238E27FC236}">
                <a16:creationId xmlns:a16="http://schemas.microsoft.com/office/drawing/2014/main" id="{DBB8911C-B155-234A-8D2C-112820EBB0BD}"/>
              </a:ext>
            </a:extLst>
          </p:cNvPr>
          <p:cNvGrpSpPr/>
          <p:nvPr/>
        </p:nvGrpSpPr>
        <p:grpSpPr>
          <a:xfrm>
            <a:off x="5021113" y="5123513"/>
            <a:ext cx="720000" cy="1468653"/>
            <a:chOff x="2327060" y="2356833"/>
            <a:chExt cx="720000" cy="1468653"/>
          </a:xfrm>
        </p:grpSpPr>
        <p:cxnSp>
          <p:nvCxnSpPr>
            <p:cNvPr id="44" name="Straight Connector 43">
              <a:extLst>
                <a:ext uri="{FF2B5EF4-FFF2-40B4-BE49-F238E27FC236}">
                  <a16:creationId xmlns:a16="http://schemas.microsoft.com/office/drawing/2014/main" id="{4A9319A5-0E8E-DC45-99BA-0A978B6A4811}"/>
                </a:ext>
              </a:extLst>
            </p:cNvPr>
            <p:cNvCxnSpPr>
              <a:cxnSpLocks/>
              <a:stCxn id="46" idx="0"/>
              <a:endCxn id="45" idx="4"/>
            </p:cNvCxnSpPr>
            <p:nvPr/>
          </p:nvCxnSpPr>
          <p:spPr>
            <a:xfrm flipH="1" flipV="1">
              <a:off x="2685450" y="2608832"/>
              <a:ext cx="1610" cy="49665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4F9070C0-1ED1-4A45-9E3C-224C41BF5C32}"/>
                </a:ext>
              </a:extLst>
            </p:cNvPr>
            <p:cNvSpPr/>
            <p:nvPr/>
          </p:nvSpPr>
          <p:spPr>
            <a:xfrm>
              <a:off x="2559450" y="2356833"/>
              <a:ext cx="251999" cy="251999"/>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3C78D5CB-572B-9C43-8BCB-2C5AB7D147CB}"/>
                </a:ext>
              </a:extLst>
            </p:cNvPr>
            <p:cNvSpPr/>
            <p:nvPr/>
          </p:nvSpPr>
          <p:spPr>
            <a:xfrm>
              <a:off x="2327060" y="3105486"/>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grpSp>
      <p:cxnSp>
        <p:nvCxnSpPr>
          <p:cNvPr id="47" name="Straight Connector 46">
            <a:extLst>
              <a:ext uri="{FF2B5EF4-FFF2-40B4-BE49-F238E27FC236}">
                <a16:creationId xmlns:a16="http://schemas.microsoft.com/office/drawing/2014/main" id="{D4CDE7F3-CB7E-CD4C-9A96-4837DE0BFC87}"/>
              </a:ext>
            </a:extLst>
          </p:cNvPr>
          <p:cNvCxnSpPr>
            <a:cxnSpLocks/>
          </p:cNvCxnSpPr>
          <p:nvPr/>
        </p:nvCxnSpPr>
        <p:spPr>
          <a:xfrm>
            <a:off x="668551" y="4404066"/>
            <a:ext cx="5580000" cy="0"/>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73B887A3-061F-EC4E-8DD2-DF05ACCE22FB}"/>
                  </a:ext>
                </a:extLst>
              </p:cNvPr>
              <p:cNvSpPr/>
              <p:nvPr/>
            </p:nvSpPr>
            <p:spPr>
              <a:xfrm>
                <a:off x="7119467" y="2098285"/>
                <a:ext cx="4094967" cy="29489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US" sz="2400" i="1" smtClean="0">
                              <a:solidFill>
                                <a:srgbClr val="002060"/>
                              </a:solidFill>
                              <a:latin typeface="Cambria Math" panose="02040503050406030204" pitchFamily="18" charset="0"/>
                              <a:ea typeface="Cambria Math" panose="02040503050406030204" pitchFamily="18" charset="0"/>
                            </a:rPr>
                          </m:ctrlPr>
                        </m:mPr>
                        <m:m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𝐺𝐻𝑍</m:t>
                                    </m:r>
                                  </m:e>
                                  <m:sub>
                                    <m:r>
                                      <a:rPr lang="en-US" sz="2400" i="1">
                                        <a:solidFill>
                                          <a:srgbClr val="002060"/>
                                        </a:solidFill>
                                        <a:latin typeface="Cambria Math" panose="02040503050406030204" pitchFamily="18" charset="0"/>
                                        <a:ea typeface="Cambria Math" panose="02040503050406030204" pitchFamily="18" charset="0"/>
                                      </a:rPr>
                                      <m:t>3</m:t>
                                    </m:r>
                                  </m:sub>
                                </m:sSub>
                              </m:e>
                            </m:d>
                            <m:r>
                              <a:rPr lang="en-US" sz="2400" i="1">
                                <a:solidFill>
                                  <a:srgbClr val="002060"/>
                                </a:solidFill>
                                <a:latin typeface="Cambria Math" panose="02040503050406030204" pitchFamily="18" charset="0"/>
                                <a:ea typeface="Cambria Math" panose="02040503050406030204" pitchFamily="18" charset="0"/>
                              </a:rPr>
                              <m:t>=</m:t>
                            </m:r>
                          </m:e>
                          <m:e>
                            <m:f>
                              <m:fPr>
                                <m:ctrlPr>
                                  <a:rPr lang="en-US" sz="2400" i="1">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|000</m:t>
                                    </m:r>
                                  </m:e>
                                </m:d>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|111</m:t>
                                    </m:r>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e>
                        </m:mr>
                        <m:m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𝐺𝐻𝑍</m:t>
                                    </m:r>
                                  </m:e>
                                  <m:sub>
                                    <m:r>
                                      <a:rPr lang="en-US" sz="2400" b="0" i="1" smtClean="0">
                                        <a:solidFill>
                                          <a:srgbClr val="002060"/>
                                        </a:solidFill>
                                        <a:latin typeface="Cambria Math" panose="02040503050406030204" pitchFamily="18" charset="0"/>
                                        <a:ea typeface="Cambria Math" panose="02040503050406030204" pitchFamily="18" charset="0"/>
                                      </a:rPr>
                                      <m:t>4</m:t>
                                    </m:r>
                                  </m:sub>
                                </m:sSub>
                              </m:e>
                            </m:d>
                            <m:r>
                              <a:rPr lang="en-US" sz="2400" i="1">
                                <a:solidFill>
                                  <a:srgbClr val="002060"/>
                                </a:solidFill>
                                <a:latin typeface="Cambria Math" panose="02040503050406030204" pitchFamily="18" charset="0"/>
                                <a:ea typeface="Cambria Math" panose="02040503050406030204" pitchFamily="18" charset="0"/>
                              </a:rPr>
                              <m:t>=</m:t>
                            </m:r>
                          </m:e>
                          <m:e>
                            <m:f>
                              <m:fPr>
                                <m:ctrlPr>
                                  <a:rPr lang="en-US" sz="2400" i="1">
                                    <a:solidFill>
                                      <a:srgbClr val="002060"/>
                                    </a:solidFill>
                                    <a:latin typeface="Cambria Math" panose="02040503050406030204" pitchFamily="18" charset="0"/>
                                    <a:ea typeface="Cambria Math" panose="02040503050406030204" pitchFamily="18" charset="0"/>
                                  </a:rPr>
                                </m:ctrlPr>
                              </m:fPr>
                              <m:num>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r>
                                      <a:rPr lang="en-US" sz="2400" b="0" i="1" smtClean="0">
                                        <a:solidFill>
                                          <a:srgbClr val="002060"/>
                                        </a:solidFill>
                                        <a:latin typeface="Cambria Math" panose="02040503050406030204" pitchFamily="18" charset="0"/>
                                        <a:ea typeface="Cambria Math" panose="02040503050406030204" pitchFamily="18" charset="0"/>
                                      </a:rPr>
                                      <m:t>0</m:t>
                                    </m:r>
                                    <m:r>
                                      <a:rPr lang="en-US" sz="2400" i="1">
                                        <a:solidFill>
                                          <a:srgbClr val="002060"/>
                                        </a:solidFill>
                                        <a:latin typeface="Cambria Math" panose="02040503050406030204" pitchFamily="18" charset="0"/>
                                        <a:ea typeface="Cambria Math" panose="02040503050406030204" pitchFamily="18" charset="0"/>
                                      </a:rPr>
                                      <m:t>00</m:t>
                                    </m:r>
                                  </m:e>
                                </m:d>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|11</m:t>
                                    </m:r>
                                    <m:r>
                                      <a:rPr lang="en-US" sz="2400" b="0" i="1" smtClean="0">
                                        <a:solidFill>
                                          <a:srgbClr val="002060"/>
                                        </a:solidFill>
                                        <a:latin typeface="Cambria Math" panose="02040503050406030204" pitchFamily="18" charset="0"/>
                                        <a:ea typeface="Cambria Math" panose="02040503050406030204" pitchFamily="18" charset="0"/>
                                      </a:rPr>
                                      <m:t>1</m:t>
                                    </m:r>
                                    <m:r>
                                      <a:rPr lang="en-US" sz="2400" i="1">
                                        <a:solidFill>
                                          <a:srgbClr val="002060"/>
                                        </a:solidFill>
                                        <a:latin typeface="Cambria Math" panose="02040503050406030204" pitchFamily="18" charset="0"/>
                                        <a:ea typeface="Cambria Math" panose="02040503050406030204" pitchFamily="18" charset="0"/>
                                      </a:rPr>
                                      <m:t>1</m:t>
                                    </m:r>
                                  </m:e>
                                </m:d>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e>
                        </m:mr>
                        <m:mr>
                          <m:e>
                            <m:r>
                              <a:rPr lang="en-US" sz="2400" i="1" smtClean="0">
                                <a:solidFill>
                                  <a:srgbClr val="002060"/>
                                </a:solidFill>
                                <a:latin typeface="Cambria Math" panose="02040503050406030204" pitchFamily="18" charset="0"/>
                                <a:ea typeface="Cambria Math" panose="02040503050406030204" pitchFamily="18" charset="0"/>
                              </a:rPr>
                              <m:t>⋮</m:t>
                            </m:r>
                          </m:e>
                          <m:e>
                            <m:r>
                              <a:rPr lang="en-US" sz="2400" i="1">
                                <a:solidFill>
                                  <a:srgbClr val="002060"/>
                                </a:solidFill>
                                <a:latin typeface="Cambria Math" panose="02040503050406030204" pitchFamily="18" charset="0"/>
                                <a:ea typeface="Cambria Math" panose="02040503050406030204" pitchFamily="18" charset="0"/>
                              </a:rPr>
                              <m:t>⋮</m:t>
                            </m:r>
                          </m:e>
                        </m:mr>
                        <m:m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𝐺𝐻𝑍</m:t>
                                    </m:r>
                                  </m:e>
                                  <m:sub>
                                    <m:r>
                                      <a:rPr lang="en-US" sz="2400" b="0" i="1" smtClean="0">
                                        <a:solidFill>
                                          <a:srgbClr val="002060"/>
                                        </a:solidFill>
                                        <a:latin typeface="Cambria Math" panose="02040503050406030204" pitchFamily="18" charset="0"/>
                                        <a:ea typeface="Cambria Math" panose="02040503050406030204" pitchFamily="18" charset="0"/>
                                      </a:rPr>
                                      <m:t>𝑛</m:t>
                                    </m:r>
                                  </m:sub>
                                </m:sSub>
                              </m:e>
                            </m:d>
                            <m:r>
                              <a:rPr lang="en-US" sz="2400" i="1">
                                <a:solidFill>
                                  <a:srgbClr val="002060"/>
                                </a:solidFill>
                                <a:latin typeface="Cambria Math" panose="02040503050406030204" pitchFamily="18" charset="0"/>
                                <a:ea typeface="Cambria Math" panose="02040503050406030204" pitchFamily="18" charset="0"/>
                              </a:rPr>
                              <m:t>=</m:t>
                            </m:r>
                          </m:e>
                          <m:e>
                            <m:f>
                              <m:fPr>
                                <m:ctrlPr>
                                  <a:rPr lang="en-US" sz="2400" i="1">
                                    <a:solidFill>
                                      <a:srgbClr val="002060"/>
                                    </a:solidFill>
                                    <a:latin typeface="Cambria Math" panose="02040503050406030204" pitchFamily="18" charset="0"/>
                                    <a:ea typeface="Cambria Math" panose="02040503050406030204" pitchFamily="18" charset="0"/>
                                  </a:rPr>
                                </m:ctrlPr>
                              </m:fPr>
                              <m:num>
                                <m:sSup>
                                  <m:sSupPr>
                                    <m:ctrlPr>
                                      <a:rPr lang="en-US" sz="2400" i="1" smtClean="0">
                                        <a:solidFill>
                                          <a:srgbClr val="002060"/>
                                        </a:solidFill>
                                        <a:latin typeface="Cambria Math" panose="02040503050406030204" pitchFamily="18" charset="0"/>
                                        <a:ea typeface="Cambria Math" panose="02040503050406030204" pitchFamily="18" charset="0"/>
                                      </a:rPr>
                                    </m:ctrlPr>
                                  </m:sSup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e>
                                  <m:sup>
                                    <m:r>
                                      <a:rPr lang="en-US" sz="2400" i="1" smtClean="0">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𝑛</m:t>
                                    </m:r>
                                  </m:sup>
                                </m:sSup>
                                <m:r>
                                  <a:rPr lang="en-US" sz="2400" i="1">
                                    <a:solidFill>
                                      <a:srgbClr val="002060"/>
                                    </a:solidFill>
                                    <a:latin typeface="Cambria Math" panose="02040503050406030204" pitchFamily="18" charset="0"/>
                                    <a:ea typeface="Cambria Math" panose="02040503050406030204" pitchFamily="18" charset="0"/>
                                  </a:rPr>
                                  <m:t>+</m:t>
                                </m:r>
                                <m:sSup>
                                  <m:sSupPr>
                                    <m:ctrlPr>
                                      <a:rPr lang="en-US" sz="2400" i="1">
                                        <a:solidFill>
                                          <a:srgbClr val="002060"/>
                                        </a:solidFill>
                                        <a:latin typeface="Cambria Math" panose="02040503050406030204" pitchFamily="18" charset="0"/>
                                        <a:ea typeface="Cambria Math" panose="02040503050406030204" pitchFamily="18" charset="0"/>
                                      </a:rPr>
                                    </m:ctrlPr>
                                  </m:sSup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1</m:t>
                                        </m:r>
                                      </m:e>
                                    </m:d>
                                  </m:e>
                                  <m:sup>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𝑛</m:t>
                                    </m:r>
                                  </m:sup>
                                </m:sSup>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2</m:t>
                                    </m:r>
                                  </m:e>
                                </m:rad>
                              </m:den>
                            </m:f>
                          </m:e>
                        </m:mr>
                      </m:m>
                    </m:oMath>
                  </m:oMathPara>
                </a14:m>
                <a:endParaRPr lang="en-US" sz="2400" dirty="0"/>
              </a:p>
            </p:txBody>
          </p:sp>
        </mc:Choice>
        <mc:Fallback xmlns="">
          <p:sp>
            <p:nvSpPr>
              <p:cNvPr id="50" name="Rectangle 49">
                <a:extLst>
                  <a:ext uri="{FF2B5EF4-FFF2-40B4-BE49-F238E27FC236}">
                    <a16:creationId xmlns:a16="http://schemas.microsoft.com/office/drawing/2014/main" id="{73B887A3-061F-EC4E-8DD2-DF05ACCE22FB}"/>
                  </a:ext>
                </a:extLst>
              </p:cNvPr>
              <p:cNvSpPr>
                <a:spLocks noRot="1" noChangeAspect="1" noMove="1" noResize="1" noEditPoints="1" noAdjustHandles="1" noChangeArrowheads="1" noChangeShapeType="1" noTextEdit="1"/>
              </p:cNvSpPr>
              <p:nvPr/>
            </p:nvSpPr>
            <p:spPr>
              <a:xfrm>
                <a:off x="7119467" y="2098285"/>
                <a:ext cx="4094967" cy="2948949"/>
              </a:xfrm>
              <a:prstGeom prst="rect">
                <a:avLst/>
              </a:prstGeom>
              <a:blipFill>
                <a:blip r:embed="rId4"/>
                <a:stretch>
                  <a:fillRect t="-20601" r="-5882" b="-2060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4F977C38-1132-D347-98A9-4D0A3CD01DEE}"/>
                  </a:ext>
                </a:extLst>
              </p:cNvPr>
              <p:cNvSpPr/>
              <p:nvPr/>
            </p:nvSpPr>
            <p:spPr>
              <a:xfrm>
                <a:off x="245630" y="3083233"/>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51" name="Rectangle 50">
                <a:extLst>
                  <a:ext uri="{FF2B5EF4-FFF2-40B4-BE49-F238E27FC236}">
                    <a16:creationId xmlns:a16="http://schemas.microsoft.com/office/drawing/2014/main" id="{4F977C38-1132-D347-98A9-4D0A3CD01DEE}"/>
                  </a:ext>
                </a:extLst>
              </p:cNvPr>
              <p:cNvSpPr>
                <a:spLocks noRot="1" noChangeAspect="1" noMove="1" noResize="1" noEditPoints="1" noAdjustHandles="1" noChangeArrowheads="1" noChangeShapeType="1" noTextEdit="1"/>
              </p:cNvSpPr>
              <p:nvPr/>
            </p:nvSpPr>
            <p:spPr>
              <a:xfrm>
                <a:off x="245630" y="3083233"/>
                <a:ext cx="631903" cy="461665"/>
              </a:xfrm>
              <a:prstGeom prst="rect">
                <a:avLst/>
              </a:prstGeom>
              <a:blipFill>
                <a:blip r:embed="rId3"/>
                <a:stretch>
                  <a:fillRect l="-23529" t="-124324" r="-4902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59F2249A-C25A-5244-B185-384B43BAF264}"/>
                  </a:ext>
                </a:extLst>
              </p:cNvPr>
              <p:cNvSpPr/>
              <p:nvPr/>
            </p:nvSpPr>
            <p:spPr>
              <a:xfrm>
                <a:off x="245629" y="4668172"/>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52" name="Rectangle 51">
                <a:extLst>
                  <a:ext uri="{FF2B5EF4-FFF2-40B4-BE49-F238E27FC236}">
                    <a16:creationId xmlns:a16="http://schemas.microsoft.com/office/drawing/2014/main" id="{59F2249A-C25A-5244-B185-384B43BAF264}"/>
                  </a:ext>
                </a:extLst>
              </p:cNvPr>
              <p:cNvSpPr>
                <a:spLocks noRot="1" noChangeAspect="1" noMove="1" noResize="1" noEditPoints="1" noAdjustHandles="1" noChangeArrowheads="1" noChangeShapeType="1" noTextEdit="1"/>
              </p:cNvSpPr>
              <p:nvPr/>
            </p:nvSpPr>
            <p:spPr>
              <a:xfrm>
                <a:off x="245629" y="4668172"/>
                <a:ext cx="631903" cy="461665"/>
              </a:xfrm>
              <a:prstGeom prst="rect">
                <a:avLst/>
              </a:prstGeom>
              <a:blipFill>
                <a:blip r:embed="rId5"/>
                <a:stretch>
                  <a:fillRect l="-23529" t="-124324" r="-4902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2F55D8BC-C63D-0645-9C73-2E6B4A3E59DB}"/>
                  </a:ext>
                </a:extLst>
              </p:cNvPr>
              <p:cNvSpPr/>
              <p:nvPr/>
            </p:nvSpPr>
            <p:spPr>
              <a:xfrm>
                <a:off x="245628" y="5721095"/>
                <a:ext cx="631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53" name="Rectangle 52">
                <a:extLst>
                  <a:ext uri="{FF2B5EF4-FFF2-40B4-BE49-F238E27FC236}">
                    <a16:creationId xmlns:a16="http://schemas.microsoft.com/office/drawing/2014/main" id="{2F55D8BC-C63D-0645-9C73-2E6B4A3E59DB}"/>
                  </a:ext>
                </a:extLst>
              </p:cNvPr>
              <p:cNvSpPr>
                <a:spLocks noRot="1" noChangeAspect="1" noMove="1" noResize="1" noEditPoints="1" noAdjustHandles="1" noChangeArrowheads="1" noChangeShapeType="1" noTextEdit="1"/>
              </p:cNvSpPr>
              <p:nvPr/>
            </p:nvSpPr>
            <p:spPr>
              <a:xfrm>
                <a:off x="245628" y="5721095"/>
                <a:ext cx="631903" cy="461665"/>
              </a:xfrm>
              <a:prstGeom prst="rect">
                <a:avLst/>
              </a:prstGeom>
              <a:blipFill>
                <a:blip r:embed="rId6"/>
                <a:stretch>
                  <a:fillRect l="-23529" t="-121053" r="-49020" b="-186842"/>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57ACA0F3-E322-0545-AAC8-6124283D2161}"/>
              </a:ext>
            </a:extLst>
          </p:cNvPr>
          <p:cNvSpPr/>
          <p:nvPr/>
        </p:nvSpPr>
        <p:spPr>
          <a:xfrm>
            <a:off x="877531" y="1077757"/>
            <a:ext cx="2053429" cy="2005476"/>
          </a:xfrm>
          <a:prstGeom prst="rect">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93053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1F565EF2-9E55-BF43-B3BC-B25BA20E9C86}"/>
              </a:ext>
            </a:extLst>
          </p:cNvPr>
          <p:cNvSpPr txBox="1"/>
          <p:nvPr/>
        </p:nvSpPr>
        <p:spPr>
          <a:xfrm>
            <a:off x="662428" y="2276626"/>
            <a:ext cx="3676006" cy="1446550"/>
          </a:xfrm>
          <a:prstGeom prst="rect">
            <a:avLst/>
          </a:prstGeom>
          <a:noFill/>
        </p:spPr>
        <p:txBody>
          <a:bodyPr wrap="none" rtlCol="0">
            <a:spAutoFit/>
          </a:bodyPr>
          <a:lstStyle/>
          <a:p>
            <a:pPr algn="ctr"/>
            <a:r>
              <a:rPr lang="en-US" sz="4400" dirty="0">
                <a:latin typeface="Comic Sans MS" panose="030F0902030302020204" pitchFamily="66" charset="0"/>
              </a:rPr>
              <a:t>Quantum</a:t>
            </a:r>
          </a:p>
          <a:p>
            <a:pPr algn="ctr"/>
            <a:r>
              <a:rPr lang="en-US" sz="4400" dirty="0">
                <a:latin typeface="Comic Sans MS" panose="030F0902030302020204" pitchFamily="66" charset="0"/>
              </a:rPr>
              <a:t>measurement</a:t>
            </a:r>
          </a:p>
        </p:txBody>
      </p:sp>
      <p:pic>
        <p:nvPicPr>
          <p:cNvPr id="4" name="Picture 3">
            <a:extLst>
              <a:ext uri="{FF2B5EF4-FFF2-40B4-BE49-F238E27FC236}">
                <a16:creationId xmlns:a16="http://schemas.microsoft.com/office/drawing/2014/main" id="{F3C7E250-1DEF-B94B-B64F-401494C59CC3}"/>
              </a:ext>
            </a:extLst>
          </p:cNvPr>
          <p:cNvPicPr>
            <a:picLocks noChangeAspect="1"/>
          </p:cNvPicPr>
          <p:nvPr/>
        </p:nvPicPr>
        <p:blipFill>
          <a:blip r:embed="rId3"/>
          <a:stretch>
            <a:fillRect/>
          </a:stretch>
        </p:blipFill>
        <p:spPr>
          <a:xfrm>
            <a:off x="5418667" y="173037"/>
            <a:ext cx="6502400" cy="6502400"/>
          </a:xfrm>
          <a:prstGeom prst="rect">
            <a:avLst/>
          </a:prstGeom>
        </p:spPr>
      </p:pic>
      <p:sp>
        <p:nvSpPr>
          <p:cNvPr id="5" name="Slide Number Placeholder 2">
            <a:extLst>
              <a:ext uri="{FF2B5EF4-FFF2-40B4-BE49-F238E27FC236}">
                <a16:creationId xmlns:a16="http://schemas.microsoft.com/office/drawing/2014/main" id="{A7B66B2C-3A4A-4542-8E40-6AFA9A542964}"/>
              </a:ext>
            </a:extLst>
          </p:cNvPr>
          <p:cNvSpPr>
            <a:spLocks noGrp="1"/>
          </p:cNvSpPr>
          <p:nvPr>
            <p:ph type="sldNum" sz="quarter" idx="12"/>
          </p:nvPr>
        </p:nvSpPr>
        <p:spPr>
          <a:xfrm>
            <a:off x="0" y="6492875"/>
            <a:ext cx="587829" cy="365125"/>
          </a:xfrm>
        </p:spPr>
        <p:txBody>
          <a:bodyPr/>
          <a:lstStyle/>
          <a:p>
            <a:fld id="{591A223C-FA10-BC46-A853-03BA373D023C}" type="slidenum">
              <a:rPr lang="en-US" smtClean="0"/>
              <a:t>40</a:t>
            </a:fld>
            <a:endParaRPr lang="en-US"/>
          </a:p>
        </p:txBody>
      </p:sp>
    </p:spTree>
    <p:extLst>
      <p:ext uri="{BB962C8B-B14F-4D97-AF65-F5344CB8AC3E}">
        <p14:creationId xmlns:p14="http://schemas.microsoft.com/office/powerpoint/2010/main" val="16730526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2A7A25-7FD1-D248-B3B4-2732FAFE8AD9}"/>
              </a:ext>
            </a:extLst>
          </p:cNvPr>
          <p:cNvSpPr>
            <a:spLocks noGrp="1"/>
          </p:cNvSpPr>
          <p:nvPr>
            <p:ph type="title"/>
          </p:nvPr>
        </p:nvSpPr>
        <p:spPr/>
        <p:txBody>
          <a:bodyPr/>
          <a:lstStyle/>
          <a:p>
            <a:r>
              <a:rPr lang="en-US" dirty="0"/>
              <a:t>QM Box: Observable</a:t>
            </a:r>
          </a:p>
        </p:txBody>
      </p:sp>
      <p:sp>
        <p:nvSpPr>
          <p:cNvPr id="2" name="Slide Number Placeholder 1">
            <a:extLst>
              <a:ext uri="{FF2B5EF4-FFF2-40B4-BE49-F238E27FC236}">
                <a16:creationId xmlns:a16="http://schemas.microsoft.com/office/drawing/2014/main" id="{7A9AF7D5-3662-934A-8BCE-38631B76EFD7}"/>
              </a:ext>
            </a:extLst>
          </p:cNvPr>
          <p:cNvSpPr>
            <a:spLocks noGrp="1"/>
          </p:cNvSpPr>
          <p:nvPr>
            <p:ph type="sldNum" sz="quarter" idx="12"/>
          </p:nvPr>
        </p:nvSpPr>
        <p:spPr/>
        <p:txBody>
          <a:bodyPr/>
          <a:lstStyle/>
          <a:p>
            <a:fld id="{591A223C-FA10-BC46-A853-03BA373D023C}" type="slidenum">
              <a:rPr lang="en-US" smtClean="0"/>
              <a:t>41</a:t>
            </a:fld>
            <a:endParaRPr lang="en-US"/>
          </a:p>
        </p:txBody>
      </p:sp>
      <p:sp>
        <p:nvSpPr>
          <p:cNvPr id="11" name="Oval 10">
            <a:extLst>
              <a:ext uri="{FF2B5EF4-FFF2-40B4-BE49-F238E27FC236}">
                <a16:creationId xmlns:a16="http://schemas.microsoft.com/office/drawing/2014/main" id="{743B22D8-9DA0-AB4A-9496-C6BB9DBC2E73}"/>
              </a:ext>
            </a:extLst>
          </p:cNvPr>
          <p:cNvSpPr/>
          <p:nvPr/>
        </p:nvSpPr>
        <p:spPr>
          <a:xfrm>
            <a:off x="1216529" y="3041666"/>
            <a:ext cx="271403" cy="271403"/>
          </a:xfrm>
          <a:prstGeom prst="ellipse">
            <a:avLst/>
          </a:prstGeom>
          <a:solidFill>
            <a:schemeClr val="bg1">
              <a:lumMod val="95000"/>
            </a:schemeClr>
          </a:solidFill>
          <a:ln>
            <a:noFill/>
          </a:ln>
          <a:effectLst>
            <a:glow rad="3302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endParaRPr>
          </a:p>
        </p:txBody>
      </p:sp>
      <p:sp>
        <p:nvSpPr>
          <p:cNvPr id="13" name="TextBox 12">
            <a:extLst>
              <a:ext uri="{FF2B5EF4-FFF2-40B4-BE49-F238E27FC236}">
                <a16:creationId xmlns:a16="http://schemas.microsoft.com/office/drawing/2014/main" id="{B5A60E44-87BB-354A-A0FC-5BC2D1C88B89}"/>
              </a:ext>
            </a:extLst>
          </p:cNvPr>
          <p:cNvSpPr txBox="1"/>
          <p:nvPr/>
        </p:nvSpPr>
        <p:spPr>
          <a:xfrm>
            <a:off x="2052769" y="1444996"/>
            <a:ext cx="2080441" cy="461665"/>
          </a:xfrm>
          <a:prstGeom prst="rect">
            <a:avLst/>
          </a:prstGeom>
          <a:noFill/>
        </p:spPr>
        <p:txBody>
          <a:bodyPr wrap="none" rtlCol="0">
            <a:spAutoFit/>
          </a:bodyPr>
          <a:lstStyle/>
          <a:p>
            <a:r>
              <a:rPr lang="en-US" sz="2400" dirty="0">
                <a:latin typeface="+mj-lt"/>
              </a:rPr>
              <a:t>physical system</a:t>
            </a:r>
          </a:p>
        </p:txBody>
      </p:sp>
      <p:pic>
        <p:nvPicPr>
          <p:cNvPr id="14" name="Picture 13">
            <a:extLst>
              <a:ext uri="{FF2B5EF4-FFF2-40B4-BE49-F238E27FC236}">
                <a16:creationId xmlns:a16="http://schemas.microsoft.com/office/drawing/2014/main" id="{B83AE5A6-5310-DB4B-937F-EAB77832BBC0}"/>
              </a:ext>
            </a:extLst>
          </p:cNvPr>
          <p:cNvPicPr>
            <a:picLocks noChangeAspect="1"/>
          </p:cNvPicPr>
          <p:nvPr/>
        </p:nvPicPr>
        <p:blipFill>
          <a:blip r:embed="rId3"/>
          <a:stretch>
            <a:fillRect/>
          </a:stretch>
        </p:blipFill>
        <p:spPr>
          <a:xfrm>
            <a:off x="1195584" y="2996044"/>
            <a:ext cx="2177542" cy="1209744"/>
          </a:xfrm>
          <a:prstGeom prst="rect">
            <a:avLst/>
          </a:prstGeom>
        </p:spPr>
      </p:pic>
      <p:sp>
        <p:nvSpPr>
          <p:cNvPr id="15" name="TextBox 14">
            <a:extLst>
              <a:ext uri="{FF2B5EF4-FFF2-40B4-BE49-F238E27FC236}">
                <a16:creationId xmlns:a16="http://schemas.microsoft.com/office/drawing/2014/main" id="{8BA866E6-C095-7A4E-84D0-2CF2FFA25BB0}"/>
              </a:ext>
            </a:extLst>
          </p:cNvPr>
          <p:cNvSpPr txBox="1"/>
          <p:nvPr/>
        </p:nvSpPr>
        <p:spPr>
          <a:xfrm>
            <a:off x="2581054" y="4837044"/>
            <a:ext cx="1064843" cy="400110"/>
          </a:xfrm>
          <a:prstGeom prst="rect">
            <a:avLst/>
          </a:prstGeom>
          <a:noFill/>
        </p:spPr>
        <p:txBody>
          <a:bodyPr wrap="none" rtlCol="0">
            <a:spAutoFit/>
          </a:bodyPr>
          <a:lstStyle/>
          <a:p>
            <a:r>
              <a:rPr lang="en-US" sz="2000" dirty="0">
                <a:latin typeface="+mj-lt"/>
              </a:rPr>
              <a:t>detector</a:t>
            </a:r>
          </a:p>
        </p:txBody>
      </p:sp>
      <p:grpSp>
        <p:nvGrpSpPr>
          <p:cNvPr id="51" name="Group 50">
            <a:extLst>
              <a:ext uri="{FF2B5EF4-FFF2-40B4-BE49-F238E27FC236}">
                <a16:creationId xmlns:a16="http://schemas.microsoft.com/office/drawing/2014/main" id="{76EA06DE-B477-6547-BD93-C23199C07686}"/>
              </a:ext>
            </a:extLst>
          </p:cNvPr>
          <p:cNvGrpSpPr/>
          <p:nvPr/>
        </p:nvGrpSpPr>
        <p:grpSpPr>
          <a:xfrm>
            <a:off x="5334424" y="1283261"/>
            <a:ext cx="6373671" cy="4393079"/>
            <a:chOff x="5334424" y="1283261"/>
            <a:chExt cx="6373671" cy="4393079"/>
          </a:xfrm>
        </p:grpSpPr>
        <p:sp>
          <p:nvSpPr>
            <p:cNvPr id="4" name="Right Arrow 3">
              <a:extLst>
                <a:ext uri="{FF2B5EF4-FFF2-40B4-BE49-F238E27FC236}">
                  <a16:creationId xmlns:a16="http://schemas.microsoft.com/office/drawing/2014/main" id="{5B4B05CE-89BA-E742-99AF-63A29460FD6E}"/>
                </a:ext>
              </a:extLst>
            </p:cNvPr>
            <p:cNvSpPr/>
            <p:nvPr/>
          </p:nvSpPr>
          <p:spPr>
            <a:xfrm>
              <a:off x="7013890" y="3296465"/>
              <a:ext cx="2484483" cy="1174537"/>
            </a:xfrm>
            <a:prstGeom prst="rightArrow">
              <a:avLst/>
            </a:prstGeom>
            <a:gradFill flip="none" rotWithShape="1">
              <a:gsLst>
                <a:gs pos="0">
                  <a:schemeClr val="bg1">
                    <a:lumMod val="95000"/>
                  </a:schemeClr>
                </a:gs>
                <a:gs pos="100000">
                  <a:schemeClr val="accent3">
                    <a:lumMod val="30000"/>
                    <a:lumOff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endParaRPr>
            </a:p>
          </p:txBody>
        </p:sp>
        <p:grpSp>
          <p:nvGrpSpPr>
            <p:cNvPr id="5" name="Group 4">
              <a:extLst>
                <a:ext uri="{FF2B5EF4-FFF2-40B4-BE49-F238E27FC236}">
                  <a16:creationId xmlns:a16="http://schemas.microsoft.com/office/drawing/2014/main" id="{80183A8A-1145-F144-BC6E-1006D5931A74}"/>
                </a:ext>
              </a:extLst>
            </p:cNvPr>
            <p:cNvGrpSpPr/>
            <p:nvPr/>
          </p:nvGrpSpPr>
          <p:grpSpPr>
            <a:xfrm>
              <a:off x="7516624" y="3258617"/>
              <a:ext cx="1171724" cy="1171724"/>
              <a:chOff x="4184602" y="3422972"/>
              <a:chExt cx="575926" cy="575926"/>
            </a:xfrm>
          </p:grpSpPr>
          <p:sp>
            <p:nvSpPr>
              <p:cNvPr id="6" name="Rectangle 5">
                <a:extLst>
                  <a:ext uri="{FF2B5EF4-FFF2-40B4-BE49-F238E27FC236}">
                    <a16:creationId xmlns:a16="http://schemas.microsoft.com/office/drawing/2014/main" id="{1A3EBDD3-AADD-AD4A-A33D-0416F2BFE9D6}"/>
                  </a:ext>
                </a:extLst>
              </p:cNvPr>
              <p:cNvSpPr>
                <a:spLocks noChangeAspect="1"/>
              </p:cNvSpPr>
              <p:nvPr/>
            </p:nvSpPr>
            <p:spPr>
              <a:xfrm>
                <a:off x="4184602" y="3422972"/>
                <a:ext cx="575926" cy="575926"/>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endParaRPr>
              </a:p>
            </p:txBody>
          </p:sp>
          <p:cxnSp>
            <p:nvCxnSpPr>
              <p:cNvPr id="7" name="Straight Arrow Connector 6">
                <a:extLst>
                  <a:ext uri="{FF2B5EF4-FFF2-40B4-BE49-F238E27FC236}">
                    <a16:creationId xmlns:a16="http://schemas.microsoft.com/office/drawing/2014/main" id="{7815391F-8E22-774F-A277-03C1E0417B2D}"/>
                  </a:ext>
                </a:extLst>
              </p:cNvPr>
              <p:cNvCxnSpPr>
                <a:cxnSpLocks/>
                <a:endCxn id="10" idx="7"/>
              </p:cNvCxnSpPr>
              <p:nvPr/>
            </p:nvCxnSpPr>
            <p:spPr>
              <a:xfrm flipV="1">
                <a:off x="4465142" y="3511819"/>
                <a:ext cx="189944" cy="185821"/>
              </a:xfrm>
              <a:prstGeom prst="straightConnector1">
                <a:avLst/>
              </a:prstGeom>
              <a:ln w="25400" cap="rnd">
                <a:solidFill>
                  <a:srgbClr val="FF0000">
                    <a:alpha val="44000"/>
                  </a:srgbClr>
                </a:solidFill>
                <a:tailEnd type="triangle"/>
              </a:ln>
            </p:spPr>
            <p:style>
              <a:lnRef idx="1">
                <a:schemeClr val="accent1"/>
              </a:lnRef>
              <a:fillRef idx="0">
                <a:schemeClr val="accent1"/>
              </a:fillRef>
              <a:effectRef idx="0">
                <a:schemeClr val="accent1"/>
              </a:effectRef>
              <a:fontRef idx="minor">
                <a:schemeClr val="tx1"/>
              </a:fontRef>
            </p:style>
          </p:cxnSp>
          <p:sp>
            <p:nvSpPr>
              <p:cNvPr id="8" name="Round Diagonal Corner Rectangle 7">
                <a:extLst>
                  <a:ext uri="{FF2B5EF4-FFF2-40B4-BE49-F238E27FC236}">
                    <a16:creationId xmlns:a16="http://schemas.microsoft.com/office/drawing/2014/main" id="{77C66F9D-8C19-CE44-9854-54097C79FCC1}"/>
                  </a:ext>
                </a:extLst>
              </p:cNvPr>
              <p:cNvSpPr/>
              <p:nvPr/>
            </p:nvSpPr>
            <p:spPr>
              <a:xfrm>
                <a:off x="4196520" y="3674221"/>
                <a:ext cx="537244" cy="33588"/>
              </a:xfrm>
              <a:prstGeom prst="round2DiagRect">
                <a:avLst>
                  <a:gd name="adj1" fmla="val 50000"/>
                  <a:gd name="adj2" fmla="val 420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endParaRPr>
              </a:p>
            </p:txBody>
          </p:sp>
          <p:sp>
            <p:nvSpPr>
              <p:cNvPr id="9" name="Round Diagonal Corner Rectangle 8">
                <a:extLst>
                  <a:ext uri="{FF2B5EF4-FFF2-40B4-BE49-F238E27FC236}">
                    <a16:creationId xmlns:a16="http://schemas.microsoft.com/office/drawing/2014/main" id="{DCD875BE-7B9E-ED46-9C2B-4949776DC731}"/>
                  </a:ext>
                </a:extLst>
              </p:cNvPr>
              <p:cNvSpPr/>
              <p:nvPr/>
            </p:nvSpPr>
            <p:spPr>
              <a:xfrm rot="5400000">
                <a:off x="4195432" y="3682451"/>
                <a:ext cx="532207" cy="33588"/>
              </a:xfrm>
              <a:prstGeom prst="round2DiagRect">
                <a:avLst>
                  <a:gd name="adj1" fmla="val 50000"/>
                  <a:gd name="adj2" fmla="val 420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endParaRPr>
              </a:p>
            </p:txBody>
          </p:sp>
          <p:sp>
            <p:nvSpPr>
              <p:cNvPr id="10" name="Oval 9">
                <a:extLst>
                  <a:ext uri="{FF2B5EF4-FFF2-40B4-BE49-F238E27FC236}">
                    <a16:creationId xmlns:a16="http://schemas.microsoft.com/office/drawing/2014/main" id="{4C9653CB-66D2-7F49-8DBE-64A67C46A6AB}"/>
                  </a:ext>
                </a:extLst>
              </p:cNvPr>
              <p:cNvSpPr/>
              <p:nvPr/>
            </p:nvSpPr>
            <p:spPr>
              <a:xfrm>
                <a:off x="4196520" y="3433141"/>
                <a:ext cx="537244" cy="537245"/>
              </a:xfrm>
              <a:prstGeom prst="ellipse">
                <a:avLst/>
              </a:prstGeom>
              <a:no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endParaRPr>
              </a:p>
            </p:txBody>
          </p:sp>
        </p:grpSp>
        <p:cxnSp>
          <p:nvCxnSpPr>
            <p:cNvPr id="25" name="Straight Connector 24">
              <a:extLst>
                <a:ext uri="{FF2B5EF4-FFF2-40B4-BE49-F238E27FC236}">
                  <a16:creationId xmlns:a16="http://schemas.microsoft.com/office/drawing/2014/main" id="{C31F4B67-D5F7-1547-8E58-B202ED9FAC4A}"/>
                </a:ext>
              </a:extLst>
            </p:cNvPr>
            <p:cNvCxnSpPr>
              <a:cxnSpLocks/>
            </p:cNvCxnSpPr>
            <p:nvPr/>
          </p:nvCxnSpPr>
          <p:spPr>
            <a:xfrm flipH="1">
              <a:off x="5334424" y="1756753"/>
              <a:ext cx="0" cy="3865278"/>
            </a:xfrm>
            <a:prstGeom prst="line">
              <a:avLst/>
            </a:prstGeom>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2EF733D6-9506-8A4E-9CC7-DE812639DBC1}"/>
                </a:ext>
              </a:extLst>
            </p:cNvPr>
            <p:cNvSpPr txBox="1"/>
            <p:nvPr/>
          </p:nvSpPr>
          <p:spPr>
            <a:xfrm>
              <a:off x="7507151" y="1283261"/>
              <a:ext cx="2729209" cy="461665"/>
            </a:xfrm>
            <a:prstGeom prst="rect">
              <a:avLst/>
            </a:prstGeom>
            <a:noFill/>
          </p:spPr>
          <p:txBody>
            <a:bodyPr wrap="none" rtlCol="0">
              <a:spAutoFit/>
            </a:bodyPr>
            <a:lstStyle/>
            <a:p>
              <a:r>
                <a:rPr lang="en-US" sz="2400" dirty="0">
                  <a:latin typeface="+mj-lt"/>
                </a:rPr>
                <a:t>mathematical model</a:t>
              </a:r>
            </a:p>
          </p:txBody>
        </p:sp>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FA02E77D-4287-CD4B-A445-ADC17BFD424C}"/>
                    </a:ext>
                  </a:extLst>
                </p:cNvPr>
                <p:cNvSpPr/>
                <p:nvPr/>
              </p:nvSpPr>
              <p:spPr>
                <a:xfrm>
                  <a:off x="6788589" y="4535425"/>
                  <a:ext cx="2022605" cy="7081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𝑍</m:t>
                        </m:r>
                        <m:r>
                          <a:rPr lang="en-US" sz="2400" i="1">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a:latin typeface="Cambria Math" panose="02040503050406030204" pitchFamily="18" charset="0"/>
                                    </a:rPr>
                                    <m:t>1</m:t>
                                  </m:r>
                                </m:e>
                                <m:e>
                                  <m:r>
                                    <a:rPr lang="en-US" sz="2400">
                                      <a:latin typeface="Cambria Math" panose="02040503050406030204" pitchFamily="18" charset="0"/>
                                    </a:rPr>
                                    <m:t>0</m:t>
                                  </m:r>
                                </m:e>
                              </m:mr>
                              <m:mr>
                                <m:e>
                                  <m:r>
                                    <a:rPr lang="en-US" sz="2400">
                                      <a:latin typeface="Cambria Math" panose="02040503050406030204" pitchFamily="18" charset="0"/>
                                    </a:rPr>
                                    <m:t>0</m:t>
                                  </m:r>
                                </m:e>
                                <m:e>
                                  <m:r>
                                    <a:rPr lang="en-US" sz="2400">
                                      <a:latin typeface="Cambria Math" panose="02040503050406030204" pitchFamily="18" charset="0"/>
                                    </a:rPr>
                                    <m:t>−1</m:t>
                                  </m:r>
                                </m:e>
                              </m:mr>
                            </m:m>
                          </m:e>
                        </m:d>
                      </m:oMath>
                    </m:oMathPara>
                  </a14:m>
                  <a:endParaRPr lang="en-US" sz="2400" dirty="0">
                    <a:latin typeface="+mj-lt"/>
                  </a:endParaRPr>
                </a:p>
              </p:txBody>
            </p:sp>
          </mc:Choice>
          <mc:Fallback xmlns="">
            <p:sp>
              <p:nvSpPr>
                <p:cNvPr id="27" name="Rectangle 26">
                  <a:extLst>
                    <a:ext uri="{FF2B5EF4-FFF2-40B4-BE49-F238E27FC236}">
                      <a16:creationId xmlns:a16="http://schemas.microsoft.com/office/drawing/2014/main" id="{FA02E77D-4287-CD4B-A445-ADC17BFD424C}"/>
                    </a:ext>
                  </a:extLst>
                </p:cNvPr>
                <p:cNvSpPr>
                  <a:spLocks noRot="1" noChangeAspect="1" noMove="1" noResize="1" noEditPoints="1" noAdjustHandles="1" noChangeArrowheads="1" noChangeShapeType="1" noTextEdit="1"/>
                </p:cNvSpPr>
                <p:nvPr/>
              </p:nvSpPr>
              <p:spPr>
                <a:xfrm>
                  <a:off x="6788589" y="4535425"/>
                  <a:ext cx="2022605" cy="708143"/>
                </a:xfrm>
                <a:prstGeom prst="rect">
                  <a:avLst/>
                </a:prstGeom>
                <a:blipFill>
                  <a:blip r:embed="rId4"/>
                  <a:stretch>
                    <a:fillRect b="-7018"/>
                  </a:stretch>
                </a:blipFill>
              </p:spPr>
              <p:txBody>
                <a:bodyPr/>
                <a:lstStyle/>
                <a:p>
                  <a:r>
                    <a:rPr lang="en-US">
                      <a:noFill/>
                    </a:rPr>
                    <a:t> </a:t>
                  </a:r>
                </a:p>
              </p:txBody>
            </p:sp>
          </mc:Fallback>
        </mc:AlternateContent>
        <p:sp>
          <p:nvSpPr>
            <p:cNvPr id="28" name="Oval 27">
              <a:extLst>
                <a:ext uri="{FF2B5EF4-FFF2-40B4-BE49-F238E27FC236}">
                  <a16:creationId xmlns:a16="http://schemas.microsoft.com/office/drawing/2014/main" id="{4874ABFE-0F3E-A04B-957A-D91F44744AFD}"/>
                </a:ext>
              </a:extLst>
            </p:cNvPr>
            <p:cNvSpPr/>
            <p:nvPr/>
          </p:nvSpPr>
          <p:spPr>
            <a:xfrm>
              <a:off x="5633408" y="3306355"/>
              <a:ext cx="1093025" cy="109302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endParaRPr>
            </a:p>
          </p:txBody>
        </p:sp>
        <p:cxnSp>
          <p:nvCxnSpPr>
            <p:cNvPr id="29" name="Straight Arrow Connector 28">
              <a:extLst>
                <a:ext uri="{FF2B5EF4-FFF2-40B4-BE49-F238E27FC236}">
                  <a16:creationId xmlns:a16="http://schemas.microsoft.com/office/drawing/2014/main" id="{44EA4165-8218-BD45-B406-E5773FF7F683}"/>
                </a:ext>
              </a:extLst>
            </p:cNvPr>
            <p:cNvCxnSpPr>
              <a:cxnSpLocks/>
              <a:endCxn id="28" idx="7"/>
            </p:cNvCxnSpPr>
            <p:nvPr/>
          </p:nvCxnSpPr>
          <p:spPr>
            <a:xfrm flipV="1">
              <a:off x="6179921" y="3466425"/>
              <a:ext cx="386442" cy="378054"/>
            </a:xfrm>
            <a:prstGeom prst="straightConnector1">
              <a:avLst/>
            </a:prstGeom>
            <a:ln w="25400"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A8EFF82-0C18-AF42-9123-773C59B52780}"/>
                </a:ext>
              </a:extLst>
            </p:cNvPr>
            <p:cNvCxnSpPr>
              <a:cxnSpLocks/>
            </p:cNvCxnSpPr>
            <p:nvPr/>
          </p:nvCxnSpPr>
          <p:spPr>
            <a:xfrm>
              <a:off x="5561564" y="3289574"/>
              <a:ext cx="0" cy="1208410"/>
            </a:xfrm>
            <a:prstGeom prst="line">
              <a:avLst/>
            </a:prstGeom>
            <a:ln w="38100" cap="rnd">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44915C3-17AA-574B-B377-6A73F4CAB3E7}"/>
                </a:ext>
              </a:extLst>
            </p:cNvPr>
            <p:cNvCxnSpPr>
              <a:cxnSpLocks/>
            </p:cNvCxnSpPr>
            <p:nvPr/>
          </p:nvCxnSpPr>
          <p:spPr>
            <a:xfrm>
              <a:off x="6645356" y="3289574"/>
              <a:ext cx="226365" cy="583030"/>
            </a:xfrm>
            <a:prstGeom prst="line">
              <a:avLst/>
            </a:prstGeom>
            <a:ln w="38100" cap="rnd">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2425055-2F36-0842-985E-F7CC6E261470}"/>
                </a:ext>
              </a:extLst>
            </p:cNvPr>
            <p:cNvCxnSpPr>
              <a:cxnSpLocks/>
            </p:cNvCxnSpPr>
            <p:nvPr/>
          </p:nvCxnSpPr>
          <p:spPr>
            <a:xfrm flipV="1">
              <a:off x="6645401" y="3869593"/>
              <a:ext cx="226365" cy="583030"/>
            </a:xfrm>
            <a:prstGeom prst="line">
              <a:avLst/>
            </a:prstGeom>
            <a:ln w="38100" cap="rnd">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97E58A16-5F62-9846-A115-DA13485196D5}"/>
                    </a:ext>
                  </a:extLst>
                </p:cNvPr>
                <p:cNvSpPr/>
                <p:nvPr/>
              </p:nvSpPr>
              <p:spPr>
                <a:xfrm>
                  <a:off x="5730171" y="4430341"/>
                  <a:ext cx="63113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oMath>
                    </m:oMathPara>
                  </a14:m>
                  <a:endParaRPr lang="en-US" sz="2400" dirty="0">
                    <a:latin typeface="+mj-lt"/>
                  </a:endParaRPr>
                </a:p>
              </p:txBody>
            </p:sp>
          </mc:Choice>
          <mc:Fallback xmlns="">
            <p:sp>
              <p:nvSpPr>
                <p:cNvPr id="33" name="Rectangle 32">
                  <a:extLst>
                    <a:ext uri="{FF2B5EF4-FFF2-40B4-BE49-F238E27FC236}">
                      <a16:creationId xmlns:a16="http://schemas.microsoft.com/office/drawing/2014/main" id="{97E58A16-5F62-9846-A115-DA13485196D5}"/>
                    </a:ext>
                  </a:extLst>
                </p:cNvPr>
                <p:cNvSpPr>
                  <a:spLocks noRot="1" noChangeAspect="1" noMove="1" noResize="1" noEditPoints="1" noAdjustHandles="1" noChangeArrowheads="1" noChangeShapeType="1" noTextEdit="1"/>
                </p:cNvSpPr>
                <p:nvPr/>
              </p:nvSpPr>
              <p:spPr>
                <a:xfrm>
                  <a:off x="5730171" y="4430341"/>
                  <a:ext cx="631134" cy="461665"/>
                </a:xfrm>
                <a:prstGeom prst="rect">
                  <a:avLst/>
                </a:prstGeom>
                <a:blipFill>
                  <a:blip r:embed="rId5"/>
                  <a:stretch>
                    <a:fillRect/>
                  </a:stretch>
                </a:blipFill>
              </p:spPr>
              <p:txBody>
                <a:bodyPr/>
                <a:lstStyle/>
                <a:p>
                  <a:r>
                    <a:rPr lang="en-US">
                      <a:noFill/>
                    </a:rPr>
                    <a:t> </a:t>
                  </a:r>
                </a:p>
              </p:txBody>
            </p:sp>
          </mc:Fallback>
        </mc:AlternateContent>
        <p:sp>
          <p:nvSpPr>
            <p:cNvPr id="34" name="Rectangle 33">
              <a:extLst>
                <a:ext uri="{FF2B5EF4-FFF2-40B4-BE49-F238E27FC236}">
                  <a16:creationId xmlns:a16="http://schemas.microsoft.com/office/drawing/2014/main" id="{76931417-7381-944D-8563-4717BAE1FE6F}"/>
                </a:ext>
              </a:extLst>
            </p:cNvPr>
            <p:cNvSpPr>
              <a:spLocks noChangeAspect="1"/>
            </p:cNvSpPr>
            <p:nvPr/>
          </p:nvSpPr>
          <p:spPr>
            <a:xfrm>
              <a:off x="9541045" y="4056346"/>
              <a:ext cx="1171724" cy="1171724"/>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endParaRPr>
            </a:p>
          </p:txBody>
        </p:sp>
        <p:sp>
          <p:nvSpPr>
            <p:cNvPr id="35" name="Round Diagonal Corner Rectangle 34">
              <a:extLst>
                <a:ext uri="{FF2B5EF4-FFF2-40B4-BE49-F238E27FC236}">
                  <a16:creationId xmlns:a16="http://schemas.microsoft.com/office/drawing/2014/main" id="{E3B34C51-5FC6-854F-A4A5-1A37BA8FB2ED}"/>
                </a:ext>
              </a:extLst>
            </p:cNvPr>
            <p:cNvSpPr/>
            <p:nvPr/>
          </p:nvSpPr>
          <p:spPr>
            <a:xfrm>
              <a:off x="9586856" y="4588112"/>
              <a:ext cx="1093025" cy="68335"/>
            </a:xfrm>
            <a:prstGeom prst="round2DiagRect">
              <a:avLst>
                <a:gd name="adj1" fmla="val 50000"/>
                <a:gd name="adj2" fmla="val 420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endParaRPr>
            </a:p>
          </p:txBody>
        </p:sp>
        <p:sp>
          <p:nvSpPr>
            <p:cNvPr id="36" name="Round Diagonal Corner Rectangle 35">
              <a:extLst>
                <a:ext uri="{FF2B5EF4-FFF2-40B4-BE49-F238E27FC236}">
                  <a16:creationId xmlns:a16="http://schemas.microsoft.com/office/drawing/2014/main" id="{1690BCB2-7378-5F45-86AD-0FF72B06A05D}"/>
                </a:ext>
              </a:extLst>
            </p:cNvPr>
            <p:cNvSpPr/>
            <p:nvPr/>
          </p:nvSpPr>
          <p:spPr>
            <a:xfrm rot="5400000">
              <a:off x="9584644" y="4604856"/>
              <a:ext cx="1082777" cy="68335"/>
            </a:xfrm>
            <a:prstGeom prst="round2DiagRect">
              <a:avLst>
                <a:gd name="adj1" fmla="val 50000"/>
                <a:gd name="adj2" fmla="val 420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endParaRPr>
            </a:p>
          </p:txBody>
        </p:sp>
        <p:sp>
          <p:nvSpPr>
            <p:cNvPr id="37" name="Rectangle 36">
              <a:extLst>
                <a:ext uri="{FF2B5EF4-FFF2-40B4-BE49-F238E27FC236}">
                  <a16:creationId xmlns:a16="http://schemas.microsoft.com/office/drawing/2014/main" id="{931E93E7-92CD-B841-9D38-B633C25D2E88}"/>
                </a:ext>
              </a:extLst>
            </p:cNvPr>
            <p:cNvSpPr>
              <a:spLocks noChangeAspect="1"/>
            </p:cNvSpPr>
            <p:nvPr/>
          </p:nvSpPr>
          <p:spPr>
            <a:xfrm>
              <a:off x="9545433" y="2654095"/>
              <a:ext cx="1171724" cy="1171724"/>
            </a:xfrm>
            <a:prstGeom prst="rect">
              <a:avLst/>
            </a:prstGeom>
            <a:solidFill>
              <a:schemeClr val="accent5">
                <a:lumMod val="20000"/>
                <a:lumOff val="80000"/>
              </a:schemeClr>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endParaRPr>
            </a:p>
          </p:txBody>
        </p:sp>
        <p:sp>
          <p:nvSpPr>
            <p:cNvPr id="38" name="Round Diagonal Corner Rectangle 37">
              <a:extLst>
                <a:ext uri="{FF2B5EF4-FFF2-40B4-BE49-F238E27FC236}">
                  <a16:creationId xmlns:a16="http://schemas.microsoft.com/office/drawing/2014/main" id="{E29B19BB-6DD6-8445-972E-6058F57FFD61}"/>
                </a:ext>
              </a:extLst>
            </p:cNvPr>
            <p:cNvSpPr/>
            <p:nvPr/>
          </p:nvSpPr>
          <p:spPr>
            <a:xfrm>
              <a:off x="9585409" y="3217264"/>
              <a:ext cx="1093025" cy="68335"/>
            </a:xfrm>
            <a:prstGeom prst="round2DiagRect">
              <a:avLst>
                <a:gd name="adj1" fmla="val 50000"/>
                <a:gd name="adj2" fmla="val 420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endParaRPr>
            </a:p>
          </p:txBody>
        </p:sp>
        <p:sp>
          <p:nvSpPr>
            <p:cNvPr id="39" name="Round Diagonal Corner Rectangle 38">
              <a:extLst>
                <a:ext uri="{FF2B5EF4-FFF2-40B4-BE49-F238E27FC236}">
                  <a16:creationId xmlns:a16="http://schemas.microsoft.com/office/drawing/2014/main" id="{DFD1B009-78B5-5B47-9723-3D2BF8F0B22D}"/>
                </a:ext>
              </a:extLst>
            </p:cNvPr>
            <p:cNvSpPr/>
            <p:nvPr/>
          </p:nvSpPr>
          <p:spPr>
            <a:xfrm rot="5400000">
              <a:off x="9583196" y="3234008"/>
              <a:ext cx="1082777" cy="68335"/>
            </a:xfrm>
            <a:prstGeom prst="round2DiagRect">
              <a:avLst>
                <a:gd name="adj1" fmla="val 50000"/>
                <a:gd name="adj2" fmla="val 420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endParaRPr>
            </a:p>
          </p:txBody>
        </p:sp>
        <p:cxnSp>
          <p:nvCxnSpPr>
            <p:cNvPr id="40" name="Straight Arrow Connector 39">
              <a:extLst>
                <a:ext uri="{FF2B5EF4-FFF2-40B4-BE49-F238E27FC236}">
                  <a16:creationId xmlns:a16="http://schemas.microsoft.com/office/drawing/2014/main" id="{A5E26E97-94EB-4C4E-8A2D-7C66AAE1775D}"/>
                </a:ext>
              </a:extLst>
            </p:cNvPr>
            <p:cNvCxnSpPr>
              <a:cxnSpLocks/>
            </p:cNvCxnSpPr>
            <p:nvPr/>
          </p:nvCxnSpPr>
          <p:spPr>
            <a:xfrm flipV="1">
              <a:off x="10175685" y="3245785"/>
              <a:ext cx="519683" cy="2382"/>
            </a:xfrm>
            <a:prstGeom prst="straightConnector1">
              <a:avLst/>
            </a:prstGeom>
            <a:ln w="38100" cap="rnd">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E7C9DCF8-BDB7-D54A-9424-145BE4F2D120}"/>
                </a:ext>
              </a:extLst>
            </p:cNvPr>
            <p:cNvCxnSpPr>
              <a:cxnSpLocks/>
            </p:cNvCxnSpPr>
            <p:nvPr/>
          </p:nvCxnSpPr>
          <p:spPr>
            <a:xfrm flipV="1">
              <a:off x="10118941" y="4063770"/>
              <a:ext cx="1449" cy="504000"/>
            </a:xfrm>
            <a:prstGeom prst="straightConnector1">
              <a:avLst/>
            </a:prstGeom>
            <a:ln w="38100"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2294E1C4-8625-C142-8CA0-546E318F25E0}"/>
                    </a:ext>
                  </a:extLst>
                </p:cNvPr>
                <p:cNvSpPr/>
                <p:nvPr/>
              </p:nvSpPr>
              <p:spPr>
                <a:xfrm>
                  <a:off x="10086762" y="2722043"/>
                  <a:ext cx="63152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r>
                              <a:rPr lang="sr-Latn-RS" sz="2400" i="1">
                                <a:latin typeface="Cambria Math" panose="02040503050406030204" pitchFamily="18" charset="0"/>
                              </a:rPr>
                              <m:t>0</m:t>
                            </m:r>
                          </m:e>
                        </m:d>
                      </m:oMath>
                    </m:oMathPara>
                  </a14:m>
                  <a:endParaRPr lang="en-US" sz="2400" dirty="0">
                    <a:latin typeface="+mj-lt"/>
                  </a:endParaRPr>
                </a:p>
              </p:txBody>
            </p:sp>
          </mc:Choice>
          <mc:Fallback xmlns="">
            <p:sp>
              <p:nvSpPr>
                <p:cNvPr id="42" name="Rectangle 41">
                  <a:extLst>
                    <a:ext uri="{FF2B5EF4-FFF2-40B4-BE49-F238E27FC236}">
                      <a16:creationId xmlns:a16="http://schemas.microsoft.com/office/drawing/2014/main" id="{2294E1C4-8625-C142-8CA0-546E318F25E0}"/>
                    </a:ext>
                  </a:extLst>
                </p:cNvPr>
                <p:cNvSpPr>
                  <a:spLocks noRot="1" noChangeAspect="1" noMove="1" noResize="1" noEditPoints="1" noAdjustHandles="1" noChangeArrowheads="1" noChangeShapeType="1" noTextEdit="1"/>
                </p:cNvSpPr>
                <p:nvPr/>
              </p:nvSpPr>
              <p:spPr>
                <a:xfrm>
                  <a:off x="10086762" y="2722043"/>
                  <a:ext cx="631520"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3892F6D9-5336-EA4F-A222-21E58A98BFCF}"/>
                    </a:ext>
                  </a:extLst>
                </p:cNvPr>
                <p:cNvSpPr/>
                <p:nvPr/>
              </p:nvSpPr>
              <p:spPr>
                <a:xfrm>
                  <a:off x="10085794" y="4103688"/>
                  <a:ext cx="63152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r>
                              <a:rPr lang="sr-Latn-RS" sz="2400" i="1">
                                <a:latin typeface="Cambria Math" panose="02040503050406030204" pitchFamily="18" charset="0"/>
                              </a:rPr>
                              <m:t>1</m:t>
                            </m:r>
                          </m:e>
                        </m:d>
                      </m:oMath>
                    </m:oMathPara>
                  </a14:m>
                  <a:endParaRPr lang="en-US" sz="2400" dirty="0">
                    <a:latin typeface="+mj-lt"/>
                  </a:endParaRPr>
                </a:p>
              </p:txBody>
            </p:sp>
          </mc:Choice>
          <mc:Fallback xmlns="">
            <p:sp>
              <p:nvSpPr>
                <p:cNvPr id="43" name="Rectangle 42">
                  <a:extLst>
                    <a:ext uri="{FF2B5EF4-FFF2-40B4-BE49-F238E27FC236}">
                      <a16:creationId xmlns:a16="http://schemas.microsoft.com/office/drawing/2014/main" id="{3892F6D9-5336-EA4F-A222-21E58A98BFCF}"/>
                    </a:ext>
                  </a:extLst>
                </p:cNvPr>
                <p:cNvSpPr>
                  <a:spLocks noRot="1" noChangeAspect="1" noMove="1" noResize="1" noEditPoints="1" noAdjustHandles="1" noChangeArrowheads="1" noChangeShapeType="1" noTextEdit="1"/>
                </p:cNvSpPr>
                <p:nvPr/>
              </p:nvSpPr>
              <p:spPr>
                <a:xfrm>
                  <a:off x="10085794" y="4103688"/>
                  <a:ext cx="631520" cy="46166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834D6845-ACAB-1446-889C-5316A202B73B}"/>
                    </a:ext>
                  </a:extLst>
                </p:cNvPr>
                <p:cNvSpPr/>
                <p:nvPr/>
              </p:nvSpPr>
              <p:spPr>
                <a:xfrm>
                  <a:off x="9449112" y="2099796"/>
                  <a:ext cx="112017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ZA" sz="2400" i="1">
                                <a:latin typeface="Cambria Math" panose="02040503050406030204" pitchFamily="18" charset="0"/>
                              </a:rPr>
                            </m:ctrlPr>
                          </m:sSubPr>
                          <m:e>
                            <m:r>
                              <a:rPr lang="sr-Latn-RS" sz="2400" i="1">
                                <a:latin typeface="Cambria Math" panose="02040503050406030204" pitchFamily="18" charset="0"/>
                              </a:rPr>
                              <m:t>𝜆</m:t>
                            </m:r>
                          </m:e>
                          <m:sub>
                            <m:r>
                              <a:rPr lang="sr-Latn-RS" sz="2400" i="1">
                                <a:latin typeface="Cambria Math" panose="02040503050406030204" pitchFamily="18" charset="0"/>
                              </a:rPr>
                              <m:t>1</m:t>
                            </m:r>
                          </m:sub>
                        </m:sSub>
                        <m:r>
                          <a:rPr lang="sr-Latn-RS" sz="2400" i="1">
                            <a:latin typeface="Cambria Math" panose="02040503050406030204" pitchFamily="18" charset="0"/>
                          </a:rPr>
                          <m:t>=1</m:t>
                        </m:r>
                      </m:oMath>
                    </m:oMathPara>
                  </a14:m>
                  <a:endParaRPr lang="en-US" sz="2400" dirty="0">
                    <a:latin typeface="+mj-lt"/>
                  </a:endParaRPr>
                </a:p>
              </p:txBody>
            </p:sp>
          </mc:Choice>
          <mc:Fallback xmlns="">
            <p:sp>
              <p:nvSpPr>
                <p:cNvPr id="44" name="Rectangle 43">
                  <a:extLst>
                    <a:ext uri="{FF2B5EF4-FFF2-40B4-BE49-F238E27FC236}">
                      <a16:creationId xmlns:a16="http://schemas.microsoft.com/office/drawing/2014/main" id="{834D6845-ACAB-1446-889C-5316A202B73B}"/>
                    </a:ext>
                  </a:extLst>
                </p:cNvPr>
                <p:cNvSpPr>
                  <a:spLocks noRot="1" noChangeAspect="1" noMove="1" noResize="1" noEditPoints="1" noAdjustHandles="1" noChangeArrowheads="1" noChangeShapeType="1" noTextEdit="1"/>
                </p:cNvSpPr>
                <p:nvPr/>
              </p:nvSpPr>
              <p:spPr>
                <a:xfrm>
                  <a:off x="9449112" y="2099796"/>
                  <a:ext cx="1120178"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Rectangle 44">
                  <a:extLst>
                    <a:ext uri="{FF2B5EF4-FFF2-40B4-BE49-F238E27FC236}">
                      <a16:creationId xmlns:a16="http://schemas.microsoft.com/office/drawing/2014/main" id="{9A7210D9-61F3-2447-93A3-3729A9D0C975}"/>
                    </a:ext>
                  </a:extLst>
                </p:cNvPr>
                <p:cNvSpPr/>
                <p:nvPr/>
              </p:nvSpPr>
              <p:spPr>
                <a:xfrm>
                  <a:off x="9328051" y="5214675"/>
                  <a:ext cx="134940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ZA" sz="2400" i="1">
                                <a:latin typeface="Cambria Math" panose="02040503050406030204" pitchFamily="18" charset="0"/>
                              </a:rPr>
                            </m:ctrlPr>
                          </m:sSubPr>
                          <m:e>
                            <m:r>
                              <a:rPr lang="sr-Latn-RS" sz="2400" i="1">
                                <a:latin typeface="Cambria Math" panose="02040503050406030204" pitchFamily="18" charset="0"/>
                              </a:rPr>
                              <m:t>𝜆</m:t>
                            </m:r>
                          </m:e>
                          <m:sub>
                            <m:r>
                              <a:rPr lang="sr-Latn-RS" sz="2400" i="1">
                                <a:latin typeface="Cambria Math" panose="02040503050406030204" pitchFamily="18" charset="0"/>
                              </a:rPr>
                              <m:t>2</m:t>
                            </m:r>
                          </m:sub>
                        </m:sSub>
                        <m:r>
                          <a:rPr lang="sr-Latn-RS" sz="2400" i="1">
                            <a:latin typeface="Cambria Math" panose="02040503050406030204" pitchFamily="18" charset="0"/>
                          </a:rPr>
                          <m:t>=−1</m:t>
                        </m:r>
                      </m:oMath>
                    </m:oMathPara>
                  </a14:m>
                  <a:endParaRPr lang="en-US" sz="2400" dirty="0">
                    <a:latin typeface="+mj-lt"/>
                  </a:endParaRPr>
                </a:p>
              </p:txBody>
            </p:sp>
          </mc:Choice>
          <mc:Fallback xmlns="">
            <p:sp>
              <p:nvSpPr>
                <p:cNvPr id="45" name="Rectangle 44">
                  <a:extLst>
                    <a:ext uri="{FF2B5EF4-FFF2-40B4-BE49-F238E27FC236}">
                      <a16:creationId xmlns:a16="http://schemas.microsoft.com/office/drawing/2014/main" id="{9A7210D9-61F3-2447-93A3-3729A9D0C975}"/>
                    </a:ext>
                  </a:extLst>
                </p:cNvPr>
                <p:cNvSpPr>
                  <a:spLocks noRot="1" noChangeAspect="1" noMove="1" noResize="1" noEditPoints="1" noAdjustHandles="1" noChangeArrowheads="1" noChangeShapeType="1" noTextEdit="1"/>
                </p:cNvSpPr>
                <p:nvPr/>
              </p:nvSpPr>
              <p:spPr>
                <a:xfrm>
                  <a:off x="9328051" y="5214675"/>
                  <a:ext cx="1349408" cy="461665"/>
                </a:xfrm>
                <a:prstGeom prst="rect">
                  <a:avLst/>
                </a:prstGeom>
                <a:blipFill>
                  <a:blip r:embed="rId9"/>
                  <a:stretch>
                    <a:fillRect b="-27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Rectangle 58">
                  <a:extLst>
                    <a:ext uri="{FF2B5EF4-FFF2-40B4-BE49-F238E27FC236}">
                      <a16:creationId xmlns:a16="http://schemas.microsoft.com/office/drawing/2014/main" id="{A2C2C5D3-EF56-DA42-8895-E28F9F083C22}"/>
                    </a:ext>
                  </a:extLst>
                </p:cNvPr>
                <p:cNvSpPr/>
                <p:nvPr/>
              </p:nvSpPr>
              <p:spPr>
                <a:xfrm>
                  <a:off x="10825033" y="2946534"/>
                  <a:ext cx="88306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𝑏𝑖𝑡</m:t>
                        </m:r>
                        <m:r>
                          <a:rPr lang="en-US" sz="2400" b="0" i="1" smtClean="0">
                            <a:latin typeface="Cambria Math" panose="02040503050406030204" pitchFamily="18" charset="0"/>
                          </a:rPr>
                          <m:t> 0</m:t>
                        </m:r>
                      </m:oMath>
                    </m:oMathPara>
                  </a14:m>
                  <a:endParaRPr lang="en-US" sz="2400" dirty="0">
                    <a:latin typeface="+mj-lt"/>
                  </a:endParaRPr>
                </a:p>
              </p:txBody>
            </p:sp>
          </mc:Choice>
          <mc:Fallback xmlns="">
            <p:sp>
              <p:nvSpPr>
                <p:cNvPr id="59" name="Rectangle 58">
                  <a:extLst>
                    <a:ext uri="{FF2B5EF4-FFF2-40B4-BE49-F238E27FC236}">
                      <a16:creationId xmlns:a16="http://schemas.microsoft.com/office/drawing/2014/main" id="{A2C2C5D3-EF56-DA42-8895-E28F9F083C22}"/>
                    </a:ext>
                  </a:extLst>
                </p:cNvPr>
                <p:cNvSpPr>
                  <a:spLocks noRot="1" noChangeAspect="1" noMove="1" noResize="1" noEditPoints="1" noAdjustHandles="1" noChangeArrowheads="1" noChangeShapeType="1" noTextEdit="1"/>
                </p:cNvSpPr>
                <p:nvPr/>
              </p:nvSpPr>
              <p:spPr>
                <a:xfrm>
                  <a:off x="10825033" y="2946534"/>
                  <a:ext cx="883062" cy="461665"/>
                </a:xfrm>
                <a:prstGeom prst="rect">
                  <a:avLst/>
                </a:prstGeom>
                <a:blipFill>
                  <a:blip r:embed="rId10"/>
                  <a:stretch>
                    <a:fillRect b="-216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1637DE14-D00A-5945-943A-0421DA88FE5C}"/>
                    </a:ext>
                  </a:extLst>
                </p:cNvPr>
                <p:cNvSpPr/>
                <p:nvPr/>
              </p:nvSpPr>
              <p:spPr>
                <a:xfrm>
                  <a:off x="10825033" y="4393793"/>
                  <a:ext cx="88306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𝑏𝑖𝑡</m:t>
                        </m:r>
                        <m:r>
                          <a:rPr lang="en-US" sz="2400" b="0" i="1" smtClean="0">
                            <a:latin typeface="Cambria Math" panose="02040503050406030204" pitchFamily="18" charset="0"/>
                          </a:rPr>
                          <m:t> 1</m:t>
                        </m:r>
                      </m:oMath>
                    </m:oMathPara>
                  </a14:m>
                  <a:endParaRPr lang="en-US" sz="2400" dirty="0">
                    <a:latin typeface="+mj-lt"/>
                  </a:endParaRPr>
                </a:p>
              </p:txBody>
            </p:sp>
          </mc:Choice>
          <mc:Fallback xmlns="">
            <p:sp>
              <p:nvSpPr>
                <p:cNvPr id="60" name="Rectangle 59">
                  <a:extLst>
                    <a:ext uri="{FF2B5EF4-FFF2-40B4-BE49-F238E27FC236}">
                      <a16:creationId xmlns:a16="http://schemas.microsoft.com/office/drawing/2014/main" id="{1637DE14-D00A-5945-943A-0421DA88FE5C}"/>
                    </a:ext>
                  </a:extLst>
                </p:cNvPr>
                <p:cNvSpPr>
                  <a:spLocks noRot="1" noChangeAspect="1" noMove="1" noResize="1" noEditPoints="1" noAdjustHandles="1" noChangeArrowheads="1" noChangeShapeType="1" noTextEdit="1"/>
                </p:cNvSpPr>
                <p:nvPr/>
              </p:nvSpPr>
              <p:spPr>
                <a:xfrm>
                  <a:off x="10825033" y="4393793"/>
                  <a:ext cx="883062" cy="461665"/>
                </a:xfrm>
                <a:prstGeom prst="rect">
                  <a:avLst/>
                </a:prstGeom>
                <a:blipFill>
                  <a:blip r:embed="rId11"/>
                  <a:stretch>
                    <a:fillRect b="-21622"/>
                  </a:stretch>
                </a:blipFill>
              </p:spPr>
              <p:txBody>
                <a:bodyPr/>
                <a:lstStyle/>
                <a:p>
                  <a:r>
                    <a:rPr lang="en-US">
                      <a:noFill/>
                    </a:rPr>
                    <a:t> </a:t>
                  </a:r>
                </a:p>
              </p:txBody>
            </p:sp>
          </mc:Fallback>
        </mc:AlternateContent>
      </p:grpSp>
      <p:sp>
        <p:nvSpPr>
          <p:cNvPr id="50" name="TextBox 49">
            <a:extLst>
              <a:ext uri="{FF2B5EF4-FFF2-40B4-BE49-F238E27FC236}">
                <a16:creationId xmlns:a16="http://schemas.microsoft.com/office/drawing/2014/main" id="{72F00665-10B9-8046-A55C-9D6CEB9F6196}"/>
              </a:ext>
            </a:extLst>
          </p:cNvPr>
          <p:cNvSpPr txBox="1"/>
          <p:nvPr/>
        </p:nvSpPr>
        <p:spPr>
          <a:xfrm>
            <a:off x="243039" y="2423262"/>
            <a:ext cx="1931170" cy="400110"/>
          </a:xfrm>
          <a:prstGeom prst="rect">
            <a:avLst/>
          </a:prstGeom>
          <a:noFill/>
        </p:spPr>
        <p:txBody>
          <a:bodyPr wrap="none" rtlCol="0">
            <a:spAutoFit/>
          </a:bodyPr>
          <a:lstStyle/>
          <a:p>
            <a:r>
              <a:rPr lang="en-US" sz="2000" dirty="0">
                <a:latin typeface="+mj-lt"/>
              </a:rPr>
              <a:t>polarized photon</a:t>
            </a:r>
          </a:p>
        </p:txBody>
      </p:sp>
      <p:cxnSp>
        <p:nvCxnSpPr>
          <p:cNvPr id="55" name="Straight Arrow Connector 54">
            <a:extLst>
              <a:ext uri="{FF2B5EF4-FFF2-40B4-BE49-F238E27FC236}">
                <a16:creationId xmlns:a16="http://schemas.microsoft.com/office/drawing/2014/main" id="{54E2F51C-276F-864D-A743-4D81AD730BBE}"/>
              </a:ext>
            </a:extLst>
          </p:cNvPr>
          <p:cNvCxnSpPr>
            <a:cxnSpLocks/>
          </p:cNvCxnSpPr>
          <p:nvPr/>
        </p:nvCxnSpPr>
        <p:spPr>
          <a:xfrm flipH="1">
            <a:off x="2526825" y="3757221"/>
            <a:ext cx="422056" cy="0"/>
          </a:xfrm>
          <a:prstGeom prst="straightConnector1">
            <a:avLst/>
          </a:prstGeom>
          <a:ln w="25400" cap="rnd">
            <a:solidFill>
              <a:srgbClr val="00B050"/>
            </a:solidFill>
            <a:headEnd type="triangle" w="med" len="med"/>
            <a:tailEnd type="none" w="sm" len="sm"/>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77B9B513-C555-4A45-9E42-8B58BEFF1243}"/>
              </a:ext>
            </a:extLst>
          </p:cNvPr>
          <p:cNvCxnSpPr>
            <a:cxnSpLocks/>
          </p:cNvCxnSpPr>
          <p:nvPr/>
        </p:nvCxnSpPr>
        <p:spPr>
          <a:xfrm>
            <a:off x="2517300" y="3305182"/>
            <a:ext cx="2" cy="443786"/>
          </a:xfrm>
          <a:prstGeom prst="straightConnector1">
            <a:avLst/>
          </a:prstGeom>
          <a:ln w="25400" cap="rnd">
            <a:solidFill>
              <a:schemeClr val="accent1">
                <a:lumMod val="75000"/>
              </a:schemeClr>
            </a:solidFill>
            <a:headEnd type="triangle" w="med" len="med"/>
            <a:tailEnd type="none" w="sm" len="sm"/>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13E996B6-F2AB-E044-BC21-D0C1E82A7440}"/>
              </a:ext>
            </a:extLst>
          </p:cNvPr>
          <p:cNvCxnSpPr>
            <a:cxnSpLocks/>
          </p:cNvCxnSpPr>
          <p:nvPr/>
        </p:nvCxnSpPr>
        <p:spPr>
          <a:xfrm flipH="1">
            <a:off x="2517255" y="3492150"/>
            <a:ext cx="211073" cy="256818"/>
          </a:xfrm>
          <a:prstGeom prst="straightConnector1">
            <a:avLst/>
          </a:prstGeom>
          <a:ln w="25400" cap="rnd">
            <a:solidFill>
              <a:srgbClr val="FF0000"/>
            </a:solidFill>
            <a:headEnd type="triangle" w="med" len="med"/>
            <a:tailEnd type="none" w="sm" len="sm"/>
          </a:ln>
        </p:spPr>
        <p:style>
          <a:lnRef idx="1">
            <a:schemeClr val="accent1"/>
          </a:lnRef>
          <a:fillRef idx="0">
            <a:schemeClr val="accent1"/>
          </a:fillRef>
          <a:effectRef idx="0">
            <a:schemeClr val="accent1"/>
          </a:effectRef>
          <a:fontRef idx="minor">
            <a:schemeClr val="tx1"/>
          </a:fontRef>
        </p:style>
      </p:cxnSp>
      <p:grpSp>
        <p:nvGrpSpPr>
          <p:cNvPr id="84" name="Group 83">
            <a:extLst>
              <a:ext uri="{FF2B5EF4-FFF2-40B4-BE49-F238E27FC236}">
                <a16:creationId xmlns:a16="http://schemas.microsoft.com/office/drawing/2014/main" id="{25A61326-F62E-CC41-B475-6F6C92AD70C1}"/>
              </a:ext>
            </a:extLst>
          </p:cNvPr>
          <p:cNvGrpSpPr/>
          <p:nvPr/>
        </p:nvGrpSpPr>
        <p:grpSpPr>
          <a:xfrm>
            <a:off x="3275407" y="3839385"/>
            <a:ext cx="486701" cy="862946"/>
            <a:chOff x="3275407" y="3839385"/>
            <a:chExt cx="486701" cy="862946"/>
          </a:xfrm>
        </p:grpSpPr>
        <p:sp>
          <p:nvSpPr>
            <p:cNvPr id="61" name="Rectangle 3">
              <a:extLst>
                <a:ext uri="{FF2B5EF4-FFF2-40B4-BE49-F238E27FC236}">
                  <a16:creationId xmlns:a16="http://schemas.microsoft.com/office/drawing/2014/main" id="{AA4F8C9B-AAE9-D941-950C-969B828FF1C8}"/>
                </a:ext>
              </a:extLst>
            </p:cNvPr>
            <p:cNvSpPr/>
            <p:nvPr/>
          </p:nvSpPr>
          <p:spPr>
            <a:xfrm flipH="1">
              <a:off x="3275407" y="3839385"/>
              <a:ext cx="486701" cy="862946"/>
            </a:xfrm>
            <a:custGeom>
              <a:avLst/>
              <a:gdLst>
                <a:gd name="connsiteX0" fmla="*/ 0 w 722235"/>
                <a:gd name="connsiteY0" fmla="*/ 0 h 796878"/>
                <a:gd name="connsiteX1" fmla="*/ 722235 w 722235"/>
                <a:gd name="connsiteY1" fmla="*/ 0 h 796878"/>
                <a:gd name="connsiteX2" fmla="*/ 722235 w 722235"/>
                <a:gd name="connsiteY2" fmla="*/ 796878 h 796878"/>
                <a:gd name="connsiteX3" fmla="*/ 0 w 722235"/>
                <a:gd name="connsiteY3" fmla="*/ 796878 h 796878"/>
                <a:gd name="connsiteX4" fmla="*/ 0 w 722235"/>
                <a:gd name="connsiteY4" fmla="*/ 0 h 796878"/>
                <a:gd name="connsiteX0" fmla="*/ 119496 w 722235"/>
                <a:gd name="connsiteY0" fmla="*/ 0 h 1077432"/>
                <a:gd name="connsiteX1" fmla="*/ 722235 w 722235"/>
                <a:gd name="connsiteY1" fmla="*/ 280554 h 1077432"/>
                <a:gd name="connsiteX2" fmla="*/ 722235 w 722235"/>
                <a:gd name="connsiteY2" fmla="*/ 1077432 h 1077432"/>
                <a:gd name="connsiteX3" fmla="*/ 0 w 722235"/>
                <a:gd name="connsiteY3" fmla="*/ 1077432 h 1077432"/>
                <a:gd name="connsiteX4" fmla="*/ 119496 w 722235"/>
                <a:gd name="connsiteY4" fmla="*/ 0 h 1077432"/>
                <a:gd name="connsiteX0" fmla="*/ 0 w 602739"/>
                <a:gd name="connsiteY0" fmla="*/ 0 h 1077432"/>
                <a:gd name="connsiteX1" fmla="*/ 602739 w 602739"/>
                <a:gd name="connsiteY1" fmla="*/ 280554 h 1077432"/>
                <a:gd name="connsiteX2" fmla="*/ 602739 w 602739"/>
                <a:gd name="connsiteY2" fmla="*/ 1077432 h 1077432"/>
                <a:gd name="connsiteX3" fmla="*/ 36367 w 602739"/>
                <a:gd name="connsiteY3" fmla="*/ 791682 h 1077432"/>
                <a:gd name="connsiteX4" fmla="*/ 0 w 602739"/>
                <a:gd name="connsiteY4" fmla="*/ 0 h 1077432"/>
                <a:gd name="connsiteX0" fmla="*/ 1 w 602740"/>
                <a:gd name="connsiteY0" fmla="*/ 0 h 1077432"/>
                <a:gd name="connsiteX1" fmla="*/ 602740 w 602740"/>
                <a:gd name="connsiteY1" fmla="*/ 280554 h 1077432"/>
                <a:gd name="connsiteX2" fmla="*/ 602740 w 602740"/>
                <a:gd name="connsiteY2" fmla="*/ 1077432 h 1077432"/>
                <a:gd name="connsiteX3" fmla="*/ 0 w 602740"/>
                <a:gd name="connsiteY3" fmla="*/ 791682 h 1077432"/>
                <a:gd name="connsiteX4" fmla="*/ 1 w 602740"/>
                <a:gd name="connsiteY4" fmla="*/ 0 h 107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740" h="1077432">
                  <a:moveTo>
                    <a:pt x="1" y="0"/>
                  </a:moveTo>
                  <a:lnTo>
                    <a:pt x="602740" y="280554"/>
                  </a:lnTo>
                  <a:lnTo>
                    <a:pt x="602740" y="1077432"/>
                  </a:lnTo>
                  <a:lnTo>
                    <a:pt x="0" y="791682"/>
                  </a:lnTo>
                  <a:cubicBezTo>
                    <a:pt x="0" y="527788"/>
                    <a:pt x="1" y="263894"/>
                    <a:pt x="1" y="0"/>
                  </a:cubicBez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63" name="Straight Arrow Connector 62">
              <a:extLst>
                <a:ext uri="{FF2B5EF4-FFF2-40B4-BE49-F238E27FC236}">
                  <a16:creationId xmlns:a16="http://schemas.microsoft.com/office/drawing/2014/main" id="{2E99A3AA-D85C-D743-AB58-5C6467161CD1}"/>
                </a:ext>
              </a:extLst>
            </p:cNvPr>
            <p:cNvCxnSpPr>
              <a:cxnSpLocks/>
            </p:cNvCxnSpPr>
            <p:nvPr/>
          </p:nvCxnSpPr>
          <p:spPr>
            <a:xfrm flipV="1">
              <a:off x="3345323" y="4180590"/>
              <a:ext cx="374835" cy="180536"/>
            </a:xfrm>
            <a:prstGeom prst="straightConnector1">
              <a:avLst/>
            </a:prstGeom>
            <a:ln w="50800" cap="rnd">
              <a:solidFill>
                <a:schemeClr val="bg1"/>
              </a:solidFill>
              <a:round/>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1F772CCD-51A7-6143-BB66-FCC21D0D7D52}"/>
                </a:ext>
              </a:extLst>
            </p:cNvPr>
            <p:cNvCxnSpPr>
              <a:cxnSpLocks/>
            </p:cNvCxnSpPr>
            <p:nvPr/>
          </p:nvCxnSpPr>
          <p:spPr>
            <a:xfrm flipH="1">
              <a:off x="3545152" y="4004931"/>
              <a:ext cx="0" cy="516597"/>
            </a:xfrm>
            <a:prstGeom prst="straightConnector1">
              <a:avLst/>
            </a:prstGeom>
            <a:ln w="63500" cap="rnd">
              <a:solidFill>
                <a:schemeClr val="bg1">
                  <a:alpha val="96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83" name="Group 82">
            <a:extLst>
              <a:ext uri="{FF2B5EF4-FFF2-40B4-BE49-F238E27FC236}">
                <a16:creationId xmlns:a16="http://schemas.microsoft.com/office/drawing/2014/main" id="{75E1A70E-CD93-B240-967A-D34AD3B09901}"/>
              </a:ext>
            </a:extLst>
          </p:cNvPr>
          <p:cNvGrpSpPr/>
          <p:nvPr/>
        </p:nvGrpSpPr>
        <p:grpSpPr>
          <a:xfrm>
            <a:off x="3660773" y="4110676"/>
            <a:ext cx="461210" cy="573486"/>
            <a:chOff x="3659277" y="4013613"/>
            <a:chExt cx="461210" cy="573486"/>
          </a:xfrm>
        </p:grpSpPr>
        <p:sp>
          <p:nvSpPr>
            <p:cNvPr id="73" name="Oval 72">
              <a:extLst>
                <a:ext uri="{FF2B5EF4-FFF2-40B4-BE49-F238E27FC236}">
                  <a16:creationId xmlns:a16="http://schemas.microsoft.com/office/drawing/2014/main" id="{1355543D-09E5-A647-8894-BB83735B2A8C}"/>
                </a:ext>
              </a:extLst>
            </p:cNvPr>
            <p:cNvSpPr/>
            <p:nvPr/>
          </p:nvSpPr>
          <p:spPr>
            <a:xfrm rot="561297">
              <a:off x="3659277" y="4013613"/>
              <a:ext cx="319505" cy="562994"/>
            </a:xfrm>
            <a:prstGeom prst="ellipse">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4E4CCEA6-C185-9347-AB1C-5F261A54119A}"/>
                </a:ext>
              </a:extLst>
            </p:cNvPr>
            <p:cNvSpPr/>
            <p:nvPr/>
          </p:nvSpPr>
          <p:spPr>
            <a:xfrm rot="561297">
              <a:off x="3717989" y="4024105"/>
              <a:ext cx="319505" cy="562994"/>
            </a:xfrm>
            <a:prstGeom prst="ellipse">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CA897267-303F-C946-8381-88B38C887CDD}"/>
                </a:ext>
              </a:extLst>
            </p:cNvPr>
            <p:cNvSpPr/>
            <p:nvPr/>
          </p:nvSpPr>
          <p:spPr>
            <a:xfrm rot="561297">
              <a:off x="3786085" y="4112408"/>
              <a:ext cx="187716" cy="379767"/>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7" name="Straight Connector 76">
              <a:extLst>
                <a:ext uri="{FF2B5EF4-FFF2-40B4-BE49-F238E27FC236}">
                  <a16:creationId xmlns:a16="http://schemas.microsoft.com/office/drawing/2014/main" id="{3AE6BB9B-1E38-4D45-BF48-CC4FFD6013EE}"/>
                </a:ext>
              </a:extLst>
            </p:cNvPr>
            <p:cNvCxnSpPr>
              <a:cxnSpLocks/>
            </p:cNvCxnSpPr>
            <p:nvPr/>
          </p:nvCxnSpPr>
          <p:spPr>
            <a:xfrm>
              <a:off x="3905042" y="4196552"/>
              <a:ext cx="215445" cy="4897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1B19790-54B5-984E-BE0C-35575234745B}"/>
                </a:ext>
              </a:extLst>
            </p:cNvPr>
            <p:cNvCxnSpPr>
              <a:cxnSpLocks/>
            </p:cNvCxnSpPr>
            <p:nvPr/>
          </p:nvCxnSpPr>
          <p:spPr>
            <a:xfrm>
              <a:off x="3859443" y="4421441"/>
              <a:ext cx="215445" cy="4897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A48F9D5-E5C5-3942-9E22-867F3B42F624}"/>
                  </a:ext>
                </a:extLst>
              </p:cNvPr>
              <p:cNvSpPr txBox="1"/>
              <p:nvPr/>
            </p:nvSpPr>
            <p:spPr>
              <a:xfrm>
                <a:off x="4010986" y="4051407"/>
                <a:ext cx="97546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solidFill>
                                <a:srgbClr val="0000FF"/>
                              </a:solidFill>
                              <a:latin typeface="Cambria Math" panose="02040503050406030204" pitchFamily="18" charset="0"/>
                            </a:rPr>
                          </m:ctrlPr>
                        </m:dPr>
                        <m:e>
                          <m:r>
                            <a:rPr lang="sr-Latn-RS" i="1">
                              <a:solidFill>
                                <a:srgbClr val="0000FF"/>
                              </a:solidFill>
                              <a:latin typeface="Cambria Math" panose="02040503050406030204" pitchFamily="18" charset="0"/>
                              <a:ea typeface="Cambria Math" panose="02040503050406030204" pitchFamily="18" charset="0"/>
                            </a:rPr>
                            <m:t>→</m:t>
                          </m:r>
                        </m:e>
                      </m:d>
                      <m:r>
                        <a:rPr lang="en-US" b="0" i="1" smtClean="0">
                          <a:solidFill>
                            <a:srgbClr val="0000FF"/>
                          </a:solidFill>
                          <a:latin typeface="Cambria Math" panose="02040503050406030204" pitchFamily="18" charset="0"/>
                        </a:rPr>
                        <m:t>, </m:t>
                      </m:r>
                      <m:r>
                        <a:rPr lang="en-US" b="0" i="0" smtClean="0">
                          <a:solidFill>
                            <a:srgbClr val="0000FF"/>
                          </a:solidFill>
                          <a:latin typeface="Cambria Math" panose="02040503050406030204" pitchFamily="18" charset="0"/>
                        </a:rPr>
                        <m:t>+1</m:t>
                      </m:r>
                    </m:oMath>
                  </m:oMathPara>
                </a14:m>
                <a:endParaRPr lang="en-US" dirty="0"/>
              </a:p>
            </p:txBody>
          </p:sp>
        </mc:Choice>
        <mc:Fallback xmlns="">
          <p:sp>
            <p:nvSpPr>
              <p:cNvPr id="17" name="TextBox 16">
                <a:extLst>
                  <a:ext uri="{FF2B5EF4-FFF2-40B4-BE49-F238E27FC236}">
                    <a16:creationId xmlns:a16="http://schemas.microsoft.com/office/drawing/2014/main" id="{6A48F9D5-E5C5-3942-9E22-867F3B42F624}"/>
                  </a:ext>
                </a:extLst>
              </p:cNvPr>
              <p:cNvSpPr txBox="1">
                <a:spLocks noRot="1" noChangeAspect="1" noMove="1" noResize="1" noEditPoints="1" noAdjustHandles="1" noChangeArrowheads="1" noChangeShapeType="1" noTextEdit="1"/>
              </p:cNvSpPr>
              <p:nvPr/>
            </p:nvSpPr>
            <p:spPr>
              <a:xfrm>
                <a:off x="4010986" y="4051407"/>
                <a:ext cx="975460"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40A2B64F-1DB3-004C-8292-C3B2BFD8E93D}"/>
                  </a:ext>
                </a:extLst>
              </p:cNvPr>
              <p:cNvSpPr txBox="1"/>
              <p:nvPr/>
            </p:nvSpPr>
            <p:spPr>
              <a:xfrm>
                <a:off x="4007560" y="4511228"/>
                <a:ext cx="99148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 </m:t>
                          </m:r>
                          <m:r>
                            <a:rPr lang="sr-Latn-RS" i="1">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 </m:t>
                          </m:r>
                        </m:e>
                      </m:d>
                      <m:r>
                        <a:rPr lang="en-US" b="0" i="1" smtClean="0">
                          <a:solidFill>
                            <a:srgbClr val="FF0000"/>
                          </a:solidFill>
                          <a:latin typeface="Cambria Math" panose="02040503050406030204" pitchFamily="18" charset="0"/>
                        </a:rPr>
                        <m:t>, −1</m:t>
                      </m:r>
                    </m:oMath>
                  </m:oMathPara>
                </a14:m>
                <a:endParaRPr lang="en-US" dirty="0"/>
              </a:p>
            </p:txBody>
          </p:sp>
        </mc:Choice>
        <mc:Fallback xmlns="">
          <p:sp>
            <p:nvSpPr>
              <p:cNvPr id="58" name="TextBox 57">
                <a:extLst>
                  <a:ext uri="{FF2B5EF4-FFF2-40B4-BE49-F238E27FC236}">
                    <a16:creationId xmlns:a16="http://schemas.microsoft.com/office/drawing/2014/main" id="{40A2B64F-1DB3-004C-8292-C3B2BFD8E93D}"/>
                  </a:ext>
                </a:extLst>
              </p:cNvPr>
              <p:cNvSpPr txBox="1">
                <a:spLocks noRot="1" noChangeAspect="1" noMove="1" noResize="1" noEditPoints="1" noAdjustHandles="1" noChangeArrowheads="1" noChangeShapeType="1" noTextEdit="1"/>
              </p:cNvSpPr>
              <p:nvPr/>
            </p:nvSpPr>
            <p:spPr>
              <a:xfrm>
                <a:off x="4007560" y="4511228"/>
                <a:ext cx="991489" cy="369332"/>
              </a:xfrm>
              <a:prstGeom prst="rect">
                <a:avLst/>
              </a:prstGeom>
              <a:blipFill>
                <a:blip r:embed="rId13"/>
                <a:stretch>
                  <a:fillRect b="-16667"/>
                </a:stretch>
              </a:blipFill>
            </p:spPr>
            <p:txBody>
              <a:bodyPr/>
              <a:lstStyle/>
              <a:p>
                <a:r>
                  <a:rPr lang="en-US">
                    <a:noFill/>
                  </a:rPr>
                  <a:t> </a:t>
                </a:r>
              </a:p>
            </p:txBody>
          </p:sp>
        </mc:Fallback>
      </mc:AlternateContent>
    </p:spTree>
    <p:extLst>
      <p:ext uri="{BB962C8B-B14F-4D97-AF65-F5344CB8AC3E}">
        <p14:creationId xmlns:p14="http://schemas.microsoft.com/office/powerpoint/2010/main" val="1238567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dissolve">
                                      <p:cBhvr>
                                        <p:cTn id="7"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3D38387-934C-A94F-B901-FBBED91CF753}"/>
              </a:ext>
            </a:extLst>
          </p:cNvPr>
          <p:cNvSpPr>
            <a:spLocks noGrp="1"/>
          </p:cNvSpPr>
          <p:nvPr>
            <p:ph type="title"/>
          </p:nvPr>
        </p:nvSpPr>
        <p:spPr/>
        <p:txBody>
          <a:bodyPr/>
          <a:lstStyle/>
          <a:p>
            <a:r>
              <a:rPr lang="en-ZA" dirty="0"/>
              <a:t>Pauli Measurements</a:t>
            </a:r>
            <a:endParaRPr lang="en-US" dirty="0"/>
          </a:p>
        </p:txBody>
      </p:sp>
      <p:sp>
        <p:nvSpPr>
          <p:cNvPr id="3" name="Slide Number Placeholder 2">
            <a:extLst>
              <a:ext uri="{FF2B5EF4-FFF2-40B4-BE49-F238E27FC236}">
                <a16:creationId xmlns:a16="http://schemas.microsoft.com/office/drawing/2014/main" id="{2222D3F2-D75A-D246-B6BE-FA1864AB1161}"/>
              </a:ext>
            </a:extLst>
          </p:cNvPr>
          <p:cNvSpPr>
            <a:spLocks noGrp="1"/>
          </p:cNvSpPr>
          <p:nvPr>
            <p:ph type="sldNum" sz="quarter" idx="12"/>
          </p:nvPr>
        </p:nvSpPr>
        <p:spPr/>
        <p:txBody>
          <a:bodyPr/>
          <a:lstStyle/>
          <a:p>
            <a:fld id="{591A223C-FA10-BC46-A853-03BA373D023C}" type="slidenum">
              <a:rPr lang="en-US" smtClean="0"/>
              <a:t>42</a:t>
            </a:fld>
            <a:endParaRPr lang="en-US" dirty="0"/>
          </a:p>
        </p:txBody>
      </p:sp>
      <p:sp>
        <p:nvSpPr>
          <p:cNvPr id="4" name="Oval 3">
            <a:extLst>
              <a:ext uri="{FF2B5EF4-FFF2-40B4-BE49-F238E27FC236}">
                <a16:creationId xmlns:a16="http://schemas.microsoft.com/office/drawing/2014/main" id="{5E8AFB7F-DA9C-3E49-A3C7-2C349A09DAB7}"/>
              </a:ext>
            </a:extLst>
          </p:cNvPr>
          <p:cNvSpPr>
            <a:spLocks noChangeAspect="1"/>
          </p:cNvSpPr>
          <p:nvPr/>
        </p:nvSpPr>
        <p:spPr>
          <a:xfrm>
            <a:off x="453248" y="1733014"/>
            <a:ext cx="4554625" cy="4554626"/>
          </a:xfrm>
          <a:prstGeom prst="ellipse">
            <a:avLst/>
          </a:prstGeom>
          <a:gradFill>
            <a:gsLst>
              <a:gs pos="0">
                <a:schemeClr val="accent1">
                  <a:lumMod val="5000"/>
                  <a:lumOff val="95000"/>
                </a:schemeClr>
              </a:gs>
              <a:gs pos="100000">
                <a:schemeClr val="accent5">
                  <a:lumMod val="20000"/>
                  <a:lumOff val="8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986067BC-5E0D-DB41-AAC8-2423072CA89D}"/>
              </a:ext>
            </a:extLst>
          </p:cNvPr>
          <p:cNvSpPr/>
          <p:nvPr/>
        </p:nvSpPr>
        <p:spPr>
          <a:xfrm>
            <a:off x="453247" y="3402410"/>
            <a:ext cx="4554626" cy="1464315"/>
          </a:xfrm>
          <a:prstGeom prst="ellipse">
            <a:avLst/>
          </a:prstGeom>
          <a:solidFill>
            <a:schemeClr val="bg1">
              <a:lumMod val="85000"/>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E156F64C-0B78-1A4E-B896-AB1136C87B81}"/>
              </a:ext>
            </a:extLst>
          </p:cNvPr>
          <p:cNvCxnSpPr>
            <a:cxnSpLocks/>
          </p:cNvCxnSpPr>
          <p:nvPr/>
        </p:nvCxnSpPr>
        <p:spPr>
          <a:xfrm>
            <a:off x="2655934" y="3949338"/>
            <a:ext cx="2428104" cy="1012558"/>
          </a:xfrm>
          <a:prstGeom prst="straightConnector1">
            <a:avLst/>
          </a:prstGeom>
          <a:ln w="38100">
            <a:solidFill>
              <a:schemeClr val="tx1">
                <a:lumMod val="50000"/>
                <a:lumOff val="50000"/>
              </a:schemeClr>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287FCE89-B299-EB41-9748-A2C405BF922D}"/>
              </a:ext>
            </a:extLst>
          </p:cNvPr>
          <p:cNvCxnSpPr>
            <a:cxnSpLocks/>
          </p:cNvCxnSpPr>
          <p:nvPr/>
        </p:nvCxnSpPr>
        <p:spPr>
          <a:xfrm flipH="1">
            <a:off x="639980" y="3956509"/>
            <a:ext cx="2035898" cy="1412307"/>
          </a:xfrm>
          <a:prstGeom prst="straightConnector1">
            <a:avLst/>
          </a:prstGeom>
          <a:ln w="38100">
            <a:solidFill>
              <a:schemeClr val="tx1">
                <a:lumMod val="50000"/>
                <a:lumOff val="50000"/>
              </a:schemeClr>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A273AA8-00BD-DE43-A6D8-83A7BD187299}"/>
              </a:ext>
            </a:extLst>
          </p:cNvPr>
          <p:cNvCxnSpPr>
            <a:cxnSpLocks/>
          </p:cNvCxnSpPr>
          <p:nvPr/>
        </p:nvCxnSpPr>
        <p:spPr>
          <a:xfrm flipH="1" flipV="1">
            <a:off x="2675853" y="1230923"/>
            <a:ext cx="76" cy="2719256"/>
          </a:xfrm>
          <a:prstGeom prst="straightConnector1">
            <a:avLst/>
          </a:prstGeom>
          <a:ln w="38100">
            <a:solidFill>
              <a:schemeClr val="tx1">
                <a:lumMod val="50000"/>
                <a:lumOff val="50000"/>
              </a:schemeClr>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344AD8A3-4E30-394D-9E2A-BDB2FADBF66F}"/>
                  </a:ext>
                </a:extLst>
              </p:cNvPr>
              <p:cNvSpPr/>
              <p:nvPr/>
            </p:nvSpPr>
            <p:spPr>
              <a:xfrm>
                <a:off x="199203" y="5338140"/>
                <a:ext cx="508088"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𝑥</m:t>
                      </m:r>
                    </m:oMath>
                  </m:oMathPara>
                </a14:m>
                <a:endParaRPr lang="en-US" sz="3200" dirty="0"/>
              </a:p>
            </p:txBody>
          </p:sp>
        </mc:Choice>
        <mc:Fallback xmlns="">
          <p:sp>
            <p:nvSpPr>
              <p:cNvPr id="17" name="Rectangle 16">
                <a:extLst>
                  <a:ext uri="{FF2B5EF4-FFF2-40B4-BE49-F238E27FC236}">
                    <a16:creationId xmlns:a16="http://schemas.microsoft.com/office/drawing/2014/main" id="{344AD8A3-4E30-394D-9E2A-BDB2FADBF66F}"/>
                  </a:ext>
                </a:extLst>
              </p:cNvPr>
              <p:cNvSpPr>
                <a:spLocks noRot="1" noChangeAspect="1" noMove="1" noResize="1" noEditPoints="1" noAdjustHandles="1" noChangeArrowheads="1" noChangeShapeType="1" noTextEdit="1"/>
              </p:cNvSpPr>
              <p:nvPr/>
            </p:nvSpPr>
            <p:spPr>
              <a:xfrm>
                <a:off x="199203" y="5338140"/>
                <a:ext cx="508088" cy="58477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3DFA00A2-D14C-A345-A012-705AB3344374}"/>
                  </a:ext>
                </a:extLst>
              </p:cNvPr>
              <p:cNvSpPr/>
              <p:nvPr/>
            </p:nvSpPr>
            <p:spPr>
              <a:xfrm>
                <a:off x="5065597" y="5076428"/>
                <a:ext cx="513859"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𝑦</m:t>
                      </m:r>
                    </m:oMath>
                  </m:oMathPara>
                </a14:m>
                <a:endParaRPr lang="en-US" sz="3200" dirty="0"/>
              </a:p>
            </p:txBody>
          </p:sp>
        </mc:Choice>
        <mc:Fallback xmlns="">
          <p:sp>
            <p:nvSpPr>
              <p:cNvPr id="18" name="Rectangle 17">
                <a:extLst>
                  <a:ext uri="{FF2B5EF4-FFF2-40B4-BE49-F238E27FC236}">
                    <a16:creationId xmlns:a16="http://schemas.microsoft.com/office/drawing/2014/main" id="{3DFA00A2-D14C-A345-A012-705AB3344374}"/>
                  </a:ext>
                </a:extLst>
              </p:cNvPr>
              <p:cNvSpPr>
                <a:spLocks noRot="1" noChangeAspect="1" noMove="1" noResize="1" noEditPoints="1" noAdjustHandles="1" noChangeArrowheads="1" noChangeShapeType="1" noTextEdit="1"/>
              </p:cNvSpPr>
              <p:nvPr/>
            </p:nvSpPr>
            <p:spPr>
              <a:xfrm>
                <a:off x="5065597" y="5076428"/>
                <a:ext cx="513859" cy="584775"/>
              </a:xfrm>
              <a:prstGeom prst="rect">
                <a:avLst/>
              </a:prstGeom>
              <a:blipFill>
                <a:blip r:embed="rId4"/>
                <a:stretch>
                  <a:fillRect b="-106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0430687A-8AE7-C342-BD6E-A3E6E2EA0F79}"/>
                  </a:ext>
                </a:extLst>
              </p:cNvPr>
              <p:cNvSpPr/>
              <p:nvPr/>
            </p:nvSpPr>
            <p:spPr>
              <a:xfrm>
                <a:off x="1945160" y="1153029"/>
                <a:ext cx="483402"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𝑧</m:t>
                      </m:r>
                    </m:oMath>
                  </m:oMathPara>
                </a14:m>
                <a:endParaRPr lang="en-US" sz="3200" dirty="0"/>
              </a:p>
            </p:txBody>
          </p:sp>
        </mc:Choice>
        <mc:Fallback xmlns="">
          <p:sp>
            <p:nvSpPr>
              <p:cNvPr id="19" name="Rectangle 18">
                <a:extLst>
                  <a:ext uri="{FF2B5EF4-FFF2-40B4-BE49-F238E27FC236}">
                    <a16:creationId xmlns:a16="http://schemas.microsoft.com/office/drawing/2014/main" id="{0430687A-8AE7-C342-BD6E-A3E6E2EA0F79}"/>
                  </a:ext>
                </a:extLst>
              </p:cNvPr>
              <p:cNvSpPr>
                <a:spLocks noRot="1" noChangeAspect="1" noMove="1" noResize="1" noEditPoints="1" noAdjustHandles="1" noChangeArrowheads="1" noChangeShapeType="1" noTextEdit="1"/>
              </p:cNvSpPr>
              <p:nvPr/>
            </p:nvSpPr>
            <p:spPr>
              <a:xfrm>
                <a:off x="1945160" y="1153029"/>
                <a:ext cx="483402" cy="584775"/>
              </a:xfrm>
              <a:prstGeom prst="rect">
                <a:avLst/>
              </a:prstGeom>
              <a:blipFill>
                <a:blip r:embed="rId5"/>
                <a:stretch>
                  <a:fillRect/>
                </a:stretch>
              </a:blipFill>
            </p:spPr>
            <p:txBody>
              <a:bodyPr/>
              <a:lstStyle/>
              <a:p>
                <a:r>
                  <a:rPr lang="en-US">
                    <a:noFill/>
                  </a:rPr>
                  <a:t> </a:t>
                </a:r>
              </a:p>
            </p:txBody>
          </p:sp>
        </mc:Fallback>
      </mc:AlternateContent>
      <p:cxnSp>
        <p:nvCxnSpPr>
          <p:cNvPr id="21" name="Straight Arrow Connector 20">
            <a:extLst>
              <a:ext uri="{FF2B5EF4-FFF2-40B4-BE49-F238E27FC236}">
                <a16:creationId xmlns:a16="http://schemas.microsoft.com/office/drawing/2014/main" id="{4FBC4232-91A5-514E-81AF-31B602EF9CC1}"/>
              </a:ext>
            </a:extLst>
          </p:cNvPr>
          <p:cNvCxnSpPr>
            <a:cxnSpLocks/>
            <a:endCxn id="4" idx="0"/>
          </p:cNvCxnSpPr>
          <p:nvPr/>
        </p:nvCxnSpPr>
        <p:spPr>
          <a:xfrm flipV="1">
            <a:off x="2695848" y="1733014"/>
            <a:ext cx="0" cy="2223496"/>
          </a:xfrm>
          <a:prstGeom prst="straightConnector1">
            <a:avLst/>
          </a:prstGeom>
          <a:ln w="50800">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21CD06F-C8D2-2743-905D-A52D0C047684}"/>
              </a:ext>
            </a:extLst>
          </p:cNvPr>
          <p:cNvCxnSpPr>
            <a:cxnSpLocks/>
          </p:cNvCxnSpPr>
          <p:nvPr/>
        </p:nvCxnSpPr>
        <p:spPr>
          <a:xfrm>
            <a:off x="2681100" y="3956509"/>
            <a:ext cx="0" cy="2304817"/>
          </a:xfrm>
          <a:prstGeom prst="straightConnector1">
            <a:avLst/>
          </a:prstGeom>
          <a:ln w="50800">
            <a:solidFill>
              <a:srgbClr val="0000FF">
                <a:alpha val="50000"/>
              </a:srgb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26827AB-B50F-A34B-B22B-2A22B13A2CF8}"/>
              </a:ext>
            </a:extLst>
          </p:cNvPr>
          <p:cNvCxnSpPr>
            <a:cxnSpLocks/>
          </p:cNvCxnSpPr>
          <p:nvPr/>
        </p:nvCxnSpPr>
        <p:spPr>
          <a:xfrm flipH="1">
            <a:off x="1556224" y="3956509"/>
            <a:ext cx="1139624" cy="763882"/>
          </a:xfrm>
          <a:prstGeom prst="straightConnector1">
            <a:avLst/>
          </a:prstGeom>
          <a:ln w="50800">
            <a:solidFill>
              <a:srgbClr val="00B05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6B66855-C2FC-8E47-B974-4E88DA16342A}"/>
              </a:ext>
            </a:extLst>
          </p:cNvPr>
          <p:cNvCxnSpPr>
            <a:cxnSpLocks/>
          </p:cNvCxnSpPr>
          <p:nvPr/>
        </p:nvCxnSpPr>
        <p:spPr>
          <a:xfrm flipV="1">
            <a:off x="2680233" y="3432986"/>
            <a:ext cx="778532" cy="536681"/>
          </a:xfrm>
          <a:prstGeom prst="straightConnector1">
            <a:avLst/>
          </a:prstGeom>
          <a:ln w="50800">
            <a:solidFill>
              <a:srgbClr val="00B050">
                <a:alpha val="64000"/>
              </a:srgb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954B2E5-2FDF-9542-BF25-7E79BD853D9A}"/>
              </a:ext>
            </a:extLst>
          </p:cNvPr>
          <p:cNvCxnSpPr>
            <a:cxnSpLocks/>
            <a:endCxn id="5" idx="5"/>
          </p:cNvCxnSpPr>
          <p:nvPr/>
        </p:nvCxnSpPr>
        <p:spPr>
          <a:xfrm>
            <a:off x="2695848" y="3969667"/>
            <a:ext cx="1645015" cy="682614"/>
          </a:xfrm>
          <a:prstGeom prst="straightConnector1">
            <a:avLst/>
          </a:prstGeom>
          <a:ln w="50800">
            <a:solidFill>
              <a:schemeClr val="accent2"/>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1C0B02B-5AFB-2349-BDB4-3293BB33B2D3}"/>
              </a:ext>
            </a:extLst>
          </p:cNvPr>
          <p:cNvCxnSpPr>
            <a:cxnSpLocks/>
          </p:cNvCxnSpPr>
          <p:nvPr/>
        </p:nvCxnSpPr>
        <p:spPr>
          <a:xfrm flipH="1" flipV="1">
            <a:off x="1470853" y="3498252"/>
            <a:ext cx="1243108" cy="478586"/>
          </a:xfrm>
          <a:prstGeom prst="straightConnector1">
            <a:avLst/>
          </a:prstGeom>
          <a:ln w="50800">
            <a:solidFill>
              <a:schemeClr val="accent2">
                <a:alpha val="60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4BA06568-4B77-F341-95F3-8B54810D61AD}"/>
                  </a:ext>
                </a:extLst>
              </p:cNvPr>
              <p:cNvSpPr/>
              <p:nvPr/>
            </p:nvSpPr>
            <p:spPr>
              <a:xfrm>
                <a:off x="1352574" y="4851387"/>
                <a:ext cx="539798" cy="58477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smtClean="0">
                              <a:solidFill>
                                <a:srgbClr val="00B050"/>
                              </a:solidFill>
                              <a:latin typeface="Cambria Math" panose="02040503050406030204" pitchFamily="18" charset="0"/>
                            </a:rPr>
                          </m:ctrlPr>
                        </m:dPr>
                        <m:e>
                          <m:r>
                            <a:rPr lang="en-US" sz="3200" b="0" i="1" smtClean="0">
                              <a:solidFill>
                                <a:srgbClr val="00B050"/>
                              </a:solidFill>
                              <a:latin typeface="Cambria Math" panose="02040503050406030204" pitchFamily="18" charset="0"/>
                            </a:rPr>
                            <m:t>+</m:t>
                          </m:r>
                        </m:e>
                      </m:d>
                    </m:oMath>
                  </m:oMathPara>
                </a14:m>
                <a:endParaRPr lang="en-US" sz="3200" dirty="0">
                  <a:solidFill>
                    <a:srgbClr val="00B050"/>
                  </a:solidFill>
                </a:endParaRPr>
              </a:p>
            </p:txBody>
          </p:sp>
        </mc:Choice>
        <mc:Fallback xmlns="">
          <p:sp>
            <p:nvSpPr>
              <p:cNvPr id="37" name="Rectangle 36">
                <a:extLst>
                  <a:ext uri="{FF2B5EF4-FFF2-40B4-BE49-F238E27FC236}">
                    <a16:creationId xmlns:a16="http://schemas.microsoft.com/office/drawing/2014/main" id="{4BA06568-4B77-F341-95F3-8B54810D61AD}"/>
                  </a:ext>
                </a:extLst>
              </p:cNvPr>
              <p:cNvSpPr>
                <a:spLocks noRot="1" noChangeAspect="1" noMove="1" noResize="1" noEditPoints="1" noAdjustHandles="1" noChangeArrowheads="1" noChangeShapeType="1" noTextEdit="1"/>
              </p:cNvSpPr>
              <p:nvPr/>
            </p:nvSpPr>
            <p:spPr>
              <a:xfrm>
                <a:off x="1352574" y="4851387"/>
                <a:ext cx="539798" cy="584775"/>
              </a:xfrm>
              <a:prstGeom prst="rect">
                <a:avLst/>
              </a:prstGeom>
              <a:blipFill>
                <a:blip r:embed="rId6"/>
                <a:stretch>
                  <a:fillRect r="-186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2C8FF8A5-C15F-5244-AA6D-B6876A530A6E}"/>
                  </a:ext>
                </a:extLst>
              </p:cNvPr>
              <p:cNvSpPr/>
              <p:nvPr/>
            </p:nvSpPr>
            <p:spPr>
              <a:xfrm>
                <a:off x="3608823" y="3023546"/>
                <a:ext cx="539798" cy="58477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smtClean="0">
                              <a:solidFill>
                                <a:srgbClr val="00B050"/>
                              </a:solidFill>
                              <a:latin typeface="Cambria Math" panose="02040503050406030204" pitchFamily="18" charset="0"/>
                            </a:rPr>
                          </m:ctrlPr>
                        </m:dPr>
                        <m:e>
                          <m:r>
                            <a:rPr lang="en-US" sz="3200" b="0" i="1" smtClean="0">
                              <a:solidFill>
                                <a:srgbClr val="00B050"/>
                              </a:solidFill>
                              <a:latin typeface="Cambria Math" panose="02040503050406030204" pitchFamily="18" charset="0"/>
                            </a:rPr>
                            <m:t>−</m:t>
                          </m:r>
                        </m:e>
                      </m:d>
                    </m:oMath>
                  </m:oMathPara>
                </a14:m>
                <a:endParaRPr lang="en-US" sz="3200" dirty="0">
                  <a:solidFill>
                    <a:srgbClr val="00B050"/>
                  </a:solidFill>
                </a:endParaRPr>
              </a:p>
            </p:txBody>
          </p:sp>
        </mc:Choice>
        <mc:Fallback xmlns="">
          <p:sp>
            <p:nvSpPr>
              <p:cNvPr id="38" name="Rectangle 37">
                <a:extLst>
                  <a:ext uri="{FF2B5EF4-FFF2-40B4-BE49-F238E27FC236}">
                    <a16:creationId xmlns:a16="http://schemas.microsoft.com/office/drawing/2014/main" id="{2C8FF8A5-C15F-5244-AA6D-B6876A530A6E}"/>
                  </a:ext>
                </a:extLst>
              </p:cNvPr>
              <p:cNvSpPr>
                <a:spLocks noRot="1" noChangeAspect="1" noMove="1" noResize="1" noEditPoints="1" noAdjustHandles="1" noChangeArrowheads="1" noChangeShapeType="1" noTextEdit="1"/>
              </p:cNvSpPr>
              <p:nvPr/>
            </p:nvSpPr>
            <p:spPr>
              <a:xfrm>
                <a:off x="3608823" y="3023546"/>
                <a:ext cx="539798" cy="584775"/>
              </a:xfrm>
              <a:prstGeom prst="rect">
                <a:avLst/>
              </a:prstGeom>
              <a:blipFill>
                <a:blip r:embed="rId7"/>
                <a:stretch>
                  <a:fillRect r="-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815E2156-EE98-D44E-B5E0-FE7AE6FAE5AF}"/>
                  </a:ext>
                </a:extLst>
              </p:cNvPr>
              <p:cNvSpPr/>
              <p:nvPr/>
            </p:nvSpPr>
            <p:spPr>
              <a:xfrm>
                <a:off x="3388472" y="4784040"/>
                <a:ext cx="1070321" cy="58477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smtClean="0">
                              <a:solidFill>
                                <a:schemeClr val="accent2"/>
                              </a:solidFill>
                              <a:latin typeface="Cambria Math" panose="02040503050406030204" pitchFamily="18" charset="0"/>
                            </a:rPr>
                          </m:ctrlPr>
                        </m:dPr>
                        <m:e>
                          <m:r>
                            <a:rPr lang="en-US" sz="3200" b="0" i="1" smtClean="0">
                              <a:solidFill>
                                <a:schemeClr val="accent2"/>
                              </a:solidFill>
                              <a:latin typeface="Cambria Math" panose="02040503050406030204" pitchFamily="18" charset="0"/>
                            </a:rPr>
                            <m:t>+</m:t>
                          </m:r>
                          <m:r>
                            <a:rPr lang="en-US" sz="3200" b="0" i="1" smtClean="0">
                              <a:solidFill>
                                <a:schemeClr val="accent2"/>
                              </a:solidFill>
                              <a:latin typeface="Cambria Math" panose="02040503050406030204" pitchFamily="18" charset="0"/>
                            </a:rPr>
                            <m:t>𝑖</m:t>
                          </m:r>
                        </m:e>
                      </m:d>
                    </m:oMath>
                  </m:oMathPara>
                </a14:m>
                <a:endParaRPr lang="en-US" sz="3200" dirty="0">
                  <a:solidFill>
                    <a:schemeClr val="accent2"/>
                  </a:solidFill>
                </a:endParaRPr>
              </a:p>
            </p:txBody>
          </p:sp>
        </mc:Choice>
        <mc:Fallback xmlns="">
          <p:sp>
            <p:nvSpPr>
              <p:cNvPr id="39" name="Rectangle 38">
                <a:extLst>
                  <a:ext uri="{FF2B5EF4-FFF2-40B4-BE49-F238E27FC236}">
                    <a16:creationId xmlns:a16="http://schemas.microsoft.com/office/drawing/2014/main" id="{815E2156-EE98-D44E-B5E0-FE7AE6FAE5AF}"/>
                  </a:ext>
                </a:extLst>
              </p:cNvPr>
              <p:cNvSpPr>
                <a:spLocks noRot="1" noChangeAspect="1" noMove="1" noResize="1" noEditPoints="1" noAdjustHandles="1" noChangeArrowheads="1" noChangeShapeType="1" noTextEdit="1"/>
              </p:cNvSpPr>
              <p:nvPr/>
            </p:nvSpPr>
            <p:spPr>
              <a:xfrm>
                <a:off x="3388472" y="4784040"/>
                <a:ext cx="1070321" cy="58477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5B159A95-E8B5-5843-BBAE-A90497FD0824}"/>
                  </a:ext>
                </a:extLst>
              </p:cNvPr>
              <p:cNvSpPr/>
              <p:nvPr/>
            </p:nvSpPr>
            <p:spPr>
              <a:xfrm>
                <a:off x="874839" y="2889915"/>
                <a:ext cx="1070321" cy="58477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smtClean="0">
                              <a:solidFill>
                                <a:schemeClr val="accent2"/>
                              </a:solidFill>
                              <a:latin typeface="Cambria Math" panose="02040503050406030204" pitchFamily="18" charset="0"/>
                            </a:rPr>
                          </m:ctrlPr>
                        </m:dPr>
                        <m:e>
                          <m:r>
                            <a:rPr lang="en-US" sz="3200" b="0" i="1" smtClean="0">
                              <a:solidFill>
                                <a:schemeClr val="accent2"/>
                              </a:solidFill>
                              <a:latin typeface="Cambria Math" panose="02040503050406030204" pitchFamily="18" charset="0"/>
                            </a:rPr>
                            <m:t>−</m:t>
                          </m:r>
                          <m:r>
                            <a:rPr lang="en-US" sz="3200" b="0" i="1" smtClean="0">
                              <a:solidFill>
                                <a:schemeClr val="accent2"/>
                              </a:solidFill>
                              <a:latin typeface="Cambria Math" panose="02040503050406030204" pitchFamily="18" charset="0"/>
                            </a:rPr>
                            <m:t>𝑖</m:t>
                          </m:r>
                        </m:e>
                      </m:d>
                    </m:oMath>
                  </m:oMathPara>
                </a14:m>
                <a:endParaRPr lang="en-US" sz="3200" dirty="0">
                  <a:solidFill>
                    <a:schemeClr val="accent2"/>
                  </a:solidFill>
                </a:endParaRPr>
              </a:p>
            </p:txBody>
          </p:sp>
        </mc:Choice>
        <mc:Fallback xmlns="">
          <p:sp>
            <p:nvSpPr>
              <p:cNvPr id="40" name="Rectangle 39">
                <a:extLst>
                  <a:ext uri="{FF2B5EF4-FFF2-40B4-BE49-F238E27FC236}">
                    <a16:creationId xmlns:a16="http://schemas.microsoft.com/office/drawing/2014/main" id="{5B159A95-E8B5-5843-BBAE-A90497FD0824}"/>
                  </a:ext>
                </a:extLst>
              </p:cNvPr>
              <p:cNvSpPr>
                <a:spLocks noRot="1" noChangeAspect="1" noMove="1" noResize="1" noEditPoints="1" noAdjustHandles="1" noChangeArrowheads="1" noChangeShapeType="1" noTextEdit="1"/>
              </p:cNvSpPr>
              <p:nvPr/>
            </p:nvSpPr>
            <p:spPr>
              <a:xfrm>
                <a:off x="874839" y="2889915"/>
                <a:ext cx="1070321" cy="58477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7F417FE2-6C22-9C47-924C-6E1545ED9111}"/>
                  </a:ext>
                </a:extLst>
              </p:cNvPr>
              <p:cNvSpPr/>
              <p:nvPr/>
            </p:nvSpPr>
            <p:spPr>
              <a:xfrm>
                <a:off x="2888695" y="1280315"/>
                <a:ext cx="539798" cy="58477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smtClean="0">
                              <a:solidFill>
                                <a:srgbClr val="0000FF"/>
                              </a:solidFill>
                              <a:latin typeface="Cambria Math" panose="02040503050406030204" pitchFamily="18" charset="0"/>
                            </a:rPr>
                          </m:ctrlPr>
                        </m:dPr>
                        <m:e>
                          <m:r>
                            <a:rPr lang="en-US" sz="3200" b="0" i="1" smtClean="0">
                              <a:solidFill>
                                <a:srgbClr val="0000FF"/>
                              </a:solidFill>
                              <a:latin typeface="Cambria Math" panose="02040503050406030204" pitchFamily="18" charset="0"/>
                            </a:rPr>
                            <m:t>1</m:t>
                          </m:r>
                        </m:e>
                      </m:d>
                    </m:oMath>
                  </m:oMathPara>
                </a14:m>
                <a:endParaRPr lang="en-US" sz="3200" dirty="0">
                  <a:solidFill>
                    <a:srgbClr val="0000FF"/>
                  </a:solidFill>
                </a:endParaRPr>
              </a:p>
            </p:txBody>
          </p:sp>
        </mc:Choice>
        <mc:Fallback xmlns="">
          <p:sp>
            <p:nvSpPr>
              <p:cNvPr id="41" name="Rectangle 40">
                <a:extLst>
                  <a:ext uri="{FF2B5EF4-FFF2-40B4-BE49-F238E27FC236}">
                    <a16:creationId xmlns:a16="http://schemas.microsoft.com/office/drawing/2014/main" id="{7F417FE2-6C22-9C47-924C-6E1545ED9111}"/>
                  </a:ext>
                </a:extLst>
              </p:cNvPr>
              <p:cNvSpPr>
                <a:spLocks noRot="1" noChangeAspect="1" noMove="1" noResize="1" noEditPoints="1" noAdjustHandles="1" noChangeArrowheads="1" noChangeShapeType="1" noTextEdit="1"/>
              </p:cNvSpPr>
              <p:nvPr/>
            </p:nvSpPr>
            <p:spPr>
              <a:xfrm>
                <a:off x="2888695" y="1280315"/>
                <a:ext cx="539798" cy="584775"/>
              </a:xfrm>
              <a:prstGeom prst="rect">
                <a:avLst/>
              </a:prstGeom>
              <a:blipFill>
                <a:blip r:embed="rId10"/>
                <a:stretch>
                  <a:fillRect r="-6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EA9EAD14-F545-BB4F-BC3C-E9D69080CF54}"/>
                  </a:ext>
                </a:extLst>
              </p:cNvPr>
              <p:cNvSpPr/>
              <p:nvPr/>
            </p:nvSpPr>
            <p:spPr>
              <a:xfrm>
                <a:off x="2837202" y="6273225"/>
                <a:ext cx="539798" cy="58477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smtClean="0">
                              <a:solidFill>
                                <a:srgbClr val="0000FF"/>
                              </a:solidFill>
                              <a:latin typeface="Cambria Math" panose="02040503050406030204" pitchFamily="18" charset="0"/>
                            </a:rPr>
                          </m:ctrlPr>
                        </m:dPr>
                        <m:e>
                          <m:r>
                            <a:rPr lang="en-US" sz="3200" b="0" i="1" smtClean="0">
                              <a:solidFill>
                                <a:srgbClr val="0000FF"/>
                              </a:solidFill>
                              <a:latin typeface="Cambria Math" panose="02040503050406030204" pitchFamily="18" charset="0"/>
                            </a:rPr>
                            <m:t>0</m:t>
                          </m:r>
                        </m:e>
                      </m:d>
                    </m:oMath>
                  </m:oMathPara>
                </a14:m>
                <a:endParaRPr lang="en-US" sz="3200" dirty="0">
                  <a:solidFill>
                    <a:srgbClr val="0000FF"/>
                  </a:solidFill>
                </a:endParaRPr>
              </a:p>
            </p:txBody>
          </p:sp>
        </mc:Choice>
        <mc:Fallback xmlns="">
          <p:sp>
            <p:nvSpPr>
              <p:cNvPr id="42" name="Rectangle 41">
                <a:extLst>
                  <a:ext uri="{FF2B5EF4-FFF2-40B4-BE49-F238E27FC236}">
                    <a16:creationId xmlns:a16="http://schemas.microsoft.com/office/drawing/2014/main" id="{EA9EAD14-F545-BB4F-BC3C-E9D69080CF54}"/>
                  </a:ext>
                </a:extLst>
              </p:cNvPr>
              <p:cNvSpPr>
                <a:spLocks noRot="1" noChangeAspect="1" noMove="1" noResize="1" noEditPoints="1" noAdjustHandles="1" noChangeArrowheads="1" noChangeShapeType="1" noTextEdit="1"/>
              </p:cNvSpPr>
              <p:nvPr/>
            </p:nvSpPr>
            <p:spPr>
              <a:xfrm>
                <a:off x="2837202" y="6273225"/>
                <a:ext cx="539798" cy="584775"/>
              </a:xfrm>
              <a:prstGeom prst="rect">
                <a:avLst/>
              </a:prstGeom>
              <a:blipFill>
                <a:blip r:embed="rId11"/>
                <a:stretch>
                  <a:fillRect r="-6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7" name="Table 46">
                <a:extLst>
                  <a:ext uri="{FF2B5EF4-FFF2-40B4-BE49-F238E27FC236}">
                    <a16:creationId xmlns:a16="http://schemas.microsoft.com/office/drawing/2014/main" id="{D47DFCBF-0874-9248-BC94-68E9044C72EE}"/>
                  </a:ext>
                </a:extLst>
              </p:cNvPr>
              <p:cNvGraphicFramePr>
                <a:graphicFrameLocks noGrp="1"/>
              </p:cNvGraphicFramePr>
              <p:nvPr>
                <p:extLst>
                  <p:ext uri="{D42A27DB-BD31-4B8C-83A1-F6EECF244321}">
                    <p14:modId xmlns:p14="http://schemas.microsoft.com/office/powerpoint/2010/main" val="3561473580"/>
                  </p:ext>
                </p:extLst>
              </p:nvPr>
            </p:nvGraphicFramePr>
            <p:xfrm>
              <a:off x="5194605" y="2255005"/>
              <a:ext cx="6733104" cy="2083689"/>
            </p:xfrm>
            <a:graphic>
              <a:graphicData uri="http://schemas.openxmlformats.org/drawingml/2006/table">
                <a:tbl>
                  <a:tblPr firstRow="1" bandRow="1">
                    <a:tableStyleId>{D27102A9-8310-4765-A935-A1911B00CA55}</a:tableStyleId>
                  </a:tblPr>
                  <a:tblGrid>
                    <a:gridCol w="2244368">
                      <a:extLst>
                        <a:ext uri="{9D8B030D-6E8A-4147-A177-3AD203B41FA5}">
                          <a16:colId xmlns:a16="http://schemas.microsoft.com/office/drawing/2014/main" val="2239339328"/>
                        </a:ext>
                      </a:extLst>
                    </a:gridCol>
                    <a:gridCol w="2244368">
                      <a:extLst>
                        <a:ext uri="{9D8B030D-6E8A-4147-A177-3AD203B41FA5}">
                          <a16:colId xmlns:a16="http://schemas.microsoft.com/office/drawing/2014/main" val="3796818261"/>
                        </a:ext>
                      </a:extLst>
                    </a:gridCol>
                    <a:gridCol w="2244368">
                      <a:extLst>
                        <a:ext uri="{9D8B030D-6E8A-4147-A177-3AD203B41FA5}">
                          <a16:colId xmlns:a16="http://schemas.microsoft.com/office/drawing/2014/main" val="2460073394"/>
                        </a:ext>
                      </a:extLst>
                    </a:gridCol>
                  </a:tblGrid>
                  <a:tr h="370840">
                    <a:tc>
                      <a:txBody>
                        <a:bodyPr/>
                        <a:lstStyle/>
                        <a:p>
                          <a:pPr algn="ctr"/>
                          <a:r>
                            <a:rPr lang="en-US" sz="2800" dirty="0"/>
                            <a:t>measurement</a:t>
                          </a:r>
                        </a:p>
                      </a:txBody>
                      <a:tcPr/>
                    </a:tc>
                    <a:tc>
                      <a:txBody>
                        <a:bodyPr/>
                        <a:lstStyle/>
                        <a:p>
                          <a:pPr algn="ctr"/>
                          <a:r>
                            <a:rPr lang="en-US" sz="2800" dirty="0"/>
                            <a:t>eigenstate</a:t>
                          </a:r>
                        </a:p>
                      </a:txBody>
                      <a:tcPr/>
                    </a:tc>
                    <a:tc>
                      <a:txBody>
                        <a:bodyPr/>
                        <a:lstStyle/>
                        <a:p>
                          <a:pPr algn="ctr"/>
                          <a:r>
                            <a:rPr lang="en-US" sz="2800" dirty="0"/>
                            <a:t>operator-&gt;Z</a:t>
                          </a:r>
                        </a:p>
                      </a:txBody>
                      <a:tcPr/>
                    </a:tc>
                    <a:extLst>
                      <a:ext uri="{0D108BD9-81ED-4DB2-BD59-A6C34878D82A}">
                        <a16:rowId xmlns:a16="http://schemas.microsoft.com/office/drawing/2014/main" val="4100671658"/>
                      </a:ext>
                    </a:extLst>
                  </a:tr>
                  <a:tr h="370840">
                    <a:tc>
                      <a:txBody>
                        <a:bodyPr/>
                        <a:lstStyle/>
                        <a:p>
                          <a:pPr algn="ctr"/>
                          <a:r>
                            <a:rPr lang="en-US" sz="2800" dirty="0"/>
                            <a:t>Pauli Z</a:t>
                          </a:r>
                        </a:p>
                      </a:txBody>
                      <a:tcPr/>
                    </a:tc>
                    <a:tc>
                      <a:txBody>
                        <a:bodyPr/>
                        <a:lstStyle/>
                        <a:p>
                          <a:pPr algn="ctr"/>
                          <a14:m>
                            <m:oMathPara xmlns:m="http://schemas.openxmlformats.org/officeDocument/2006/math">
                              <m:oMathParaPr>
                                <m:jc m:val="centerGroup"/>
                              </m:oMathParaPr>
                              <m:oMath xmlns:m="http://schemas.openxmlformats.org/officeDocument/2006/math">
                                <m:r>
                                  <a:rPr lang="en-US" sz="2800" smtClean="0">
                                    <a:latin typeface="Cambria Math" panose="02040503050406030204" pitchFamily="18" charset="0"/>
                                  </a:rPr>
                                  <m:t>{</m:t>
                                </m:r>
                                <m:d>
                                  <m:dPr>
                                    <m:begChr m:val="|"/>
                                    <m:endChr m:val="⟩"/>
                                    <m:ctrlPr>
                                      <a:rPr lang="en-US" sz="2800" i="1">
                                        <a:latin typeface="Cambria Math" panose="02040503050406030204" pitchFamily="18" charset="0"/>
                                      </a:rPr>
                                    </m:ctrlPr>
                                  </m:dPr>
                                  <m:e>
                                    <m:r>
                                      <a:rPr lang="en-US" sz="2800" smtClean="0">
                                        <a:latin typeface="Cambria Math" panose="02040503050406030204" pitchFamily="18" charset="0"/>
                                      </a:rPr>
                                      <m:t>0</m:t>
                                    </m:r>
                                  </m:e>
                                </m:d>
                                <m:r>
                                  <a:rPr lang="en-US" sz="2800" smtClean="0">
                                    <a:latin typeface="Cambria Math" panose="02040503050406030204" pitchFamily="18" charset="0"/>
                                  </a:rPr>
                                  <m:t>,</m:t>
                                </m:r>
                                <m:d>
                                  <m:dPr>
                                    <m:begChr m:val="|"/>
                                    <m:endChr m:val="⟩"/>
                                    <m:ctrlPr>
                                      <a:rPr lang="en-US" sz="2800" i="1">
                                        <a:latin typeface="Cambria Math" panose="02040503050406030204" pitchFamily="18" charset="0"/>
                                      </a:rPr>
                                    </m:ctrlPr>
                                  </m:dPr>
                                  <m:e>
                                    <m:r>
                                      <a:rPr lang="en-US" sz="2800">
                                        <a:latin typeface="Cambria Math" panose="02040503050406030204" pitchFamily="18" charset="0"/>
                                      </a:rPr>
                                      <m:t>1</m:t>
                                    </m:r>
                                  </m:e>
                                </m:d>
                                <m:r>
                                  <a:rPr lang="en-US" sz="2800" smtClean="0">
                                    <a:latin typeface="Cambria Math" panose="02040503050406030204" pitchFamily="18" charset="0"/>
                                  </a:rPr>
                                  <m:t>}</m:t>
                                </m:r>
                              </m:oMath>
                            </m:oMathPara>
                          </a14:m>
                          <a:endParaRPr lang="en-US" sz="2800" dirty="0"/>
                        </a:p>
                      </a:txBody>
                      <a:tcPr/>
                    </a:tc>
                    <a:tc>
                      <a:txBody>
                        <a:bodyPr/>
                        <a:lstStyle/>
                        <a:p>
                          <a:pPr algn="ctr"/>
                          <a:endParaRPr lang="en-US" sz="2800" dirty="0"/>
                        </a:p>
                      </a:txBody>
                      <a:tcPr/>
                    </a:tc>
                    <a:extLst>
                      <a:ext uri="{0D108BD9-81ED-4DB2-BD59-A6C34878D82A}">
                        <a16:rowId xmlns:a16="http://schemas.microsoft.com/office/drawing/2014/main" val="3644079032"/>
                      </a:ext>
                    </a:extLst>
                  </a:tr>
                  <a:tr h="370840">
                    <a:tc>
                      <a:txBody>
                        <a:bodyPr/>
                        <a:lstStyle/>
                        <a:p>
                          <a:pPr algn="ctr"/>
                          <a:r>
                            <a:rPr lang="en-US" sz="2800" dirty="0"/>
                            <a:t>Pauli X</a:t>
                          </a:r>
                        </a:p>
                      </a:txBody>
                      <a:tcPr/>
                    </a:tc>
                    <a:tc>
                      <a:txBody>
                        <a:bodyPr/>
                        <a:lstStyle/>
                        <a:p>
                          <a:pPr algn="ctr"/>
                          <a14:m>
                            <m:oMathPara xmlns:m="http://schemas.openxmlformats.org/officeDocument/2006/math">
                              <m:oMathParaPr>
                                <m:jc m:val="centerGroup"/>
                              </m:oMathParaPr>
                              <m:oMath xmlns:m="http://schemas.openxmlformats.org/officeDocument/2006/math">
                                <m:r>
                                  <a:rPr lang="en-US" sz="2800" smtClean="0">
                                    <a:latin typeface="Cambria Math" panose="02040503050406030204" pitchFamily="18" charset="0"/>
                                  </a:rPr>
                                  <m:t>{</m:t>
                                </m:r>
                                <m:d>
                                  <m:dPr>
                                    <m:begChr m:val="|"/>
                                    <m:endChr m:val="⟩"/>
                                    <m:ctrlPr>
                                      <a:rPr lang="en-US" sz="2800" i="1">
                                        <a:latin typeface="Cambria Math" panose="02040503050406030204" pitchFamily="18" charset="0"/>
                                      </a:rPr>
                                    </m:ctrlPr>
                                  </m:dPr>
                                  <m:e>
                                    <m:r>
                                      <a:rPr lang="en-US" sz="2800" smtClean="0">
                                        <a:latin typeface="Cambria Math" panose="02040503050406030204" pitchFamily="18" charset="0"/>
                                      </a:rPr>
                                      <m:t>+</m:t>
                                    </m:r>
                                  </m:e>
                                </m:d>
                                <m:r>
                                  <a:rPr lang="en-US" sz="2800" smtClean="0">
                                    <a:latin typeface="Cambria Math" panose="02040503050406030204" pitchFamily="18" charset="0"/>
                                  </a:rPr>
                                  <m:t>,</m:t>
                                </m:r>
                                <m:d>
                                  <m:dPr>
                                    <m:begChr m:val="|"/>
                                    <m:endChr m:val="⟩"/>
                                    <m:ctrlPr>
                                      <a:rPr lang="en-US" sz="2800" i="1">
                                        <a:latin typeface="Cambria Math" panose="02040503050406030204" pitchFamily="18" charset="0"/>
                                      </a:rPr>
                                    </m:ctrlPr>
                                  </m:dPr>
                                  <m:e>
                                    <m:r>
                                      <a:rPr lang="en-US" sz="2800" smtClean="0">
                                        <a:latin typeface="Cambria Math" panose="02040503050406030204" pitchFamily="18" charset="0"/>
                                      </a:rPr>
                                      <m:t>−</m:t>
                                    </m:r>
                                  </m:e>
                                </m:d>
                                <m:r>
                                  <a:rPr lang="en-US" sz="2800" smtClean="0">
                                    <a:latin typeface="Cambria Math" panose="02040503050406030204" pitchFamily="18" charset="0"/>
                                  </a:rPr>
                                  <m:t>}</m:t>
                                </m:r>
                              </m:oMath>
                            </m:oMathPara>
                          </a14:m>
                          <a:endParaRPr lang="en-US" sz="2800" dirty="0"/>
                        </a:p>
                      </a:txBody>
                      <a:tcPr/>
                    </a:tc>
                    <a:tc>
                      <a:txBody>
                        <a:bodyPr/>
                        <a:lstStyle/>
                        <a:p>
                          <a:pPr algn="ctr"/>
                          <a14:m>
                            <m:oMathPara xmlns:m="http://schemas.openxmlformats.org/officeDocument/2006/math">
                              <m:oMathParaPr>
                                <m:jc m:val="centerGroup"/>
                              </m:oMathParaPr>
                              <m:oMath xmlns:m="http://schemas.openxmlformats.org/officeDocument/2006/math">
                                <m:r>
                                  <a:rPr lang="en-US" sz="2800" dirty="0" smtClean="0">
                                    <a:latin typeface="Cambria Math" panose="02040503050406030204" pitchFamily="18" charset="0"/>
                                  </a:rPr>
                                  <m:t>𝐻</m:t>
                                </m:r>
                              </m:oMath>
                            </m:oMathPara>
                          </a14:m>
                          <a:endParaRPr lang="en-US" sz="2800" dirty="0"/>
                        </a:p>
                      </a:txBody>
                      <a:tcPr/>
                    </a:tc>
                    <a:extLst>
                      <a:ext uri="{0D108BD9-81ED-4DB2-BD59-A6C34878D82A}">
                        <a16:rowId xmlns:a16="http://schemas.microsoft.com/office/drawing/2014/main" val="1169014272"/>
                      </a:ext>
                    </a:extLst>
                  </a:tr>
                  <a:tr h="370840">
                    <a:tc>
                      <a:txBody>
                        <a:bodyPr/>
                        <a:lstStyle/>
                        <a:p>
                          <a:pPr algn="ctr"/>
                          <a:r>
                            <a:rPr lang="en-US" sz="2800" dirty="0"/>
                            <a:t>Pauli Y</a:t>
                          </a:r>
                        </a:p>
                      </a:txBody>
                      <a:tcPr/>
                    </a:tc>
                    <a:tc>
                      <a:txBody>
                        <a:bodyPr/>
                        <a:lstStyle/>
                        <a:p>
                          <a:pPr algn="ctr"/>
                          <a14:m>
                            <m:oMathPara xmlns:m="http://schemas.openxmlformats.org/officeDocument/2006/math">
                              <m:oMathParaPr>
                                <m:jc m:val="centerGroup"/>
                              </m:oMathParaPr>
                              <m:oMath xmlns:m="http://schemas.openxmlformats.org/officeDocument/2006/math">
                                <m:r>
                                  <a:rPr lang="en-US" sz="2800" smtClean="0">
                                    <a:latin typeface="Cambria Math" panose="02040503050406030204" pitchFamily="18" charset="0"/>
                                  </a:rPr>
                                  <m:t>{</m:t>
                                </m:r>
                                <m:d>
                                  <m:dPr>
                                    <m:begChr m:val="|"/>
                                    <m:endChr m:val="⟩"/>
                                    <m:ctrlPr>
                                      <a:rPr lang="en-US" sz="2800" i="1">
                                        <a:latin typeface="Cambria Math" panose="02040503050406030204" pitchFamily="18" charset="0"/>
                                      </a:rPr>
                                    </m:ctrlPr>
                                  </m:dPr>
                                  <m:e>
                                    <m:r>
                                      <a:rPr lang="en-US" sz="2800" b="0" i="0" smtClean="0">
                                        <a:latin typeface="Cambria Math" panose="02040503050406030204" pitchFamily="18" charset="0"/>
                                      </a:rPr>
                                      <m:t>+</m:t>
                                    </m:r>
                                    <m:r>
                                      <a:rPr lang="en-US" sz="2800" smtClean="0">
                                        <a:latin typeface="Cambria Math" panose="02040503050406030204" pitchFamily="18" charset="0"/>
                                      </a:rPr>
                                      <m:t>𝑖</m:t>
                                    </m:r>
                                  </m:e>
                                </m:d>
                                <m:r>
                                  <a:rPr lang="en-US" sz="2800" smtClean="0">
                                    <a:latin typeface="Cambria Math" panose="02040503050406030204" pitchFamily="18" charset="0"/>
                                  </a:rPr>
                                  <m:t>,</m:t>
                                </m:r>
                                <m:d>
                                  <m:dPr>
                                    <m:begChr m:val="|"/>
                                    <m:endChr m:val="⟩"/>
                                    <m:ctrlPr>
                                      <a:rPr lang="en-US" sz="2800" i="1">
                                        <a:latin typeface="Cambria Math" panose="02040503050406030204" pitchFamily="18" charset="0"/>
                                      </a:rPr>
                                    </m:ctrlPr>
                                  </m:dPr>
                                  <m:e>
                                    <m:r>
                                      <a:rPr lang="en-US" sz="2800" b="0" i="1" smtClean="0">
                                        <a:latin typeface="Cambria Math" panose="02040503050406030204" pitchFamily="18" charset="0"/>
                                      </a:rPr>
                                      <m:t>−</m:t>
                                    </m:r>
                                    <m:r>
                                      <a:rPr lang="en-US" sz="2800" smtClean="0">
                                        <a:latin typeface="Cambria Math" panose="02040503050406030204" pitchFamily="18" charset="0"/>
                                      </a:rPr>
                                      <m:t>𝑖</m:t>
                                    </m:r>
                                  </m:e>
                                </m:d>
                                <m:r>
                                  <a:rPr lang="en-US" sz="2800" smtClean="0">
                                    <a:latin typeface="Cambria Math" panose="02040503050406030204" pitchFamily="18" charset="0"/>
                                  </a:rPr>
                                  <m:t>}</m:t>
                                </m:r>
                              </m:oMath>
                            </m:oMathPara>
                          </a14:m>
                          <a:endParaRPr lang="en-US" sz="2800" dirty="0"/>
                        </a:p>
                      </a:txBody>
                      <a:tcPr/>
                    </a:tc>
                    <a:tc>
                      <a:txBody>
                        <a:bodyPr/>
                        <a:lstStyle/>
                        <a:p>
                          <a:pPr algn="ctr"/>
                          <a14:m>
                            <m:oMathPara xmlns:m="http://schemas.openxmlformats.org/officeDocument/2006/math">
                              <m:oMathParaPr>
                                <m:jc m:val="centerGroup"/>
                              </m:oMathParaPr>
                              <m:oMath xmlns:m="http://schemas.openxmlformats.org/officeDocument/2006/math">
                                <m:r>
                                  <a:rPr lang="en-US" sz="2800" smtClean="0">
                                    <a:latin typeface="Cambria Math" panose="02040503050406030204" pitchFamily="18" charset="0"/>
                                  </a:rPr>
                                  <m:t>𝐻</m:t>
                                </m:r>
                                <m:sSup>
                                  <m:sSupPr>
                                    <m:ctrlPr>
                                      <a:rPr lang="en-US" sz="2800" i="1">
                                        <a:latin typeface="Cambria Math" panose="02040503050406030204" pitchFamily="18" charset="0"/>
                                      </a:rPr>
                                    </m:ctrlPr>
                                  </m:sSupPr>
                                  <m:e>
                                    <m:r>
                                      <a:rPr lang="en-US" sz="2800">
                                        <a:latin typeface="Cambria Math" panose="02040503050406030204" pitchFamily="18" charset="0"/>
                                      </a:rPr>
                                      <m:t>𝑆</m:t>
                                    </m:r>
                                  </m:e>
                                  <m:sup>
                                    <m:r>
                                      <a:rPr lang="en-US" sz="2800">
                                        <a:latin typeface="Cambria Math" panose="02040503050406030204" pitchFamily="18" charset="0"/>
                                      </a:rPr>
                                      <m:t>†</m:t>
                                    </m:r>
                                  </m:sup>
                                </m:sSup>
                              </m:oMath>
                            </m:oMathPara>
                          </a14:m>
                          <a:endParaRPr lang="en-US" sz="2800" dirty="0"/>
                        </a:p>
                      </a:txBody>
                      <a:tcPr/>
                    </a:tc>
                    <a:extLst>
                      <a:ext uri="{0D108BD9-81ED-4DB2-BD59-A6C34878D82A}">
                        <a16:rowId xmlns:a16="http://schemas.microsoft.com/office/drawing/2014/main" val="1318959806"/>
                      </a:ext>
                    </a:extLst>
                  </a:tr>
                </a:tbl>
              </a:graphicData>
            </a:graphic>
          </p:graphicFrame>
        </mc:Choice>
        <mc:Fallback xmlns="">
          <p:graphicFrame>
            <p:nvGraphicFramePr>
              <p:cNvPr id="47" name="Table 46">
                <a:extLst>
                  <a:ext uri="{FF2B5EF4-FFF2-40B4-BE49-F238E27FC236}">
                    <a16:creationId xmlns:a16="http://schemas.microsoft.com/office/drawing/2014/main" id="{D47DFCBF-0874-9248-BC94-68E9044C72EE}"/>
                  </a:ext>
                </a:extLst>
              </p:cNvPr>
              <p:cNvGraphicFramePr>
                <a:graphicFrameLocks noGrp="1"/>
              </p:cNvGraphicFramePr>
              <p:nvPr>
                <p:extLst>
                  <p:ext uri="{D42A27DB-BD31-4B8C-83A1-F6EECF244321}">
                    <p14:modId xmlns:p14="http://schemas.microsoft.com/office/powerpoint/2010/main" val="3561473580"/>
                  </p:ext>
                </p:extLst>
              </p:nvPr>
            </p:nvGraphicFramePr>
            <p:xfrm>
              <a:off x="5194605" y="2255005"/>
              <a:ext cx="6733104" cy="2083689"/>
            </p:xfrm>
            <a:graphic>
              <a:graphicData uri="http://schemas.openxmlformats.org/drawingml/2006/table">
                <a:tbl>
                  <a:tblPr firstRow="1" bandRow="1">
                    <a:tableStyleId>{D27102A9-8310-4765-A935-A1911B00CA55}</a:tableStyleId>
                  </a:tblPr>
                  <a:tblGrid>
                    <a:gridCol w="2244368">
                      <a:extLst>
                        <a:ext uri="{9D8B030D-6E8A-4147-A177-3AD203B41FA5}">
                          <a16:colId xmlns:a16="http://schemas.microsoft.com/office/drawing/2014/main" val="2239339328"/>
                        </a:ext>
                      </a:extLst>
                    </a:gridCol>
                    <a:gridCol w="2244368">
                      <a:extLst>
                        <a:ext uri="{9D8B030D-6E8A-4147-A177-3AD203B41FA5}">
                          <a16:colId xmlns:a16="http://schemas.microsoft.com/office/drawing/2014/main" val="3796818261"/>
                        </a:ext>
                      </a:extLst>
                    </a:gridCol>
                    <a:gridCol w="2244368">
                      <a:extLst>
                        <a:ext uri="{9D8B030D-6E8A-4147-A177-3AD203B41FA5}">
                          <a16:colId xmlns:a16="http://schemas.microsoft.com/office/drawing/2014/main" val="2460073394"/>
                        </a:ext>
                      </a:extLst>
                    </a:gridCol>
                  </a:tblGrid>
                  <a:tr h="518160">
                    <a:tc>
                      <a:txBody>
                        <a:bodyPr/>
                        <a:lstStyle/>
                        <a:p>
                          <a:pPr algn="ctr"/>
                          <a:r>
                            <a:rPr lang="en-US" sz="2800" dirty="0"/>
                            <a:t>measurement</a:t>
                          </a:r>
                        </a:p>
                      </a:txBody>
                      <a:tcPr/>
                    </a:tc>
                    <a:tc>
                      <a:txBody>
                        <a:bodyPr/>
                        <a:lstStyle/>
                        <a:p>
                          <a:pPr algn="ctr"/>
                          <a:r>
                            <a:rPr lang="en-US" sz="2800" dirty="0"/>
                            <a:t>eigenstate</a:t>
                          </a:r>
                        </a:p>
                      </a:txBody>
                      <a:tcPr/>
                    </a:tc>
                    <a:tc>
                      <a:txBody>
                        <a:bodyPr/>
                        <a:lstStyle/>
                        <a:p>
                          <a:pPr algn="ctr"/>
                          <a:r>
                            <a:rPr lang="en-US" sz="2800" dirty="0"/>
                            <a:t>operator-&gt;Z</a:t>
                          </a:r>
                        </a:p>
                      </a:txBody>
                      <a:tcPr/>
                    </a:tc>
                    <a:extLst>
                      <a:ext uri="{0D108BD9-81ED-4DB2-BD59-A6C34878D82A}">
                        <a16:rowId xmlns:a16="http://schemas.microsoft.com/office/drawing/2014/main" val="4100671658"/>
                      </a:ext>
                    </a:extLst>
                  </a:tr>
                  <a:tr h="518160">
                    <a:tc>
                      <a:txBody>
                        <a:bodyPr/>
                        <a:lstStyle/>
                        <a:p>
                          <a:pPr algn="ctr"/>
                          <a:r>
                            <a:rPr lang="en-US" sz="2800" dirty="0"/>
                            <a:t>Pauli Z</a:t>
                          </a:r>
                        </a:p>
                      </a:txBody>
                      <a:tcPr/>
                    </a:tc>
                    <a:tc>
                      <a:txBody>
                        <a:bodyPr/>
                        <a:lstStyle/>
                        <a:p>
                          <a:endParaRPr lang="en-US"/>
                        </a:p>
                      </a:txBody>
                      <a:tcPr>
                        <a:blipFill>
                          <a:blip r:embed="rId12"/>
                          <a:stretch>
                            <a:fillRect l="-100565" t="-112195" r="-99435" b="-229268"/>
                          </a:stretch>
                        </a:blipFill>
                      </a:tcPr>
                    </a:tc>
                    <a:tc>
                      <a:txBody>
                        <a:bodyPr/>
                        <a:lstStyle/>
                        <a:p>
                          <a:pPr algn="ctr"/>
                          <a:endParaRPr lang="en-US" sz="2800" dirty="0"/>
                        </a:p>
                      </a:txBody>
                      <a:tcPr/>
                    </a:tc>
                    <a:extLst>
                      <a:ext uri="{0D108BD9-81ED-4DB2-BD59-A6C34878D82A}">
                        <a16:rowId xmlns:a16="http://schemas.microsoft.com/office/drawing/2014/main" val="3644079032"/>
                      </a:ext>
                    </a:extLst>
                  </a:tr>
                  <a:tr h="518160">
                    <a:tc>
                      <a:txBody>
                        <a:bodyPr/>
                        <a:lstStyle/>
                        <a:p>
                          <a:pPr algn="ctr"/>
                          <a:r>
                            <a:rPr lang="en-US" sz="2800" dirty="0"/>
                            <a:t>Pauli X</a:t>
                          </a:r>
                        </a:p>
                      </a:txBody>
                      <a:tcPr/>
                    </a:tc>
                    <a:tc>
                      <a:txBody>
                        <a:bodyPr/>
                        <a:lstStyle/>
                        <a:p>
                          <a:endParaRPr lang="en-US"/>
                        </a:p>
                      </a:txBody>
                      <a:tcPr>
                        <a:blipFill>
                          <a:blip r:embed="rId12"/>
                          <a:stretch>
                            <a:fillRect l="-100565" t="-212195" r="-99435" b="-129268"/>
                          </a:stretch>
                        </a:blipFill>
                      </a:tcPr>
                    </a:tc>
                    <a:tc>
                      <a:txBody>
                        <a:bodyPr/>
                        <a:lstStyle/>
                        <a:p>
                          <a:endParaRPr lang="en-US"/>
                        </a:p>
                      </a:txBody>
                      <a:tcPr>
                        <a:blipFill>
                          <a:blip r:embed="rId12"/>
                          <a:stretch>
                            <a:fillRect l="-200565" t="-212195" r="565" b="-129268"/>
                          </a:stretch>
                        </a:blipFill>
                      </a:tcPr>
                    </a:tc>
                    <a:extLst>
                      <a:ext uri="{0D108BD9-81ED-4DB2-BD59-A6C34878D82A}">
                        <a16:rowId xmlns:a16="http://schemas.microsoft.com/office/drawing/2014/main" val="1169014272"/>
                      </a:ext>
                    </a:extLst>
                  </a:tr>
                  <a:tr h="529209">
                    <a:tc>
                      <a:txBody>
                        <a:bodyPr/>
                        <a:lstStyle/>
                        <a:p>
                          <a:pPr algn="ctr"/>
                          <a:r>
                            <a:rPr lang="en-US" sz="2800" dirty="0"/>
                            <a:t>Pauli Y</a:t>
                          </a:r>
                        </a:p>
                      </a:txBody>
                      <a:tcPr/>
                    </a:tc>
                    <a:tc>
                      <a:txBody>
                        <a:bodyPr/>
                        <a:lstStyle/>
                        <a:p>
                          <a:endParaRPr lang="en-US"/>
                        </a:p>
                      </a:txBody>
                      <a:tcPr>
                        <a:blipFill>
                          <a:blip r:embed="rId12"/>
                          <a:stretch>
                            <a:fillRect l="-100565" t="-304762" r="-99435" b="-26190"/>
                          </a:stretch>
                        </a:blipFill>
                      </a:tcPr>
                    </a:tc>
                    <a:tc>
                      <a:txBody>
                        <a:bodyPr/>
                        <a:lstStyle/>
                        <a:p>
                          <a:endParaRPr lang="en-US"/>
                        </a:p>
                      </a:txBody>
                      <a:tcPr>
                        <a:blipFill>
                          <a:blip r:embed="rId12"/>
                          <a:stretch>
                            <a:fillRect l="-200565" t="-304762" r="565" b="-26190"/>
                          </a:stretch>
                        </a:blipFill>
                      </a:tcPr>
                    </a:tc>
                    <a:extLst>
                      <a:ext uri="{0D108BD9-81ED-4DB2-BD59-A6C34878D82A}">
                        <a16:rowId xmlns:a16="http://schemas.microsoft.com/office/drawing/2014/main" val="1318959806"/>
                      </a:ext>
                    </a:extLst>
                  </a:tr>
                </a:tbl>
              </a:graphicData>
            </a:graphic>
          </p:graphicFrame>
        </mc:Fallback>
      </mc:AlternateContent>
    </p:spTree>
    <p:extLst>
      <p:ext uri="{BB962C8B-B14F-4D97-AF65-F5344CB8AC3E}">
        <p14:creationId xmlns:p14="http://schemas.microsoft.com/office/powerpoint/2010/main" val="34597985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1" name="Straight Connector 80">
            <a:extLst>
              <a:ext uri="{FF2B5EF4-FFF2-40B4-BE49-F238E27FC236}">
                <a16:creationId xmlns:a16="http://schemas.microsoft.com/office/drawing/2014/main" id="{7BF60709-6F2F-B24A-AB73-20C5974790A7}"/>
              </a:ext>
            </a:extLst>
          </p:cNvPr>
          <p:cNvCxnSpPr>
            <a:cxnSpLocks/>
          </p:cNvCxnSpPr>
          <p:nvPr/>
        </p:nvCxnSpPr>
        <p:spPr>
          <a:xfrm>
            <a:off x="4546597" y="3701008"/>
            <a:ext cx="296205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1D2F1CF1-E8C2-F447-A908-DAEEB1251A57}"/>
              </a:ext>
            </a:extLst>
          </p:cNvPr>
          <p:cNvSpPr>
            <a:spLocks noChangeAspect="1"/>
          </p:cNvSpPr>
          <p:nvPr/>
        </p:nvSpPr>
        <p:spPr>
          <a:xfrm>
            <a:off x="349958" y="2091086"/>
            <a:ext cx="3184328" cy="3184328"/>
          </a:xfrm>
          <a:prstGeom prst="ellipse">
            <a:avLst/>
          </a:prstGeom>
          <a:gradFill flip="none" rotWithShape="1">
            <a:gsLst>
              <a:gs pos="0">
                <a:schemeClr val="bg1"/>
              </a:gs>
              <a:gs pos="100000">
                <a:schemeClr val="accent5">
                  <a:lumMod val="20000"/>
                  <a:lumOff val="80000"/>
                </a:schemeClr>
              </a:gs>
            </a:gsLst>
            <a:lin ang="5400000" scaled="1"/>
            <a:tileRect/>
          </a:gra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2" name="Title 1">
            <a:extLst>
              <a:ext uri="{FF2B5EF4-FFF2-40B4-BE49-F238E27FC236}">
                <a16:creationId xmlns:a16="http://schemas.microsoft.com/office/drawing/2014/main" id="{D5CBAD56-B777-9A4E-8666-0FCC0B7E20BA}"/>
              </a:ext>
            </a:extLst>
          </p:cNvPr>
          <p:cNvSpPr>
            <a:spLocks noGrp="1"/>
          </p:cNvSpPr>
          <p:nvPr>
            <p:ph type="title"/>
          </p:nvPr>
        </p:nvSpPr>
        <p:spPr/>
        <p:txBody>
          <a:bodyPr/>
          <a:lstStyle/>
          <a:p>
            <a:r>
              <a:rPr lang="en-ZA" b="1" dirty="0"/>
              <a:t>Why Z-measurement does not reveal phase</a:t>
            </a:r>
            <a:endParaRPr lang="en-US" dirty="0"/>
          </a:p>
        </p:txBody>
      </p:sp>
      <p:cxnSp>
        <p:nvCxnSpPr>
          <p:cNvPr id="59" name="Straight Connector 58">
            <a:extLst>
              <a:ext uri="{FF2B5EF4-FFF2-40B4-BE49-F238E27FC236}">
                <a16:creationId xmlns:a16="http://schemas.microsoft.com/office/drawing/2014/main" id="{F148EB20-E882-C248-8D74-837D28AE9A16}"/>
              </a:ext>
            </a:extLst>
          </p:cNvPr>
          <p:cNvCxnSpPr>
            <a:cxnSpLocks/>
          </p:cNvCxnSpPr>
          <p:nvPr/>
        </p:nvCxnSpPr>
        <p:spPr>
          <a:xfrm>
            <a:off x="9597269" y="1564977"/>
            <a:ext cx="0" cy="3057457"/>
          </a:xfrm>
          <a:prstGeom prst="line">
            <a:avLst/>
          </a:prstGeom>
          <a:ln>
            <a:solidFill>
              <a:schemeClr val="tx1"/>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0B2B2FA-E191-9C41-A787-5602960D4172}"/>
              </a:ext>
            </a:extLst>
          </p:cNvPr>
          <p:cNvCxnSpPr>
            <a:cxnSpLocks/>
          </p:cNvCxnSpPr>
          <p:nvPr/>
        </p:nvCxnSpPr>
        <p:spPr>
          <a:xfrm flipV="1">
            <a:off x="9597269" y="4624342"/>
            <a:ext cx="21747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059D06DA-A4D9-EC4E-B6C4-A082AC189673}"/>
              </a:ext>
            </a:extLst>
          </p:cNvPr>
          <p:cNvSpPr/>
          <p:nvPr/>
        </p:nvSpPr>
        <p:spPr>
          <a:xfrm>
            <a:off x="9934306" y="3190478"/>
            <a:ext cx="611491" cy="144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1927AE05-79D3-1C49-83FF-BB1A9B9FACA8}"/>
              </a:ext>
            </a:extLst>
          </p:cNvPr>
          <p:cNvSpPr/>
          <p:nvPr/>
        </p:nvSpPr>
        <p:spPr>
          <a:xfrm>
            <a:off x="11021957" y="3190478"/>
            <a:ext cx="611491" cy="1440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0B551C66-23A8-304F-B29E-5507EB97F2CB}"/>
              </a:ext>
            </a:extLst>
          </p:cNvPr>
          <p:cNvSpPr txBox="1"/>
          <p:nvPr/>
        </p:nvSpPr>
        <p:spPr>
          <a:xfrm>
            <a:off x="10037277" y="4595331"/>
            <a:ext cx="340158" cy="461665"/>
          </a:xfrm>
          <a:prstGeom prst="rect">
            <a:avLst/>
          </a:prstGeom>
          <a:noFill/>
        </p:spPr>
        <p:txBody>
          <a:bodyPr wrap="none" rtlCol="0">
            <a:spAutoFit/>
          </a:bodyPr>
          <a:lstStyle/>
          <a:p>
            <a:r>
              <a:rPr lang="en-US" sz="2400" dirty="0"/>
              <a:t>0</a:t>
            </a:r>
          </a:p>
        </p:txBody>
      </p:sp>
      <p:sp>
        <p:nvSpPr>
          <p:cNvPr id="64" name="TextBox 63">
            <a:extLst>
              <a:ext uri="{FF2B5EF4-FFF2-40B4-BE49-F238E27FC236}">
                <a16:creationId xmlns:a16="http://schemas.microsoft.com/office/drawing/2014/main" id="{D6546FF0-ECD5-8345-99FB-CFDAA1ACE0B3}"/>
              </a:ext>
            </a:extLst>
          </p:cNvPr>
          <p:cNvSpPr txBox="1"/>
          <p:nvPr/>
        </p:nvSpPr>
        <p:spPr>
          <a:xfrm>
            <a:off x="11154708" y="4595331"/>
            <a:ext cx="340158" cy="461665"/>
          </a:xfrm>
          <a:prstGeom prst="rect">
            <a:avLst/>
          </a:prstGeom>
          <a:noFill/>
        </p:spPr>
        <p:txBody>
          <a:bodyPr wrap="none" rtlCol="0">
            <a:spAutoFit/>
          </a:bodyPr>
          <a:lstStyle/>
          <a:p>
            <a:r>
              <a:rPr lang="en-US" sz="2400" dirty="0"/>
              <a:t>1</a:t>
            </a:r>
          </a:p>
        </p:txBody>
      </p:sp>
      <p:sp>
        <p:nvSpPr>
          <p:cNvPr id="65" name="TextBox 64">
            <a:extLst>
              <a:ext uri="{FF2B5EF4-FFF2-40B4-BE49-F238E27FC236}">
                <a16:creationId xmlns:a16="http://schemas.microsoft.com/office/drawing/2014/main" id="{33EAD088-946A-0E49-B6AE-015CD9DB7626}"/>
              </a:ext>
            </a:extLst>
          </p:cNvPr>
          <p:cNvSpPr txBox="1"/>
          <p:nvPr/>
        </p:nvSpPr>
        <p:spPr>
          <a:xfrm>
            <a:off x="9934306" y="2697247"/>
            <a:ext cx="572593" cy="461665"/>
          </a:xfrm>
          <a:prstGeom prst="rect">
            <a:avLst/>
          </a:prstGeom>
          <a:noFill/>
        </p:spPr>
        <p:txBody>
          <a:bodyPr wrap="none" rtlCol="0">
            <a:spAutoFit/>
          </a:bodyPr>
          <a:lstStyle/>
          <a:p>
            <a:r>
              <a:rPr lang="en-US" sz="2400" dirty="0"/>
              <a:t>0.5</a:t>
            </a:r>
          </a:p>
        </p:txBody>
      </p:sp>
      <p:sp>
        <p:nvSpPr>
          <p:cNvPr id="66" name="TextBox 65">
            <a:extLst>
              <a:ext uri="{FF2B5EF4-FFF2-40B4-BE49-F238E27FC236}">
                <a16:creationId xmlns:a16="http://schemas.microsoft.com/office/drawing/2014/main" id="{AF32412B-D402-F24F-92CF-A068B8DA735D}"/>
              </a:ext>
            </a:extLst>
          </p:cNvPr>
          <p:cNvSpPr txBox="1"/>
          <p:nvPr/>
        </p:nvSpPr>
        <p:spPr>
          <a:xfrm>
            <a:off x="11038490" y="2697278"/>
            <a:ext cx="572593" cy="461665"/>
          </a:xfrm>
          <a:prstGeom prst="rect">
            <a:avLst/>
          </a:prstGeom>
          <a:noFill/>
        </p:spPr>
        <p:txBody>
          <a:bodyPr wrap="none" rtlCol="0">
            <a:spAutoFit/>
          </a:bodyPr>
          <a:lstStyle/>
          <a:p>
            <a:r>
              <a:rPr lang="en-US" sz="2400" dirty="0"/>
              <a:t>0.5</a:t>
            </a:r>
          </a:p>
        </p:txBody>
      </p:sp>
      <p:cxnSp>
        <p:nvCxnSpPr>
          <p:cNvPr id="13" name="Straight Arrow Connector 12">
            <a:extLst>
              <a:ext uri="{FF2B5EF4-FFF2-40B4-BE49-F238E27FC236}">
                <a16:creationId xmlns:a16="http://schemas.microsoft.com/office/drawing/2014/main" id="{EE0904CB-0855-3043-A435-5348E20D1B43}"/>
              </a:ext>
            </a:extLst>
          </p:cNvPr>
          <p:cNvCxnSpPr>
            <a:cxnSpLocks/>
          </p:cNvCxnSpPr>
          <p:nvPr/>
        </p:nvCxnSpPr>
        <p:spPr>
          <a:xfrm flipV="1">
            <a:off x="1948319" y="1834680"/>
            <a:ext cx="2" cy="170767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59A5ED7-07E2-6E4A-9C46-2AC1E631E813}"/>
              </a:ext>
            </a:extLst>
          </p:cNvPr>
          <p:cNvCxnSpPr>
            <a:cxnSpLocks/>
          </p:cNvCxnSpPr>
          <p:nvPr/>
        </p:nvCxnSpPr>
        <p:spPr>
          <a:xfrm>
            <a:off x="688931" y="3278544"/>
            <a:ext cx="3070342" cy="724321"/>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56ED226-AFA0-184B-8B7E-E7A7DBAD1884}"/>
              </a:ext>
            </a:extLst>
          </p:cNvPr>
          <p:cNvCxnSpPr>
            <a:cxnSpLocks/>
          </p:cNvCxnSpPr>
          <p:nvPr/>
        </p:nvCxnSpPr>
        <p:spPr>
          <a:xfrm flipH="1">
            <a:off x="742493" y="3000857"/>
            <a:ext cx="1875425" cy="1540608"/>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E7229266-F87E-EC44-89DC-960215E93026}"/>
              </a:ext>
            </a:extLst>
          </p:cNvPr>
          <p:cNvSpPr/>
          <p:nvPr/>
        </p:nvSpPr>
        <p:spPr>
          <a:xfrm>
            <a:off x="362352" y="2933128"/>
            <a:ext cx="3184328" cy="1521272"/>
          </a:xfrm>
          <a:prstGeom prst="ellipse">
            <a:avLst/>
          </a:prstGeom>
          <a:noFill/>
          <a:ln w="635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7" name="Straight Arrow Connector 16">
            <a:extLst>
              <a:ext uri="{FF2B5EF4-FFF2-40B4-BE49-F238E27FC236}">
                <a16:creationId xmlns:a16="http://schemas.microsoft.com/office/drawing/2014/main" id="{B4F7C86B-8C88-D64C-BDDD-4DA291FEF043}"/>
              </a:ext>
            </a:extLst>
          </p:cNvPr>
          <p:cNvCxnSpPr>
            <a:cxnSpLocks/>
          </p:cNvCxnSpPr>
          <p:nvPr/>
        </p:nvCxnSpPr>
        <p:spPr>
          <a:xfrm>
            <a:off x="1966907" y="3542350"/>
            <a:ext cx="657923" cy="879836"/>
          </a:xfrm>
          <a:prstGeom prst="straightConnector1">
            <a:avLst/>
          </a:prstGeom>
          <a:ln w="38100" cap="rnd">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2B5B6A69-A956-C843-B114-02899DA887D8}"/>
              </a:ext>
            </a:extLst>
          </p:cNvPr>
          <p:cNvCxnSpPr>
            <a:cxnSpLocks/>
          </p:cNvCxnSpPr>
          <p:nvPr/>
        </p:nvCxnSpPr>
        <p:spPr>
          <a:xfrm flipH="1" flipV="1">
            <a:off x="1941407" y="2249003"/>
            <a:ext cx="13109" cy="1273367"/>
          </a:xfrm>
          <a:prstGeom prst="straightConnector1">
            <a:avLst/>
          </a:prstGeom>
          <a:ln w="25400" cap="rnd">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42CB6D68-0261-C240-BC8D-AD7EBC6CE777}"/>
              </a:ext>
            </a:extLst>
          </p:cNvPr>
          <p:cNvCxnSpPr>
            <a:cxnSpLocks/>
          </p:cNvCxnSpPr>
          <p:nvPr/>
        </p:nvCxnSpPr>
        <p:spPr>
          <a:xfrm flipH="1">
            <a:off x="1933930" y="3554854"/>
            <a:ext cx="13673" cy="1526479"/>
          </a:xfrm>
          <a:prstGeom prst="straightConnector1">
            <a:avLst/>
          </a:prstGeom>
          <a:ln w="25400" cap="rnd">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267985AF-96E8-0B42-A43A-8695270F9460}"/>
                  </a:ext>
                </a:extLst>
              </p:cNvPr>
              <p:cNvSpPr/>
              <p:nvPr/>
            </p:nvSpPr>
            <p:spPr>
              <a:xfrm>
                <a:off x="329438" y="4234064"/>
                <a:ext cx="42639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2060"/>
                          </a:solidFill>
                          <a:latin typeface="Cambria Math" panose="02040503050406030204" pitchFamily="18" charset="0"/>
                          <a:ea typeface="Cambria Math" panose="02040503050406030204" pitchFamily="18" charset="0"/>
                        </a:rPr>
                        <m:t>𝑥</m:t>
                      </m:r>
                    </m:oMath>
                  </m:oMathPara>
                </a14:m>
                <a:endParaRPr lang="en-US" sz="2400" dirty="0"/>
              </a:p>
            </p:txBody>
          </p:sp>
        </mc:Choice>
        <mc:Fallback xmlns="">
          <p:sp>
            <p:nvSpPr>
              <p:cNvPr id="47" name="Rectangle 46">
                <a:extLst>
                  <a:ext uri="{FF2B5EF4-FFF2-40B4-BE49-F238E27FC236}">
                    <a16:creationId xmlns:a16="http://schemas.microsoft.com/office/drawing/2014/main" id="{267985AF-96E8-0B42-A43A-8695270F9460}"/>
                  </a:ext>
                </a:extLst>
              </p:cNvPr>
              <p:cNvSpPr>
                <a:spLocks noRot="1" noChangeAspect="1" noMove="1" noResize="1" noEditPoints="1" noAdjustHandles="1" noChangeArrowheads="1" noChangeShapeType="1" noTextEdit="1"/>
              </p:cNvSpPr>
              <p:nvPr/>
            </p:nvSpPr>
            <p:spPr>
              <a:xfrm>
                <a:off x="329438" y="4234064"/>
                <a:ext cx="426399" cy="4616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E46CCFC9-F810-1040-AC91-587E1A3310FA}"/>
                  </a:ext>
                </a:extLst>
              </p:cNvPr>
              <p:cNvSpPr/>
              <p:nvPr/>
            </p:nvSpPr>
            <p:spPr>
              <a:xfrm>
                <a:off x="1966907" y="1666159"/>
                <a:ext cx="40793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2060"/>
                          </a:solidFill>
                          <a:latin typeface="Cambria Math" panose="02040503050406030204" pitchFamily="18" charset="0"/>
                          <a:ea typeface="Cambria Math" panose="02040503050406030204" pitchFamily="18" charset="0"/>
                        </a:rPr>
                        <m:t>𝑧</m:t>
                      </m:r>
                    </m:oMath>
                  </m:oMathPara>
                </a14:m>
                <a:endParaRPr lang="en-US" sz="2400" dirty="0"/>
              </a:p>
            </p:txBody>
          </p:sp>
        </mc:Choice>
        <mc:Fallback xmlns="">
          <p:sp>
            <p:nvSpPr>
              <p:cNvPr id="48" name="Rectangle 47">
                <a:extLst>
                  <a:ext uri="{FF2B5EF4-FFF2-40B4-BE49-F238E27FC236}">
                    <a16:creationId xmlns:a16="http://schemas.microsoft.com/office/drawing/2014/main" id="{E46CCFC9-F810-1040-AC91-587E1A3310FA}"/>
                  </a:ext>
                </a:extLst>
              </p:cNvPr>
              <p:cNvSpPr>
                <a:spLocks noRot="1" noChangeAspect="1" noMove="1" noResize="1" noEditPoints="1" noAdjustHandles="1" noChangeArrowheads="1" noChangeShapeType="1" noTextEdit="1"/>
              </p:cNvSpPr>
              <p:nvPr/>
            </p:nvSpPr>
            <p:spPr>
              <a:xfrm>
                <a:off x="1966907" y="1666159"/>
                <a:ext cx="407932"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7B6171A8-5F56-7149-9D7C-2BD075FBBD6B}"/>
                  </a:ext>
                </a:extLst>
              </p:cNvPr>
              <p:cNvSpPr/>
              <p:nvPr/>
            </p:nvSpPr>
            <p:spPr>
              <a:xfrm>
                <a:off x="3587790" y="3504280"/>
                <a:ext cx="43037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oMath>
                  </m:oMathPara>
                </a14:m>
                <a:endParaRPr lang="en-US" sz="2400" dirty="0"/>
              </a:p>
            </p:txBody>
          </p:sp>
        </mc:Choice>
        <mc:Fallback xmlns="">
          <p:sp>
            <p:nvSpPr>
              <p:cNvPr id="49" name="Rectangle 48">
                <a:extLst>
                  <a:ext uri="{FF2B5EF4-FFF2-40B4-BE49-F238E27FC236}">
                    <a16:creationId xmlns:a16="http://schemas.microsoft.com/office/drawing/2014/main" id="{7B6171A8-5F56-7149-9D7C-2BD075FBBD6B}"/>
                  </a:ext>
                </a:extLst>
              </p:cNvPr>
              <p:cNvSpPr>
                <a:spLocks noRot="1" noChangeAspect="1" noMove="1" noResize="1" noEditPoints="1" noAdjustHandles="1" noChangeArrowheads="1" noChangeShapeType="1" noTextEdit="1"/>
              </p:cNvSpPr>
              <p:nvPr/>
            </p:nvSpPr>
            <p:spPr>
              <a:xfrm>
                <a:off x="3587790" y="3504280"/>
                <a:ext cx="430374" cy="461665"/>
              </a:xfrm>
              <a:prstGeom prst="rect">
                <a:avLst/>
              </a:prstGeom>
              <a:blipFill>
                <a:blip r:embed="rId5"/>
                <a:stretch>
                  <a:fillRect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Rectangle 102">
                <a:extLst>
                  <a:ext uri="{FF2B5EF4-FFF2-40B4-BE49-F238E27FC236}">
                    <a16:creationId xmlns:a16="http://schemas.microsoft.com/office/drawing/2014/main" id="{14C228E5-9763-1B40-91AB-4C8B73C1E91B}"/>
                  </a:ext>
                </a:extLst>
              </p:cNvPr>
              <p:cNvSpPr/>
              <p:nvPr/>
            </p:nvSpPr>
            <p:spPr>
              <a:xfrm>
                <a:off x="1322385" y="4041542"/>
                <a:ext cx="985141" cy="6697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i="1" smtClean="0">
                          <a:solidFill>
                            <a:srgbClr val="002060"/>
                          </a:solidFill>
                          <a:latin typeface="Cambria Math" panose="02040503050406030204" pitchFamily="18" charset="0"/>
                          <a:ea typeface="Cambria Math" panose="02040503050406030204" pitchFamily="18" charset="0"/>
                        </a:rPr>
                        <m:t>𝜑</m:t>
                      </m:r>
                      <m:r>
                        <a:rPr lang="en-US" sz="2200" b="0" i="1" smtClean="0">
                          <a:solidFill>
                            <a:srgbClr val="002060"/>
                          </a:solidFill>
                          <a:latin typeface="Cambria Math" panose="02040503050406030204" pitchFamily="18" charset="0"/>
                          <a:ea typeface="Cambria Math" panose="02040503050406030204" pitchFamily="18" charset="0"/>
                        </a:rPr>
                        <m:t>=</m:t>
                      </m:r>
                      <m:f>
                        <m:fPr>
                          <m:ctrlPr>
                            <a:rPr lang="en-US" sz="2200" i="1" smtClean="0">
                              <a:solidFill>
                                <a:srgbClr val="002060"/>
                              </a:solidFill>
                              <a:latin typeface="Cambria Math" panose="02040503050406030204" pitchFamily="18" charset="0"/>
                              <a:ea typeface="Cambria Math" panose="02040503050406030204" pitchFamily="18" charset="0"/>
                            </a:rPr>
                          </m:ctrlPr>
                        </m:fPr>
                        <m:num>
                          <m:r>
                            <a:rPr lang="en-US" sz="2200" i="1" smtClean="0">
                              <a:solidFill>
                                <a:srgbClr val="002060"/>
                              </a:solidFill>
                              <a:latin typeface="Cambria Math" panose="02040503050406030204" pitchFamily="18" charset="0"/>
                              <a:ea typeface="Cambria Math" panose="02040503050406030204" pitchFamily="18" charset="0"/>
                            </a:rPr>
                            <m:t>𝜋</m:t>
                          </m:r>
                        </m:num>
                        <m:den>
                          <m:r>
                            <a:rPr lang="en-US" sz="2200" b="0" i="1" smtClean="0">
                              <a:solidFill>
                                <a:srgbClr val="002060"/>
                              </a:solidFill>
                              <a:latin typeface="Cambria Math" panose="02040503050406030204" pitchFamily="18" charset="0"/>
                              <a:ea typeface="Cambria Math" panose="02040503050406030204" pitchFamily="18" charset="0"/>
                            </a:rPr>
                            <m:t>3</m:t>
                          </m:r>
                        </m:den>
                      </m:f>
                    </m:oMath>
                  </m:oMathPara>
                </a14:m>
                <a:endParaRPr lang="en-US" sz="2200" dirty="0"/>
              </a:p>
            </p:txBody>
          </p:sp>
        </mc:Choice>
        <mc:Fallback xmlns="">
          <p:sp>
            <p:nvSpPr>
              <p:cNvPr id="103" name="Rectangle 102">
                <a:extLst>
                  <a:ext uri="{FF2B5EF4-FFF2-40B4-BE49-F238E27FC236}">
                    <a16:creationId xmlns:a16="http://schemas.microsoft.com/office/drawing/2014/main" id="{14C228E5-9763-1B40-91AB-4C8B73C1E91B}"/>
                  </a:ext>
                </a:extLst>
              </p:cNvPr>
              <p:cNvSpPr>
                <a:spLocks noRot="1" noChangeAspect="1" noMove="1" noResize="1" noEditPoints="1" noAdjustHandles="1" noChangeArrowheads="1" noChangeShapeType="1" noTextEdit="1"/>
              </p:cNvSpPr>
              <p:nvPr/>
            </p:nvSpPr>
            <p:spPr>
              <a:xfrm>
                <a:off x="1322385" y="4041542"/>
                <a:ext cx="985141" cy="669799"/>
              </a:xfrm>
              <a:prstGeom prst="rect">
                <a:avLst/>
              </a:prstGeom>
              <a:blipFill>
                <a:blip r:embed="rId6"/>
                <a:stretch>
                  <a:fillRect b="-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5D555AD8-BC33-8643-84D7-3EADE469C26C}"/>
                  </a:ext>
                </a:extLst>
              </p:cNvPr>
              <p:cNvSpPr/>
              <p:nvPr/>
            </p:nvSpPr>
            <p:spPr>
              <a:xfrm>
                <a:off x="2187554" y="4537264"/>
                <a:ext cx="2588722" cy="8512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m:t>
                          </m:r>
                          <m:r>
                            <a:rPr lang="en-US" sz="2200" b="0" i="1" smtClean="0">
                              <a:solidFill>
                                <a:srgbClr val="002060"/>
                              </a:solidFill>
                              <a:latin typeface="Cambria Math" panose="02040503050406030204" pitchFamily="18" charset="0"/>
                              <a:ea typeface="Cambria Math" panose="02040503050406030204" pitchFamily="18" charset="0"/>
                            </a:rPr>
                            <m:t>𝑆</m:t>
                          </m:r>
                        </m:e>
                      </m:d>
                      <m:r>
                        <a:rPr lang="en-US" sz="2200" b="0" i="1" smtClean="0">
                          <a:solidFill>
                            <a:srgbClr val="002060"/>
                          </a:solidFill>
                          <a:latin typeface="Cambria Math" panose="02040503050406030204" pitchFamily="18" charset="0"/>
                          <a:ea typeface="Cambria Math" panose="02040503050406030204" pitchFamily="18" charset="0"/>
                        </a:rPr>
                        <m:t>=</m:t>
                      </m:r>
                      <m:f>
                        <m:fPr>
                          <m:ctrlPr>
                            <a:rPr lang="en-US" sz="2200" b="0" i="1" smtClean="0">
                              <a:solidFill>
                                <a:srgbClr val="002060"/>
                              </a:solidFill>
                              <a:latin typeface="Cambria Math" panose="02040503050406030204" pitchFamily="18" charset="0"/>
                              <a:ea typeface="Cambria Math" panose="02040503050406030204" pitchFamily="18" charset="0"/>
                            </a:rPr>
                          </m:ctrlPr>
                        </m:fPr>
                        <m:num>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m:t>
                              </m:r>
                              <m:r>
                                <a:rPr lang="en-US" sz="2200" b="0" i="1" smtClean="0">
                                  <a:solidFill>
                                    <a:srgbClr val="002060"/>
                                  </a:solidFill>
                                  <a:latin typeface="Cambria Math" panose="02040503050406030204" pitchFamily="18" charset="0"/>
                                  <a:ea typeface="Cambria Math" panose="02040503050406030204" pitchFamily="18" charset="0"/>
                                </a:rPr>
                                <m:t>0</m:t>
                              </m:r>
                            </m:e>
                          </m:d>
                          <m:r>
                            <a:rPr lang="en-US" sz="22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sSup>
                                <m:sSupPr>
                                  <m:ctrlPr>
                                    <a:rPr lang="en-US" sz="2200" i="1" smtClean="0">
                                      <a:solidFill>
                                        <a:srgbClr val="002060"/>
                                      </a:solidFill>
                                      <a:latin typeface="Cambria Math" panose="02040503050406030204" pitchFamily="18" charset="0"/>
                                      <a:ea typeface="Cambria Math" panose="02040503050406030204" pitchFamily="18" charset="0"/>
                                    </a:rPr>
                                  </m:ctrlPr>
                                </m:sSupPr>
                                <m:e>
                                  <m:r>
                                    <a:rPr lang="en-US" sz="2200" b="0" i="1" smtClean="0">
                                      <a:solidFill>
                                        <a:srgbClr val="002060"/>
                                      </a:solidFill>
                                      <a:latin typeface="Cambria Math" panose="02040503050406030204" pitchFamily="18" charset="0"/>
                                      <a:ea typeface="Cambria Math" panose="02040503050406030204" pitchFamily="18" charset="0"/>
                                    </a:rPr>
                                    <m:t>𝑒</m:t>
                                  </m:r>
                                </m:e>
                                <m:sup>
                                  <m:r>
                                    <a:rPr lang="en-US" sz="2200" b="0" i="1" smtClean="0">
                                      <a:solidFill>
                                        <a:srgbClr val="002060"/>
                                      </a:solidFill>
                                      <a:latin typeface="Cambria Math" panose="02040503050406030204" pitchFamily="18" charset="0"/>
                                      <a:ea typeface="Cambria Math" panose="02040503050406030204" pitchFamily="18" charset="0"/>
                                    </a:rPr>
                                    <m:t>𝑖</m:t>
                                  </m:r>
                                  <m:r>
                                    <a:rPr lang="en-US" sz="2200" i="1">
                                      <a:solidFill>
                                        <a:srgbClr val="002060"/>
                                      </a:solidFill>
                                      <a:latin typeface="Cambria Math" panose="02040503050406030204" pitchFamily="18" charset="0"/>
                                      <a:ea typeface="Cambria Math" panose="02040503050406030204" pitchFamily="18" charset="0"/>
                                    </a:rPr>
                                    <m:t>𝜋</m:t>
                                  </m:r>
                                  <m:r>
                                    <a:rPr lang="en-US" sz="2200" b="0" i="1" smtClean="0">
                                      <a:solidFill>
                                        <a:srgbClr val="002060"/>
                                      </a:solidFill>
                                      <a:latin typeface="Cambria Math" panose="02040503050406030204" pitchFamily="18" charset="0"/>
                                      <a:ea typeface="Cambria Math" panose="02040503050406030204" pitchFamily="18" charset="0"/>
                                    </a:rPr>
                                    <m:t>/3</m:t>
                                  </m:r>
                                </m:sup>
                              </m:sSup>
                              <m:r>
                                <a:rPr lang="en-US" sz="2200" i="1">
                                  <a:solidFill>
                                    <a:srgbClr val="002060"/>
                                  </a:solidFill>
                                  <a:latin typeface="Cambria Math" panose="02040503050406030204" pitchFamily="18" charset="0"/>
                                  <a:ea typeface="Cambria Math" panose="02040503050406030204" pitchFamily="18" charset="0"/>
                                </a:rPr>
                                <m:t>|</m:t>
                              </m:r>
                              <m:r>
                                <a:rPr lang="en-US" sz="2200" b="0" i="1" smtClean="0">
                                  <a:solidFill>
                                    <a:srgbClr val="002060"/>
                                  </a:solidFill>
                                  <a:latin typeface="Cambria Math" panose="02040503050406030204" pitchFamily="18" charset="0"/>
                                  <a:ea typeface="Cambria Math" panose="02040503050406030204" pitchFamily="18" charset="0"/>
                                </a:rPr>
                                <m:t>1</m:t>
                              </m:r>
                            </m:e>
                          </m:d>
                        </m:num>
                        <m:den>
                          <m:rad>
                            <m:radPr>
                              <m:degHide m:val="on"/>
                              <m:ctrlPr>
                                <a:rPr lang="en-US" sz="2200" b="0" i="1" smtClean="0">
                                  <a:solidFill>
                                    <a:srgbClr val="002060"/>
                                  </a:solidFill>
                                  <a:latin typeface="Cambria Math" panose="02040503050406030204" pitchFamily="18" charset="0"/>
                                  <a:ea typeface="Cambria Math" panose="02040503050406030204" pitchFamily="18" charset="0"/>
                                </a:rPr>
                              </m:ctrlPr>
                            </m:radPr>
                            <m:deg/>
                            <m:e>
                              <m:r>
                                <a:rPr lang="en-US" sz="2200" b="0" i="1" smtClean="0">
                                  <a:solidFill>
                                    <a:srgbClr val="002060"/>
                                  </a:solidFill>
                                  <a:latin typeface="Cambria Math" panose="02040503050406030204" pitchFamily="18" charset="0"/>
                                  <a:ea typeface="Cambria Math" panose="02040503050406030204" pitchFamily="18" charset="0"/>
                                </a:rPr>
                                <m:t>2</m:t>
                              </m:r>
                            </m:e>
                          </m:rad>
                        </m:den>
                      </m:f>
                    </m:oMath>
                  </m:oMathPara>
                </a14:m>
                <a:endParaRPr lang="en-US" sz="2200" dirty="0"/>
              </a:p>
            </p:txBody>
          </p:sp>
        </mc:Choice>
        <mc:Fallback xmlns="">
          <p:sp>
            <p:nvSpPr>
              <p:cNvPr id="50" name="Rectangle 49">
                <a:extLst>
                  <a:ext uri="{FF2B5EF4-FFF2-40B4-BE49-F238E27FC236}">
                    <a16:creationId xmlns:a16="http://schemas.microsoft.com/office/drawing/2014/main" id="{5D555AD8-BC33-8643-84D7-3EADE469C26C}"/>
                  </a:ext>
                </a:extLst>
              </p:cNvPr>
              <p:cNvSpPr>
                <a:spLocks noRot="1" noChangeAspect="1" noMove="1" noResize="1" noEditPoints="1" noAdjustHandles="1" noChangeArrowheads="1" noChangeShapeType="1" noTextEdit="1"/>
              </p:cNvSpPr>
              <p:nvPr/>
            </p:nvSpPr>
            <p:spPr>
              <a:xfrm>
                <a:off x="2187554" y="4537264"/>
                <a:ext cx="2588722" cy="851259"/>
              </a:xfrm>
              <a:prstGeom prst="rect">
                <a:avLst/>
              </a:prstGeom>
              <a:blipFill>
                <a:blip r:embed="rId7"/>
                <a:stretch>
                  <a:fillRect l="-4878" t="-83824" r="-16098" b="-83824"/>
                </a:stretch>
              </a:blipFill>
            </p:spPr>
            <p:txBody>
              <a:bodyPr/>
              <a:lstStyle/>
              <a:p>
                <a:r>
                  <a:rPr lang="en-US">
                    <a:noFill/>
                  </a:rPr>
                  <a:t> </a:t>
                </a:r>
              </a:p>
            </p:txBody>
          </p:sp>
        </mc:Fallback>
      </mc:AlternateContent>
      <p:sp>
        <p:nvSpPr>
          <p:cNvPr id="51" name="Arc 50">
            <a:extLst>
              <a:ext uri="{FF2B5EF4-FFF2-40B4-BE49-F238E27FC236}">
                <a16:creationId xmlns:a16="http://schemas.microsoft.com/office/drawing/2014/main" id="{A8E8436A-DEB1-4A4A-875A-8B618B9FD11B}"/>
              </a:ext>
            </a:extLst>
          </p:cNvPr>
          <p:cNvSpPr/>
          <p:nvPr/>
        </p:nvSpPr>
        <p:spPr>
          <a:xfrm>
            <a:off x="1648853" y="3543438"/>
            <a:ext cx="636108" cy="383351"/>
          </a:xfrm>
          <a:prstGeom prst="arc">
            <a:avLst>
              <a:gd name="adj1" fmla="val 1703788"/>
              <a:gd name="adj2" fmla="val 1019813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73" name="Group 72">
            <a:extLst>
              <a:ext uri="{FF2B5EF4-FFF2-40B4-BE49-F238E27FC236}">
                <a16:creationId xmlns:a16="http://schemas.microsoft.com/office/drawing/2014/main" id="{031F21A1-1B62-E64F-847C-D0F9C718E7FE}"/>
              </a:ext>
            </a:extLst>
          </p:cNvPr>
          <p:cNvGrpSpPr/>
          <p:nvPr/>
        </p:nvGrpSpPr>
        <p:grpSpPr>
          <a:xfrm>
            <a:off x="5578396" y="3158912"/>
            <a:ext cx="1106393" cy="1080000"/>
            <a:chOff x="6431882" y="1339340"/>
            <a:chExt cx="1106393" cy="1080000"/>
          </a:xfrm>
        </p:grpSpPr>
        <p:sp>
          <p:nvSpPr>
            <p:cNvPr id="77" name="Rectangle 76">
              <a:extLst>
                <a:ext uri="{FF2B5EF4-FFF2-40B4-BE49-F238E27FC236}">
                  <a16:creationId xmlns:a16="http://schemas.microsoft.com/office/drawing/2014/main" id="{65816916-0A1C-3D4F-AD85-C4898213A7C7}"/>
                </a:ext>
              </a:extLst>
            </p:cNvPr>
            <p:cNvSpPr/>
            <p:nvPr/>
          </p:nvSpPr>
          <p:spPr>
            <a:xfrm>
              <a:off x="6445079" y="1339340"/>
              <a:ext cx="1080000" cy="108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latin typeface="+mj-lt"/>
              </a:endParaRPr>
            </a:p>
          </p:txBody>
        </p:sp>
        <p:sp>
          <p:nvSpPr>
            <p:cNvPr id="78" name="Arc 77">
              <a:extLst>
                <a:ext uri="{FF2B5EF4-FFF2-40B4-BE49-F238E27FC236}">
                  <a16:creationId xmlns:a16="http://schemas.microsoft.com/office/drawing/2014/main" id="{6BD7AAAF-0213-4045-AA2F-95879ED3330B}"/>
                </a:ext>
              </a:extLst>
            </p:cNvPr>
            <p:cNvSpPr/>
            <p:nvPr/>
          </p:nvSpPr>
          <p:spPr>
            <a:xfrm>
              <a:off x="6564709" y="1507451"/>
              <a:ext cx="840740" cy="772509"/>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79" name="Straight Arrow Connector 78">
              <a:extLst>
                <a:ext uri="{FF2B5EF4-FFF2-40B4-BE49-F238E27FC236}">
                  <a16:creationId xmlns:a16="http://schemas.microsoft.com/office/drawing/2014/main" id="{9288169D-A0D6-364C-B4BB-68C9FC5C6B93}"/>
                </a:ext>
              </a:extLst>
            </p:cNvPr>
            <p:cNvCxnSpPr>
              <a:cxnSpLocks/>
            </p:cNvCxnSpPr>
            <p:nvPr/>
          </p:nvCxnSpPr>
          <p:spPr>
            <a:xfrm flipV="1">
              <a:off x="6985079" y="1456081"/>
              <a:ext cx="213497" cy="544593"/>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2698CC6C-746B-7946-B55A-21445DC494A1}"/>
                </a:ext>
              </a:extLst>
            </p:cNvPr>
            <p:cNvSpPr txBox="1"/>
            <p:nvPr/>
          </p:nvSpPr>
          <p:spPr>
            <a:xfrm>
              <a:off x="6431882" y="1885698"/>
              <a:ext cx="1106393" cy="369332"/>
            </a:xfrm>
            <a:prstGeom prst="rect">
              <a:avLst/>
            </a:prstGeom>
            <a:noFill/>
          </p:spPr>
          <p:txBody>
            <a:bodyPr wrap="none" rtlCol="0">
              <a:spAutoFit/>
            </a:bodyPr>
            <a:lstStyle/>
            <a:p>
              <a:r>
                <a:rPr lang="en-US" dirty="0"/>
                <a:t>0             1</a:t>
              </a:r>
            </a:p>
          </p:txBody>
        </p:sp>
      </p:grpSp>
      <mc:AlternateContent xmlns:mc="http://schemas.openxmlformats.org/markup-compatibility/2006" xmlns:a14="http://schemas.microsoft.com/office/drawing/2010/main">
        <mc:Choice Requires="a14">
          <p:sp>
            <p:nvSpPr>
              <p:cNvPr id="87" name="Rectangle 86">
                <a:extLst>
                  <a:ext uri="{FF2B5EF4-FFF2-40B4-BE49-F238E27FC236}">
                    <a16:creationId xmlns:a16="http://schemas.microsoft.com/office/drawing/2014/main" id="{FC9C1BC0-E157-CE4F-8DA8-73DA532FA555}"/>
                  </a:ext>
                </a:extLst>
              </p:cNvPr>
              <p:cNvSpPr/>
              <p:nvPr/>
            </p:nvSpPr>
            <p:spPr>
              <a:xfrm>
                <a:off x="1900025" y="3095035"/>
                <a:ext cx="955262" cy="66761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i="1" smtClean="0">
                          <a:solidFill>
                            <a:srgbClr val="002060"/>
                          </a:solidFill>
                          <a:latin typeface="Cambria Math" panose="02040503050406030204" pitchFamily="18" charset="0"/>
                          <a:ea typeface="Cambria Math" panose="02040503050406030204" pitchFamily="18" charset="0"/>
                        </a:rPr>
                        <m:t>𝜃</m:t>
                      </m:r>
                      <m:r>
                        <a:rPr lang="en-US" sz="2200" b="0" i="1" smtClean="0">
                          <a:solidFill>
                            <a:srgbClr val="002060"/>
                          </a:solidFill>
                          <a:latin typeface="Cambria Math" panose="02040503050406030204" pitchFamily="18" charset="0"/>
                          <a:ea typeface="Cambria Math" panose="02040503050406030204" pitchFamily="18" charset="0"/>
                        </a:rPr>
                        <m:t>=</m:t>
                      </m:r>
                      <m:f>
                        <m:fPr>
                          <m:ctrlPr>
                            <a:rPr lang="en-US" sz="2200" i="1" smtClean="0">
                              <a:solidFill>
                                <a:srgbClr val="002060"/>
                              </a:solidFill>
                              <a:latin typeface="Cambria Math" panose="02040503050406030204" pitchFamily="18" charset="0"/>
                              <a:ea typeface="Cambria Math" panose="02040503050406030204" pitchFamily="18" charset="0"/>
                            </a:rPr>
                          </m:ctrlPr>
                        </m:fPr>
                        <m:num>
                          <m:r>
                            <a:rPr lang="en-US" sz="2200" i="1" smtClean="0">
                              <a:solidFill>
                                <a:srgbClr val="002060"/>
                              </a:solidFill>
                              <a:latin typeface="Cambria Math" panose="02040503050406030204" pitchFamily="18" charset="0"/>
                              <a:ea typeface="Cambria Math" panose="02040503050406030204" pitchFamily="18" charset="0"/>
                            </a:rPr>
                            <m:t>𝜋</m:t>
                          </m:r>
                        </m:num>
                        <m:den>
                          <m:r>
                            <a:rPr lang="en-US" sz="2200" b="0" i="1" smtClean="0">
                              <a:solidFill>
                                <a:srgbClr val="002060"/>
                              </a:solidFill>
                              <a:latin typeface="Cambria Math" panose="02040503050406030204" pitchFamily="18" charset="0"/>
                              <a:ea typeface="Cambria Math" panose="02040503050406030204" pitchFamily="18" charset="0"/>
                            </a:rPr>
                            <m:t>2</m:t>
                          </m:r>
                        </m:den>
                      </m:f>
                    </m:oMath>
                  </m:oMathPara>
                </a14:m>
                <a:endParaRPr lang="en-US" sz="2200" dirty="0"/>
              </a:p>
            </p:txBody>
          </p:sp>
        </mc:Choice>
        <mc:Fallback xmlns="">
          <p:sp>
            <p:nvSpPr>
              <p:cNvPr id="87" name="Rectangle 86">
                <a:extLst>
                  <a:ext uri="{FF2B5EF4-FFF2-40B4-BE49-F238E27FC236}">
                    <a16:creationId xmlns:a16="http://schemas.microsoft.com/office/drawing/2014/main" id="{FC9C1BC0-E157-CE4F-8DA8-73DA532FA555}"/>
                  </a:ext>
                </a:extLst>
              </p:cNvPr>
              <p:cNvSpPr>
                <a:spLocks noRot="1" noChangeAspect="1" noMove="1" noResize="1" noEditPoints="1" noAdjustHandles="1" noChangeArrowheads="1" noChangeShapeType="1" noTextEdit="1"/>
              </p:cNvSpPr>
              <p:nvPr/>
            </p:nvSpPr>
            <p:spPr>
              <a:xfrm>
                <a:off x="1900025" y="3095035"/>
                <a:ext cx="955262" cy="667619"/>
              </a:xfrm>
              <a:prstGeom prst="rect">
                <a:avLst/>
              </a:prstGeom>
              <a:blipFill>
                <a:blip r:embed="rId8"/>
                <a:stretch>
                  <a:fillRect b="-5660"/>
                </a:stretch>
              </a:blipFill>
            </p:spPr>
            <p:txBody>
              <a:bodyPr/>
              <a:lstStyle/>
              <a:p>
                <a:r>
                  <a:rPr lang="en-US">
                    <a:noFill/>
                  </a:rPr>
                  <a:t> </a:t>
                </a:r>
              </a:p>
            </p:txBody>
          </p:sp>
        </mc:Fallback>
      </mc:AlternateContent>
      <p:sp>
        <p:nvSpPr>
          <p:cNvPr id="88" name="Arc 87">
            <a:extLst>
              <a:ext uri="{FF2B5EF4-FFF2-40B4-BE49-F238E27FC236}">
                <a16:creationId xmlns:a16="http://schemas.microsoft.com/office/drawing/2014/main" id="{CD006622-A5E9-CC4A-92F2-0D48BF339D6B}"/>
              </a:ext>
            </a:extLst>
          </p:cNvPr>
          <p:cNvSpPr/>
          <p:nvPr/>
        </p:nvSpPr>
        <p:spPr>
          <a:xfrm rot="15058586">
            <a:off x="1599236" y="3231445"/>
            <a:ext cx="849147" cy="538194"/>
          </a:xfrm>
          <a:prstGeom prst="arc">
            <a:avLst>
              <a:gd name="adj1" fmla="val 727699"/>
              <a:gd name="adj2" fmla="val 1019813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9" name="Rectangle 88">
                <a:extLst>
                  <a:ext uri="{FF2B5EF4-FFF2-40B4-BE49-F238E27FC236}">
                    <a16:creationId xmlns:a16="http://schemas.microsoft.com/office/drawing/2014/main" id="{B9BB1FD4-D6C0-884E-B879-848BA48AF915}"/>
                  </a:ext>
                </a:extLst>
              </p:cNvPr>
              <p:cNvSpPr/>
              <p:nvPr/>
            </p:nvSpPr>
            <p:spPr>
              <a:xfrm>
                <a:off x="1327402" y="2063137"/>
                <a:ext cx="595419"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|0</m:t>
                          </m:r>
                        </m:e>
                      </m:d>
                    </m:oMath>
                  </m:oMathPara>
                </a14:m>
                <a:endParaRPr lang="en-US" sz="2200" dirty="0"/>
              </a:p>
            </p:txBody>
          </p:sp>
        </mc:Choice>
        <mc:Fallback xmlns="">
          <p:sp>
            <p:nvSpPr>
              <p:cNvPr id="89" name="Rectangle 88">
                <a:extLst>
                  <a:ext uri="{FF2B5EF4-FFF2-40B4-BE49-F238E27FC236}">
                    <a16:creationId xmlns:a16="http://schemas.microsoft.com/office/drawing/2014/main" id="{B9BB1FD4-D6C0-884E-B879-848BA48AF915}"/>
                  </a:ext>
                </a:extLst>
              </p:cNvPr>
              <p:cNvSpPr>
                <a:spLocks noRot="1" noChangeAspect="1" noMove="1" noResize="1" noEditPoints="1" noAdjustHandles="1" noChangeArrowheads="1" noChangeShapeType="1" noTextEdit="1"/>
              </p:cNvSpPr>
              <p:nvPr/>
            </p:nvSpPr>
            <p:spPr>
              <a:xfrm>
                <a:off x="1327402" y="2063137"/>
                <a:ext cx="595419" cy="430887"/>
              </a:xfrm>
              <a:prstGeom prst="rect">
                <a:avLst/>
              </a:prstGeom>
              <a:blipFill>
                <a:blip r:embed="rId9"/>
                <a:stretch>
                  <a:fillRect l="-23404" t="-117143" r="-46809" b="-18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Rectangle 89">
                <a:extLst>
                  <a:ext uri="{FF2B5EF4-FFF2-40B4-BE49-F238E27FC236}">
                    <a16:creationId xmlns:a16="http://schemas.microsoft.com/office/drawing/2014/main" id="{DD72AB5D-2454-3B4D-8F38-DAC3E504EF8F}"/>
                  </a:ext>
                </a:extLst>
              </p:cNvPr>
              <p:cNvSpPr/>
              <p:nvPr/>
            </p:nvSpPr>
            <p:spPr>
              <a:xfrm>
                <a:off x="1285184" y="4848806"/>
                <a:ext cx="595419"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m:t>
                          </m:r>
                          <m:r>
                            <a:rPr lang="en-US" sz="2200" b="0" i="1" smtClean="0">
                              <a:solidFill>
                                <a:srgbClr val="002060"/>
                              </a:solidFill>
                              <a:latin typeface="Cambria Math" panose="02040503050406030204" pitchFamily="18" charset="0"/>
                              <a:ea typeface="Cambria Math" panose="02040503050406030204" pitchFamily="18" charset="0"/>
                            </a:rPr>
                            <m:t>1</m:t>
                          </m:r>
                        </m:e>
                      </m:d>
                    </m:oMath>
                  </m:oMathPara>
                </a14:m>
                <a:endParaRPr lang="en-US" sz="2200" dirty="0"/>
              </a:p>
            </p:txBody>
          </p:sp>
        </mc:Choice>
        <mc:Fallback xmlns="">
          <p:sp>
            <p:nvSpPr>
              <p:cNvPr id="90" name="Rectangle 89">
                <a:extLst>
                  <a:ext uri="{FF2B5EF4-FFF2-40B4-BE49-F238E27FC236}">
                    <a16:creationId xmlns:a16="http://schemas.microsoft.com/office/drawing/2014/main" id="{DD72AB5D-2454-3B4D-8F38-DAC3E504EF8F}"/>
                  </a:ext>
                </a:extLst>
              </p:cNvPr>
              <p:cNvSpPr>
                <a:spLocks noRot="1" noChangeAspect="1" noMove="1" noResize="1" noEditPoints="1" noAdjustHandles="1" noChangeArrowheads="1" noChangeShapeType="1" noTextEdit="1"/>
              </p:cNvSpPr>
              <p:nvPr/>
            </p:nvSpPr>
            <p:spPr>
              <a:xfrm>
                <a:off x="1285184" y="4848806"/>
                <a:ext cx="595419" cy="430887"/>
              </a:xfrm>
              <a:prstGeom prst="rect">
                <a:avLst/>
              </a:prstGeom>
              <a:blipFill>
                <a:blip r:embed="rId10"/>
                <a:stretch>
                  <a:fillRect l="-22917" t="-117143" r="-45833" b="-182857"/>
                </a:stretch>
              </a:blipFill>
            </p:spPr>
            <p:txBody>
              <a:bodyPr/>
              <a:lstStyle/>
              <a:p>
                <a:r>
                  <a:rPr lang="en-US">
                    <a:noFill/>
                  </a:rPr>
                  <a:t> </a:t>
                </a:r>
              </a:p>
            </p:txBody>
          </p:sp>
        </mc:Fallback>
      </mc:AlternateContent>
      <p:sp>
        <p:nvSpPr>
          <p:cNvPr id="35" name="Slide Number Placeholder 2">
            <a:extLst>
              <a:ext uri="{FF2B5EF4-FFF2-40B4-BE49-F238E27FC236}">
                <a16:creationId xmlns:a16="http://schemas.microsoft.com/office/drawing/2014/main" id="{0DAE4D71-F2C4-A94A-8251-9C1DB5909C2E}"/>
              </a:ext>
            </a:extLst>
          </p:cNvPr>
          <p:cNvSpPr>
            <a:spLocks noGrp="1"/>
          </p:cNvSpPr>
          <p:nvPr>
            <p:ph type="sldNum" sz="quarter" idx="12"/>
          </p:nvPr>
        </p:nvSpPr>
        <p:spPr>
          <a:xfrm>
            <a:off x="0" y="6492875"/>
            <a:ext cx="587829" cy="365125"/>
          </a:xfrm>
        </p:spPr>
        <p:txBody>
          <a:bodyPr/>
          <a:lstStyle/>
          <a:p>
            <a:fld id="{591A223C-FA10-BC46-A853-03BA373D023C}" type="slidenum">
              <a:rPr lang="en-US" smtClean="0"/>
              <a:t>43</a:t>
            </a:fld>
            <a:endParaRPr lang="en-US" dirty="0"/>
          </a:p>
        </p:txBody>
      </p:sp>
    </p:spTree>
    <p:extLst>
      <p:ext uri="{BB962C8B-B14F-4D97-AF65-F5344CB8AC3E}">
        <p14:creationId xmlns:p14="http://schemas.microsoft.com/office/powerpoint/2010/main" val="2055526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1" name="Straight Connector 80">
            <a:extLst>
              <a:ext uri="{FF2B5EF4-FFF2-40B4-BE49-F238E27FC236}">
                <a16:creationId xmlns:a16="http://schemas.microsoft.com/office/drawing/2014/main" id="{7BF60709-6F2F-B24A-AB73-20C5974790A7}"/>
              </a:ext>
            </a:extLst>
          </p:cNvPr>
          <p:cNvCxnSpPr>
            <a:cxnSpLocks/>
          </p:cNvCxnSpPr>
          <p:nvPr/>
        </p:nvCxnSpPr>
        <p:spPr>
          <a:xfrm flipV="1">
            <a:off x="4546597" y="3683250"/>
            <a:ext cx="4054064" cy="1775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1D2F1CF1-E8C2-F447-A908-DAEEB1251A57}"/>
              </a:ext>
            </a:extLst>
          </p:cNvPr>
          <p:cNvSpPr>
            <a:spLocks noChangeAspect="1"/>
          </p:cNvSpPr>
          <p:nvPr/>
        </p:nvSpPr>
        <p:spPr>
          <a:xfrm>
            <a:off x="349958" y="2091086"/>
            <a:ext cx="3184328" cy="3184328"/>
          </a:xfrm>
          <a:prstGeom prst="ellipse">
            <a:avLst/>
          </a:prstGeom>
          <a:gradFill flip="none" rotWithShape="1">
            <a:gsLst>
              <a:gs pos="0">
                <a:schemeClr val="bg1"/>
              </a:gs>
              <a:gs pos="100000">
                <a:schemeClr val="accent5">
                  <a:lumMod val="20000"/>
                  <a:lumOff val="80000"/>
                </a:schemeClr>
              </a:gs>
            </a:gsLst>
            <a:lin ang="5400000" scaled="1"/>
            <a:tileRect/>
          </a:gra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2" name="Title 1">
            <a:extLst>
              <a:ext uri="{FF2B5EF4-FFF2-40B4-BE49-F238E27FC236}">
                <a16:creationId xmlns:a16="http://schemas.microsoft.com/office/drawing/2014/main" id="{D5CBAD56-B777-9A4E-8666-0FCC0B7E20BA}"/>
              </a:ext>
            </a:extLst>
          </p:cNvPr>
          <p:cNvSpPr>
            <a:spLocks noGrp="1"/>
          </p:cNvSpPr>
          <p:nvPr>
            <p:ph type="title"/>
          </p:nvPr>
        </p:nvSpPr>
        <p:spPr/>
        <p:txBody>
          <a:bodyPr/>
          <a:lstStyle/>
          <a:p>
            <a:r>
              <a:rPr lang="en-ZA" dirty="0"/>
              <a:t>X-Basis Measurement</a:t>
            </a:r>
            <a:endParaRPr lang="en-US" dirty="0"/>
          </a:p>
        </p:txBody>
      </p:sp>
      <p:cxnSp>
        <p:nvCxnSpPr>
          <p:cNvPr id="59" name="Straight Connector 58">
            <a:extLst>
              <a:ext uri="{FF2B5EF4-FFF2-40B4-BE49-F238E27FC236}">
                <a16:creationId xmlns:a16="http://schemas.microsoft.com/office/drawing/2014/main" id="{F148EB20-E882-C248-8D74-837D28AE9A16}"/>
              </a:ext>
            </a:extLst>
          </p:cNvPr>
          <p:cNvCxnSpPr>
            <a:cxnSpLocks/>
          </p:cNvCxnSpPr>
          <p:nvPr/>
        </p:nvCxnSpPr>
        <p:spPr>
          <a:xfrm>
            <a:off x="9597269" y="1564977"/>
            <a:ext cx="0" cy="3057457"/>
          </a:xfrm>
          <a:prstGeom prst="line">
            <a:avLst/>
          </a:prstGeom>
          <a:ln>
            <a:solidFill>
              <a:schemeClr val="tx1"/>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0B2B2FA-E191-9C41-A787-5602960D4172}"/>
              </a:ext>
            </a:extLst>
          </p:cNvPr>
          <p:cNvCxnSpPr>
            <a:cxnSpLocks/>
          </p:cNvCxnSpPr>
          <p:nvPr/>
        </p:nvCxnSpPr>
        <p:spPr>
          <a:xfrm flipV="1">
            <a:off x="9597269" y="4624342"/>
            <a:ext cx="21747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059D06DA-A4D9-EC4E-B6C4-A082AC189673}"/>
              </a:ext>
            </a:extLst>
          </p:cNvPr>
          <p:cNvSpPr/>
          <p:nvPr/>
        </p:nvSpPr>
        <p:spPr>
          <a:xfrm>
            <a:off x="9892682" y="2483418"/>
            <a:ext cx="611491" cy="216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1927AE05-79D3-1C49-83FF-BB1A9B9FACA8}"/>
              </a:ext>
            </a:extLst>
          </p:cNvPr>
          <p:cNvSpPr/>
          <p:nvPr/>
        </p:nvSpPr>
        <p:spPr>
          <a:xfrm>
            <a:off x="10980333" y="3923418"/>
            <a:ext cx="611491" cy="720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0B551C66-23A8-304F-B29E-5507EB97F2CB}"/>
              </a:ext>
            </a:extLst>
          </p:cNvPr>
          <p:cNvSpPr txBox="1"/>
          <p:nvPr/>
        </p:nvSpPr>
        <p:spPr>
          <a:xfrm>
            <a:off x="10037277" y="4595331"/>
            <a:ext cx="340158" cy="461665"/>
          </a:xfrm>
          <a:prstGeom prst="rect">
            <a:avLst/>
          </a:prstGeom>
          <a:noFill/>
        </p:spPr>
        <p:txBody>
          <a:bodyPr wrap="none" rtlCol="0">
            <a:spAutoFit/>
          </a:bodyPr>
          <a:lstStyle/>
          <a:p>
            <a:r>
              <a:rPr lang="en-US" sz="2400" dirty="0"/>
              <a:t>0</a:t>
            </a:r>
          </a:p>
        </p:txBody>
      </p:sp>
      <p:sp>
        <p:nvSpPr>
          <p:cNvPr id="64" name="TextBox 63">
            <a:extLst>
              <a:ext uri="{FF2B5EF4-FFF2-40B4-BE49-F238E27FC236}">
                <a16:creationId xmlns:a16="http://schemas.microsoft.com/office/drawing/2014/main" id="{D6546FF0-ECD5-8345-99FB-CFDAA1ACE0B3}"/>
              </a:ext>
            </a:extLst>
          </p:cNvPr>
          <p:cNvSpPr txBox="1"/>
          <p:nvPr/>
        </p:nvSpPr>
        <p:spPr>
          <a:xfrm>
            <a:off x="11154708" y="4595331"/>
            <a:ext cx="340158" cy="461665"/>
          </a:xfrm>
          <a:prstGeom prst="rect">
            <a:avLst/>
          </a:prstGeom>
          <a:noFill/>
        </p:spPr>
        <p:txBody>
          <a:bodyPr wrap="none" rtlCol="0">
            <a:spAutoFit/>
          </a:bodyPr>
          <a:lstStyle/>
          <a:p>
            <a:r>
              <a:rPr lang="en-US" sz="2400" dirty="0"/>
              <a:t>1</a:t>
            </a:r>
          </a:p>
        </p:txBody>
      </p:sp>
      <p:sp>
        <p:nvSpPr>
          <p:cNvPr id="65" name="TextBox 64">
            <a:extLst>
              <a:ext uri="{FF2B5EF4-FFF2-40B4-BE49-F238E27FC236}">
                <a16:creationId xmlns:a16="http://schemas.microsoft.com/office/drawing/2014/main" id="{33EAD088-946A-0E49-B6AE-015CD9DB7626}"/>
              </a:ext>
            </a:extLst>
          </p:cNvPr>
          <p:cNvSpPr txBox="1"/>
          <p:nvPr/>
        </p:nvSpPr>
        <p:spPr>
          <a:xfrm>
            <a:off x="9825539" y="2002678"/>
            <a:ext cx="728084" cy="461665"/>
          </a:xfrm>
          <a:prstGeom prst="rect">
            <a:avLst/>
          </a:prstGeom>
          <a:noFill/>
        </p:spPr>
        <p:txBody>
          <a:bodyPr wrap="none" rtlCol="0">
            <a:spAutoFit/>
          </a:bodyPr>
          <a:lstStyle/>
          <a:p>
            <a:r>
              <a:rPr lang="en-US" sz="2400" dirty="0"/>
              <a:t>0.75</a:t>
            </a:r>
          </a:p>
        </p:txBody>
      </p:sp>
      <p:sp>
        <p:nvSpPr>
          <p:cNvPr id="66" name="TextBox 65">
            <a:extLst>
              <a:ext uri="{FF2B5EF4-FFF2-40B4-BE49-F238E27FC236}">
                <a16:creationId xmlns:a16="http://schemas.microsoft.com/office/drawing/2014/main" id="{AF32412B-D402-F24F-92CF-A068B8DA735D}"/>
              </a:ext>
            </a:extLst>
          </p:cNvPr>
          <p:cNvSpPr txBox="1"/>
          <p:nvPr/>
        </p:nvSpPr>
        <p:spPr>
          <a:xfrm>
            <a:off x="10891074" y="3437538"/>
            <a:ext cx="728084" cy="461665"/>
          </a:xfrm>
          <a:prstGeom prst="rect">
            <a:avLst/>
          </a:prstGeom>
          <a:noFill/>
        </p:spPr>
        <p:txBody>
          <a:bodyPr wrap="none" rtlCol="0">
            <a:spAutoFit/>
          </a:bodyPr>
          <a:lstStyle/>
          <a:p>
            <a:r>
              <a:rPr lang="en-US" sz="2400" dirty="0"/>
              <a:t>0.25</a:t>
            </a:r>
          </a:p>
        </p:txBody>
      </p:sp>
      <p:cxnSp>
        <p:nvCxnSpPr>
          <p:cNvPr id="13" name="Straight Arrow Connector 12">
            <a:extLst>
              <a:ext uri="{FF2B5EF4-FFF2-40B4-BE49-F238E27FC236}">
                <a16:creationId xmlns:a16="http://schemas.microsoft.com/office/drawing/2014/main" id="{EE0904CB-0855-3043-A435-5348E20D1B43}"/>
              </a:ext>
            </a:extLst>
          </p:cNvPr>
          <p:cNvCxnSpPr>
            <a:cxnSpLocks/>
          </p:cNvCxnSpPr>
          <p:nvPr/>
        </p:nvCxnSpPr>
        <p:spPr>
          <a:xfrm flipV="1">
            <a:off x="1948319" y="1834680"/>
            <a:ext cx="2" cy="170767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59A5ED7-07E2-6E4A-9C46-2AC1E631E813}"/>
              </a:ext>
            </a:extLst>
          </p:cNvPr>
          <p:cNvCxnSpPr>
            <a:cxnSpLocks/>
          </p:cNvCxnSpPr>
          <p:nvPr/>
        </p:nvCxnSpPr>
        <p:spPr>
          <a:xfrm>
            <a:off x="688931" y="3278544"/>
            <a:ext cx="3070342" cy="724321"/>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56ED226-AFA0-184B-8B7E-E7A7DBAD1884}"/>
              </a:ext>
            </a:extLst>
          </p:cNvPr>
          <p:cNvCxnSpPr>
            <a:cxnSpLocks/>
          </p:cNvCxnSpPr>
          <p:nvPr/>
        </p:nvCxnSpPr>
        <p:spPr>
          <a:xfrm flipH="1">
            <a:off x="742493" y="3000857"/>
            <a:ext cx="1875425" cy="1540608"/>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E7229266-F87E-EC44-89DC-960215E93026}"/>
              </a:ext>
            </a:extLst>
          </p:cNvPr>
          <p:cNvSpPr/>
          <p:nvPr/>
        </p:nvSpPr>
        <p:spPr>
          <a:xfrm>
            <a:off x="362352" y="2933128"/>
            <a:ext cx="3184328" cy="1521272"/>
          </a:xfrm>
          <a:prstGeom prst="ellipse">
            <a:avLst/>
          </a:prstGeom>
          <a:noFill/>
          <a:ln w="635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7" name="Straight Arrow Connector 16">
            <a:extLst>
              <a:ext uri="{FF2B5EF4-FFF2-40B4-BE49-F238E27FC236}">
                <a16:creationId xmlns:a16="http://schemas.microsoft.com/office/drawing/2014/main" id="{B4F7C86B-8C88-D64C-BDDD-4DA291FEF043}"/>
              </a:ext>
            </a:extLst>
          </p:cNvPr>
          <p:cNvCxnSpPr>
            <a:cxnSpLocks/>
          </p:cNvCxnSpPr>
          <p:nvPr/>
        </p:nvCxnSpPr>
        <p:spPr>
          <a:xfrm>
            <a:off x="1965293" y="3563418"/>
            <a:ext cx="659537" cy="858768"/>
          </a:xfrm>
          <a:prstGeom prst="straightConnector1">
            <a:avLst/>
          </a:prstGeom>
          <a:ln w="38100" cap="rnd">
            <a:solidFill>
              <a:schemeClr val="bg1">
                <a:lumMod val="6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2B5B6A69-A956-C843-B114-02899DA887D8}"/>
              </a:ext>
            </a:extLst>
          </p:cNvPr>
          <p:cNvCxnSpPr>
            <a:cxnSpLocks/>
          </p:cNvCxnSpPr>
          <p:nvPr/>
        </p:nvCxnSpPr>
        <p:spPr>
          <a:xfrm flipH="1" flipV="1">
            <a:off x="1941407" y="2249003"/>
            <a:ext cx="13109" cy="1273367"/>
          </a:xfrm>
          <a:prstGeom prst="straightConnector1">
            <a:avLst/>
          </a:prstGeom>
          <a:ln w="25400" cap="rnd">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F47018CE-E8F6-0A44-A08F-8AC475A41B9E}"/>
                  </a:ext>
                </a:extLst>
              </p:cNvPr>
              <p:cNvSpPr/>
              <p:nvPr/>
            </p:nvSpPr>
            <p:spPr>
              <a:xfrm>
                <a:off x="1361228" y="1841651"/>
                <a:ext cx="595419"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|0</m:t>
                          </m:r>
                        </m:e>
                      </m:d>
                    </m:oMath>
                  </m:oMathPara>
                </a14:m>
                <a:endParaRPr lang="en-US" sz="2200" dirty="0"/>
              </a:p>
            </p:txBody>
          </p:sp>
        </mc:Choice>
        <mc:Fallback xmlns="">
          <p:sp>
            <p:nvSpPr>
              <p:cNvPr id="53" name="Rectangle 52">
                <a:extLst>
                  <a:ext uri="{FF2B5EF4-FFF2-40B4-BE49-F238E27FC236}">
                    <a16:creationId xmlns:a16="http://schemas.microsoft.com/office/drawing/2014/main" id="{F47018CE-E8F6-0A44-A08F-8AC475A41B9E}"/>
                  </a:ext>
                </a:extLst>
              </p:cNvPr>
              <p:cNvSpPr>
                <a:spLocks noRot="1" noChangeAspect="1" noMove="1" noResize="1" noEditPoints="1" noAdjustHandles="1" noChangeArrowheads="1" noChangeShapeType="1" noTextEdit="1"/>
              </p:cNvSpPr>
              <p:nvPr/>
            </p:nvSpPr>
            <p:spPr>
              <a:xfrm>
                <a:off x="1361228" y="1841651"/>
                <a:ext cx="595419" cy="430887"/>
              </a:xfrm>
              <a:prstGeom prst="rect">
                <a:avLst/>
              </a:prstGeom>
              <a:blipFill>
                <a:blip r:embed="rId3"/>
                <a:stretch>
                  <a:fillRect l="-20833" t="-117143" r="-45833" b="-182857"/>
                </a:stretch>
              </a:blipFill>
            </p:spPr>
            <p:txBody>
              <a:bodyPr/>
              <a:lstStyle/>
              <a:p>
                <a:r>
                  <a:rPr lang="en-US">
                    <a:noFill/>
                  </a:rPr>
                  <a:t> </a:t>
                </a:r>
              </a:p>
            </p:txBody>
          </p:sp>
        </mc:Fallback>
      </mc:AlternateContent>
      <p:cxnSp>
        <p:nvCxnSpPr>
          <p:cNvPr id="42" name="Straight Arrow Connector 41">
            <a:extLst>
              <a:ext uri="{FF2B5EF4-FFF2-40B4-BE49-F238E27FC236}">
                <a16:creationId xmlns:a16="http://schemas.microsoft.com/office/drawing/2014/main" id="{42CB6D68-0261-C240-BC8D-AD7EBC6CE777}"/>
              </a:ext>
            </a:extLst>
          </p:cNvPr>
          <p:cNvCxnSpPr>
            <a:cxnSpLocks/>
          </p:cNvCxnSpPr>
          <p:nvPr/>
        </p:nvCxnSpPr>
        <p:spPr>
          <a:xfrm flipH="1">
            <a:off x="1933930" y="3554854"/>
            <a:ext cx="13673" cy="1526479"/>
          </a:xfrm>
          <a:prstGeom prst="straightConnector1">
            <a:avLst/>
          </a:prstGeom>
          <a:ln w="25400" cap="rnd">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267985AF-96E8-0B42-A43A-8695270F9460}"/>
                  </a:ext>
                </a:extLst>
              </p:cNvPr>
              <p:cNvSpPr/>
              <p:nvPr/>
            </p:nvSpPr>
            <p:spPr>
              <a:xfrm>
                <a:off x="329438" y="4234064"/>
                <a:ext cx="42639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2060"/>
                          </a:solidFill>
                          <a:latin typeface="Cambria Math" panose="02040503050406030204" pitchFamily="18" charset="0"/>
                          <a:ea typeface="Cambria Math" panose="02040503050406030204" pitchFamily="18" charset="0"/>
                        </a:rPr>
                        <m:t>𝑥</m:t>
                      </m:r>
                    </m:oMath>
                  </m:oMathPara>
                </a14:m>
                <a:endParaRPr lang="en-US" sz="2400" dirty="0"/>
              </a:p>
            </p:txBody>
          </p:sp>
        </mc:Choice>
        <mc:Fallback xmlns="">
          <p:sp>
            <p:nvSpPr>
              <p:cNvPr id="47" name="Rectangle 46">
                <a:extLst>
                  <a:ext uri="{FF2B5EF4-FFF2-40B4-BE49-F238E27FC236}">
                    <a16:creationId xmlns:a16="http://schemas.microsoft.com/office/drawing/2014/main" id="{267985AF-96E8-0B42-A43A-8695270F9460}"/>
                  </a:ext>
                </a:extLst>
              </p:cNvPr>
              <p:cNvSpPr>
                <a:spLocks noRot="1" noChangeAspect="1" noMove="1" noResize="1" noEditPoints="1" noAdjustHandles="1" noChangeArrowheads="1" noChangeShapeType="1" noTextEdit="1"/>
              </p:cNvSpPr>
              <p:nvPr/>
            </p:nvSpPr>
            <p:spPr>
              <a:xfrm>
                <a:off x="329438" y="4234064"/>
                <a:ext cx="426399"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E46CCFC9-F810-1040-AC91-587E1A3310FA}"/>
                  </a:ext>
                </a:extLst>
              </p:cNvPr>
              <p:cNvSpPr/>
              <p:nvPr/>
            </p:nvSpPr>
            <p:spPr>
              <a:xfrm>
                <a:off x="1966907" y="1666159"/>
                <a:ext cx="40793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2060"/>
                          </a:solidFill>
                          <a:latin typeface="Cambria Math" panose="02040503050406030204" pitchFamily="18" charset="0"/>
                          <a:ea typeface="Cambria Math" panose="02040503050406030204" pitchFamily="18" charset="0"/>
                        </a:rPr>
                        <m:t>𝑧</m:t>
                      </m:r>
                    </m:oMath>
                  </m:oMathPara>
                </a14:m>
                <a:endParaRPr lang="en-US" sz="2400" dirty="0"/>
              </a:p>
            </p:txBody>
          </p:sp>
        </mc:Choice>
        <mc:Fallback xmlns="">
          <p:sp>
            <p:nvSpPr>
              <p:cNvPr id="48" name="Rectangle 47">
                <a:extLst>
                  <a:ext uri="{FF2B5EF4-FFF2-40B4-BE49-F238E27FC236}">
                    <a16:creationId xmlns:a16="http://schemas.microsoft.com/office/drawing/2014/main" id="{E46CCFC9-F810-1040-AC91-587E1A3310FA}"/>
                  </a:ext>
                </a:extLst>
              </p:cNvPr>
              <p:cNvSpPr>
                <a:spLocks noRot="1" noChangeAspect="1" noMove="1" noResize="1" noEditPoints="1" noAdjustHandles="1" noChangeArrowheads="1" noChangeShapeType="1" noTextEdit="1"/>
              </p:cNvSpPr>
              <p:nvPr/>
            </p:nvSpPr>
            <p:spPr>
              <a:xfrm>
                <a:off x="1966907" y="1666159"/>
                <a:ext cx="407932"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7B6171A8-5F56-7149-9D7C-2BD075FBBD6B}"/>
                  </a:ext>
                </a:extLst>
              </p:cNvPr>
              <p:cNvSpPr/>
              <p:nvPr/>
            </p:nvSpPr>
            <p:spPr>
              <a:xfrm>
                <a:off x="3662956" y="3458775"/>
                <a:ext cx="43037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oMath>
                  </m:oMathPara>
                </a14:m>
                <a:endParaRPr lang="en-US" sz="2400" dirty="0"/>
              </a:p>
            </p:txBody>
          </p:sp>
        </mc:Choice>
        <mc:Fallback xmlns="">
          <p:sp>
            <p:nvSpPr>
              <p:cNvPr id="49" name="Rectangle 48">
                <a:extLst>
                  <a:ext uri="{FF2B5EF4-FFF2-40B4-BE49-F238E27FC236}">
                    <a16:creationId xmlns:a16="http://schemas.microsoft.com/office/drawing/2014/main" id="{7B6171A8-5F56-7149-9D7C-2BD075FBBD6B}"/>
                  </a:ext>
                </a:extLst>
              </p:cNvPr>
              <p:cNvSpPr>
                <a:spLocks noRot="1" noChangeAspect="1" noMove="1" noResize="1" noEditPoints="1" noAdjustHandles="1" noChangeArrowheads="1" noChangeShapeType="1" noTextEdit="1"/>
              </p:cNvSpPr>
              <p:nvPr/>
            </p:nvSpPr>
            <p:spPr>
              <a:xfrm>
                <a:off x="3662956" y="3458775"/>
                <a:ext cx="430374" cy="461665"/>
              </a:xfrm>
              <a:prstGeom prst="rect">
                <a:avLst/>
              </a:prstGeom>
              <a:blipFill>
                <a:blip r:embed="rId6"/>
                <a:stretch>
                  <a:fillRect b="-7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Rectangle 102">
                <a:extLst>
                  <a:ext uri="{FF2B5EF4-FFF2-40B4-BE49-F238E27FC236}">
                    <a16:creationId xmlns:a16="http://schemas.microsoft.com/office/drawing/2014/main" id="{14C228E5-9763-1B40-91AB-4C8B73C1E91B}"/>
                  </a:ext>
                </a:extLst>
              </p:cNvPr>
              <p:cNvSpPr/>
              <p:nvPr/>
            </p:nvSpPr>
            <p:spPr>
              <a:xfrm>
                <a:off x="-27041" y="3431283"/>
                <a:ext cx="1330364" cy="66761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200" b="0" i="1" smtClean="0">
                              <a:solidFill>
                                <a:srgbClr val="002060"/>
                              </a:solidFill>
                              <a:latin typeface="Cambria Math" panose="02040503050406030204" pitchFamily="18" charset="0"/>
                              <a:ea typeface="Cambria Math" panose="02040503050406030204" pitchFamily="18" charset="0"/>
                            </a:rPr>
                          </m:ctrlPr>
                        </m:sSupPr>
                        <m:e>
                          <m:r>
                            <a:rPr lang="en-US" sz="2200" i="1" smtClean="0">
                              <a:solidFill>
                                <a:srgbClr val="002060"/>
                              </a:solidFill>
                              <a:latin typeface="Cambria Math" panose="02040503050406030204" pitchFamily="18" charset="0"/>
                              <a:ea typeface="Cambria Math" panose="02040503050406030204" pitchFamily="18" charset="0"/>
                            </a:rPr>
                            <m:t>𝜑</m:t>
                          </m:r>
                        </m:e>
                        <m:sup>
                          <m:r>
                            <a:rPr lang="en-US" sz="2200" b="0" i="1" smtClean="0">
                              <a:solidFill>
                                <a:srgbClr val="002060"/>
                              </a:solidFill>
                              <a:latin typeface="Cambria Math" panose="02040503050406030204" pitchFamily="18" charset="0"/>
                              <a:ea typeface="Cambria Math" panose="02040503050406030204" pitchFamily="18" charset="0"/>
                            </a:rPr>
                            <m:t>′</m:t>
                          </m:r>
                        </m:sup>
                      </m:sSup>
                      <m:r>
                        <a:rPr lang="en-US" sz="2200" b="0" i="1" smtClean="0">
                          <a:solidFill>
                            <a:srgbClr val="002060"/>
                          </a:solidFill>
                          <a:latin typeface="Cambria Math" panose="02040503050406030204" pitchFamily="18" charset="0"/>
                          <a:ea typeface="Cambria Math" panose="02040503050406030204" pitchFamily="18" charset="0"/>
                        </a:rPr>
                        <m:t>=−</m:t>
                      </m:r>
                      <m:f>
                        <m:fPr>
                          <m:ctrlPr>
                            <a:rPr lang="en-US" sz="2200" i="1" smtClean="0">
                              <a:solidFill>
                                <a:srgbClr val="002060"/>
                              </a:solidFill>
                              <a:latin typeface="Cambria Math" panose="02040503050406030204" pitchFamily="18" charset="0"/>
                              <a:ea typeface="Cambria Math" panose="02040503050406030204" pitchFamily="18" charset="0"/>
                            </a:rPr>
                          </m:ctrlPr>
                        </m:fPr>
                        <m:num>
                          <m:r>
                            <a:rPr lang="en-US" sz="2200" i="1" smtClean="0">
                              <a:solidFill>
                                <a:srgbClr val="002060"/>
                              </a:solidFill>
                              <a:latin typeface="Cambria Math" panose="02040503050406030204" pitchFamily="18" charset="0"/>
                              <a:ea typeface="Cambria Math" panose="02040503050406030204" pitchFamily="18" charset="0"/>
                            </a:rPr>
                            <m:t>𝜋</m:t>
                          </m:r>
                        </m:num>
                        <m:den>
                          <m:r>
                            <a:rPr lang="en-US" sz="2200" b="0" i="1" smtClean="0">
                              <a:solidFill>
                                <a:srgbClr val="002060"/>
                              </a:solidFill>
                              <a:latin typeface="Cambria Math" panose="02040503050406030204" pitchFamily="18" charset="0"/>
                              <a:ea typeface="Cambria Math" panose="02040503050406030204" pitchFamily="18" charset="0"/>
                            </a:rPr>
                            <m:t>2</m:t>
                          </m:r>
                        </m:den>
                      </m:f>
                    </m:oMath>
                  </m:oMathPara>
                </a14:m>
                <a:endParaRPr lang="en-US" sz="2200" dirty="0"/>
              </a:p>
            </p:txBody>
          </p:sp>
        </mc:Choice>
        <mc:Fallback xmlns="">
          <p:sp>
            <p:nvSpPr>
              <p:cNvPr id="103" name="Rectangle 102">
                <a:extLst>
                  <a:ext uri="{FF2B5EF4-FFF2-40B4-BE49-F238E27FC236}">
                    <a16:creationId xmlns:a16="http://schemas.microsoft.com/office/drawing/2014/main" id="{14C228E5-9763-1B40-91AB-4C8B73C1E91B}"/>
                  </a:ext>
                </a:extLst>
              </p:cNvPr>
              <p:cNvSpPr>
                <a:spLocks noRot="1" noChangeAspect="1" noMove="1" noResize="1" noEditPoints="1" noAdjustHandles="1" noChangeArrowheads="1" noChangeShapeType="1" noTextEdit="1"/>
              </p:cNvSpPr>
              <p:nvPr/>
            </p:nvSpPr>
            <p:spPr>
              <a:xfrm>
                <a:off x="-27041" y="3431283"/>
                <a:ext cx="1330364" cy="667619"/>
              </a:xfrm>
              <a:prstGeom prst="rect">
                <a:avLst/>
              </a:prstGeom>
              <a:blipFill>
                <a:blip r:embed="rId7"/>
                <a:stretch>
                  <a:fillRect b="-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5D555AD8-BC33-8643-84D7-3EADE469C26C}"/>
                  </a:ext>
                </a:extLst>
              </p:cNvPr>
              <p:cNvSpPr/>
              <p:nvPr/>
            </p:nvSpPr>
            <p:spPr>
              <a:xfrm>
                <a:off x="2411905" y="4392627"/>
                <a:ext cx="594522"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m:t>
                          </m:r>
                          <m:r>
                            <a:rPr lang="en-US" sz="2200" b="0" i="1" smtClean="0">
                              <a:solidFill>
                                <a:srgbClr val="002060"/>
                              </a:solidFill>
                              <a:latin typeface="Cambria Math" panose="02040503050406030204" pitchFamily="18" charset="0"/>
                              <a:ea typeface="Cambria Math" panose="02040503050406030204" pitchFamily="18" charset="0"/>
                            </a:rPr>
                            <m:t>𝑆</m:t>
                          </m:r>
                        </m:e>
                      </m:d>
                    </m:oMath>
                  </m:oMathPara>
                </a14:m>
                <a:endParaRPr lang="en-US" sz="2200" dirty="0"/>
              </a:p>
            </p:txBody>
          </p:sp>
        </mc:Choice>
        <mc:Fallback xmlns="">
          <p:sp>
            <p:nvSpPr>
              <p:cNvPr id="50" name="Rectangle 49">
                <a:extLst>
                  <a:ext uri="{FF2B5EF4-FFF2-40B4-BE49-F238E27FC236}">
                    <a16:creationId xmlns:a16="http://schemas.microsoft.com/office/drawing/2014/main" id="{5D555AD8-BC33-8643-84D7-3EADE469C26C}"/>
                  </a:ext>
                </a:extLst>
              </p:cNvPr>
              <p:cNvSpPr>
                <a:spLocks noRot="1" noChangeAspect="1" noMove="1" noResize="1" noEditPoints="1" noAdjustHandles="1" noChangeArrowheads="1" noChangeShapeType="1" noTextEdit="1"/>
              </p:cNvSpPr>
              <p:nvPr/>
            </p:nvSpPr>
            <p:spPr>
              <a:xfrm>
                <a:off x="2411905" y="4392627"/>
                <a:ext cx="594522" cy="430887"/>
              </a:xfrm>
              <a:prstGeom prst="rect">
                <a:avLst/>
              </a:prstGeom>
              <a:blipFill>
                <a:blip r:embed="rId8"/>
                <a:stretch>
                  <a:fillRect l="-22917" t="-117143" r="-45833" b="-182857"/>
                </a:stretch>
              </a:blipFill>
            </p:spPr>
            <p:txBody>
              <a:bodyPr/>
              <a:lstStyle/>
              <a:p>
                <a:r>
                  <a:rPr lang="en-US">
                    <a:noFill/>
                  </a:rPr>
                  <a:t> </a:t>
                </a:r>
              </a:p>
            </p:txBody>
          </p:sp>
        </mc:Fallback>
      </mc:AlternateContent>
      <p:sp>
        <p:nvSpPr>
          <p:cNvPr id="51" name="Arc 50">
            <a:extLst>
              <a:ext uri="{FF2B5EF4-FFF2-40B4-BE49-F238E27FC236}">
                <a16:creationId xmlns:a16="http://schemas.microsoft.com/office/drawing/2014/main" id="{A8E8436A-DEB1-4A4A-875A-8B618B9FD11B}"/>
              </a:ext>
            </a:extLst>
          </p:cNvPr>
          <p:cNvSpPr/>
          <p:nvPr/>
        </p:nvSpPr>
        <p:spPr>
          <a:xfrm rot="2965789">
            <a:off x="1174312" y="3407190"/>
            <a:ext cx="636108" cy="383351"/>
          </a:xfrm>
          <a:prstGeom prst="arc">
            <a:avLst>
              <a:gd name="adj1" fmla="val 1703788"/>
              <a:gd name="adj2" fmla="val 1019813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73" name="Group 72">
            <a:extLst>
              <a:ext uri="{FF2B5EF4-FFF2-40B4-BE49-F238E27FC236}">
                <a16:creationId xmlns:a16="http://schemas.microsoft.com/office/drawing/2014/main" id="{031F21A1-1B62-E64F-847C-D0F9C718E7FE}"/>
              </a:ext>
            </a:extLst>
          </p:cNvPr>
          <p:cNvGrpSpPr/>
          <p:nvPr/>
        </p:nvGrpSpPr>
        <p:grpSpPr>
          <a:xfrm>
            <a:off x="6594503" y="3143250"/>
            <a:ext cx="1106393" cy="1080000"/>
            <a:chOff x="6431882" y="1339340"/>
            <a:chExt cx="1106393" cy="1080000"/>
          </a:xfrm>
        </p:grpSpPr>
        <p:sp>
          <p:nvSpPr>
            <p:cNvPr id="77" name="Rectangle 76">
              <a:extLst>
                <a:ext uri="{FF2B5EF4-FFF2-40B4-BE49-F238E27FC236}">
                  <a16:creationId xmlns:a16="http://schemas.microsoft.com/office/drawing/2014/main" id="{65816916-0A1C-3D4F-AD85-C4898213A7C7}"/>
                </a:ext>
              </a:extLst>
            </p:cNvPr>
            <p:cNvSpPr/>
            <p:nvPr/>
          </p:nvSpPr>
          <p:spPr>
            <a:xfrm>
              <a:off x="6445079" y="1339340"/>
              <a:ext cx="1080000" cy="108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latin typeface="+mj-lt"/>
              </a:endParaRPr>
            </a:p>
          </p:txBody>
        </p:sp>
        <p:sp>
          <p:nvSpPr>
            <p:cNvPr id="78" name="Arc 77">
              <a:extLst>
                <a:ext uri="{FF2B5EF4-FFF2-40B4-BE49-F238E27FC236}">
                  <a16:creationId xmlns:a16="http://schemas.microsoft.com/office/drawing/2014/main" id="{6BD7AAAF-0213-4045-AA2F-95879ED3330B}"/>
                </a:ext>
              </a:extLst>
            </p:cNvPr>
            <p:cNvSpPr/>
            <p:nvPr/>
          </p:nvSpPr>
          <p:spPr>
            <a:xfrm>
              <a:off x="6564709" y="1507451"/>
              <a:ext cx="840740" cy="772509"/>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79" name="Straight Arrow Connector 78">
              <a:extLst>
                <a:ext uri="{FF2B5EF4-FFF2-40B4-BE49-F238E27FC236}">
                  <a16:creationId xmlns:a16="http://schemas.microsoft.com/office/drawing/2014/main" id="{9288169D-A0D6-364C-B4BB-68C9FC5C6B93}"/>
                </a:ext>
              </a:extLst>
            </p:cNvPr>
            <p:cNvCxnSpPr>
              <a:cxnSpLocks/>
            </p:cNvCxnSpPr>
            <p:nvPr/>
          </p:nvCxnSpPr>
          <p:spPr>
            <a:xfrm flipV="1">
              <a:off x="6985079" y="1456081"/>
              <a:ext cx="213497" cy="544593"/>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2698CC6C-746B-7946-B55A-21445DC494A1}"/>
                </a:ext>
              </a:extLst>
            </p:cNvPr>
            <p:cNvSpPr txBox="1"/>
            <p:nvPr/>
          </p:nvSpPr>
          <p:spPr>
            <a:xfrm>
              <a:off x="6431882" y="1885698"/>
              <a:ext cx="1106393" cy="369332"/>
            </a:xfrm>
            <a:prstGeom prst="rect">
              <a:avLst/>
            </a:prstGeom>
            <a:noFill/>
          </p:spPr>
          <p:txBody>
            <a:bodyPr wrap="none" rtlCol="0">
              <a:spAutoFit/>
            </a:bodyPr>
            <a:lstStyle/>
            <a:p>
              <a:r>
                <a:rPr lang="en-US" dirty="0"/>
                <a:t>0             1</a:t>
              </a:r>
            </a:p>
          </p:txBody>
        </p:sp>
      </p:grpSp>
      <mc:AlternateContent xmlns:mc="http://schemas.openxmlformats.org/markup-compatibility/2006" xmlns:a14="http://schemas.microsoft.com/office/drawing/2010/main">
        <mc:Choice Requires="a14">
          <p:sp>
            <p:nvSpPr>
              <p:cNvPr id="87" name="Rectangle 86">
                <a:extLst>
                  <a:ext uri="{FF2B5EF4-FFF2-40B4-BE49-F238E27FC236}">
                    <a16:creationId xmlns:a16="http://schemas.microsoft.com/office/drawing/2014/main" id="{FC9C1BC0-E157-CE4F-8DA8-73DA532FA555}"/>
                  </a:ext>
                </a:extLst>
              </p:cNvPr>
              <p:cNvSpPr/>
              <p:nvPr/>
            </p:nvSpPr>
            <p:spPr>
              <a:xfrm>
                <a:off x="1559737" y="2861151"/>
                <a:ext cx="1019125" cy="6697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i="1" smtClean="0">
                          <a:solidFill>
                            <a:srgbClr val="002060"/>
                          </a:solidFill>
                          <a:latin typeface="Cambria Math" panose="02040503050406030204" pitchFamily="18" charset="0"/>
                          <a:ea typeface="Cambria Math" panose="02040503050406030204" pitchFamily="18" charset="0"/>
                        </a:rPr>
                        <m:t>𝜃</m:t>
                      </m:r>
                      <m:r>
                        <a:rPr lang="en-US" sz="2200" b="0" i="1" smtClean="0">
                          <a:solidFill>
                            <a:srgbClr val="002060"/>
                          </a:solidFill>
                          <a:latin typeface="Cambria Math" panose="02040503050406030204" pitchFamily="18" charset="0"/>
                          <a:ea typeface="Cambria Math" panose="02040503050406030204" pitchFamily="18" charset="0"/>
                        </a:rPr>
                        <m:t>′=</m:t>
                      </m:r>
                      <m:f>
                        <m:fPr>
                          <m:ctrlPr>
                            <a:rPr lang="en-US" sz="2200" i="1" smtClean="0">
                              <a:solidFill>
                                <a:srgbClr val="002060"/>
                              </a:solidFill>
                              <a:latin typeface="Cambria Math" panose="02040503050406030204" pitchFamily="18" charset="0"/>
                              <a:ea typeface="Cambria Math" panose="02040503050406030204" pitchFamily="18" charset="0"/>
                            </a:rPr>
                          </m:ctrlPr>
                        </m:fPr>
                        <m:num>
                          <m:r>
                            <a:rPr lang="en-US" sz="2200" i="1" smtClean="0">
                              <a:solidFill>
                                <a:srgbClr val="002060"/>
                              </a:solidFill>
                              <a:latin typeface="Cambria Math" panose="02040503050406030204" pitchFamily="18" charset="0"/>
                              <a:ea typeface="Cambria Math" panose="02040503050406030204" pitchFamily="18" charset="0"/>
                            </a:rPr>
                            <m:t>𝜋</m:t>
                          </m:r>
                        </m:num>
                        <m:den>
                          <m:r>
                            <a:rPr lang="en-US" sz="2200" b="0" i="1" smtClean="0">
                              <a:solidFill>
                                <a:srgbClr val="002060"/>
                              </a:solidFill>
                              <a:latin typeface="Cambria Math" panose="02040503050406030204" pitchFamily="18" charset="0"/>
                              <a:ea typeface="Cambria Math" panose="02040503050406030204" pitchFamily="18" charset="0"/>
                            </a:rPr>
                            <m:t>3</m:t>
                          </m:r>
                        </m:den>
                      </m:f>
                    </m:oMath>
                  </m:oMathPara>
                </a14:m>
                <a:endParaRPr lang="en-US" sz="2200" dirty="0"/>
              </a:p>
            </p:txBody>
          </p:sp>
        </mc:Choice>
        <mc:Fallback xmlns="">
          <p:sp>
            <p:nvSpPr>
              <p:cNvPr id="87" name="Rectangle 86">
                <a:extLst>
                  <a:ext uri="{FF2B5EF4-FFF2-40B4-BE49-F238E27FC236}">
                    <a16:creationId xmlns:a16="http://schemas.microsoft.com/office/drawing/2014/main" id="{FC9C1BC0-E157-CE4F-8DA8-73DA532FA555}"/>
                  </a:ext>
                </a:extLst>
              </p:cNvPr>
              <p:cNvSpPr>
                <a:spLocks noRot="1" noChangeAspect="1" noMove="1" noResize="1" noEditPoints="1" noAdjustHandles="1" noChangeArrowheads="1" noChangeShapeType="1" noTextEdit="1"/>
              </p:cNvSpPr>
              <p:nvPr/>
            </p:nvSpPr>
            <p:spPr>
              <a:xfrm>
                <a:off x="1559737" y="2861151"/>
                <a:ext cx="1019125" cy="669799"/>
              </a:xfrm>
              <a:prstGeom prst="rect">
                <a:avLst/>
              </a:prstGeom>
              <a:blipFill>
                <a:blip r:embed="rId9"/>
                <a:stretch>
                  <a:fillRect b="-5556"/>
                </a:stretch>
              </a:blipFill>
            </p:spPr>
            <p:txBody>
              <a:bodyPr/>
              <a:lstStyle/>
              <a:p>
                <a:r>
                  <a:rPr lang="en-US">
                    <a:noFill/>
                  </a:rPr>
                  <a:t> </a:t>
                </a:r>
              </a:p>
            </p:txBody>
          </p:sp>
        </mc:Fallback>
      </mc:AlternateContent>
      <p:sp>
        <p:nvSpPr>
          <p:cNvPr id="88" name="Arc 87">
            <a:extLst>
              <a:ext uri="{FF2B5EF4-FFF2-40B4-BE49-F238E27FC236}">
                <a16:creationId xmlns:a16="http://schemas.microsoft.com/office/drawing/2014/main" id="{CD006622-A5E9-CC4A-92F2-0D48BF339D6B}"/>
              </a:ext>
            </a:extLst>
          </p:cNvPr>
          <p:cNvSpPr/>
          <p:nvPr/>
        </p:nvSpPr>
        <p:spPr>
          <a:xfrm rot="12254340" flipH="1">
            <a:off x="1482950" y="2981312"/>
            <a:ext cx="550938" cy="538194"/>
          </a:xfrm>
          <a:prstGeom prst="arc">
            <a:avLst>
              <a:gd name="adj1" fmla="val 4691418"/>
              <a:gd name="adj2" fmla="val 1125632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Rectangle 33">
            <a:extLst>
              <a:ext uri="{FF2B5EF4-FFF2-40B4-BE49-F238E27FC236}">
                <a16:creationId xmlns:a16="http://schemas.microsoft.com/office/drawing/2014/main" id="{828E2E10-7510-7F45-A69E-533CAB6A9F33}"/>
              </a:ext>
            </a:extLst>
          </p:cNvPr>
          <p:cNvSpPr>
            <a:spLocks noChangeAspect="1"/>
          </p:cNvSpPr>
          <p:nvPr/>
        </p:nvSpPr>
        <p:spPr>
          <a:xfrm>
            <a:off x="5087604" y="3143250"/>
            <a:ext cx="1106873" cy="1106873"/>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dirty="0">
                <a:latin typeface="Times" pitchFamily="2" charset="0"/>
              </a:rPr>
              <a:t>H</a:t>
            </a:r>
          </a:p>
        </p:txBody>
      </p:sp>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083F40CD-BC96-6847-AFA1-F182416403AE}"/>
                  </a:ext>
                </a:extLst>
              </p:cNvPr>
              <p:cNvSpPr/>
              <p:nvPr/>
            </p:nvSpPr>
            <p:spPr>
              <a:xfrm>
                <a:off x="43750" y="2295102"/>
                <a:ext cx="1587037"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m:t>
                          </m:r>
                          <m:r>
                            <a:rPr lang="en-US" sz="2200" b="0" i="1" smtClean="0">
                              <a:solidFill>
                                <a:srgbClr val="002060"/>
                              </a:solidFill>
                              <a:latin typeface="Cambria Math" panose="02040503050406030204" pitchFamily="18" charset="0"/>
                              <a:ea typeface="Cambria Math" panose="02040503050406030204" pitchFamily="18" charset="0"/>
                            </a:rPr>
                            <m:t>𝑆</m:t>
                          </m:r>
                          <m:r>
                            <a:rPr lang="en-US" sz="2200" b="0" i="1" smtClean="0">
                              <a:solidFill>
                                <a:srgbClr val="002060"/>
                              </a:solidFill>
                              <a:latin typeface="Cambria Math" panose="02040503050406030204" pitchFamily="18" charset="0"/>
                              <a:ea typeface="Cambria Math" panose="02040503050406030204" pitchFamily="18" charset="0"/>
                            </a:rPr>
                            <m:t>′</m:t>
                          </m:r>
                        </m:e>
                      </m:d>
                      <m:r>
                        <a:rPr lang="en-US" sz="2200" b="0" i="1" smtClean="0">
                          <a:solidFill>
                            <a:srgbClr val="002060"/>
                          </a:solidFill>
                          <a:latin typeface="Cambria Math" panose="02040503050406030204" pitchFamily="18" charset="0"/>
                          <a:ea typeface="Cambria Math" panose="02040503050406030204" pitchFamily="18" charset="0"/>
                        </a:rPr>
                        <m:t>=</m:t>
                      </m:r>
                      <m:r>
                        <a:rPr lang="en-US" sz="2200" b="0" i="1" smtClean="0">
                          <a:solidFill>
                            <a:srgbClr val="002060"/>
                          </a:solidFill>
                          <a:latin typeface="Cambria Math" panose="02040503050406030204" pitchFamily="18" charset="0"/>
                          <a:ea typeface="Cambria Math" panose="02040503050406030204" pitchFamily="18" charset="0"/>
                        </a:rPr>
                        <m:t>𝐻</m:t>
                      </m:r>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m:t>
                          </m:r>
                          <m:r>
                            <a:rPr lang="en-US" sz="2200" i="1">
                              <a:solidFill>
                                <a:srgbClr val="002060"/>
                              </a:solidFill>
                              <a:latin typeface="Cambria Math" panose="02040503050406030204" pitchFamily="18" charset="0"/>
                              <a:ea typeface="Cambria Math" panose="02040503050406030204" pitchFamily="18" charset="0"/>
                            </a:rPr>
                            <m:t>𝑆</m:t>
                          </m:r>
                        </m:e>
                      </m:d>
                    </m:oMath>
                  </m:oMathPara>
                </a14:m>
                <a:endParaRPr lang="en-US" sz="2200" dirty="0"/>
              </a:p>
            </p:txBody>
          </p:sp>
        </mc:Choice>
        <mc:Fallback xmlns="">
          <p:sp>
            <p:nvSpPr>
              <p:cNvPr id="36" name="Rectangle 35">
                <a:extLst>
                  <a:ext uri="{FF2B5EF4-FFF2-40B4-BE49-F238E27FC236}">
                    <a16:creationId xmlns:a16="http://schemas.microsoft.com/office/drawing/2014/main" id="{083F40CD-BC96-6847-AFA1-F182416403AE}"/>
                  </a:ext>
                </a:extLst>
              </p:cNvPr>
              <p:cNvSpPr>
                <a:spLocks noRot="1" noChangeAspect="1" noMove="1" noResize="1" noEditPoints="1" noAdjustHandles="1" noChangeArrowheads="1" noChangeShapeType="1" noTextEdit="1"/>
              </p:cNvSpPr>
              <p:nvPr/>
            </p:nvSpPr>
            <p:spPr>
              <a:xfrm>
                <a:off x="43750" y="2295102"/>
                <a:ext cx="1587037" cy="430887"/>
              </a:xfrm>
              <a:prstGeom prst="rect">
                <a:avLst/>
              </a:prstGeom>
              <a:blipFill>
                <a:blip r:embed="rId10"/>
                <a:stretch>
                  <a:fillRect l="-3175" t="-117143" r="-17460" b="-182857"/>
                </a:stretch>
              </a:blipFill>
            </p:spPr>
            <p:txBody>
              <a:bodyPr/>
              <a:lstStyle/>
              <a:p>
                <a:r>
                  <a:rPr lang="en-US">
                    <a:noFill/>
                  </a:rPr>
                  <a:t> </a:t>
                </a:r>
              </a:p>
            </p:txBody>
          </p:sp>
        </mc:Fallback>
      </mc:AlternateContent>
      <p:cxnSp>
        <p:nvCxnSpPr>
          <p:cNvPr id="38" name="Straight Arrow Connector 37">
            <a:extLst>
              <a:ext uri="{FF2B5EF4-FFF2-40B4-BE49-F238E27FC236}">
                <a16:creationId xmlns:a16="http://schemas.microsoft.com/office/drawing/2014/main" id="{1AC02FC3-B9DC-AD4D-8787-16CF974407C6}"/>
              </a:ext>
            </a:extLst>
          </p:cNvPr>
          <p:cNvCxnSpPr>
            <a:cxnSpLocks/>
          </p:cNvCxnSpPr>
          <p:nvPr/>
        </p:nvCxnSpPr>
        <p:spPr>
          <a:xfrm flipH="1" flipV="1">
            <a:off x="955317" y="2739047"/>
            <a:ext cx="978614" cy="824372"/>
          </a:xfrm>
          <a:prstGeom prst="straightConnector1">
            <a:avLst/>
          </a:prstGeom>
          <a:ln w="38100" cap="rnd">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A71E4130-1FF2-4A4D-94E1-2D5AD0277A58}"/>
                  </a:ext>
                </a:extLst>
              </p:cNvPr>
              <p:cNvSpPr/>
              <p:nvPr/>
            </p:nvSpPr>
            <p:spPr>
              <a:xfrm>
                <a:off x="1285184" y="4848806"/>
                <a:ext cx="595419"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m:t>
                          </m:r>
                          <m:r>
                            <a:rPr lang="en-US" sz="2200" b="0" i="1" smtClean="0">
                              <a:solidFill>
                                <a:srgbClr val="002060"/>
                              </a:solidFill>
                              <a:latin typeface="Cambria Math" panose="02040503050406030204" pitchFamily="18" charset="0"/>
                              <a:ea typeface="Cambria Math" panose="02040503050406030204" pitchFamily="18" charset="0"/>
                            </a:rPr>
                            <m:t>1</m:t>
                          </m:r>
                        </m:e>
                      </m:d>
                    </m:oMath>
                  </m:oMathPara>
                </a14:m>
                <a:endParaRPr lang="en-US" sz="2200" dirty="0"/>
              </a:p>
            </p:txBody>
          </p:sp>
        </mc:Choice>
        <mc:Fallback xmlns="">
          <p:sp>
            <p:nvSpPr>
              <p:cNvPr id="44" name="Rectangle 43">
                <a:extLst>
                  <a:ext uri="{FF2B5EF4-FFF2-40B4-BE49-F238E27FC236}">
                    <a16:creationId xmlns:a16="http://schemas.microsoft.com/office/drawing/2014/main" id="{A71E4130-1FF2-4A4D-94E1-2D5AD0277A58}"/>
                  </a:ext>
                </a:extLst>
              </p:cNvPr>
              <p:cNvSpPr>
                <a:spLocks noRot="1" noChangeAspect="1" noMove="1" noResize="1" noEditPoints="1" noAdjustHandles="1" noChangeArrowheads="1" noChangeShapeType="1" noTextEdit="1"/>
              </p:cNvSpPr>
              <p:nvPr/>
            </p:nvSpPr>
            <p:spPr>
              <a:xfrm>
                <a:off x="1285184" y="4848806"/>
                <a:ext cx="595419" cy="430887"/>
              </a:xfrm>
              <a:prstGeom prst="rect">
                <a:avLst/>
              </a:prstGeom>
              <a:blipFill>
                <a:blip r:embed="rId11"/>
                <a:stretch>
                  <a:fillRect l="-22917" t="-117143" r="-45833" b="-182857"/>
                </a:stretch>
              </a:blipFill>
            </p:spPr>
            <p:txBody>
              <a:bodyPr/>
              <a:lstStyle/>
              <a:p>
                <a:r>
                  <a:rPr lang="en-US">
                    <a:noFill/>
                  </a:rPr>
                  <a:t> </a:t>
                </a:r>
              </a:p>
            </p:txBody>
          </p:sp>
        </mc:Fallback>
      </mc:AlternateContent>
      <p:sp>
        <p:nvSpPr>
          <p:cNvPr id="39" name="Slide Number Placeholder 2">
            <a:extLst>
              <a:ext uri="{FF2B5EF4-FFF2-40B4-BE49-F238E27FC236}">
                <a16:creationId xmlns:a16="http://schemas.microsoft.com/office/drawing/2014/main" id="{EAC3713D-BE1C-1A41-89FC-7C5593B10DCF}"/>
              </a:ext>
            </a:extLst>
          </p:cNvPr>
          <p:cNvSpPr>
            <a:spLocks noGrp="1"/>
          </p:cNvSpPr>
          <p:nvPr>
            <p:ph type="sldNum" sz="quarter" idx="12"/>
          </p:nvPr>
        </p:nvSpPr>
        <p:spPr>
          <a:xfrm>
            <a:off x="0" y="6492875"/>
            <a:ext cx="587829" cy="365125"/>
          </a:xfrm>
        </p:spPr>
        <p:txBody>
          <a:bodyPr/>
          <a:lstStyle/>
          <a:p>
            <a:fld id="{591A223C-FA10-BC46-A853-03BA373D023C}" type="slidenum">
              <a:rPr lang="en-US" smtClean="0"/>
              <a:t>44</a:t>
            </a:fld>
            <a:endParaRPr lang="en-US" dirty="0"/>
          </a:p>
        </p:txBody>
      </p:sp>
    </p:spTree>
    <p:extLst>
      <p:ext uri="{BB962C8B-B14F-4D97-AF65-F5344CB8AC3E}">
        <p14:creationId xmlns:p14="http://schemas.microsoft.com/office/powerpoint/2010/main" val="6002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1" name="Straight Connector 80">
            <a:extLst>
              <a:ext uri="{FF2B5EF4-FFF2-40B4-BE49-F238E27FC236}">
                <a16:creationId xmlns:a16="http://schemas.microsoft.com/office/drawing/2014/main" id="{7BF60709-6F2F-B24A-AB73-20C5974790A7}"/>
              </a:ext>
            </a:extLst>
          </p:cNvPr>
          <p:cNvCxnSpPr>
            <a:cxnSpLocks/>
          </p:cNvCxnSpPr>
          <p:nvPr/>
        </p:nvCxnSpPr>
        <p:spPr>
          <a:xfrm flipV="1">
            <a:off x="4546597" y="3689608"/>
            <a:ext cx="4808418" cy="114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1D2F1CF1-E8C2-F447-A908-DAEEB1251A57}"/>
              </a:ext>
            </a:extLst>
          </p:cNvPr>
          <p:cNvSpPr>
            <a:spLocks noChangeAspect="1"/>
          </p:cNvSpPr>
          <p:nvPr/>
        </p:nvSpPr>
        <p:spPr>
          <a:xfrm>
            <a:off x="349958" y="2091086"/>
            <a:ext cx="3184328" cy="3184328"/>
          </a:xfrm>
          <a:prstGeom prst="ellipse">
            <a:avLst/>
          </a:prstGeom>
          <a:gradFill flip="none" rotWithShape="1">
            <a:gsLst>
              <a:gs pos="0">
                <a:schemeClr val="bg1"/>
              </a:gs>
              <a:gs pos="100000">
                <a:schemeClr val="accent5">
                  <a:lumMod val="20000"/>
                  <a:lumOff val="80000"/>
                </a:schemeClr>
              </a:gs>
            </a:gsLst>
            <a:lin ang="5400000" scaled="1"/>
            <a:tileRect/>
          </a:gra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2" name="Title 1">
            <a:extLst>
              <a:ext uri="{FF2B5EF4-FFF2-40B4-BE49-F238E27FC236}">
                <a16:creationId xmlns:a16="http://schemas.microsoft.com/office/drawing/2014/main" id="{D5CBAD56-B777-9A4E-8666-0FCC0B7E20BA}"/>
              </a:ext>
            </a:extLst>
          </p:cNvPr>
          <p:cNvSpPr>
            <a:spLocks noGrp="1"/>
          </p:cNvSpPr>
          <p:nvPr>
            <p:ph type="title"/>
          </p:nvPr>
        </p:nvSpPr>
        <p:spPr/>
        <p:txBody>
          <a:bodyPr/>
          <a:lstStyle/>
          <a:p>
            <a:r>
              <a:rPr lang="en-ZA" dirty="0"/>
              <a:t>Y-Basis Measurement</a:t>
            </a:r>
            <a:endParaRPr lang="en-US" dirty="0"/>
          </a:p>
        </p:txBody>
      </p:sp>
      <p:cxnSp>
        <p:nvCxnSpPr>
          <p:cNvPr id="59" name="Straight Connector 58">
            <a:extLst>
              <a:ext uri="{FF2B5EF4-FFF2-40B4-BE49-F238E27FC236}">
                <a16:creationId xmlns:a16="http://schemas.microsoft.com/office/drawing/2014/main" id="{F148EB20-E882-C248-8D74-837D28AE9A16}"/>
              </a:ext>
            </a:extLst>
          </p:cNvPr>
          <p:cNvCxnSpPr>
            <a:cxnSpLocks/>
          </p:cNvCxnSpPr>
          <p:nvPr/>
        </p:nvCxnSpPr>
        <p:spPr>
          <a:xfrm>
            <a:off x="9597269" y="1640393"/>
            <a:ext cx="0" cy="3057457"/>
          </a:xfrm>
          <a:prstGeom prst="line">
            <a:avLst/>
          </a:prstGeom>
          <a:ln>
            <a:solidFill>
              <a:schemeClr val="tx1"/>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0B2B2FA-E191-9C41-A787-5602960D4172}"/>
              </a:ext>
            </a:extLst>
          </p:cNvPr>
          <p:cNvCxnSpPr>
            <a:cxnSpLocks/>
          </p:cNvCxnSpPr>
          <p:nvPr/>
        </p:nvCxnSpPr>
        <p:spPr>
          <a:xfrm flipV="1">
            <a:off x="9597269" y="4695729"/>
            <a:ext cx="21747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059D06DA-A4D9-EC4E-B6C4-A082AC189673}"/>
              </a:ext>
            </a:extLst>
          </p:cNvPr>
          <p:cNvSpPr/>
          <p:nvPr/>
        </p:nvSpPr>
        <p:spPr>
          <a:xfrm>
            <a:off x="9892682" y="1952529"/>
            <a:ext cx="611491" cy="2743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1927AE05-79D3-1C49-83FF-BB1A9B9FACA8}"/>
              </a:ext>
            </a:extLst>
          </p:cNvPr>
          <p:cNvSpPr/>
          <p:nvPr/>
        </p:nvSpPr>
        <p:spPr>
          <a:xfrm>
            <a:off x="10980333" y="4522929"/>
            <a:ext cx="611491" cy="1728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0B551C66-23A8-304F-B29E-5507EB97F2CB}"/>
              </a:ext>
            </a:extLst>
          </p:cNvPr>
          <p:cNvSpPr txBox="1"/>
          <p:nvPr/>
        </p:nvSpPr>
        <p:spPr>
          <a:xfrm>
            <a:off x="10037277" y="4708455"/>
            <a:ext cx="340158" cy="461665"/>
          </a:xfrm>
          <a:prstGeom prst="rect">
            <a:avLst/>
          </a:prstGeom>
          <a:noFill/>
        </p:spPr>
        <p:txBody>
          <a:bodyPr wrap="none" rtlCol="0">
            <a:spAutoFit/>
          </a:bodyPr>
          <a:lstStyle/>
          <a:p>
            <a:r>
              <a:rPr lang="en-US" sz="2400" dirty="0"/>
              <a:t>0</a:t>
            </a:r>
          </a:p>
        </p:txBody>
      </p:sp>
      <p:sp>
        <p:nvSpPr>
          <p:cNvPr id="64" name="TextBox 63">
            <a:extLst>
              <a:ext uri="{FF2B5EF4-FFF2-40B4-BE49-F238E27FC236}">
                <a16:creationId xmlns:a16="http://schemas.microsoft.com/office/drawing/2014/main" id="{D6546FF0-ECD5-8345-99FB-CFDAA1ACE0B3}"/>
              </a:ext>
            </a:extLst>
          </p:cNvPr>
          <p:cNvSpPr txBox="1"/>
          <p:nvPr/>
        </p:nvSpPr>
        <p:spPr>
          <a:xfrm>
            <a:off x="11154708" y="4708455"/>
            <a:ext cx="340158" cy="461665"/>
          </a:xfrm>
          <a:prstGeom prst="rect">
            <a:avLst/>
          </a:prstGeom>
          <a:noFill/>
        </p:spPr>
        <p:txBody>
          <a:bodyPr wrap="none" rtlCol="0">
            <a:spAutoFit/>
          </a:bodyPr>
          <a:lstStyle/>
          <a:p>
            <a:r>
              <a:rPr lang="en-US" sz="2400" dirty="0"/>
              <a:t>1</a:t>
            </a:r>
          </a:p>
        </p:txBody>
      </p:sp>
      <p:sp>
        <p:nvSpPr>
          <p:cNvPr id="65" name="TextBox 64">
            <a:extLst>
              <a:ext uri="{FF2B5EF4-FFF2-40B4-BE49-F238E27FC236}">
                <a16:creationId xmlns:a16="http://schemas.microsoft.com/office/drawing/2014/main" id="{33EAD088-946A-0E49-B6AE-015CD9DB7626}"/>
              </a:ext>
            </a:extLst>
          </p:cNvPr>
          <p:cNvSpPr txBox="1"/>
          <p:nvPr/>
        </p:nvSpPr>
        <p:spPr>
          <a:xfrm>
            <a:off x="9833596" y="1484501"/>
            <a:ext cx="728084" cy="461665"/>
          </a:xfrm>
          <a:prstGeom prst="rect">
            <a:avLst/>
          </a:prstGeom>
          <a:noFill/>
        </p:spPr>
        <p:txBody>
          <a:bodyPr wrap="none" rtlCol="0">
            <a:spAutoFit/>
          </a:bodyPr>
          <a:lstStyle/>
          <a:p>
            <a:r>
              <a:rPr lang="en-US" sz="2400" dirty="0"/>
              <a:t>0.93</a:t>
            </a:r>
          </a:p>
        </p:txBody>
      </p:sp>
      <p:sp>
        <p:nvSpPr>
          <p:cNvPr id="66" name="TextBox 65">
            <a:extLst>
              <a:ext uri="{FF2B5EF4-FFF2-40B4-BE49-F238E27FC236}">
                <a16:creationId xmlns:a16="http://schemas.microsoft.com/office/drawing/2014/main" id="{AF32412B-D402-F24F-92CF-A068B8DA735D}"/>
              </a:ext>
            </a:extLst>
          </p:cNvPr>
          <p:cNvSpPr txBox="1"/>
          <p:nvPr/>
        </p:nvSpPr>
        <p:spPr>
          <a:xfrm>
            <a:off x="10922036" y="4019972"/>
            <a:ext cx="728084" cy="461665"/>
          </a:xfrm>
          <a:prstGeom prst="rect">
            <a:avLst/>
          </a:prstGeom>
          <a:noFill/>
        </p:spPr>
        <p:txBody>
          <a:bodyPr wrap="none" rtlCol="0">
            <a:spAutoFit/>
          </a:bodyPr>
          <a:lstStyle/>
          <a:p>
            <a:r>
              <a:rPr lang="en-US" sz="2400" dirty="0"/>
              <a:t>0.67</a:t>
            </a:r>
          </a:p>
        </p:txBody>
      </p:sp>
      <p:cxnSp>
        <p:nvCxnSpPr>
          <p:cNvPr id="13" name="Straight Arrow Connector 12">
            <a:extLst>
              <a:ext uri="{FF2B5EF4-FFF2-40B4-BE49-F238E27FC236}">
                <a16:creationId xmlns:a16="http://schemas.microsoft.com/office/drawing/2014/main" id="{EE0904CB-0855-3043-A435-5348E20D1B43}"/>
              </a:ext>
            </a:extLst>
          </p:cNvPr>
          <p:cNvCxnSpPr>
            <a:cxnSpLocks/>
          </p:cNvCxnSpPr>
          <p:nvPr/>
        </p:nvCxnSpPr>
        <p:spPr>
          <a:xfrm flipV="1">
            <a:off x="1948319" y="1834680"/>
            <a:ext cx="2" cy="170767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59A5ED7-07E2-6E4A-9C46-2AC1E631E813}"/>
              </a:ext>
            </a:extLst>
          </p:cNvPr>
          <p:cNvCxnSpPr>
            <a:cxnSpLocks/>
          </p:cNvCxnSpPr>
          <p:nvPr/>
        </p:nvCxnSpPr>
        <p:spPr>
          <a:xfrm>
            <a:off x="688931" y="3278544"/>
            <a:ext cx="3070342" cy="724321"/>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56ED226-AFA0-184B-8B7E-E7A7DBAD1884}"/>
              </a:ext>
            </a:extLst>
          </p:cNvPr>
          <p:cNvCxnSpPr>
            <a:cxnSpLocks/>
          </p:cNvCxnSpPr>
          <p:nvPr/>
        </p:nvCxnSpPr>
        <p:spPr>
          <a:xfrm flipH="1">
            <a:off x="742493" y="3000857"/>
            <a:ext cx="1875425" cy="1540608"/>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E7229266-F87E-EC44-89DC-960215E93026}"/>
              </a:ext>
            </a:extLst>
          </p:cNvPr>
          <p:cNvSpPr/>
          <p:nvPr/>
        </p:nvSpPr>
        <p:spPr>
          <a:xfrm>
            <a:off x="362352" y="2933128"/>
            <a:ext cx="3184328" cy="1521272"/>
          </a:xfrm>
          <a:prstGeom prst="ellipse">
            <a:avLst/>
          </a:prstGeom>
          <a:noFill/>
          <a:ln w="635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7" name="Straight Arrow Connector 16">
            <a:extLst>
              <a:ext uri="{FF2B5EF4-FFF2-40B4-BE49-F238E27FC236}">
                <a16:creationId xmlns:a16="http://schemas.microsoft.com/office/drawing/2014/main" id="{B4F7C86B-8C88-D64C-BDDD-4DA291FEF043}"/>
              </a:ext>
            </a:extLst>
          </p:cNvPr>
          <p:cNvCxnSpPr>
            <a:cxnSpLocks/>
          </p:cNvCxnSpPr>
          <p:nvPr/>
        </p:nvCxnSpPr>
        <p:spPr>
          <a:xfrm>
            <a:off x="1965293" y="3563418"/>
            <a:ext cx="659537" cy="858768"/>
          </a:xfrm>
          <a:prstGeom prst="straightConnector1">
            <a:avLst/>
          </a:prstGeom>
          <a:ln w="38100" cap="rnd">
            <a:solidFill>
              <a:schemeClr val="bg1">
                <a:lumMod val="6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2B5B6A69-A956-C843-B114-02899DA887D8}"/>
              </a:ext>
            </a:extLst>
          </p:cNvPr>
          <p:cNvCxnSpPr>
            <a:cxnSpLocks/>
          </p:cNvCxnSpPr>
          <p:nvPr/>
        </p:nvCxnSpPr>
        <p:spPr>
          <a:xfrm flipH="1" flipV="1">
            <a:off x="1941407" y="2249003"/>
            <a:ext cx="13109" cy="1273367"/>
          </a:xfrm>
          <a:prstGeom prst="straightConnector1">
            <a:avLst/>
          </a:prstGeom>
          <a:ln w="25400" cap="rnd">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F47018CE-E8F6-0A44-A08F-8AC475A41B9E}"/>
                  </a:ext>
                </a:extLst>
              </p:cNvPr>
              <p:cNvSpPr/>
              <p:nvPr/>
            </p:nvSpPr>
            <p:spPr>
              <a:xfrm>
                <a:off x="1361228" y="1841651"/>
                <a:ext cx="595419"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|0</m:t>
                          </m:r>
                        </m:e>
                      </m:d>
                    </m:oMath>
                  </m:oMathPara>
                </a14:m>
                <a:endParaRPr lang="en-US" sz="2200" dirty="0"/>
              </a:p>
            </p:txBody>
          </p:sp>
        </mc:Choice>
        <mc:Fallback xmlns="">
          <p:sp>
            <p:nvSpPr>
              <p:cNvPr id="53" name="Rectangle 52">
                <a:extLst>
                  <a:ext uri="{FF2B5EF4-FFF2-40B4-BE49-F238E27FC236}">
                    <a16:creationId xmlns:a16="http://schemas.microsoft.com/office/drawing/2014/main" id="{F47018CE-E8F6-0A44-A08F-8AC475A41B9E}"/>
                  </a:ext>
                </a:extLst>
              </p:cNvPr>
              <p:cNvSpPr>
                <a:spLocks noRot="1" noChangeAspect="1" noMove="1" noResize="1" noEditPoints="1" noAdjustHandles="1" noChangeArrowheads="1" noChangeShapeType="1" noTextEdit="1"/>
              </p:cNvSpPr>
              <p:nvPr/>
            </p:nvSpPr>
            <p:spPr>
              <a:xfrm>
                <a:off x="1361228" y="1841651"/>
                <a:ext cx="595419" cy="430887"/>
              </a:xfrm>
              <a:prstGeom prst="rect">
                <a:avLst/>
              </a:prstGeom>
              <a:blipFill>
                <a:blip r:embed="rId3"/>
                <a:stretch>
                  <a:fillRect l="-20833" t="-117143" r="-45833" b="-182857"/>
                </a:stretch>
              </a:blipFill>
            </p:spPr>
            <p:txBody>
              <a:bodyPr/>
              <a:lstStyle/>
              <a:p>
                <a:r>
                  <a:rPr lang="en-US">
                    <a:noFill/>
                  </a:rPr>
                  <a:t> </a:t>
                </a:r>
              </a:p>
            </p:txBody>
          </p:sp>
        </mc:Fallback>
      </mc:AlternateContent>
      <p:cxnSp>
        <p:nvCxnSpPr>
          <p:cNvPr id="42" name="Straight Arrow Connector 41">
            <a:extLst>
              <a:ext uri="{FF2B5EF4-FFF2-40B4-BE49-F238E27FC236}">
                <a16:creationId xmlns:a16="http://schemas.microsoft.com/office/drawing/2014/main" id="{42CB6D68-0261-C240-BC8D-AD7EBC6CE777}"/>
              </a:ext>
            </a:extLst>
          </p:cNvPr>
          <p:cNvCxnSpPr>
            <a:cxnSpLocks/>
          </p:cNvCxnSpPr>
          <p:nvPr/>
        </p:nvCxnSpPr>
        <p:spPr>
          <a:xfrm flipH="1">
            <a:off x="1933930" y="3554854"/>
            <a:ext cx="13673" cy="1526479"/>
          </a:xfrm>
          <a:prstGeom prst="straightConnector1">
            <a:avLst/>
          </a:prstGeom>
          <a:ln w="25400" cap="rnd">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267985AF-96E8-0B42-A43A-8695270F9460}"/>
                  </a:ext>
                </a:extLst>
              </p:cNvPr>
              <p:cNvSpPr/>
              <p:nvPr/>
            </p:nvSpPr>
            <p:spPr>
              <a:xfrm>
                <a:off x="329438" y="4234064"/>
                <a:ext cx="42639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2060"/>
                          </a:solidFill>
                          <a:latin typeface="Cambria Math" panose="02040503050406030204" pitchFamily="18" charset="0"/>
                          <a:ea typeface="Cambria Math" panose="02040503050406030204" pitchFamily="18" charset="0"/>
                        </a:rPr>
                        <m:t>𝑥</m:t>
                      </m:r>
                    </m:oMath>
                  </m:oMathPara>
                </a14:m>
                <a:endParaRPr lang="en-US" sz="2400" dirty="0"/>
              </a:p>
            </p:txBody>
          </p:sp>
        </mc:Choice>
        <mc:Fallback xmlns="">
          <p:sp>
            <p:nvSpPr>
              <p:cNvPr id="47" name="Rectangle 46">
                <a:extLst>
                  <a:ext uri="{FF2B5EF4-FFF2-40B4-BE49-F238E27FC236}">
                    <a16:creationId xmlns:a16="http://schemas.microsoft.com/office/drawing/2014/main" id="{267985AF-96E8-0B42-A43A-8695270F9460}"/>
                  </a:ext>
                </a:extLst>
              </p:cNvPr>
              <p:cNvSpPr>
                <a:spLocks noRot="1" noChangeAspect="1" noMove="1" noResize="1" noEditPoints="1" noAdjustHandles="1" noChangeArrowheads="1" noChangeShapeType="1" noTextEdit="1"/>
              </p:cNvSpPr>
              <p:nvPr/>
            </p:nvSpPr>
            <p:spPr>
              <a:xfrm>
                <a:off x="329438" y="4234064"/>
                <a:ext cx="426399"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E46CCFC9-F810-1040-AC91-587E1A3310FA}"/>
                  </a:ext>
                </a:extLst>
              </p:cNvPr>
              <p:cNvSpPr/>
              <p:nvPr/>
            </p:nvSpPr>
            <p:spPr>
              <a:xfrm>
                <a:off x="1966907" y="1666159"/>
                <a:ext cx="40793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2060"/>
                          </a:solidFill>
                          <a:latin typeface="Cambria Math" panose="02040503050406030204" pitchFamily="18" charset="0"/>
                          <a:ea typeface="Cambria Math" panose="02040503050406030204" pitchFamily="18" charset="0"/>
                        </a:rPr>
                        <m:t>𝑧</m:t>
                      </m:r>
                    </m:oMath>
                  </m:oMathPara>
                </a14:m>
                <a:endParaRPr lang="en-US" sz="2400" dirty="0"/>
              </a:p>
            </p:txBody>
          </p:sp>
        </mc:Choice>
        <mc:Fallback xmlns="">
          <p:sp>
            <p:nvSpPr>
              <p:cNvPr id="48" name="Rectangle 47">
                <a:extLst>
                  <a:ext uri="{FF2B5EF4-FFF2-40B4-BE49-F238E27FC236}">
                    <a16:creationId xmlns:a16="http://schemas.microsoft.com/office/drawing/2014/main" id="{E46CCFC9-F810-1040-AC91-587E1A3310FA}"/>
                  </a:ext>
                </a:extLst>
              </p:cNvPr>
              <p:cNvSpPr>
                <a:spLocks noRot="1" noChangeAspect="1" noMove="1" noResize="1" noEditPoints="1" noAdjustHandles="1" noChangeArrowheads="1" noChangeShapeType="1" noTextEdit="1"/>
              </p:cNvSpPr>
              <p:nvPr/>
            </p:nvSpPr>
            <p:spPr>
              <a:xfrm>
                <a:off x="1966907" y="1666159"/>
                <a:ext cx="407932"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7B6171A8-5F56-7149-9D7C-2BD075FBBD6B}"/>
                  </a:ext>
                </a:extLst>
              </p:cNvPr>
              <p:cNvSpPr/>
              <p:nvPr/>
            </p:nvSpPr>
            <p:spPr>
              <a:xfrm>
                <a:off x="3662956" y="3458775"/>
                <a:ext cx="43037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oMath>
                  </m:oMathPara>
                </a14:m>
                <a:endParaRPr lang="en-US" sz="2400" dirty="0"/>
              </a:p>
            </p:txBody>
          </p:sp>
        </mc:Choice>
        <mc:Fallback xmlns="">
          <p:sp>
            <p:nvSpPr>
              <p:cNvPr id="49" name="Rectangle 48">
                <a:extLst>
                  <a:ext uri="{FF2B5EF4-FFF2-40B4-BE49-F238E27FC236}">
                    <a16:creationId xmlns:a16="http://schemas.microsoft.com/office/drawing/2014/main" id="{7B6171A8-5F56-7149-9D7C-2BD075FBBD6B}"/>
                  </a:ext>
                </a:extLst>
              </p:cNvPr>
              <p:cNvSpPr>
                <a:spLocks noRot="1" noChangeAspect="1" noMove="1" noResize="1" noEditPoints="1" noAdjustHandles="1" noChangeArrowheads="1" noChangeShapeType="1" noTextEdit="1"/>
              </p:cNvSpPr>
              <p:nvPr/>
            </p:nvSpPr>
            <p:spPr>
              <a:xfrm>
                <a:off x="3662956" y="3458775"/>
                <a:ext cx="430374" cy="461665"/>
              </a:xfrm>
              <a:prstGeom prst="rect">
                <a:avLst/>
              </a:prstGeom>
              <a:blipFill>
                <a:blip r:embed="rId6"/>
                <a:stretch>
                  <a:fillRect b="-7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Rectangle 102">
                <a:extLst>
                  <a:ext uri="{FF2B5EF4-FFF2-40B4-BE49-F238E27FC236}">
                    <a16:creationId xmlns:a16="http://schemas.microsoft.com/office/drawing/2014/main" id="{14C228E5-9763-1B40-91AB-4C8B73C1E91B}"/>
                  </a:ext>
                </a:extLst>
              </p:cNvPr>
              <p:cNvSpPr/>
              <p:nvPr/>
            </p:nvSpPr>
            <p:spPr>
              <a:xfrm>
                <a:off x="1998879" y="3261808"/>
                <a:ext cx="1073371" cy="66761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200" b="0" i="1" smtClean="0">
                              <a:solidFill>
                                <a:srgbClr val="002060"/>
                              </a:solidFill>
                              <a:latin typeface="Cambria Math" panose="02040503050406030204" pitchFamily="18" charset="0"/>
                              <a:ea typeface="Cambria Math" panose="02040503050406030204" pitchFamily="18" charset="0"/>
                            </a:rPr>
                          </m:ctrlPr>
                        </m:sSupPr>
                        <m:e>
                          <m:r>
                            <a:rPr lang="en-US" sz="2200" i="1" smtClean="0">
                              <a:solidFill>
                                <a:srgbClr val="002060"/>
                              </a:solidFill>
                              <a:latin typeface="Cambria Math" panose="02040503050406030204" pitchFamily="18" charset="0"/>
                              <a:ea typeface="Cambria Math" panose="02040503050406030204" pitchFamily="18" charset="0"/>
                            </a:rPr>
                            <m:t>𝜑</m:t>
                          </m:r>
                        </m:e>
                        <m:sup>
                          <m:r>
                            <a:rPr lang="en-US" sz="2200" b="0" i="1" smtClean="0">
                              <a:solidFill>
                                <a:srgbClr val="002060"/>
                              </a:solidFill>
                              <a:latin typeface="Cambria Math" panose="02040503050406030204" pitchFamily="18" charset="0"/>
                              <a:ea typeface="Cambria Math" panose="02040503050406030204" pitchFamily="18" charset="0"/>
                            </a:rPr>
                            <m:t>′</m:t>
                          </m:r>
                        </m:sup>
                      </m:sSup>
                      <m:r>
                        <a:rPr lang="en-US" sz="2200" b="0" i="1" smtClean="0">
                          <a:solidFill>
                            <a:srgbClr val="002060"/>
                          </a:solidFill>
                          <a:latin typeface="Cambria Math" panose="02040503050406030204" pitchFamily="18" charset="0"/>
                          <a:ea typeface="Cambria Math" panose="02040503050406030204" pitchFamily="18" charset="0"/>
                        </a:rPr>
                        <m:t>=</m:t>
                      </m:r>
                      <m:f>
                        <m:fPr>
                          <m:ctrlPr>
                            <a:rPr lang="en-US" sz="2200" i="1" smtClean="0">
                              <a:solidFill>
                                <a:srgbClr val="002060"/>
                              </a:solidFill>
                              <a:latin typeface="Cambria Math" panose="02040503050406030204" pitchFamily="18" charset="0"/>
                              <a:ea typeface="Cambria Math" panose="02040503050406030204" pitchFamily="18" charset="0"/>
                            </a:rPr>
                          </m:ctrlPr>
                        </m:fPr>
                        <m:num>
                          <m:r>
                            <a:rPr lang="en-US" sz="2200" i="1" smtClean="0">
                              <a:solidFill>
                                <a:srgbClr val="002060"/>
                              </a:solidFill>
                              <a:latin typeface="Cambria Math" panose="02040503050406030204" pitchFamily="18" charset="0"/>
                              <a:ea typeface="Cambria Math" panose="02040503050406030204" pitchFamily="18" charset="0"/>
                            </a:rPr>
                            <m:t>𝜋</m:t>
                          </m:r>
                        </m:num>
                        <m:den>
                          <m:r>
                            <a:rPr lang="en-US" sz="2200" b="0" i="1" smtClean="0">
                              <a:solidFill>
                                <a:srgbClr val="002060"/>
                              </a:solidFill>
                              <a:latin typeface="Cambria Math" panose="02040503050406030204" pitchFamily="18" charset="0"/>
                              <a:ea typeface="Cambria Math" panose="02040503050406030204" pitchFamily="18" charset="0"/>
                            </a:rPr>
                            <m:t>2</m:t>
                          </m:r>
                        </m:den>
                      </m:f>
                    </m:oMath>
                  </m:oMathPara>
                </a14:m>
                <a:endParaRPr lang="en-US" sz="2200" dirty="0"/>
              </a:p>
            </p:txBody>
          </p:sp>
        </mc:Choice>
        <mc:Fallback xmlns="">
          <p:sp>
            <p:nvSpPr>
              <p:cNvPr id="103" name="Rectangle 102">
                <a:extLst>
                  <a:ext uri="{FF2B5EF4-FFF2-40B4-BE49-F238E27FC236}">
                    <a16:creationId xmlns:a16="http://schemas.microsoft.com/office/drawing/2014/main" id="{14C228E5-9763-1B40-91AB-4C8B73C1E91B}"/>
                  </a:ext>
                </a:extLst>
              </p:cNvPr>
              <p:cNvSpPr>
                <a:spLocks noRot="1" noChangeAspect="1" noMove="1" noResize="1" noEditPoints="1" noAdjustHandles="1" noChangeArrowheads="1" noChangeShapeType="1" noTextEdit="1"/>
              </p:cNvSpPr>
              <p:nvPr/>
            </p:nvSpPr>
            <p:spPr>
              <a:xfrm>
                <a:off x="1998879" y="3261808"/>
                <a:ext cx="1073371" cy="667619"/>
              </a:xfrm>
              <a:prstGeom prst="rect">
                <a:avLst/>
              </a:prstGeom>
              <a:blipFill>
                <a:blip r:embed="rId7"/>
                <a:stretch>
                  <a:fillRect b="-56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5D555AD8-BC33-8643-84D7-3EADE469C26C}"/>
                  </a:ext>
                </a:extLst>
              </p:cNvPr>
              <p:cNvSpPr/>
              <p:nvPr/>
            </p:nvSpPr>
            <p:spPr>
              <a:xfrm>
                <a:off x="2430456" y="4486605"/>
                <a:ext cx="594522"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m:t>
                          </m:r>
                          <m:r>
                            <a:rPr lang="en-US" sz="2200" b="0" i="1" smtClean="0">
                              <a:solidFill>
                                <a:srgbClr val="002060"/>
                              </a:solidFill>
                              <a:latin typeface="Cambria Math" panose="02040503050406030204" pitchFamily="18" charset="0"/>
                              <a:ea typeface="Cambria Math" panose="02040503050406030204" pitchFamily="18" charset="0"/>
                            </a:rPr>
                            <m:t>𝑆</m:t>
                          </m:r>
                        </m:e>
                      </m:d>
                    </m:oMath>
                  </m:oMathPara>
                </a14:m>
                <a:endParaRPr lang="en-US" sz="2200" dirty="0"/>
              </a:p>
            </p:txBody>
          </p:sp>
        </mc:Choice>
        <mc:Fallback xmlns="">
          <p:sp>
            <p:nvSpPr>
              <p:cNvPr id="50" name="Rectangle 49">
                <a:extLst>
                  <a:ext uri="{FF2B5EF4-FFF2-40B4-BE49-F238E27FC236}">
                    <a16:creationId xmlns:a16="http://schemas.microsoft.com/office/drawing/2014/main" id="{5D555AD8-BC33-8643-84D7-3EADE469C26C}"/>
                  </a:ext>
                </a:extLst>
              </p:cNvPr>
              <p:cNvSpPr>
                <a:spLocks noRot="1" noChangeAspect="1" noMove="1" noResize="1" noEditPoints="1" noAdjustHandles="1" noChangeArrowheads="1" noChangeShapeType="1" noTextEdit="1"/>
              </p:cNvSpPr>
              <p:nvPr/>
            </p:nvSpPr>
            <p:spPr>
              <a:xfrm>
                <a:off x="2430456" y="4486605"/>
                <a:ext cx="594522" cy="430887"/>
              </a:xfrm>
              <a:prstGeom prst="rect">
                <a:avLst/>
              </a:prstGeom>
              <a:blipFill>
                <a:blip r:embed="rId8"/>
                <a:stretch>
                  <a:fillRect l="-20833" t="-117143" r="-45833" b="-185714"/>
                </a:stretch>
              </a:blipFill>
            </p:spPr>
            <p:txBody>
              <a:bodyPr/>
              <a:lstStyle/>
              <a:p>
                <a:r>
                  <a:rPr lang="en-US">
                    <a:noFill/>
                  </a:rPr>
                  <a:t> </a:t>
                </a:r>
              </a:p>
            </p:txBody>
          </p:sp>
        </mc:Fallback>
      </mc:AlternateContent>
      <p:sp>
        <p:nvSpPr>
          <p:cNvPr id="51" name="Arc 50">
            <a:extLst>
              <a:ext uri="{FF2B5EF4-FFF2-40B4-BE49-F238E27FC236}">
                <a16:creationId xmlns:a16="http://schemas.microsoft.com/office/drawing/2014/main" id="{A8E8436A-DEB1-4A4A-875A-8B618B9FD11B}"/>
              </a:ext>
            </a:extLst>
          </p:cNvPr>
          <p:cNvSpPr/>
          <p:nvPr/>
        </p:nvSpPr>
        <p:spPr>
          <a:xfrm rot="20865822" flipH="1">
            <a:off x="1588074" y="3494876"/>
            <a:ext cx="754027" cy="512599"/>
          </a:xfrm>
          <a:prstGeom prst="arc">
            <a:avLst>
              <a:gd name="adj1" fmla="val 83172"/>
              <a:gd name="adj2" fmla="val 1066792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73" name="Group 72">
            <a:extLst>
              <a:ext uri="{FF2B5EF4-FFF2-40B4-BE49-F238E27FC236}">
                <a16:creationId xmlns:a16="http://schemas.microsoft.com/office/drawing/2014/main" id="{031F21A1-1B62-E64F-847C-D0F9C718E7FE}"/>
              </a:ext>
            </a:extLst>
          </p:cNvPr>
          <p:cNvGrpSpPr/>
          <p:nvPr/>
        </p:nvGrpSpPr>
        <p:grpSpPr>
          <a:xfrm>
            <a:off x="7562114" y="3129813"/>
            <a:ext cx="1106393" cy="1080000"/>
            <a:chOff x="6431882" y="1339340"/>
            <a:chExt cx="1106393" cy="1080000"/>
          </a:xfrm>
        </p:grpSpPr>
        <p:sp>
          <p:nvSpPr>
            <p:cNvPr id="77" name="Rectangle 76">
              <a:extLst>
                <a:ext uri="{FF2B5EF4-FFF2-40B4-BE49-F238E27FC236}">
                  <a16:creationId xmlns:a16="http://schemas.microsoft.com/office/drawing/2014/main" id="{65816916-0A1C-3D4F-AD85-C4898213A7C7}"/>
                </a:ext>
              </a:extLst>
            </p:cNvPr>
            <p:cNvSpPr/>
            <p:nvPr/>
          </p:nvSpPr>
          <p:spPr>
            <a:xfrm>
              <a:off x="6445079" y="1339340"/>
              <a:ext cx="1080000" cy="108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latin typeface="+mj-lt"/>
              </a:endParaRPr>
            </a:p>
          </p:txBody>
        </p:sp>
        <p:sp>
          <p:nvSpPr>
            <p:cNvPr id="78" name="Arc 77">
              <a:extLst>
                <a:ext uri="{FF2B5EF4-FFF2-40B4-BE49-F238E27FC236}">
                  <a16:creationId xmlns:a16="http://schemas.microsoft.com/office/drawing/2014/main" id="{6BD7AAAF-0213-4045-AA2F-95879ED3330B}"/>
                </a:ext>
              </a:extLst>
            </p:cNvPr>
            <p:cNvSpPr/>
            <p:nvPr/>
          </p:nvSpPr>
          <p:spPr>
            <a:xfrm>
              <a:off x="6564709" y="1507451"/>
              <a:ext cx="840740" cy="772509"/>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79" name="Straight Arrow Connector 78">
              <a:extLst>
                <a:ext uri="{FF2B5EF4-FFF2-40B4-BE49-F238E27FC236}">
                  <a16:creationId xmlns:a16="http://schemas.microsoft.com/office/drawing/2014/main" id="{9288169D-A0D6-364C-B4BB-68C9FC5C6B93}"/>
                </a:ext>
              </a:extLst>
            </p:cNvPr>
            <p:cNvCxnSpPr>
              <a:cxnSpLocks/>
            </p:cNvCxnSpPr>
            <p:nvPr/>
          </p:nvCxnSpPr>
          <p:spPr>
            <a:xfrm flipV="1">
              <a:off x="6985079" y="1456081"/>
              <a:ext cx="213497" cy="544593"/>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2698CC6C-746B-7946-B55A-21445DC494A1}"/>
                </a:ext>
              </a:extLst>
            </p:cNvPr>
            <p:cNvSpPr txBox="1"/>
            <p:nvPr/>
          </p:nvSpPr>
          <p:spPr>
            <a:xfrm>
              <a:off x="6431882" y="1885698"/>
              <a:ext cx="1106393" cy="369332"/>
            </a:xfrm>
            <a:prstGeom prst="rect">
              <a:avLst/>
            </a:prstGeom>
            <a:noFill/>
          </p:spPr>
          <p:txBody>
            <a:bodyPr wrap="none" rtlCol="0">
              <a:spAutoFit/>
            </a:bodyPr>
            <a:lstStyle/>
            <a:p>
              <a:r>
                <a:rPr lang="en-US" dirty="0"/>
                <a:t>0             1</a:t>
              </a:r>
            </a:p>
          </p:txBody>
        </p:sp>
      </p:grpSp>
      <mc:AlternateContent xmlns:mc="http://schemas.openxmlformats.org/markup-compatibility/2006" xmlns:a14="http://schemas.microsoft.com/office/drawing/2010/main">
        <mc:Choice Requires="a14">
          <p:sp>
            <p:nvSpPr>
              <p:cNvPr id="87" name="Rectangle 86">
                <a:extLst>
                  <a:ext uri="{FF2B5EF4-FFF2-40B4-BE49-F238E27FC236}">
                    <a16:creationId xmlns:a16="http://schemas.microsoft.com/office/drawing/2014/main" id="{FC9C1BC0-E157-CE4F-8DA8-73DA532FA555}"/>
                  </a:ext>
                </a:extLst>
              </p:cNvPr>
              <p:cNvSpPr/>
              <p:nvPr/>
            </p:nvSpPr>
            <p:spPr>
              <a:xfrm>
                <a:off x="1033055" y="2408529"/>
                <a:ext cx="1019125" cy="6697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i="1" smtClean="0">
                          <a:solidFill>
                            <a:srgbClr val="002060"/>
                          </a:solidFill>
                          <a:latin typeface="Cambria Math" panose="02040503050406030204" pitchFamily="18" charset="0"/>
                          <a:ea typeface="Cambria Math" panose="02040503050406030204" pitchFamily="18" charset="0"/>
                        </a:rPr>
                        <m:t>𝜃</m:t>
                      </m:r>
                      <m:r>
                        <a:rPr lang="en-US" sz="2200" b="0" i="1" smtClean="0">
                          <a:solidFill>
                            <a:srgbClr val="002060"/>
                          </a:solidFill>
                          <a:latin typeface="Cambria Math" panose="02040503050406030204" pitchFamily="18" charset="0"/>
                          <a:ea typeface="Cambria Math" panose="02040503050406030204" pitchFamily="18" charset="0"/>
                        </a:rPr>
                        <m:t>′=</m:t>
                      </m:r>
                      <m:f>
                        <m:fPr>
                          <m:ctrlPr>
                            <a:rPr lang="en-US" sz="2200" i="1" smtClean="0">
                              <a:solidFill>
                                <a:srgbClr val="002060"/>
                              </a:solidFill>
                              <a:latin typeface="Cambria Math" panose="02040503050406030204" pitchFamily="18" charset="0"/>
                              <a:ea typeface="Cambria Math" panose="02040503050406030204" pitchFamily="18" charset="0"/>
                            </a:rPr>
                          </m:ctrlPr>
                        </m:fPr>
                        <m:num>
                          <m:r>
                            <a:rPr lang="en-US" sz="2200" i="1" smtClean="0">
                              <a:solidFill>
                                <a:srgbClr val="002060"/>
                              </a:solidFill>
                              <a:latin typeface="Cambria Math" panose="02040503050406030204" pitchFamily="18" charset="0"/>
                              <a:ea typeface="Cambria Math" panose="02040503050406030204" pitchFamily="18" charset="0"/>
                            </a:rPr>
                            <m:t>𝜋</m:t>
                          </m:r>
                        </m:num>
                        <m:den>
                          <m:r>
                            <a:rPr lang="en-US" sz="2200" b="0" i="1" smtClean="0">
                              <a:solidFill>
                                <a:srgbClr val="002060"/>
                              </a:solidFill>
                              <a:latin typeface="Cambria Math" panose="02040503050406030204" pitchFamily="18" charset="0"/>
                              <a:ea typeface="Cambria Math" panose="02040503050406030204" pitchFamily="18" charset="0"/>
                            </a:rPr>
                            <m:t>6</m:t>
                          </m:r>
                        </m:den>
                      </m:f>
                    </m:oMath>
                  </m:oMathPara>
                </a14:m>
                <a:endParaRPr lang="en-US" sz="2200" dirty="0"/>
              </a:p>
            </p:txBody>
          </p:sp>
        </mc:Choice>
        <mc:Fallback xmlns="">
          <p:sp>
            <p:nvSpPr>
              <p:cNvPr id="87" name="Rectangle 86">
                <a:extLst>
                  <a:ext uri="{FF2B5EF4-FFF2-40B4-BE49-F238E27FC236}">
                    <a16:creationId xmlns:a16="http://schemas.microsoft.com/office/drawing/2014/main" id="{FC9C1BC0-E157-CE4F-8DA8-73DA532FA555}"/>
                  </a:ext>
                </a:extLst>
              </p:cNvPr>
              <p:cNvSpPr>
                <a:spLocks noRot="1" noChangeAspect="1" noMove="1" noResize="1" noEditPoints="1" noAdjustHandles="1" noChangeArrowheads="1" noChangeShapeType="1" noTextEdit="1"/>
              </p:cNvSpPr>
              <p:nvPr/>
            </p:nvSpPr>
            <p:spPr>
              <a:xfrm>
                <a:off x="1033055" y="2408529"/>
                <a:ext cx="1019125" cy="669799"/>
              </a:xfrm>
              <a:prstGeom prst="rect">
                <a:avLst/>
              </a:prstGeom>
              <a:blipFill>
                <a:blip r:embed="rId9"/>
                <a:stretch>
                  <a:fillRect b="-5660"/>
                </a:stretch>
              </a:blipFill>
            </p:spPr>
            <p:txBody>
              <a:bodyPr/>
              <a:lstStyle/>
              <a:p>
                <a:r>
                  <a:rPr lang="en-US">
                    <a:noFill/>
                  </a:rPr>
                  <a:t> </a:t>
                </a:r>
              </a:p>
            </p:txBody>
          </p:sp>
        </mc:Fallback>
      </mc:AlternateContent>
      <p:sp>
        <p:nvSpPr>
          <p:cNvPr id="88" name="Arc 87">
            <a:extLst>
              <a:ext uri="{FF2B5EF4-FFF2-40B4-BE49-F238E27FC236}">
                <a16:creationId xmlns:a16="http://schemas.microsoft.com/office/drawing/2014/main" id="{CD006622-A5E9-CC4A-92F2-0D48BF339D6B}"/>
              </a:ext>
            </a:extLst>
          </p:cNvPr>
          <p:cNvSpPr/>
          <p:nvPr/>
        </p:nvSpPr>
        <p:spPr>
          <a:xfrm rot="15379633" flipH="1">
            <a:off x="1755952" y="2841342"/>
            <a:ext cx="550938" cy="538194"/>
          </a:xfrm>
          <a:prstGeom prst="arc">
            <a:avLst>
              <a:gd name="adj1" fmla="val 6237973"/>
              <a:gd name="adj2" fmla="val 1125632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Rectangle 33">
            <a:extLst>
              <a:ext uri="{FF2B5EF4-FFF2-40B4-BE49-F238E27FC236}">
                <a16:creationId xmlns:a16="http://schemas.microsoft.com/office/drawing/2014/main" id="{828E2E10-7510-7F45-A69E-533CAB6A9F33}"/>
              </a:ext>
            </a:extLst>
          </p:cNvPr>
          <p:cNvSpPr>
            <a:spLocks noChangeAspect="1"/>
          </p:cNvSpPr>
          <p:nvPr/>
        </p:nvSpPr>
        <p:spPr>
          <a:xfrm>
            <a:off x="6189485" y="3129813"/>
            <a:ext cx="1106873" cy="1106873"/>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dirty="0">
                <a:latin typeface="Times" pitchFamily="2" charset="0"/>
              </a:rPr>
              <a:t>H</a:t>
            </a:r>
          </a:p>
        </p:txBody>
      </p:sp>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083F40CD-BC96-6847-AFA1-F182416403AE}"/>
                  </a:ext>
                </a:extLst>
              </p:cNvPr>
              <p:cNvSpPr/>
              <p:nvPr/>
            </p:nvSpPr>
            <p:spPr>
              <a:xfrm>
                <a:off x="2547420" y="2071371"/>
                <a:ext cx="1974835" cy="47795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solidFill>
                                <a:schemeClr val="tx1"/>
                              </a:solidFill>
                              <a:latin typeface="Cambria Math" panose="02040503050406030204" pitchFamily="18" charset="0"/>
                              <a:ea typeface="Cambria Math" panose="02040503050406030204" pitchFamily="18" charset="0"/>
                            </a:rPr>
                          </m:ctrlPr>
                        </m:dPr>
                        <m:e>
                          <m:r>
                            <a:rPr lang="en-US" sz="2200" i="1">
                              <a:solidFill>
                                <a:schemeClr val="tx1"/>
                              </a:solidFill>
                              <a:latin typeface="Cambria Math" panose="02040503050406030204" pitchFamily="18" charset="0"/>
                              <a:ea typeface="Cambria Math" panose="02040503050406030204" pitchFamily="18" charset="0"/>
                            </a:rPr>
                            <m:t>|</m:t>
                          </m:r>
                          <m:r>
                            <a:rPr lang="en-US" sz="2200" b="0" i="1" smtClean="0">
                              <a:solidFill>
                                <a:schemeClr val="tx1"/>
                              </a:solidFill>
                              <a:latin typeface="Cambria Math" panose="02040503050406030204" pitchFamily="18" charset="0"/>
                              <a:ea typeface="Cambria Math" panose="02040503050406030204" pitchFamily="18" charset="0"/>
                            </a:rPr>
                            <m:t>𝑆</m:t>
                          </m:r>
                          <m:r>
                            <a:rPr lang="en-US" sz="2200" b="0" i="1" smtClean="0">
                              <a:solidFill>
                                <a:schemeClr val="tx1"/>
                              </a:solidFill>
                              <a:latin typeface="Cambria Math" panose="02040503050406030204" pitchFamily="18" charset="0"/>
                              <a:ea typeface="Cambria Math" panose="02040503050406030204" pitchFamily="18" charset="0"/>
                            </a:rPr>
                            <m:t>′</m:t>
                          </m:r>
                        </m:e>
                      </m:d>
                      <m:r>
                        <a:rPr lang="en-US" sz="2200" b="0" i="1" smtClean="0">
                          <a:solidFill>
                            <a:schemeClr val="tx1"/>
                          </a:solidFill>
                          <a:latin typeface="Cambria Math" panose="02040503050406030204" pitchFamily="18" charset="0"/>
                          <a:ea typeface="Cambria Math" panose="02040503050406030204" pitchFamily="18" charset="0"/>
                        </a:rPr>
                        <m:t>=</m:t>
                      </m:r>
                      <m:r>
                        <a:rPr lang="en-US" sz="2200" b="0" i="1" smtClean="0">
                          <a:solidFill>
                            <a:schemeClr val="tx1"/>
                          </a:solidFill>
                          <a:latin typeface="Cambria Math" panose="02040503050406030204" pitchFamily="18" charset="0"/>
                          <a:ea typeface="Cambria Math" panose="02040503050406030204" pitchFamily="18" charset="0"/>
                        </a:rPr>
                        <m:t>𝐻</m:t>
                      </m:r>
                      <m:d>
                        <m:dPr>
                          <m:begChr m:val=""/>
                          <m:endChr m:val="⟩"/>
                          <m:ctrlPr>
                            <a:rPr lang="en-US" sz="2200" i="1">
                              <a:solidFill>
                                <a:schemeClr val="tx1"/>
                              </a:solidFill>
                              <a:latin typeface="Cambria Math" panose="02040503050406030204" pitchFamily="18" charset="0"/>
                              <a:ea typeface="Cambria Math" panose="02040503050406030204" pitchFamily="18" charset="0"/>
                            </a:rPr>
                          </m:ctrlPr>
                        </m:dPr>
                        <m:e>
                          <m:sSup>
                            <m:sSupPr>
                              <m:ctrlPr>
                                <a:rPr lang="en-US" sz="2400" i="1">
                                  <a:solidFill>
                                    <a:schemeClr val="tx1"/>
                                  </a:solidFill>
                                  <a:latin typeface="Cambria Math" panose="02040503050406030204" pitchFamily="18" charset="0"/>
                                  <a:ea typeface="Cambria Math" panose="02040503050406030204" pitchFamily="18" charset="0"/>
                                </a:rPr>
                              </m:ctrlPr>
                            </m:sSupPr>
                            <m:e>
                              <m:r>
                                <a:rPr lang="en-US" sz="2400" i="1">
                                  <a:solidFill>
                                    <a:schemeClr val="tx1"/>
                                  </a:solidFill>
                                  <a:latin typeface="Cambria Math" panose="02040503050406030204" pitchFamily="18" charset="0"/>
                                  <a:ea typeface="Cambria Math" panose="02040503050406030204" pitchFamily="18" charset="0"/>
                                </a:rPr>
                                <m:t>𝑆</m:t>
                              </m:r>
                            </m:e>
                            <m:sup>
                              <m:r>
                                <a:rPr lang="en-US" sz="2400" i="1">
                                  <a:solidFill>
                                    <a:schemeClr val="tx1"/>
                                  </a:solidFill>
                                  <a:latin typeface="Cambria Math" panose="02040503050406030204" pitchFamily="18" charset="0"/>
                                  <a:ea typeface="Cambria Math" panose="02040503050406030204" pitchFamily="18" charset="0"/>
                                </a:rPr>
                                <m:t>†</m:t>
                              </m:r>
                            </m:sup>
                          </m:sSup>
                          <m:r>
                            <a:rPr lang="en-US" sz="2200" i="1">
                              <a:solidFill>
                                <a:schemeClr val="tx1"/>
                              </a:solidFill>
                              <a:latin typeface="Cambria Math" panose="02040503050406030204" pitchFamily="18" charset="0"/>
                              <a:ea typeface="Cambria Math" panose="02040503050406030204" pitchFamily="18" charset="0"/>
                            </a:rPr>
                            <m:t>|</m:t>
                          </m:r>
                          <m:r>
                            <a:rPr lang="en-US" sz="2200" i="1">
                              <a:solidFill>
                                <a:schemeClr val="tx1"/>
                              </a:solidFill>
                              <a:latin typeface="Cambria Math" panose="02040503050406030204" pitchFamily="18" charset="0"/>
                              <a:ea typeface="Cambria Math" panose="02040503050406030204" pitchFamily="18" charset="0"/>
                            </a:rPr>
                            <m:t>𝑆</m:t>
                          </m:r>
                          <m:r>
                            <a:rPr lang="en-US" sz="2200" i="1">
                              <a:solidFill>
                                <a:schemeClr val="tx1"/>
                              </a:solidFill>
                              <a:latin typeface="Cambria Math" panose="02040503050406030204" pitchFamily="18" charset="0"/>
                              <a:ea typeface="Cambria Math" panose="02040503050406030204" pitchFamily="18" charset="0"/>
                            </a:rPr>
                            <m:t>′</m:t>
                          </m:r>
                        </m:e>
                      </m:d>
                    </m:oMath>
                  </m:oMathPara>
                </a14:m>
                <a:endParaRPr lang="en-US" sz="2200" dirty="0">
                  <a:solidFill>
                    <a:schemeClr val="tx1"/>
                  </a:solidFill>
                </a:endParaRPr>
              </a:p>
            </p:txBody>
          </p:sp>
        </mc:Choice>
        <mc:Fallback xmlns="">
          <p:sp>
            <p:nvSpPr>
              <p:cNvPr id="36" name="Rectangle 35">
                <a:extLst>
                  <a:ext uri="{FF2B5EF4-FFF2-40B4-BE49-F238E27FC236}">
                    <a16:creationId xmlns:a16="http://schemas.microsoft.com/office/drawing/2014/main" id="{083F40CD-BC96-6847-AFA1-F182416403AE}"/>
                  </a:ext>
                </a:extLst>
              </p:cNvPr>
              <p:cNvSpPr>
                <a:spLocks noRot="1" noChangeAspect="1" noMove="1" noResize="1" noEditPoints="1" noAdjustHandles="1" noChangeArrowheads="1" noChangeShapeType="1" noTextEdit="1"/>
              </p:cNvSpPr>
              <p:nvPr/>
            </p:nvSpPr>
            <p:spPr>
              <a:xfrm>
                <a:off x="2547420" y="2071371"/>
                <a:ext cx="1974835" cy="477951"/>
              </a:xfrm>
              <a:prstGeom prst="rect">
                <a:avLst/>
              </a:prstGeom>
              <a:blipFill>
                <a:blip r:embed="rId10"/>
                <a:stretch>
                  <a:fillRect l="-3846" t="-146154" r="-21795" b="-22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A71E4130-1FF2-4A4D-94E1-2D5AD0277A58}"/>
                  </a:ext>
                </a:extLst>
              </p:cNvPr>
              <p:cNvSpPr/>
              <p:nvPr/>
            </p:nvSpPr>
            <p:spPr>
              <a:xfrm>
                <a:off x="1285184" y="4848806"/>
                <a:ext cx="595419"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m:t>
                          </m:r>
                          <m:r>
                            <a:rPr lang="en-US" sz="2200" b="0" i="1" smtClean="0">
                              <a:solidFill>
                                <a:srgbClr val="002060"/>
                              </a:solidFill>
                              <a:latin typeface="Cambria Math" panose="02040503050406030204" pitchFamily="18" charset="0"/>
                              <a:ea typeface="Cambria Math" panose="02040503050406030204" pitchFamily="18" charset="0"/>
                            </a:rPr>
                            <m:t>1</m:t>
                          </m:r>
                        </m:e>
                      </m:d>
                    </m:oMath>
                  </m:oMathPara>
                </a14:m>
                <a:endParaRPr lang="en-US" sz="2200" dirty="0"/>
              </a:p>
            </p:txBody>
          </p:sp>
        </mc:Choice>
        <mc:Fallback xmlns="">
          <p:sp>
            <p:nvSpPr>
              <p:cNvPr id="44" name="Rectangle 43">
                <a:extLst>
                  <a:ext uri="{FF2B5EF4-FFF2-40B4-BE49-F238E27FC236}">
                    <a16:creationId xmlns:a16="http://schemas.microsoft.com/office/drawing/2014/main" id="{A71E4130-1FF2-4A4D-94E1-2D5AD0277A58}"/>
                  </a:ext>
                </a:extLst>
              </p:cNvPr>
              <p:cNvSpPr>
                <a:spLocks noRot="1" noChangeAspect="1" noMove="1" noResize="1" noEditPoints="1" noAdjustHandles="1" noChangeArrowheads="1" noChangeShapeType="1" noTextEdit="1"/>
              </p:cNvSpPr>
              <p:nvPr/>
            </p:nvSpPr>
            <p:spPr>
              <a:xfrm>
                <a:off x="1285184" y="4848806"/>
                <a:ext cx="595419" cy="430887"/>
              </a:xfrm>
              <a:prstGeom prst="rect">
                <a:avLst/>
              </a:prstGeom>
              <a:blipFill>
                <a:blip r:embed="rId11"/>
                <a:stretch>
                  <a:fillRect l="-22917" t="-117143" r="-45833" b="-18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23E1A410-8E35-C24C-989C-0683121153A2}"/>
                  </a:ext>
                </a:extLst>
              </p:cNvPr>
              <p:cNvSpPr>
                <a:spLocks noChangeAspect="1"/>
              </p:cNvSpPr>
              <p:nvPr/>
            </p:nvSpPr>
            <p:spPr>
              <a:xfrm>
                <a:off x="4816855" y="3129813"/>
                <a:ext cx="1106873" cy="1106873"/>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5400" i="1" smtClean="0">
                              <a:solidFill>
                                <a:schemeClr val="bg1"/>
                              </a:solidFill>
                              <a:latin typeface="Cambria Math" panose="02040503050406030204" pitchFamily="18" charset="0"/>
                              <a:ea typeface="Cambria Math" panose="02040503050406030204" pitchFamily="18" charset="0"/>
                            </a:rPr>
                          </m:ctrlPr>
                        </m:sSupPr>
                        <m:e>
                          <m:r>
                            <a:rPr lang="en-US" sz="5400" i="1">
                              <a:solidFill>
                                <a:schemeClr val="bg1"/>
                              </a:solidFill>
                              <a:latin typeface="Cambria Math" panose="02040503050406030204" pitchFamily="18" charset="0"/>
                              <a:ea typeface="Cambria Math" panose="02040503050406030204" pitchFamily="18" charset="0"/>
                            </a:rPr>
                            <m:t>𝑆</m:t>
                          </m:r>
                        </m:e>
                        <m:sup>
                          <m:r>
                            <a:rPr lang="en-US" sz="5400" i="1">
                              <a:solidFill>
                                <a:schemeClr val="bg1"/>
                              </a:solidFill>
                              <a:latin typeface="Cambria Math" panose="02040503050406030204" pitchFamily="18" charset="0"/>
                              <a:ea typeface="Cambria Math" panose="02040503050406030204" pitchFamily="18" charset="0"/>
                            </a:rPr>
                            <m:t>†</m:t>
                          </m:r>
                        </m:sup>
                      </m:sSup>
                    </m:oMath>
                  </m:oMathPara>
                </a14:m>
                <a:endParaRPr lang="en-US" sz="5400" dirty="0">
                  <a:latin typeface="Times" pitchFamily="2" charset="0"/>
                </a:endParaRPr>
              </a:p>
            </p:txBody>
          </p:sp>
        </mc:Choice>
        <mc:Fallback xmlns="">
          <p:sp>
            <p:nvSpPr>
              <p:cNvPr id="39" name="Rectangle 38">
                <a:extLst>
                  <a:ext uri="{FF2B5EF4-FFF2-40B4-BE49-F238E27FC236}">
                    <a16:creationId xmlns:a16="http://schemas.microsoft.com/office/drawing/2014/main" id="{23E1A410-8E35-C24C-989C-0683121153A2}"/>
                  </a:ext>
                </a:extLst>
              </p:cNvPr>
              <p:cNvSpPr>
                <a:spLocks noRot="1" noChangeAspect="1" noMove="1" noResize="1" noEditPoints="1" noAdjustHandles="1" noChangeArrowheads="1" noChangeShapeType="1" noTextEdit="1"/>
              </p:cNvSpPr>
              <p:nvPr/>
            </p:nvSpPr>
            <p:spPr>
              <a:xfrm>
                <a:off x="4816855" y="3129813"/>
                <a:ext cx="1106873" cy="1106873"/>
              </a:xfrm>
              <a:prstGeom prst="rect">
                <a:avLst/>
              </a:prstGeom>
              <a:blipFill>
                <a:blip r:embed="rId12"/>
                <a:stretch>
                  <a:fillRect l="-10112"/>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2FD9E723-D53D-4047-B716-A78C3BD04BDB}"/>
              </a:ext>
            </a:extLst>
          </p:cNvPr>
          <p:cNvCxnSpPr>
            <a:cxnSpLocks/>
          </p:cNvCxnSpPr>
          <p:nvPr/>
        </p:nvCxnSpPr>
        <p:spPr>
          <a:xfrm flipV="1">
            <a:off x="1949423" y="2508990"/>
            <a:ext cx="571599" cy="1060416"/>
          </a:xfrm>
          <a:prstGeom prst="straightConnector1">
            <a:avLst/>
          </a:prstGeom>
          <a:ln w="38100" cap="rnd">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0" name="Slide Number Placeholder 2">
            <a:extLst>
              <a:ext uri="{FF2B5EF4-FFF2-40B4-BE49-F238E27FC236}">
                <a16:creationId xmlns:a16="http://schemas.microsoft.com/office/drawing/2014/main" id="{A3FE1279-50E3-064D-8348-F0EFA915D6AB}"/>
              </a:ext>
            </a:extLst>
          </p:cNvPr>
          <p:cNvSpPr>
            <a:spLocks noGrp="1"/>
          </p:cNvSpPr>
          <p:nvPr>
            <p:ph type="sldNum" sz="quarter" idx="12"/>
          </p:nvPr>
        </p:nvSpPr>
        <p:spPr>
          <a:xfrm>
            <a:off x="0" y="6492875"/>
            <a:ext cx="587829" cy="365125"/>
          </a:xfrm>
        </p:spPr>
        <p:txBody>
          <a:bodyPr/>
          <a:lstStyle/>
          <a:p>
            <a:fld id="{591A223C-FA10-BC46-A853-03BA373D023C}" type="slidenum">
              <a:rPr lang="en-US" smtClean="0"/>
              <a:t>45</a:t>
            </a:fld>
            <a:endParaRPr lang="en-US" dirty="0"/>
          </a:p>
        </p:txBody>
      </p:sp>
    </p:spTree>
    <p:extLst>
      <p:ext uri="{BB962C8B-B14F-4D97-AF65-F5344CB8AC3E}">
        <p14:creationId xmlns:p14="http://schemas.microsoft.com/office/powerpoint/2010/main" val="23799487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805E05-8E28-DB49-A283-B256B1FA7839}"/>
              </a:ext>
            </a:extLst>
          </p:cNvPr>
          <p:cNvSpPr>
            <a:spLocks noGrp="1"/>
          </p:cNvSpPr>
          <p:nvPr>
            <p:ph type="title"/>
          </p:nvPr>
        </p:nvSpPr>
        <p:spPr/>
        <p:txBody>
          <a:bodyPr/>
          <a:lstStyle/>
          <a:p>
            <a:r>
              <a:rPr lang="en-ZA" dirty="0"/>
              <a:t>Implicit Measurement</a:t>
            </a:r>
            <a:endParaRPr lang="en-US" dirty="0"/>
          </a:p>
        </p:txBody>
      </p:sp>
      <p:sp>
        <p:nvSpPr>
          <p:cNvPr id="3" name="Slide Number Placeholder 2">
            <a:extLst>
              <a:ext uri="{FF2B5EF4-FFF2-40B4-BE49-F238E27FC236}">
                <a16:creationId xmlns:a16="http://schemas.microsoft.com/office/drawing/2014/main" id="{1F11160A-C4A3-464D-B071-2144E3840455}"/>
              </a:ext>
            </a:extLst>
          </p:cNvPr>
          <p:cNvSpPr>
            <a:spLocks noGrp="1"/>
          </p:cNvSpPr>
          <p:nvPr>
            <p:ph type="sldNum" sz="quarter" idx="12"/>
          </p:nvPr>
        </p:nvSpPr>
        <p:spPr/>
        <p:txBody>
          <a:bodyPr/>
          <a:lstStyle/>
          <a:p>
            <a:fld id="{591A223C-FA10-BC46-A853-03BA373D023C}" type="slidenum">
              <a:rPr lang="en-US" smtClean="0"/>
              <a:t>46</a:t>
            </a:fld>
            <a:endParaRPr lang="en-US"/>
          </a:p>
        </p:txBody>
      </p:sp>
      <p:cxnSp>
        <p:nvCxnSpPr>
          <p:cNvPr id="7" name="Straight Connector 6">
            <a:extLst>
              <a:ext uri="{FF2B5EF4-FFF2-40B4-BE49-F238E27FC236}">
                <a16:creationId xmlns:a16="http://schemas.microsoft.com/office/drawing/2014/main" id="{23808EE6-8442-E24E-BA30-47D9BF9CF4DB}"/>
              </a:ext>
            </a:extLst>
          </p:cNvPr>
          <p:cNvCxnSpPr>
            <a:cxnSpLocks/>
          </p:cNvCxnSpPr>
          <p:nvPr/>
        </p:nvCxnSpPr>
        <p:spPr>
          <a:xfrm flipV="1">
            <a:off x="889801" y="3443271"/>
            <a:ext cx="504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EBAA80C-EF01-C542-BB89-A1099BE2E46F}"/>
              </a:ext>
            </a:extLst>
          </p:cNvPr>
          <p:cNvCxnSpPr>
            <a:cxnSpLocks/>
          </p:cNvCxnSpPr>
          <p:nvPr/>
        </p:nvCxnSpPr>
        <p:spPr>
          <a:xfrm>
            <a:off x="889800" y="2177290"/>
            <a:ext cx="504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93AC8F0-9B0A-074B-8623-D0918971AAA0}"/>
              </a:ext>
            </a:extLst>
          </p:cNvPr>
          <p:cNvSpPr>
            <a:spLocks noChangeAspect="1"/>
          </p:cNvSpPr>
          <p:nvPr/>
        </p:nvSpPr>
        <p:spPr>
          <a:xfrm>
            <a:off x="1254547" y="1790501"/>
            <a:ext cx="72718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pitchFamily="2" charset="0"/>
              </a:rPr>
              <a:t>H</a:t>
            </a:r>
          </a:p>
        </p:txBody>
      </p:sp>
      <p:cxnSp>
        <p:nvCxnSpPr>
          <p:cNvPr id="10" name="Straight Connector 9">
            <a:extLst>
              <a:ext uri="{FF2B5EF4-FFF2-40B4-BE49-F238E27FC236}">
                <a16:creationId xmlns:a16="http://schemas.microsoft.com/office/drawing/2014/main" id="{B57F324A-8045-0B4A-936E-B03F7016B031}"/>
              </a:ext>
            </a:extLst>
          </p:cNvPr>
          <p:cNvCxnSpPr>
            <a:cxnSpLocks/>
          </p:cNvCxnSpPr>
          <p:nvPr/>
        </p:nvCxnSpPr>
        <p:spPr>
          <a:xfrm flipV="1">
            <a:off x="3994582" y="2275699"/>
            <a:ext cx="0" cy="77524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36C8C45F-6091-8742-9301-C529D1DA8DC8}"/>
              </a:ext>
            </a:extLst>
          </p:cNvPr>
          <p:cNvSpPr/>
          <p:nvPr/>
        </p:nvSpPr>
        <p:spPr>
          <a:xfrm>
            <a:off x="3855169" y="2020012"/>
            <a:ext cx="251999" cy="251999"/>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4B0C0522-EB18-7444-B6A6-5B623A03A326}"/>
              </a:ext>
            </a:extLst>
          </p:cNvPr>
          <p:cNvGrpSpPr>
            <a:grpSpLocks noChangeAspect="1"/>
          </p:cNvGrpSpPr>
          <p:nvPr/>
        </p:nvGrpSpPr>
        <p:grpSpPr>
          <a:xfrm>
            <a:off x="4705344" y="1734809"/>
            <a:ext cx="779900" cy="779900"/>
            <a:chOff x="8665028" y="817674"/>
            <a:chExt cx="720000" cy="720000"/>
          </a:xfrm>
        </p:grpSpPr>
        <p:sp>
          <p:nvSpPr>
            <p:cNvPr id="23" name="Rectangle 22">
              <a:extLst>
                <a:ext uri="{FF2B5EF4-FFF2-40B4-BE49-F238E27FC236}">
                  <a16:creationId xmlns:a16="http://schemas.microsoft.com/office/drawing/2014/main" id="{2D6E2560-CDCB-4545-A2F1-92E8B7167ED5}"/>
                </a:ext>
              </a:extLst>
            </p:cNvPr>
            <p:cNvSpPr/>
            <p:nvPr/>
          </p:nvSpPr>
          <p:spPr>
            <a:xfrm>
              <a:off x="8665028" y="817674"/>
              <a:ext cx="720000" cy="720000"/>
            </a:xfrm>
            <a:prstGeom prst="rect">
              <a:avLst/>
            </a:prstGeom>
            <a:solidFill>
              <a:schemeClr val="bg1">
                <a:lumMod val="95000"/>
              </a:schemeClr>
            </a:solidFill>
            <a:ln w="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00" dirty="0">
                <a:latin typeface="Times" pitchFamily="2" charset="0"/>
              </a:endParaRPr>
            </a:p>
          </p:txBody>
        </p:sp>
        <p:cxnSp>
          <p:nvCxnSpPr>
            <p:cNvPr id="24" name="Straight Connector 23">
              <a:extLst>
                <a:ext uri="{FF2B5EF4-FFF2-40B4-BE49-F238E27FC236}">
                  <a16:creationId xmlns:a16="http://schemas.microsoft.com/office/drawing/2014/main" id="{98555CAF-A318-7148-B114-B3584EE3389E}"/>
                </a:ext>
              </a:extLst>
            </p:cNvPr>
            <p:cNvCxnSpPr>
              <a:cxnSpLocks/>
            </p:cNvCxnSpPr>
            <p:nvPr/>
          </p:nvCxnSpPr>
          <p:spPr>
            <a:xfrm flipV="1">
              <a:off x="9023348" y="979487"/>
              <a:ext cx="190224" cy="370131"/>
            </a:xfrm>
            <a:prstGeom prst="line">
              <a:avLst/>
            </a:prstGeom>
            <a:ln w="12700">
              <a:solidFill>
                <a:schemeClr val="tx1"/>
              </a:solidFill>
              <a:headEnd type="oval"/>
            </a:ln>
          </p:spPr>
          <p:style>
            <a:lnRef idx="1">
              <a:schemeClr val="accent1"/>
            </a:lnRef>
            <a:fillRef idx="0">
              <a:schemeClr val="accent1"/>
            </a:fillRef>
            <a:effectRef idx="0">
              <a:schemeClr val="accent1"/>
            </a:effectRef>
            <a:fontRef idx="minor">
              <a:schemeClr val="tx1"/>
            </a:fontRef>
          </p:style>
        </p:cxnSp>
        <p:sp>
          <p:nvSpPr>
            <p:cNvPr id="25" name="Arc 24">
              <a:extLst>
                <a:ext uri="{FF2B5EF4-FFF2-40B4-BE49-F238E27FC236}">
                  <a16:creationId xmlns:a16="http://schemas.microsoft.com/office/drawing/2014/main" id="{589A7BB4-D909-F844-8FD7-022262A91714}"/>
                </a:ext>
              </a:extLst>
            </p:cNvPr>
            <p:cNvSpPr/>
            <p:nvPr/>
          </p:nvSpPr>
          <p:spPr>
            <a:xfrm>
              <a:off x="8745179" y="981197"/>
              <a:ext cx="559698" cy="508401"/>
            </a:xfrm>
            <a:prstGeom prst="arc">
              <a:avLst>
                <a:gd name="adj1" fmla="val 10673269"/>
                <a:gd name="adj2" fmla="val 3562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8848203F-ABEE-9D42-9E6E-0C30E65FFE7F}"/>
              </a:ext>
            </a:extLst>
          </p:cNvPr>
          <p:cNvSpPr>
            <a:spLocks noChangeAspect="1"/>
          </p:cNvSpPr>
          <p:nvPr/>
        </p:nvSpPr>
        <p:spPr>
          <a:xfrm>
            <a:off x="2339360" y="1786011"/>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Times" pitchFamily="2" charset="0"/>
              </a:rPr>
              <a:t>Y</a:t>
            </a:r>
          </a:p>
        </p:txBody>
      </p:sp>
      <p:sp>
        <p:nvSpPr>
          <p:cNvPr id="27" name="Oval 26">
            <a:extLst>
              <a:ext uri="{FF2B5EF4-FFF2-40B4-BE49-F238E27FC236}">
                <a16:creationId xmlns:a16="http://schemas.microsoft.com/office/drawing/2014/main" id="{5FB6AA45-5AAB-5A49-AFBC-FBCFC27885D2}"/>
              </a:ext>
            </a:extLst>
          </p:cNvPr>
          <p:cNvSpPr>
            <a:spLocks noChangeAspect="1"/>
          </p:cNvSpPr>
          <p:nvPr/>
        </p:nvSpPr>
        <p:spPr>
          <a:xfrm>
            <a:off x="1238648" y="3045723"/>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28" name="Rectangle 27">
            <a:extLst>
              <a:ext uri="{FF2B5EF4-FFF2-40B4-BE49-F238E27FC236}">
                <a16:creationId xmlns:a16="http://schemas.microsoft.com/office/drawing/2014/main" id="{03118CC3-4B4C-8A48-BBC7-E45BE3BD249D}"/>
              </a:ext>
            </a:extLst>
          </p:cNvPr>
          <p:cNvSpPr>
            <a:spLocks noChangeAspect="1"/>
          </p:cNvSpPr>
          <p:nvPr/>
        </p:nvSpPr>
        <p:spPr>
          <a:xfrm>
            <a:off x="3661799" y="3045723"/>
            <a:ext cx="720000" cy="72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Times" pitchFamily="2" charset="0"/>
              </a:rPr>
              <a:t>Z</a:t>
            </a:r>
          </a:p>
        </p:txBody>
      </p:sp>
      <p:sp>
        <p:nvSpPr>
          <p:cNvPr id="30" name="TextBox 29">
            <a:extLst>
              <a:ext uri="{FF2B5EF4-FFF2-40B4-BE49-F238E27FC236}">
                <a16:creationId xmlns:a16="http://schemas.microsoft.com/office/drawing/2014/main" id="{E09E8929-C0D3-3D4E-A6EF-8E10F1620668}"/>
              </a:ext>
            </a:extLst>
          </p:cNvPr>
          <p:cNvSpPr txBox="1"/>
          <p:nvPr/>
        </p:nvSpPr>
        <p:spPr>
          <a:xfrm>
            <a:off x="5610487" y="4380532"/>
            <a:ext cx="5209913" cy="1200329"/>
          </a:xfrm>
          <a:prstGeom prst="rect">
            <a:avLst/>
          </a:prstGeom>
          <a:noFill/>
        </p:spPr>
        <p:txBody>
          <a:bodyPr wrap="square" rtlCol="0">
            <a:spAutoFit/>
          </a:bodyPr>
          <a:lstStyle/>
          <a:p>
            <a:pPr algn="ctr"/>
            <a:r>
              <a:rPr lang="en-ZA" sz="2400" dirty="0"/>
              <a:t>A qubit that is not explicitly measured is automatically measured at the end of a quantum circuit.</a:t>
            </a:r>
            <a:endParaRPr lang="en-US" sz="2400" dirty="0"/>
          </a:p>
        </p:txBody>
      </p:sp>
      <p:sp>
        <p:nvSpPr>
          <p:cNvPr id="22" name="Freeform 21">
            <a:extLst>
              <a:ext uri="{FF2B5EF4-FFF2-40B4-BE49-F238E27FC236}">
                <a16:creationId xmlns:a16="http://schemas.microsoft.com/office/drawing/2014/main" id="{E398DDE0-A64E-B84A-9B1D-84E1A6E0FE0B}"/>
              </a:ext>
            </a:extLst>
          </p:cNvPr>
          <p:cNvSpPr/>
          <p:nvPr/>
        </p:nvSpPr>
        <p:spPr>
          <a:xfrm rot="16636161" flipV="1">
            <a:off x="4693097" y="3838289"/>
            <a:ext cx="1230035" cy="1468344"/>
          </a:xfrm>
          <a:custGeom>
            <a:avLst/>
            <a:gdLst>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12767"/>
              <a:gd name="connsiteY0" fmla="*/ 0 h 5775648"/>
              <a:gd name="connsiteX1" fmla="*/ 5057192 w 6512767"/>
              <a:gd name="connsiteY1" fmla="*/ 3610946 h 5775648"/>
              <a:gd name="connsiteX2" fmla="*/ 5057192 w 6512767"/>
              <a:gd name="connsiteY2" fmla="*/ 2883159 h 5775648"/>
              <a:gd name="connsiteX3" fmla="*/ 6512767 w 6512767"/>
              <a:gd name="connsiteY3" fmla="*/ 4198775 h 5775648"/>
              <a:gd name="connsiteX4" fmla="*/ 5057192 w 6512767"/>
              <a:gd name="connsiteY4" fmla="*/ 5775648 h 5775648"/>
              <a:gd name="connsiteX5" fmla="*/ 5066522 w 6512767"/>
              <a:gd name="connsiteY5" fmla="*/ 5038530 h 5775648"/>
              <a:gd name="connsiteX6" fmla="*/ 0 w 6512767"/>
              <a:gd name="connsiteY6" fmla="*/ 0 h 5775648"/>
              <a:gd name="connsiteX0" fmla="*/ 0 w 6904653"/>
              <a:gd name="connsiteY0" fmla="*/ 0 h 5775648"/>
              <a:gd name="connsiteX1" fmla="*/ 5057192 w 6904653"/>
              <a:gd name="connsiteY1" fmla="*/ 3610946 h 5775648"/>
              <a:gd name="connsiteX2" fmla="*/ 5057192 w 6904653"/>
              <a:gd name="connsiteY2" fmla="*/ 2883159 h 5775648"/>
              <a:gd name="connsiteX3" fmla="*/ 6904653 w 6904653"/>
              <a:gd name="connsiteY3" fmla="*/ 4320073 h 5775648"/>
              <a:gd name="connsiteX4" fmla="*/ 5057192 w 6904653"/>
              <a:gd name="connsiteY4" fmla="*/ 5775648 h 5775648"/>
              <a:gd name="connsiteX5" fmla="*/ 5066522 w 6904653"/>
              <a:gd name="connsiteY5" fmla="*/ 5038530 h 5775648"/>
              <a:gd name="connsiteX6" fmla="*/ 0 w 6904653"/>
              <a:gd name="connsiteY6" fmla="*/ 0 h 5775648"/>
              <a:gd name="connsiteX0" fmla="*/ 0 w 6885992"/>
              <a:gd name="connsiteY0" fmla="*/ 0 h 5775648"/>
              <a:gd name="connsiteX1" fmla="*/ 5057192 w 6885992"/>
              <a:gd name="connsiteY1" fmla="*/ 3610946 h 5775648"/>
              <a:gd name="connsiteX2" fmla="*/ 5057192 w 6885992"/>
              <a:gd name="connsiteY2" fmla="*/ 2883159 h 5775648"/>
              <a:gd name="connsiteX3" fmla="*/ 6885992 w 6885992"/>
              <a:gd name="connsiteY3" fmla="*/ 4245428 h 5775648"/>
              <a:gd name="connsiteX4" fmla="*/ 5057192 w 6885992"/>
              <a:gd name="connsiteY4" fmla="*/ 5775648 h 5775648"/>
              <a:gd name="connsiteX5" fmla="*/ 5066522 w 6885992"/>
              <a:gd name="connsiteY5" fmla="*/ 5038530 h 5775648"/>
              <a:gd name="connsiteX6" fmla="*/ 0 w 6885992"/>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7331" h="5775648">
                <a:moveTo>
                  <a:pt x="0" y="0"/>
                </a:moveTo>
                <a:cubicBezTo>
                  <a:pt x="1461796" y="2192694"/>
                  <a:pt x="2503715" y="3592285"/>
                  <a:pt x="5057192" y="3610946"/>
                </a:cubicBezTo>
                <a:lnTo>
                  <a:pt x="5057192" y="2883159"/>
                </a:lnTo>
                <a:lnTo>
                  <a:pt x="6867331" y="4329404"/>
                </a:lnTo>
                <a:lnTo>
                  <a:pt x="5057192" y="5775648"/>
                </a:lnTo>
                <a:lnTo>
                  <a:pt x="5066522" y="5038530"/>
                </a:lnTo>
                <a:cubicBezTo>
                  <a:pt x="1903443" y="5057192"/>
                  <a:pt x="1091682" y="2677885"/>
                  <a:pt x="0" y="0"/>
                </a:cubicBezTo>
                <a:close/>
              </a:path>
            </a:pathLst>
          </a:custGeom>
          <a:solidFill>
            <a:srgbClr val="FF5A00">
              <a:alpha val="50000"/>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	</a:t>
            </a:r>
          </a:p>
        </p:txBody>
      </p:sp>
    </p:spTree>
    <p:extLst>
      <p:ext uri="{BB962C8B-B14F-4D97-AF65-F5344CB8AC3E}">
        <p14:creationId xmlns:p14="http://schemas.microsoft.com/office/powerpoint/2010/main" val="41084405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805E05-8E28-DB49-A283-B256B1FA7839}"/>
              </a:ext>
            </a:extLst>
          </p:cNvPr>
          <p:cNvSpPr>
            <a:spLocks noGrp="1"/>
          </p:cNvSpPr>
          <p:nvPr>
            <p:ph type="title"/>
          </p:nvPr>
        </p:nvSpPr>
        <p:spPr/>
        <p:txBody>
          <a:bodyPr/>
          <a:lstStyle/>
          <a:p>
            <a:r>
              <a:rPr lang="en-ZA" b="1" dirty="0"/>
              <a:t>Deferred measurement</a:t>
            </a:r>
            <a:endParaRPr lang="en-US" dirty="0"/>
          </a:p>
        </p:txBody>
      </p:sp>
      <p:sp>
        <p:nvSpPr>
          <p:cNvPr id="3" name="Slide Number Placeholder 2">
            <a:extLst>
              <a:ext uri="{FF2B5EF4-FFF2-40B4-BE49-F238E27FC236}">
                <a16:creationId xmlns:a16="http://schemas.microsoft.com/office/drawing/2014/main" id="{1F11160A-C4A3-464D-B071-2144E3840455}"/>
              </a:ext>
            </a:extLst>
          </p:cNvPr>
          <p:cNvSpPr>
            <a:spLocks noGrp="1"/>
          </p:cNvSpPr>
          <p:nvPr>
            <p:ph type="sldNum" sz="quarter" idx="12"/>
          </p:nvPr>
        </p:nvSpPr>
        <p:spPr/>
        <p:txBody>
          <a:bodyPr/>
          <a:lstStyle/>
          <a:p>
            <a:fld id="{591A223C-FA10-BC46-A853-03BA373D023C}" type="slidenum">
              <a:rPr lang="en-US" smtClean="0"/>
              <a:t>47</a:t>
            </a:fld>
            <a:endParaRPr lang="en-US"/>
          </a:p>
        </p:txBody>
      </p:sp>
      <p:sp>
        <p:nvSpPr>
          <p:cNvPr id="2" name="TextBox 1">
            <a:extLst>
              <a:ext uri="{FF2B5EF4-FFF2-40B4-BE49-F238E27FC236}">
                <a16:creationId xmlns:a16="http://schemas.microsoft.com/office/drawing/2014/main" id="{212082D0-46C5-8F4E-89DB-3A516BBCCBC4}"/>
              </a:ext>
            </a:extLst>
          </p:cNvPr>
          <p:cNvSpPr txBox="1"/>
          <p:nvPr/>
        </p:nvSpPr>
        <p:spPr>
          <a:xfrm>
            <a:off x="7142206" y="1910288"/>
            <a:ext cx="4769708" cy="1569660"/>
          </a:xfrm>
          <a:prstGeom prst="rect">
            <a:avLst/>
          </a:prstGeom>
          <a:noFill/>
        </p:spPr>
        <p:txBody>
          <a:bodyPr wrap="square" rtlCol="0">
            <a:spAutoFit/>
          </a:bodyPr>
          <a:lstStyle/>
          <a:p>
            <a:pPr algn="ctr"/>
            <a:r>
              <a:rPr lang="en-ZA" sz="2400" dirty="0">
                <a:latin typeface="+mj-lt"/>
              </a:rPr>
              <a:t>Measurements can often be deferred until the end of a quantum circuit without changing the final measurement results.</a:t>
            </a:r>
            <a:endParaRPr lang="en-US" sz="2400" dirty="0">
              <a:latin typeface="+mj-lt"/>
            </a:endParaRPr>
          </a:p>
        </p:txBody>
      </p:sp>
      <p:pic>
        <p:nvPicPr>
          <p:cNvPr id="5" name="Picture 4">
            <a:extLst>
              <a:ext uri="{FF2B5EF4-FFF2-40B4-BE49-F238E27FC236}">
                <a16:creationId xmlns:a16="http://schemas.microsoft.com/office/drawing/2014/main" id="{891B519C-D177-D640-8E91-63AC81B27B4C}"/>
              </a:ext>
            </a:extLst>
          </p:cNvPr>
          <p:cNvPicPr>
            <a:picLocks noChangeAspect="1"/>
          </p:cNvPicPr>
          <p:nvPr/>
        </p:nvPicPr>
        <p:blipFill>
          <a:blip r:embed="rId3"/>
          <a:stretch>
            <a:fillRect/>
          </a:stretch>
        </p:blipFill>
        <p:spPr>
          <a:xfrm>
            <a:off x="412581" y="1419458"/>
            <a:ext cx="5939264" cy="2178181"/>
          </a:xfrm>
          <a:prstGeom prst="rect">
            <a:avLst/>
          </a:prstGeom>
        </p:spPr>
      </p:pic>
      <p:pic>
        <p:nvPicPr>
          <p:cNvPr id="12" name="Picture 11">
            <a:extLst>
              <a:ext uri="{FF2B5EF4-FFF2-40B4-BE49-F238E27FC236}">
                <a16:creationId xmlns:a16="http://schemas.microsoft.com/office/drawing/2014/main" id="{3DD3DB1E-63D8-7740-BA5F-68EE1D48E1CD}"/>
              </a:ext>
            </a:extLst>
          </p:cNvPr>
          <p:cNvPicPr>
            <a:picLocks noChangeAspect="1"/>
          </p:cNvPicPr>
          <p:nvPr/>
        </p:nvPicPr>
        <p:blipFill>
          <a:blip r:embed="rId4"/>
          <a:stretch>
            <a:fillRect/>
          </a:stretch>
        </p:blipFill>
        <p:spPr>
          <a:xfrm>
            <a:off x="412581" y="4439769"/>
            <a:ext cx="5526683" cy="2235668"/>
          </a:xfrm>
          <a:prstGeom prst="rect">
            <a:avLst/>
          </a:prstGeom>
        </p:spPr>
      </p:pic>
      <p:sp>
        <p:nvSpPr>
          <p:cNvPr id="13" name="Down Arrow 12">
            <a:extLst>
              <a:ext uri="{FF2B5EF4-FFF2-40B4-BE49-F238E27FC236}">
                <a16:creationId xmlns:a16="http://schemas.microsoft.com/office/drawing/2014/main" id="{5CC6BB15-1D8E-3A41-A854-AFEE2CE87CFE}"/>
              </a:ext>
            </a:extLst>
          </p:cNvPr>
          <p:cNvSpPr/>
          <p:nvPr/>
        </p:nvSpPr>
        <p:spPr>
          <a:xfrm>
            <a:off x="2733712" y="3724146"/>
            <a:ext cx="884420" cy="490770"/>
          </a:xfrm>
          <a:prstGeom prst="downArrow">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87174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F58F330-7012-BD48-9E88-B133DE64D4C1}"/>
              </a:ext>
            </a:extLst>
          </p:cNvPr>
          <p:cNvSpPr txBox="1"/>
          <p:nvPr/>
        </p:nvSpPr>
        <p:spPr>
          <a:xfrm>
            <a:off x="2057868" y="354619"/>
            <a:ext cx="8324715" cy="830997"/>
          </a:xfrm>
          <a:prstGeom prst="rect">
            <a:avLst/>
          </a:prstGeom>
          <a:noFill/>
        </p:spPr>
        <p:txBody>
          <a:bodyPr wrap="none" rtlCol="0">
            <a:spAutoFit/>
          </a:bodyPr>
          <a:lstStyle/>
          <a:p>
            <a:r>
              <a:rPr lang="en-US" sz="4800" dirty="0">
                <a:latin typeface="Comic Sans MS" panose="030F0902030302020204" pitchFamily="66" charset="0"/>
              </a:rPr>
              <a:t>Quantum Fourier Transform</a:t>
            </a:r>
          </a:p>
        </p:txBody>
      </p:sp>
      <p:sp>
        <p:nvSpPr>
          <p:cNvPr id="7" name="TextBox 6">
            <a:extLst>
              <a:ext uri="{FF2B5EF4-FFF2-40B4-BE49-F238E27FC236}">
                <a16:creationId xmlns:a16="http://schemas.microsoft.com/office/drawing/2014/main" id="{ABD10081-80D7-C94A-BD4F-3B8799CE1688}"/>
              </a:ext>
            </a:extLst>
          </p:cNvPr>
          <p:cNvSpPr txBox="1"/>
          <p:nvPr/>
        </p:nvSpPr>
        <p:spPr>
          <a:xfrm>
            <a:off x="8976668" y="5302209"/>
            <a:ext cx="2011063" cy="830997"/>
          </a:xfrm>
          <a:prstGeom prst="rect">
            <a:avLst/>
          </a:prstGeom>
          <a:noFill/>
        </p:spPr>
        <p:txBody>
          <a:bodyPr wrap="none" rtlCol="0">
            <a:spAutoFit/>
          </a:bodyPr>
          <a:lstStyle/>
          <a:p>
            <a:pPr algn="ctr"/>
            <a:r>
              <a:rPr lang="en-ZA" sz="2400" dirty="0"/>
              <a:t>Joseph Fourier</a:t>
            </a:r>
            <a:endParaRPr lang="en-US" sz="2400" dirty="0"/>
          </a:p>
          <a:p>
            <a:pPr algn="ctr"/>
            <a:r>
              <a:rPr lang="en-US" sz="2400" dirty="0"/>
              <a:t>(1768-1830)</a:t>
            </a:r>
          </a:p>
        </p:txBody>
      </p:sp>
      <p:pic>
        <p:nvPicPr>
          <p:cNvPr id="8" name="Picture 7">
            <a:extLst>
              <a:ext uri="{FF2B5EF4-FFF2-40B4-BE49-F238E27FC236}">
                <a16:creationId xmlns:a16="http://schemas.microsoft.com/office/drawing/2014/main" id="{D62967DA-9FAE-2D46-A7B3-EDE8519509B2}"/>
              </a:ext>
            </a:extLst>
          </p:cNvPr>
          <p:cNvPicPr>
            <a:picLocks noChangeAspect="1"/>
          </p:cNvPicPr>
          <p:nvPr/>
        </p:nvPicPr>
        <p:blipFill>
          <a:blip r:embed="rId3"/>
          <a:stretch>
            <a:fillRect/>
          </a:stretch>
        </p:blipFill>
        <p:spPr>
          <a:xfrm>
            <a:off x="8610600" y="1913971"/>
            <a:ext cx="2682487" cy="3353109"/>
          </a:xfrm>
          <a:prstGeom prst="rect">
            <a:avLst/>
          </a:prstGeom>
        </p:spPr>
      </p:pic>
      <p:sp>
        <p:nvSpPr>
          <p:cNvPr id="11" name="Freeform 10">
            <a:extLst>
              <a:ext uri="{FF2B5EF4-FFF2-40B4-BE49-F238E27FC236}">
                <a16:creationId xmlns:a16="http://schemas.microsoft.com/office/drawing/2014/main" id="{2A978DAE-F38F-9E46-8EA0-E4F62A93F533}"/>
              </a:ext>
            </a:extLst>
          </p:cNvPr>
          <p:cNvSpPr/>
          <p:nvPr/>
        </p:nvSpPr>
        <p:spPr>
          <a:xfrm>
            <a:off x="1481328" y="1920278"/>
            <a:ext cx="3989433" cy="855980"/>
          </a:xfrm>
          <a:custGeom>
            <a:avLst/>
            <a:gdLst>
              <a:gd name="connsiteX0" fmla="*/ 0 w 3944983"/>
              <a:gd name="connsiteY0" fmla="*/ 0 h 868680"/>
              <a:gd name="connsiteX1" fmla="*/ 1365069 w 3944983"/>
              <a:gd name="connsiteY1" fmla="*/ 868680 h 868680"/>
              <a:gd name="connsiteX2" fmla="*/ 2612571 w 3944983"/>
              <a:gd name="connsiteY2" fmla="*/ 0 h 868680"/>
              <a:gd name="connsiteX3" fmla="*/ 3944983 w 3944983"/>
              <a:gd name="connsiteY3" fmla="*/ 868680 h 868680"/>
              <a:gd name="connsiteX4" fmla="*/ 3944983 w 3944983"/>
              <a:gd name="connsiteY4" fmla="*/ 868680 h 868680"/>
              <a:gd name="connsiteX0" fmla="*/ 0 w 3944983"/>
              <a:gd name="connsiteY0" fmla="*/ 0 h 868680"/>
              <a:gd name="connsiteX1" fmla="*/ 1365069 w 3944983"/>
              <a:gd name="connsiteY1" fmla="*/ 868680 h 868680"/>
              <a:gd name="connsiteX2" fmla="*/ 2612571 w 3944983"/>
              <a:gd name="connsiteY2" fmla="*/ 0 h 868680"/>
              <a:gd name="connsiteX3" fmla="*/ 3944983 w 3944983"/>
              <a:gd name="connsiteY3" fmla="*/ 868680 h 868680"/>
              <a:gd name="connsiteX4" fmla="*/ 3944983 w 3944983"/>
              <a:gd name="connsiteY4" fmla="*/ 868680 h 868680"/>
              <a:gd name="connsiteX0" fmla="*/ 0 w 4310108"/>
              <a:gd name="connsiteY0" fmla="*/ 0 h 916132"/>
              <a:gd name="connsiteX1" fmla="*/ 1365069 w 4310108"/>
              <a:gd name="connsiteY1" fmla="*/ 868680 h 916132"/>
              <a:gd name="connsiteX2" fmla="*/ 2612571 w 4310108"/>
              <a:gd name="connsiteY2" fmla="*/ 0 h 916132"/>
              <a:gd name="connsiteX3" fmla="*/ 3944983 w 4310108"/>
              <a:gd name="connsiteY3" fmla="*/ 868680 h 916132"/>
              <a:gd name="connsiteX4" fmla="*/ 4310108 w 4310108"/>
              <a:gd name="connsiteY4" fmla="*/ 792480 h 916132"/>
              <a:gd name="connsiteX0" fmla="*/ 0 w 4310108"/>
              <a:gd name="connsiteY0" fmla="*/ 0 h 920700"/>
              <a:gd name="connsiteX1" fmla="*/ 1365069 w 4310108"/>
              <a:gd name="connsiteY1" fmla="*/ 868680 h 920700"/>
              <a:gd name="connsiteX2" fmla="*/ 2612571 w 4310108"/>
              <a:gd name="connsiteY2" fmla="*/ 0 h 920700"/>
              <a:gd name="connsiteX3" fmla="*/ 3944983 w 4310108"/>
              <a:gd name="connsiteY3" fmla="*/ 868680 h 920700"/>
              <a:gd name="connsiteX4" fmla="*/ 4310108 w 4310108"/>
              <a:gd name="connsiteY4" fmla="*/ 792480 h 920700"/>
              <a:gd name="connsiteX0" fmla="*/ 0 w 3944983"/>
              <a:gd name="connsiteY0" fmla="*/ 0 h 868680"/>
              <a:gd name="connsiteX1" fmla="*/ 1365069 w 3944983"/>
              <a:gd name="connsiteY1" fmla="*/ 868680 h 868680"/>
              <a:gd name="connsiteX2" fmla="*/ 2612571 w 3944983"/>
              <a:gd name="connsiteY2" fmla="*/ 0 h 868680"/>
              <a:gd name="connsiteX3" fmla="*/ 3944983 w 3944983"/>
              <a:gd name="connsiteY3" fmla="*/ 868680 h 868680"/>
              <a:gd name="connsiteX0" fmla="*/ 0 w 3944983"/>
              <a:gd name="connsiteY0" fmla="*/ 12 h 868692"/>
              <a:gd name="connsiteX1" fmla="*/ 1365069 w 3944983"/>
              <a:gd name="connsiteY1" fmla="*/ 846467 h 868692"/>
              <a:gd name="connsiteX2" fmla="*/ 2612571 w 3944983"/>
              <a:gd name="connsiteY2" fmla="*/ 12 h 868692"/>
              <a:gd name="connsiteX3" fmla="*/ 3944983 w 3944983"/>
              <a:gd name="connsiteY3" fmla="*/ 868692 h 868692"/>
              <a:gd name="connsiteX0" fmla="*/ 0 w 3944983"/>
              <a:gd name="connsiteY0" fmla="*/ 0 h 868680"/>
              <a:gd name="connsiteX1" fmla="*/ 1365069 w 3944983"/>
              <a:gd name="connsiteY1" fmla="*/ 846455 h 868680"/>
              <a:gd name="connsiteX2" fmla="*/ 2660196 w 3944983"/>
              <a:gd name="connsiteY2" fmla="*/ 6350 h 868680"/>
              <a:gd name="connsiteX3" fmla="*/ 3944983 w 3944983"/>
              <a:gd name="connsiteY3" fmla="*/ 868680 h 868680"/>
              <a:gd name="connsiteX0" fmla="*/ 0 w 3944983"/>
              <a:gd name="connsiteY0" fmla="*/ 0 h 868680"/>
              <a:gd name="connsiteX1" fmla="*/ 1365069 w 3944983"/>
              <a:gd name="connsiteY1" fmla="*/ 846455 h 868680"/>
              <a:gd name="connsiteX2" fmla="*/ 2660196 w 3944983"/>
              <a:gd name="connsiteY2" fmla="*/ 6350 h 868680"/>
              <a:gd name="connsiteX3" fmla="*/ 3944983 w 3944983"/>
              <a:gd name="connsiteY3" fmla="*/ 868680 h 868680"/>
              <a:gd name="connsiteX0" fmla="*/ 0 w 3989433"/>
              <a:gd name="connsiteY0" fmla="*/ 0 h 855980"/>
              <a:gd name="connsiteX1" fmla="*/ 1365069 w 3989433"/>
              <a:gd name="connsiteY1" fmla="*/ 846455 h 855980"/>
              <a:gd name="connsiteX2" fmla="*/ 2660196 w 3989433"/>
              <a:gd name="connsiteY2" fmla="*/ 6350 h 855980"/>
              <a:gd name="connsiteX3" fmla="*/ 3989433 w 3989433"/>
              <a:gd name="connsiteY3" fmla="*/ 855980 h 855980"/>
              <a:gd name="connsiteX0" fmla="*/ 0 w 3989433"/>
              <a:gd name="connsiteY0" fmla="*/ 0 h 855980"/>
              <a:gd name="connsiteX1" fmla="*/ 1365069 w 3989433"/>
              <a:gd name="connsiteY1" fmla="*/ 846455 h 855980"/>
              <a:gd name="connsiteX2" fmla="*/ 2660196 w 3989433"/>
              <a:gd name="connsiteY2" fmla="*/ 6350 h 855980"/>
              <a:gd name="connsiteX3" fmla="*/ 3989433 w 3989433"/>
              <a:gd name="connsiteY3" fmla="*/ 855980 h 855980"/>
              <a:gd name="connsiteX0" fmla="*/ 0 w 3989433"/>
              <a:gd name="connsiteY0" fmla="*/ 0 h 855980"/>
              <a:gd name="connsiteX1" fmla="*/ 1365069 w 3989433"/>
              <a:gd name="connsiteY1" fmla="*/ 846455 h 855980"/>
              <a:gd name="connsiteX2" fmla="*/ 2660196 w 3989433"/>
              <a:gd name="connsiteY2" fmla="*/ 6350 h 855980"/>
              <a:gd name="connsiteX3" fmla="*/ 3989433 w 3989433"/>
              <a:gd name="connsiteY3" fmla="*/ 855980 h 855980"/>
            </a:gdLst>
            <a:ahLst/>
            <a:cxnLst>
              <a:cxn ang="0">
                <a:pos x="connsiteX0" y="connsiteY0"/>
              </a:cxn>
              <a:cxn ang="0">
                <a:pos x="connsiteX1" y="connsiteY1"/>
              </a:cxn>
              <a:cxn ang="0">
                <a:pos x="connsiteX2" y="connsiteY2"/>
              </a:cxn>
              <a:cxn ang="0">
                <a:pos x="connsiteX3" y="connsiteY3"/>
              </a:cxn>
            </a:cxnLst>
            <a:rect l="l" t="t" r="r" b="b"/>
            <a:pathLst>
              <a:path w="3989433" h="855980">
                <a:moveTo>
                  <a:pt x="0" y="0"/>
                </a:moveTo>
                <a:cubicBezTo>
                  <a:pt x="579120" y="62865"/>
                  <a:pt x="921703" y="845397"/>
                  <a:pt x="1365069" y="846455"/>
                </a:cubicBezTo>
                <a:cubicBezTo>
                  <a:pt x="1808435" y="847513"/>
                  <a:pt x="2222802" y="4763"/>
                  <a:pt x="2660196" y="6350"/>
                </a:cubicBezTo>
                <a:cubicBezTo>
                  <a:pt x="3097590" y="7937"/>
                  <a:pt x="3331860" y="660400"/>
                  <a:pt x="3989433" y="855980"/>
                </a:cubicBezTo>
              </a:path>
            </a:pathLst>
          </a:custGeom>
          <a:noFill/>
          <a:ln w="381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12">
            <a:extLst>
              <a:ext uri="{FF2B5EF4-FFF2-40B4-BE49-F238E27FC236}">
                <a16:creationId xmlns:a16="http://schemas.microsoft.com/office/drawing/2014/main" id="{0E5543A1-9977-9544-9B72-82D8029023B7}"/>
              </a:ext>
            </a:extLst>
          </p:cNvPr>
          <p:cNvSpPr/>
          <p:nvPr/>
        </p:nvSpPr>
        <p:spPr>
          <a:xfrm>
            <a:off x="1455928" y="3477661"/>
            <a:ext cx="4155440" cy="838200"/>
          </a:xfrm>
          <a:custGeom>
            <a:avLst/>
            <a:gdLst>
              <a:gd name="connsiteX0" fmla="*/ 0 w 4155440"/>
              <a:gd name="connsiteY0" fmla="*/ 193040 h 838200"/>
              <a:gd name="connsiteX1" fmla="*/ 426720 w 4155440"/>
              <a:gd name="connsiteY1" fmla="*/ 828040 h 838200"/>
              <a:gd name="connsiteX2" fmla="*/ 1082040 w 4155440"/>
              <a:gd name="connsiteY2" fmla="*/ 5080 h 838200"/>
              <a:gd name="connsiteX3" fmla="*/ 1742440 w 4155440"/>
              <a:gd name="connsiteY3" fmla="*/ 838200 h 838200"/>
              <a:gd name="connsiteX4" fmla="*/ 2387600 w 4155440"/>
              <a:gd name="connsiteY4" fmla="*/ 0 h 838200"/>
              <a:gd name="connsiteX5" fmla="*/ 3048000 w 4155440"/>
              <a:gd name="connsiteY5" fmla="*/ 838200 h 838200"/>
              <a:gd name="connsiteX6" fmla="*/ 3667760 w 4155440"/>
              <a:gd name="connsiteY6" fmla="*/ 5080 h 838200"/>
              <a:gd name="connsiteX7" fmla="*/ 4155440 w 4155440"/>
              <a:gd name="connsiteY7" fmla="*/ 665480 h 8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5440" h="838200">
                <a:moveTo>
                  <a:pt x="0" y="193040"/>
                </a:moveTo>
                <a:cubicBezTo>
                  <a:pt x="123190" y="526203"/>
                  <a:pt x="246380" y="859367"/>
                  <a:pt x="426720" y="828040"/>
                </a:cubicBezTo>
                <a:cubicBezTo>
                  <a:pt x="607060" y="796713"/>
                  <a:pt x="862753" y="3387"/>
                  <a:pt x="1082040" y="5080"/>
                </a:cubicBezTo>
                <a:cubicBezTo>
                  <a:pt x="1301327" y="6773"/>
                  <a:pt x="1524847" y="839047"/>
                  <a:pt x="1742440" y="838200"/>
                </a:cubicBezTo>
                <a:cubicBezTo>
                  <a:pt x="1960033" y="837353"/>
                  <a:pt x="2170007" y="0"/>
                  <a:pt x="2387600" y="0"/>
                </a:cubicBezTo>
                <a:cubicBezTo>
                  <a:pt x="2605193" y="0"/>
                  <a:pt x="2834640" y="837353"/>
                  <a:pt x="3048000" y="838200"/>
                </a:cubicBezTo>
                <a:cubicBezTo>
                  <a:pt x="3261360" y="839047"/>
                  <a:pt x="3483187" y="33867"/>
                  <a:pt x="3667760" y="5080"/>
                </a:cubicBezTo>
                <a:cubicBezTo>
                  <a:pt x="3852333" y="-23707"/>
                  <a:pt x="4003886" y="320886"/>
                  <a:pt x="4155440" y="665480"/>
                </a:cubicBezTo>
              </a:path>
            </a:pathLst>
          </a:custGeom>
          <a:noFill/>
          <a:ln w="381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43E10BE6-F028-B849-971F-FEADFE275F20}"/>
              </a:ext>
            </a:extLst>
          </p:cNvPr>
          <p:cNvSpPr/>
          <p:nvPr/>
        </p:nvSpPr>
        <p:spPr>
          <a:xfrm>
            <a:off x="1466088" y="4983923"/>
            <a:ext cx="4155440" cy="1467570"/>
          </a:xfrm>
          <a:custGeom>
            <a:avLst/>
            <a:gdLst>
              <a:gd name="connsiteX0" fmla="*/ 0 w 4155440"/>
              <a:gd name="connsiteY0" fmla="*/ 129038 h 1507318"/>
              <a:gd name="connsiteX1" fmla="*/ 513080 w 4155440"/>
              <a:gd name="connsiteY1" fmla="*/ 921518 h 1507318"/>
              <a:gd name="connsiteX2" fmla="*/ 980440 w 4155440"/>
              <a:gd name="connsiteY2" fmla="*/ 570998 h 1507318"/>
              <a:gd name="connsiteX3" fmla="*/ 1666240 w 4155440"/>
              <a:gd name="connsiteY3" fmla="*/ 1500638 h 1507318"/>
              <a:gd name="connsiteX4" fmla="*/ 2438400 w 4155440"/>
              <a:gd name="connsiteY4" fmla="*/ 7118 h 1507318"/>
              <a:gd name="connsiteX5" fmla="*/ 3119120 w 4155440"/>
              <a:gd name="connsiteY5" fmla="*/ 921518 h 1507318"/>
              <a:gd name="connsiteX6" fmla="*/ 3591560 w 4155440"/>
              <a:gd name="connsiteY6" fmla="*/ 581158 h 1507318"/>
              <a:gd name="connsiteX7" fmla="*/ 4155440 w 4155440"/>
              <a:gd name="connsiteY7" fmla="*/ 1383798 h 1507318"/>
              <a:gd name="connsiteX0" fmla="*/ 0 w 4155440"/>
              <a:gd name="connsiteY0" fmla="*/ 129038 h 1501851"/>
              <a:gd name="connsiteX1" fmla="*/ 513080 w 4155440"/>
              <a:gd name="connsiteY1" fmla="*/ 921518 h 1501851"/>
              <a:gd name="connsiteX2" fmla="*/ 980440 w 4155440"/>
              <a:gd name="connsiteY2" fmla="*/ 570998 h 1501851"/>
              <a:gd name="connsiteX3" fmla="*/ 1666240 w 4155440"/>
              <a:gd name="connsiteY3" fmla="*/ 1500638 h 1501851"/>
              <a:gd name="connsiteX4" fmla="*/ 2438400 w 4155440"/>
              <a:gd name="connsiteY4" fmla="*/ 7118 h 1501851"/>
              <a:gd name="connsiteX5" fmla="*/ 3119120 w 4155440"/>
              <a:gd name="connsiteY5" fmla="*/ 921518 h 1501851"/>
              <a:gd name="connsiteX6" fmla="*/ 3591560 w 4155440"/>
              <a:gd name="connsiteY6" fmla="*/ 581158 h 1501851"/>
              <a:gd name="connsiteX7" fmla="*/ 4155440 w 4155440"/>
              <a:gd name="connsiteY7" fmla="*/ 1383798 h 1501851"/>
              <a:gd name="connsiteX0" fmla="*/ 0 w 4155440"/>
              <a:gd name="connsiteY0" fmla="*/ 128256 h 1465550"/>
              <a:gd name="connsiteX1" fmla="*/ 513080 w 4155440"/>
              <a:gd name="connsiteY1" fmla="*/ 920736 h 1465550"/>
              <a:gd name="connsiteX2" fmla="*/ 980440 w 4155440"/>
              <a:gd name="connsiteY2" fmla="*/ 570216 h 1465550"/>
              <a:gd name="connsiteX3" fmla="*/ 1711960 w 4155440"/>
              <a:gd name="connsiteY3" fmla="*/ 1464296 h 1465550"/>
              <a:gd name="connsiteX4" fmla="*/ 2438400 w 4155440"/>
              <a:gd name="connsiteY4" fmla="*/ 6336 h 1465550"/>
              <a:gd name="connsiteX5" fmla="*/ 3119120 w 4155440"/>
              <a:gd name="connsiteY5" fmla="*/ 920736 h 1465550"/>
              <a:gd name="connsiteX6" fmla="*/ 3591560 w 4155440"/>
              <a:gd name="connsiteY6" fmla="*/ 580376 h 1465550"/>
              <a:gd name="connsiteX7" fmla="*/ 4155440 w 4155440"/>
              <a:gd name="connsiteY7" fmla="*/ 1383016 h 1465550"/>
              <a:gd name="connsiteX0" fmla="*/ 0 w 4155440"/>
              <a:gd name="connsiteY0" fmla="*/ 128256 h 1471487"/>
              <a:gd name="connsiteX1" fmla="*/ 513080 w 4155440"/>
              <a:gd name="connsiteY1" fmla="*/ 920736 h 1471487"/>
              <a:gd name="connsiteX2" fmla="*/ 1056640 w 4155440"/>
              <a:gd name="connsiteY2" fmla="*/ 580376 h 1471487"/>
              <a:gd name="connsiteX3" fmla="*/ 1711960 w 4155440"/>
              <a:gd name="connsiteY3" fmla="*/ 1464296 h 1471487"/>
              <a:gd name="connsiteX4" fmla="*/ 2438400 w 4155440"/>
              <a:gd name="connsiteY4" fmla="*/ 6336 h 1471487"/>
              <a:gd name="connsiteX5" fmla="*/ 3119120 w 4155440"/>
              <a:gd name="connsiteY5" fmla="*/ 920736 h 1471487"/>
              <a:gd name="connsiteX6" fmla="*/ 3591560 w 4155440"/>
              <a:gd name="connsiteY6" fmla="*/ 580376 h 1471487"/>
              <a:gd name="connsiteX7" fmla="*/ 4155440 w 4155440"/>
              <a:gd name="connsiteY7" fmla="*/ 1383016 h 1471487"/>
              <a:gd name="connsiteX0" fmla="*/ 0 w 4155440"/>
              <a:gd name="connsiteY0" fmla="*/ 128256 h 1471524"/>
              <a:gd name="connsiteX1" fmla="*/ 477520 w 4155440"/>
              <a:gd name="connsiteY1" fmla="*/ 890256 h 1471524"/>
              <a:gd name="connsiteX2" fmla="*/ 1056640 w 4155440"/>
              <a:gd name="connsiteY2" fmla="*/ 580376 h 1471524"/>
              <a:gd name="connsiteX3" fmla="*/ 1711960 w 4155440"/>
              <a:gd name="connsiteY3" fmla="*/ 1464296 h 1471524"/>
              <a:gd name="connsiteX4" fmla="*/ 2438400 w 4155440"/>
              <a:gd name="connsiteY4" fmla="*/ 6336 h 1471524"/>
              <a:gd name="connsiteX5" fmla="*/ 3119120 w 4155440"/>
              <a:gd name="connsiteY5" fmla="*/ 920736 h 1471524"/>
              <a:gd name="connsiteX6" fmla="*/ 3591560 w 4155440"/>
              <a:gd name="connsiteY6" fmla="*/ 580376 h 1471524"/>
              <a:gd name="connsiteX7" fmla="*/ 4155440 w 4155440"/>
              <a:gd name="connsiteY7" fmla="*/ 1383016 h 1471524"/>
              <a:gd name="connsiteX0" fmla="*/ 0 w 4155440"/>
              <a:gd name="connsiteY0" fmla="*/ 123204 h 1466356"/>
              <a:gd name="connsiteX1" fmla="*/ 477520 w 4155440"/>
              <a:gd name="connsiteY1" fmla="*/ 885204 h 1466356"/>
              <a:gd name="connsiteX2" fmla="*/ 1056640 w 4155440"/>
              <a:gd name="connsiteY2" fmla="*/ 575324 h 1466356"/>
              <a:gd name="connsiteX3" fmla="*/ 1711960 w 4155440"/>
              <a:gd name="connsiteY3" fmla="*/ 1459244 h 1466356"/>
              <a:gd name="connsiteX4" fmla="*/ 2387600 w 4155440"/>
              <a:gd name="connsiteY4" fmla="*/ 6364 h 1466356"/>
              <a:gd name="connsiteX5" fmla="*/ 3119120 w 4155440"/>
              <a:gd name="connsiteY5" fmla="*/ 915684 h 1466356"/>
              <a:gd name="connsiteX6" fmla="*/ 3591560 w 4155440"/>
              <a:gd name="connsiteY6" fmla="*/ 575324 h 1466356"/>
              <a:gd name="connsiteX7" fmla="*/ 4155440 w 4155440"/>
              <a:gd name="connsiteY7" fmla="*/ 1377964 h 1466356"/>
              <a:gd name="connsiteX0" fmla="*/ 0 w 4155440"/>
              <a:gd name="connsiteY0" fmla="*/ 124418 h 1467570"/>
              <a:gd name="connsiteX1" fmla="*/ 477520 w 4155440"/>
              <a:gd name="connsiteY1" fmla="*/ 886418 h 1467570"/>
              <a:gd name="connsiteX2" fmla="*/ 1056640 w 4155440"/>
              <a:gd name="connsiteY2" fmla="*/ 576538 h 1467570"/>
              <a:gd name="connsiteX3" fmla="*/ 1711960 w 4155440"/>
              <a:gd name="connsiteY3" fmla="*/ 1460458 h 1467570"/>
              <a:gd name="connsiteX4" fmla="*/ 2387600 w 4155440"/>
              <a:gd name="connsiteY4" fmla="*/ 7578 h 1467570"/>
              <a:gd name="connsiteX5" fmla="*/ 3068320 w 4155440"/>
              <a:gd name="connsiteY5" fmla="*/ 876258 h 1467570"/>
              <a:gd name="connsiteX6" fmla="*/ 3591560 w 4155440"/>
              <a:gd name="connsiteY6" fmla="*/ 576538 h 1467570"/>
              <a:gd name="connsiteX7" fmla="*/ 4155440 w 4155440"/>
              <a:gd name="connsiteY7" fmla="*/ 1379178 h 146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5440" h="1467570">
                <a:moveTo>
                  <a:pt x="0" y="124418"/>
                </a:moveTo>
                <a:cubicBezTo>
                  <a:pt x="174836" y="483828"/>
                  <a:pt x="301413" y="811065"/>
                  <a:pt x="477520" y="886418"/>
                </a:cubicBezTo>
                <a:cubicBezTo>
                  <a:pt x="653627" y="961771"/>
                  <a:pt x="850900" y="480865"/>
                  <a:pt x="1056640" y="576538"/>
                </a:cubicBezTo>
                <a:cubicBezTo>
                  <a:pt x="1262380" y="672211"/>
                  <a:pt x="1490133" y="1555285"/>
                  <a:pt x="1711960" y="1460458"/>
                </a:cubicBezTo>
                <a:cubicBezTo>
                  <a:pt x="1933787" y="1365631"/>
                  <a:pt x="2161540" y="104945"/>
                  <a:pt x="2387600" y="7578"/>
                </a:cubicBezTo>
                <a:cubicBezTo>
                  <a:pt x="2613660" y="-89789"/>
                  <a:pt x="2867660" y="781431"/>
                  <a:pt x="3068320" y="876258"/>
                </a:cubicBezTo>
                <a:cubicBezTo>
                  <a:pt x="3268980" y="971085"/>
                  <a:pt x="3410373" y="492718"/>
                  <a:pt x="3591560" y="576538"/>
                </a:cubicBezTo>
                <a:cubicBezTo>
                  <a:pt x="3772747" y="660358"/>
                  <a:pt x="3959860" y="1016381"/>
                  <a:pt x="4155440" y="1379178"/>
                </a:cubicBezTo>
              </a:path>
            </a:pathLst>
          </a:cu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FF3E4E85-C2AB-E84A-BF55-E6CB832B5CD4}"/>
              </a:ext>
            </a:extLst>
          </p:cNvPr>
          <p:cNvCxnSpPr>
            <a:cxnSpLocks/>
          </p:cNvCxnSpPr>
          <p:nvPr/>
        </p:nvCxnSpPr>
        <p:spPr>
          <a:xfrm>
            <a:off x="867390" y="2348268"/>
            <a:ext cx="5352836" cy="0"/>
          </a:xfrm>
          <a:prstGeom prst="line">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522704E-7B11-CB45-8710-5E38208E8807}"/>
              </a:ext>
            </a:extLst>
          </p:cNvPr>
          <p:cNvCxnSpPr>
            <a:cxnSpLocks/>
          </p:cNvCxnSpPr>
          <p:nvPr/>
        </p:nvCxnSpPr>
        <p:spPr>
          <a:xfrm>
            <a:off x="867390" y="3888735"/>
            <a:ext cx="5352836" cy="0"/>
          </a:xfrm>
          <a:prstGeom prst="line">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172DCD6-4BE3-744A-8943-505966EAF7B5}"/>
              </a:ext>
            </a:extLst>
          </p:cNvPr>
          <p:cNvCxnSpPr>
            <a:cxnSpLocks/>
          </p:cNvCxnSpPr>
          <p:nvPr/>
        </p:nvCxnSpPr>
        <p:spPr>
          <a:xfrm>
            <a:off x="867390" y="5720356"/>
            <a:ext cx="5352836" cy="0"/>
          </a:xfrm>
          <a:prstGeom prst="line">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EE5008D-3077-AE4A-ABDC-550CCD0FEEDB}"/>
              </a:ext>
            </a:extLst>
          </p:cNvPr>
          <p:cNvCxnSpPr>
            <a:cxnSpLocks/>
          </p:cNvCxnSpPr>
          <p:nvPr/>
        </p:nvCxnSpPr>
        <p:spPr>
          <a:xfrm flipV="1">
            <a:off x="1455928" y="1380033"/>
            <a:ext cx="0" cy="5017403"/>
          </a:xfrm>
          <a:prstGeom prst="line">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58C54943-4E44-0843-894B-72E458E6BF4B}"/>
              </a:ext>
            </a:extLst>
          </p:cNvPr>
          <p:cNvSpPr txBox="1"/>
          <p:nvPr/>
        </p:nvSpPr>
        <p:spPr>
          <a:xfrm>
            <a:off x="3259916" y="2513519"/>
            <a:ext cx="567784" cy="1015663"/>
          </a:xfrm>
          <a:prstGeom prst="rect">
            <a:avLst/>
          </a:prstGeom>
          <a:noFill/>
        </p:spPr>
        <p:txBody>
          <a:bodyPr wrap="none" rtlCol="0">
            <a:spAutoFit/>
          </a:bodyPr>
          <a:lstStyle/>
          <a:p>
            <a:r>
              <a:rPr lang="en-US" sz="6000" dirty="0">
                <a:solidFill>
                  <a:schemeClr val="tx1">
                    <a:lumMod val="50000"/>
                    <a:lumOff val="50000"/>
                  </a:schemeClr>
                </a:solidFill>
              </a:rPr>
              <a:t>+</a:t>
            </a:r>
          </a:p>
        </p:txBody>
      </p:sp>
      <p:sp>
        <p:nvSpPr>
          <p:cNvPr id="23" name="TextBox 22">
            <a:extLst>
              <a:ext uri="{FF2B5EF4-FFF2-40B4-BE49-F238E27FC236}">
                <a16:creationId xmlns:a16="http://schemas.microsoft.com/office/drawing/2014/main" id="{F649C60E-06F8-3B4A-8539-FE24F944FC92}"/>
              </a:ext>
            </a:extLst>
          </p:cNvPr>
          <p:cNvSpPr txBox="1"/>
          <p:nvPr/>
        </p:nvSpPr>
        <p:spPr>
          <a:xfrm>
            <a:off x="3259916" y="4191177"/>
            <a:ext cx="567784" cy="1015663"/>
          </a:xfrm>
          <a:prstGeom prst="rect">
            <a:avLst/>
          </a:prstGeom>
          <a:noFill/>
        </p:spPr>
        <p:txBody>
          <a:bodyPr wrap="none" rtlCol="0">
            <a:spAutoFit/>
          </a:bodyPr>
          <a:lstStyle/>
          <a:p>
            <a:r>
              <a:rPr lang="en-US" sz="6000" dirty="0">
                <a:solidFill>
                  <a:schemeClr val="tx1">
                    <a:lumMod val="50000"/>
                    <a:lumOff val="50000"/>
                  </a:schemeClr>
                </a:solidFill>
              </a:rPr>
              <a:t>=</a:t>
            </a:r>
          </a:p>
        </p:txBody>
      </p:sp>
      <p:sp>
        <p:nvSpPr>
          <p:cNvPr id="15" name="Slide Number Placeholder 2">
            <a:extLst>
              <a:ext uri="{FF2B5EF4-FFF2-40B4-BE49-F238E27FC236}">
                <a16:creationId xmlns:a16="http://schemas.microsoft.com/office/drawing/2014/main" id="{9C3ABE62-C00A-7240-873F-85CA2A2BB5DC}"/>
              </a:ext>
            </a:extLst>
          </p:cNvPr>
          <p:cNvSpPr>
            <a:spLocks noGrp="1"/>
          </p:cNvSpPr>
          <p:nvPr>
            <p:ph type="sldNum" sz="quarter" idx="12"/>
          </p:nvPr>
        </p:nvSpPr>
        <p:spPr>
          <a:xfrm>
            <a:off x="0" y="6492875"/>
            <a:ext cx="587829" cy="365125"/>
          </a:xfrm>
        </p:spPr>
        <p:txBody>
          <a:bodyPr/>
          <a:lstStyle/>
          <a:p>
            <a:pPr algn="l"/>
            <a:fld id="{591A223C-FA10-BC46-A853-03BA373D023C}" type="slidenum">
              <a:rPr lang="en-US" smtClean="0"/>
              <a:pPr algn="l"/>
              <a:t>48</a:t>
            </a:fld>
            <a:endParaRPr lang="en-US" dirty="0"/>
          </a:p>
        </p:txBody>
      </p:sp>
    </p:spTree>
    <p:extLst>
      <p:ext uri="{BB962C8B-B14F-4D97-AF65-F5344CB8AC3E}">
        <p14:creationId xmlns:p14="http://schemas.microsoft.com/office/powerpoint/2010/main" val="25218683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F4FD45D-0176-C24A-B514-76C4B1A45657}"/>
              </a:ext>
            </a:extLst>
          </p:cNvPr>
          <p:cNvPicPr>
            <a:picLocks noChangeAspect="1"/>
          </p:cNvPicPr>
          <p:nvPr/>
        </p:nvPicPr>
        <p:blipFill>
          <a:blip r:embed="rId3"/>
          <a:stretch>
            <a:fillRect/>
          </a:stretch>
        </p:blipFill>
        <p:spPr>
          <a:xfrm>
            <a:off x="2140809" y="1767113"/>
            <a:ext cx="3911600" cy="4597400"/>
          </a:xfrm>
          <a:prstGeom prst="rect">
            <a:avLst/>
          </a:prstGeom>
        </p:spPr>
      </p:pic>
      <p:pic>
        <p:nvPicPr>
          <p:cNvPr id="13" name="Picture 12">
            <a:extLst>
              <a:ext uri="{FF2B5EF4-FFF2-40B4-BE49-F238E27FC236}">
                <a16:creationId xmlns:a16="http://schemas.microsoft.com/office/drawing/2014/main" id="{985DA18F-1AA8-D648-B87D-32DD71C55F7C}"/>
              </a:ext>
            </a:extLst>
          </p:cNvPr>
          <p:cNvPicPr>
            <a:picLocks noChangeAspect="1"/>
          </p:cNvPicPr>
          <p:nvPr/>
        </p:nvPicPr>
        <p:blipFill>
          <a:blip r:embed="rId4"/>
          <a:stretch>
            <a:fillRect/>
          </a:stretch>
        </p:blipFill>
        <p:spPr>
          <a:xfrm>
            <a:off x="3649804" y="1467271"/>
            <a:ext cx="6896100" cy="4635500"/>
          </a:xfrm>
          <a:prstGeom prst="rect">
            <a:avLst/>
          </a:prstGeom>
        </p:spPr>
      </p:pic>
      <p:sp>
        <p:nvSpPr>
          <p:cNvPr id="2" name="Title 1">
            <a:extLst>
              <a:ext uri="{FF2B5EF4-FFF2-40B4-BE49-F238E27FC236}">
                <a16:creationId xmlns:a16="http://schemas.microsoft.com/office/drawing/2014/main" id="{AE518870-ED4A-9848-AE28-65372DB5E580}"/>
              </a:ext>
            </a:extLst>
          </p:cNvPr>
          <p:cNvSpPr>
            <a:spLocks noGrp="1"/>
          </p:cNvSpPr>
          <p:nvPr>
            <p:ph type="title"/>
          </p:nvPr>
        </p:nvSpPr>
        <p:spPr>
          <a:xfrm>
            <a:off x="0" y="0"/>
            <a:ext cx="12192000" cy="928688"/>
          </a:xfrm>
        </p:spPr>
        <p:txBody>
          <a:bodyPr>
            <a:normAutofit/>
          </a:bodyPr>
          <a:lstStyle/>
          <a:p>
            <a:r>
              <a:rPr lang="en-ZA" dirty="0"/>
              <a:t>Understanding the Fourier Transform</a:t>
            </a:r>
            <a:endParaRPr lang="en-US" dirty="0"/>
          </a:p>
        </p:txBody>
      </p:sp>
      <p:sp>
        <p:nvSpPr>
          <p:cNvPr id="3" name="Slide Number Placeholder 2">
            <a:extLst>
              <a:ext uri="{FF2B5EF4-FFF2-40B4-BE49-F238E27FC236}">
                <a16:creationId xmlns:a16="http://schemas.microsoft.com/office/drawing/2014/main" id="{B528C1D8-D07B-A140-B4DC-89C6EC3E35F8}"/>
              </a:ext>
            </a:extLst>
          </p:cNvPr>
          <p:cNvSpPr>
            <a:spLocks noGrp="1"/>
          </p:cNvSpPr>
          <p:nvPr>
            <p:ph type="sldNum" sz="quarter" idx="12"/>
          </p:nvPr>
        </p:nvSpPr>
        <p:spPr/>
        <p:txBody>
          <a:bodyPr/>
          <a:lstStyle/>
          <a:p>
            <a:fld id="{591A223C-FA10-BC46-A853-03BA373D023C}" type="slidenum">
              <a:rPr lang="en-US" smtClean="0"/>
              <a:t>49</a:t>
            </a:fld>
            <a:endParaRPr lang="en-US"/>
          </a:p>
        </p:txBody>
      </p:sp>
      <p:grpSp>
        <p:nvGrpSpPr>
          <p:cNvPr id="60" name="Group 59">
            <a:extLst>
              <a:ext uri="{FF2B5EF4-FFF2-40B4-BE49-F238E27FC236}">
                <a16:creationId xmlns:a16="http://schemas.microsoft.com/office/drawing/2014/main" id="{BC1C0ACD-ABD0-484C-8EF7-CF808F63F4C2}"/>
              </a:ext>
            </a:extLst>
          </p:cNvPr>
          <p:cNvGrpSpPr/>
          <p:nvPr/>
        </p:nvGrpSpPr>
        <p:grpSpPr>
          <a:xfrm>
            <a:off x="2749258" y="2613940"/>
            <a:ext cx="3140300" cy="2732868"/>
            <a:chOff x="4084282" y="2250439"/>
            <a:chExt cx="3140300" cy="2732868"/>
          </a:xfrm>
          <a:solidFill>
            <a:schemeClr val="tx1"/>
          </a:solidFill>
        </p:grpSpPr>
        <p:sp>
          <p:nvSpPr>
            <p:cNvPr id="61" name="Oval 60">
              <a:extLst>
                <a:ext uri="{FF2B5EF4-FFF2-40B4-BE49-F238E27FC236}">
                  <a16:creationId xmlns:a16="http://schemas.microsoft.com/office/drawing/2014/main" id="{4F04E576-62D0-524E-BB81-0A3E222C4719}"/>
                </a:ext>
              </a:extLst>
            </p:cNvPr>
            <p:cNvSpPr/>
            <p:nvPr/>
          </p:nvSpPr>
          <p:spPr>
            <a:xfrm>
              <a:off x="4084282" y="2250439"/>
              <a:ext cx="54000" cy="540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031941EA-6E5C-B043-8018-0763556AD852}"/>
                </a:ext>
              </a:extLst>
            </p:cNvPr>
            <p:cNvSpPr/>
            <p:nvPr/>
          </p:nvSpPr>
          <p:spPr>
            <a:xfrm>
              <a:off x="4281412" y="2493756"/>
              <a:ext cx="54000" cy="540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CC88DB88-85BB-5D4E-A744-6A94607FAEC4}"/>
                </a:ext>
              </a:extLst>
            </p:cNvPr>
            <p:cNvSpPr/>
            <p:nvPr/>
          </p:nvSpPr>
          <p:spPr>
            <a:xfrm>
              <a:off x="4574030" y="2556616"/>
              <a:ext cx="54000" cy="540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55163EA6-5215-C042-BA49-302B89FDCB0A}"/>
                </a:ext>
              </a:extLst>
            </p:cNvPr>
            <p:cNvSpPr/>
            <p:nvPr/>
          </p:nvSpPr>
          <p:spPr>
            <a:xfrm>
              <a:off x="4926590" y="2326030"/>
              <a:ext cx="54000" cy="540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006E4F2F-2E51-F147-B065-36EB3694E394}"/>
                </a:ext>
              </a:extLst>
            </p:cNvPr>
            <p:cNvSpPr/>
            <p:nvPr/>
          </p:nvSpPr>
          <p:spPr>
            <a:xfrm>
              <a:off x="5116680" y="2835294"/>
              <a:ext cx="54000" cy="540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C7566CAF-4A74-EC4F-80B2-425E068DB583}"/>
                </a:ext>
              </a:extLst>
            </p:cNvPr>
            <p:cNvSpPr/>
            <p:nvPr/>
          </p:nvSpPr>
          <p:spPr>
            <a:xfrm>
              <a:off x="5410492" y="3418821"/>
              <a:ext cx="54000" cy="540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C25FC7F7-26D1-514F-9C00-D3AA85F0DE3F}"/>
                </a:ext>
              </a:extLst>
            </p:cNvPr>
            <p:cNvSpPr/>
            <p:nvPr/>
          </p:nvSpPr>
          <p:spPr>
            <a:xfrm>
              <a:off x="5742622" y="3797736"/>
              <a:ext cx="54000" cy="540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2634F30A-8BAC-FB4F-B0FE-0D886F7CDB6F}"/>
                </a:ext>
              </a:extLst>
            </p:cNvPr>
            <p:cNvSpPr/>
            <p:nvPr/>
          </p:nvSpPr>
          <p:spPr>
            <a:xfrm>
              <a:off x="6095643" y="4746289"/>
              <a:ext cx="54000" cy="540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EE7FFF2A-43E3-0A47-9F63-5CA3C958F518}"/>
                </a:ext>
              </a:extLst>
            </p:cNvPr>
            <p:cNvSpPr/>
            <p:nvPr/>
          </p:nvSpPr>
          <p:spPr>
            <a:xfrm>
              <a:off x="6369404" y="4644457"/>
              <a:ext cx="54000" cy="540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77A28A33-07A7-BC4A-BA3B-CC1D6B9BB989}"/>
                </a:ext>
              </a:extLst>
            </p:cNvPr>
            <p:cNvSpPr/>
            <p:nvPr/>
          </p:nvSpPr>
          <p:spPr>
            <a:xfrm>
              <a:off x="6688513" y="4704624"/>
              <a:ext cx="54000" cy="540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9ED6B869-254A-574F-9111-55D65D632654}"/>
                </a:ext>
              </a:extLst>
            </p:cNvPr>
            <p:cNvSpPr/>
            <p:nvPr/>
          </p:nvSpPr>
          <p:spPr>
            <a:xfrm>
              <a:off x="6997123" y="4929307"/>
              <a:ext cx="54000" cy="540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9261D6B5-46FF-EE48-95A5-A13678A91B91}"/>
                </a:ext>
              </a:extLst>
            </p:cNvPr>
            <p:cNvSpPr/>
            <p:nvPr/>
          </p:nvSpPr>
          <p:spPr>
            <a:xfrm>
              <a:off x="7170582" y="4664593"/>
              <a:ext cx="54000" cy="540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A8BA3DE2-57EF-D842-8A94-057F25A38C2F}"/>
                </a:ext>
              </a:extLst>
            </p:cNvPr>
            <p:cNvSpPr/>
            <p:nvPr/>
          </p:nvSpPr>
          <p:spPr>
            <a:xfrm>
              <a:off x="5970436" y="4252523"/>
              <a:ext cx="54000" cy="540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3A7C3496-94C0-9B48-B91F-BC6C08A956AD}"/>
              </a:ext>
            </a:extLst>
          </p:cNvPr>
          <p:cNvPicPr>
            <a:picLocks noChangeAspect="1"/>
          </p:cNvPicPr>
          <p:nvPr/>
        </p:nvPicPr>
        <p:blipFill>
          <a:blip r:embed="rId5"/>
          <a:stretch>
            <a:fillRect/>
          </a:stretch>
        </p:blipFill>
        <p:spPr>
          <a:xfrm>
            <a:off x="277243" y="4420067"/>
            <a:ext cx="3756735" cy="1682704"/>
          </a:xfrm>
          <a:prstGeom prst="rect">
            <a:avLst/>
          </a:prstGeom>
        </p:spPr>
      </p:pic>
      <p:grpSp>
        <p:nvGrpSpPr>
          <p:cNvPr id="12" name="Group 11">
            <a:extLst>
              <a:ext uri="{FF2B5EF4-FFF2-40B4-BE49-F238E27FC236}">
                <a16:creationId xmlns:a16="http://schemas.microsoft.com/office/drawing/2014/main" id="{DF46122A-8BC5-B745-AF0A-6CA9AB1E8686}"/>
              </a:ext>
            </a:extLst>
          </p:cNvPr>
          <p:cNvGrpSpPr/>
          <p:nvPr/>
        </p:nvGrpSpPr>
        <p:grpSpPr>
          <a:xfrm>
            <a:off x="3569837" y="601276"/>
            <a:ext cx="4738153" cy="2178301"/>
            <a:chOff x="3816875" y="2679229"/>
            <a:chExt cx="4738153" cy="2178301"/>
          </a:xfrm>
        </p:grpSpPr>
        <p:pic>
          <p:nvPicPr>
            <p:cNvPr id="36" name="Graphic 35">
              <a:extLst>
                <a:ext uri="{FF2B5EF4-FFF2-40B4-BE49-F238E27FC236}">
                  <a16:creationId xmlns:a16="http://schemas.microsoft.com/office/drawing/2014/main" id="{EECEAEA2-49E6-414D-98A6-A85BCD19B6A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2990416">
              <a:off x="5768359" y="2679229"/>
              <a:ext cx="2786669" cy="2178301"/>
            </a:xfrm>
            <a:prstGeom prst="rect">
              <a:avLst/>
            </a:prstGeom>
          </p:spPr>
        </p:pic>
        <p:sp>
          <p:nvSpPr>
            <p:cNvPr id="7" name="Rectangle 6">
              <a:extLst>
                <a:ext uri="{FF2B5EF4-FFF2-40B4-BE49-F238E27FC236}">
                  <a16:creationId xmlns:a16="http://schemas.microsoft.com/office/drawing/2014/main" id="{58BE6439-38E5-6D49-A4E2-2E72ACA28E04}"/>
                </a:ext>
              </a:extLst>
            </p:cNvPr>
            <p:cNvSpPr/>
            <p:nvPr/>
          </p:nvSpPr>
          <p:spPr>
            <a:xfrm>
              <a:off x="3816875" y="2952520"/>
              <a:ext cx="2032848" cy="10948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rPr>
                <a:t>DFT</a:t>
              </a:r>
            </a:p>
          </p:txBody>
        </p:sp>
      </p:grpSp>
      <p:sp>
        <p:nvSpPr>
          <p:cNvPr id="14" name="TextBox 13">
            <a:extLst>
              <a:ext uri="{FF2B5EF4-FFF2-40B4-BE49-F238E27FC236}">
                <a16:creationId xmlns:a16="http://schemas.microsoft.com/office/drawing/2014/main" id="{4C51233B-DEA0-3F47-8554-896C2AD2A3E0}"/>
              </a:ext>
            </a:extLst>
          </p:cNvPr>
          <p:cNvSpPr txBox="1"/>
          <p:nvPr/>
        </p:nvSpPr>
        <p:spPr>
          <a:xfrm rot="1896540">
            <a:off x="2944729" y="4579559"/>
            <a:ext cx="1624163" cy="430887"/>
          </a:xfrm>
          <a:prstGeom prst="rect">
            <a:avLst/>
          </a:prstGeom>
          <a:noFill/>
        </p:spPr>
        <p:txBody>
          <a:bodyPr wrap="none" rtlCol="0">
            <a:spAutoFit/>
          </a:bodyPr>
          <a:lstStyle/>
          <a:p>
            <a:r>
              <a:rPr lang="en-US" sz="2200" dirty="0">
                <a:latin typeface="+mj-lt"/>
              </a:rPr>
              <a:t>time domain</a:t>
            </a:r>
          </a:p>
        </p:txBody>
      </p:sp>
      <p:grpSp>
        <p:nvGrpSpPr>
          <p:cNvPr id="27" name="Group 26">
            <a:extLst>
              <a:ext uri="{FF2B5EF4-FFF2-40B4-BE49-F238E27FC236}">
                <a16:creationId xmlns:a16="http://schemas.microsoft.com/office/drawing/2014/main" id="{80083605-2DEB-0843-9DF0-EA7C7FE53E98}"/>
              </a:ext>
            </a:extLst>
          </p:cNvPr>
          <p:cNvGrpSpPr/>
          <p:nvPr/>
        </p:nvGrpSpPr>
        <p:grpSpPr>
          <a:xfrm>
            <a:off x="6813562" y="1513367"/>
            <a:ext cx="4135174" cy="3980653"/>
            <a:chOff x="6813562" y="1513367"/>
            <a:chExt cx="4135174" cy="3980653"/>
          </a:xfrm>
        </p:grpSpPr>
        <p:grpSp>
          <p:nvGrpSpPr>
            <p:cNvPr id="17" name="Group 16">
              <a:extLst>
                <a:ext uri="{FF2B5EF4-FFF2-40B4-BE49-F238E27FC236}">
                  <a16:creationId xmlns:a16="http://schemas.microsoft.com/office/drawing/2014/main" id="{ACEED7FA-1EB4-9A4F-A7C9-5DC8B4368523}"/>
                </a:ext>
              </a:extLst>
            </p:cNvPr>
            <p:cNvGrpSpPr/>
            <p:nvPr/>
          </p:nvGrpSpPr>
          <p:grpSpPr>
            <a:xfrm>
              <a:off x="6813562" y="1513367"/>
              <a:ext cx="4135174" cy="3768567"/>
              <a:chOff x="6813562" y="1513367"/>
              <a:chExt cx="4135174" cy="3768567"/>
            </a:xfrm>
          </p:grpSpPr>
          <p:grpSp>
            <p:nvGrpSpPr>
              <p:cNvPr id="74" name="Group 73">
                <a:extLst>
                  <a:ext uri="{FF2B5EF4-FFF2-40B4-BE49-F238E27FC236}">
                    <a16:creationId xmlns:a16="http://schemas.microsoft.com/office/drawing/2014/main" id="{52CBC477-0E3B-7649-A90E-3644773F0A96}"/>
                  </a:ext>
                </a:extLst>
              </p:cNvPr>
              <p:cNvGrpSpPr/>
              <p:nvPr/>
            </p:nvGrpSpPr>
            <p:grpSpPr>
              <a:xfrm rot="19816595">
                <a:off x="6813562" y="4621976"/>
                <a:ext cx="3093929" cy="66028"/>
                <a:chOff x="8733013" y="5491566"/>
                <a:chExt cx="3093929" cy="66028"/>
              </a:xfrm>
              <a:solidFill>
                <a:srgbClr val="C00000"/>
              </a:solidFill>
            </p:grpSpPr>
            <p:sp>
              <p:nvSpPr>
                <p:cNvPr id="15" name="Oval 14">
                  <a:extLst>
                    <a:ext uri="{FF2B5EF4-FFF2-40B4-BE49-F238E27FC236}">
                      <a16:creationId xmlns:a16="http://schemas.microsoft.com/office/drawing/2014/main" id="{5ED0A2B2-3FB8-DC48-AC2D-DD8C29C60591}"/>
                    </a:ext>
                  </a:extLst>
                </p:cNvPr>
                <p:cNvSpPr/>
                <p:nvPr/>
              </p:nvSpPr>
              <p:spPr>
                <a:xfrm>
                  <a:off x="8733013" y="5491566"/>
                  <a:ext cx="54000" cy="54000"/>
                </a:xfrm>
                <a:prstGeom prst="ellipse">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94896D41-74EE-6942-B795-A7B90939F535}"/>
                    </a:ext>
                  </a:extLst>
                </p:cNvPr>
                <p:cNvSpPr/>
                <p:nvPr/>
              </p:nvSpPr>
              <p:spPr>
                <a:xfrm>
                  <a:off x="8990205" y="5491566"/>
                  <a:ext cx="54000" cy="54000"/>
                </a:xfrm>
                <a:prstGeom prst="ellipse">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4BE5B745-AA4D-EE4F-8DC0-0A69FA29DB2C}"/>
                    </a:ext>
                  </a:extLst>
                </p:cNvPr>
                <p:cNvSpPr/>
                <p:nvPr/>
              </p:nvSpPr>
              <p:spPr>
                <a:xfrm>
                  <a:off x="9247397" y="5491566"/>
                  <a:ext cx="54000" cy="54000"/>
                </a:xfrm>
                <a:prstGeom prst="ellipse">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AACF57A0-B347-8D4B-9114-67ADAE506D96}"/>
                    </a:ext>
                  </a:extLst>
                </p:cNvPr>
                <p:cNvSpPr/>
                <p:nvPr/>
              </p:nvSpPr>
              <p:spPr>
                <a:xfrm>
                  <a:off x="9504589" y="5491566"/>
                  <a:ext cx="54000" cy="54000"/>
                </a:xfrm>
                <a:prstGeom prst="ellipse">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FB2A6844-A4E7-5046-9983-64B907F66490}"/>
                    </a:ext>
                  </a:extLst>
                </p:cNvPr>
                <p:cNvSpPr/>
                <p:nvPr/>
              </p:nvSpPr>
              <p:spPr>
                <a:xfrm>
                  <a:off x="9761781" y="5491566"/>
                  <a:ext cx="54000" cy="54000"/>
                </a:xfrm>
                <a:prstGeom prst="ellipse">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D573CBD3-58CF-2E4A-868D-2A0948634F48}"/>
                    </a:ext>
                  </a:extLst>
                </p:cNvPr>
                <p:cNvSpPr/>
                <p:nvPr/>
              </p:nvSpPr>
              <p:spPr>
                <a:xfrm>
                  <a:off x="10018973" y="5491566"/>
                  <a:ext cx="54000" cy="54000"/>
                </a:xfrm>
                <a:prstGeom prst="ellipse">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E8352BC2-E727-C144-B443-38F28090BB5A}"/>
                    </a:ext>
                  </a:extLst>
                </p:cNvPr>
                <p:cNvSpPr/>
                <p:nvPr/>
              </p:nvSpPr>
              <p:spPr>
                <a:xfrm>
                  <a:off x="10225388" y="5499140"/>
                  <a:ext cx="54000" cy="54000"/>
                </a:xfrm>
                <a:prstGeom prst="ellipse">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FEC04017-DCAA-1645-B3C7-1A68EC7E1B0A}"/>
                    </a:ext>
                  </a:extLst>
                </p:cNvPr>
                <p:cNvSpPr/>
                <p:nvPr/>
              </p:nvSpPr>
              <p:spPr>
                <a:xfrm>
                  <a:off x="10790549" y="5491566"/>
                  <a:ext cx="54000" cy="54000"/>
                </a:xfrm>
                <a:prstGeom prst="ellipse">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499B93E0-02ED-7A45-80FE-21D176F0A315}"/>
                    </a:ext>
                  </a:extLst>
                </p:cNvPr>
                <p:cNvSpPr/>
                <p:nvPr/>
              </p:nvSpPr>
              <p:spPr>
                <a:xfrm>
                  <a:off x="11047097" y="5499095"/>
                  <a:ext cx="54000" cy="54000"/>
                </a:xfrm>
                <a:prstGeom prst="ellipse">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468985CA-B981-3940-AFBC-75A37404D707}"/>
                    </a:ext>
                  </a:extLst>
                </p:cNvPr>
                <p:cNvSpPr/>
                <p:nvPr/>
              </p:nvSpPr>
              <p:spPr>
                <a:xfrm>
                  <a:off x="11259355" y="5503594"/>
                  <a:ext cx="54000" cy="54000"/>
                </a:xfrm>
                <a:prstGeom prst="ellipse">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3AB5C3E5-4D53-6448-8303-D57FFD7F0A3B}"/>
                    </a:ext>
                  </a:extLst>
                </p:cNvPr>
                <p:cNvSpPr/>
                <p:nvPr/>
              </p:nvSpPr>
              <p:spPr>
                <a:xfrm>
                  <a:off x="11465804" y="5497541"/>
                  <a:ext cx="54000" cy="54000"/>
                </a:xfrm>
                <a:prstGeom prst="ellipse">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C23C6960-501C-8441-A61B-B2CD029A6445}"/>
                    </a:ext>
                  </a:extLst>
                </p:cNvPr>
                <p:cNvSpPr/>
                <p:nvPr/>
              </p:nvSpPr>
              <p:spPr>
                <a:xfrm>
                  <a:off x="11772942" y="5498200"/>
                  <a:ext cx="54000" cy="54000"/>
                </a:xfrm>
                <a:prstGeom prst="ellipse">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83C6057E-F57E-D148-8C90-F7C4481AF967}"/>
                    </a:ext>
                  </a:extLst>
                </p:cNvPr>
                <p:cNvSpPr/>
                <p:nvPr/>
              </p:nvSpPr>
              <p:spPr>
                <a:xfrm>
                  <a:off x="10533357" y="5491566"/>
                  <a:ext cx="54000" cy="54000"/>
                </a:xfrm>
                <a:prstGeom prst="ellipse">
                  <a:avLst/>
                </a:prstGeom>
                <a:grp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TextBox 43">
                <a:extLst>
                  <a:ext uri="{FF2B5EF4-FFF2-40B4-BE49-F238E27FC236}">
                    <a16:creationId xmlns:a16="http://schemas.microsoft.com/office/drawing/2014/main" id="{6A3D0E8F-13C6-314F-A235-70F444057467}"/>
                  </a:ext>
                </a:extLst>
              </p:cNvPr>
              <p:cNvSpPr txBox="1"/>
              <p:nvPr/>
            </p:nvSpPr>
            <p:spPr>
              <a:xfrm rot="19728895">
                <a:off x="7815311" y="4897213"/>
                <a:ext cx="1856470" cy="384721"/>
              </a:xfrm>
              <a:prstGeom prst="rect">
                <a:avLst/>
              </a:prstGeom>
              <a:noFill/>
            </p:spPr>
            <p:txBody>
              <a:bodyPr wrap="none" rtlCol="0">
                <a:spAutoFit/>
              </a:bodyPr>
              <a:lstStyle/>
              <a:p>
                <a:pPr algn="ctr"/>
                <a:r>
                  <a:rPr lang="en-US" sz="1900" dirty="0">
                    <a:latin typeface="+mj-lt"/>
                  </a:rPr>
                  <a:t>frequency (pitch)</a:t>
                </a:r>
              </a:p>
            </p:txBody>
          </p:sp>
          <p:sp>
            <p:nvSpPr>
              <p:cNvPr id="75" name="TextBox 74">
                <a:extLst>
                  <a:ext uri="{FF2B5EF4-FFF2-40B4-BE49-F238E27FC236}">
                    <a16:creationId xmlns:a16="http://schemas.microsoft.com/office/drawing/2014/main" id="{C6B4196B-B348-3647-B832-31695365DBE0}"/>
                  </a:ext>
                </a:extLst>
              </p:cNvPr>
              <p:cNvSpPr txBox="1"/>
              <p:nvPr/>
            </p:nvSpPr>
            <p:spPr>
              <a:xfrm rot="5400000">
                <a:off x="9630907" y="2446475"/>
                <a:ext cx="2250937" cy="384721"/>
              </a:xfrm>
              <a:prstGeom prst="rect">
                <a:avLst/>
              </a:prstGeom>
              <a:noFill/>
            </p:spPr>
            <p:txBody>
              <a:bodyPr wrap="none" rtlCol="0">
                <a:spAutoFit/>
              </a:bodyPr>
              <a:lstStyle/>
              <a:p>
                <a:pPr algn="ctr"/>
                <a:r>
                  <a:rPr lang="en-US" sz="1900" dirty="0">
                    <a:latin typeface="+mj-lt"/>
                  </a:rPr>
                  <a:t>amplitude (loudness)</a:t>
                </a:r>
              </a:p>
            </p:txBody>
          </p:sp>
        </p:grpSp>
        <p:grpSp>
          <p:nvGrpSpPr>
            <p:cNvPr id="26" name="Group 25">
              <a:extLst>
                <a:ext uri="{FF2B5EF4-FFF2-40B4-BE49-F238E27FC236}">
                  <a16:creationId xmlns:a16="http://schemas.microsoft.com/office/drawing/2014/main" id="{EE1B490F-E854-FF4C-B509-BBA66E72FFE7}"/>
                </a:ext>
              </a:extLst>
            </p:cNvPr>
            <p:cNvGrpSpPr/>
            <p:nvPr/>
          </p:nvGrpSpPr>
          <p:grpSpPr>
            <a:xfrm>
              <a:off x="6888480" y="3455901"/>
              <a:ext cx="3525520" cy="2038119"/>
              <a:chOff x="6888480" y="3455901"/>
              <a:chExt cx="3525520" cy="2038119"/>
            </a:xfrm>
          </p:grpSpPr>
          <p:cxnSp>
            <p:nvCxnSpPr>
              <p:cNvPr id="19" name="Straight Connector 18">
                <a:extLst>
                  <a:ext uri="{FF2B5EF4-FFF2-40B4-BE49-F238E27FC236}">
                    <a16:creationId xmlns:a16="http://schemas.microsoft.com/office/drawing/2014/main" id="{604BFD17-441C-024D-8427-651F18A503DF}"/>
                  </a:ext>
                </a:extLst>
              </p:cNvPr>
              <p:cNvCxnSpPr>
                <a:cxnSpLocks/>
              </p:cNvCxnSpPr>
              <p:nvPr/>
            </p:nvCxnSpPr>
            <p:spPr>
              <a:xfrm flipV="1">
                <a:off x="6888480" y="3474720"/>
                <a:ext cx="3525520" cy="20193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AC7A1C4-CF5A-0E43-BA79-D4861DAFB18F}"/>
                  </a:ext>
                </a:extLst>
              </p:cNvPr>
              <p:cNvCxnSpPr>
                <a:cxnSpLocks/>
              </p:cNvCxnSpPr>
              <p:nvPr/>
            </p:nvCxnSpPr>
            <p:spPr>
              <a:xfrm flipH="1">
                <a:off x="7247528" y="3455901"/>
                <a:ext cx="13388" cy="181766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E7DB8E4A-BE4C-2F4E-9ADE-3E79BA3F2149}"/>
                  </a:ext>
                </a:extLst>
              </p:cNvPr>
              <p:cNvCxnSpPr>
                <a:cxnSpLocks/>
              </p:cNvCxnSpPr>
              <p:nvPr/>
            </p:nvCxnSpPr>
            <p:spPr>
              <a:xfrm flipH="1">
                <a:off x="8327706" y="4065813"/>
                <a:ext cx="6694" cy="60421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F4DD55C3-D06F-BB4F-AB9E-72EF828674E7}"/>
                  </a:ext>
                </a:extLst>
              </p:cNvPr>
              <p:cNvCxnSpPr>
                <a:cxnSpLocks/>
              </p:cNvCxnSpPr>
              <p:nvPr/>
            </p:nvCxnSpPr>
            <p:spPr>
              <a:xfrm>
                <a:off x="9413761" y="3755043"/>
                <a:ext cx="0" cy="252332"/>
              </a:xfrm>
              <a:prstGeom prst="line">
                <a:avLst/>
              </a:prstGeom>
              <a:ln w="25400"/>
            </p:spPr>
            <p:style>
              <a:lnRef idx="1">
                <a:schemeClr val="accent1"/>
              </a:lnRef>
              <a:fillRef idx="0">
                <a:schemeClr val="accent1"/>
              </a:fillRef>
              <a:effectRef idx="0">
                <a:schemeClr val="accent1"/>
              </a:effectRef>
              <a:fontRef idx="minor">
                <a:schemeClr val="tx1"/>
              </a:fontRef>
            </p:style>
          </p:cxnSp>
        </p:grpSp>
      </p:grpSp>
      <p:sp>
        <p:nvSpPr>
          <p:cNvPr id="4" name="TextBox 3">
            <a:extLst>
              <a:ext uri="{FF2B5EF4-FFF2-40B4-BE49-F238E27FC236}">
                <a16:creationId xmlns:a16="http://schemas.microsoft.com/office/drawing/2014/main" id="{6FB10A64-6D3B-8647-84EC-ABA959565F2B}"/>
              </a:ext>
            </a:extLst>
          </p:cNvPr>
          <p:cNvSpPr txBox="1"/>
          <p:nvPr/>
        </p:nvSpPr>
        <p:spPr>
          <a:xfrm>
            <a:off x="131530" y="6324807"/>
            <a:ext cx="11944104" cy="369332"/>
          </a:xfrm>
          <a:prstGeom prst="rect">
            <a:avLst/>
          </a:prstGeom>
          <a:solidFill>
            <a:schemeClr val="accent4">
              <a:lumMod val="20000"/>
              <a:lumOff val="80000"/>
            </a:schemeClr>
          </a:solidFill>
        </p:spPr>
        <p:txBody>
          <a:bodyPr wrap="none" rtlCol="0">
            <a:spAutoFit/>
          </a:bodyPr>
          <a:lstStyle/>
          <a:p>
            <a:r>
              <a:rPr lang="en-ZA" dirty="0"/>
              <a:t>The Discrete Fourier Transform (DFT) converts a finite sequence of sampled data into a discrete set of frequency components.</a:t>
            </a:r>
            <a:endParaRPr lang="en-US" dirty="0"/>
          </a:p>
        </p:txBody>
      </p:sp>
    </p:spTree>
    <p:extLst>
      <p:ext uri="{BB962C8B-B14F-4D97-AF65-F5344CB8AC3E}">
        <p14:creationId xmlns:p14="http://schemas.microsoft.com/office/powerpoint/2010/main" val="1357888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dissolve">
                                      <p:cBhvr>
                                        <p:cTn id="7" dur="500"/>
                                        <p:tgtEl>
                                          <p:spTgt spid="6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dissolve">
                                      <p:cBhvr>
                                        <p:cTn id="12" dur="500"/>
                                        <p:tgtEl>
                                          <p:spTgt spid="27"/>
                                        </p:tgtEl>
                                      </p:cBhvr>
                                    </p:animEffect>
                                  </p:childTnLst>
                                </p:cTn>
                              </p:par>
                              <p:par>
                                <p:cTn id="13" presetID="9"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dissolve">
                                      <p:cBhvr>
                                        <p:cTn id="15"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dissolve">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dissolve">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BFDEF-61FD-B24A-A325-DA3988B4F71B}"/>
              </a:ext>
            </a:extLst>
          </p:cNvPr>
          <p:cNvSpPr>
            <a:spLocks noGrp="1"/>
          </p:cNvSpPr>
          <p:nvPr>
            <p:ph type="title"/>
          </p:nvPr>
        </p:nvSpPr>
        <p:spPr/>
        <p:txBody>
          <a:bodyPr/>
          <a:lstStyle/>
          <a:p>
            <a:r>
              <a:rPr lang="en-ZA" dirty="0"/>
              <a:t>Applications of Fourier Transform</a:t>
            </a:r>
            <a:endParaRPr lang="en-US" dirty="0"/>
          </a:p>
        </p:txBody>
      </p:sp>
      <p:sp>
        <p:nvSpPr>
          <p:cNvPr id="3" name="Slide Number Placeholder 2">
            <a:extLst>
              <a:ext uri="{FF2B5EF4-FFF2-40B4-BE49-F238E27FC236}">
                <a16:creationId xmlns:a16="http://schemas.microsoft.com/office/drawing/2014/main" id="{1A4B55BD-2280-7B40-89AA-87FEBC65CC13}"/>
              </a:ext>
            </a:extLst>
          </p:cNvPr>
          <p:cNvSpPr>
            <a:spLocks noGrp="1"/>
          </p:cNvSpPr>
          <p:nvPr>
            <p:ph type="sldNum" sz="quarter" idx="12"/>
          </p:nvPr>
        </p:nvSpPr>
        <p:spPr/>
        <p:txBody>
          <a:bodyPr/>
          <a:lstStyle/>
          <a:p>
            <a:fld id="{591A223C-FA10-BC46-A853-03BA373D023C}" type="slidenum">
              <a:rPr lang="en-US" smtClean="0"/>
              <a:t>50</a:t>
            </a:fld>
            <a:endParaRPr lang="en-US" dirty="0"/>
          </a:p>
        </p:txBody>
      </p:sp>
      <p:pic>
        <p:nvPicPr>
          <p:cNvPr id="6" name="Picture 5">
            <a:extLst>
              <a:ext uri="{FF2B5EF4-FFF2-40B4-BE49-F238E27FC236}">
                <a16:creationId xmlns:a16="http://schemas.microsoft.com/office/drawing/2014/main" id="{6CECD52C-F131-6D4D-B5BE-635E7D65530D}"/>
              </a:ext>
            </a:extLst>
          </p:cNvPr>
          <p:cNvPicPr>
            <a:picLocks noChangeAspect="1"/>
          </p:cNvPicPr>
          <p:nvPr/>
        </p:nvPicPr>
        <p:blipFill>
          <a:blip r:embed="rId3"/>
          <a:stretch>
            <a:fillRect/>
          </a:stretch>
        </p:blipFill>
        <p:spPr>
          <a:xfrm>
            <a:off x="463550" y="928688"/>
            <a:ext cx="11264900" cy="5626100"/>
          </a:xfrm>
          <a:prstGeom prst="rect">
            <a:avLst/>
          </a:prstGeom>
        </p:spPr>
      </p:pic>
    </p:spTree>
    <p:extLst>
      <p:ext uri="{BB962C8B-B14F-4D97-AF65-F5344CB8AC3E}">
        <p14:creationId xmlns:p14="http://schemas.microsoft.com/office/powerpoint/2010/main" val="3170999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E1B6E8F-149B-A14F-828A-8FBF41E9A6D8}"/>
              </a:ext>
            </a:extLst>
          </p:cNvPr>
          <p:cNvSpPr>
            <a:spLocks noGrp="1"/>
          </p:cNvSpPr>
          <p:nvPr>
            <p:ph type="title"/>
          </p:nvPr>
        </p:nvSpPr>
        <p:spPr/>
        <p:txBody>
          <a:bodyPr/>
          <a:lstStyle/>
          <a:p>
            <a:r>
              <a:rPr lang="en-US" dirty="0" err="1"/>
              <a:t>MathBox</a:t>
            </a:r>
            <a:r>
              <a:rPr lang="en-US" dirty="0"/>
              <a:t>: </a:t>
            </a:r>
            <a:r>
              <a:rPr lang="en-ZA" dirty="0"/>
              <a:t>Phase Factor</a:t>
            </a:r>
            <a:endParaRPr lang="en-US" dirty="0"/>
          </a:p>
        </p:txBody>
      </p:sp>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8F868E8A-B0D4-8E4C-83C9-1233A371C76A}"/>
                  </a:ext>
                </a:extLst>
              </p:cNvPr>
              <p:cNvSpPr txBox="1"/>
              <p:nvPr/>
            </p:nvSpPr>
            <p:spPr>
              <a:xfrm>
                <a:off x="2767985" y="1521141"/>
                <a:ext cx="3627147" cy="53713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ZA" sz="2800" i="1" smtClean="0">
                              <a:latin typeface="Cambria Math" panose="02040503050406030204" pitchFamily="18" charset="0"/>
                            </a:rPr>
                          </m:ctrlPr>
                        </m:sSupPr>
                        <m:e>
                          <m:r>
                            <a:rPr lang="sr-Latn-RS" sz="2800" i="1">
                              <a:latin typeface="Cambria Math" panose="02040503050406030204" pitchFamily="18" charset="0"/>
                            </a:rPr>
                            <m:t>𝑒</m:t>
                          </m:r>
                        </m:e>
                        <m:sup>
                          <m:r>
                            <a:rPr lang="sr-Latn-RS" sz="2800" i="1">
                              <a:latin typeface="Cambria Math" panose="02040503050406030204" pitchFamily="18" charset="0"/>
                            </a:rPr>
                            <m:t>±</m:t>
                          </m:r>
                          <m:r>
                            <a:rPr lang="sr-Latn-RS" sz="2800" i="1">
                              <a:latin typeface="Cambria Math" panose="02040503050406030204" pitchFamily="18" charset="0"/>
                            </a:rPr>
                            <m:t>𝑖</m:t>
                          </m:r>
                          <m:r>
                            <a:rPr lang="sr-Latn-RS" sz="2800" i="1">
                              <a:latin typeface="Cambria Math" panose="02040503050406030204" pitchFamily="18" charset="0"/>
                              <a:ea typeface="Cambria Math" panose="02040503050406030204" pitchFamily="18" charset="0"/>
                            </a:rPr>
                            <m:t>𝜑</m:t>
                          </m:r>
                        </m:sup>
                      </m:sSup>
                      <m:r>
                        <a:rPr lang="sr-Latn-RS" sz="2800" i="1">
                          <a:latin typeface="Cambria Math" panose="02040503050406030204" pitchFamily="18" charset="0"/>
                        </a:rPr>
                        <m:t>=</m:t>
                      </m:r>
                      <m:func>
                        <m:funcPr>
                          <m:ctrlPr>
                            <a:rPr lang="en-ZA" sz="2800" i="1">
                              <a:latin typeface="Cambria Math" panose="02040503050406030204" pitchFamily="18" charset="0"/>
                            </a:rPr>
                          </m:ctrlPr>
                        </m:funcPr>
                        <m:fName>
                          <m:r>
                            <m:rPr>
                              <m:sty m:val="p"/>
                            </m:rPr>
                            <a:rPr lang="sr-Latn-RS" sz="2800">
                              <a:latin typeface="Cambria Math" panose="02040503050406030204" pitchFamily="18" charset="0"/>
                            </a:rPr>
                            <m:t>cos</m:t>
                          </m:r>
                        </m:fName>
                        <m:e>
                          <m:r>
                            <a:rPr lang="sr-Latn-RS" sz="2800" i="1">
                              <a:latin typeface="Cambria Math" panose="02040503050406030204" pitchFamily="18" charset="0"/>
                              <a:ea typeface="Cambria Math" panose="02040503050406030204" pitchFamily="18" charset="0"/>
                            </a:rPr>
                            <m:t>𝜑</m:t>
                          </m:r>
                        </m:e>
                      </m:func>
                      <m:r>
                        <a:rPr lang="sr-Latn-RS" sz="2800" i="1">
                          <a:latin typeface="Cambria Math" panose="02040503050406030204" pitchFamily="18" charset="0"/>
                        </a:rPr>
                        <m:t>±</m:t>
                      </m:r>
                      <m:r>
                        <a:rPr lang="sr-Latn-RS" sz="2800" i="1">
                          <a:latin typeface="Cambria Math" panose="02040503050406030204" pitchFamily="18" charset="0"/>
                        </a:rPr>
                        <m:t>𝑖</m:t>
                      </m:r>
                      <m:func>
                        <m:funcPr>
                          <m:ctrlPr>
                            <a:rPr lang="en-ZA" sz="2800" i="1">
                              <a:latin typeface="Cambria Math" panose="02040503050406030204" pitchFamily="18" charset="0"/>
                            </a:rPr>
                          </m:ctrlPr>
                        </m:funcPr>
                        <m:fName>
                          <m:r>
                            <m:rPr>
                              <m:sty m:val="p"/>
                            </m:rPr>
                            <a:rPr lang="sr-Latn-RS" sz="2800">
                              <a:latin typeface="Cambria Math" panose="02040503050406030204" pitchFamily="18" charset="0"/>
                            </a:rPr>
                            <m:t>sin</m:t>
                          </m:r>
                        </m:fName>
                        <m:e>
                          <m:r>
                            <a:rPr lang="sr-Latn-RS" sz="2800" i="1">
                              <a:latin typeface="Cambria Math" panose="02040503050406030204" pitchFamily="18" charset="0"/>
                              <a:ea typeface="Cambria Math" panose="02040503050406030204" pitchFamily="18" charset="0"/>
                            </a:rPr>
                            <m:t>𝜑</m:t>
                          </m:r>
                        </m:e>
                      </m:func>
                    </m:oMath>
                  </m:oMathPara>
                </a14:m>
                <a:endParaRPr lang="en-US" sz="2800" dirty="0"/>
              </a:p>
            </p:txBody>
          </p:sp>
        </mc:Choice>
        <mc:Fallback xmlns="">
          <p:sp>
            <p:nvSpPr>
              <p:cNvPr id="93" name="TextBox 92">
                <a:extLst>
                  <a:ext uri="{FF2B5EF4-FFF2-40B4-BE49-F238E27FC236}">
                    <a16:creationId xmlns:a16="http://schemas.microsoft.com/office/drawing/2014/main" id="{8F868E8A-B0D4-8E4C-83C9-1233A371C76A}"/>
                  </a:ext>
                </a:extLst>
              </p:cNvPr>
              <p:cNvSpPr txBox="1">
                <a:spLocks noRot="1" noChangeAspect="1" noMove="1" noResize="1" noEditPoints="1" noAdjustHandles="1" noChangeArrowheads="1" noChangeShapeType="1" noTextEdit="1"/>
              </p:cNvSpPr>
              <p:nvPr/>
            </p:nvSpPr>
            <p:spPr>
              <a:xfrm>
                <a:off x="2767985" y="1521141"/>
                <a:ext cx="3627147" cy="537135"/>
              </a:xfrm>
              <a:prstGeom prst="rect">
                <a:avLst/>
              </a:prstGeom>
              <a:blipFill>
                <a:blip r:embed="rId3"/>
                <a:stretch>
                  <a:fillRect b="-11905"/>
                </a:stretch>
              </a:blipFill>
            </p:spPr>
            <p:txBody>
              <a:bodyPr/>
              <a:lstStyle/>
              <a:p>
                <a:r>
                  <a:rPr lang="en-US">
                    <a:noFill/>
                  </a:rPr>
                  <a:t> </a:t>
                </a:r>
              </a:p>
            </p:txBody>
          </p:sp>
        </mc:Fallback>
      </mc:AlternateContent>
      <p:sp>
        <p:nvSpPr>
          <p:cNvPr id="95" name="TextBox 94">
            <a:extLst>
              <a:ext uri="{FF2B5EF4-FFF2-40B4-BE49-F238E27FC236}">
                <a16:creationId xmlns:a16="http://schemas.microsoft.com/office/drawing/2014/main" id="{FF7574B5-39FD-BF4C-B3E6-8F705052B61C}"/>
              </a:ext>
            </a:extLst>
          </p:cNvPr>
          <p:cNvSpPr txBox="1"/>
          <p:nvPr/>
        </p:nvSpPr>
        <p:spPr>
          <a:xfrm>
            <a:off x="163477" y="3021592"/>
            <a:ext cx="1448217" cy="584775"/>
          </a:xfrm>
          <a:prstGeom prst="rect">
            <a:avLst/>
          </a:prstGeom>
          <a:noFill/>
        </p:spPr>
        <p:txBody>
          <a:bodyPr wrap="none" rtlCol="0">
            <a:spAutoFit/>
          </a:bodyPr>
          <a:lstStyle/>
          <a:p>
            <a:r>
              <a:rPr lang="en-ZA" sz="1600" dirty="0"/>
              <a:t>Leonhard Euler</a:t>
            </a:r>
            <a:endParaRPr lang="sr-Latn-RS" sz="1600" dirty="0"/>
          </a:p>
          <a:p>
            <a:pPr algn="ctr"/>
            <a:r>
              <a:rPr lang="sr-Latn-RS" sz="1600" dirty="0"/>
              <a:t>(1707-1783)</a:t>
            </a:r>
            <a:endParaRPr lang="en-US" sz="1600" dirty="0"/>
          </a:p>
        </p:txBody>
      </p:sp>
      <p:pic>
        <p:nvPicPr>
          <p:cNvPr id="96" name="Picture 95">
            <a:extLst>
              <a:ext uri="{FF2B5EF4-FFF2-40B4-BE49-F238E27FC236}">
                <a16:creationId xmlns:a16="http://schemas.microsoft.com/office/drawing/2014/main" id="{B371B9EE-00F6-1D41-913B-6BFF4D9AF3B0}"/>
              </a:ext>
            </a:extLst>
          </p:cNvPr>
          <p:cNvPicPr>
            <a:picLocks noChangeAspect="1"/>
          </p:cNvPicPr>
          <p:nvPr/>
        </p:nvPicPr>
        <p:blipFill>
          <a:blip r:embed="rId4"/>
          <a:stretch>
            <a:fillRect/>
          </a:stretch>
        </p:blipFill>
        <p:spPr>
          <a:xfrm flipH="1">
            <a:off x="115938" y="1253168"/>
            <a:ext cx="1802053" cy="1626072"/>
          </a:xfrm>
          <a:prstGeom prst="rect">
            <a:avLst/>
          </a:prstGeom>
        </p:spPr>
      </p:pic>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CD475874-E81C-4842-AB36-8C4FDE962498}"/>
                  </a:ext>
                </a:extLst>
              </p:cNvPr>
              <p:cNvSpPr txBox="1"/>
              <p:nvPr/>
            </p:nvSpPr>
            <p:spPr>
              <a:xfrm>
                <a:off x="2754774" y="2121145"/>
                <a:ext cx="3478068" cy="1212255"/>
              </a:xfrm>
              <a:prstGeom prst="rect">
                <a:avLst/>
              </a:prstGeom>
              <a:noFill/>
            </p:spPr>
            <p:txBody>
              <a:bodyPr wrap="none" rtlCol="0">
                <a:spAutoFit/>
              </a:bodyPr>
              <a:lstStyle/>
              <a:p>
                <a14:m>
                  <m:oMath xmlns:m="http://schemas.openxmlformats.org/officeDocument/2006/math">
                    <m:r>
                      <a:rPr lang="sr-Latn-RS" sz="2400" i="1">
                        <a:latin typeface="Cambria Math" panose="02040503050406030204" pitchFamily="18" charset="0"/>
                        <a:ea typeface="Cambria Math" panose="02040503050406030204" pitchFamily="18" charset="0"/>
                      </a:rPr>
                      <m:t>𝜑</m:t>
                    </m:r>
                    <m:r>
                      <a:rPr lang="en-US" sz="2400" i="1">
                        <a:latin typeface="Cambria Math" panose="02040503050406030204" pitchFamily="18" charset="0"/>
                        <a:ea typeface="Cambria Math" panose="02040503050406030204" pitchFamily="18" charset="0"/>
                      </a:rPr>
                      <m:t>  </m:t>
                    </m:r>
                  </m:oMath>
                </a14:m>
                <a:r>
                  <a:rPr lang="en-US" sz="2400" dirty="0"/>
                  <a:t>            : phase angle</a:t>
                </a:r>
                <a:endParaRPr lang="en-US" sz="2400" i="1" dirty="0">
                  <a:latin typeface="Cambria Math" panose="02040503050406030204" pitchFamily="18" charset="0"/>
                </a:endParaRPr>
              </a:p>
              <a:p>
                <a14:m>
                  <m:oMath xmlns:m="http://schemas.openxmlformats.org/officeDocument/2006/math">
                    <m:r>
                      <a:rPr lang="en-US" sz="2400" i="1">
                        <a:latin typeface="Cambria Math" panose="02040503050406030204" pitchFamily="18" charset="0"/>
                      </a:rPr>
                      <m:t>𝑒</m:t>
                    </m:r>
                    <m:r>
                      <a:rPr lang="en-US" sz="2400" i="1">
                        <a:latin typeface="Cambria Math" panose="02040503050406030204" pitchFamily="18" charset="0"/>
                        <a:ea typeface="Cambria Math" panose="02040503050406030204" pitchFamily="18" charset="0"/>
                      </a:rPr>
                      <m:t>≈2.71</m:t>
                    </m:r>
                  </m:oMath>
                </a14:m>
                <a:r>
                  <a:rPr lang="en-US" sz="2400" dirty="0">
                    <a:latin typeface="Cambria Math" panose="02040503050406030204" pitchFamily="18" charset="0"/>
                  </a:rPr>
                  <a:t>: Euler’s number</a:t>
                </a:r>
              </a:p>
              <a:p>
                <a14:m>
                  <m:oMath xmlns:m="http://schemas.openxmlformats.org/officeDocument/2006/math">
                    <m:sSup>
                      <m:sSupPr>
                        <m:ctrlPr>
                          <a:rPr lang="en-ZA" sz="2400" i="1" smtClean="0">
                            <a:latin typeface="Cambria Math" panose="02040503050406030204" pitchFamily="18" charset="0"/>
                          </a:rPr>
                        </m:ctrlPr>
                      </m:sSupPr>
                      <m:e>
                        <m:r>
                          <a:rPr lang="sr-Latn-RS" sz="2400" i="1">
                            <a:latin typeface="Cambria Math" panose="02040503050406030204" pitchFamily="18" charset="0"/>
                          </a:rPr>
                          <m:t>𝑒</m:t>
                        </m:r>
                      </m:e>
                      <m:sup>
                        <m:r>
                          <a:rPr lang="sr-Latn-RS" sz="2400" i="1">
                            <a:latin typeface="Cambria Math" panose="02040503050406030204" pitchFamily="18" charset="0"/>
                          </a:rPr>
                          <m:t>±</m:t>
                        </m:r>
                        <m:r>
                          <a:rPr lang="sr-Latn-RS" sz="2400" i="1">
                            <a:latin typeface="Cambria Math" panose="02040503050406030204" pitchFamily="18" charset="0"/>
                          </a:rPr>
                          <m:t>𝑖</m:t>
                        </m:r>
                        <m:r>
                          <a:rPr lang="sr-Latn-RS" sz="2400" i="1">
                            <a:latin typeface="Cambria Math" panose="02040503050406030204" pitchFamily="18" charset="0"/>
                            <a:ea typeface="Cambria Math" panose="02040503050406030204" pitchFamily="18" charset="0"/>
                          </a:rPr>
                          <m:t>𝜑</m:t>
                        </m:r>
                      </m:sup>
                    </m:sSup>
                  </m:oMath>
                </a14:m>
                <a:r>
                  <a:rPr lang="sr-Latn-RS" sz="2400" dirty="0">
                    <a:ea typeface="Cambria Math" panose="02040503050406030204" pitchFamily="18" charset="0"/>
                  </a:rPr>
                  <a:t>        : </a:t>
                </a:r>
                <a:r>
                  <a:rPr lang="en-US" sz="2400" dirty="0"/>
                  <a:t>phase factor</a:t>
                </a:r>
                <a:endParaRPr lang="sr-Latn-RS" sz="2400" dirty="0">
                  <a:ea typeface="Cambria Math" panose="02040503050406030204" pitchFamily="18" charset="0"/>
                </a:endParaRPr>
              </a:p>
            </p:txBody>
          </p:sp>
        </mc:Choice>
        <mc:Fallback xmlns="">
          <p:sp>
            <p:nvSpPr>
              <p:cNvPr id="103" name="TextBox 102">
                <a:extLst>
                  <a:ext uri="{FF2B5EF4-FFF2-40B4-BE49-F238E27FC236}">
                    <a16:creationId xmlns:a16="http://schemas.microsoft.com/office/drawing/2014/main" id="{CD475874-E81C-4842-AB36-8C4FDE962498}"/>
                  </a:ext>
                </a:extLst>
              </p:cNvPr>
              <p:cNvSpPr txBox="1">
                <a:spLocks noRot="1" noChangeAspect="1" noMove="1" noResize="1" noEditPoints="1" noAdjustHandles="1" noChangeArrowheads="1" noChangeShapeType="1" noTextEdit="1"/>
              </p:cNvSpPr>
              <p:nvPr/>
            </p:nvSpPr>
            <p:spPr>
              <a:xfrm>
                <a:off x="2754774" y="2121145"/>
                <a:ext cx="3478068" cy="1212255"/>
              </a:xfrm>
              <a:prstGeom prst="rect">
                <a:avLst/>
              </a:prstGeom>
              <a:blipFill>
                <a:blip r:embed="rId5"/>
                <a:stretch>
                  <a:fillRect t="-3125" r="-1455" b="-10417"/>
                </a:stretch>
              </a:blipFill>
            </p:spPr>
            <p:txBody>
              <a:bodyPr/>
              <a:lstStyle/>
              <a:p>
                <a:r>
                  <a:rPr lang="en-US">
                    <a:noFill/>
                  </a:rPr>
                  <a:t> </a:t>
                </a:r>
              </a:p>
            </p:txBody>
          </p:sp>
        </mc:Fallback>
      </mc:AlternateContent>
      <p:cxnSp>
        <p:nvCxnSpPr>
          <p:cNvPr id="19" name="Straight Connector 18">
            <a:extLst>
              <a:ext uri="{FF2B5EF4-FFF2-40B4-BE49-F238E27FC236}">
                <a16:creationId xmlns:a16="http://schemas.microsoft.com/office/drawing/2014/main" id="{A56AA09E-1218-6949-ADAF-5FBECEF1BD42}"/>
              </a:ext>
            </a:extLst>
          </p:cNvPr>
          <p:cNvCxnSpPr>
            <a:cxnSpLocks/>
          </p:cNvCxnSpPr>
          <p:nvPr/>
        </p:nvCxnSpPr>
        <p:spPr>
          <a:xfrm>
            <a:off x="9750469" y="2087563"/>
            <a:ext cx="1849" cy="1429641"/>
          </a:xfrm>
          <a:prstGeom prst="line">
            <a:avLst/>
          </a:prstGeom>
          <a:ln>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D9D6976-7F5F-3F4F-BEC1-4AF80A14C46B}"/>
                  </a:ext>
                </a:extLst>
              </p:cNvPr>
              <p:cNvSpPr/>
              <p:nvPr/>
            </p:nvSpPr>
            <p:spPr>
              <a:xfrm>
                <a:off x="10871180" y="3543867"/>
                <a:ext cx="538161"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𝑅𝑒</m:t>
                      </m:r>
                    </m:oMath>
                  </m:oMathPara>
                </a14:m>
                <a:endParaRPr lang="en-US" sz="2000" dirty="0"/>
              </a:p>
            </p:txBody>
          </p:sp>
        </mc:Choice>
        <mc:Fallback xmlns="">
          <p:sp>
            <p:nvSpPr>
              <p:cNvPr id="13" name="Rectangle 12">
                <a:extLst>
                  <a:ext uri="{FF2B5EF4-FFF2-40B4-BE49-F238E27FC236}">
                    <a16:creationId xmlns:a16="http://schemas.microsoft.com/office/drawing/2014/main" id="{7D9D6976-7F5F-3F4F-BEC1-4AF80A14C46B}"/>
                  </a:ext>
                </a:extLst>
              </p:cNvPr>
              <p:cNvSpPr>
                <a:spLocks noRot="1" noChangeAspect="1" noMove="1" noResize="1" noEditPoints="1" noAdjustHandles="1" noChangeArrowheads="1" noChangeShapeType="1" noTextEdit="1"/>
              </p:cNvSpPr>
              <p:nvPr/>
            </p:nvSpPr>
            <p:spPr>
              <a:xfrm>
                <a:off x="10871180" y="3543867"/>
                <a:ext cx="538161" cy="40011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D7F6EA05-E4D8-7E4F-9738-DEA019845CF8}"/>
                  </a:ext>
                </a:extLst>
              </p:cNvPr>
              <p:cNvSpPr/>
              <p:nvPr/>
            </p:nvSpPr>
            <p:spPr>
              <a:xfrm>
                <a:off x="7788832" y="1014632"/>
                <a:ext cx="559320"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𝐼𝑚</m:t>
                      </m:r>
                    </m:oMath>
                  </m:oMathPara>
                </a14:m>
                <a:endParaRPr lang="en-US" sz="2000" dirty="0"/>
              </a:p>
            </p:txBody>
          </p:sp>
        </mc:Choice>
        <mc:Fallback xmlns="">
          <p:sp>
            <p:nvSpPr>
              <p:cNvPr id="14" name="Rectangle 13">
                <a:extLst>
                  <a:ext uri="{FF2B5EF4-FFF2-40B4-BE49-F238E27FC236}">
                    <a16:creationId xmlns:a16="http://schemas.microsoft.com/office/drawing/2014/main" id="{D7F6EA05-E4D8-7E4F-9738-DEA019845CF8}"/>
                  </a:ext>
                </a:extLst>
              </p:cNvPr>
              <p:cNvSpPr>
                <a:spLocks noRot="1" noChangeAspect="1" noMove="1" noResize="1" noEditPoints="1" noAdjustHandles="1" noChangeArrowheads="1" noChangeShapeType="1" noTextEdit="1"/>
              </p:cNvSpPr>
              <p:nvPr/>
            </p:nvSpPr>
            <p:spPr>
              <a:xfrm>
                <a:off x="7788832" y="1014632"/>
                <a:ext cx="559320" cy="400110"/>
              </a:xfrm>
              <a:prstGeom prst="rect">
                <a:avLst/>
              </a:prstGeom>
              <a:blipFill>
                <a:blip r:embed="rId7"/>
                <a:stretch>
                  <a:fillRect/>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535B1276-E9EC-844A-8B37-8680C8D0163D}"/>
              </a:ext>
            </a:extLst>
          </p:cNvPr>
          <p:cNvCxnSpPr>
            <a:cxnSpLocks/>
          </p:cNvCxnSpPr>
          <p:nvPr/>
        </p:nvCxnSpPr>
        <p:spPr>
          <a:xfrm flipH="1" flipV="1">
            <a:off x="8388224" y="1157649"/>
            <a:ext cx="0" cy="2855646"/>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76586C0-FBA1-FD4C-B125-C30948677224}"/>
              </a:ext>
            </a:extLst>
          </p:cNvPr>
          <p:cNvCxnSpPr>
            <a:cxnSpLocks/>
          </p:cNvCxnSpPr>
          <p:nvPr/>
        </p:nvCxnSpPr>
        <p:spPr>
          <a:xfrm>
            <a:off x="7878423" y="3517205"/>
            <a:ext cx="2992757" cy="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39BAF94-D1BC-E849-AECA-7B6DE5880C97}"/>
              </a:ext>
            </a:extLst>
          </p:cNvPr>
          <p:cNvSpPr txBox="1"/>
          <p:nvPr/>
        </p:nvSpPr>
        <p:spPr>
          <a:xfrm>
            <a:off x="7958436" y="3563782"/>
            <a:ext cx="352982" cy="400110"/>
          </a:xfrm>
          <a:prstGeom prst="rect">
            <a:avLst/>
          </a:prstGeom>
          <a:noFill/>
        </p:spPr>
        <p:txBody>
          <a:bodyPr wrap="none" rtlCol="0">
            <a:spAutoFit/>
          </a:bodyPr>
          <a:lstStyle/>
          <a:p>
            <a:r>
              <a:rPr lang="en-US" sz="2000" dirty="0">
                <a:latin typeface="+mj-lt"/>
              </a:rPr>
              <a:t>O</a:t>
            </a:r>
          </a:p>
        </p:txBody>
      </p:sp>
      <p:cxnSp>
        <p:nvCxnSpPr>
          <p:cNvPr id="20" name="Straight Connector 19">
            <a:extLst>
              <a:ext uri="{FF2B5EF4-FFF2-40B4-BE49-F238E27FC236}">
                <a16:creationId xmlns:a16="http://schemas.microsoft.com/office/drawing/2014/main" id="{8DCE1194-6EDD-2744-A9C3-2D5A259B1CBE}"/>
              </a:ext>
            </a:extLst>
          </p:cNvPr>
          <p:cNvCxnSpPr>
            <a:cxnSpLocks/>
          </p:cNvCxnSpPr>
          <p:nvPr/>
        </p:nvCxnSpPr>
        <p:spPr>
          <a:xfrm flipH="1">
            <a:off x="8409212" y="2087563"/>
            <a:ext cx="1341257"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D9EA109-8B32-7941-8778-23BDF2840C2E}"/>
              </a:ext>
            </a:extLst>
          </p:cNvPr>
          <p:cNvCxnSpPr>
            <a:cxnSpLocks/>
          </p:cNvCxnSpPr>
          <p:nvPr/>
        </p:nvCxnSpPr>
        <p:spPr>
          <a:xfrm flipV="1">
            <a:off x="8388224" y="2089388"/>
            <a:ext cx="1362244" cy="1427817"/>
          </a:xfrm>
          <a:prstGeom prst="straightConnector1">
            <a:avLst/>
          </a:prstGeom>
          <a:ln w="38100" cap="rnd">
            <a:solidFill>
              <a:schemeClr val="accent5">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A7724F2-3326-4E43-85E8-C8FE9B0992B7}"/>
              </a:ext>
            </a:extLst>
          </p:cNvPr>
          <p:cNvCxnSpPr>
            <a:cxnSpLocks/>
          </p:cNvCxnSpPr>
          <p:nvPr/>
        </p:nvCxnSpPr>
        <p:spPr>
          <a:xfrm>
            <a:off x="10401027" y="3405582"/>
            <a:ext cx="0" cy="30346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3531C5F7-82F5-FC45-9E30-28F8BE644390}"/>
                  </a:ext>
                </a:extLst>
              </p:cNvPr>
              <p:cNvSpPr/>
              <p:nvPr/>
            </p:nvSpPr>
            <p:spPr>
              <a:xfrm>
                <a:off x="10185944" y="3706030"/>
                <a:ext cx="385041"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solidFill>
                            <a:schemeClr val="bg1">
                              <a:lumMod val="50000"/>
                            </a:schemeClr>
                          </a:solidFill>
                          <a:latin typeface="Cambria Math" panose="02040503050406030204" pitchFamily="18" charset="0"/>
                        </a:rPr>
                        <m:t>1</m:t>
                      </m:r>
                    </m:oMath>
                  </m:oMathPara>
                </a14:m>
                <a:endParaRPr lang="en-US" sz="2000" dirty="0">
                  <a:solidFill>
                    <a:schemeClr val="bg1">
                      <a:lumMod val="50000"/>
                    </a:schemeClr>
                  </a:solidFill>
                </a:endParaRPr>
              </a:p>
            </p:txBody>
          </p:sp>
        </mc:Choice>
        <mc:Fallback xmlns="">
          <p:sp>
            <p:nvSpPr>
              <p:cNvPr id="26" name="Rectangle 25">
                <a:extLst>
                  <a:ext uri="{FF2B5EF4-FFF2-40B4-BE49-F238E27FC236}">
                    <a16:creationId xmlns:a16="http://schemas.microsoft.com/office/drawing/2014/main" id="{3531C5F7-82F5-FC45-9E30-28F8BE644390}"/>
                  </a:ext>
                </a:extLst>
              </p:cNvPr>
              <p:cNvSpPr>
                <a:spLocks noRot="1" noChangeAspect="1" noMove="1" noResize="1" noEditPoints="1" noAdjustHandles="1" noChangeArrowheads="1" noChangeShapeType="1" noTextEdit="1"/>
              </p:cNvSpPr>
              <p:nvPr/>
            </p:nvSpPr>
            <p:spPr>
              <a:xfrm>
                <a:off x="10185944" y="3706030"/>
                <a:ext cx="385041" cy="400110"/>
              </a:xfrm>
              <a:prstGeom prst="rect">
                <a:avLst/>
              </a:prstGeom>
              <a:blipFill>
                <a:blip r:embed="rId8"/>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64F91A4C-97E8-B342-9EFB-E1B8C797FA78}"/>
              </a:ext>
            </a:extLst>
          </p:cNvPr>
          <p:cNvCxnSpPr>
            <a:cxnSpLocks/>
          </p:cNvCxnSpPr>
          <p:nvPr/>
        </p:nvCxnSpPr>
        <p:spPr>
          <a:xfrm rot="16200000">
            <a:off x="8401317" y="1399439"/>
            <a:ext cx="0" cy="30346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10080374-FBD4-2B43-9201-884F11B23A92}"/>
                  </a:ext>
                </a:extLst>
              </p:cNvPr>
              <p:cNvSpPr/>
              <p:nvPr/>
            </p:nvSpPr>
            <p:spPr>
              <a:xfrm>
                <a:off x="7812902" y="1364517"/>
                <a:ext cx="332270"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solidFill>
                            <a:schemeClr val="bg1">
                              <a:lumMod val="50000"/>
                            </a:schemeClr>
                          </a:solidFill>
                          <a:latin typeface="Cambria Math" panose="02040503050406030204" pitchFamily="18" charset="0"/>
                        </a:rPr>
                        <m:t>𝑖</m:t>
                      </m:r>
                    </m:oMath>
                  </m:oMathPara>
                </a14:m>
                <a:endParaRPr lang="en-US" sz="2000" dirty="0">
                  <a:solidFill>
                    <a:schemeClr val="bg1">
                      <a:lumMod val="50000"/>
                    </a:schemeClr>
                  </a:solidFill>
                </a:endParaRPr>
              </a:p>
            </p:txBody>
          </p:sp>
        </mc:Choice>
        <mc:Fallback xmlns="">
          <p:sp>
            <p:nvSpPr>
              <p:cNvPr id="46" name="Rectangle 45">
                <a:extLst>
                  <a:ext uri="{FF2B5EF4-FFF2-40B4-BE49-F238E27FC236}">
                    <a16:creationId xmlns:a16="http://schemas.microsoft.com/office/drawing/2014/main" id="{10080374-FBD4-2B43-9201-884F11B23A92}"/>
                  </a:ext>
                </a:extLst>
              </p:cNvPr>
              <p:cNvSpPr>
                <a:spLocks noRot="1" noChangeAspect="1" noMove="1" noResize="1" noEditPoints="1" noAdjustHandles="1" noChangeArrowheads="1" noChangeShapeType="1" noTextEdit="1"/>
              </p:cNvSpPr>
              <p:nvPr/>
            </p:nvSpPr>
            <p:spPr>
              <a:xfrm>
                <a:off x="7812902" y="1364517"/>
                <a:ext cx="332270" cy="40011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B40FC76A-9E85-A54C-844F-1BB03B4FCE3B}"/>
                  </a:ext>
                </a:extLst>
              </p:cNvPr>
              <p:cNvSpPr txBox="1"/>
              <p:nvPr/>
            </p:nvSpPr>
            <p:spPr>
              <a:xfrm>
                <a:off x="8682149" y="3072026"/>
                <a:ext cx="421013"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sz="2000" i="1" smtClean="0">
                          <a:latin typeface="Cambria Math" panose="02040503050406030204" pitchFamily="18" charset="0"/>
                          <a:ea typeface="Cambria Math" panose="02040503050406030204" pitchFamily="18" charset="0"/>
                        </a:rPr>
                        <m:t>𝜑</m:t>
                      </m:r>
                    </m:oMath>
                  </m:oMathPara>
                </a14:m>
                <a:endParaRPr lang="en-US" sz="2000" dirty="0"/>
              </a:p>
            </p:txBody>
          </p:sp>
        </mc:Choice>
        <mc:Fallback xmlns="">
          <p:sp>
            <p:nvSpPr>
              <p:cNvPr id="97" name="TextBox 96">
                <a:extLst>
                  <a:ext uri="{FF2B5EF4-FFF2-40B4-BE49-F238E27FC236}">
                    <a16:creationId xmlns:a16="http://schemas.microsoft.com/office/drawing/2014/main" id="{B40FC76A-9E85-A54C-844F-1BB03B4FCE3B}"/>
                  </a:ext>
                </a:extLst>
              </p:cNvPr>
              <p:cNvSpPr txBox="1">
                <a:spLocks noRot="1" noChangeAspect="1" noMove="1" noResize="1" noEditPoints="1" noAdjustHandles="1" noChangeArrowheads="1" noChangeShapeType="1" noTextEdit="1"/>
              </p:cNvSpPr>
              <p:nvPr/>
            </p:nvSpPr>
            <p:spPr>
              <a:xfrm>
                <a:off x="8682149" y="3072026"/>
                <a:ext cx="421013" cy="400110"/>
              </a:xfrm>
              <a:prstGeom prst="rect">
                <a:avLst/>
              </a:prstGeom>
              <a:blipFill>
                <a:blip r:embed="rId10"/>
                <a:stretch>
                  <a:fillRect b="-6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7B9530AA-6553-E24B-B517-ED125623FF5F}"/>
                  </a:ext>
                </a:extLst>
              </p:cNvPr>
              <p:cNvSpPr txBox="1"/>
              <p:nvPr/>
            </p:nvSpPr>
            <p:spPr>
              <a:xfrm>
                <a:off x="8767591" y="3483917"/>
                <a:ext cx="854148" cy="41493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en-ZA" sz="2000" i="1">
                              <a:latin typeface="Cambria Math" panose="02040503050406030204" pitchFamily="18" charset="0"/>
                            </a:rPr>
                          </m:ctrlPr>
                        </m:funcPr>
                        <m:fName>
                          <m:r>
                            <m:rPr>
                              <m:sty m:val="p"/>
                            </m:rPr>
                            <a:rPr lang="sr-Latn-RS" sz="2000">
                              <a:latin typeface="Cambria Math" panose="02040503050406030204" pitchFamily="18" charset="0"/>
                            </a:rPr>
                            <m:t>cos</m:t>
                          </m:r>
                        </m:fName>
                        <m:e>
                          <m:r>
                            <a:rPr lang="sr-Latn-RS" sz="2000" i="1">
                              <a:latin typeface="Cambria Math" panose="02040503050406030204" pitchFamily="18" charset="0"/>
                              <a:ea typeface="Cambria Math" panose="02040503050406030204" pitchFamily="18" charset="0"/>
                            </a:rPr>
                            <m:t>𝜑</m:t>
                          </m:r>
                        </m:e>
                      </m:func>
                    </m:oMath>
                  </m:oMathPara>
                </a14:m>
                <a:endParaRPr lang="en-US" sz="2000" dirty="0"/>
              </a:p>
            </p:txBody>
          </p:sp>
        </mc:Choice>
        <mc:Fallback xmlns="">
          <p:sp>
            <p:nvSpPr>
              <p:cNvPr id="98" name="TextBox 97">
                <a:extLst>
                  <a:ext uri="{FF2B5EF4-FFF2-40B4-BE49-F238E27FC236}">
                    <a16:creationId xmlns:a16="http://schemas.microsoft.com/office/drawing/2014/main" id="{7B9530AA-6553-E24B-B517-ED125623FF5F}"/>
                  </a:ext>
                </a:extLst>
              </p:cNvPr>
              <p:cNvSpPr txBox="1">
                <a:spLocks noRot="1" noChangeAspect="1" noMove="1" noResize="1" noEditPoints="1" noAdjustHandles="1" noChangeArrowheads="1" noChangeShapeType="1" noTextEdit="1"/>
              </p:cNvSpPr>
              <p:nvPr/>
            </p:nvSpPr>
            <p:spPr>
              <a:xfrm>
                <a:off x="8767591" y="3483917"/>
                <a:ext cx="854148" cy="414936"/>
              </a:xfrm>
              <a:prstGeom prst="rect">
                <a:avLst/>
              </a:prstGeom>
              <a:blipFill>
                <a:blip r:embed="rId11"/>
                <a:stretch>
                  <a:fillRect b="-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367030FE-69EA-3345-BB91-B99BC7F074AA}"/>
                  </a:ext>
                </a:extLst>
              </p:cNvPr>
              <p:cNvSpPr txBox="1"/>
              <p:nvPr/>
            </p:nvSpPr>
            <p:spPr>
              <a:xfrm>
                <a:off x="9681156" y="2696118"/>
                <a:ext cx="954208" cy="41493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sz="2000" i="1">
                          <a:latin typeface="Cambria Math" panose="02040503050406030204" pitchFamily="18" charset="0"/>
                        </a:rPr>
                        <m:t>𝑖</m:t>
                      </m:r>
                      <m:func>
                        <m:funcPr>
                          <m:ctrlPr>
                            <a:rPr lang="en-ZA" sz="2000" i="1">
                              <a:latin typeface="Cambria Math" panose="02040503050406030204" pitchFamily="18" charset="0"/>
                            </a:rPr>
                          </m:ctrlPr>
                        </m:funcPr>
                        <m:fName>
                          <m:r>
                            <m:rPr>
                              <m:sty m:val="p"/>
                            </m:rPr>
                            <a:rPr lang="sr-Latn-RS" sz="2000">
                              <a:latin typeface="Cambria Math" panose="02040503050406030204" pitchFamily="18" charset="0"/>
                            </a:rPr>
                            <m:t>sin</m:t>
                          </m:r>
                        </m:fName>
                        <m:e>
                          <m:r>
                            <a:rPr lang="sr-Latn-RS" sz="2000" i="1">
                              <a:latin typeface="Cambria Math" panose="02040503050406030204" pitchFamily="18" charset="0"/>
                              <a:ea typeface="Cambria Math" panose="02040503050406030204" pitchFamily="18" charset="0"/>
                            </a:rPr>
                            <m:t>𝜑</m:t>
                          </m:r>
                        </m:e>
                      </m:func>
                    </m:oMath>
                  </m:oMathPara>
                </a14:m>
                <a:endParaRPr lang="en-US" sz="2000" dirty="0"/>
              </a:p>
            </p:txBody>
          </p:sp>
        </mc:Choice>
        <mc:Fallback xmlns="">
          <p:sp>
            <p:nvSpPr>
              <p:cNvPr id="99" name="TextBox 98">
                <a:extLst>
                  <a:ext uri="{FF2B5EF4-FFF2-40B4-BE49-F238E27FC236}">
                    <a16:creationId xmlns:a16="http://schemas.microsoft.com/office/drawing/2014/main" id="{367030FE-69EA-3345-BB91-B99BC7F074AA}"/>
                  </a:ext>
                </a:extLst>
              </p:cNvPr>
              <p:cNvSpPr txBox="1">
                <a:spLocks noRot="1" noChangeAspect="1" noMove="1" noResize="1" noEditPoints="1" noAdjustHandles="1" noChangeArrowheads="1" noChangeShapeType="1" noTextEdit="1"/>
              </p:cNvSpPr>
              <p:nvPr/>
            </p:nvSpPr>
            <p:spPr>
              <a:xfrm>
                <a:off x="9681156" y="2696118"/>
                <a:ext cx="954208" cy="414936"/>
              </a:xfrm>
              <a:prstGeom prst="rect">
                <a:avLst/>
              </a:prstGeom>
              <a:blipFill>
                <a:blip r:embed="rId12"/>
                <a:stretch>
                  <a:fillRect b="-2941"/>
                </a:stretch>
              </a:blipFill>
            </p:spPr>
            <p:txBody>
              <a:bodyPr/>
              <a:lstStyle/>
              <a:p>
                <a:r>
                  <a:rPr lang="en-US">
                    <a:noFill/>
                  </a:rPr>
                  <a:t> </a:t>
                </a:r>
              </a:p>
            </p:txBody>
          </p:sp>
        </mc:Fallback>
      </mc:AlternateContent>
      <p:sp>
        <p:nvSpPr>
          <p:cNvPr id="100" name="Arc 99">
            <a:extLst>
              <a:ext uri="{FF2B5EF4-FFF2-40B4-BE49-F238E27FC236}">
                <a16:creationId xmlns:a16="http://schemas.microsoft.com/office/drawing/2014/main" id="{0A636B1D-F45C-4048-9327-8D576D40384E}"/>
              </a:ext>
            </a:extLst>
          </p:cNvPr>
          <p:cNvSpPr/>
          <p:nvPr/>
        </p:nvSpPr>
        <p:spPr>
          <a:xfrm rot="20673070">
            <a:off x="8897455" y="2977460"/>
            <a:ext cx="274472" cy="553294"/>
          </a:xfrm>
          <a:prstGeom prst="arc">
            <a:avLst>
              <a:gd name="adj1" fmla="val 16417421"/>
              <a:gd name="adj2" fmla="val 502780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C3A600DB-F02D-2742-917B-656E4C4B0151}"/>
                  </a:ext>
                </a:extLst>
              </p:cNvPr>
              <p:cNvSpPr/>
              <p:nvPr/>
            </p:nvSpPr>
            <p:spPr>
              <a:xfrm>
                <a:off x="8553051" y="2463471"/>
                <a:ext cx="604268" cy="41011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ZA" sz="2000" i="1">
                              <a:latin typeface="Cambria Math" panose="02040503050406030204" pitchFamily="18" charset="0"/>
                            </a:rPr>
                          </m:ctrlPr>
                        </m:sSupPr>
                        <m:e>
                          <m:r>
                            <a:rPr lang="sr-Latn-RS" sz="2000" i="1">
                              <a:latin typeface="Cambria Math" panose="02040503050406030204" pitchFamily="18" charset="0"/>
                            </a:rPr>
                            <m:t>𝑒</m:t>
                          </m:r>
                        </m:e>
                        <m:sup>
                          <m:r>
                            <a:rPr lang="sr-Latn-RS" sz="2000" i="1">
                              <a:latin typeface="Cambria Math" panose="02040503050406030204" pitchFamily="18" charset="0"/>
                            </a:rPr>
                            <m:t>𝑖</m:t>
                          </m:r>
                          <m:r>
                            <a:rPr lang="sr-Latn-RS" sz="2000" i="1">
                              <a:latin typeface="Cambria Math" panose="02040503050406030204" pitchFamily="18" charset="0"/>
                              <a:ea typeface="Cambria Math" panose="02040503050406030204" pitchFamily="18" charset="0"/>
                            </a:rPr>
                            <m:t>𝜑</m:t>
                          </m:r>
                        </m:sup>
                      </m:sSup>
                    </m:oMath>
                  </m:oMathPara>
                </a14:m>
                <a:endParaRPr lang="en-US" sz="2000" dirty="0"/>
              </a:p>
            </p:txBody>
          </p:sp>
        </mc:Choice>
        <mc:Fallback xmlns="">
          <p:sp>
            <p:nvSpPr>
              <p:cNvPr id="5" name="Rectangle 4">
                <a:extLst>
                  <a:ext uri="{FF2B5EF4-FFF2-40B4-BE49-F238E27FC236}">
                    <a16:creationId xmlns:a16="http://schemas.microsoft.com/office/drawing/2014/main" id="{C3A600DB-F02D-2742-917B-656E4C4B0151}"/>
                  </a:ext>
                </a:extLst>
              </p:cNvPr>
              <p:cNvSpPr>
                <a:spLocks noRot="1" noChangeAspect="1" noMove="1" noResize="1" noEditPoints="1" noAdjustHandles="1" noChangeArrowheads="1" noChangeShapeType="1" noTextEdit="1"/>
              </p:cNvSpPr>
              <p:nvPr/>
            </p:nvSpPr>
            <p:spPr>
              <a:xfrm>
                <a:off x="8553051" y="2463471"/>
                <a:ext cx="604268" cy="410112"/>
              </a:xfrm>
              <a:prstGeom prst="rect">
                <a:avLst/>
              </a:prstGeom>
              <a:blipFill>
                <a:blip r:embed="rId13"/>
                <a:stretch>
                  <a:fillRect/>
                </a:stretch>
              </a:blipFill>
            </p:spPr>
            <p:txBody>
              <a:bodyPr/>
              <a:lstStyle/>
              <a:p>
                <a:r>
                  <a:rPr lang="en-US">
                    <a:noFill/>
                  </a:rPr>
                  <a:t> </a:t>
                </a:r>
              </a:p>
            </p:txBody>
          </p:sp>
        </mc:Fallback>
      </mc:AlternateContent>
      <p:sp>
        <p:nvSpPr>
          <p:cNvPr id="12" name="Arc 11">
            <a:extLst>
              <a:ext uri="{FF2B5EF4-FFF2-40B4-BE49-F238E27FC236}">
                <a16:creationId xmlns:a16="http://schemas.microsoft.com/office/drawing/2014/main" id="{CA85671A-A53C-D141-ACC3-9824718CBC7C}"/>
              </a:ext>
            </a:extLst>
          </p:cNvPr>
          <p:cNvSpPr>
            <a:spLocks noChangeAspect="1"/>
          </p:cNvSpPr>
          <p:nvPr/>
        </p:nvSpPr>
        <p:spPr>
          <a:xfrm>
            <a:off x="6354903" y="1557631"/>
            <a:ext cx="4044515" cy="4044514"/>
          </a:xfrm>
          <a:prstGeom prst="arc">
            <a:avLst>
              <a:gd name="adj1" fmla="val 16224575"/>
              <a:gd name="adj2" fmla="val 21506671"/>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p>
        </p:txBody>
      </p:sp>
      <p:cxnSp>
        <p:nvCxnSpPr>
          <p:cNvPr id="203" name="Straight Connector 202">
            <a:extLst>
              <a:ext uri="{FF2B5EF4-FFF2-40B4-BE49-F238E27FC236}">
                <a16:creationId xmlns:a16="http://schemas.microsoft.com/office/drawing/2014/main" id="{FD465040-2313-304F-88FE-4171EE2A9850}"/>
              </a:ext>
            </a:extLst>
          </p:cNvPr>
          <p:cNvCxnSpPr>
            <a:cxnSpLocks/>
          </p:cNvCxnSpPr>
          <p:nvPr/>
        </p:nvCxnSpPr>
        <p:spPr>
          <a:xfrm flipV="1">
            <a:off x="216762" y="4022348"/>
            <a:ext cx="11683108" cy="0"/>
          </a:xfrm>
          <a:prstGeom prst="line">
            <a:avLst/>
          </a:prstGeom>
          <a:ln w="25400" cmpd="dbl">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8" name="Arc 147">
            <a:extLst>
              <a:ext uri="{FF2B5EF4-FFF2-40B4-BE49-F238E27FC236}">
                <a16:creationId xmlns:a16="http://schemas.microsoft.com/office/drawing/2014/main" id="{182174A9-E0B7-074A-A30E-56D753AC31C7}"/>
              </a:ext>
            </a:extLst>
          </p:cNvPr>
          <p:cNvSpPr>
            <a:spLocks noChangeAspect="1"/>
          </p:cNvSpPr>
          <p:nvPr/>
        </p:nvSpPr>
        <p:spPr>
          <a:xfrm>
            <a:off x="658333" y="4529611"/>
            <a:ext cx="3661051" cy="3661051"/>
          </a:xfrm>
          <a:prstGeom prst="arc">
            <a:avLst>
              <a:gd name="adj1" fmla="val 16224575"/>
              <a:gd name="adj2" fmla="val 21506671"/>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p>
        </p:txBody>
      </p:sp>
      <p:sp>
        <p:nvSpPr>
          <p:cNvPr id="121" name="Arc 120">
            <a:extLst>
              <a:ext uri="{FF2B5EF4-FFF2-40B4-BE49-F238E27FC236}">
                <a16:creationId xmlns:a16="http://schemas.microsoft.com/office/drawing/2014/main" id="{91E98479-1469-2A45-AF09-75972CE8F321}"/>
              </a:ext>
            </a:extLst>
          </p:cNvPr>
          <p:cNvSpPr>
            <a:spLocks noChangeAspect="1"/>
          </p:cNvSpPr>
          <p:nvPr/>
        </p:nvSpPr>
        <p:spPr>
          <a:xfrm>
            <a:off x="5853820" y="4524675"/>
            <a:ext cx="3661051" cy="3661051"/>
          </a:xfrm>
          <a:prstGeom prst="arc">
            <a:avLst>
              <a:gd name="adj1" fmla="val 16224575"/>
              <a:gd name="adj2" fmla="val 21506671"/>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p>
        </p:txBody>
      </p:sp>
      <p:cxnSp>
        <p:nvCxnSpPr>
          <p:cNvPr id="140" name="Straight Arrow Connector 139">
            <a:extLst>
              <a:ext uri="{FF2B5EF4-FFF2-40B4-BE49-F238E27FC236}">
                <a16:creationId xmlns:a16="http://schemas.microsoft.com/office/drawing/2014/main" id="{55B2CBD4-6140-0648-B592-88FAB8B3D313}"/>
              </a:ext>
            </a:extLst>
          </p:cNvPr>
          <p:cNvCxnSpPr>
            <a:cxnSpLocks/>
          </p:cNvCxnSpPr>
          <p:nvPr/>
        </p:nvCxnSpPr>
        <p:spPr>
          <a:xfrm flipH="1" flipV="1">
            <a:off x="2498873" y="4167553"/>
            <a:ext cx="0" cy="258490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840CD6AF-A5BD-2B48-BCC1-7EB799EC9896}"/>
              </a:ext>
            </a:extLst>
          </p:cNvPr>
          <p:cNvCxnSpPr>
            <a:cxnSpLocks/>
          </p:cNvCxnSpPr>
          <p:nvPr/>
        </p:nvCxnSpPr>
        <p:spPr>
          <a:xfrm>
            <a:off x="2037406" y="6303396"/>
            <a:ext cx="2709012" cy="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2" name="TextBox 141">
            <a:extLst>
              <a:ext uri="{FF2B5EF4-FFF2-40B4-BE49-F238E27FC236}">
                <a16:creationId xmlns:a16="http://schemas.microsoft.com/office/drawing/2014/main" id="{D77158EC-0A27-B64E-98AC-E2239B24F1B9}"/>
              </a:ext>
            </a:extLst>
          </p:cNvPr>
          <p:cNvSpPr txBox="1"/>
          <p:nvPr/>
        </p:nvSpPr>
        <p:spPr>
          <a:xfrm>
            <a:off x="2109834" y="6345558"/>
            <a:ext cx="352982" cy="400110"/>
          </a:xfrm>
          <a:prstGeom prst="rect">
            <a:avLst/>
          </a:prstGeom>
          <a:noFill/>
        </p:spPr>
        <p:txBody>
          <a:bodyPr wrap="none" rtlCol="0">
            <a:spAutoFit/>
          </a:bodyPr>
          <a:lstStyle/>
          <a:p>
            <a:r>
              <a:rPr lang="en-US" sz="2000" dirty="0">
                <a:latin typeface="+mj-lt"/>
              </a:rPr>
              <a:t>O</a:t>
            </a:r>
          </a:p>
        </p:txBody>
      </p:sp>
      <p:cxnSp>
        <p:nvCxnSpPr>
          <p:cNvPr id="144" name="Straight Connector 143">
            <a:extLst>
              <a:ext uri="{FF2B5EF4-FFF2-40B4-BE49-F238E27FC236}">
                <a16:creationId xmlns:a16="http://schemas.microsoft.com/office/drawing/2014/main" id="{513DD584-0110-9E47-BA0E-8B868D498494}"/>
              </a:ext>
            </a:extLst>
          </p:cNvPr>
          <p:cNvCxnSpPr>
            <a:cxnSpLocks/>
          </p:cNvCxnSpPr>
          <p:nvPr/>
        </p:nvCxnSpPr>
        <p:spPr>
          <a:xfrm>
            <a:off x="4320840" y="6202356"/>
            <a:ext cx="0" cy="27469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5" name="Rectangle 144">
                <a:extLst>
                  <a:ext uri="{FF2B5EF4-FFF2-40B4-BE49-F238E27FC236}">
                    <a16:creationId xmlns:a16="http://schemas.microsoft.com/office/drawing/2014/main" id="{DD72A556-D377-FC4A-9208-9CCDDCA0E60E}"/>
                  </a:ext>
                </a:extLst>
              </p:cNvPr>
              <p:cNvSpPr/>
              <p:nvPr/>
            </p:nvSpPr>
            <p:spPr>
              <a:xfrm>
                <a:off x="4126149" y="6413009"/>
                <a:ext cx="385042"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solidFill>
                            <a:schemeClr val="bg1">
                              <a:lumMod val="50000"/>
                            </a:schemeClr>
                          </a:solidFill>
                          <a:latin typeface="Cambria Math" panose="02040503050406030204" pitchFamily="18" charset="0"/>
                        </a:rPr>
                        <m:t>1</m:t>
                      </m:r>
                    </m:oMath>
                  </m:oMathPara>
                </a14:m>
                <a:endParaRPr lang="en-US" sz="2000" dirty="0">
                  <a:solidFill>
                    <a:schemeClr val="bg1">
                      <a:lumMod val="50000"/>
                    </a:schemeClr>
                  </a:solidFill>
                </a:endParaRPr>
              </a:p>
            </p:txBody>
          </p:sp>
        </mc:Choice>
        <mc:Fallback xmlns="">
          <p:sp>
            <p:nvSpPr>
              <p:cNvPr id="145" name="Rectangle 144">
                <a:extLst>
                  <a:ext uri="{FF2B5EF4-FFF2-40B4-BE49-F238E27FC236}">
                    <a16:creationId xmlns:a16="http://schemas.microsoft.com/office/drawing/2014/main" id="{DD72A556-D377-FC4A-9208-9CCDDCA0E60E}"/>
                  </a:ext>
                </a:extLst>
              </p:cNvPr>
              <p:cNvSpPr>
                <a:spLocks noRot="1" noChangeAspect="1" noMove="1" noResize="1" noEditPoints="1" noAdjustHandles="1" noChangeArrowheads="1" noChangeShapeType="1" noTextEdit="1"/>
              </p:cNvSpPr>
              <p:nvPr/>
            </p:nvSpPr>
            <p:spPr>
              <a:xfrm>
                <a:off x="4126149" y="6413009"/>
                <a:ext cx="385042" cy="400110"/>
              </a:xfrm>
              <a:prstGeom prst="rect">
                <a:avLst/>
              </a:prstGeom>
              <a:blipFill>
                <a:blip r:embed="rId14"/>
                <a:stretch>
                  <a:fillRect/>
                </a:stretch>
              </a:blipFill>
            </p:spPr>
            <p:txBody>
              <a:bodyPr/>
              <a:lstStyle/>
              <a:p>
                <a:r>
                  <a:rPr lang="en-US">
                    <a:noFill/>
                  </a:rPr>
                  <a:t> </a:t>
                </a:r>
              </a:p>
            </p:txBody>
          </p:sp>
        </mc:Fallback>
      </mc:AlternateContent>
      <p:cxnSp>
        <p:nvCxnSpPr>
          <p:cNvPr id="146" name="Straight Connector 145">
            <a:extLst>
              <a:ext uri="{FF2B5EF4-FFF2-40B4-BE49-F238E27FC236}">
                <a16:creationId xmlns:a16="http://schemas.microsoft.com/office/drawing/2014/main" id="{1F96E722-1469-7C4B-AB10-B56813CD6BDE}"/>
              </a:ext>
            </a:extLst>
          </p:cNvPr>
          <p:cNvCxnSpPr>
            <a:cxnSpLocks/>
          </p:cNvCxnSpPr>
          <p:nvPr/>
        </p:nvCxnSpPr>
        <p:spPr>
          <a:xfrm rot="16200000">
            <a:off x="2510724" y="4386417"/>
            <a:ext cx="0" cy="27469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7" name="Rectangle 146">
                <a:extLst>
                  <a:ext uri="{FF2B5EF4-FFF2-40B4-BE49-F238E27FC236}">
                    <a16:creationId xmlns:a16="http://schemas.microsoft.com/office/drawing/2014/main" id="{4E8DE3E1-795B-CC49-8FAC-102228875EB4}"/>
                  </a:ext>
                </a:extLst>
              </p:cNvPr>
              <p:cNvSpPr/>
              <p:nvPr/>
            </p:nvSpPr>
            <p:spPr>
              <a:xfrm>
                <a:off x="1978098" y="4354807"/>
                <a:ext cx="332270"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solidFill>
                            <a:schemeClr val="bg1">
                              <a:lumMod val="50000"/>
                            </a:schemeClr>
                          </a:solidFill>
                          <a:latin typeface="Cambria Math" panose="02040503050406030204" pitchFamily="18" charset="0"/>
                        </a:rPr>
                        <m:t>𝑖</m:t>
                      </m:r>
                    </m:oMath>
                  </m:oMathPara>
                </a14:m>
                <a:endParaRPr lang="en-US" sz="2000" dirty="0">
                  <a:solidFill>
                    <a:schemeClr val="bg1">
                      <a:lumMod val="50000"/>
                    </a:schemeClr>
                  </a:solidFill>
                </a:endParaRPr>
              </a:p>
            </p:txBody>
          </p:sp>
        </mc:Choice>
        <mc:Fallback xmlns="">
          <p:sp>
            <p:nvSpPr>
              <p:cNvPr id="147" name="Rectangle 146">
                <a:extLst>
                  <a:ext uri="{FF2B5EF4-FFF2-40B4-BE49-F238E27FC236}">
                    <a16:creationId xmlns:a16="http://schemas.microsoft.com/office/drawing/2014/main" id="{4E8DE3E1-795B-CC49-8FAC-102228875EB4}"/>
                  </a:ext>
                </a:extLst>
              </p:cNvPr>
              <p:cNvSpPr>
                <a:spLocks noRot="1" noChangeAspect="1" noMove="1" noResize="1" noEditPoints="1" noAdjustHandles="1" noChangeArrowheads="1" noChangeShapeType="1" noTextEdit="1"/>
              </p:cNvSpPr>
              <p:nvPr/>
            </p:nvSpPr>
            <p:spPr>
              <a:xfrm>
                <a:off x="1978098" y="4354807"/>
                <a:ext cx="332270" cy="400110"/>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5" name="TextBox 174">
                <a:extLst>
                  <a:ext uri="{FF2B5EF4-FFF2-40B4-BE49-F238E27FC236}">
                    <a16:creationId xmlns:a16="http://schemas.microsoft.com/office/drawing/2014/main" id="{FBDF6BEF-D116-9C4A-ADB9-A0CDD02F1563}"/>
                  </a:ext>
                </a:extLst>
              </p:cNvPr>
              <p:cNvSpPr txBox="1"/>
              <p:nvPr/>
            </p:nvSpPr>
            <p:spPr>
              <a:xfrm>
                <a:off x="1912624" y="5064588"/>
                <a:ext cx="599972"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rPr>
                        <m:t>𝑖</m:t>
                      </m:r>
                      <m:r>
                        <a:rPr lang="en-US" sz="2000" b="0" i="1" smtClean="0">
                          <a:latin typeface="Cambria Math" panose="02040503050406030204" pitchFamily="18" charset="0"/>
                        </a:rPr>
                        <m:t>/2</m:t>
                      </m:r>
                    </m:oMath>
                  </m:oMathPara>
                </a14:m>
                <a:endParaRPr lang="en-US" sz="2000" dirty="0"/>
              </a:p>
            </p:txBody>
          </p:sp>
        </mc:Choice>
        <mc:Fallback xmlns="">
          <p:sp>
            <p:nvSpPr>
              <p:cNvPr id="175" name="TextBox 174">
                <a:extLst>
                  <a:ext uri="{FF2B5EF4-FFF2-40B4-BE49-F238E27FC236}">
                    <a16:creationId xmlns:a16="http://schemas.microsoft.com/office/drawing/2014/main" id="{FBDF6BEF-D116-9C4A-ADB9-A0CDD02F1563}"/>
                  </a:ext>
                </a:extLst>
              </p:cNvPr>
              <p:cNvSpPr txBox="1">
                <a:spLocks noRot="1" noChangeAspect="1" noMove="1" noResize="1" noEditPoints="1" noAdjustHandles="1" noChangeArrowheads="1" noChangeShapeType="1" noTextEdit="1"/>
              </p:cNvSpPr>
              <p:nvPr/>
            </p:nvSpPr>
            <p:spPr>
              <a:xfrm>
                <a:off x="1912624" y="5064588"/>
                <a:ext cx="599972" cy="400110"/>
              </a:xfrm>
              <a:prstGeom prst="rect">
                <a:avLst/>
              </a:prstGeom>
              <a:blipFill>
                <a:blip r:embed="rId16"/>
                <a:stretch>
                  <a:fillRect b="-12500"/>
                </a:stretch>
              </a:blipFill>
            </p:spPr>
            <p:txBody>
              <a:bodyPr/>
              <a:lstStyle/>
              <a:p>
                <a:r>
                  <a:rPr lang="en-US">
                    <a:noFill/>
                  </a:rPr>
                  <a:t> </a:t>
                </a:r>
              </a:p>
            </p:txBody>
          </p:sp>
        </mc:Fallback>
      </mc:AlternateContent>
      <p:cxnSp>
        <p:nvCxnSpPr>
          <p:cNvPr id="128" name="Straight Arrow Connector 127">
            <a:extLst>
              <a:ext uri="{FF2B5EF4-FFF2-40B4-BE49-F238E27FC236}">
                <a16:creationId xmlns:a16="http://schemas.microsoft.com/office/drawing/2014/main" id="{56C47919-D5D5-F84F-85ED-BB4BAF42A69D}"/>
              </a:ext>
            </a:extLst>
          </p:cNvPr>
          <p:cNvCxnSpPr>
            <a:cxnSpLocks/>
          </p:cNvCxnSpPr>
          <p:nvPr/>
        </p:nvCxnSpPr>
        <p:spPr>
          <a:xfrm>
            <a:off x="2521100" y="6304092"/>
            <a:ext cx="1819836" cy="7050"/>
          </a:xfrm>
          <a:prstGeom prst="straightConnector1">
            <a:avLst/>
          </a:prstGeom>
          <a:ln w="38100" cap="rnd">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5778083-9671-D04B-860E-7AFA40F4B540}"/>
                  </a:ext>
                </a:extLst>
              </p:cNvPr>
              <p:cNvSpPr txBox="1"/>
              <p:nvPr/>
            </p:nvSpPr>
            <p:spPr>
              <a:xfrm>
                <a:off x="4263565" y="5791001"/>
                <a:ext cx="473206"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𝑧</m:t>
                          </m:r>
                        </m:e>
                        <m:sub>
                          <m:r>
                            <a:rPr lang="en-US" sz="2000" b="0" i="1" smtClean="0">
                              <a:latin typeface="Cambria Math" panose="02040503050406030204" pitchFamily="18" charset="0"/>
                              <a:ea typeface="Cambria Math" panose="02040503050406030204" pitchFamily="18" charset="0"/>
                            </a:rPr>
                            <m:t>1</m:t>
                          </m:r>
                        </m:sub>
                      </m:sSub>
                    </m:oMath>
                  </m:oMathPara>
                </a14:m>
                <a:endParaRPr lang="en-US" sz="2000" dirty="0"/>
              </a:p>
            </p:txBody>
          </p:sp>
        </mc:Choice>
        <mc:Fallback xmlns="">
          <p:sp>
            <p:nvSpPr>
              <p:cNvPr id="2" name="TextBox 1">
                <a:extLst>
                  <a:ext uri="{FF2B5EF4-FFF2-40B4-BE49-F238E27FC236}">
                    <a16:creationId xmlns:a16="http://schemas.microsoft.com/office/drawing/2014/main" id="{35778083-9671-D04B-860E-7AFA40F4B540}"/>
                  </a:ext>
                </a:extLst>
              </p:cNvPr>
              <p:cNvSpPr txBox="1">
                <a:spLocks noRot="1" noChangeAspect="1" noMove="1" noResize="1" noEditPoints="1" noAdjustHandles="1" noChangeArrowheads="1" noChangeShapeType="1" noTextEdit="1"/>
              </p:cNvSpPr>
              <p:nvPr/>
            </p:nvSpPr>
            <p:spPr>
              <a:xfrm>
                <a:off x="4263565" y="5791001"/>
                <a:ext cx="473206" cy="400110"/>
              </a:xfrm>
              <a:prstGeom prst="rect">
                <a:avLst/>
              </a:prstGeom>
              <a:blipFill>
                <a:blip r:embed="rId17"/>
                <a:stretch>
                  <a:fillRect/>
                </a:stretch>
              </a:blipFill>
            </p:spPr>
            <p:txBody>
              <a:bodyPr/>
              <a:lstStyle/>
              <a:p>
                <a:r>
                  <a:rPr lang="en-US">
                    <a:noFill/>
                  </a:rPr>
                  <a:t> </a:t>
                </a:r>
              </a:p>
            </p:txBody>
          </p:sp>
        </mc:Fallback>
      </mc:AlternateContent>
      <p:cxnSp>
        <p:nvCxnSpPr>
          <p:cNvPr id="114" name="Straight Arrow Connector 113">
            <a:extLst>
              <a:ext uri="{FF2B5EF4-FFF2-40B4-BE49-F238E27FC236}">
                <a16:creationId xmlns:a16="http://schemas.microsoft.com/office/drawing/2014/main" id="{F9479D03-1FBA-FD4A-B823-CD8E5037388E}"/>
              </a:ext>
            </a:extLst>
          </p:cNvPr>
          <p:cNvCxnSpPr>
            <a:cxnSpLocks/>
          </p:cNvCxnSpPr>
          <p:nvPr/>
        </p:nvCxnSpPr>
        <p:spPr>
          <a:xfrm flipH="1" flipV="1">
            <a:off x="7694360" y="4162617"/>
            <a:ext cx="0" cy="258490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4F3A2126-4613-B44F-A9FC-FD6454FF20F4}"/>
              </a:ext>
            </a:extLst>
          </p:cNvPr>
          <p:cNvCxnSpPr>
            <a:cxnSpLocks/>
          </p:cNvCxnSpPr>
          <p:nvPr/>
        </p:nvCxnSpPr>
        <p:spPr>
          <a:xfrm>
            <a:off x="7232893" y="6298460"/>
            <a:ext cx="2709012" cy="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6" name="TextBox 115">
            <a:extLst>
              <a:ext uri="{FF2B5EF4-FFF2-40B4-BE49-F238E27FC236}">
                <a16:creationId xmlns:a16="http://schemas.microsoft.com/office/drawing/2014/main" id="{51EC1CD3-9F57-C142-A04F-315D106A9AC0}"/>
              </a:ext>
            </a:extLst>
          </p:cNvPr>
          <p:cNvSpPr txBox="1"/>
          <p:nvPr/>
        </p:nvSpPr>
        <p:spPr>
          <a:xfrm>
            <a:off x="7305320" y="6340622"/>
            <a:ext cx="352982" cy="400110"/>
          </a:xfrm>
          <a:prstGeom prst="rect">
            <a:avLst/>
          </a:prstGeom>
          <a:noFill/>
        </p:spPr>
        <p:txBody>
          <a:bodyPr wrap="none" rtlCol="0">
            <a:spAutoFit/>
          </a:bodyPr>
          <a:lstStyle/>
          <a:p>
            <a:r>
              <a:rPr lang="en-US" sz="2000" dirty="0">
                <a:latin typeface="+mj-lt"/>
              </a:rPr>
              <a:t>O</a:t>
            </a:r>
          </a:p>
        </p:txBody>
      </p:sp>
      <p:cxnSp>
        <p:nvCxnSpPr>
          <p:cNvPr id="117" name="Straight Connector 116">
            <a:extLst>
              <a:ext uri="{FF2B5EF4-FFF2-40B4-BE49-F238E27FC236}">
                <a16:creationId xmlns:a16="http://schemas.microsoft.com/office/drawing/2014/main" id="{45A0CBC7-DE08-7243-BB07-EBA6D5B232CA}"/>
              </a:ext>
            </a:extLst>
          </p:cNvPr>
          <p:cNvCxnSpPr>
            <a:cxnSpLocks/>
          </p:cNvCxnSpPr>
          <p:nvPr/>
        </p:nvCxnSpPr>
        <p:spPr>
          <a:xfrm>
            <a:off x="9516326" y="6197421"/>
            <a:ext cx="0" cy="27469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8" name="Rectangle 117">
                <a:extLst>
                  <a:ext uri="{FF2B5EF4-FFF2-40B4-BE49-F238E27FC236}">
                    <a16:creationId xmlns:a16="http://schemas.microsoft.com/office/drawing/2014/main" id="{A3A9545C-DF6C-9B40-AC90-ABFB1032331B}"/>
                  </a:ext>
                </a:extLst>
              </p:cNvPr>
              <p:cNvSpPr/>
              <p:nvPr/>
            </p:nvSpPr>
            <p:spPr>
              <a:xfrm>
                <a:off x="9321636" y="6408073"/>
                <a:ext cx="385042"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solidFill>
                            <a:schemeClr val="bg1">
                              <a:lumMod val="50000"/>
                            </a:schemeClr>
                          </a:solidFill>
                          <a:latin typeface="Cambria Math" panose="02040503050406030204" pitchFamily="18" charset="0"/>
                        </a:rPr>
                        <m:t>1</m:t>
                      </m:r>
                    </m:oMath>
                  </m:oMathPara>
                </a14:m>
                <a:endParaRPr lang="en-US" sz="2000" dirty="0">
                  <a:solidFill>
                    <a:schemeClr val="bg1">
                      <a:lumMod val="50000"/>
                    </a:schemeClr>
                  </a:solidFill>
                </a:endParaRPr>
              </a:p>
            </p:txBody>
          </p:sp>
        </mc:Choice>
        <mc:Fallback xmlns="">
          <p:sp>
            <p:nvSpPr>
              <p:cNvPr id="118" name="Rectangle 117">
                <a:extLst>
                  <a:ext uri="{FF2B5EF4-FFF2-40B4-BE49-F238E27FC236}">
                    <a16:creationId xmlns:a16="http://schemas.microsoft.com/office/drawing/2014/main" id="{A3A9545C-DF6C-9B40-AC90-ABFB1032331B}"/>
                  </a:ext>
                </a:extLst>
              </p:cNvPr>
              <p:cNvSpPr>
                <a:spLocks noRot="1" noChangeAspect="1" noMove="1" noResize="1" noEditPoints="1" noAdjustHandles="1" noChangeArrowheads="1" noChangeShapeType="1" noTextEdit="1"/>
              </p:cNvSpPr>
              <p:nvPr/>
            </p:nvSpPr>
            <p:spPr>
              <a:xfrm>
                <a:off x="9321636" y="6408073"/>
                <a:ext cx="385042" cy="400110"/>
              </a:xfrm>
              <a:prstGeom prst="rect">
                <a:avLst/>
              </a:prstGeom>
              <a:blipFill>
                <a:blip r:embed="rId18"/>
                <a:stretch>
                  <a:fillRect/>
                </a:stretch>
              </a:blipFill>
            </p:spPr>
            <p:txBody>
              <a:bodyPr/>
              <a:lstStyle/>
              <a:p>
                <a:r>
                  <a:rPr lang="en-US">
                    <a:noFill/>
                  </a:rPr>
                  <a:t> </a:t>
                </a:r>
              </a:p>
            </p:txBody>
          </p:sp>
        </mc:Fallback>
      </mc:AlternateContent>
      <p:cxnSp>
        <p:nvCxnSpPr>
          <p:cNvPr id="119" name="Straight Connector 118">
            <a:extLst>
              <a:ext uri="{FF2B5EF4-FFF2-40B4-BE49-F238E27FC236}">
                <a16:creationId xmlns:a16="http://schemas.microsoft.com/office/drawing/2014/main" id="{1499AD44-84AE-9A44-9ECB-84076B79DFDB}"/>
              </a:ext>
            </a:extLst>
          </p:cNvPr>
          <p:cNvCxnSpPr>
            <a:cxnSpLocks/>
          </p:cNvCxnSpPr>
          <p:nvPr/>
        </p:nvCxnSpPr>
        <p:spPr>
          <a:xfrm rot="16200000">
            <a:off x="7706211" y="4381482"/>
            <a:ext cx="0" cy="27469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0" name="Rectangle 119">
                <a:extLst>
                  <a:ext uri="{FF2B5EF4-FFF2-40B4-BE49-F238E27FC236}">
                    <a16:creationId xmlns:a16="http://schemas.microsoft.com/office/drawing/2014/main" id="{1709C695-3B69-1940-B22A-90E4A3B71294}"/>
                  </a:ext>
                </a:extLst>
              </p:cNvPr>
              <p:cNvSpPr/>
              <p:nvPr/>
            </p:nvSpPr>
            <p:spPr>
              <a:xfrm>
                <a:off x="7173584" y="4349871"/>
                <a:ext cx="332270"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solidFill>
                            <a:schemeClr val="bg1">
                              <a:lumMod val="50000"/>
                            </a:schemeClr>
                          </a:solidFill>
                          <a:latin typeface="Cambria Math" panose="02040503050406030204" pitchFamily="18" charset="0"/>
                        </a:rPr>
                        <m:t>𝑖</m:t>
                      </m:r>
                    </m:oMath>
                  </m:oMathPara>
                </a14:m>
                <a:endParaRPr lang="en-US" sz="2000" dirty="0">
                  <a:solidFill>
                    <a:schemeClr val="bg1">
                      <a:lumMod val="50000"/>
                    </a:schemeClr>
                  </a:solidFill>
                </a:endParaRPr>
              </a:p>
            </p:txBody>
          </p:sp>
        </mc:Choice>
        <mc:Fallback xmlns="">
          <p:sp>
            <p:nvSpPr>
              <p:cNvPr id="120" name="Rectangle 119">
                <a:extLst>
                  <a:ext uri="{FF2B5EF4-FFF2-40B4-BE49-F238E27FC236}">
                    <a16:creationId xmlns:a16="http://schemas.microsoft.com/office/drawing/2014/main" id="{1709C695-3B69-1940-B22A-90E4A3B71294}"/>
                  </a:ext>
                </a:extLst>
              </p:cNvPr>
              <p:cNvSpPr>
                <a:spLocks noRot="1" noChangeAspect="1" noMove="1" noResize="1" noEditPoints="1" noAdjustHandles="1" noChangeArrowheads="1" noChangeShapeType="1" noTextEdit="1"/>
              </p:cNvSpPr>
              <p:nvPr/>
            </p:nvSpPr>
            <p:spPr>
              <a:xfrm>
                <a:off x="7173584" y="4349871"/>
                <a:ext cx="332270" cy="400110"/>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A246E260-6C17-FD43-9E47-737CE4C57134}"/>
                  </a:ext>
                </a:extLst>
              </p:cNvPr>
              <p:cNvSpPr txBox="1"/>
              <p:nvPr/>
            </p:nvSpPr>
            <p:spPr>
              <a:xfrm>
                <a:off x="8016477" y="5913066"/>
                <a:ext cx="1181349"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sz="2000" i="1" smtClean="0">
                          <a:latin typeface="Cambria Math" panose="02040503050406030204" pitchFamily="18" charset="0"/>
                          <a:ea typeface="Cambria Math" panose="02040503050406030204" pitchFamily="18" charset="0"/>
                        </a:rPr>
                        <m:t>𝜑</m:t>
                      </m:r>
                      <m:r>
                        <a:rPr lang="en-US"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𝜋</m:t>
                      </m:r>
                      <m:r>
                        <a:rPr lang="en-US" sz="2000" i="1">
                          <a:latin typeface="Cambria Math" panose="02040503050406030204" pitchFamily="18" charset="0"/>
                          <a:ea typeface="Cambria Math" panose="02040503050406030204" pitchFamily="18" charset="0"/>
                        </a:rPr>
                        <m:t>/6</m:t>
                      </m:r>
                    </m:oMath>
                  </m:oMathPara>
                </a14:m>
                <a:endParaRPr lang="en-US" sz="2000" dirty="0"/>
              </a:p>
            </p:txBody>
          </p:sp>
        </mc:Choice>
        <mc:Fallback xmlns="">
          <p:sp>
            <p:nvSpPr>
              <p:cNvPr id="122" name="TextBox 121">
                <a:extLst>
                  <a:ext uri="{FF2B5EF4-FFF2-40B4-BE49-F238E27FC236}">
                    <a16:creationId xmlns:a16="http://schemas.microsoft.com/office/drawing/2014/main" id="{A246E260-6C17-FD43-9E47-737CE4C57134}"/>
                  </a:ext>
                </a:extLst>
              </p:cNvPr>
              <p:cNvSpPr txBox="1">
                <a:spLocks noRot="1" noChangeAspect="1" noMove="1" noResize="1" noEditPoints="1" noAdjustHandles="1" noChangeArrowheads="1" noChangeShapeType="1" noTextEdit="1"/>
              </p:cNvSpPr>
              <p:nvPr/>
            </p:nvSpPr>
            <p:spPr>
              <a:xfrm>
                <a:off x="8016477" y="5913066"/>
                <a:ext cx="1181349" cy="400110"/>
              </a:xfrm>
              <a:prstGeom prst="rect">
                <a:avLst/>
              </a:prstGeom>
              <a:blipFill>
                <a:blip r:embed="rId20"/>
                <a:stretch>
                  <a:fillRect b="-12500"/>
                </a:stretch>
              </a:blipFill>
            </p:spPr>
            <p:txBody>
              <a:bodyPr/>
              <a:lstStyle/>
              <a:p>
                <a:r>
                  <a:rPr lang="en-US">
                    <a:noFill/>
                  </a:rPr>
                  <a:t> </a:t>
                </a:r>
              </a:p>
            </p:txBody>
          </p:sp>
        </mc:Fallback>
      </mc:AlternateContent>
      <p:sp>
        <p:nvSpPr>
          <p:cNvPr id="123" name="Arc 122">
            <a:extLst>
              <a:ext uri="{FF2B5EF4-FFF2-40B4-BE49-F238E27FC236}">
                <a16:creationId xmlns:a16="http://schemas.microsoft.com/office/drawing/2014/main" id="{66DBB4C8-187F-F546-989D-391050ACAA78}"/>
              </a:ext>
            </a:extLst>
          </p:cNvPr>
          <p:cNvSpPr/>
          <p:nvPr/>
        </p:nvSpPr>
        <p:spPr>
          <a:xfrm rot="20673070">
            <a:off x="8171938" y="5734979"/>
            <a:ext cx="296349" cy="597394"/>
          </a:xfrm>
          <a:prstGeom prst="arc">
            <a:avLst>
              <a:gd name="adj1" fmla="val 19315123"/>
              <a:gd name="adj2" fmla="val 502780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p>
        </p:txBody>
      </p:sp>
      <p:cxnSp>
        <p:nvCxnSpPr>
          <p:cNvPr id="135" name="Straight Arrow Connector 134">
            <a:extLst>
              <a:ext uri="{FF2B5EF4-FFF2-40B4-BE49-F238E27FC236}">
                <a16:creationId xmlns:a16="http://schemas.microsoft.com/office/drawing/2014/main" id="{2C8CD127-9A8A-D143-BD35-A96F30205A11}"/>
              </a:ext>
            </a:extLst>
          </p:cNvPr>
          <p:cNvCxnSpPr>
            <a:cxnSpLocks/>
          </p:cNvCxnSpPr>
          <p:nvPr/>
        </p:nvCxnSpPr>
        <p:spPr>
          <a:xfrm flipV="1">
            <a:off x="7700629" y="5398324"/>
            <a:ext cx="1563380" cy="897043"/>
          </a:xfrm>
          <a:prstGeom prst="straightConnector1">
            <a:avLst/>
          </a:prstGeom>
          <a:ln w="38100" cap="rnd">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2" name="TextBox 171">
                <a:extLst>
                  <a:ext uri="{FF2B5EF4-FFF2-40B4-BE49-F238E27FC236}">
                    <a16:creationId xmlns:a16="http://schemas.microsoft.com/office/drawing/2014/main" id="{C399FDC2-7E0E-F144-82C0-85C1F19A8A30}"/>
                  </a:ext>
                </a:extLst>
              </p:cNvPr>
              <p:cNvSpPr txBox="1"/>
              <p:nvPr/>
            </p:nvSpPr>
            <p:spPr>
              <a:xfrm>
                <a:off x="9183169" y="4877818"/>
                <a:ext cx="1024576" cy="89460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ZA" sz="2200" i="1">
                              <a:latin typeface="Cambria Math" panose="02040503050406030204" pitchFamily="18" charset="0"/>
                            </a:rPr>
                          </m:ctrlPr>
                        </m:sSupPr>
                        <m:e>
                          <m:r>
                            <a:rPr lang="sr-Latn-RS" sz="2200" i="1">
                              <a:latin typeface="Cambria Math" panose="02040503050406030204" pitchFamily="18" charset="0"/>
                            </a:rPr>
                            <m:t>𝑒</m:t>
                          </m:r>
                        </m:e>
                        <m:sup>
                          <m:r>
                            <a:rPr lang="sr-Latn-RS" sz="2200" i="1">
                              <a:latin typeface="Cambria Math" panose="02040503050406030204" pitchFamily="18" charset="0"/>
                            </a:rPr>
                            <m:t>𝑖</m:t>
                          </m:r>
                          <m:f>
                            <m:fPr>
                              <m:ctrlPr>
                                <a:rPr lang="sr-Latn-RS" sz="2200" i="1">
                                  <a:latin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𝜋</m:t>
                              </m:r>
                            </m:num>
                            <m:den>
                              <m:r>
                                <a:rPr lang="en-US" sz="2200" i="1">
                                  <a:latin typeface="Cambria Math" panose="02040503050406030204" pitchFamily="18" charset="0"/>
                                </a:rPr>
                                <m:t>6</m:t>
                              </m:r>
                            </m:den>
                          </m:f>
                        </m:sup>
                      </m:sSup>
                      <m:sSub>
                        <m:sSubPr>
                          <m:ctrlPr>
                            <a:rPr lang="en-US" sz="2200" i="1">
                              <a:latin typeface="Cambria Math" panose="02040503050406030204" pitchFamily="18" charset="0"/>
                              <a:ea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𝑧</m:t>
                          </m:r>
                        </m:e>
                        <m:sub>
                          <m:r>
                            <a:rPr lang="en-US" sz="2200" i="1">
                              <a:latin typeface="Cambria Math" panose="02040503050406030204" pitchFamily="18" charset="0"/>
                              <a:ea typeface="Cambria Math" panose="02040503050406030204" pitchFamily="18" charset="0"/>
                            </a:rPr>
                            <m:t>1</m:t>
                          </m:r>
                        </m:sub>
                      </m:sSub>
                    </m:oMath>
                  </m:oMathPara>
                </a14:m>
                <a:endParaRPr lang="en-US" sz="2200" dirty="0"/>
              </a:p>
              <a:p>
                <a:endParaRPr lang="en-US" sz="2200" dirty="0"/>
              </a:p>
            </p:txBody>
          </p:sp>
        </mc:Choice>
        <mc:Fallback xmlns="">
          <p:sp>
            <p:nvSpPr>
              <p:cNvPr id="172" name="TextBox 171">
                <a:extLst>
                  <a:ext uri="{FF2B5EF4-FFF2-40B4-BE49-F238E27FC236}">
                    <a16:creationId xmlns:a16="http://schemas.microsoft.com/office/drawing/2014/main" id="{C399FDC2-7E0E-F144-82C0-85C1F19A8A30}"/>
                  </a:ext>
                </a:extLst>
              </p:cNvPr>
              <p:cNvSpPr txBox="1">
                <a:spLocks noRot="1" noChangeAspect="1" noMove="1" noResize="1" noEditPoints="1" noAdjustHandles="1" noChangeArrowheads="1" noChangeShapeType="1" noTextEdit="1"/>
              </p:cNvSpPr>
              <p:nvPr/>
            </p:nvSpPr>
            <p:spPr>
              <a:xfrm>
                <a:off x="9183169" y="4877818"/>
                <a:ext cx="1024576" cy="894604"/>
              </a:xfrm>
              <a:prstGeom prst="rect">
                <a:avLst/>
              </a:prstGeom>
              <a:blipFill>
                <a:blip r:embed="rId21"/>
                <a:stretch>
                  <a:fillRect/>
                </a:stretch>
              </a:blipFill>
            </p:spPr>
            <p:txBody>
              <a:bodyPr/>
              <a:lstStyle/>
              <a:p>
                <a:r>
                  <a:rPr lang="en-US">
                    <a:noFill/>
                  </a:rPr>
                  <a:t> </a:t>
                </a:r>
              </a:p>
            </p:txBody>
          </p:sp>
        </mc:Fallback>
      </mc:AlternateContent>
      <p:sp>
        <p:nvSpPr>
          <p:cNvPr id="7" name="Right Arrow 6">
            <a:extLst>
              <a:ext uri="{FF2B5EF4-FFF2-40B4-BE49-F238E27FC236}">
                <a16:creationId xmlns:a16="http://schemas.microsoft.com/office/drawing/2014/main" id="{9692BF65-92E0-5645-BF96-00A7E6754A3A}"/>
              </a:ext>
            </a:extLst>
          </p:cNvPr>
          <p:cNvSpPr/>
          <p:nvPr/>
        </p:nvSpPr>
        <p:spPr>
          <a:xfrm>
            <a:off x="5302203" y="5436744"/>
            <a:ext cx="1011979" cy="574789"/>
          </a:xfrm>
          <a:prstGeom prs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F198109F-608E-D546-98A1-DE4031F2402A}"/>
                  </a:ext>
                </a:extLst>
              </p:cNvPr>
              <p:cNvSpPr/>
              <p:nvPr/>
            </p:nvSpPr>
            <p:spPr>
              <a:xfrm>
                <a:off x="5278627" y="4853209"/>
                <a:ext cx="1162946" cy="55605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200" i="1" smtClean="0">
                              <a:latin typeface="Cambria Math" panose="02040503050406030204" pitchFamily="18" charset="0"/>
                              <a:ea typeface="Cambria Math" panose="02040503050406030204" pitchFamily="18" charset="0"/>
                            </a:rPr>
                          </m:ctrlPr>
                        </m:sSubPr>
                        <m:e>
                          <m:sSup>
                            <m:sSupPr>
                              <m:ctrlPr>
                                <a:rPr lang="en-ZA" sz="2200" i="1">
                                  <a:latin typeface="Cambria Math" panose="02040503050406030204" pitchFamily="18" charset="0"/>
                                </a:rPr>
                              </m:ctrlPr>
                            </m:sSupPr>
                            <m:e>
                              <m:r>
                                <a:rPr lang="en-ZA" sz="220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 </m:t>
                              </m:r>
                              <m:r>
                                <a:rPr lang="sr-Latn-RS" sz="2200" i="1">
                                  <a:latin typeface="Cambria Math" panose="02040503050406030204" pitchFamily="18" charset="0"/>
                                </a:rPr>
                                <m:t>𝑒</m:t>
                              </m:r>
                            </m:e>
                            <m:sup>
                              <m:r>
                                <a:rPr lang="sr-Latn-RS" sz="2200" i="1">
                                  <a:latin typeface="Cambria Math" panose="02040503050406030204" pitchFamily="18" charset="0"/>
                                </a:rPr>
                                <m:t>𝑖</m:t>
                              </m:r>
                              <m:f>
                                <m:fPr>
                                  <m:ctrlPr>
                                    <a:rPr lang="sr-Latn-RS" sz="2200" i="1">
                                      <a:latin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𝜋</m:t>
                                  </m:r>
                                </m:num>
                                <m:den>
                                  <m:r>
                                    <a:rPr lang="en-US" sz="2200" i="1">
                                      <a:latin typeface="Cambria Math" panose="02040503050406030204" pitchFamily="18" charset="0"/>
                                    </a:rPr>
                                    <m:t>6</m:t>
                                  </m:r>
                                </m:den>
                              </m:f>
                            </m:sup>
                          </m:sSup>
                          <m:r>
                            <a:rPr lang="en-US" sz="2200" b="0" i="1" smtClean="0">
                              <a:latin typeface="Cambria Math" panose="02040503050406030204" pitchFamily="18" charset="0"/>
                            </a:rPr>
                            <m:t> </m:t>
                          </m:r>
                        </m:e>
                        <m:sub/>
                      </m:sSub>
                    </m:oMath>
                  </m:oMathPara>
                </a14:m>
                <a:endParaRPr lang="en-US" sz="2200" dirty="0"/>
              </a:p>
            </p:txBody>
          </p:sp>
        </mc:Choice>
        <mc:Fallback xmlns="">
          <p:sp>
            <p:nvSpPr>
              <p:cNvPr id="3" name="Rectangle 2">
                <a:extLst>
                  <a:ext uri="{FF2B5EF4-FFF2-40B4-BE49-F238E27FC236}">
                    <a16:creationId xmlns:a16="http://schemas.microsoft.com/office/drawing/2014/main" id="{F198109F-608E-D546-98A1-DE4031F2402A}"/>
                  </a:ext>
                </a:extLst>
              </p:cNvPr>
              <p:cNvSpPr>
                <a:spLocks noRot="1" noChangeAspect="1" noMove="1" noResize="1" noEditPoints="1" noAdjustHandles="1" noChangeArrowheads="1" noChangeShapeType="1" noTextEdit="1"/>
              </p:cNvSpPr>
              <p:nvPr/>
            </p:nvSpPr>
            <p:spPr>
              <a:xfrm>
                <a:off x="5278627" y="4853209"/>
                <a:ext cx="1162946" cy="556050"/>
              </a:xfrm>
              <a:prstGeom prst="rect">
                <a:avLst/>
              </a:prstGeom>
              <a:blipFill>
                <a:blip r:embed="rId22"/>
                <a:stretch>
                  <a:fillRect b="-13333"/>
                </a:stretch>
              </a:blipFill>
            </p:spPr>
            <p:txBody>
              <a:bodyPr/>
              <a:lstStyle/>
              <a:p>
                <a:r>
                  <a:rPr lang="en-US">
                    <a:noFill/>
                  </a:rPr>
                  <a:t> </a:t>
                </a:r>
              </a:p>
            </p:txBody>
          </p:sp>
        </mc:Fallback>
      </mc:AlternateContent>
      <p:sp>
        <p:nvSpPr>
          <p:cNvPr id="64" name="Arc 63">
            <a:extLst>
              <a:ext uri="{FF2B5EF4-FFF2-40B4-BE49-F238E27FC236}">
                <a16:creationId xmlns:a16="http://schemas.microsoft.com/office/drawing/2014/main" id="{DCF5D824-5D0B-8D4F-A18B-83B2EC1FF21F}"/>
              </a:ext>
            </a:extLst>
          </p:cNvPr>
          <p:cNvSpPr>
            <a:spLocks noChangeAspect="1"/>
          </p:cNvSpPr>
          <p:nvPr/>
        </p:nvSpPr>
        <p:spPr>
          <a:xfrm>
            <a:off x="7063416" y="4800742"/>
            <a:ext cx="2651188" cy="2651188"/>
          </a:xfrm>
          <a:prstGeom prst="arc">
            <a:avLst>
              <a:gd name="adj1" fmla="val 20309503"/>
              <a:gd name="adj2" fmla="val 21506671"/>
            </a:avLst>
          </a:prstGeom>
          <a:ln>
            <a:solidFill>
              <a:schemeClr val="tx1">
                <a:lumMod val="50000"/>
                <a:lumOff val="50000"/>
              </a:schemeClr>
            </a:solidFill>
            <a:headEnd type="triangle"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spTree>
    <p:extLst>
      <p:ext uri="{BB962C8B-B14F-4D97-AF65-F5344CB8AC3E}">
        <p14:creationId xmlns:p14="http://schemas.microsoft.com/office/powerpoint/2010/main" val="32619629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E1B6E8F-149B-A14F-828A-8FBF41E9A6D8}"/>
              </a:ext>
            </a:extLst>
          </p:cNvPr>
          <p:cNvSpPr>
            <a:spLocks noGrp="1"/>
          </p:cNvSpPr>
          <p:nvPr>
            <p:ph type="title"/>
          </p:nvPr>
        </p:nvSpPr>
        <p:spPr/>
        <p:txBody>
          <a:bodyPr/>
          <a:lstStyle/>
          <a:p>
            <a:r>
              <a:rPr lang="en-US" dirty="0" err="1"/>
              <a:t>MathBox</a:t>
            </a:r>
            <a:r>
              <a:rPr lang="en-US" dirty="0"/>
              <a:t>: </a:t>
            </a:r>
            <a:r>
              <a:rPr lang="en-ZA" dirty="0"/>
              <a:t>Phase Factors as n-</a:t>
            </a:r>
            <a:r>
              <a:rPr lang="en-ZA" dirty="0" err="1"/>
              <a:t>th</a:t>
            </a:r>
            <a:r>
              <a:rPr lang="en-ZA" dirty="0"/>
              <a:t> Roots of Unity</a:t>
            </a:r>
            <a:endParaRPr lang="en-US" dirty="0"/>
          </a:p>
        </p:txBody>
      </p:sp>
      <p:sp>
        <p:nvSpPr>
          <p:cNvPr id="47" name="Slide Number Placeholder 2">
            <a:extLst>
              <a:ext uri="{FF2B5EF4-FFF2-40B4-BE49-F238E27FC236}">
                <a16:creationId xmlns:a16="http://schemas.microsoft.com/office/drawing/2014/main" id="{96D5953D-F50B-F240-AF92-EA3A66A1BA4E}"/>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52</a:t>
            </a:fld>
            <a:endParaRPr lang="en-US"/>
          </a:p>
        </p:txBody>
      </p:sp>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AA0362A5-8184-2A47-B1D9-08DD4017E934}"/>
                  </a:ext>
                </a:extLst>
              </p:cNvPr>
              <p:cNvSpPr/>
              <p:nvPr/>
            </p:nvSpPr>
            <p:spPr>
              <a:xfrm>
                <a:off x="1484905" y="1706590"/>
                <a:ext cx="9076780" cy="91031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sz="2800" i="1" smtClean="0">
                              <a:solidFill>
                                <a:schemeClr val="tx1"/>
                              </a:solidFill>
                              <a:latin typeface="Cambria Math" panose="02040503050406030204" pitchFamily="18" charset="0"/>
                              <a:ea typeface="Cambria Math" panose="02040503050406030204" pitchFamily="18" charset="0"/>
                            </a:rPr>
                          </m:ctrlPr>
                        </m:funcPr>
                        <m:fName>
                          <m:sSup>
                            <m:sSupPr>
                              <m:ctrlPr>
                                <a:rPr lang="en-US" sz="2800" i="1" smtClean="0">
                                  <a:solidFill>
                                    <a:schemeClr val="tx1"/>
                                  </a:solidFill>
                                  <a:latin typeface="Cambria Math" panose="02040503050406030204" pitchFamily="18" charset="0"/>
                                  <a:ea typeface="Cambria Math" panose="02040503050406030204" pitchFamily="18" charset="0"/>
                                </a:rPr>
                              </m:ctrlPr>
                            </m:sSupPr>
                            <m:e>
                              <m:r>
                                <a:rPr lang="en-US" sz="2800" i="1">
                                  <a:solidFill>
                                    <a:schemeClr val="tx1"/>
                                  </a:solidFill>
                                  <a:latin typeface="Cambria Math" panose="02040503050406030204" pitchFamily="18" charset="0"/>
                                  <a:ea typeface="Cambria Math" panose="02040503050406030204" pitchFamily="18" charset="0"/>
                                </a:rPr>
                                <m:t>𝑒</m:t>
                              </m:r>
                            </m:e>
                            <m:sup>
                              <m:f>
                                <m:fPr>
                                  <m:ctrlPr>
                                    <a:rPr lang="en-US" sz="2800" i="1">
                                      <a:solidFill>
                                        <a:schemeClr val="tx1"/>
                                      </a:solidFill>
                                      <a:latin typeface="Cambria Math" panose="02040503050406030204" pitchFamily="18" charset="0"/>
                                      <a:ea typeface="Cambria Math" panose="02040503050406030204" pitchFamily="18" charset="0"/>
                                    </a:rPr>
                                  </m:ctrlPr>
                                </m:fPr>
                                <m:num>
                                  <m:r>
                                    <a:rPr lang="en-US" sz="2800" i="1">
                                      <a:solidFill>
                                        <a:schemeClr val="tx1"/>
                                      </a:solidFill>
                                      <a:latin typeface="Cambria Math" panose="02040503050406030204" pitchFamily="18" charset="0"/>
                                      <a:ea typeface="Cambria Math" panose="02040503050406030204" pitchFamily="18" charset="0"/>
                                    </a:rPr>
                                    <m:t>2</m:t>
                                  </m:r>
                                  <m:r>
                                    <a:rPr lang="en-US" sz="2800" i="1">
                                      <a:solidFill>
                                        <a:schemeClr val="tx1"/>
                                      </a:solidFill>
                                      <a:latin typeface="Cambria Math" panose="02040503050406030204" pitchFamily="18" charset="0"/>
                                      <a:ea typeface="Cambria Math" panose="02040503050406030204" pitchFamily="18" charset="0"/>
                                    </a:rPr>
                                    <m:t>𝜋</m:t>
                                  </m:r>
                                  <m:r>
                                    <a:rPr lang="en-US" sz="2800" i="1">
                                      <a:solidFill>
                                        <a:schemeClr val="tx1"/>
                                      </a:solidFill>
                                      <a:latin typeface="Cambria Math" panose="02040503050406030204" pitchFamily="18" charset="0"/>
                                      <a:ea typeface="Cambria Math" panose="02040503050406030204" pitchFamily="18" charset="0"/>
                                    </a:rPr>
                                    <m:t>𝑖</m:t>
                                  </m:r>
                                </m:num>
                                <m:den>
                                  <m:r>
                                    <a:rPr lang="en-US" sz="2800" i="1">
                                      <a:solidFill>
                                        <a:schemeClr val="tx1"/>
                                      </a:solidFill>
                                      <a:latin typeface="Cambria Math" panose="02040503050406030204" pitchFamily="18" charset="0"/>
                                      <a:ea typeface="Cambria Math" panose="02040503050406030204" pitchFamily="18" charset="0"/>
                                    </a:rPr>
                                    <m:t>𝑛</m:t>
                                  </m:r>
                                </m:den>
                              </m:f>
                              <m:r>
                                <a:rPr lang="sr-Latn-RS" sz="2800" i="1">
                                  <a:solidFill>
                                    <a:schemeClr val="tx1"/>
                                  </a:solidFill>
                                  <a:latin typeface="Cambria Math" panose="02040503050406030204" pitchFamily="18" charset="0"/>
                                  <a:ea typeface="Cambria Math" panose="02040503050406030204" pitchFamily="18" charset="0"/>
                                </a:rPr>
                                <m:t>𝑘</m:t>
                              </m:r>
                            </m:sup>
                          </m:sSup>
                          <m:r>
                            <a:rPr lang="en-US" sz="2800" b="0" i="0" smtClean="0">
                              <a:solidFill>
                                <a:schemeClr val="tx1"/>
                              </a:solidFill>
                              <a:latin typeface="Cambria Math" panose="02040503050406030204" pitchFamily="18" charset="0"/>
                              <a:ea typeface="Cambria Math" panose="02040503050406030204" pitchFamily="18" charset="0"/>
                            </a:rPr>
                            <m:t>=</m:t>
                          </m:r>
                          <m:r>
                            <m:rPr>
                              <m:sty m:val="p"/>
                            </m:rPr>
                            <a:rPr lang="en-US" sz="2800">
                              <a:solidFill>
                                <a:schemeClr val="tx1"/>
                              </a:solidFill>
                              <a:latin typeface="Cambria Math" panose="02040503050406030204" pitchFamily="18" charset="0"/>
                              <a:ea typeface="Cambria Math" panose="02040503050406030204" pitchFamily="18" charset="0"/>
                            </a:rPr>
                            <m:t>cos</m:t>
                          </m:r>
                        </m:fName>
                        <m:e>
                          <m:f>
                            <m:fPr>
                              <m:ctrlPr>
                                <a:rPr lang="en-US" sz="2800" i="1">
                                  <a:solidFill>
                                    <a:schemeClr val="tx1"/>
                                  </a:solidFill>
                                  <a:latin typeface="Cambria Math" panose="02040503050406030204" pitchFamily="18" charset="0"/>
                                  <a:ea typeface="Cambria Math" panose="02040503050406030204" pitchFamily="18" charset="0"/>
                                </a:rPr>
                              </m:ctrlPr>
                            </m:fPr>
                            <m:num>
                              <m:r>
                                <a:rPr lang="en-US" sz="2800" i="1">
                                  <a:solidFill>
                                    <a:schemeClr val="tx1"/>
                                  </a:solidFill>
                                  <a:latin typeface="Cambria Math" panose="02040503050406030204" pitchFamily="18" charset="0"/>
                                  <a:ea typeface="Cambria Math" panose="02040503050406030204" pitchFamily="18" charset="0"/>
                                </a:rPr>
                                <m:t>2</m:t>
                              </m:r>
                              <m:r>
                                <a:rPr lang="en-US" sz="2800" i="1">
                                  <a:solidFill>
                                    <a:schemeClr val="tx1"/>
                                  </a:solidFill>
                                  <a:latin typeface="Cambria Math" panose="02040503050406030204" pitchFamily="18" charset="0"/>
                                  <a:ea typeface="Cambria Math" panose="02040503050406030204" pitchFamily="18" charset="0"/>
                                </a:rPr>
                                <m:t>𝜋</m:t>
                              </m:r>
                              <m:r>
                                <a:rPr lang="en-US" sz="2800" i="1">
                                  <a:solidFill>
                                    <a:schemeClr val="tx1"/>
                                  </a:solidFill>
                                  <a:latin typeface="Cambria Math" panose="02040503050406030204" pitchFamily="18" charset="0"/>
                                  <a:ea typeface="Cambria Math" panose="02040503050406030204" pitchFamily="18" charset="0"/>
                                </a:rPr>
                                <m:t>𝑘</m:t>
                              </m:r>
                            </m:num>
                            <m:den>
                              <m:r>
                                <a:rPr lang="en-US" sz="2800" i="1">
                                  <a:solidFill>
                                    <a:schemeClr val="tx1"/>
                                  </a:solidFill>
                                  <a:latin typeface="Cambria Math" panose="02040503050406030204" pitchFamily="18" charset="0"/>
                                  <a:ea typeface="Cambria Math" panose="02040503050406030204" pitchFamily="18" charset="0"/>
                                </a:rPr>
                                <m:t>𝑛</m:t>
                              </m:r>
                            </m:den>
                          </m:f>
                          <m:r>
                            <a:rPr lang="en-US" sz="2800" i="1">
                              <a:solidFill>
                                <a:schemeClr val="tx1"/>
                              </a:solidFill>
                              <a:latin typeface="Cambria Math" panose="02040503050406030204" pitchFamily="18" charset="0"/>
                              <a:ea typeface="Cambria Math" panose="02040503050406030204" pitchFamily="18" charset="0"/>
                            </a:rPr>
                            <m:t>+</m:t>
                          </m:r>
                          <m:r>
                            <a:rPr lang="en-US" sz="2800" i="1">
                              <a:solidFill>
                                <a:schemeClr val="tx1"/>
                              </a:solidFill>
                              <a:latin typeface="Cambria Math" panose="02040503050406030204" pitchFamily="18" charset="0"/>
                              <a:ea typeface="Cambria Math" panose="02040503050406030204" pitchFamily="18" charset="0"/>
                            </a:rPr>
                            <m:t>𝑖</m:t>
                          </m:r>
                          <m:func>
                            <m:funcPr>
                              <m:ctrlPr>
                                <a:rPr lang="en-US" sz="2800" i="1">
                                  <a:solidFill>
                                    <a:schemeClr val="tx1"/>
                                  </a:solidFill>
                                  <a:latin typeface="Cambria Math" panose="02040503050406030204" pitchFamily="18" charset="0"/>
                                  <a:ea typeface="Cambria Math" panose="02040503050406030204" pitchFamily="18" charset="0"/>
                                </a:rPr>
                              </m:ctrlPr>
                            </m:funcPr>
                            <m:fName>
                              <m:r>
                                <m:rPr>
                                  <m:sty m:val="p"/>
                                </m:rPr>
                                <a:rPr lang="en-US" sz="2800">
                                  <a:solidFill>
                                    <a:schemeClr val="tx1"/>
                                  </a:solidFill>
                                  <a:latin typeface="Cambria Math" panose="02040503050406030204" pitchFamily="18" charset="0"/>
                                  <a:ea typeface="Cambria Math" panose="02040503050406030204" pitchFamily="18" charset="0"/>
                                </a:rPr>
                                <m:t>sin</m:t>
                              </m:r>
                            </m:fName>
                            <m:e>
                              <m:f>
                                <m:fPr>
                                  <m:ctrlPr>
                                    <a:rPr lang="en-US" sz="2800" i="1">
                                      <a:solidFill>
                                        <a:schemeClr val="tx1"/>
                                      </a:solidFill>
                                      <a:latin typeface="Cambria Math" panose="02040503050406030204" pitchFamily="18" charset="0"/>
                                      <a:ea typeface="Cambria Math" panose="02040503050406030204" pitchFamily="18" charset="0"/>
                                    </a:rPr>
                                  </m:ctrlPr>
                                </m:fPr>
                                <m:num>
                                  <m:r>
                                    <a:rPr lang="en-US" sz="2800" i="1">
                                      <a:solidFill>
                                        <a:schemeClr val="tx1"/>
                                      </a:solidFill>
                                      <a:latin typeface="Cambria Math" panose="02040503050406030204" pitchFamily="18" charset="0"/>
                                      <a:ea typeface="Cambria Math" panose="02040503050406030204" pitchFamily="18" charset="0"/>
                                    </a:rPr>
                                    <m:t>2</m:t>
                                  </m:r>
                                  <m:r>
                                    <a:rPr lang="en-US" sz="2800" i="1">
                                      <a:solidFill>
                                        <a:schemeClr val="tx1"/>
                                      </a:solidFill>
                                      <a:latin typeface="Cambria Math" panose="02040503050406030204" pitchFamily="18" charset="0"/>
                                      <a:ea typeface="Cambria Math" panose="02040503050406030204" pitchFamily="18" charset="0"/>
                                    </a:rPr>
                                    <m:t>𝜋</m:t>
                                  </m:r>
                                  <m:r>
                                    <a:rPr lang="en-US" sz="2800" i="1">
                                      <a:solidFill>
                                        <a:schemeClr val="tx1"/>
                                      </a:solidFill>
                                      <a:latin typeface="Cambria Math" panose="02040503050406030204" pitchFamily="18" charset="0"/>
                                      <a:ea typeface="Cambria Math" panose="02040503050406030204" pitchFamily="18" charset="0"/>
                                    </a:rPr>
                                    <m:t>𝑘</m:t>
                                  </m:r>
                                </m:num>
                                <m:den>
                                  <m:r>
                                    <a:rPr lang="en-US" sz="2800" i="1">
                                      <a:solidFill>
                                        <a:schemeClr val="tx1"/>
                                      </a:solidFill>
                                      <a:latin typeface="Cambria Math" panose="02040503050406030204" pitchFamily="18" charset="0"/>
                                      <a:ea typeface="Cambria Math" panose="02040503050406030204" pitchFamily="18" charset="0"/>
                                    </a:rPr>
                                    <m:t>𝑛</m:t>
                                  </m:r>
                                </m:den>
                              </m:f>
                            </m:e>
                          </m:func>
                        </m:e>
                      </m:func>
                      <m:r>
                        <a:rPr lang="en-US" sz="2800" b="0" i="1" smtClean="0">
                          <a:solidFill>
                            <a:schemeClr val="tx1"/>
                          </a:solidFill>
                          <a:latin typeface="Cambria Math" panose="02040503050406030204" pitchFamily="18" charset="0"/>
                          <a:ea typeface="Cambria Math" panose="02040503050406030204" pitchFamily="18" charset="0"/>
                        </a:rPr>
                        <m:t>=</m:t>
                      </m:r>
                      <m:sSubSup>
                        <m:sSubSupPr>
                          <m:ctrlPr>
                            <a:rPr lang="en-US" sz="2800" i="1">
                              <a:solidFill>
                                <a:schemeClr val="tx1"/>
                              </a:solidFill>
                              <a:latin typeface="Cambria Math" panose="02040503050406030204" pitchFamily="18" charset="0"/>
                              <a:ea typeface="Cambria Math" panose="02040503050406030204" pitchFamily="18" charset="0"/>
                            </a:rPr>
                          </m:ctrlPr>
                        </m:sSubSupPr>
                        <m:e>
                          <m:r>
                            <a:rPr lang="en-US" sz="2800" i="1">
                              <a:solidFill>
                                <a:schemeClr val="tx1"/>
                              </a:solidFill>
                              <a:latin typeface="Cambria Math" panose="02040503050406030204" pitchFamily="18" charset="0"/>
                              <a:ea typeface="Cambria Math" panose="02040503050406030204" pitchFamily="18" charset="0"/>
                            </a:rPr>
                            <m:t>𝜔</m:t>
                          </m:r>
                        </m:e>
                        <m:sub>
                          <m:r>
                            <a:rPr lang="en-US" sz="2800" i="1">
                              <a:solidFill>
                                <a:schemeClr val="tx1"/>
                              </a:solidFill>
                              <a:latin typeface="Cambria Math" panose="02040503050406030204" pitchFamily="18" charset="0"/>
                              <a:ea typeface="Cambria Math" panose="02040503050406030204" pitchFamily="18" charset="0"/>
                            </a:rPr>
                            <m:t>𝑛</m:t>
                          </m:r>
                        </m:sub>
                        <m:sup>
                          <m:r>
                            <a:rPr lang="en-US" sz="2800" i="1">
                              <a:solidFill>
                                <a:schemeClr val="tx1"/>
                              </a:solidFill>
                              <a:latin typeface="Cambria Math" panose="02040503050406030204" pitchFamily="18" charset="0"/>
                              <a:ea typeface="Cambria Math" panose="02040503050406030204" pitchFamily="18" charset="0"/>
                            </a:rPr>
                            <m:t>𝑘</m:t>
                          </m:r>
                        </m:sup>
                      </m:sSubSup>
                      <m:r>
                        <a:rPr lang="en-US" sz="2800" b="0" i="1" smtClean="0">
                          <a:solidFill>
                            <a:schemeClr val="tx1"/>
                          </a:solidFill>
                          <a:latin typeface="Cambria Math" panose="02040503050406030204" pitchFamily="18" charset="0"/>
                          <a:ea typeface="Cambria Math" panose="02040503050406030204" pitchFamily="18" charset="0"/>
                        </a:rPr>
                        <m:t>,  </m:t>
                      </m:r>
                      <m:r>
                        <a:rPr lang="en-US" sz="2800" i="1">
                          <a:solidFill>
                            <a:schemeClr val="tx1"/>
                          </a:solidFill>
                          <a:latin typeface="Cambria Math" panose="02040503050406030204" pitchFamily="18" charset="0"/>
                          <a:ea typeface="Cambria Math" panose="02040503050406030204" pitchFamily="18" charset="0"/>
                        </a:rPr>
                        <m:t>𝑘</m:t>
                      </m:r>
                      <m:r>
                        <a:rPr lang="en-US" sz="2800" i="1">
                          <a:solidFill>
                            <a:schemeClr val="tx1"/>
                          </a:solidFill>
                          <a:latin typeface="Cambria Math" panose="02040503050406030204" pitchFamily="18" charset="0"/>
                          <a:ea typeface="Cambria Math" panose="02040503050406030204" pitchFamily="18" charset="0"/>
                        </a:rPr>
                        <m:t>=</m:t>
                      </m:r>
                      <m:d>
                        <m:dPr>
                          <m:begChr m:val="{"/>
                          <m:endChr m:val="}"/>
                          <m:ctrlPr>
                            <a:rPr lang="en-US" sz="2800" i="1">
                              <a:solidFill>
                                <a:schemeClr val="tx1"/>
                              </a:solidFill>
                              <a:latin typeface="Cambria Math" panose="02040503050406030204" pitchFamily="18" charset="0"/>
                              <a:ea typeface="Cambria Math" panose="02040503050406030204" pitchFamily="18" charset="0"/>
                            </a:rPr>
                          </m:ctrlPr>
                        </m:dPr>
                        <m:e>
                          <m:r>
                            <a:rPr lang="en-US" sz="2800" b="0" i="1" smtClean="0">
                              <a:solidFill>
                                <a:schemeClr val="tx1"/>
                              </a:solidFill>
                              <a:latin typeface="Cambria Math" panose="02040503050406030204" pitchFamily="18" charset="0"/>
                              <a:ea typeface="Cambria Math" panose="02040503050406030204" pitchFamily="18" charset="0"/>
                            </a:rPr>
                            <m:t>0</m:t>
                          </m:r>
                          <m:r>
                            <a:rPr lang="en-US" sz="2800" i="1">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1,</m:t>
                          </m:r>
                          <m:r>
                            <a:rPr lang="en-US" sz="2800" i="1">
                              <a:solidFill>
                                <a:schemeClr val="tx1"/>
                              </a:solidFill>
                              <a:latin typeface="Cambria Math" panose="02040503050406030204" pitchFamily="18" charset="0"/>
                              <a:ea typeface="Cambria Math" panose="02040503050406030204" pitchFamily="18" charset="0"/>
                            </a:rPr>
                            <m:t>⋯,</m:t>
                          </m:r>
                          <m:r>
                            <a:rPr lang="en-US" sz="2800" i="1">
                              <a:solidFill>
                                <a:schemeClr val="tx1"/>
                              </a:solidFill>
                              <a:latin typeface="Cambria Math" panose="02040503050406030204" pitchFamily="18" charset="0"/>
                              <a:ea typeface="Cambria Math" panose="02040503050406030204" pitchFamily="18" charset="0"/>
                            </a:rPr>
                            <m:t>𝑛</m:t>
                          </m:r>
                          <m:r>
                            <a:rPr lang="en-US" sz="2800" b="0" i="1" smtClean="0">
                              <a:solidFill>
                                <a:schemeClr val="tx1"/>
                              </a:solidFill>
                              <a:latin typeface="Cambria Math" panose="02040503050406030204" pitchFamily="18" charset="0"/>
                              <a:ea typeface="Cambria Math" panose="02040503050406030204" pitchFamily="18" charset="0"/>
                            </a:rPr>
                            <m:t>−1</m:t>
                          </m:r>
                        </m:e>
                      </m:d>
                    </m:oMath>
                  </m:oMathPara>
                </a14:m>
                <a:endParaRPr lang="en-US" sz="2800" i="1" dirty="0">
                  <a:solidFill>
                    <a:schemeClr val="tx1"/>
                  </a:solidFill>
                </a:endParaRPr>
              </a:p>
            </p:txBody>
          </p:sp>
        </mc:Choice>
        <mc:Fallback xmlns="">
          <p:sp>
            <p:nvSpPr>
              <p:cNvPr id="50" name="Rectangle 49">
                <a:extLst>
                  <a:ext uri="{FF2B5EF4-FFF2-40B4-BE49-F238E27FC236}">
                    <a16:creationId xmlns:a16="http://schemas.microsoft.com/office/drawing/2014/main" id="{AA0362A5-8184-2A47-B1D9-08DD4017E934}"/>
                  </a:ext>
                </a:extLst>
              </p:cNvPr>
              <p:cNvSpPr>
                <a:spLocks noRot="1" noChangeAspect="1" noMove="1" noResize="1" noEditPoints="1" noAdjustHandles="1" noChangeArrowheads="1" noChangeShapeType="1" noTextEdit="1"/>
              </p:cNvSpPr>
              <p:nvPr/>
            </p:nvSpPr>
            <p:spPr>
              <a:xfrm>
                <a:off x="1484905" y="1706590"/>
                <a:ext cx="9076780" cy="910314"/>
              </a:xfrm>
              <a:prstGeom prst="rect">
                <a:avLst/>
              </a:prstGeom>
              <a:blipFill>
                <a:blip r:embed="rId3"/>
                <a:stretch>
                  <a:fillRect b="-2740"/>
                </a:stretch>
              </a:blipFill>
            </p:spPr>
            <p:txBody>
              <a:bodyPr/>
              <a:lstStyle/>
              <a:p>
                <a:r>
                  <a:rPr lang="en-US">
                    <a:noFill/>
                  </a:rPr>
                  <a:t> </a:t>
                </a:r>
              </a:p>
            </p:txBody>
          </p:sp>
        </mc:Fallback>
      </mc:AlternateContent>
      <p:sp>
        <p:nvSpPr>
          <p:cNvPr id="53" name="Rectangle 52">
            <a:extLst>
              <a:ext uri="{FF2B5EF4-FFF2-40B4-BE49-F238E27FC236}">
                <a16:creationId xmlns:a16="http://schemas.microsoft.com/office/drawing/2014/main" id="{A25DFA05-6122-CC40-81B4-755C7FD6D2E6}"/>
              </a:ext>
            </a:extLst>
          </p:cNvPr>
          <p:cNvSpPr/>
          <p:nvPr/>
        </p:nvSpPr>
        <p:spPr>
          <a:xfrm>
            <a:off x="-288008" y="5494517"/>
            <a:ext cx="349424" cy="686231"/>
          </a:xfrm>
          <a:prstGeom prst="rect">
            <a:avLst/>
          </a:prstGeom>
        </p:spPr>
        <p:txBody>
          <a:bodyPr wrap="none">
            <a:spAutoFit/>
          </a:bodyPr>
          <a:lstStyle/>
          <a:p>
            <a:r>
              <a:rPr lang="en-US" sz="2800" dirty="0"/>
              <a:t> </a:t>
            </a:r>
          </a:p>
        </p:txBody>
      </p:sp>
      <p:grpSp>
        <p:nvGrpSpPr>
          <p:cNvPr id="56" name="Group 55">
            <a:extLst>
              <a:ext uri="{FF2B5EF4-FFF2-40B4-BE49-F238E27FC236}">
                <a16:creationId xmlns:a16="http://schemas.microsoft.com/office/drawing/2014/main" id="{02AC5C0F-D5D1-F748-9088-191EFC90384E}"/>
              </a:ext>
            </a:extLst>
          </p:cNvPr>
          <p:cNvGrpSpPr/>
          <p:nvPr/>
        </p:nvGrpSpPr>
        <p:grpSpPr>
          <a:xfrm>
            <a:off x="12733" y="2744453"/>
            <a:ext cx="11975803" cy="3899701"/>
            <a:chOff x="12733" y="2744453"/>
            <a:chExt cx="11975803" cy="3899701"/>
          </a:xfrm>
        </p:grpSpPr>
        <p:sp>
          <p:nvSpPr>
            <p:cNvPr id="57" name="Oval 56">
              <a:extLst>
                <a:ext uri="{FF2B5EF4-FFF2-40B4-BE49-F238E27FC236}">
                  <a16:creationId xmlns:a16="http://schemas.microsoft.com/office/drawing/2014/main" id="{86325D6E-B33D-AB42-933D-662D8800581C}"/>
                </a:ext>
              </a:extLst>
            </p:cNvPr>
            <p:cNvSpPr/>
            <p:nvPr/>
          </p:nvSpPr>
          <p:spPr>
            <a:xfrm>
              <a:off x="674686" y="3150928"/>
              <a:ext cx="3069034" cy="3069035"/>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Connector 57">
              <a:extLst>
                <a:ext uri="{FF2B5EF4-FFF2-40B4-BE49-F238E27FC236}">
                  <a16:creationId xmlns:a16="http://schemas.microsoft.com/office/drawing/2014/main" id="{ED4C3635-BA2B-0F4D-A717-9A55A782A678}"/>
                </a:ext>
              </a:extLst>
            </p:cNvPr>
            <p:cNvCxnSpPr>
              <a:cxnSpLocks/>
            </p:cNvCxnSpPr>
            <p:nvPr/>
          </p:nvCxnSpPr>
          <p:spPr>
            <a:xfrm>
              <a:off x="2209204" y="2813706"/>
              <a:ext cx="0" cy="3777273"/>
            </a:xfrm>
            <a:prstGeom prst="line">
              <a:avLst/>
            </a:prstGeom>
            <a:ln>
              <a:solidFill>
                <a:schemeClr val="bg1">
                  <a:lumMod val="65000"/>
                </a:schemeClr>
              </a:solidFill>
              <a:headEnd type="triangle" w="lg" len="lg"/>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B4E19E3-3C0C-794A-AE9F-324024E7DCF7}"/>
                </a:ext>
              </a:extLst>
            </p:cNvPr>
            <p:cNvCxnSpPr>
              <a:cxnSpLocks/>
            </p:cNvCxnSpPr>
            <p:nvPr/>
          </p:nvCxnSpPr>
          <p:spPr>
            <a:xfrm>
              <a:off x="320567" y="4687658"/>
              <a:ext cx="3777273" cy="0"/>
            </a:xfrm>
            <a:prstGeom prst="line">
              <a:avLst/>
            </a:prstGeom>
            <a:ln>
              <a:solidFill>
                <a:schemeClr val="bg1">
                  <a:lumMod val="65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29868D4F-66BF-0849-8BFF-111B2B8FAF4B}"/>
                    </a:ext>
                  </a:extLst>
                </p:cNvPr>
                <p:cNvSpPr/>
                <p:nvPr/>
              </p:nvSpPr>
              <p:spPr>
                <a:xfrm>
                  <a:off x="3808696" y="4693598"/>
                  <a:ext cx="42351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ea typeface="Cambria Math" panose="02040503050406030204" pitchFamily="18" charset="0"/>
                          </a:rPr>
                          <m:t>1</m:t>
                        </m:r>
                      </m:oMath>
                    </m:oMathPara>
                  </a14:m>
                  <a:endParaRPr lang="en-US" sz="2400" dirty="0"/>
                </a:p>
              </p:txBody>
            </p:sp>
          </mc:Choice>
          <mc:Fallback xmlns="">
            <p:sp>
              <p:nvSpPr>
                <p:cNvPr id="16" name="Rectangle 15">
                  <a:extLst>
                    <a:ext uri="{FF2B5EF4-FFF2-40B4-BE49-F238E27FC236}">
                      <a16:creationId xmlns:a16="http://schemas.microsoft.com/office/drawing/2014/main" id="{9173DBC6-C402-5E4A-9045-167E375BA92C}"/>
                    </a:ext>
                  </a:extLst>
                </p:cNvPr>
                <p:cNvSpPr>
                  <a:spLocks noRot="1" noChangeAspect="1" noMove="1" noResize="1" noEditPoints="1" noAdjustHandles="1" noChangeArrowheads="1" noChangeShapeType="1" noTextEdit="1"/>
                </p:cNvSpPr>
                <p:nvPr/>
              </p:nvSpPr>
              <p:spPr>
                <a:xfrm>
                  <a:off x="3808696" y="4693598"/>
                  <a:ext cx="423514"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Rectangle 60">
                  <a:extLst>
                    <a:ext uri="{FF2B5EF4-FFF2-40B4-BE49-F238E27FC236}">
                      <a16:creationId xmlns:a16="http://schemas.microsoft.com/office/drawing/2014/main" id="{DFF80EC8-4A1E-4242-8557-F2764D7A5979}"/>
                    </a:ext>
                  </a:extLst>
                </p:cNvPr>
                <p:cNvSpPr/>
                <p:nvPr/>
              </p:nvSpPr>
              <p:spPr>
                <a:xfrm>
                  <a:off x="12733" y="4597857"/>
                  <a:ext cx="65274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1</m:t>
                        </m:r>
                      </m:oMath>
                    </m:oMathPara>
                  </a14:m>
                  <a:endParaRPr lang="en-US" sz="2400" dirty="0"/>
                </a:p>
              </p:txBody>
            </p:sp>
          </mc:Choice>
          <mc:Fallback xmlns="">
            <p:sp>
              <p:nvSpPr>
                <p:cNvPr id="17" name="Rectangle 16">
                  <a:extLst>
                    <a:ext uri="{FF2B5EF4-FFF2-40B4-BE49-F238E27FC236}">
                      <a16:creationId xmlns:a16="http://schemas.microsoft.com/office/drawing/2014/main" id="{49BE8F5F-3C9F-904E-96A2-89503AC07CA6}"/>
                    </a:ext>
                  </a:extLst>
                </p:cNvPr>
                <p:cNvSpPr>
                  <a:spLocks noRot="1" noChangeAspect="1" noMove="1" noResize="1" noEditPoints="1" noAdjustHandles="1" noChangeArrowheads="1" noChangeShapeType="1" noTextEdit="1"/>
                </p:cNvSpPr>
                <p:nvPr/>
              </p:nvSpPr>
              <p:spPr>
                <a:xfrm>
                  <a:off x="12733" y="4597857"/>
                  <a:ext cx="652743" cy="46166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Rectangle 61">
                  <a:extLst>
                    <a:ext uri="{FF2B5EF4-FFF2-40B4-BE49-F238E27FC236}">
                      <a16:creationId xmlns:a16="http://schemas.microsoft.com/office/drawing/2014/main" id="{0C65A910-41B4-A249-B823-F047C313A7A7}"/>
                    </a:ext>
                  </a:extLst>
                </p:cNvPr>
                <p:cNvSpPr/>
                <p:nvPr/>
              </p:nvSpPr>
              <p:spPr>
                <a:xfrm>
                  <a:off x="1770553" y="2744453"/>
                  <a:ext cx="36112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𝑖</m:t>
                        </m:r>
                      </m:oMath>
                    </m:oMathPara>
                  </a14:m>
                  <a:endParaRPr lang="en-US" sz="2400" dirty="0"/>
                </a:p>
              </p:txBody>
            </p:sp>
          </mc:Choice>
          <mc:Fallback xmlns="">
            <p:sp>
              <p:nvSpPr>
                <p:cNvPr id="18" name="Rectangle 17">
                  <a:extLst>
                    <a:ext uri="{FF2B5EF4-FFF2-40B4-BE49-F238E27FC236}">
                      <a16:creationId xmlns:a16="http://schemas.microsoft.com/office/drawing/2014/main" id="{A4FFF902-F9E9-B649-9C1D-DA320D6F0E84}"/>
                    </a:ext>
                  </a:extLst>
                </p:cNvPr>
                <p:cNvSpPr>
                  <a:spLocks noRot="1" noChangeAspect="1" noMove="1" noResize="1" noEditPoints="1" noAdjustHandles="1" noChangeArrowheads="1" noChangeShapeType="1" noTextEdit="1"/>
                </p:cNvSpPr>
                <p:nvPr/>
              </p:nvSpPr>
              <p:spPr>
                <a:xfrm>
                  <a:off x="1770553" y="2744453"/>
                  <a:ext cx="361125"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Rectangle 62">
                  <a:extLst>
                    <a:ext uri="{FF2B5EF4-FFF2-40B4-BE49-F238E27FC236}">
                      <a16:creationId xmlns:a16="http://schemas.microsoft.com/office/drawing/2014/main" id="{66B59185-4566-B143-A5B5-9A096505234D}"/>
                    </a:ext>
                  </a:extLst>
                </p:cNvPr>
                <p:cNvSpPr/>
                <p:nvPr/>
              </p:nvSpPr>
              <p:spPr>
                <a:xfrm>
                  <a:off x="1617680" y="6124673"/>
                  <a:ext cx="59035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𝑖</m:t>
                        </m:r>
                      </m:oMath>
                    </m:oMathPara>
                  </a14:m>
                  <a:endParaRPr lang="en-US" sz="2400" dirty="0"/>
                </a:p>
              </p:txBody>
            </p:sp>
          </mc:Choice>
          <mc:Fallback xmlns="">
            <p:sp>
              <p:nvSpPr>
                <p:cNvPr id="19" name="Rectangle 18">
                  <a:extLst>
                    <a:ext uri="{FF2B5EF4-FFF2-40B4-BE49-F238E27FC236}">
                      <a16:creationId xmlns:a16="http://schemas.microsoft.com/office/drawing/2014/main" id="{F566CA75-8200-0547-904C-62DADF8FC8D6}"/>
                    </a:ext>
                  </a:extLst>
                </p:cNvPr>
                <p:cNvSpPr>
                  <a:spLocks noRot="1" noChangeAspect="1" noMove="1" noResize="1" noEditPoints="1" noAdjustHandles="1" noChangeArrowheads="1" noChangeShapeType="1" noTextEdit="1"/>
                </p:cNvSpPr>
                <p:nvPr/>
              </p:nvSpPr>
              <p:spPr>
                <a:xfrm>
                  <a:off x="1617680" y="6124673"/>
                  <a:ext cx="590353" cy="461665"/>
                </a:xfrm>
                <a:prstGeom prst="rect">
                  <a:avLst/>
                </a:prstGeom>
                <a:blipFill>
                  <a:blip r:embed="rId9"/>
                  <a:stretch>
                    <a:fillRect/>
                  </a:stretch>
                </a:blipFill>
              </p:spPr>
              <p:txBody>
                <a:bodyPr/>
                <a:lstStyle/>
                <a:p>
                  <a:r>
                    <a:rPr lang="en-US">
                      <a:noFill/>
                    </a:rPr>
                    <a:t> </a:t>
                  </a:r>
                </a:p>
              </p:txBody>
            </p:sp>
          </mc:Fallback>
        </mc:AlternateContent>
        <p:grpSp>
          <p:nvGrpSpPr>
            <p:cNvPr id="64" name="Group 63">
              <a:extLst>
                <a:ext uri="{FF2B5EF4-FFF2-40B4-BE49-F238E27FC236}">
                  <a16:creationId xmlns:a16="http://schemas.microsoft.com/office/drawing/2014/main" id="{54BC1E36-B390-A84B-81EB-8ADFF0A97262}"/>
                </a:ext>
              </a:extLst>
            </p:cNvPr>
            <p:cNvGrpSpPr/>
            <p:nvPr/>
          </p:nvGrpSpPr>
          <p:grpSpPr>
            <a:xfrm>
              <a:off x="2213368" y="4615394"/>
              <a:ext cx="1612165" cy="140581"/>
              <a:chOff x="10426993" y="3578804"/>
              <a:chExt cx="1229203" cy="107187"/>
            </a:xfrm>
          </p:grpSpPr>
          <p:sp>
            <p:nvSpPr>
              <p:cNvPr id="91" name="Oval 90">
                <a:extLst>
                  <a:ext uri="{FF2B5EF4-FFF2-40B4-BE49-F238E27FC236}">
                    <a16:creationId xmlns:a16="http://schemas.microsoft.com/office/drawing/2014/main" id="{B06A9570-0B8E-0846-851A-432B86FD2433}"/>
                  </a:ext>
                </a:extLst>
              </p:cNvPr>
              <p:cNvSpPr/>
              <p:nvPr/>
            </p:nvSpPr>
            <p:spPr>
              <a:xfrm rot="5400000">
                <a:off x="11549009" y="3578804"/>
                <a:ext cx="107187" cy="107187"/>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2" name="Straight Connector 91">
                <a:extLst>
                  <a:ext uri="{FF2B5EF4-FFF2-40B4-BE49-F238E27FC236}">
                    <a16:creationId xmlns:a16="http://schemas.microsoft.com/office/drawing/2014/main" id="{48C065CD-A664-3649-B4D5-DBA28EC509DD}"/>
                  </a:ext>
                </a:extLst>
              </p:cNvPr>
              <p:cNvCxnSpPr>
                <a:cxnSpLocks/>
              </p:cNvCxnSpPr>
              <p:nvPr/>
            </p:nvCxnSpPr>
            <p:spPr>
              <a:xfrm flipH="1">
                <a:off x="10426993" y="3632215"/>
                <a:ext cx="1116000" cy="0"/>
              </a:xfrm>
              <a:prstGeom prst="line">
                <a:avLst/>
              </a:prstGeom>
              <a:ln w="12700" cap="rnd">
                <a:solidFill>
                  <a:schemeClr val="bg1">
                    <a:lumMod val="50000"/>
                  </a:schemeClr>
                </a:solidFill>
                <a:headEnd type="triangle" w="lg" len="lg"/>
                <a:tailEnd type="non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5" name="Rectangle 64">
                  <a:extLst>
                    <a:ext uri="{FF2B5EF4-FFF2-40B4-BE49-F238E27FC236}">
                      <a16:creationId xmlns:a16="http://schemas.microsoft.com/office/drawing/2014/main" id="{813C541A-2F1A-3F41-B890-49234F9ABBAB}"/>
                    </a:ext>
                  </a:extLst>
                </p:cNvPr>
                <p:cNvSpPr/>
                <p:nvPr/>
              </p:nvSpPr>
              <p:spPr>
                <a:xfrm>
                  <a:off x="3866311" y="4143907"/>
                  <a:ext cx="60818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𝑅𝑒</m:t>
                        </m:r>
                      </m:oMath>
                    </m:oMathPara>
                  </a14:m>
                  <a:endParaRPr lang="en-US" sz="2400" dirty="0"/>
                </a:p>
              </p:txBody>
            </p:sp>
          </mc:Choice>
          <mc:Fallback xmlns="">
            <p:sp>
              <p:nvSpPr>
                <p:cNvPr id="23" name="Rectangle 22">
                  <a:extLst>
                    <a:ext uri="{FF2B5EF4-FFF2-40B4-BE49-F238E27FC236}">
                      <a16:creationId xmlns:a16="http://schemas.microsoft.com/office/drawing/2014/main" id="{4EB618F1-661B-A446-ACBF-29A6C82C3B69}"/>
                    </a:ext>
                  </a:extLst>
                </p:cNvPr>
                <p:cNvSpPr>
                  <a:spLocks noRot="1" noChangeAspect="1" noMove="1" noResize="1" noEditPoints="1" noAdjustHandles="1" noChangeArrowheads="1" noChangeShapeType="1" noTextEdit="1"/>
                </p:cNvSpPr>
                <p:nvPr/>
              </p:nvSpPr>
              <p:spPr>
                <a:xfrm>
                  <a:off x="3866311" y="4143907"/>
                  <a:ext cx="608180" cy="461665"/>
                </a:xfrm>
                <a:prstGeom prst="rect">
                  <a:avLst/>
                </a:prstGeom>
                <a:blipFill>
                  <a:blip r:embed="rId10"/>
                  <a:stretch>
                    <a:fillRect/>
                  </a:stretch>
                </a:blipFill>
              </p:spPr>
              <p:txBody>
                <a:bodyPr/>
                <a:lstStyle/>
                <a:p>
                  <a:r>
                    <a:rPr lang="en-US">
                      <a:noFill/>
                    </a:rPr>
                    <a:t> </a:t>
                  </a:r>
                </a:p>
              </p:txBody>
            </p:sp>
          </mc:Fallback>
        </mc:AlternateContent>
        <p:grpSp>
          <p:nvGrpSpPr>
            <p:cNvPr id="66" name="Group 65">
              <a:extLst>
                <a:ext uri="{FF2B5EF4-FFF2-40B4-BE49-F238E27FC236}">
                  <a16:creationId xmlns:a16="http://schemas.microsoft.com/office/drawing/2014/main" id="{58A4F810-9785-5C46-B30D-A1342B803EF8}"/>
                </a:ext>
              </a:extLst>
            </p:cNvPr>
            <p:cNvGrpSpPr/>
            <p:nvPr/>
          </p:nvGrpSpPr>
          <p:grpSpPr>
            <a:xfrm rot="17280000">
              <a:off x="1662025" y="3864863"/>
              <a:ext cx="1612165" cy="140581"/>
              <a:chOff x="10426993" y="3578804"/>
              <a:chExt cx="1229203" cy="107187"/>
            </a:xfrm>
          </p:grpSpPr>
          <p:sp>
            <p:nvSpPr>
              <p:cNvPr id="89" name="Oval 88">
                <a:extLst>
                  <a:ext uri="{FF2B5EF4-FFF2-40B4-BE49-F238E27FC236}">
                    <a16:creationId xmlns:a16="http://schemas.microsoft.com/office/drawing/2014/main" id="{641A8B11-70F3-6748-8EB3-B7C9500CCECE}"/>
                  </a:ext>
                </a:extLst>
              </p:cNvPr>
              <p:cNvSpPr/>
              <p:nvPr/>
            </p:nvSpPr>
            <p:spPr>
              <a:xfrm rot="5400000">
                <a:off x="11549009" y="3578804"/>
                <a:ext cx="107187" cy="107187"/>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0" name="Straight Connector 89">
                <a:extLst>
                  <a:ext uri="{FF2B5EF4-FFF2-40B4-BE49-F238E27FC236}">
                    <a16:creationId xmlns:a16="http://schemas.microsoft.com/office/drawing/2014/main" id="{27458CE1-9E28-8E4F-B3E2-27B3363D4550}"/>
                  </a:ext>
                </a:extLst>
              </p:cNvPr>
              <p:cNvCxnSpPr>
                <a:cxnSpLocks/>
              </p:cNvCxnSpPr>
              <p:nvPr/>
            </p:nvCxnSpPr>
            <p:spPr>
              <a:xfrm flipH="1">
                <a:off x="10426993" y="3632215"/>
                <a:ext cx="1116000" cy="0"/>
              </a:xfrm>
              <a:prstGeom prst="line">
                <a:avLst/>
              </a:prstGeom>
              <a:ln w="12700" cap="rnd">
                <a:solidFill>
                  <a:schemeClr val="bg1">
                    <a:lumMod val="50000"/>
                  </a:schemeClr>
                </a:solidFill>
                <a:headEnd type="triangle" w="lg" len="lg"/>
                <a:tailEnd type="none"/>
              </a:ln>
            </p:spPr>
            <p:style>
              <a:lnRef idx="1">
                <a:schemeClr val="accent1"/>
              </a:lnRef>
              <a:fillRef idx="0">
                <a:schemeClr val="accent1"/>
              </a:fillRef>
              <a:effectRef idx="0">
                <a:schemeClr val="accent1"/>
              </a:effectRef>
              <a:fontRef idx="minor">
                <a:schemeClr val="tx1"/>
              </a:fontRef>
            </p:style>
          </p:cxnSp>
        </p:grpSp>
        <p:grpSp>
          <p:nvGrpSpPr>
            <p:cNvPr id="68" name="Group 67">
              <a:extLst>
                <a:ext uri="{FF2B5EF4-FFF2-40B4-BE49-F238E27FC236}">
                  <a16:creationId xmlns:a16="http://schemas.microsoft.com/office/drawing/2014/main" id="{6BAEE302-371D-624D-8E85-522294B36663}"/>
                </a:ext>
              </a:extLst>
            </p:cNvPr>
            <p:cNvGrpSpPr/>
            <p:nvPr/>
          </p:nvGrpSpPr>
          <p:grpSpPr>
            <a:xfrm rot="12960000">
              <a:off x="761840" y="4150918"/>
              <a:ext cx="1612165" cy="140581"/>
              <a:chOff x="10426993" y="3578804"/>
              <a:chExt cx="1229203" cy="107187"/>
            </a:xfrm>
          </p:grpSpPr>
          <p:sp>
            <p:nvSpPr>
              <p:cNvPr id="87" name="Oval 86">
                <a:extLst>
                  <a:ext uri="{FF2B5EF4-FFF2-40B4-BE49-F238E27FC236}">
                    <a16:creationId xmlns:a16="http://schemas.microsoft.com/office/drawing/2014/main" id="{D7E0A391-18D8-C049-939E-F3B3F91269E6}"/>
                  </a:ext>
                </a:extLst>
              </p:cNvPr>
              <p:cNvSpPr/>
              <p:nvPr/>
            </p:nvSpPr>
            <p:spPr>
              <a:xfrm rot="5400000">
                <a:off x="11549009" y="3578804"/>
                <a:ext cx="107187" cy="107187"/>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8" name="Straight Connector 87">
                <a:extLst>
                  <a:ext uri="{FF2B5EF4-FFF2-40B4-BE49-F238E27FC236}">
                    <a16:creationId xmlns:a16="http://schemas.microsoft.com/office/drawing/2014/main" id="{984B3C60-7F46-BE43-B9E5-B903CFF0C36A}"/>
                  </a:ext>
                </a:extLst>
              </p:cNvPr>
              <p:cNvCxnSpPr>
                <a:cxnSpLocks/>
              </p:cNvCxnSpPr>
              <p:nvPr/>
            </p:nvCxnSpPr>
            <p:spPr>
              <a:xfrm flipH="1">
                <a:off x="10426993" y="3632215"/>
                <a:ext cx="1116000" cy="0"/>
              </a:xfrm>
              <a:prstGeom prst="line">
                <a:avLst/>
              </a:prstGeom>
              <a:ln w="12700" cap="rnd">
                <a:solidFill>
                  <a:schemeClr val="bg1">
                    <a:lumMod val="50000"/>
                  </a:schemeClr>
                </a:solidFill>
                <a:headEnd type="triangle" w="lg" len="lg"/>
                <a:tailEnd type="none"/>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4088CDE5-7C95-1243-8AE4-7E244AD71F93}"/>
                </a:ext>
              </a:extLst>
            </p:cNvPr>
            <p:cNvGrpSpPr/>
            <p:nvPr/>
          </p:nvGrpSpPr>
          <p:grpSpPr>
            <a:xfrm rot="8640000">
              <a:off x="766033" y="5081642"/>
              <a:ext cx="1612165" cy="140581"/>
              <a:chOff x="10426993" y="3578804"/>
              <a:chExt cx="1229203" cy="107187"/>
            </a:xfrm>
          </p:grpSpPr>
          <p:sp>
            <p:nvSpPr>
              <p:cNvPr id="85" name="Oval 84">
                <a:extLst>
                  <a:ext uri="{FF2B5EF4-FFF2-40B4-BE49-F238E27FC236}">
                    <a16:creationId xmlns:a16="http://schemas.microsoft.com/office/drawing/2014/main" id="{AD5FB4AD-C239-C242-AF62-1917DCF62807}"/>
                  </a:ext>
                </a:extLst>
              </p:cNvPr>
              <p:cNvSpPr/>
              <p:nvPr/>
            </p:nvSpPr>
            <p:spPr>
              <a:xfrm rot="5400000">
                <a:off x="11549009" y="3578804"/>
                <a:ext cx="107187" cy="107187"/>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6" name="Straight Connector 85">
                <a:extLst>
                  <a:ext uri="{FF2B5EF4-FFF2-40B4-BE49-F238E27FC236}">
                    <a16:creationId xmlns:a16="http://schemas.microsoft.com/office/drawing/2014/main" id="{A3AF4507-F0B7-E844-85BF-043FAC3EF746}"/>
                  </a:ext>
                </a:extLst>
              </p:cNvPr>
              <p:cNvCxnSpPr>
                <a:cxnSpLocks/>
              </p:cNvCxnSpPr>
              <p:nvPr/>
            </p:nvCxnSpPr>
            <p:spPr>
              <a:xfrm flipH="1">
                <a:off x="10426993" y="3632215"/>
                <a:ext cx="1116000" cy="0"/>
              </a:xfrm>
              <a:prstGeom prst="line">
                <a:avLst/>
              </a:prstGeom>
              <a:ln w="12700" cap="rnd">
                <a:solidFill>
                  <a:schemeClr val="bg1">
                    <a:lumMod val="50000"/>
                  </a:schemeClr>
                </a:solidFill>
                <a:headEnd type="triangle" w="lg" len="lg"/>
                <a:tailEnd type="none"/>
              </a:ln>
            </p:spPr>
            <p:style>
              <a:lnRef idx="1">
                <a:schemeClr val="accent1"/>
              </a:lnRef>
              <a:fillRef idx="0">
                <a:schemeClr val="accent1"/>
              </a:fillRef>
              <a:effectRef idx="0">
                <a:schemeClr val="accent1"/>
              </a:effectRef>
              <a:fontRef idx="minor">
                <a:schemeClr val="tx1"/>
              </a:fontRef>
            </p:style>
          </p:cxnSp>
        </p:grpSp>
        <p:grpSp>
          <p:nvGrpSpPr>
            <p:cNvPr id="70" name="Group 69">
              <a:extLst>
                <a:ext uri="{FF2B5EF4-FFF2-40B4-BE49-F238E27FC236}">
                  <a16:creationId xmlns:a16="http://schemas.microsoft.com/office/drawing/2014/main" id="{A432DE98-7803-A644-8839-6CE648CBB248}"/>
                </a:ext>
              </a:extLst>
            </p:cNvPr>
            <p:cNvGrpSpPr/>
            <p:nvPr/>
          </p:nvGrpSpPr>
          <p:grpSpPr>
            <a:xfrm rot="4320000">
              <a:off x="1653637" y="5376350"/>
              <a:ext cx="1612165" cy="140581"/>
              <a:chOff x="10426993" y="3578804"/>
              <a:chExt cx="1229203" cy="107187"/>
            </a:xfrm>
          </p:grpSpPr>
          <p:sp>
            <p:nvSpPr>
              <p:cNvPr id="79" name="Oval 78">
                <a:extLst>
                  <a:ext uri="{FF2B5EF4-FFF2-40B4-BE49-F238E27FC236}">
                    <a16:creationId xmlns:a16="http://schemas.microsoft.com/office/drawing/2014/main" id="{B79BE24E-E48B-8D42-93BD-BA56731BEB52}"/>
                  </a:ext>
                </a:extLst>
              </p:cNvPr>
              <p:cNvSpPr/>
              <p:nvPr/>
            </p:nvSpPr>
            <p:spPr>
              <a:xfrm rot="5400000">
                <a:off x="11549009" y="3578804"/>
                <a:ext cx="107187" cy="107187"/>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4" name="Straight Connector 83">
                <a:extLst>
                  <a:ext uri="{FF2B5EF4-FFF2-40B4-BE49-F238E27FC236}">
                    <a16:creationId xmlns:a16="http://schemas.microsoft.com/office/drawing/2014/main" id="{8192D4CD-B19B-7047-B806-1D5EC3D11176}"/>
                  </a:ext>
                </a:extLst>
              </p:cNvPr>
              <p:cNvCxnSpPr>
                <a:cxnSpLocks/>
              </p:cNvCxnSpPr>
              <p:nvPr/>
            </p:nvCxnSpPr>
            <p:spPr>
              <a:xfrm flipH="1">
                <a:off x="10426993" y="3632215"/>
                <a:ext cx="1116000" cy="0"/>
              </a:xfrm>
              <a:prstGeom prst="line">
                <a:avLst/>
              </a:prstGeom>
              <a:ln w="12700" cap="rnd">
                <a:solidFill>
                  <a:schemeClr val="bg1">
                    <a:lumMod val="50000"/>
                  </a:schemeClr>
                </a:solidFill>
                <a:headEnd type="triangle" w="lg" len="lg"/>
                <a:tailEnd type="non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1" name="Rectangle 70">
                  <a:extLst>
                    <a:ext uri="{FF2B5EF4-FFF2-40B4-BE49-F238E27FC236}">
                      <a16:creationId xmlns:a16="http://schemas.microsoft.com/office/drawing/2014/main" id="{248B676B-1E84-0B4D-B99D-E273CA735ED4}"/>
                    </a:ext>
                  </a:extLst>
                </p:cNvPr>
                <p:cNvSpPr/>
                <p:nvPr/>
              </p:nvSpPr>
              <p:spPr>
                <a:xfrm>
                  <a:off x="2727041" y="2782951"/>
                  <a:ext cx="619144" cy="47346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2400" i="1" smtClean="0">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𝜔</m:t>
                            </m:r>
                          </m:e>
                          <m:sub>
                            <m:r>
                              <a:rPr lang="en-US" sz="2400" b="0" i="1" smtClean="0">
                                <a:latin typeface="Cambria Math" panose="02040503050406030204" pitchFamily="18" charset="0"/>
                                <a:ea typeface="Cambria Math" panose="02040503050406030204" pitchFamily="18" charset="0"/>
                              </a:rPr>
                              <m:t>5</m:t>
                            </m:r>
                          </m:sub>
                          <m:sup>
                            <m:r>
                              <a:rPr lang="en-US" sz="2400" b="0" i="1" smtClean="0">
                                <a:latin typeface="Cambria Math" panose="02040503050406030204" pitchFamily="18" charset="0"/>
                                <a:ea typeface="Cambria Math" panose="02040503050406030204" pitchFamily="18" charset="0"/>
                              </a:rPr>
                              <m:t>1</m:t>
                            </m:r>
                          </m:sup>
                        </m:sSubSup>
                      </m:oMath>
                    </m:oMathPara>
                  </a14:m>
                  <a:endParaRPr lang="en-US" sz="2400" dirty="0"/>
                </a:p>
              </p:txBody>
            </p:sp>
          </mc:Choice>
          <mc:Fallback xmlns="">
            <p:sp>
              <p:nvSpPr>
                <p:cNvPr id="36" name="Rectangle 35">
                  <a:extLst>
                    <a:ext uri="{FF2B5EF4-FFF2-40B4-BE49-F238E27FC236}">
                      <a16:creationId xmlns:a16="http://schemas.microsoft.com/office/drawing/2014/main" id="{B116A5B8-5497-0D41-9CD3-20417530C3B0}"/>
                    </a:ext>
                  </a:extLst>
                </p:cNvPr>
                <p:cNvSpPr>
                  <a:spLocks noRot="1" noChangeAspect="1" noMove="1" noResize="1" noEditPoints="1" noAdjustHandles="1" noChangeArrowheads="1" noChangeShapeType="1" noTextEdit="1"/>
                </p:cNvSpPr>
                <p:nvPr/>
              </p:nvSpPr>
              <p:spPr>
                <a:xfrm>
                  <a:off x="2727041" y="2782951"/>
                  <a:ext cx="619144" cy="473463"/>
                </a:xfrm>
                <a:prstGeom prst="rect">
                  <a:avLst/>
                </a:prstGeom>
                <a:blipFill>
                  <a:blip r:embed="rId11"/>
                  <a:stretch>
                    <a:fillRect b="-7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Rectangle 71">
                  <a:extLst>
                    <a:ext uri="{FF2B5EF4-FFF2-40B4-BE49-F238E27FC236}">
                      <a16:creationId xmlns:a16="http://schemas.microsoft.com/office/drawing/2014/main" id="{5A791E98-D3CE-8540-830E-983AB480C369}"/>
                    </a:ext>
                  </a:extLst>
                </p:cNvPr>
                <p:cNvSpPr/>
                <p:nvPr/>
              </p:nvSpPr>
              <p:spPr>
                <a:xfrm>
                  <a:off x="397953" y="3172733"/>
                  <a:ext cx="625749" cy="4742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2400" i="1" smtClean="0">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𝜔</m:t>
                            </m:r>
                          </m:e>
                          <m:sub>
                            <m:r>
                              <a:rPr lang="en-US" sz="2400" b="0" i="1" smtClean="0">
                                <a:latin typeface="Cambria Math" panose="02040503050406030204" pitchFamily="18" charset="0"/>
                                <a:ea typeface="Cambria Math" panose="02040503050406030204" pitchFamily="18" charset="0"/>
                              </a:rPr>
                              <m:t>5</m:t>
                            </m:r>
                          </m:sub>
                          <m:sup>
                            <m:r>
                              <a:rPr lang="en-US" sz="2400" b="0" i="1" smtClean="0">
                                <a:latin typeface="Cambria Math" panose="02040503050406030204" pitchFamily="18" charset="0"/>
                                <a:ea typeface="Cambria Math" panose="02040503050406030204" pitchFamily="18" charset="0"/>
                              </a:rPr>
                              <m:t>2</m:t>
                            </m:r>
                          </m:sup>
                        </m:sSubSup>
                      </m:oMath>
                    </m:oMathPara>
                  </a14:m>
                  <a:endParaRPr lang="en-US" sz="2400" dirty="0"/>
                </a:p>
              </p:txBody>
            </p:sp>
          </mc:Choice>
          <mc:Fallback xmlns="">
            <p:sp>
              <p:nvSpPr>
                <p:cNvPr id="37" name="Rectangle 36">
                  <a:extLst>
                    <a:ext uri="{FF2B5EF4-FFF2-40B4-BE49-F238E27FC236}">
                      <a16:creationId xmlns:a16="http://schemas.microsoft.com/office/drawing/2014/main" id="{A7ACA243-D4D9-D746-9563-20DEEB5B1909}"/>
                    </a:ext>
                  </a:extLst>
                </p:cNvPr>
                <p:cNvSpPr>
                  <a:spLocks noRot="1" noChangeAspect="1" noMove="1" noResize="1" noEditPoints="1" noAdjustHandles="1" noChangeArrowheads="1" noChangeShapeType="1" noTextEdit="1"/>
                </p:cNvSpPr>
                <p:nvPr/>
              </p:nvSpPr>
              <p:spPr>
                <a:xfrm>
                  <a:off x="397953" y="3172733"/>
                  <a:ext cx="625749" cy="474232"/>
                </a:xfrm>
                <a:prstGeom prst="rect">
                  <a:avLst/>
                </a:prstGeom>
                <a:blipFill>
                  <a:blip r:embed="rId12"/>
                  <a:stretch>
                    <a:fillRect b="-7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Rectangle 72">
                  <a:extLst>
                    <a:ext uri="{FF2B5EF4-FFF2-40B4-BE49-F238E27FC236}">
                      <a16:creationId xmlns:a16="http://schemas.microsoft.com/office/drawing/2014/main" id="{3EEA071F-D6B8-C749-A824-1541891708A5}"/>
                    </a:ext>
                  </a:extLst>
                </p:cNvPr>
                <p:cNvSpPr/>
                <p:nvPr/>
              </p:nvSpPr>
              <p:spPr>
                <a:xfrm>
                  <a:off x="222025" y="5461354"/>
                  <a:ext cx="625749" cy="4760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2400" i="1" smtClean="0">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𝜔</m:t>
                            </m:r>
                          </m:e>
                          <m:sub>
                            <m:r>
                              <a:rPr lang="en-US" sz="2400" b="0" i="1" smtClean="0">
                                <a:latin typeface="Cambria Math" panose="02040503050406030204" pitchFamily="18" charset="0"/>
                                <a:ea typeface="Cambria Math" panose="02040503050406030204" pitchFamily="18" charset="0"/>
                              </a:rPr>
                              <m:t>5</m:t>
                            </m:r>
                          </m:sub>
                          <m:sup>
                            <m:r>
                              <a:rPr lang="en-US" sz="2400" b="0" i="1" smtClean="0">
                                <a:latin typeface="Cambria Math" panose="02040503050406030204" pitchFamily="18" charset="0"/>
                                <a:ea typeface="Cambria Math" panose="02040503050406030204" pitchFamily="18" charset="0"/>
                              </a:rPr>
                              <m:t>3</m:t>
                            </m:r>
                          </m:sup>
                        </m:sSubSup>
                      </m:oMath>
                    </m:oMathPara>
                  </a14:m>
                  <a:endParaRPr lang="en-US" sz="2400" dirty="0"/>
                </a:p>
              </p:txBody>
            </p:sp>
          </mc:Choice>
          <mc:Fallback xmlns="">
            <p:sp>
              <p:nvSpPr>
                <p:cNvPr id="38" name="Rectangle 37">
                  <a:extLst>
                    <a:ext uri="{FF2B5EF4-FFF2-40B4-BE49-F238E27FC236}">
                      <a16:creationId xmlns:a16="http://schemas.microsoft.com/office/drawing/2014/main" id="{244D572A-46D3-A34F-B98C-C25FE2D28261}"/>
                    </a:ext>
                  </a:extLst>
                </p:cNvPr>
                <p:cNvSpPr>
                  <a:spLocks noRot="1" noChangeAspect="1" noMove="1" noResize="1" noEditPoints="1" noAdjustHandles="1" noChangeArrowheads="1" noChangeShapeType="1" noTextEdit="1"/>
                </p:cNvSpPr>
                <p:nvPr/>
              </p:nvSpPr>
              <p:spPr>
                <a:xfrm>
                  <a:off x="222025" y="5461354"/>
                  <a:ext cx="625749" cy="476092"/>
                </a:xfrm>
                <a:prstGeom prst="rect">
                  <a:avLst/>
                </a:prstGeom>
                <a:blipFill>
                  <a:blip r:embed="rId13"/>
                  <a:stretch>
                    <a:fillRect b="-51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Rectangle 73">
                  <a:extLst>
                    <a:ext uri="{FF2B5EF4-FFF2-40B4-BE49-F238E27FC236}">
                      <a16:creationId xmlns:a16="http://schemas.microsoft.com/office/drawing/2014/main" id="{05701779-EF2B-D24E-8678-7BF7BAB9BBE4}"/>
                    </a:ext>
                  </a:extLst>
                </p:cNvPr>
                <p:cNvSpPr/>
                <p:nvPr/>
              </p:nvSpPr>
              <p:spPr>
                <a:xfrm>
                  <a:off x="2617284" y="6051565"/>
                  <a:ext cx="625749" cy="4726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2400" i="1" smtClean="0">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𝜔</m:t>
                            </m:r>
                          </m:e>
                          <m:sub>
                            <m:r>
                              <a:rPr lang="en-US" sz="2400" b="0" i="1" smtClean="0">
                                <a:latin typeface="Cambria Math" panose="02040503050406030204" pitchFamily="18" charset="0"/>
                                <a:ea typeface="Cambria Math" panose="02040503050406030204" pitchFamily="18" charset="0"/>
                              </a:rPr>
                              <m:t>5</m:t>
                            </m:r>
                          </m:sub>
                          <m:sup>
                            <m:r>
                              <a:rPr lang="en-US" sz="2400" b="0" i="1" smtClean="0">
                                <a:latin typeface="Cambria Math" panose="02040503050406030204" pitchFamily="18" charset="0"/>
                                <a:ea typeface="Cambria Math" panose="02040503050406030204" pitchFamily="18" charset="0"/>
                              </a:rPr>
                              <m:t>4</m:t>
                            </m:r>
                          </m:sup>
                        </m:sSubSup>
                      </m:oMath>
                    </m:oMathPara>
                  </a14:m>
                  <a:endParaRPr lang="en-US" sz="2400" dirty="0"/>
                </a:p>
              </p:txBody>
            </p:sp>
          </mc:Choice>
          <mc:Fallback xmlns="">
            <p:sp>
              <p:nvSpPr>
                <p:cNvPr id="39" name="Rectangle 38">
                  <a:extLst>
                    <a:ext uri="{FF2B5EF4-FFF2-40B4-BE49-F238E27FC236}">
                      <a16:creationId xmlns:a16="http://schemas.microsoft.com/office/drawing/2014/main" id="{92B2EDA2-D877-6D4E-9375-F337C5018671}"/>
                    </a:ext>
                  </a:extLst>
                </p:cNvPr>
                <p:cNvSpPr>
                  <a:spLocks noRot="1" noChangeAspect="1" noMove="1" noResize="1" noEditPoints="1" noAdjustHandles="1" noChangeArrowheads="1" noChangeShapeType="1" noTextEdit="1"/>
                </p:cNvSpPr>
                <p:nvPr/>
              </p:nvSpPr>
              <p:spPr>
                <a:xfrm>
                  <a:off x="2617284" y="6051565"/>
                  <a:ext cx="625749" cy="472694"/>
                </a:xfrm>
                <a:prstGeom prst="rect">
                  <a:avLst/>
                </a:prstGeom>
                <a:blipFill>
                  <a:blip r:embed="rId14"/>
                  <a:stretch>
                    <a:fillRect b="-52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Rectangle 75">
                  <a:extLst>
                    <a:ext uri="{FF2B5EF4-FFF2-40B4-BE49-F238E27FC236}">
                      <a16:creationId xmlns:a16="http://schemas.microsoft.com/office/drawing/2014/main" id="{CD8A2A21-6348-F042-9C36-B56B312A5F81}"/>
                    </a:ext>
                  </a:extLst>
                </p:cNvPr>
                <p:cNvSpPr/>
                <p:nvPr/>
              </p:nvSpPr>
              <p:spPr>
                <a:xfrm>
                  <a:off x="2364304" y="4136192"/>
                  <a:ext cx="93346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smtClean="0">
                            <a:solidFill>
                              <a:srgbClr val="002060"/>
                            </a:solidFill>
                            <a:latin typeface="Cambria Math" panose="02040503050406030204" pitchFamily="18" charset="0"/>
                            <a:ea typeface="Cambria Math" panose="02040503050406030204" pitchFamily="18" charset="0"/>
                          </a:rPr>
                          <m:t>2</m:t>
                        </m:r>
                        <m:r>
                          <a:rPr lang="en-US" sz="2400" i="1">
                            <a:solidFill>
                              <a:srgbClr val="002060"/>
                            </a:solidFill>
                            <a:latin typeface="Cambria Math" panose="02040503050406030204" pitchFamily="18" charset="0"/>
                            <a:ea typeface="Cambria Math" panose="02040503050406030204" pitchFamily="18" charset="0"/>
                          </a:rPr>
                          <m:t>𝜋</m:t>
                        </m:r>
                        <m:r>
                          <a:rPr lang="en-US" sz="2400" i="1">
                            <a:solidFill>
                              <a:srgbClr val="002060"/>
                            </a:solidFill>
                            <a:latin typeface="Cambria Math" panose="02040503050406030204" pitchFamily="18" charset="0"/>
                            <a:ea typeface="Cambria Math" panose="02040503050406030204" pitchFamily="18" charset="0"/>
                          </a:rPr>
                          <m:t>/5</m:t>
                        </m:r>
                      </m:oMath>
                    </m:oMathPara>
                  </a14:m>
                  <a:endParaRPr lang="en-US" sz="2400" dirty="0"/>
                </a:p>
              </p:txBody>
            </p:sp>
          </mc:Choice>
          <mc:Fallback xmlns="">
            <p:sp>
              <p:nvSpPr>
                <p:cNvPr id="40" name="Rectangle 39">
                  <a:extLst>
                    <a:ext uri="{FF2B5EF4-FFF2-40B4-BE49-F238E27FC236}">
                      <a16:creationId xmlns:a16="http://schemas.microsoft.com/office/drawing/2014/main" id="{BFBBCDDE-3DE6-D84F-A5A9-154CBFA6DB69}"/>
                    </a:ext>
                  </a:extLst>
                </p:cNvPr>
                <p:cNvSpPr>
                  <a:spLocks noRot="1" noChangeAspect="1" noMove="1" noResize="1" noEditPoints="1" noAdjustHandles="1" noChangeArrowheads="1" noChangeShapeType="1" noTextEdit="1"/>
                </p:cNvSpPr>
                <p:nvPr/>
              </p:nvSpPr>
              <p:spPr>
                <a:xfrm>
                  <a:off x="2364304" y="4136192"/>
                  <a:ext cx="933461" cy="461665"/>
                </a:xfrm>
                <a:prstGeom prst="rect">
                  <a:avLst/>
                </a:prstGeom>
                <a:blipFill>
                  <a:blip r:embed="rId15"/>
                  <a:stretch>
                    <a:fillRect b="-162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0FC90D45-1A09-F84F-B4FF-1F036D4C8833}"/>
                    </a:ext>
                  </a:extLst>
                </p:cNvPr>
                <p:cNvSpPr txBox="1"/>
                <p:nvPr/>
              </p:nvSpPr>
              <p:spPr>
                <a:xfrm>
                  <a:off x="4474491" y="2870492"/>
                  <a:ext cx="7514045" cy="3773662"/>
                </a:xfrm>
                <a:prstGeom prst="rect">
                  <a:avLst/>
                </a:prstGeom>
                <a:solidFill>
                  <a:schemeClr val="bg1">
                    <a:lumMod val="95000"/>
                  </a:schemeClr>
                </a:solidFill>
              </p:spPr>
              <p:txBody>
                <a:bodyPr wrap="none" rtlCol="0">
                  <a:spAutoFit/>
                </a:bodyPr>
                <a:lstStyle/>
                <a:p>
                  <a:pPr/>
                  <a14:m>
                    <m:oMathPara xmlns:m="http://schemas.openxmlformats.org/officeDocument/2006/math">
                      <m:oMathParaPr>
                        <m:jc m:val="centerGroup"/>
                      </m:oMathParaPr>
                      <m:oMath xmlns:m="http://schemas.openxmlformats.org/officeDocument/2006/math">
                        <m:m>
                          <m:mPr>
                            <m:mcs>
                              <m:mc>
                                <m:mcPr>
                                  <m:count m:val="5"/>
                                  <m:mcJc m:val="center"/>
                                </m:mcPr>
                              </m:mc>
                            </m:mcs>
                            <m:ctrlPr>
                              <a:rPr lang="en-US" sz="2400" i="1" smtClean="0">
                                <a:latin typeface="Cambria Math" panose="02040503050406030204" pitchFamily="18" charset="0"/>
                                <a:ea typeface="Cambria Math" panose="02040503050406030204" pitchFamily="18" charset="0"/>
                              </a:rPr>
                            </m:ctrlPr>
                          </m:mPr>
                          <m:mr>
                            <m:e>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𝜔</m:t>
                                  </m:r>
                                </m:e>
                                <m:sub>
                                  <m:r>
                                    <a:rPr lang="en-US" sz="2400" i="1">
                                      <a:latin typeface="Cambria Math" panose="02040503050406030204" pitchFamily="18" charset="0"/>
                                      <a:ea typeface="Cambria Math" panose="02040503050406030204" pitchFamily="18" charset="0"/>
                                    </a:rPr>
                                    <m:t>5</m:t>
                                  </m:r>
                                </m:sub>
                                <m:sup>
                                  <m:r>
                                    <a:rPr lang="en-US" sz="2400" b="0" i="1" smtClean="0">
                                      <a:latin typeface="Cambria Math" panose="02040503050406030204" pitchFamily="18" charset="0"/>
                                      <a:ea typeface="Cambria Math" panose="02040503050406030204" pitchFamily="18" charset="0"/>
                                    </a:rPr>
                                    <m:t>0</m:t>
                                  </m:r>
                                </m:sup>
                              </m:sSubSup>
                            </m:e>
                            <m:e>
                              <m:r>
                                <a:rPr lang="en-US" sz="2400" b="0" i="1" smtClean="0">
                                  <a:latin typeface="Cambria Math" panose="02040503050406030204" pitchFamily="18" charset="0"/>
                                  <a:ea typeface="Cambria Math" panose="02040503050406030204" pitchFamily="18" charset="0"/>
                                </a:rPr>
                                <m:t>=</m:t>
                              </m:r>
                            </m:e>
                            <m:e>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cos</m:t>
                                  </m:r>
                                </m:fName>
                                <m:e>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×0</m:t>
                                      </m:r>
                                    </m:num>
                                    <m:den>
                                      <m:r>
                                        <a:rPr lang="en-US" sz="2400" b="0" i="1" smtClean="0">
                                          <a:latin typeface="Cambria Math" panose="02040503050406030204" pitchFamily="18" charset="0"/>
                                          <a:ea typeface="Cambria Math" panose="02040503050406030204" pitchFamily="18" charset="0"/>
                                        </a:rPr>
                                        <m:t>5</m:t>
                                      </m:r>
                                    </m:den>
                                  </m:f>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𝑖</m:t>
                                  </m:r>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sin</m:t>
                                      </m:r>
                                    </m:fName>
                                    <m:e>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×0</m:t>
                                          </m:r>
                                        </m:num>
                                        <m:den>
                                          <m:r>
                                            <a:rPr lang="en-US" sz="2400" b="0" i="1" smtClean="0">
                                              <a:latin typeface="Cambria Math" panose="02040503050406030204" pitchFamily="18" charset="0"/>
                                              <a:ea typeface="Cambria Math" panose="02040503050406030204" pitchFamily="18" charset="0"/>
                                            </a:rPr>
                                            <m:t>5</m:t>
                                          </m:r>
                                        </m:den>
                                      </m:f>
                                    </m:e>
                                  </m:func>
                                </m:e>
                              </m:func>
                            </m:e>
                            <m:e>
                              <m:r>
                                <a:rPr lang="en-US" sz="2400" b="0" i="1" smtClean="0">
                                  <a:latin typeface="Cambria Math" panose="02040503050406030204" pitchFamily="18" charset="0"/>
                                  <a:ea typeface="Cambria Math" panose="02040503050406030204" pitchFamily="18" charset="0"/>
                                </a:rPr>
                                <m:t>=</m:t>
                              </m:r>
                            </m:e>
                            <m:e>
                              <m:r>
                                <a:rPr lang="en-US" sz="2400" b="0" i="1" smtClean="0">
                                  <a:latin typeface="Cambria Math" panose="02040503050406030204" pitchFamily="18" charset="0"/>
                                  <a:ea typeface="Cambria Math" panose="02040503050406030204" pitchFamily="18" charset="0"/>
                                </a:rPr>
                                <m:t>1</m:t>
                              </m:r>
                            </m:e>
                          </m:mr>
                          <m:mr>
                            <m:e>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𝜔</m:t>
                                  </m:r>
                                </m:e>
                                <m:sub>
                                  <m:r>
                                    <a:rPr lang="en-US" sz="2400" i="1">
                                      <a:latin typeface="Cambria Math" panose="02040503050406030204" pitchFamily="18" charset="0"/>
                                      <a:ea typeface="Cambria Math" panose="02040503050406030204" pitchFamily="18" charset="0"/>
                                    </a:rPr>
                                    <m:t>5</m:t>
                                  </m:r>
                                </m:sub>
                                <m:sup>
                                  <m:r>
                                    <a:rPr lang="en-US" sz="2400" b="0" i="1" smtClean="0">
                                      <a:latin typeface="Cambria Math" panose="02040503050406030204" pitchFamily="18" charset="0"/>
                                      <a:ea typeface="Cambria Math" panose="02040503050406030204" pitchFamily="18" charset="0"/>
                                    </a:rPr>
                                    <m:t>1</m:t>
                                  </m:r>
                                </m:sup>
                              </m:sSubSup>
                            </m:e>
                            <m:e>
                              <m:r>
                                <a:rPr lang="en-US" sz="2400" b="0" i="1" smtClean="0">
                                  <a:latin typeface="Cambria Math" panose="02040503050406030204" pitchFamily="18" charset="0"/>
                                  <a:ea typeface="Cambria Math" panose="02040503050406030204" pitchFamily="18" charset="0"/>
                                </a:rPr>
                                <m:t>=</m:t>
                              </m:r>
                            </m:e>
                            <m:e>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cos</m:t>
                                  </m:r>
                                </m:fName>
                                <m:e>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×1</m:t>
                                      </m:r>
                                    </m:num>
                                    <m:den>
                                      <m:r>
                                        <a:rPr lang="en-US" sz="2400" i="1">
                                          <a:latin typeface="Cambria Math" panose="02040503050406030204" pitchFamily="18" charset="0"/>
                                          <a:ea typeface="Cambria Math" panose="02040503050406030204" pitchFamily="18" charset="0"/>
                                        </a:rPr>
                                        <m:t>5</m:t>
                                      </m:r>
                                    </m:den>
                                  </m:f>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𝑖</m:t>
                                  </m:r>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sin</m:t>
                                      </m:r>
                                    </m:fName>
                                    <m:e>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×1</m:t>
                                          </m:r>
                                        </m:num>
                                        <m:den>
                                          <m:r>
                                            <a:rPr lang="en-US" sz="2400" i="1">
                                              <a:latin typeface="Cambria Math" panose="02040503050406030204" pitchFamily="18" charset="0"/>
                                              <a:ea typeface="Cambria Math" panose="02040503050406030204" pitchFamily="18" charset="0"/>
                                            </a:rPr>
                                            <m:t>5</m:t>
                                          </m:r>
                                        </m:den>
                                      </m:f>
                                    </m:e>
                                  </m:func>
                                </m:e>
                              </m:func>
                            </m:e>
                            <m:e>
                              <m:r>
                                <a:rPr lang="en-US" sz="2400" b="0" i="1" smtClean="0">
                                  <a:latin typeface="Cambria Math" panose="02040503050406030204" pitchFamily="18" charset="0"/>
                                  <a:ea typeface="Cambria Math" panose="02040503050406030204" pitchFamily="18" charset="0"/>
                                </a:rPr>
                                <m:t>=</m:t>
                              </m:r>
                            </m:e>
                            <m:e>
                              <m:r>
                                <a:rPr lang="en-US" sz="2400" i="1">
                                  <a:latin typeface="Cambria Math" panose="02040503050406030204" pitchFamily="18" charset="0"/>
                                  <a:ea typeface="Cambria Math" panose="02040503050406030204" pitchFamily="18" charset="0"/>
                                </a:rPr>
                                <m:t>0.309+</m:t>
                              </m:r>
                              <m:r>
                                <a:rPr lang="en-US" sz="2400" i="1">
                                  <a:latin typeface="Cambria Math" panose="02040503050406030204" pitchFamily="18" charset="0"/>
                                  <a:ea typeface="Cambria Math" panose="02040503050406030204" pitchFamily="18" charset="0"/>
                                </a:rPr>
                                <m:t>𝑖</m:t>
                              </m:r>
                              <m:r>
                                <a:rPr lang="en-US" sz="2400" i="1">
                                  <a:latin typeface="Cambria Math" panose="02040503050406030204" pitchFamily="18" charset="0"/>
                                  <a:ea typeface="Cambria Math" panose="02040503050406030204" pitchFamily="18" charset="0"/>
                                </a:rPr>
                                <m:t> 0.951</m:t>
                              </m:r>
                            </m:e>
                          </m:mr>
                          <m:mr>
                            <m:e>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𝜔</m:t>
                                  </m:r>
                                </m:e>
                                <m:sub>
                                  <m:r>
                                    <a:rPr lang="en-US" sz="2400" i="1">
                                      <a:latin typeface="Cambria Math" panose="02040503050406030204" pitchFamily="18" charset="0"/>
                                      <a:ea typeface="Cambria Math" panose="02040503050406030204" pitchFamily="18" charset="0"/>
                                    </a:rPr>
                                    <m:t>5</m:t>
                                  </m:r>
                                </m:sub>
                                <m:sup>
                                  <m:r>
                                    <a:rPr lang="en-US" sz="2400" b="0" i="1" smtClean="0">
                                      <a:latin typeface="Cambria Math" panose="02040503050406030204" pitchFamily="18" charset="0"/>
                                      <a:ea typeface="Cambria Math" panose="02040503050406030204" pitchFamily="18" charset="0"/>
                                    </a:rPr>
                                    <m:t>2</m:t>
                                  </m:r>
                                </m:sup>
                              </m:sSubSup>
                            </m:e>
                            <m:e>
                              <m:r>
                                <a:rPr lang="en-US" sz="2400" b="0" i="1" smtClean="0">
                                  <a:latin typeface="Cambria Math" panose="02040503050406030204" pitchFamily="18" charset="0"/>
                                  <a:ea typeface="Cambria Math" panose="02040503050406030204" pitchFamily="18" charset="0"/>
                                </a:rPr>
                                <m:t>=</m:t>
                              </m:r>
                            </m:e>
                            <m:e>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cos</m:t>
                                  </m:r>
                                </m:fName>
                                <m:e>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×2</m:t>
                                      </m:r>
                                    </m:num>
                                    <m:den>
                                      <m:r>
                                        <a:rPr lang="en-US" sz="2400" i="1">
                                          <a:latin typeface="Cambria Math" panose="02040503050406030204" pitchFamily="18" charset="0"/>
                                          <a:ea typeface="Cambria Math" panose="02040503050406030204" pitchFamily="18" charset="0"/>
                                        </a:rPr>
                                        <m:t>5</m:t>
                                      </m:r>
                                    </m:den>
                                  </m:f>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𝑖</m:t>
                                  </m:r>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sin</m:t>
                                      </m:r>
                                    </m:fName>
                                    <m:e>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×2</m:t>
                                          </m:r>
                                        </m:num>
                                        <m:den>
                                          <m:r>
                                            <a:rPr lang="en-US" sz="2400" i="1">
                                              <a:latin typeface="Cambria Math" panose="02040503050406030204" pitchFamily="18" charset="0"/>
                                              <a:ea typeface="Cambria Math" panose="02040503050406030204" pitchFamily="18" charset="0"/>
                                            </a:rPr>
                                            <m:t>5</m:t>
                                          </m:r>
                                        </m:den>
                                      </m:f>
                                    </m:e>
                                  </m:func>
                                </m:e>
                              </m:func>
                            </m:e>
                            <m:e>
                              <m:r>
                                <a:rPr lang="en-US" sz="2400" b="0" i="1" smtClean="0">
                                  <a:latin typeface="Cambria Math" panose="02040503050406030204" pitchFamily="18" charset="0"/>
                                  <a:ea typeface="Cambria Math" panose="02040503050406030204" pitchFamily="18" charset="0"/>
                                </a:rPr>
                                <m:t>=</m:t>
                              </m:r>
                            </m:e>
                            <m:e>
                              <m:r>
                                <a:rPr lang="en-US" sz="2400" i="1">
                                  <a:latin typeface="Cambria Math" panose="02040503050406030204" pitchFamily="18" charset="0"/>
                                  <a:ea typeface="Cambria Math" panose="02040503050406030204" pitchFamily="18" charset="0"/>
                                </a:rPr>
                                <m:t>−0.809+</m:t>
                              </m:r>
                              <m:r>
                                <a:rPr lang="en-US" sz="2400" i="1">
                                  <a:latin typeface="Cambria Math" panose="02040503050406030204" pitchFamily="18" charset="0"/>
                                  <a:ea typeface="Cambria Math" panose="02040503050406030204" pitchFamily="18" charset="0"/>
                                </a:rPr>
                                <m:t>𝑖</m:t>
                              </m:r>
                              <m:r>
                                <a:rPr lang="en-US" sz="2400" i="1">
                                  <a:latin typeface="Cambria Math" panose="02040503050406030204" pitchFamily="18" charset="0"/>
                                  <a:ea typeface="Cambria Math" panose="02040503050406030204" pitchFamily="18" charset="0"/>
                                </a:rPr>
                                <m:t> 0.587</m:t>
                              </m:r>
                            </m:e>
                          </m:mr>
                          <m:mr>
                            <m:e>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𝜔</m:t>
                                  </m:r>
                                </m:e>
                                <m:sub>
                                  <m:r>
                                    <a:rPr lang="en-US" sz="2400" i="1">
                                      <a:latin typeface="Cambria Math" panose="02040503050406030204" pitchFamily="18" charset="0"/>
                                      <a:ea typeface="Cambria Math" panose="02040503050406030204" pitchFamily="18" charset="0"/>
                                    </a:rPr>
                                    <m:t>5</m:t>
                                  </m:r>
                                </m:sub>
                                <m:sup>
                                  <m:r>
                                    <a:rPr lang="en-US" sz="2400" b="0" i="1" smtClean="0">
                                      <a:latin typeface="Cambria Math" panose="02040503050406030204" pitchFamily="18" charset="0"/>
                                      <a:ea typeface="Cambria Math" panose="02040503050406030204" pitchFamily="18" charset="0"/>
                                    </a:rPr>
                                    <m:t>3</m:t>
                                  </m:r>
                                </m:sup>
                              </m:sSubSup>
                            </m:e>
                            <m:e>
                              <m:r>
                                <a:rPr lang="en-US" sz="2400" b="0" i="1" smtClean="0">
                                  <a:latin typeface="Cambria Math" panose="02040503050406030204" pitchFamily="18" charset="0"/>
                                  <a:ea typeface="Cambria Math" panose="02040503050406030204" pitchFamily="18" charset="0"/>
                                </a:rPr>
                                <m:t>=</m:t>
                              </m:r>
                            </m:e>
                            <m:e>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cos</m:t>
                                  </m:r>
                                </m:fName>
                                <m:e>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×3</m:t>
                                      </m:r>
                                    </m:num>
                                    <m:den>
                                      <m:r>
                                        <a:rPr lang="en-US" sz="2400" i="1">
                                          <a:latin typeface="Cambria Math" panose="02040503050406030204" pitchFamily="18" charset="0"/>
                                          <a:ea typeface="Cambria Math" panose="02040503050406030204" pitchFamily="18" charset="0"/>
                                        </a:rPr>
                                        <m:t>5</m:t>
                                      </m:r>
                                    </m:den>
                                  </m:f>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𝑖</m:t>
                                  </m:r>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sin</m:t>
                                      </m:r>
                                    </m:fName>
                                    <m:e>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×3</m:t>
                                          </m:r>
                                        </m:num>
                                        <m:den>
                                          <m:r>
                                            <a:rPr lang="en-US" sz="2400" i="1">
                                              <a:latin typeface="Cambria Math" panose="02040503050406030204" pitchFamily="18" charset="0"/>
                                              <a:ea typeface="Cambria Math" panose="02040503050406030204" pitchFamily="18" charset="0"/>
                                            </a:rPr>
                                            <m:t>5</m:t>
                                          </m:r>
                                        </m:den>
                                      </m:f>
                                    </m:e>
                                  </m:func>
                                </m:e>
                              </m:func>
                            </m:e>
                            <m:e>
                              <m:r>
                                <a:rPr lang="en-US" sz="2400" b="0" i="1" smtClean="0">
                                  <a:latin typeface="Cambria Math" panose="02040503050406030204" pitchFamily="18" charset="0"/>
                                  <a:ea typeface="Cambria Math" panose="02040503050406030204" pitchFamily="18" charset="0"/>
                                </a:rPr>
                                <m:t>=</m:t>
                              </m:r>
                            </m:e>
                            <m:e>
                              <m:r>
                                <a:rPr lang="en-US" sz="2400" i="1">
                                  <a:latin typeface="Cambria Math" panose="02040503050406030204" pitchFamily="18" charset="0"/>
                                  <a:ea typeface="Cambria Math" panose="02040503050406030204" pitchFamily="18" charset="0"/>
                                </a:rPr>
                                <m:t>−0.809−</m:t>
                              </m:r>
                              <m:r>
                                <a:rPr lang="en-US" sz="2400" i="1">
                                  <a:latin typeface="Cambria Math" panose="02040503050406030204" pitchFamily="18" charset="0"/>
                                  <a:ea typeface="Cambria Math" panose="02040503050406030204" pitchFamily="18" charset="0"/>
                                </a:rPr>
                                <m:t>𝑖</m:t>
                              </m:r>
                              <m:r>
                                <a:rPr lang="en-US" sz="2400" i="1">
                                  <a:latin typeface="Cambria Math" panose="02040503050406030204" pitchFamily="18" charset="0"/>
                                  <a:ea typeface="Cambria Math" panose="02040503050406030204" pitchFamily="18" charset="0"/>
                                </a:rPr>
                                <m:t> 0.587</m:t>
                              </m:r>
                            </m:e>
                          </m:mr>
                          <m:mr>
                            <m:e>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𝜔</m:t>
                                  </m:r>
                                </m:e>
                                <m:sub>
                                  <m:r>
                                    <a:rPr lang="en-US" sz="2400" i="1">
                                      <a:latin typeface="Cambria Math" panose="02040503050406030204" pitchFamily="18" charset="0"/>
                                      <a:ea typeface="Cambria Math" panose="02040503050406030204" pitchFamily="18" charset="0"/>
                                    </a:rPr>
                                    <m:t>5</m:t>
                                  </m:r>
                                </m:sub>
                                <m:sup>
                                  <m:r>
                                    <a:rPr lang="en-US" sz="2400" b="0" i="1" smtClean="0">
                                      <a:latin typeface="Cambria Math" panose="02040503050406030204" pitchFamily="18" charset="0"/>
                                      <a:ea typeface="Cambria Math" panose="02040503050406030204" pitchFamily="18" charset="0"/>
                                    </a:rPr>
                                    <m:t>4</m:t>
                                  </m:r>
                                </m:sup>
                              </m:sSubSup>
                            </m:e>
                            <m:e>
                              <m:r>
                                <a:rPr lang="en-US" sz="2400" b="0" i="1" smtClean="0">
                                  <a:latin typeface="Cambria Math" panose="02040503050406030204" pitchFamily="18" charset="0"/>
                                  <a:ea typeface="Cambria Math" panose="02040503050406030204" pitchFamily="18" charset="0"/>
                                </a:rPr>
                                <m:t>=</m:t>
                              </m:r>
                            </m:e>
                            <m:e>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cos</m:t>
                                  </m:r>
                                </m:fName>
                                <m:e>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×4</m:t>
                                      </m:r>
                                    </m:num>
                                    <m:den>
                                      <m:r>
                                        <a:rPr lang="en-US" sz="2400" i="1">
                                          <a:latin typeface="Cambria Math" panose="02040503050406030204" pitchFamily="18" charset="0"/>
                                          <a:ea typeface="Cambria Math" panose="02040503050406030204" pitchFamily="18" charset="0"/>
                                        </a:rPr>
                                        <m:t>5</m:t>
                                      </m:r>
                                    </m:den>
                                  </m:f>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𝑖</m:t>
                                  </m:r>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sin</m:t>
                                      </m:r>
                                    </m:fName>
                                    <m:e>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×4</m:t>
                                          </m:r>
                                        </m:num>
                                        <m:den>
                                          <m:r>
                                            <a:rPr lang="en-US" sz="2400" i="1">
                                              <a:latin typeface="Cambria Math" panose="02040503050406030204" pitchFamily="18" charset="0"/>
                                              <a:ea typeface="Cambria Math" panose="02040503050406030204" pitchFamily="18" charset="0"/>
                                            </a:rPr>
                                            <m:t>5</m:t>
                                          </m:r>
                                        </m:den>
                                      </m:f>
                                    </m:e>
                                  </m:func>
                                </m:e>
                              </m:func>
                            </m:e>
                            <m:e>
                              <m:r>
                                <a:rPr lang="en-US" sz="2400" b="0" i="1" smtClean="0">
                                  <a:latin typeface="Cambria Math" panose="02040503050406030204" pitchFamily="18" charset="0"/>
                                  <a:ea typeface="Cambria Math" panose="02040503050406030204" pitchFamily="18" charset="0"/>
                                </a:rPr>
                                <m:t>=</m:t>
                              </m:r>
                            </m:e>
                            <m:e>
                              <m:r>
                                <a:rPr lang="en-US" sz="2400" i="1">
                                  <a:latin typeface="Cambria Math" panose="02040503050406030204" pitchFamily="18" charset="0"/>
                                  <a:ea typeface="Cambria Math" panose="02040503050406030204" pitchFamily="18" charset="0"/>
                                </a:rPr>
                                <m:t>0.309−</m:t>
                              </m:r>
                              <m:r>
                                <a:rPr lang="en-US" sz="2400" i="1">
                                  <a:latin typeface="Cambria Math" panose="02040503050406030204" pitchFamily="18" charset="0"/>
                                  <a:ea typeface="Cambria Math" panose="02040503050406030204" pitchFamily="18" charset="0"/>
                                </a:rPr>
                                <m:t>𝑖</m:t>
                              </m:r>
                              <m:r>
                                <a:rPr lang="en-US" sz="2400" i="1">
                                  <a:latin typeface="Cambria Math" panose="02040503050406030204" pitchFamily="18" charset="0"/>
                                  <a:ea typeface="Cambria Math" panose="02040503050406030204" pitchFamily="18" charset="0"/>
                                </a:rPr>
                                <m:t> 0.951</m:t>
                              </m:r>
                            </m:e>
                          </m:mr>
                        </m:m>
                      </m:oMath>
                    </m:oMathPara>
                  </a14:m>
                  <a:endParaRPr lang="en-US" sz="2400" dirty="0"/>
                </a:p>
              </p:txBody>
            </p:sp>
          </mc:Choice>
          <mc:Fallback xmlns="">
            <p:sp>
              <p:nvSpPr>
                <p:cNvPr id="77" name="TextBox 76">
                  <a:extLst>
                    <a:ext uri="{FF2B5EF4-FFF2-40B4-BE49-F238E27FC236}">
                      <a16:creationId xmlns:a16="http://schemas.microsoft.com/office/drawing/2014/main" id="{0FC90D45-1A09-F84F-B4FF-1F036D4C8833}"/>
                    </a:ext>
                  </a:extLst>
                </p:cNvPr>
                <p:cNvSpPr txBox="1">
                  <a:spLocks noRot="1" noChangeAspect="1" noMove="1" noResize="1" noEditPoints="1" noAdjustHandles="1" noChangeArrowheads="1" noChangeShapeType="1" noTextEdit="1"/>
                </p:cNvSpPr>
                <p:nvPr/>
              </p:nvSpPr>
              <p:spPr>
                <a:xfrm>
                  <a:off x="4474491" y="2870492"/>
                  <a:ext cx="7514045" cy="3773662"/>
                </a:xfrm>
                <a:prstGeom prst="rect">
                  <a:avLst/>
                </a:prstGeom>
                <a:blipFill>
                  <a:blip r:embed="rId16"/>
                  <a:stretch>
                    <a:fillRect b="-671"/>
                  </a:stretch>
                </a:blipFill>
              </p:spPr>
              <p:txBody>
                <a:bodyPr/>
                <a:lstStyle/>
                <a:p>
                  <a:r>
                    <a:rPr lang="en-US">
                      <a:noFill/>
                    </a:rPr>
                    <a:t> </a:t>
                  </a:r>
                </a:p>
              </p:txBody>
            </p:sp>
          </mc:Fallback>
        </mc:AlternateContent>
      </p:grpSp>
      <p:sp>
        <p:nvSpPr>
          <p:cNvPr id="2" name="TextBox 1">
            <a:extLst>
              <a:ext uri="{FF2B5EF4-FFF2-40B4-BE49-F238E27FC236}">
                <a16:creationId xmlns:a16="http://schemas.microsoft.com/office/drawing/2014/main" id="{FA5391BF-407C-F745-966C-98DB2C53C4BD}"/>
              </a:ext>
            </a:extLst>
          </p:cNvPr>
          <p:cNvSpPr txBox="1"/>
          <p:nvPr/>
        </p:nvSpPr>
        <p:spPr>
          <a:xfrm>
            <a:off x="61416" y="1119582"/>
            <a:ext cx="9111597" cy="492443"/>
          </a:xfrm>
          <a:prstGeom prst="rect">
            <a:avLst/>
          </a:prstGeom>
          <a:noFill/>
        </p:spPr>
        <p:txBody>
          <a:bodyPr wrap="none" rtlCol="0">
            <a:spAutoFit/>
          </a:bodyPr>
          <a:lstStyle/>
          <a:p>
            <a:r>
              <a:rPr lang="en-ZA" sz="2600" dirty="0"/>
              <a:t>n-</a:t>
            </a:r>
            <a:r>
              <a:rPr lang="en-ZA" sz="2600" dirty="0" err="1"/>
              <a:t>th</a:t>
            </a:r>
            <a:r>
              <a:rPr lang="en-ZA" sz="2600" dirty="0"/>
              <a:t>  roots of unity: evenly spaced phase factors on the unit circle:</a:t>
            </a:r>
            <a:endParaRPr lang="en-US" sz="2600" dirty="0"/>
          </a:p>
        </p:txBody>
      </p:sp>
    </p:spTree>
    <p:extLst>
      <p:ext uri="{BB962C8B-B14F-4D97-AF65-F5344CB8AC3E}">
        <p14:creationId xmlns:p14="http://schemas.microsoft.com/office/powerpoint/2010/main" val="655990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blinds(horizontal)">
                                      <p:cBhvr>
                                        <p:cTn id="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27CBC-572F-5F48-9983-50EF76BEAC35}"/>
              </a:ext>
            </a:extLst>
          </p:cNvPr>
          <p:cNvSpPr>
            <a:spLocks noGrp="1"/>
          </p:cNvSpPr>
          <p:nvPr>
            <p:ph type="title"/>
          </p:nvPr>
        </p:nvSpPr>
        <p:spPr/>
        <p:txBody>
          <a:bodyPr/>
          <a:lstStyle/>
          <a:p>
            <a:r>
              <a:rPr lang="en-ZA" dirty="0"/>
              <a:t>Discrete Fourier Transform (DFT)</a:t>
            </a:r>
            <a:endParaRPr lang="en-US" dirty="0"/>
          </a:p>
        </p:txBody>
      </p:sp>
      <p:sp>
        <p:nvSpPr>
          <p:cNvPr id="3" name="Slide Number Placeholder 2">
            <a:extLst>
              <a:ext uri="{FF2B5EF4-FFF2-40B4-BE49-F238E27FC236}">
                <a16:creationId xmlns:a16="http://schemas.microsoft.com/office/drawing/2014/main" id="{FCE519B8-FF55-A942-BBDE-EEEB576FF18C}"/>
              </a:ext>
            </a:extLst>
          </p:cNvPr>
          <p:cNvSpPr>
            <a:spLocks noGrp="1"/>
          </p:cNvSpPr>
          <p:nvPr>
            <p:ph type="sldNum" sz="quarter" idx="12"/>
          </p:nvPr>
        </p:nvSpPr>
        <p:spPr>
          <a:xfrm>
            <a:off x="9365158" y="6487550"/>
            <a:ext cx="2743200" cy="365125"/>
          </a:xfrm>
        </p:spPr>
        <p:txBody>
          <a:bodyPr/>
          <a:lstStyle/>
          <a:p>
            <a:fld id="{591A223C-FA10-BC46-A853-03BA373D023C}" type="slidenum">
              <a:rPr lang="en-US" smtClean="0"/>
              <a:t>53</a:t>
            </a:fld>
            <a:endParaRPr lang="en-US"/>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871BB61E-79D8-BF4E-884A-6B8825C5A25C}"/>
                  </a:ext>
                </a:extLst>
              </p:cNvPr>
              <p:cNvSpPr/>
              <p:nvPr/>
            </p:nvSpPr>
            <p:spPr>
              <a:xfrm>
                <a:off x="294593" y="1296542"/>
                <a:ext cx="6899645" cy="37331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𝑥</m:t>
                      </m:r>
                      <m:r>
                        <a:rPr lang="en-US" sz="2400" i="1" smtClean="0">
                          <a:solidFill>
                            <a:srgbClr val="002060"/>
                          </a:solidFill>
                          <a:latin typeface="Cambria Math" panose="02040503050406030204" pitchFamily="18" charset="0"/>
                          <a:ea typeface="Cambria Math" panose="02040503050406030204" pitchFamily="18" charset="0"/>
                        </a:rPr>
                        <m:t>=</m:t>
                      </m:r>
                      <m:d>
                        <m:dPr>
                          <m:ctrlPr>
                            <a:rPr lang="en-US" sz="2400" i="1">
                              <a:solidFill>
                                <a:srgbClr val="002060"/>
                              </a:solidFill>
                              <a:latin typeface="Cambria Math" panose="02040503050406030204" pitchFamily="18" charset="0"/>
                              <a:ea typeface="Cambria Math" panose="02040503050406030204" pitchFamily="18" charset="0"/>
                            </a:rPr>
                          </m:ctrlPr>
                        </m:dPr>
                        <m:e>
                          <m:m>
                            <m:mPr>
                              <m:mcs>
                                <m:mc>
                                  <m:mcPr>
                                    <m:count m:val="1"/>
                                    <m:mcJc m:val="center"/>
                                  </m:mcPr>
                                </m:mc>
                              </m:mcs>
                              <m:ctrlPr>
                                <a:rPr lang="en-US" sz="2400" i="1">
                                  <a:solidFill>
                                    <a:srgbClr val="002060"/>
                                  </a:solidFill>
                                  <a:latin typeface="Cambria Math" panose="02040503050406030204" pitchFamily="18" charset="0"/>
                                  <a:ea typeface="Cambria Math" panose="02040503050406030204" pitchFamily="18" charset="0"/>
                                </a:rPr>
                              </m:ctrlPr>
                            </m:mPr>
                            <m:mr>
                              <m:e>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𝑥</m:t>
                                    </m:r>
                                  </m:e>
                                  <m:sub>
                                    <m:r>
                                      <a:rPr lang="en-US" sz="2400" i="1">
                                        <a:solidFill>
                                          <a:srgbClr val="002060"/>
                                        </a:solidFill>
                                        <a:latin typeface="Cambria Math" panose="02040503050406030204" pitchFamily="18" charset="0"/>
                                        <a:ea typeface="Cambria Math" panose="02040503050406030204" pitchFamily="18" charset="0"/>
                                      </a:rPr>
                                      <m:t>0</m:t>
                                    </m:r>
                                  </m:sub>
                                </m:sSub>
                              </m:e>
                            </m:mr>
                            <m:mr>
                              <m:e>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𝑥</m:t>
                                    </m:r>
                                  </m:e>
                                  <m:sub>
                                    <m:r>
                                      <a:rPr lang="en-US" sz="2400" i="1">
                                        <a:solidFill>
                                          <a:srgbClr val="002060"/>
                                        </a:solidFill>
                                        <a:latin typeface="Cambria Math" panose="02040503050406030204" pitchFamily="18" charset="0"/>
                                        <a:ea typeface="Cambria Math" panose="02040503050406030204" pitchFamily="18" charset="0"/>
                                      </a:rPr>
                                      <m:t>1</m:t>
                                    </m:r>
                                  </m:sub>
                                </m:sSub>
                              </m:e>
                            </m:mr>
                            <m:mr>
                              <m:e>
                                <m:r>
                                  <a:rPr lang="en-US" sz="2400" i="1">
                                    <a:solidFill>
                                      <a:srgbClr val="002060"/>
                                    </a:solidFill>
                                    <a:latin typeface="Cambria Math" panose="02040503050406030204" pitchFamily="18" charset="0"/>
                                    <a:ea typeface="Cambria Math" panose="02040503050406030204" pitchFamily="18" charset="0"/>
                                  </a:rPr>
                                  <m:t>⋮</m:t>
                                </m:r>
                              </m:e>
                            </m:mr>
                            <m:mr>
                              <m:e>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𝑥</m:t>
                                    </m:r>
                                  </m:e>
                                  <m:sub>
                                    <m:r>
                                      <a:rPr lang="sr-Latn-RS" sz="2400" b="0" i="1" smtClean="0">
                                        <a:solidFill>
                                          <a:srgbClr val="002060"/>
                                        </a:solidFill>
                                        <a:latin typeface="Cambria Math" panose="02040503050406030204" pitchFamily="18" charset="0"/>
                                        <a:ea typeface="Cambria Math" panose="02040503050406030204" pitchFamily="18" charset="0"/>
                                      </a:rPr>
                                      <m:t>𝑁</m:t>
                                    </m:r>
                                    <m:r>
                                      <a:rPr lang="en-US" sz="2400" i="1">
                                        <a:solidFill>
                                          <a:srgbClr val="002060"/>
                                        </a:solidFill>
                                        <a:latin typeface="Cambria Math" panose="02040503050406030204" pitchFamily="18" charset="0"/>
                                        <a:ea typeface="Cambria Math" panose="02040503050406030204" pitchFamily="18" charset="0"/>
                                      </a:rPr>
                                      <m:t>−1</m:t>
                                    </m:r>
                                  </m:sub>
                                </m:sSub>
                              </m:e>
                            </m:mr>
                          </m:m>
                        </m:e>
                      </m:d>
                      <m:r>
                        <a:rPr lang="en-US" sz="2400" i="1">
                          <a:solidFill>
                            <a:srgbClr val="002060"/>
                          </a:solidFill>
                          <a:latin typeface="Cambria Math" panose="02040503050406030204" pitchFamily="18" charset="0"/>
                          <a:ea typeface="Cambria Math" panose="02040503050406030204" pitchFamily="18" charset="0"/>
                        </a:rPr>
                        <m:t>⟼</m:t>
                      </m:r>
                      <m:acc>
                        <m:accPr>
                          <m:chr m:val="̃"/>
                          <m:ctrlPr>
                            <a:rPr lang="en-US" sz="2400" i="1" smtClean="0">
                              <a:solidFill>
                                <a:srgbClr val="002060"/>
                              </a:solidFill>
                              <a:latin typeface="Cambria Math" panose="02040503050406030204" pitchFamily="18" charset="0"/>
                              <a:ea typeface="Cambria Math" panose="02040503050406030204" pitchFamily="18" charset="0"/>
                            </a:rPr>
                          </m:ctrlPr>
                        </m:accPr>
                        <m:e>
                          <m:r>
                            <a:rPr lang="en-US" sz="2400" i="1">
                              <a:solidFill>
                                <a:srgbClr val="002060"/>
                              </a:solidFill>
                              <a:latin typeface="Cambria Math" panose="02040503050406030204" pitchFamily="18" charset="0"/>
                              <a:ea typeface="Cambria Math" panose="02040503050406030204" pitchFamily="18" charset="0"/>
                            </a:rPr>
                            <m:t>𝑥</m:t>
                          </m:r>
                        </m:e>
                      </m:acc>
                      <m:r>
                        <a:rPr lang="en-US" sz="2400" i="1">
                          <a:solidFill>
                            <a:srgbClr val="002060"/>
                          </a:solidFill>
                          <a:latin typeface="Cambria Math" panose="02040503050406030204" pitchFamily="18" charset="0"/>
                          <a:ea typeface="Cambria Math" panose="02040503050406030204" pitchFamily="18" charset="0"/>
                        </a:rPr>
                        <m:t>=</m:t>
                      </m:r>
                      <m:d>
                        <m:dPr>
                          <m:ctrlPr>
                            <a:rPr lang="en-US" sz="2400" i="1">
                              <a:solidFill>
                                <a:srgbClr val="002060"/>
                              </a:solidFill>
                              <a:latin typeface="Cambria Math" panose="02040503050406030204" pitchFamily="18" charset="0"/>
                              <a:ea typeface="Cambria Math" panose="02040503050406030204" pitchFamily="18" charset="0"/>
                            </a:rPr>
                          </m:ctrlPr>
                        </m:dPr>
                        <m:e>
                          <m:m>
                            <m:mPr>
                              <m:mcs>
                                <m:mc>
                                  <m:mcPr>
                                    <m:count m:val="1"/>
                                    <m:mcJc m:val="center"/>
                                  </m:mcPr>
                                </m:mc>
                              </m:mcs>
                              <m:ctrlPr>
                                <a:rPr lang="en-US" sz="2400" i="1">
                                  <a:solidFill>
                                    <a:srgbClr val="002060"/>
                                  </a:solidFill>
                                  <a:latin typeface="Cambria Math" panose="02040503050406030204" pitchFamily="18" charset="0"/>
                                  <a:ea typeface="Cambria Math" panose="02040503050406030204" pitchFamily="18" charset="0"/>
                                </a:rPr>
                              </m:ctrlPr>
                            </m:mPr>
                            <m:mr>
                              <m:e>
                                <m:sSub>
                                  <m:sSubPr>
                                    <m:ctrlPr>
                                      <a:rPr lang="en-US" sz="2400" i="1">
                                        <a:solidFill>
                                          <a:srgbClr val="002060"/>
                                        </a:solidFill>
                                        <a:latin typeface="Cambria Math" panose="02040503050406030204" pitchFamily="18" charset="0"/>
                                        <a:ea typeface="Cambria Math" panose="02040503050406030204" pitchFamily="18" charset="0"/>
                                      </a:rPr>
                                    </m:ctrlPr>
                                  </m:sSubPr>
                                  <m:e>
                                    <m:acc>
                                      <m:accPr>
                                        <m:chr m:val="̃"/>
                                        <m:ctrlPr>
                                          <a:rPr lang="en-US" sz="2400" i="1">
                                            <a:solidFill>
                                              <a:srgbClr val="002060"/>
                                            </a:solidFill>
                                            <a:latin typeface="Cambria Math" panose="02040503050406030204" pitchFamily="18" charset="0"/>
                                            <a:ea typeface="Cambria Math" panose="02040503050406030204" pitchFamily="18" charset="0"/>
                                          </a:rPr>
                                        </m:ctrlPr>
                                      </m:accPr>
                                      <m:e>
                                        <m:r>
                                          <a:rPr lang="en-US" sz="2400" i="1">
                                            <a:solidFill>
                                              <a:srgbClr val="002060"/>
                                            </a:solidFill>
                                            <a:latin typeface="Cambria Math" panose="02040503050406030204" pitchFamily="18" charset="0"/>
                                            <a:ea typeface="Cambria Math" panose="02040503050406030204" pitchFamily="18" charset="0"/>
                                          </a:rPr>
                                          <m:t>𝑥</m:t>
                                        </m:r>
                                      </m:e>
                                    </m:acc>
                                  </m:e>
                                  <m:sub>
                                    <m:r>
                                      <a:rPr lang="en-US" sz="2400" i="1">
                                        <a:solidFill>
                                          <a:srgbClr val="002060"/>
                                        </a:solidFill>
                                        <a:latin typeface="Cambria Math" panose="02040503050406030204" pitchFamily="18" charset="0"/>
                                        <a:ea typeface="Cambria Math" panose="02040503050406030204" pitchFamily="18" charset="0"/>
                                      </a:rPr>
                                      <m:t>0</m:t>
                                    </m:r>
                                  </m:sub>
                                </m:sSub>
                                <m:r>
                                  <a:rPr lang="sr-Latn-RS" sz="2400" b="0" i="1" smtClean="0">
                                    <a:solidFill>
                                      <a:srgbClr val="002060"/>
                                    </a:solidFill>
                                    <a:latin typeface="Cambria Math" panose="02040503050406030204" pitchFamily="18" charset="0"/>
                                    <a:ea typeface="Cambria Math" panose="02040503050406030204" pitchFamily="18" charset="0"/>
                                  </a:rPr>
                                  <m:t>=</m:t>
                                </m:r>
                                <m:nary>
                                  <m:naryPr>
                                    <m:chr m:val="∑"/>
                                    <m:ctrlPr>
                                      <a:rPr lang="en-US" sz="2400" i="1">
                                        <a:latin typeface="Cambria Math" panose="02040503050406030204" pitchFamily="18" charset="0"/>
                                        <a:ea typeface="Cambria Math" panose="02040503050406030204" pitchFamily="18" charset="0"/>
                                      </a:rPr>
                                    </m:ctrlPr>
                                  </m:naryPr>
                                  <m:sub>
                                    <m:r>
                                      <a:rPr lang="en-US" sz="2400" i="1">
                                        <a:latin typeface="Cambria Math" panose="02040503050406030204" pitchFamily="18" charset="0"/>
                                        <a:ea typeface="Cambria Math" panose="02040503050406030204" pitchFamily="18" charset="0"/>
                                      </a:rPr>
                                      <m:t>𝑗</m:t>
                                    </m:r>
                                    <m:r>
                                      <a:rPr lang="en-US" sz="2400" i="1">
                                        <a:latin typeface="Cambria Math" panose="02040503050406030204" pitchFamily="18" charset="0"/>
                                        <a:ea typeface="Cambria Math" panose="02040503050406030204" pitchFamily="18" charset="0"/>
                                      </a:rPr>
                                      <m:t>=0</m:t>
                                    </m:r>
                                  </m:sub>
                                  <m:sup>
                                    <m:r>
                                      <a:rPr lang="sr-Latn-RS" sz="2400" b="0" i="1" smtClean="0">
                                        <a:latin typeface="Cambria Math" panose="02040503050406030204" pitchFamily="18" charset="0"/>
                                        <a:ea typeface="Cambria Math" panose="02040503050406030204" pitchFamily="18" charset="0"/>
                                      </a:rPr>
                                      <m:t>𝑁</m:t>
                                    </m:r>
                                    <m:r>
                                      <a:rPr lang="en-US" sz="2400" i="1">
                                        <a:latin typeface="Cambria Math" panose="02040503050406030204" pitchFamily="18" charset="0"/>
                                        <a:ea typeface="Cambria Math" panose="02040503050406030204" pitchFamily="18" charset="0"/>
                                      </a:rPr>
                                      <m:t>−1</m:t>
                                    </m:r>
                                  </m:sup>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i="1">
                                            <a:latin typeface="Cambria Math" panose="02040503050406030204" pitchFamily="18" charset="0"/>
                                            <a:ea typeface="Cambria Math" panose="02040503050406030204" pitchFamily="18" charset="0"/>
                                          </a:rPr>
                                          <m:t>𝑗</m:t>
                                        </m:r>
                                      </m:sub>
                                    </m:sSub>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𝑒</m:t>
                                        </m:r>
                                      </m:e>
                                      <m:sup>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num>
                                          <m:den>
                                            <m:r>
                                              <a:rPr lang="sr-Latn-RS" sz="2400" b="0" i="1" smtClean="0">
                                                <a:latin typeface="Cambria Math" panose="02040503050406030204" pitchFamily="18" charset="0"/>
                                                <a:ea typeface="Cambria Math" panose="02040503050406030204" pitchFamily="18" charset="0"/>
                                              </a:rPr>
                                              <m:t>𝑁</m:t>
                                            </m:r>
                                          </m:den>
                                        </m:f>
                                        <m:r>
                                          <a:rPr lang="en-US" sz="2400" b="0" i="1" smtClean="0">
                                            <a:latin typeface="Cambria Math" panose="02040503050406030204" pitchFamily="18" charset="0"/>
                                            <a:ea typeface="Cambria Math" panose="02040503050406030204" pitchFamily="18" charset="0"/>
                                          </a:rPr>
                                          <m:t>𝑗</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0</m:t>
                                        </m:r>
                                      </m:sup>
                                    </m:sSup>
                                    <m:r>
                                      <m:rPr>
                                        <m:nor/>
                                      </m:rPr>
                                      <a:rPr lang="en-US" sz="2400" b="0" i="0" smtClean="0">
                                        <a:latin typeface="Cambria Math" panose="02040503050406030204" pitchFamily="18" charset="0"/>
                                        <a:ea typeface="Cambria Math" panose="02040503050406030204" pitchFamily="18" charset="0"/>
                                      </a:rPr>
                                      <m:t>      </m:t>
                                    </m:r>
                                    <m:r>
                                      <m:rPr>
                                        <m:nor/>
                                      </m:rPr>
                                      <a:rPr lang="en-US" sz="2400" dirty="0"/>
                                      <m:t> </m:t>
                                    </m:r>
                                  </m:e>
                                </m:nary>
                              </m:e>
                            </m:mr>
                            <m:mr>
                              <m:e>
                                <m:sSub>
                                  <m:sSubPr>
                                    <m:ctrlPr>
                                      <a:rPr lang="en-US" sz="2400" i="1">
                                        <a:solidFill>
                                          <a:srgbClr val="002060"/>
                                        </a:solidFill>
                                        <a:latin typeface="Cambria Math" panose="02040503050406030204" pitchFamily="18" charset="0"/>
                                        <a:ea typeface="Cambria Math" panose="02040503050406030204" pitchFamily="18" charset="0"/>
                                      </a:rPr>
                                    </m:ctrlPr>
                                  </m:sSubPr>
                                  <m:e>
                                    <m:acc>
                                      <m:accPr>
                                        <m:chr m:val="̃"/>
                                        <m:ctrlPr>
                                          <a:rPr lang="en-US" sz="2400" i="1">
                                            <a:solidFill>
                                              <a:srgbClr val="002060"/>
                                            </a:solidFill>
                                            <a:latin typeface="Cambria Math" panose="02040503050406030204" pitchFamily="18" charset="0"/>
                                            <a:ea typeface="Cambria Math" panose="02040503050406030204" pitchFamily="18" charset="0"/>
                                          </a:rPr>
                                        </m:ctrlPr>
                                      </m:accPr>
                                      <m:e>
                                        <m:r>
                                          <a:rPr lang="en-US" sz="2400" i="1">
                                            <a:solidFill>
                                              <a:srgbClr val="002060"/>
                                            </a:solidFill>
                                            <a:latin typeface="Cambria Math" panose="02040503050406030204" pitchFamily="18" charset="0"/>
                                            <a:ea typeface="Cambria Math" panose="02040503050406030204" pitchFamily="18" charset="0"/>
                                          </a:rPr>
                                          <m:t>𝑥</m:t>
                                        </m:r>
                                      </m:e>
                                    </m:acc>
                                  </m:e>
                                  <m:sub>
                                    <m:r>
                                      <a:rPr lang="sr-Latn-RS" sz="2400" b="0" i="1" smtClean="0">
                                        <a:solidFill>
                                          <a:srgbClr val="002060"/>
                                        </a:solidFill>
                                        <a:latin typeface="Cambria Math" panose="02040503050406030204" pitchFamily="18" charset="0"/>
                                        <a:ea typeface="Cambria Math" panose="02040503050406030204" pitchFamily="18" charset="0"/>
                                      </a:rPr>
                                      <m:t>1</m:t>
                                    </m:r>
                                  </m:sub>
                                </m:sSub>
                                <m:r>
                                  <a:rPr lang="sr-Latn-RS" sz="2400" i="1">
                                    <a:solidFill>
                                      <a:srgbClr val="002060"/>
                                    </a:solidFill>
                                    <a:latin typeface="Cambria Math" panose="02040503050406030204" pitchFamily="18" charset="0"/>
                                    <a:ea typeface="Cambria Math" panose="02040503050406030204" pitchFamily="18" charset="0"/>
                                  </a:rPr>
                                  <m:t>=</m:t>
                                </m:r>
                                <m:nary>
                                  <m:naryPr>
                                    <m:chr m:val="∑"/>
                                    <m:ctrlPr>
                                      <a:rPr lang="en-US" sz="2400" i="1">
                                        <a:latin typeface="Cambria Math" panose="02040503050406030204" pitchFamily="18" charset="0"/>
                                        <a:ea typeface="Cambria Math" panose="02040503050406030204" pitchFamily="18" charset="0"/>
                                      </a:rPr>
                                    </m:ctrlPr>
                                  </m:naryPr>
                                  <m:sub>
                                    <m:r>
                                      <a:rPr lang="en-US" sz="2400" i="1">
                                        <a:latin typeface="Cambria Math" panose="02040503050406030204" pitchFamily="18" charset="0"/>
                                        <a:ea typeface="Cambria Math" panose="02040503050406030204" pitchFamily="18" charset="0"/>
                                      </a:rPr>
                                      <m:t>𝑗</m:t>
                                    </m:r>
                                    <m:r>
                                      <a:rPr lang="en-US" sz="2400" i="1">
                                        <a:latin typeface="Cambria Math" panose="02040503050406030204" pitchFamily="18" charset="0"/>
                                        <a:ea typeface="Cambria Math" panose="02040503050406030204" pitchFamily="18" charset="0"/>
                                      </a:rPr>
                                      <m:t>=0</m:t>
                                    </m:r>
                                  </m:sub>
                                  <m:sup>
                                    <m:r>
                                      <a:rPr lang="en-US" sz="2400" i="1">
                                        <a:latin typeface="Cambria Math" panose="02040503050406030204" pitchFamily="18" charset="0"/>
                                        <a:ea typeface="Cambria Math" panose="02040503050406030204" pitchFamily="18" charset="0"/>
                                      </a:rPr>
                                      <m:t>𝑛</m:t>
                                    </m:r>
                                    <m:r>
                                      <a:rPr lang="en-US" sz="2400" i="1">
                                        <a:latin typeface="Cambria Math" panose="02040503050406030204" pitchFamily="18" charset="0"/>
                                        <a:ea typeface="Cambria Math" panose="02040503050406030204" pitchFamily="18" charset="0"/>
                                      </a:rPr>
                                      <m:t>−1</m:t>
                                    </m:r>
                                  </m:sup>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i="1">
                                            <a:latin typeface="Cambria Math" panose="02040503050406030204" pitchFamily="18" charset="0"/>
                                            <a:ea typeface="Cambria Math" panose="02040503050406030204" pitchFamily="18" charset="0"/>
                                          </a:rPr>
                                          <m:t>𝑗</m:t>
                                        </m:r>
                                      </m:sub>
                                    </m:sSub>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𝑒</m:t>
                                        </m:r>
                                      </m:e>
                                      <m:sup>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num>
                                          <m:den>
                                            <m:r>
                                              <a:rPr lang="sr-Latn-RS" sz="2400" b="0" i="1" smtClean="0">
                                                <a:latin typeface="Cambria Math" panose="02040503050406030204" pitchFamily="18" charset="0"/>
                                                <a:ea typeface="Cambria Math" panose="02040503050406030204" pitchFamily="18" charset="0"/>
                                              </a:rPr>
                                              <m:t>𝑁</m:t>
                                            </m:r>
                                          </m:den>
                                        </m:f>
                                        <m:r>
                                          <a:rPr lang="en-US" sz="2400" i="1">
                                            <a:latin typeface="Cambria Math" panose="02040503050406030204" pitchFamily="18" charset="0"/>
                                            <a:ea typeface="Cambria Math" panose="02040503050406030204" pitchFamily="18" charset="0"/>
                                          </a:rPr>
                                          <m:t>𝑗</m:t>
                                        </m:r>
                                        <m:r>
                                          <a:rPr lang="en-US" sz="2400" i="1">
                                            <a:latin typeface="Cambria Math" panose="02040503050406030204" pitchFamily="18" charset="0"/>
                                            <a:ea typeface="Cambria Math" panose="02040503050406030204" pitchFamily="18" charset="0"/>
                                          </a:rPr>
                                          <m:t>∙1</m:t>
                                        </m:r>
                                      </m:sup>
                                    </m:sSup>
                                    <m:r>
                                      <m:rPr>
                                        <m:nor/>
                                      </m:rPr>
                                      <a:rPr lang="en-US" sz="2400" dirty="0"/>
                                      <m:t> </m:t>
                                    </m:r>
                                    <m:r>
                                      <a:rPr lang="en-US" sz="2400" b="0" i="1" dirty="0" smtClean="0">
                                        <a:latin typeface="Cambria Math" panose="02040503050406030204" pitchFamily="18" charset="0"/>
                                      </a:rPr>
                                      <m:t>      </m:t>
                                    </m:r>
                                  </m:e>
                                </m:nary>
                              </m:e>
                            </m:mr>
                            <m:mr>
                              <m:e>
                                <m:r>
                                  <a:rPr lang="en-US" sz="2400" i="1">
                                    <a:solidFill>
                                      <a:srgbClr val="002060"/>
                                    </a:solidFill>
                                    <a:latin typeface="Cambria Math" panose="02040503050406030204" pitchFamily="18" charset="0"/>
                                    <a:ea typeface="Cambria Math" panose="02040503050406030204" pitchFamily="18" charset="0"/>
                                  </a:rPr>
                                  <m:t>⋮</m:t>
                                </m:r>
                              </m:e>
                            </m:mr>
                            <m:mr>
                              <m:e>
                                <m:sSub>
                                  <m:sSubPr>
                                    <m:ctrlPr>
                                      <a:rPr lang="en-US" sz="2400" i="1">
                                        <a:solidFill>
                                          <a:srgbClr val="002060"/>
                                        </a:solidFill>
                                        <a:latin typeface="Cambria Math" panose="02040503050406030204" pitchFamily="18" charset="0"/>
                                        <a:ea typeface="Cambria Math" panose="02040503050406030204" pitchFamily="18" charset="0"/>
                                      </a:rPr>
                                    </m:ctrlPr>
                                  </m:sSubPr>
                                  <m:e>
                                    <m:acc>
                                      <m:accPr>
                                        <m:chr m:val="̃"/>
                                        <m:ctrlPr>
                                          <a:rPr lang="en-US" sz="2400" i="1">
                                            <a:solidFill>
                                              <a:srgbClr val="002060"/>
                                            </a:solidFill>
                                            <a:latin typeface="Cambria Math" panose="02040503050406030204" pitchFamily="18" charset="0"/>
                                            <a:ea typeface="Cambria Math" panose="02040503050406030204" pitchFamily="18" charset="0"/>
                                          </a:rPr>
                                        </m:ctrlPr>
                                      </m:accPr>
                                      <m:e>
                                        <m:r>
                                          <a:rPr lang="en-US" sz="2400" i="1">
                                            <a:solidFill>
                                              <a:srgbClr val="002060"/>
                                            </a:solidFill>
                                            <a:latin typeface="Cambria Math" panose="02040503050406030204" pitchFamily="18" charset="0"/>
                                            <a:ea typeface="Cambria Math" panose="02040503050406030204" pitchFamily="18" charset="0"/>
                                          </a:rPr>
                                          <m:t>𝑥</m:t>
                                        </m:r>
                                      </m:e>
                                    </m:acc>
                                  </m:e>
                                  <m:sub>
                                    <m:r>
                                      <a:rPr lang="sr-Latn-RS" sz="2400" b="0" i="1" smtClean="0">
                                        <a:solidFill>
                                          <a:srgbClr val="002060"/>
                                        </a:solidFill>
                                        <a:latin typeface="Cambria Math" panose="02040503050406030204" pitchFamily="18" charset="0"/>
                                        <a:ea typeface="Cambria Math" panose="02040503050406030204" pitchFamily="18" charset="0"/>
                                      </a:rPr>
                                      <m:t>𝑁</m:t>
                                    </m:r>
                                    <m:r>
                                      <a:rPr lang="sr-Latn-RS" sz="2400" b="0" i="1" smtClean="0">
                                        <a:solidFill>
                                          <a:srgbClr val="002060"/>
                                        </a:solidFill>
                                        <a:latin typeface="Cambria Math" panose="02040503050406030204" pitchFamily="18" charset="0"/>
                                        <a:ea typeface="Cambria Math" panose="02040503050406030204" pitchFamily="18" charset="0"/>
                                      </a:rPr>
                                      <m:t>−1</m:t>
                                    </m:r>
                                  </m:sub>
                                </m:sSub>
                                <m:r>
                                  <a:rPr lang="sr-Latn-RS" sz="2400" i="1">
                                    <a:solidFill>
                                      <a:srgbClr val="002060"/>
                                    </a:solidFill>
                                    <a:latin typeface="Cambria Math" panose="02040503050406030204" pitchFamily="18" charset="0"/>
                                    <a:ea typeface="Cambria Math" panose="02040503050406030204" pitchFamily="18" charset="0"/>
                                  </a:rPr>
                                  <m:t>=</m:t>
                                </m:r>
                                <m:nary>
                                  <m:naryPr>
                                    <m:chr m:val="∑"/>
                                    <m:ctrlPr>
                                      <a:rPr lang="en-US" sz="2400" i="1">
                                        <a:latin typeface="Cambria Math" panose="02040503050406030204" pitchFamily="18" charset="0"/>
                                        <a:ea typeface="Cambria Math" panose="02040503050406030204" pitchFamily="18" charset="0"/>
                                      </a:rPr>
                                    </m:ctrlPr>
                                  </m:naryPr>
                                  <m:sub>
                                    <m:r>
                                      <a:rPr lang="en-US" sz="2400" i="1">
                                        <a:latin typeface="Cambria Math" panose="02040503050406030204" pitchFamily="18" charset="0"/>
                                        <a:ea typeface="Cambria Math" panose="02040503050406030204" pitchFamily="18" charset="0"/>
                                      </a:rPr>
                                      <m:t>𝑗</m:t>
                                    </m:r>
                                    <m:r>
                                      <a:rPr lang="en-US" sz="2400" i="1">
                                        <a:latin typeface="Cambria Math" panose="02040503050406030204" pitchFamily="18" charset="0"/>
                                        <a:ea typeface="Cambria Math" panose="02040503050406030204" pitchFamily="18" charset="0"/>
                                      </a:rPr>
                                      <m:t>=0</m:t>
                                    </m:r>
                                  </m:sub>
                                  <m:sup>
                                    <m:r>
                                      <a:rPr lang="en-US" sz="2400" i="1">
                                        <a:latin typeface="Cambria Math" panose="02040503050406030204" pitchFamily="18" charset="0"/>
                                        <a:ea typeface="Cambria Math" panose="02040503050406030204" pitchFamily="18" charset="0"/>
                                      </a:rPr>
                                      <m:t>𝑛</m:t>
                                    </m:r>
                                    <m:r>
                                      <a:rPr lang="en-US" sz="2400" i="1">
                                        <a:latin typeface="Cambria Math" panose="02040503050406030204" pitchFamily="18" charset="0"/>
                                        <a:ea typeface="Cambria Math" panose="02040503050406030204" pitchFamily="18" charset="0"/>
                                      </a:rPr>
                                      <m:t>−1</m:t>
                                    </m:r>
                                  </m:sup>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i="1">
                                            <a:latin typeface="Cambria Math" panose="02040503050406030204" pitchFamily="18" charset="0"/>
                                            <a:ea typeface="Cambria Math" panose="02040503050406030204" pitchFamily="18" charset="0"/>
                                          </a:rPr>
                                          <m:t>𝑗</m:t>
                                        </m:r>
                                      </m:sub>
                                    </m:sSub>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𝑒</m:t>
                                        </m:r>
                                      </m:e>
                                      <m:sup>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num>
                                          <m:den>
                                            <m:r>
                                              <a:rPr lang="sr-Latn-RS" sz="2400" b="0" i="1" smtClean="0">
                                                <a:latin typeface="Cambria Math" panose="02040503050406030204" pitchFamily="18" charset="0"/>
                                                <a:ea typeface="Cambria Math" panose="02040503050406030204" pitchFamily="18" charset="0"/>
                                              </a:rPr>
                                              <m:t>𝑁</m:t>
                                            </m:r>
                                          </m:den>
                                        </m:f>
                                        <m:r>
                                          <a:rPr lang="en-US" sz="2400" i="1">
                                            <a:latin typeface="Cambria Math" panose="02040503050406030204" pitchFamily="18" charset="0"/>
                                            <a:ea typeface="Cambria Math" panose="02040503050406030204" pitchFamily="18" charset="0"/>
                                          </a:rPr>
                                          <m:t>𝑗</m:t>
                                        </m:r>
                                        <m:r>
                                          <a:rPr lang="en-US" sz="2400" i="1">
                                            <a:latin typeface="Cambria Math" panose="02040503050406030204" pitchFamily="18" charset="0"/>
                                            <a:ea typeface="Cambria Math" panose="02040503050406030204" pitchFamily="18" charset="0"/>
                                          </a:rPr>
                                          <m:t>∙(</m:t>
                                        </m:r>
                                        <m:r>
                                          <a:rPr lang="sr-Latn-RS" sz="2400" b="0" i="1" smtClean="0">
                                            <a:latin typeface="Cambria Math" panose="02040503050406030204" pitchFamily="18" charset="0"/>
                                            <a:ea typeface="Cambria Math" panose="02040503050406030204" pitchFamily="18" charset="0"/>
                                          </a:rPr>
                                          <m:t>𝑁</m:t>
                                        </m:r>
                                        <m:r>
                                          <a:rPr lang="en-US" sz="2400" b="0" i="1" smtClean="0">
                                            <a:solidFill>
                                              <a:srgbClr val="008001"/>
                                            </a:solidFill>
                                            <a:latin typeface="Cambria Math" panose="02040503050406030204" pitchFamily="18" charset="0"/>
                                            <a:ea typeface="Cambria Math" panose="02040503050406030204" pitchFamily="18" charset="0"/>
                                          </a:rPr>
                                          <m:t>−1)</m:t>
                                        </m:r>
                                      </m:sup>
                                    </m:sSup>
                                    <m:r>
                                      <m:rPr>
                                        <m:nor/>
                                      </m:rPr>
                                      <a:rPr lang="en-US" sz="2400" dirty="0"/>
                                      <m:t> </m:t>
                                    </m:r>
                                  </m:e>
                                </m:nary>
                              </m:e>
                            </m:mr>
                          </m:m>
                        </m:e>
                      </m:d>
                    </m:oMath>
                  </m:oMathPara>
                </a14:m>
                <a:endParaRPr lang="en-US" sz="2400" dirty="0"/>
              </a:p>
            </p:txBody>
          </p:sp>
        </mc:Choice>
        <mc:Fallback xmlns="">
          <p:sp>
            <p:nvSpPr>
              <p:cNvPr id="4" name="Rectangle 3">
                <a:extLst>
                  <a:ext uri="{FF2B5EF4-FFF2-40B4-BE49-F238E27FC236}">
                    <a16:creationId xmlns:a16="http://schemas.microsoft.com/office/drawing/2014/main" id="{871BB61E-79D8-BF4E-884A-6B8825C5A25C}"/>
                  </a:ext>
                </a:extLst>
              </p:cNvPr>
              <p:cNvSpPr>
                <a:spLocks noRot="1" noChangeAspect="1" noMove="1" noResize="1" noEditPoints="1" noAdjustHandles="1" noChangeArrowheads="1" noChangeShapeType="1" noTextEdit="1"/>
              </p:cNvSpPr>
              <p:nvPr/>
            </p:nvSpPr>
            <p:spPr>
              <a:xfrm>
                <a:off x="294593" y="1296542"/>
                <a:ext cx="6899645" cy="3733138"/>
              </a:xfrm>
              <a:prstGeom prst="rect">
                <a:avLst/>
              </a:prstGeom>
              <a:blipFill>
                <a:blip r:embed="rId3"/>
                <a:stretch>
                  <a:fillRect t="-30508" b="-46441"/>
                </a:stretch>
              </a:blipFill>
            </p:spPr>
            <p:txBody>
              <a:bodyPr/>
              <a:lstStyle/>
              <a:p>
                <a:r>
                  <a:rPr lang="en-US">
                    <a:noFill/>
                  </a:rPr>
                  <a:t> </a:t>
                </a:r>
              </a:p>
            </p:txBody>
          </p:sp>
        </mc:Fallback>
      </mc:AlternateContent>
      <p:sp>
        <p:nvSpPr>
          <p:cNvPr id="97" name="Arc 96">
            <a:extLst>
              <a:ext uri="{FF2B5EF4-FFF2-40B4-BE49-F238E27FC236}">
                <a16:creationId xmlns:a16="http://schemas.microsoft.com/office/drawing/2014/main" id="{4C21B30C-A595-4F4B-BD3A-10A78DD5F219}"/>
              </a:ext>
            </a:extLst>
          </p:cNvPr>
          <p:cNvSpPr/>
          <p:nvPr/>
        </p:nvSpPr>
        <p:spPr>
          <a:xfrm rot="1430123">
            <a:off x="8810912" y="2427533"/>
            <a:ext cx="686180" cy="717744"/>
          </a:xfrm>
          <a:prstGeom prst="arc">
            <a:avLst>
              <a:gd name="adj1" fmla="val 13244308"/>
              <a:gd name="adj2" fmla="val 0"/>
            </a:avLst>
          </a:prstGeom>
          <a:ln w="25400">
            <a:solidFill>
              <a:schemeClr val="accent5">
                <a:lumMod val="75000"/>
              </a:schemeClr>
            </a:solidFill>
            <a:headEnd type="triangle" w="lg" len="lg"/>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41EEDD3-728A-3641-B764-E28A3112D097}"/>
                  </a:ext>
                </a:extLst>
              </p:cNvPr>
              <p:cNvSpPr txBox="1"/>
              <p:nvPr/>
            </p:nvSpPr>
            <p:spPr>
              <a:xfrm>
                <a:off x="5820847" y="895260"/>
                <a:ext cx="216059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chemeClr val="tx1"/>
                          </a:solidFill>
                          <a:latin typeface="Cambria Math" panose="02040503050406030204" pitchFamily="18" charset="0"/>
                          <a:ea typeface="Cambria Math" panose="02040503050406030204" pitchFamily="18" charset="0"/>
                        </a:rPr>
                        <m:t>𝑘</m:t>
                      </m:r>
                      <m:r>
                        <a:rPr lang="en-US" sz="2000" b="0" i="1" smtClean="0">
                          <a:solidFill>
                            <a:schemeClr val="tx1"/>
                          </a:solidFill>
                          <a:latin typeface="Cambria Math" panose="02040503050406030204" pitchFamily="18" charset="0"/>
                          <a:ea typeface="Cambria Math" panose="02040503050406030204" pitchFamily="18" charset="0"/>
                        </a:rPr>
                        <m:t>=0,1,⋯,</m:t>
                      </m:r>
                      <m:r>
                        <a:rPr lang="en-US" sz="2000" b="0" i="1" smtClean="0">
                          <a:solidFill>
                            <a:schemeClr val="tx1"/>
                          </a:solidFill>
                          <a:latin typeface="Cambria Math" panose="02040503050406030204" pitchFamily="18" charset="0"/>
                          <a:ea typeface="Cambria Math" panose="02040503050406030204" pitchFamily="18" charset="0"/>
                        </a:rPr>
                        <m:t>𝑁</m:t>
                      </m:r>
                      <m:r>
                        <a:rPr lang="en-US" sz="2000" b="0" i="1" smtClean="0">
                          <a:solidFill>
                            <a:schemeClr val="tx1"/>
                          </a:solidFill>
                          <a:latin typeface="Cambria Math" panose="02040503050406030204" pitchFamily="18" charset="0"/>
                          <a:ea typeface="Cambria Math" panose="02040503050406030204" pitchFamily="18" charset="0"/>
                        </a:rPr>
                        <m:t>−1</m:t>
                      </m:r>
                    </m:oMath>
                  </m:oMathPara>
                </a14:m>
                <a:endParaRPr lang="en-US" sz="2000" dirty="0">
                  <a:solidFill>
                    <a:schemeClr val="tx1"/>
                  </a:solidFill>
                </a:endParaRPr>
              </a:p>
            </p:txBody>
          </p:sp>
        </mc:Choice>
        <mc:Fallback xmlns="">
          <p:sp>
            <p:nvSpPr>
              <p:cNvPr id="6" name="TextBox 5">
                <a:extLst>
                  <a:ext uri="{FF2B5EF4-FFF2-40B4-BE49-F238E27FC236}">
                    <a16:creationId xmlns:a16="http://schemas.microsoft.com/office/drawing/2014/main" id="{341EEDD3-728A-3641-B764-E28A3112D097}"/>
                  </a:ext>
                </a:extLst>
              </p:cNvPr>
              <p:cNvSpPr txBox="1">
                <a:spLocks noRot="1" noChangeAspect="1" noMove="1" noResize="1" noEditPoints="1" noAdjustHandles="1" noChangeArrowheads="1" noChangeShapeType="1" noTextEdit="1"/>
              </p:cNvSpPr>
              <p:nvPr/>
            </p:nvSpPr>
            <p:spPr>
              <a:xfrm>
                <a:off x="5820847" y="895260"/>
                <a:ext cx="2160591" cy="400110"/>
              </a:xfrm>
              <a:prstGeom prst="rect">
                <a:avLst/>
              </a:prstGeom>
              <a:blipFill>
                <a:blip r:embed="rId4"/>
                <a:stretch>
                  <a:fillRect/>
                </a:stretch>
              </a:blipFill>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E50DB4FE-34E2-E449-9FF6-B1A40EF73953}"/>
              </a:ext>
            </a:extLst>
          </p:cNvPr>
          <p:cNvCxnSpPr>
            <a:cxnSpLocks/>
          </p:cNvCxnSpPr>
          <p:nvPr/>
        </p:nvCxnSpPr>
        <p:spPr>
          <a:xfrm>
            <a:off x="6039500" y="1265570"/>
            <a:ext cx="0" cy="376776"/>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nvGrpSpPr>
          <p:cNvPr id="55" name="Group 54">
            <a:extLst>
              <a:ext uri="{FF2B5EF4-FFF2-40B4-BE49-F238E27FC236}">
                <a16:creationId xmlns:a16="http://schemas.microsoft.com/office/drawing/2014/main" id="{502026FB-0AC3-5F4B-82B4-9265DA70854F}"/>
              </a:ext>
            </a:extLst>
          </p:cNvPr>
          <p:cNvGrpSpPr/>
          <p:nvPr/>
        </p:nvGrpSpPr>
        <p:grpSpPr>
          <a:xfrm>
            <a:off x="7369721" y="1606945"/>
            <a:ext cx="360000" cy="360000"/>
            <a:chOff x="7482449" y="1590838"/>
            <a:chExt cx="360000" cy="360000"/>
          </a:xfrm>
        </p:grpSpPr>
        <p:sp>
          <p:nvSpPr>
            <p:cNvPr id="47" name="Oval 46">
              <a:extLst>
                <a:ext uri="{FF2B5EF4-FFF2-40B4-BE49-F238E27FC236}">
                  <a16:creationId xmlns:a16="http://schemas.microsoft.com/office/drawing/2014/main" id="{42BCDDBA-3D88-AD4E-AC2B-7A66E6199D46}"/>
                </a:ext>
              </a:extLst>
            </p:cNvPr>
            <p:cNvSpPr/>
            <p:nvPr/>
          </p:nvSpPr>
          <p:spPr>
            <a:xfrm>
              <a:off x="7482449" y="1590838"/>
              <a:ext cx="360000" cy="360000"/>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a:extLst>
                <a:ext uri="{FF2B5EF4-FFF2-40B4-BE49-F238E27FC236}">
                  <a16:creationId xmlns:a16="http://schemas.microsoft.com/office/drawing/2014/main" id="{AB337B57-8AC2-0D44-BD94-CA4DD089A319}"/>
                </a:ext>
              </a:extLst>
            </p:cNvPr>
            <p:cNvCxnSpPr>
              <a:cxnSpLocks/>
              <a:endCxn id="47" idx="6"/>
            </p:cNvCxnSpPr>
            <p:nvPr/>
          </p:nvCxnSpPr>
          <p:spPr>
            <a:xfrm>
              <a:off x="7662449" y="1770838"/>
              <a:ext cx="18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6" name="Group 55">
            <a:extLst>
              <a:ext uri="{FF2B5EF4-FFF2-40B4-BE49-F238E27FC236}">
                <a16:creationId xmlns:a16="http://schemas.microsoft.com/office/drawing/2014/main" id="{E7878807-8BDA-AA48-91CB-01BB57688427}"/>
              </a:ext>
            </a:extLst>
          </p:cNvPr>
          <p:cNvGrpSpPr/>
          <p:nvPr/>
        </p:nvGrpSpPr>
        <p:grpSpPr>
          <a:xfrm>
            <a:off x="7870809" y="1606945"/>
            <a:ext cx="360000" cy="360000"/>
            <a:chOff x="7482449" y="1590838"/>
            <a:chExt cx="360000" cy="360000"/>
          </a:xfrm>
        </p:grpSpPr>
        <p:sp>
          <p:nvSpPr>
            <p:cNvPr id="57" name="Oval 56">
              <a:extLst>
                <a:ext uri="{FF2B5EF4-FFF2-40B4-BE49-F238E27FC236}">
                  <a16:creationId xmlns:a16="http://schemas.microsoft.com/office/drawing/2014/main" id="{47E059E4-F174-2B4D-926D-3323AADDE3D9}"/>
                </a:ext>
              </a:extLst>
            </p:cNvPr>
            <p:cNvSpPr/>
            <p:nvPr/>
          </p:nvSpPr>
          <p:spPr>
            <a:xfrm>
              <a:off x="7482449" y="1590838"/>
              <a:ext cx="360000" cy="360000"/>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Connector 57">
              <a:extLst>
                <a:ext uri="{FF2B5EF4-FFF2-40B4-BE49-F238E27FC236}">
                  <a16:creationId xmlns:a16="http://schemas.microsoft.com/office/drawing/2014/main" id="{68DD0130-B8BF-2F42-9130-D3B2ADEEFDCC}"/>
                </a:ext>
              </a:extLst>
            </p:cNvPr>
            <p:cNvCxnSpPr>
              <a:cxnSpLocks/>
              <a:endCxn id="57" idx="6"/>
            </p:cNvCxnSpPr>
            <p:nvPr/>
          </p:nvCxnSpPr>
          <p:spPr>
            <a:xfrm>
              <a:off x="7662449" y="1770838"/>
              <a:ext cx="18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36BA37A4-F778-3F48-8838-90403D587A32}"/>
              </a:ext>
            </a:extLst>
          </p:cNvPr>
          <p:cNvGrpSpPr/>
          <p:nvPr/>
        </p:nvGrpSpPr>
        <p:grpSpPr>
          <a:xfrm>
            <a:off x="8371897" y="1606945"/>
            <a:ext cx="360000" cy="360000"/>
            <a:chOff x="6744943" y="1565645"/>
            <a:chExt cx="360000" cy="360000"/>
          </a:xfrm>
        </p:grpSpPr>
        <p:sp>
          <p:nvSpPr>
            <p:cNvPr id="60" name="Oval 59">
              <a:extLst>
                <a:ext uri="{FF2B5EF4-FFF2-40B4-BE49-F238E27FC236}">
                  <a16:creationId xmlns:a16="http://schemas.microsoft.com/office/drawing/2014/main" id="{3C90893F-20CF-914F-BB44-415248FEC04B}"/>
                </a:ext>
              </a:extLst>
            </p:cNvPr>
            <p:cNvSpPr/>
            <p:nvPr/>
          </p:nvSpPr>
          <p:spPr>
            <a:xfrm>
              <a:off x="6744943" y="1565645"/>
              <a:ext cx="360000" cy="360000"/>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a:extLst>
                <a:ext uri="{FF2B5EF4-FFF2-40B4-BE49-F238E27FC236}">
                  <a16:creationId xmlns:a16="http://schemas.microsoft.com/office/drawing/2014/main" id="{D3775C53-1BC4-8544-BF76-5BC68EEC41E9}"/>
                </a:ext>
              </a:extLst>
            </p:cNvPr>
            <p:cNvCxnSpPr>
              <a:cxnSpLocks/>
              <a:endCxn id="60" idx="6"/>
            </p:cNvCxnSpPr>
            <p:nvPr/>
          </p:nvCxnSpPr>
          <p:spPr>
            <a:xfrm>
              <a:off x="6924943" y="1745645"/>
              <a:ext cx="18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2" name="TextBox 61">
            <a:extLst>
              <a:ext uri="{FF2B5EF4-FFF2-40B4-BE49-F238E27FC236}">
                <a16:creationId xmlns:a16="http://schemas.microsoft.com/office/drawing/2014/main" id="{BF94C5D2-730A-D843-BB68-DD85A157828B}"/>
              </a:ext>
            </a:extLst>
          </p:cNvPr>
          <p:cNvSpPr txBox="1"/>
          <p:nvPr/>
        </p:nvSpPr>
        <p:spPr>
          <a:xfrm>
            <a:off x="9426240" y="1348290"/>
            <a:ext cx="761747" cy="646331"/>
          </a:xfrm>
          <a:prstGeom prst="rect">
            <a:avLst/>
          </a:prstGeom>
          <a:noFill/>
        </p:spPr>
        <p:txBody>
          <a:bodyPr wrap="none" rtlCol="0">
            <a:spAutoFit/>
          </a:bodyPr>
          <a:lstStyle/>
          <a:p>
            <a:r>
              <a:rPr lang="en-US" sz="3600" dirty="0">
                <a:latin typeface="Times" pitchFamily="2" charset="0"/>
              </a:rPr>
              <a:t>. . .</a:t>
            </a:r>
          </a:p>
        </p:txBody>
      </p:sp>
      <p:grpSp>
        <p:nvGrpSpPr>
          <p:cNvPr id="78" name="Group 77">
            <a:extLst>
              <a:ext uri="{FF2B5EF4-FFF2-40B4-BE49-F238E27FC236}">
                <a16:creationId xmlns:a16="http://schemas.microsoft.com/office/drawing/2014/main" id="{3D82D80A-DBA8-784A-ACA3-14CBE9EBF5D2}"/>
              </a:ext>
            </a:extLst>
          </p:cNvPr>
          <p:cNvGrpSpPr/>
          <p:nvPr/>
        </p:nvGrpSpPr>
        <p:grpSpPr>
          <a:xfrm>
            <a:off x="7393403" y="2648830"/>
            <a:ext cx="1874635" cy="360000"/>
            <a:chOff x="7482449" y="1590838"/>
            <a:chExt cx="1874635" cy="360000"/>
          </a:xfrm>
        </p:grpSpPr>
        <p:sp>
          <p:nvSpPr>
            <p:cNvPr id="79" name="Oval 78">
              <a:extLst>
                <a:ext uri="{FF2B5EF4-FFF2-40B4-BE49-F238E27FC236}">
                  <a16:creationId xmlns:a16="http://schemas.microsoft.com/office/drawing/2014/main" id="{1411F7A4-7DB5-F640-AB6F-7D08B88149EF}"/>
                </a:ext>
              </a:extLst>
            </p:cNvPr>
            <p:cNvSpPr/>
            <p:nvPr/>
          </p:nvSpPr>
          <p:spPr>
            <a:xfrm>
              <a:off x="7482449" y="1590838"/>
              <a:ext cx="360000" cy="360000"/>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0" name="Straight Connector 79">
              <a:extLst>
                <a:ext uri="{FF2B5EF4-FFF2-40B4-BE49-F238E27FC236}">
                  <a16:creationId xmlns:a16="http://schemas.microsoft.com/office/drawing/2014/main" id="{FF5EF5C2-2791-2C43-B3D2-966535EF4210}"/>
                </a:ext>
              </a:extLst>
            </p:cNvPr>
            <p:cNvCxnSpPr>
              <a:cxnSpLocks/>
            </p:cNvCxnSpPr>
            <p:nvPr/>
          </p:nvCxnSpPr>
          <p:spPr>
            <a:xfrm>
              <a:off x="9177084" y="1770838"/>
              <a:ext cx="18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1" name="Group 80">
            <a:extLst>
              <a:ext uri="{FF2B5EF4-FFF2-40B4-BE49-F238E27FC236}">
                <a16:creationId xmlns:a16="http://schemas.microsoft.com/office/drawing/2014/main" id="{F8E0557F-1803-634D-A6A6-027836EA17C0}"/>
              </a:ext>
            </a:extLst>
          </p:cNvPr>
          <p:cNvGrpSpPr/>
          <p:nvPr/>
        </p:nvGrpSpPr>
        <p:grpSpPr>
          <a:xfrm>
            <a:off x="7409499" y="2648830"/>
            <a:ext cx="844992" cy="360000"/>
            <a:chOff x="6997457" y="1590838"/>
            <a:chExt cx="844992" cy="360000"/>
          </a:xfrm>
        </p:grpSpPr>
        <p:sp>
          <p:nvSpPr>
            <p:cNvPr id="82" name="Oval 81">
              <a:extLst>
                <a:ext uri="{FF2B5EF4-FFF2-40B4-BE49-F238E27FC236}">
                  <a16:creationId xmlns:a16="http://schemas.microsoft.com/office/drawing/2014/main" id="{5E7050BA-5786-344F-80D4-2A2CA265C46E}"/>
                </a:ext>
              </a:extLst>
            </p:cNvPr>
            <p:cNvSpPr/>
            <p:nvPr/>
          </p:nvSpPr>
          <p:spPr>
            <a:xfrm>
              <a:off x="7482449" y="1590838"/>
              <a:ext cx="360000" cy="360000"/>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3" name="Straight Connector 82">
              <a:extLst>
                <a:ext uri="{FF2B5EF4-FFF2-40B4-BE49-F238E27FC236}">
                  <a16:creationId xmlns:a16="http://schemas.microsoft.com/office/drawing/2014/main" id="{F8381400-4776-F443-9EA2-04EE8D27D532}"/>
                </a:ext>
              </a:extLst>
            </p:cNvPr>
            <p:cNvCxnSpPr>
              <a:cxnSpLocks/>
            </p:cNvCxnSpPr>
            <p:nvPr/>
          </p:nvCxnSpPr>
          <p:spPr>
            <a:xfrm rot="1500000" flipH="1">
              <a:off x="6997457" y="1725678"/>
              <a:ext cx="18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4" name="Group 83">
            <a:extLst>
              <a:ext uri="{FF2B5EF4-FFF2-40B4-BE49-F238E27FC236}">
                <a16:creationId xmlns:a16="http://schemas.microsoft.com/office/drawing/2014/main" id="{AE463464-4600-B14B-84EC-7CBE2621E5D9}"/>
              </a:ext>
            </a:extLst>
          </p:cNvPr>
          <p:cNvGrpSpPr/>
          <p:nvPr/>
        </p:nvGrpSpPr>
        <p:grpSpPr>
          <a:xfrm>
            <a:off x="8074912" y="2648830"/>
            <a:ext cx="680667" cy="360000"/>
            <a:chOff x="6424276" y="1565645"/>
            <a:chExt cx="680667" cy="360000"/>
          </a:xfrm>
        </p:grpSpPr>
        <p:sp>
          <p:nvSpPr>
            <p:cNvPr id="85" name="Oval 84">
              <a:extLst>
                <a:ext uri="{FF2B5EF4-FFF2-40B4-BE49-F238E27FC236}">
                  <a16:creationId xmlns:a16="http://schemas.microsoft.com/office/drawing/2014/main" id="{0B55650F-3E6E-0C4C-A90E-41F7D2AC7A6E}"/>
                </a:ext>
              </a:extLst>
            </p:cNvPr>
            <p:cNvSpPr/>
            <p:nvPr/>
          </p:nvSpPr>
          <p:spPr>
            <a:xfrm>
              <a:off x="6744943" y="1565645"/>
              <a:ext cx="360000" cy="360000"/>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6" name="Straight Connector 85">
              <a:extLst>
                <a:ext uri="{FF2B5EF4-FFF2-40B4-BE49-F238E27FC236}">
                  <a16:creationId xmlns:a16="http://schemas.microsoft.com/office/drawing/2014/main" id="{12DCF0F2-BAAF-D448-B03A-FFD40F5F3707}"/>
                </a:ext>
              </a:extLst>
            </p:cNvPr>
            <p:cNvCxnSpPr>
              <a:cxnSpLocks/>
            </p:cNvCxnSpPr>
            <p:nvPr/>
          </p:nvCxnSpPr>
          <p:spPr>
            <a:xfrm flipV="1">
              <a:off x="6424276" y="1569189"/>
              <a:ext cx="0" cy="1865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a16="http://schemas.microsoft.com/office/drawing/2014/main" id="{DAC21FBD-BAA4-B247-A55F-1B5B0FBA2AA0}"/>
              </a:ext>
            </a:extLst>
          </p:cNvPr>
          <p:cNvGrpSpPr/>
          <p:nvPr/>
        </p:nvGrpSpPr>
        <p:grpSpPr>
          <a:xfrm>
            <a:off x="8868120" y="1606945"/>
            <a:ext cx="360000" cy="360000"/>
            <a:chOff x="6744943" y="1565645"/>
            <a:chExt cx="360000" cy="360000"/>
          </a:xfrm>
        </p:grpSpPr>
        <p:sp>
          <p:nvSpPr>
            <p:cNvPr id="89" name="Oval 88">
              <a:extLst>
                <a:ext uri="{FF2B5EF4-FFF2-40B4-BE49-F238E27FC236}">
                  <a16:creationId xmlns:a16="http://schemas.microsoft.com/office/drawing/2014/main" id="{93691B45-C87C-DD48-B661-1258D62DC36E}"/>
                </a:ext>
              </a:extLst>
            </p:cNvPr>
            <p:cNvSpPr/>
            <p:nvPr/>
          </p:nvSpPr>
          <p:spPr>
            <a:xfrm>
              <a:off x="6744943" y="1565645"/>
              <a:ext cx="360000" cy="360000"/>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0" name="Straight Connector 89">
              <a:extLst>
                <a:ext uri="{FF2B5EF4-FFF2-40B4-BE49-F238E27FC236}">
                  <a16:creationId xmlns:a16="http://schemas.microsoft.com/office/drawing/2014/main" id="{225B7270-3432-244A-8D91-513ED4D5EDA9}"/>
                </a:ext>
              </a:extLst>
            </p:cNvPr>
            <p:cNvCxnSpPr>
              <a:cxnSpLocks/>
              <a:endCxn id="89" idx="6"/>
            </p:cNvCxnSpPr>
            <p:nvPr/>
          </p:nvCxnSpPr>
          <p:spPr>
            <a:xfrm>
              <a:off x="6924943" y="1745645"/>
              <a:ext cx="18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1" name="Group 90">
            <a:extLst>
              <a:ext uri="{FF2B5EF4-FFF2-40B4-BE49-F238E27FC236}">
                <a16:creationId xmlns:a16="http://schemas.microsoft.com/office/drawing/2014/main" id="{9F1CF4B8-E3C5-674B-A43D-C23CE671019C}"/>
              </a:ext>
            </a:extLst>
          </p:cNvPr>
          <p:cNvGrpSpPr/>
          <p:nvPr/>
        </p:nvGrpSpPr>
        <p:grpSpPr>
          <a:xfrm>
            <a:off x="8558245" y="2648830"/>
            <a:ext cx="737334" cy="360000"/>
            <a:chOff x="6367609" y="1565645"/>
            <a:chExt cx="737334" cy="360000"/>
          </a:xfrm>
        </p:grpSpPr>
        <p:sp>
          <p:nvSpPr>
            <p:cNvPr id="92" name="Oval 91">
              <a:extLst>
                <a:ext uri="{FF2B5EF4-FFF2-40B4-BE49-F238E27FC236}">
                  <a16:creationId xmlns:a16="http://schemas.microsoft.com/office/drawing/2014/main" id="{8344383F-2E5C-5445-AC98-F06617634097}"/>
                </a:ext>
              </a:extLst>
            </p:cNvPr>
            <p:cNvSpPr/>
            <p:nvPr/>
          </p:nvSpPr>
          <p:spPr>
            <a:xfrm>
              <a:off x="6744943" y="1565645"/>
              <a:ext cx="360000" cy="360000"/>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3" name="Straight Connector 92">
              <a:extLst>
                <a:ext uri="{FF2B5EF4-FFF2-40B4-BE49-F238E27FC236}">
                  <a16:creationId xmlns:a16="http://schemas.microsoft.com/office/drawing/2014/main" id="{B323A0DE-A9D7-E247-8DF6-06C19D50498F}"/>
                </a:ext>
              </a:extLst>
            </p:cNvPr>
            <p:cNvCxnSpPr>
              <a:cxnSpLocks/>
            </p:cNvCxnSpPr>
            <p:nvPr/>
          </p:nvCxnSpPr>
          <p:spPr>
            <a:xfrm flipV="1">
              <a:off x="6367609" y="1614413"/>
              <a:ext cx="127280" cy="13123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6" name="TextBox 95">
            <a:extLst>
              <a:ext uri="{FF2B5EF4-FFF2-40B4-BE49-F238E27FC236}">
                <a16:creationId xmlns:a16="http://schemas.microsoft.com/office/drawing/2014/main" id="{784E6954-6D9E-A44E-A452-DF7AADCCD604}"/>
              </a:ext>
            </a:extLst>
          </p:cNvPr>
          <p:cNvSpPr txBox="1"/>
          <p:nvPr/>
        </p:nvSpPr>
        <p:spPr>
          <a:xfrm>
            <a:off x="9471178" y="2362499"/>
            <a:ext cx="761747" cy="646331"/>
          </a:xfrm>
          <a:prstGeom prst="rect">
            <a:avLst/>
          </a:prstGeom>
          <a:noFill/>
        </p:spPr>
        <p:txBody>
          <a:bodyPr wrap="none" rtlCol="0">
            <a:spAutoFit/>
          </a:bodyPr>
          <a:lstStyle/>
          <a:p>
            <a:r>
              <a:rPr lang="en-US" sz="3600" dirty="0">
                <a:latin typeface="Times" pitchFamily="2" charset="0"/>
              </a:rPr>
              <a:t>. . .</a:t>
            </a:r>
          </a:p>
        </p:txBody>
      </p:sp>
      <p:sp>
        <p:nvSpPr>
          <p:cNvPr id="8" name="TextBox 7">
            <a:extLst>
              <a:ext uri="{FF2B5EF4-FFF2-40B4-BE49-F238E27FC236}">
                <a16:creationId xmlns:a16="http://schemas.microsoft.com/office/drawing/2014/main" id="{7F28A2F4-888A-DB40-A561-3A049C8DB21C}"/>
              </a:ext>
            </a:extLst>
          </p:cNvPr>
          <p:cNvSpPr txBox="1"/>
          <p:nvPr/>
        </p:nvSpPr>
        <p:spPr>
          <a:xfrm>
            <a:off x="10736758" y="1751779"/>
            <a:ext cx="591829" cy="461665"/>
          </a:xfrm>
          <a:prstGeom prst="rect">
            <a:avLst/>
          </a:prstGeom>
          <a:noFill/>
        </p:spPr>
        <p:txBody>
          <a:bodyPr wrap="none" rtlCol="0">
            <a:spAutoFit/>
          </a:bodyPr>
          <a:lstStyle/>
          <a:p>
            <a:r>
              <a:rPr lang="en-US" sz="2400" dirty="0">
                <a:latin typeface="+mj-lt"/>
              </a:rPr>
              <a:t> (1)</a:t>
            </a:r>
          </a:p>
        </p:txBody>
      </p:sp>
      <p:grpSp>
        <p:nvGrpSpPr>
          <p:cNvPr id="7" name="Group 6">
            <a:extLst>
              <a:ext uri="{FF2B5EF4-FFF2-40B4-BE49-F238E27FC236}">
                <a16:creationId xmlns:a16="http://schemas.microsoft.com/office/drawing/2014/main" id="{0A58BB20-0678-A742-B60E-6B4D411D2EF4}"/>
              </a:ext>
            </a:extLst>
          </p:cNvPr>
          <p:cNvGrpSpPr/>
          <p:nvPr/>
        </p:nvGrpSpPr>
        <p:grpSpPr>
          <a:xfrm>
            <a:off x="292378" y="5060676"/>
            <a:ext cx="11033993" cy="1495730"/>
            <a:chOff x="294593" y="4863728"/>
            <a:chExt cx="11033993" cy="1495730"/>
          </a:xfrm>
        </p:grpSpPr>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FBB883BB-5779-9B45-9396-20892C58EF9F}"/>
                    </a:ext>
                  </a:extLst>
                </p:cNvPr>
                <p:cNvSpPr/>
                <p:nvPr/>
              </p:nvSpPr>
              <p:spPr>
                <a:xfrm>
                  <a:off x="294593" y="4863728"/>
                  <a:ext cx="10070321" cy="1495730"/>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2060"/>
                            </a:solidFill>
                            <a:latin typeface="Cambria Math" panose="02040503050406030204" pitchFamily="18" charset="0"/>
                            <a:ea typeface="Cambria Math" panose="02040503050406030204" pitchFamily="18" charset="0"/>
                          </a:rPr>
                          <m:t>𝑥</m:t>
                        </m:r>
                        <m:r>
                          <a:rPr lang="en-US" sz="2400" b="0" i="1" smtClean="0">
                            <a:solidFill>
                              <a:srgbClr val="002060"/>
                            </a:solidFill>
                            <a:latin typeface="Cambria Math" panose="02040503050406030204" pitchFamily="18" charset="0"/>
                            <a:ea typeface="Cambria Math" panose="02040503050406030204" pitchFamily="18" charset="0"/>
                          </a:rPr>
                          <m:t>=</m:t>
                        </m:r>
                        <m:d>
                          <m:dPr>
                            <m:ctrlPr>
                              <a:rPr lang="en-US" sz="2400" i="1" smtClean="0">
                                <a:solidFill>
                                  <a:srgbClr val="002060"/>
                                </a:solidFill>
                                <a:latin typeface="Cambria Math" panose="02040503050406030204" pitchFamily="18" charset="0"/>
                                <a:ea typeface="Cambria Math" panose="02040503050406030204" pitchFamily="18" charset="0"/>
                              </a:rPr>
                            </m:ctrlPr>
                          </m:dPr>
                          <m:e>
                            <m:m>
                              <m:mPr>
                                <m:mcs>
                                  <m:mc>
                                    <m:mcPr>
                                      <m:count m:val="1"/>
                                      <m:mcJc m:val="center"/>
                                    </m:mcPr>
                                  </m:mc>
                                </m:mcs>
                                <m:ctrlPr>
                                  <a:rPr lang="en-US" sz="2400" i="1" smtClean="0">
                                    <a:solidFill>
                                      <a:srgbClr val="002060"/>
                                    </a:solidFill>
                                    <a:latin typeface="Cambria Math" panose="02040503050406030204" pitchFamily="18" charset="0"/>
                                    <a:ea typeface="Cambria Math" panose="02040503050406030204" pitchFamily="18" charset="0"/>
                                  </a:rPr>
                                </m:ctrlPr>
                              </m:mPr>
                              <m:mr>
                                <m:e>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en-US" sz="2400" b="0" i="1" smtClean="0">
                                          <a:solidFill>
                                            <a:srgbClr val="002060"/>
                                          </a:solidFill>
                                          <a:latin typeface="Cambria Math" panose="02040503050406030204" pitchFamily="18" charset="0"/>
                                          <a:ea typeface="Cambria Math" panose="02040503050406030204" pitchFamily="18" charset="0"/>
                                        </a:rPr>
                                        <m:t>𝑥</m:t>
                                      </m:r>
                                    </m:e>
                                    <m:sub>
                                      <m:r>
                                        <a:rPr lang="en-US" sz="2400" b="0" i="1" smtClean="0">
                                          <a:solidFill>
                                            <a:srgbClr val="002060"/>
                                          </a:solidFill>
                                          <a:latin typeface="Cambria Math" panose="02040503050406030204" pitchFamily="18" charset="0"/>
                                          <a:ea typeface="Cambria Math" panose="02040503050406030204" pitchFamily="18" charset="0"/>
                                        </a:rPr>
                                        <m:t>0</m:t>
                                      </m:r>
                                    </m:sub>
                                  </m:sSub>
                                </m:e>
                              </m:mr>
                              <m:mr>
                                <m:e>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b="0" i="1" smtClean="0">
                                          <a:solidFill>
                                            <a:srgbClr val="002060"/>
                                          </a:solidFill>
                                          <a:latin typeface="Cambria Math" panose="02040503050406030204" pitchFamily="18" charset="0"/>
                                          <a:ea typeface="Cambria Math" panose="02040503050406030204" pitchFamily="18" charset="0"/>
                                        </a:rPr>
                                        <m:t>𝑥</m:t>
                                      </m:r>
                                    </m:e>
                                    <m:sub>
                                      <m:r>
                                        <a:rPr lang="en-US" sz="2400" b="0" i="1" smtClean="0">
                                          <a:solidFill>
                                            <a:srgbClr val="002060"/>
                                          </a:solidFill>
                                          <a:latin typeface="Cambria Math" panose="02040503050406030204" pitchFamily="18" charset="0"/>
                                          <a:ea typeface="Cambria Math" panose="02040503050406030204" pitchFamily="18" charset="0"/>
                                        </a:rPr>
                                        <m:t>1</m:t>
                                      </m:r>
                                    </m:sub>
                                  </m:sSub>
                                </m:e>
                              </m:mr>
                              <m:mr>
                                <m:e>
                                  <m:r>
                                    <a:rPr lang="en-US" sz="2400" i="1" smtClean="0">
                                      <a:solidFill>
                                        <a:srgbClr val="002060"/>
                                      </a:solidFill>
                                      <a:latin typeface="Cambria Math" panose="02040503050406030204" pitchFamily="18" charset="0"/>
                                      <a:ea typeface="Cambria Math" panose="02040503050406030204" pitchFamily="18" charset="0"/>
                                    </a:rPr>
                                    <m:t>⋮</m:t>
                                  </m:r>
                                </m:e>
                              </m:mr>
                              <m:mr>
                                <m:e>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b="0" i="1" smtClean="0">
                                          <a:solidFill>
                                            <a:srgbClr val="002060"/>
                                          </a:solidFill>
                                          <a:latin typeface="Cambria Math" panose="02040503050406030204" pitchFamily="18" charset="0"/>
                                          <a:ea typeface="Cambria Math" panose="02040503050406030204" pitchFamily="18" charset="0"/>
                                        </a:rPr>
                                        <m:t>𝑥</m:t>
                                      </m:r>
                                    </m:e>
                                    <m:sub>
                                      <m:r>
                                        <a:rPr lang="sr-Latn-RS" sz="2400" b="0" i="1" smtClean="0">
                                          <a:solidFill>
                                            <a:srgbClr val="002060"/>
                                          </a:solidFill>
                                          <a:latin typeface="Cambria Math" panose="02040503050406030204" pitchFamily="18" charset="0"/>
                                          <a:ea typeface="Cambria Math" panose="02040503050406030204" pitchFamily="18" charset="0"/>
                                        </a:rPr>
                                        <m:t>𝑁</m:t>
                                      </m:r>
                                      <m:r>
                                        <a:rPr lang="en-US" sz="2400" b="0" i="1" smtClean="0">
                                          <a:solidFill>
                                            <a:srgbClr val="002060"/>
                                          </a:solidFill>
                                          <a:latin typeface="Cambria Math" panose="02040503050406030204" pitchFamily="18" charset="0"/>
                                          <a:ea typeface="Cambria Math" panose="02040503050406030204" pitchFamily="18" charset="0"/>
                                        </a:rPr>
                                        <m:t>−1</m:t>
                                      </m:r>
                                    </m:sub>
                                  </m:sSub>
                                </m:e>
                              </m:mr>
                            </m:m>
                          </m:e>
                        </m:d>
                        <m:r>
                          <a:rPr lang="en-US" sz="2400" i="1" smtClean="0">
                            <a:solidFill>
                              <a:srgbClr val="002060"/>
                            </a:solidFill>
                            <a:latin typeface="Cambria Math" panose="02040503050406030204" pitchFamily="18" charset="0"/>
                            <a:ea typeface="Cambria Math" panose="02040503050406030204" pitchFamily="18" charset="0"/>
                          </a:rPr>
                          <m:t>⟼</m:t>
                        </m:r>
                        <m:acc>
                          <m:accPr>
                            <m:chr m:val="̃"/>
                            <m:ctrlPr>
                              <a:rPr lang="en-US" sz="2400" b="0" i="1" smtClean="0">
                                <a:solidFill>
                                  <a:srgbClr val="002060"/>
                                </a:solidFill>
                                <a:latin typeface="Cambria Math" panose="02040503050406030204" pitchFamily="18" charset="0"/>
                                <a:ea typeface="Cambria Math" panose="02040503050406030204" pitchFamily="18" charset="0"/>
                              </a:rPr>
                            </m:ctrlPr>
                          </m:accPr>
                          <m:e>
                            <m:r>
                              <a:rPr lang="en-US" sz="2400" b="0" i="1" smtClean="0">
                                <a:solidFill>
                                  <a:srgbClr val="002060"/>
                                </a:solidFill>
                                <a:latin typeface="Cambria Math" panose="02040503050406030204" pitchFamily="18" charset="0"/>
                                <a:ea typeface="Cambria Math" panose="02040503050406030204" pitchFamily="18" charset="0"/>
                              </a:rPr>
                              <m:t>𝑥</m:t>
                            </m:r>
                          </m:e>
                        </m:acc>
                        <m:r>
                          <a:rPr lang="en-US" sz="2400" i="1">
                            <a:solidFill>
                              <a:srgbClr val="002060"/>
                            </a:solidFill>
                            <a:latin typeface="Cambria Math" panose="02040503050406030204" pitchFamily="18" charset="0"/>
                            <a:ea typeface="Cambria Math" panose="02040503050406030204" pitchFamily="18" charset="0"/>
                          </a:rPr>
                          <m:t>=</m:t>
                        </m:r>
                        <m:d>
                          <m:dPr>
                            <m:ctrlPr>
                              <a:rPr lang="en-US" sz="2400" i="1">
                                <a:solidFill>
                                  <a:srgbClr val="002060"/>
                                </a:solidFill>
                                <a:latin typeface="Cambria Math" panose="02040503050406030204" pitchFamily="18" charset="0"/>
                                <a:ea typeface="Cambria Math" panose="02040503050406030204" pitchFamily="18" charset="0"/>
                              </a:rPr>
                            </m:ctrlPr>
                          </m:dPr>
                          <m:e>
                            <m:m>
                              <m:mPr>
                                <m:mcs>
                                  <m:mc>
                                    <m:mcPr>
                                      <m:count m:val="1"/>
                                      <m:mcJc m:val="center"/>
                                    </m:mcPr>
                                  </m:mc>
                                </m:mcs>
                                <m:ctrlPr>
                                  <a:rPr lang="en-US" sz="2400" i="1">
                                    <a:solidFill>
                                      <a:srgbClr val="002060"/>
                                    </a:solidFill>
                                    <a:latin typeface="Cambria Math" panose="02040503050406030204" pitchFamily="18" charset="0"/>
                                    <a:ea typeface="Cambria Math" panose="02040503050406030204" pitchFamily="18" charset="0"/>
                                  </a:rPr>
                                </m:ctrlPr>
                              </m:mPr>
                              <m:mr>
                                <m:e>
                                  <m:sSub>
                                    <m:sSubPr>
                                      <m:ctrlPr>
                                        <a:rPr lang="en-US" sz="2400" i="1">
                                          <a:solidFill>
                                            <a:srgbClr val="002060"/>
                                          </a:solidFill>
                                          <a:latin typeface="Cambria Math" panose="02040503050406030204" pitchFamily="18" charset="0"/>
                                          <a:ea typeface="Cambria Math" panose="02040503050406030204" pitchFamily="18" charset="0"/>
                                        </a:rPr>
                                      </m:ctrlPr>
                                    </m:sSubPr>
                                    <m:e>
                                      <m:acc>
                                        <m:accPr>
                                          <m:chr m:val="̃"/>
                                          <m:ctrlPr>
                                            <a:rPr lang="en-US" sz="2400" b="0" i="1" smtClean="0">
                                              <a:solidFill>
                                                <a:srgbClr val="002060"/>
                                              </a:solidFill>
                                              <a:latin typeface="Cambria Math" panose="02040503050406030204" pitchFamily="18" charset="0"/>
                                              <a:ea typeface="Cambria Math" panose="02040503050406030204" pitchFamily="18" charset="0"/>
                                            </a:rPr>
                                          </m:ctrlPr>
                                        </m:accPr>
                                        <m:e>
                                          <m:r>
                                            <a:rPr lang="en-US" sz="2400" b="0" i="1" smtClean="0">
                                              <a:solidFill>
                                                <a:srgbClr val="002060"/>
                                              </a:solidFill>
                                              <a:latin typeface="Cambria Math" panose="02040503050406030204" pitchFamily="18" charset="0"/>
                                              <a:ea typeface="Cambria Math" panose="02040503050406030204" pitchFamily="18" charset="0"/>
                                            </a:rPr>
                                            <m:t>𝑥</m:t>
                                          </m:r>
                                        </m:e>
                                      </m:acc>
                                    </m:e>
                                    <m:sub>
                                      <m:r>
                                        <a:rPr lang="en-US" sz="2400" i="1">
                                          <a:solidFill>
                                            <a:srgbClr val="002060"/>
                                          </a:solidFill>
                                          <a:latin typeface="Cambria Math" panose="02040503050406030204" pitchFamily="18" charset="0"/>
                                          <a:ea typeface="Cambria Math" panose="02040503050406030204" pitchFamily="18" charset="0"/>
                                        </a:rPr>
                                        <m:t>0</m:t>
                                      </m:r>
                                    </m:sub>
                                  </m:sSub>
                                </m:e>
                              </m:mr>
                              <m:mr>
                                <m:e>
                                  <m:sSub>
                                    <m:sSubPr>
                                      <m:ctrlPr>
                                        <a:rPr lang="en-US" sz="2400" i="1">
                                          <a:solidFill>
                                            <a:srgbClr val="002060"/>
                                          </a:solidFill>
                                          <a:latin typeface="Cambria Math" panose="02040503050406030204" pitchFamily="18" charset="0"/>
                                          <a:ea typeface="Cambria Math" panose="02040503050406030204" pitchFamily="18" charset="0"/>
                                        </a:rPr>
                                      </m:ctrlPr>
                                    </m:sSubPr>
                                    <m:e>
                                      <m:acc>
                                        <m:accPr>
                                          <m:chr m:val="̃"/>
                                          <m:ctrlPr>
                                            <a:rPr lang="en-US" sz="2400" b="0" i="1" smtClean="0">
                                              <a:solidFill>
                                                <a:srgbClr val="002060"/>
                                              </a:solidFill>
                                              <a:latin typeface="Cambria Math" panose="02040503050406030204" pitchFamily="18" charset="0"/>
                                              <a:ea typeface="Cambria Math" panose="02040503050406030204" pitchFamily="18" charset="0"/>
                                            </a:rPr>
                                          </m:ctrlPr>
                                        </m:accPr>
                                        <m:e>
                                          <m:r>
                                            <a:rPr lang="en-US" sz="2400" b="0" i="1" smtClean="0">
                                              <a:solidFill>
                                                <a:srgbClr val="002060"/>
                                              </a:solidFill>
                                              <a:latin typeface="Cambria Math" panose="02040503050406030204" pitchFamily="18" charset="0"/>
                                              <a:ea typeface="Cambria Math" panose="02040503050406030204" pitchFamily="18" charset="0"/>
                                            </a:rPr>
                                            <m:t>𝑥</m:t>
                                          </m:r>
                                        </m:e>
                                      </m:acc>
                                    </m:e>
                                    <m:sub>
                                      <m:r>
                                        <a:rPr lang="en-US" sz="2400" i="1">
                                          <a:solidFill>
                                            <a:srgbClr val="002060"/>
                                          </a:solidFill>
                                          <a:latin typeface="Cambria Math" panose="02040503050406030204" pitchFamily="18" charset="0"/>
                                          <a:ea typeface="Cambria Math" panose="02040503050406030204" pitchFamily="18" charset="0"/>
                                        </a:rPr>
                                        <m:t>1</m:t>
                                      </m:r>
                                    </m:sub>
                                  </m:sSub>
                                </m:e>
                              </m:mr>
                              <m:mr>
                                <m:e>
                                  <m:r>
                                    <a:rPr lang="en-US" sz="2400" i="1">
                                      <a:solidFill>
                                        <a:srgbClr val="002060"/>
                                      </a:solidFill>
                                      <a:latin typeface="Cambria Math" panose="02040503050406030204" pitchFamily="18" charset="0"/>
                                      <a:ea typeface="Cambria Math" panose="02040503050406030204" pitchFamily="18" charset="0"/>
                                    </a:rPr>
                                    <m:t>⋮</m:t>
                                  </m:r>
                                </m:e>
                              </m:mr>
                              <m:mr>
                                <m:e>
                                  <m:sSub>
                                    <m:sSubPr>
                                      <m:ctrlPr>
                                        <a:rPr lang="en-US" sz="2400" i="1">
                                          <a:solidFill>
                                            <a:srgbClr val="002060"/>
                                          </a:solidFill>
                                          <a:latin typeface="Cambria Math" panose="02040503050406030204" pitchFamily="18" charset="0"/>
                                          <a:ea typeface="Cambria Math" panose="02040503050406030204" pitchFamily="18" charset="0"/>
                                        </a:rPr>
                                      </m:ctrlPr>
                                    </m:sSubPr>
                                    <m:e>
                                      <m:acc>
                                        <m:accPr>
                                          <m:chr m:val="̃"/>
                                          <m:ctrlPr>
                                            <a:rPr lang="en-US" sz="2400" b="0" i="1" smtClean="0">
                                              <a:solidFill>
                                                <a:srgbClr val="002060"/>
                                              </a:solidFill>
                                              <a:latin typeface="Cambria Math" panose="02040503050406030204" pitchFamily="18" charset="0"/>
                                              <a:ea typeface="Cambria Math" panose="02040503050406030204" pitchFamily="18" charset="0"/>
                                            </a:rPr>
                                          </m:ctrlPr>
                                        </m:accPr>
                                        <m:e>
                                          <m:r>
                                            <a:rPr lang="en-US" sz="2400" b="0" i="1" smtClean="0">
                                              <a:solidFill>
                                                <a:srgbClr val="002060"/>
                                              </a:solidFill>
                                              <a:latin typeface="Cambria Math" panose="02040503050406030204" pitchFamily="18" charset="0"/>
                                              <a:ea typeface="Cambria Math" panose="02040503050406030204" pitchFamily="18" charset="0"/>
                                            </a:rPr>
                                            <m:t>𝑥</m:t>
                                          </m:r>
                                        </m:e>
                                      </m:acc>
                                    </m:e>
                                    <m:sub>
                                      <m:r>
                                        <a:rPr lang="sr-Latn-RS" sz="2400" b="0" i="1" smtClean="0">
                                          <a:solidFill>
                                            <a:srgbClr val="002060"/>
                                          </a:solidFill>
                                          <a:latin typeface="Cambria Math" panose="02040503050406030204" pitchFamily="18" charset="0"/>
                                          <a:ea typeface="Cambria Math" panose="02040503050406030204" pitchFamily="18" charset="0"/>
                                        </a:rPr>
                                        <m:t>𝑁</m:t>
                                      </m:r>
                                      <m:r>
                                        <a:rPr lang="en-US" sz="2400" i="1">
                                          <a:solidFill>
                                            <a:srgbClr val="002060"/>
                                          </a:solidFill>
                                          <a:latin typeface="Cambria Math" panose="02040503050406030204" pitchFamily="18" charset="0"/>
                                          <a:ea typeface="Cambria Math" panose="02040503050406030204" pitchFamily="18" charset="0"/>
                                        </a:rPr>
                                        <m:t>−1</m:t>
                                      </m:r>
                                    </m:sub>
                                  </m:sSub>
                                </m:e>
                              </m:mr>
                            </m:m>
                          </m:e>
                        </m:d>
                        <m:r>
                          <a:rPr lang="en-US" sz="2400" b="0" i="1" smtClean="0">
                            <a:solidFill>
                              <a:srgbClr val="002060"/>
                            </a:solidFill>
                            <a:latin typeface="Cambria Math" panose="02040503050406030204" pitchFamily="18" charset="0"/>
                            <a:ea typeface="Cambria Math" panose="02040503050406030204" pitchFamily="18" charset="0"/>
                          </a:rPr>
                          <m:t>,  </m:t>
                        </m:r>
                        <m:sSub>
                          <m:sSubPr>
                            <m:ctrlPr>
                              <a:rPr lang="en-US" sz="2400" i="1">
                                <a:latin typeface="Cambria Math" panose="02040503050406030204" pitchFamily="18" charset="0"/>
                                <a:ea typeface="Cambria Math" panose="02040503050406030204" pitchFamily="18" charset="0"/>
                              </a:rPr>
                            </m:ctrlPr>
                          </m:sSubPr>
                          <m:e>
                            <m:acc>
                              <m:accPr>
                                <m:chr m:val="̃"/>
                                <m:ctrlPr>
                                  <a:rPr lang="en-US" sz="2400" i="1">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𝑥</m:t>
                                </m:r>
                              </m:e>
                            </m:acc>
                          </m:e>
                          <m:sub>
                            <m:r>
                              <a:rPr lang="en-US" sz="2400" i="1">
                                <a:latin typeface="Cambria Math" panose="02040503050406030204" pitchFamily="18" charset="0"/>
                                <a:ea typeface="Cambria Math" panose="02040503050406030204" pitchFamily="18" charset="0"/>
                              </a:rPr>
                              <m:t>𝑘</m:t>
                            </m:r>
                          </m:sub>
                        </m:sSub>
                        <m:r>
                          <a:rPr lang="en-US" sz="2400" i="1">
                            <a:latin typeface="Cambria Math" panose="02040503050406030204" pitchFamily="18" charset="0"/>
                            <a:ea typeface="Cambria Math" panose="02040503050406030204" pitchFamily="18" charset="0"/>
                          </a:rPr>
                          <m:t>=</m:t>
                        </m:r>
                        <m:nary>
                          <m:naryPr>
                            <m:chr m:val="∑"/>
                            <m:ctrlPr>
                              <a:rPr lang="en-US" sz="2400" i="1">
                                <a:latin typeface="Cambria Math" panose="02040503050406030204" pitchFamily="18" charset="0"/>
                                <a:ea typeface="Cambria Math" panose="02040503050406030204" pitchFamily="18" charset="0"/>
                              </a:rPr>
                            </m:ctrlPr>
                          </m:naryPr>
                          <m:sub>
                            <m:r>
                              <a:rPr lang="en-US" sz="2400" i="1">
                                <a:latin typeface="Cambria Math" panose="02040503050406030204" pitchFamily="18" charset="0"/>
                                <a:ea typeface="Cambria Math" panose="02040503050406030204" pitchFamily="18" charset="0"/>
                              </a:rPr>
                              <m:t>𝑗</m:t>
                            </m:r>
                            <m:r>
                              <a:rPr lang="en-US" sz="2400" i="1">
                                <a:latin typeface="Cambria Math" panose="02040503050406030204" pitchFamily="18" charset="0"/>
                                <a:ea typeface="Cambria Math" panose="02040503050406030204" pitchFamily="18" charset="0"/>
                              </a:rPr>
                              <m:t>=0</m:t>
                            </m:r>
                          </m:sub>
                          <m:sup>
                            <m:r>
                              <a:rPr lang="en-US" sz="2400" i="1">
                                <a:latin typeface="Cambria Math" panose="02040503050406030204" pitchFamily="18" charset="0"/>
                                <a:ea typeface="Cambria Math" panose="02040503050406030204" pitchFamily="18" charset="0"/>
                              </a:rPr>
                              <m:t>𝑛</m:t>
                            </m:r>
                            <m:r>
                              <a:rPr lang="en-US" sz="2400" i="1">
                                <a:latin typeface="Cambria Math" panose="02040503050406030204" pitchFamily="18" charset="0"/>
                                <a:ea typeface="Cambria Math" panose="02040503050406030204" pitchFamily="18" charset="0"/>
                              </a:rPr>
                              <m:t>−1</m:t>
                            </m:r>
                          </m:sup>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i="1">
                                    <a:latin typeface="Cambria Math" panose="02040503050406030204" pitchFamily="18" charset="0"/>
                                    <a:ea typeface="Cambria Math" panose="02040503050406030204" pitchFamily="18" charset="0"/>
                                  </a:rPr>
                                  <m:t>𝑗</m:t>
                                </m:r>
                              </m:sub>
                            </m:sSub>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𝜔</m:t>
                                </m:r>
                              </m:e>
                              <m:sub/>
                              <m:sup>
                                <m:r>
                                  <a:rPr lang="en-US" sz="2400" i="1">
                                    <a:latin typeface="Cambria Math" panose="02040503050406030204" pitchFamily="18" charset="0"/>
                                    <a:ea typeface="Cambria Math" panose="02040503050406030204" pitchFamily="18" charset="0"/>
                                  </a:rPr>
                                  <m:t>𝑗𝑘</m:t>
                                </m:r>
                              </m:sup>
                            </m:sSubSup>
                            <m:r>
                              <a:rPr lang="en-US" sz="2400" i="1">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 </m:t>
                            </m:r>
                            <m:d>
                              <m:dPr>
                                <m:begChr m:val="{"/>
                                <m:endChr m:val=""/>
                                <m:ctrlPr>
                                  <a:rPr lang="en-US" sz="2400" i="1">
                                    <a:latin typeface="Cambria Math" panose="02040503050406030204" pitchFamily="18" charset="0"/>
                                    <a:ea typeface="Cambria Math" panose="02040503050406030204" pitchFamily="18" charset="0"/>
                                  </a:rPr>
                                </m:ctrlPr>
                              </m:dPr>
                              <m:e>
                                <m:m>
                                  <m:mPr>
                                    <m:mcs>
                                      <m:mc>
                                        <m:mcPr>
                                          <m:count m:val="1"/>
                                          <m:mcJc m:val="center"/>
                                        </m:mcPr>
                                      </m:mc>
                                    </m:mcs>
                                    <m:ctrlPr>
                                      <a:rPr lang="en-US" sz="2400" i="1">
                                        <a:latin typeface="Cambria Math" panose="02040503050406030204" pitchFamily="18" charset="0"/>
                                        <a:ea typeface="Cambria Math" panose="02040503050406030204" pitchFamily="18" charset="0"/>
                                      </a:rPr>
                                    </m:ctrlPr>
                                  </m:mPr>
                                  <m:mr>
                                    <m:e>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 </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𝜔</m:t>
                                              </m:r>
                                            </m:e>
                                            <m:sub/>
                                          </m:s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𝑒</m:t>
                                          </m:r>
                                        </m:e>
                                        <m:sup>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num>
                                            <m:den>
                                              <m:r>
                                                <a:rPr lang="sr-Latn-RS" sz="2400" b="0" i="1" smtClean="0">
                                                  <a:latin typeface="Cambria Math" panose="02040503050406030204" pitchFamily="18" charset="0"/>
                                                  <a:ea typeface="Cambria Math" panose="02040503050406030204" pitchFamily="18" charset="0"/>
                                                </a:rPr>
                                                <m:t>𝑁</m:t>
                                              </m:r>
                                            </m:den>
                                          </m:f>
                                        </m:sup>
                                      </m:sSup>
                                      <m:r>
                                        <a:rPr lang="en-US" sz="2400" i="1">
                                          <a:latin typeface="Cambria Math" panose="02040503050406030204" pitchFamily="18" charset="0"/>
                                          <a:ea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  </m:t>
                                      </m:r>
                                      <m:r>
                                        <a:rPr lang="sr-Latn-RS" sz="2400" b="0" i="1" smtClean="0">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       </m:t>
                                      </m:r>
                                    </m:e>
                                  </m:mr>
                                  <m:mr>
                                    <m:e>
                                      <m:r>
                                        <a:rPr lang="en-US" sz="2400" i="1">
                                          <a:latin typeface="Cambria Math" panose="02040503050406030204" pitchFamily="18" charset="0"/>
                                          <a:ea typeface="Cambria Math" panose="02040503050406030204" pitchFamily="18" charset="0"/>
                                        </a:rPr>
                                        <m:t>𝑘</m:t>
                                      </m:r>
                                      <m:r>
                                        <a:rPr lang="en-US" sz="2400" i="1">
                                          <a:latin typeface="Cambria Math" panose="02040503050406030204" pitchFamily="18" charset="0"/>
                                          <a:ea typeface="Cambria Math" panose="02040503050406030204" pitchFamily="18" charset="0"/>
                                        </a:rPr>
                                        <m:t>=0,1⋯</m:t>
                                      </m:r>
                                      <m:r>
                                        <a:rPr lang="en-US" sz="2400" b="0" i="1" smtClean="0">
                                          <a:latin typeface="Cambria Math" panose="02040503050406030204" pitchFamily="18" charset="0"/>
                                          <a:ea typeface="Cambria Math" panose="02040503050406030204" pitchFamily="18" charset="0"/>
                                        </a:rPr>
                                        <m:t>𝑛</m:t>
                                      </m:r>
                                      <m:r>
                                        <a:rPr lang="en-US" sz="2400" i="1">
                                          <a:latin typeface="Cambria Math" panose="02040503050406030204" pitchFamily="18" charset="0"/>
                                          <a:ea typeface="Cambria Math" panose="02040503050406030204" pitchFamily="18" charset="0"/>
                                        </a:rPr>
                                        <m:t>−1</m:t>
                                      </m:r>
                                    </m:e>
                                  </m:mr>
                                </m:m>
                              </m:e>
                            </m:d>
                            <m:r>
                              <a:rPr lang="en-US" sz="2400" i="1">
                                <a:latin typeface="Cambria Math" panose="02040503050406030204" pitchFamily="18" charset="0"/>
                                <a:ea typeface="Cambria Math" panose="02040503050406030204" pitchFamily="18" charset="0"/>
                              </a:rPr>
                              <m:t> </m:t>
                            </m:r>
                          </m:e>
                        </m:nary>
                      </m:oMath>
                    </m:oMathPara>
                  </a14:m>
                  <a:endParaRPr lang="en-US" sz="2400" dirty="0"/>
                </a:p>
              </p:txBody>
            </p:sp>
          </mc:Choice>
          <mc:Fallback xmlns="">
            <p:sp>
              <p:nvSpPr>
                <p:cNvPr id="5" name="Rectangle 4">
                  <a:extLst>
                    <a:ext uri="{FF2B5EF4-FFF2-40B4-BE49-F238E27FC236}">
                      <a16:creationId xmlns:a16="http://schemas.microsoft.com/office/drawing/2014/main" id="{FBB883BB-5779-9B45-9396-20892C58EF9F}"/>
                    </a:ext>
                  </a:extLst>
                </p:cNvPr>
                <p:cNvSpPr>
                  <a:spLocks noRot="1" noChangeAspect="1" noMove="1" noResize="1" noEditPoints="1" noAdjustHandles="1" noChangeArrowheads="1" noChangeShapeType="1" noTextEdit="1"/>
                </p:cNvSpPr>
                <p:nvPr/>
              </p:nvSpPr>
              <p:spPr>
                <a:xfrm>
                  <a:off x="294593" y="4863728"/>
                  <a:ext cx="10070321" cy="1495730"/>
                </a:xfrm>
                <a:prstGeom prst="rect">
                  <a:avLst/>
                </a:prstGeom>
                <a:blipFill>
                  <a:blip r:embed="rId5"/>
                  <a:stretch>
                    <a:fillRect t="-171429" b="-247059"/>
                  </a:stretch>
                </a:blipFill>
              </p:spPr>
              <p:txBody>
                <a:bodyPr/>
                <a:lstStyle/>
                <a:p>
                  <a:r>
                    <a:rPr lang="en-US">
                      <a:noFill/>
                    </a:rPr>
                    <a:t> </a:t>
                  </a:r>
                </a:p>
              </p:txBody>
            </p:sp>
          </mc:Fallback>
        </mc:AlternateContent>
        <p:sp>
          <p:nvSpPr>
            <p:cNvPr id="68" name="TextBox 67">
              <a:extLst>
                <a:ext uri="{FF2B5EF4-FFF2-40B4-BE49-F238E27FC236}">
                  <a16:creationId xmlns:a16="http://schemas.microsoft.com/office/drawing/2014/main" id="{17B26125-FA70-6341-A288-223DEFEE97A9}"/>
                </a:ext>
              </a:extLst>
            </p:cNvPr>
            <p:cNvSpPr txBox="1"/>
            <p:nvPr/>
          </p:nvSpPr>
          <p:spPr>
            <a:xfrm>
              <a:off x="10736757" y="5380760"/>
              <a:ext cx="591829" cy="461665"/>
            </a:xfrm>
            <a:prstGeom prst="rect">
              <a:avLst/>
            </a:prstGeom>
            <a:noFill/>
          </p:spPr>
          <p:txBody>
            <a:bodyPr wrap="none" rtlCol="0">
              <a:spAutoFit/>
            </a:bodyPr>
            <a:lstStyle/>
            <a:p>
              <a:r>
                <a:rPr lang="en-US" sz="2400" dirty="0">
                  <a:latin typeface="+mj-lt"/>
                </a:rPr>
                <a:t> (2)</a:t>
              </a:r>
            </a:p>
          </p:txBody>
        </p:sp>
      </p:grpSp>
      <p:cxnSp>
        <p:nvCxnSpPr>
          <p:cNvPr id="10" name="Elbow Connector 9">
            <a:extLst>
              <a:ext uri="{FF2B5EF4-FFF2-40B4-BE49-F238E27FC236}">
                <a16:creationId xmlns:a16="http://schemas.microsoft.com/office/drawing/2014/main" id="{577F3BAF-E1D0-B54B-AAD8-46A98BDD70B7}"/>
              </a:ext>
            </a:extLst>
          </p:cNvPr>
          <p:cNvCxnSpPr>
            <a:cxnSpLocks/>
          </p:cNvCxnSpPr>
          <p:nvPr/>
        </p:nvCxnSpPr>
        <p:spPr>
          <a:xfrm rot="10800000" flipV="1">
            <a:off x="3992266" y="1110405"/>
            <a:ext cx="1865935" cy="561049"/>
          </a:xfrm>
          <a:prstGeom prst="bentConnector3">
            <a:avLst>
              <a:gd name="adj1" fmla="val 99815"/>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4324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27CBC-572F-5F48-9983-50EF76BEAC35}"/>
              </a:ext>
            </a:extLst>
          </p:cNvPr>
          <p:cNvSpPr>
            <a:spLocks noGrp="1"/>
          </p:cNvSpPr>
          <p:nvPr>
            <p:ph type="title"/>
          </p:nvPr>
        </p:nvSpPr>
        <p:spPr>
          <a:xfrm>
            <a:off x="0" y="0"/>
            <a:ext cx="12192000" cy="928688"/>
          </a:xfrm>
        </p:spPr>
        <p:txBody>
          <a:bodyPr/>
          <a:lstStyle/>
          <a:p>
            <a:r>
              <a:rPr lang="en-US" dirty="0"/>
              <a:t>DFT matrix</a:t>
            </a:r>
          </a:p>
        </p:txBody>
      </p:sp>
      <p:sp>
        <p:nvSpPr>
          <p:cNvPr id="3" name="Slide Number Placeholder 2">
            <a:extLst>
              <a:ext uri="{FF2B5EF4-FFF2-40B4-BE49-F238E27FC236}">
                <a16:creationId xmlns:a16="http://schemas.microsoft.com/office/drawing/2014/main" id="{FCE519B8-FF55-A942-BBDE-EEEB576FF18C}"/>
              </a:ext>
            </a:extLst>
          </p:cNvPr>
          <p:cNvSpPr>
            <a:spLocks noGrp="1"/>
          </p:cNvSpPr>
          <p:nvPr>
            <p:ph type="sldNum" sz="quarter" idx="12"/>
          </p:nvPr>
        </p:nvSpPr>
        <p:spPr>
          <a:xfrm>
            <a:off x="9365158" y="6487550"/>
            <a:ext cx="2743200" cy="365125"/>
          </a:xfrm>
        </p:spPr>
        <p:txBody>
          <a:bodyPr/>
          <a:lstStyle/>
          <a:p>
            <a:fld id="{591A223C-FA10-BC46-A853-03BA373D023C}" type="slidenum">
              <a:rPr lang="en-US" smtClean="0"/>
              <a:t>54</a:t>
            </a:fld>
            <a:endParaRPr lang="en-US"/>
          </a:p>
        </p:txBody>
      </p:sp>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6973E91C-8400-7B4D-B209-80334C8E88AE}"/>
                  </a:ext>
                </a:extLst>
              </p:cNvPr>
              <p:cNvSpPr/>
              <p:nvPr/>
            </p:nvSpPr>
            <p:spPr>
              <a:xfrm>
                <a:off x="-60265" y="1239971"/>
                <a:ext cx="12252265" cy="237930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200" i="1" smtClean="0">
                              <a:solidFill>
                                <a:schemeClr val="tx1"/>
                              </a:solidFill>
                              <a:latin typeface="Cambria Math" panose="02040503050406030204" pitchFamily="18" charset="0"/>
                              <a:ea typeface="Cambria Math" panose="02040503050406030204" pitchFamily="18" charset="0"/>
                            </a:rPr>
                          </m:ctrlPr>
                        </m:sSubPr>
                        <m:e>
                          <m:r>
                            <a:rPr lang="en-US" sz="2200" b="0" i="1" smtClean="0">
                              <a:solidFill>
                                <a:schemeClr val="tx1"/>
                              </a:solidFill>
                              <a:latin typeface="Cambria Math" panose="02040503050406030204" pitchFamily="18" charset="0"/>
                              <a:ea typeface="Cambria Math" panose="02040503050406030204" pitchFamily="18" charset="0"/>
                            </a:rPr>
                            <m:t>𝐹</m:t>
                          </m:r>
                        </m:e>
                        <m:sub>
                          <m:r>
                            <a:rPr lang="en-US" sz="2200" b="0" i="1" smtClean="0">
                              <a:solidFill>
                                <a:schemeClr val="tx1"/>
                              </a:solidFill>
                              <a:latin typeface="Cambria Math" panose="02040503050406030204" pitchFamily="18" charset="0"/>
                              <a:ea typeface="Cambria Math" panose="02040503050406030204" pitchFamily="18" charset="0"/>
                            </a:rPr>
                            <m:t>𝑁</m:t>
                          </m:r>
                        </m:sub>
                      </m:sSub>
                      <m:r>
                        <a:rPr lang="en-US" sz="2200" b="0" i="1" smtClean="0">
                          <a:solidFill>
                            <a:schemeClr val="tx1"/>
                          </a:solidFill>
                          <a:latin typeface="Cambria Math" panose="02040503050406030204" pitchFamily="18" charset="0"/>
                          <a:ea typeface="Cambria Math" panose="02040503050406030204" pitchFamily="18" charset="0"/>
                        </a:rPr>
                        <m:t>=</m:t>
                      </m:r>
                      <m:f>
                        <m:fPr>
                          <m:ctrlPr>
                            <a:rPr lang="en-US" sz="2200" b="0" i="1" smtClean="0">
                              <a:solidFill>
                                <a:schemeClr val="tx1"/>
                              </a:solidFill>
                              <a:latin typeface="Cambria Math" panose="02040503050406030204" pitchFamily="18" charset="0"/>
                              <a:ea typeface="Cambria Math" panose="02040503050406030204" pitchFamily="18" charset="0"/>
                            </a:rPr>
                          </m:ctrlPr>
                        </m:fPr>
                        <m:num>
                          <m:r>
                            <a:rPr lang="en-US" sz="2200" b="0" i="1" smtClean="0">
                              <a:solidFill>
                                <a:schemeClr val="tx1"/>
                              </a:solidFill>
                              <a:latin typeface="Cambria Math" panose="02040503050406030204" pitchFamily="18" charset="0"/>
                              <a:ea typeface="Cambria Math" panose="02040503050406030204" pitchFamily="18" charset="0"/>
                            </a:rPr>
                            <m:t>1</m:t>
                          </m:r>
                        </m:num>
                        <m:den>
                          <m:rad>
                            <m:radPr>
                              <m:degHide m:val="on"/>
                              <m:ctrlPr>
                                <a:rPr lang="en-US" sz="2200" b="0" i="1" smtClean="0">
                                  <a:solidFill>
                                    <a:schemeClr val="tx1"/>
                                  </a:solidFill>
                                  <a:latin typeface="Cambria Math" panose="02040503050406030204" pitchFamily="18" charset="0"/>
                                  <a:ea typeface="Cambria Math" panose="02040503050406030204" pitchFamily="18" charset="0"/>
                                </a:rPr>
                              </m:ctrlPr>
                            </m:radPr>
                            <m:deg/>
                            <m:e>
                              <m:r>
                                <a:rPr lang="en-US" sz="2200" b="0" i="1" smtClean="0">
                                  <a:solidFill>
                                    <a:schemeClr val="tx1"/>
                                  </a:solidFill>
                                  <a:latin typeface="Cambria Math" panose="02040503050406030204" pitchFamily="18" charset="0"/>
                                  <a:ea typeface="Cambria Math" panose="02040503050406030204" pitchFamily="18" charset="0"/>
                                </a:rPr>
                                <m:t>𝑁</m:t>
                              </m:r>
                            </m:e>
                          </m:rad>
                        </m:den>
                      </m:f>
                      <m:r>
                        <a:rPr lang="sr-Latn-RS" sz="2200" b="0" i="1" smtClean="0">
                          <a:solidFill>
                            <a:schemeClr val="tx1"/>
                          </a:solidFill>
                          <a:latin typeface="Cambria Math" panose="02040503050406030204" pitchFamily="18" charset="0"/>
                          <a:ea typeface="Cambria Math" panose="02040503050406030204" pitchFamily="18" charset="0"/>
                        </a:rPr>
                        <m:t>  </m:t>
                      </m:r>
                      <m:d>
                        <m:dPr>
                          <m:ctrlPr>
                            <a:rPr lang="en-US" sz="2200" i="1">
                              <a:solidFill>
                                <a:schemeClr val="tx1"/>
                              </a:solidFill>
                              <a:latin typeface="Cambria Math" panose="02040503050406030204" pitchFamily="18" charset="0"/>
                              <a:ea typeface="Cambria Math" panose="02040503050406030204" pitchFamily="18" charset="0"/>
                            </a:rPr>
                          </m:ctrlPr>
                        </m:dPr>
                        <m:e>
                          <m:m>
                            <m:mPr>
                              <m:mcs>
                                <m:mc>
                                  <m:mcPr>
                                    <m:count m:val="6"/>
                                    <m:mcJc m:val="center"/>
                                  </m:mcPr>
                                </m:mc>
                              </m:mcs>
                              <m:ctrlPr>
                                <a:rPr lang="en-US" sz="2200" i="1">
                                  <a:solidFill>
                                    <a:schemeClr val="tx1"/>
                                  </a:solidFill>
                                  <a:latin typeface="Cambria Math" panose="02040503050406030204" pitchFamily="18" charset="0"/>
                                  <a:ea typeface="Cambria Math" panose="02040503050406030204" pitchFamily="18" charset="0"/>
                                </a:rPr>
                              </m:ctrlPr>
                            </m:mPr>
                            <m:mr>
                              <m:e>
                                <m:r>
                                  <m:rPr>
                                    <m:brk m:alnAt="7"/>
                                  </m:rPr>
                                  <a:rPr lang="en-US" sz="2200" i="1">
                                    <a:solidFill>
                                      <a:schemeClr val="tx1"/>
                                    </a:solidFill>
                                    <a:latin typeface="Cambria Math" panose="02040503050406030204" pitchFamily="18" charset="0"/>
                                    <a:ea typeface="Cambria Math" panose="02040503050406030204" pitchFamily="18" charset="0"/>
                                  </a:rPr>
                                  <m:t>1</m:t>
                                </m:r>
                              </m:e>
                              <m:e>
                                <m:r>
                                  <a:rPr lang="en-US" sz="2200" i="1">
                                    <a:solidFill>
                                      <a:schemeClr val="tx1"/>
                                    </a:solidFill>
                                    <a:latin typeface="Cambria Math" panose="02040503050406030204" pitchFamily="18" charset="0"/>
                                    <a:ea typeface="Cambria Math" panose="02040503050406030204" pitchFamily="18" charset="0"/>
                                  </a:rPr>
                                  <m:t>1</m:t>
                                </m:r>
                              </m:e>
                              <m:e>
                                <m:r>
                                  <a:rPr lang="en-US" sz="2200" i="1">
                                    <a:solidFill>
                                      <a:schemeClr val="tx1"/>
                                    </a:solidFill>
                                    <a:latin typeface="Cambria Math" panose="02040503050406030204" pitchFamily="18" charset="0"/>
                                    <a:ea typeface="Cambria Math" panose="02040503050406030204" pitchFamily="18" charset="0"/>
                                  </a:rPr>
                                  <m:t>1</m:t>
                                </m:r>
                              </m:e>
                              <m:e>
                                <m:r>
                                  <a:rPr lang="en-US" sz="2200" i="1">
                                    <a:solidFill>
                                      <a:schemeClr val="tx1"/>
                                    </a:solidFill>
                                    <a:latin typeface="Cambria Math" panose="02040503050406030204" pitchFamily="18" charset="0"/>
                                    <a:ea typeface="Cambria Math" panose="02040503050406030204" pitchFamily="18" charset="0"/>
                                  </a:rPr>
                                  <m:t>1</m:t>
                                </m:r>
                              </m:e>
                              <m:e>
                                <m:r>
                                  <a:rPr lang="en-US" sz="2200" i="1">
                                    <a:solidFill>
                                      <a:schemeClr val="tx1"/>
                                    </a:solidFill>
                                    <a:latin typeface="Cambria Math" panose="02040503050406030204" pitchFamily="18" charset="0"/>
                                    <a:ea typeface="Cambria Math" panose="02040503050406030204" pitchFamily="18" charset="0"/>
                                  </a:rPr>
                                  <m:t>⋯</m:t>
                                </m:r>
                              </m:e>
                              <m:e>
                                <m:r>
                                  <a:rPr lang="en-US" sz="2200" i="1">
                                    <a:solidFill>
                                      <a:schemeClr val="tx1"/>
                                    </a:solidFill>
                                    <a:latin typeface="Cambria Math" panose="02040503050406030204" pitchFamily="18" charset="0"/>
                                    <a:ea typeface="Cambria Math" panose="02040503050406030204" pitchFamily="18" charset="0"/>
                                  </a:rPr>
                                  <m:t>1</m:t>
                                </m:r>
                              </m:e>
                            </m:mr>
                            <m:mr>
                              <m:e>
                                <m:r>
                                  <a:rPr lang="en-US" sz="2200" i="1">
                                    <a:solidFill>
                                      <a:schemeClr val="tx1"/>
                                    </a:solidFill>
                                    <a:latin typeface="Cambria Math" panose="02040503050406030204" pitchFamily="18" charset="0"/>
                                    <a:ea typeface="Cambria Math" panose="02040503050406030204" pitchFamily="18" charset="0"/>
                                  </a:rPr>
                                  <m:t>1</m:t>
                                </m:r>
                              </m:e>
                              <m:e>
                                <m:r>
                                  <a:rPr lang="en-US" sz="2200" i="1">
                                    <a:solidFill>
                                      <a:schemeClr val="tx1"/>
                                    </a:solidFill>
                                    <a:latin typeface="Cambria Math" panose="02040503050406030204" pitchFamily="18" charset="0"/>
                                    <a:ea typeface="Cambria Math" panose="02040503050406030204" pitchFamily="18" charset="0"/>
                                  </a:rPr>
                                  <m:t>𝜔</m:t>
                                </m:r>
                              </m:e>
                              <m:e>
                                <m:sSup>
                                  <m:sSupPr>
                                    <m:ctrlPr>
                                      <a:rPr lang="en-US" sz="2200" i="1">
                                        <a:solidFill>
                                          <a:schemeClr val="tx1"/>
                                        </a:solidFill>
                                        <a:latin typeface="Cambria Math" panose="02040503050406030204" pitchFamily="18" charset="0"/>
                                        <a:ea typeface="Cambria Math" panose="02040503050406030204" pitchFamily="18" charset="0"/>
                                      </a:rPr>
                                    </m:ctrlPr>
                                  </m:sSupPr>
                                  <m:e>
                                    <m:r>
                                      <a:rPr lang="en-US" sz="2200" i="1">
                                        <a:solidFill>
                                          <a:schemeClr val="tx1"/>
                                        </a:solidFill>
                                        <a:latin typeface="Cambria Math" panose="02040503050406030204" pitchFamily="18" charset="0"/>
                                        <a:ea typeface="Cambria Math" panose="02040503050406030204" pitchFamily="18" charset="0"/>
                                      </a:rPr>
                                      <m:t>𝜔</m:t>
                                    </m:r>
                                  </m:e>
                                  <m:sup>
                                    <m:r>
                                      <a:rPr lang="en-US" sz="2200" i="1">
                                        <a:solidFill>
                                          <a:schemeClr val="tx1"/>
                                        </a:solidFill>
                                        <a:latin typeface="Cambria Math" panose="02040503050406030204" pitchFamily="18" charset="0"/>
                                        <a:ea typeface="Cambria Math" panose="02040503050406030204" pitchFamily="18" charset="0"/>
                                      </a:rPr>
                                      <m:t>2</m:t>
                                    </m:r>
                                  </m:sup>
                                </m:sSup>
                              </m:e>
                              <m:e>
                                <m:sSup>
                                  <m:sSupPr>
                                    <m:ctrlPr>
                                      <a:rPr lang="en-US" sz="2200" i="1">
                                        <a:solidFill>
                                          <a:schemeClr val="tx1"/>
                                        </a:solidFill>
                                        <a:latin typeface="Cambria Math" panose="02040503050406030204" pitchFamily="18" charset="0"/>
                                        <a:ea typeface="Cambria Math" panose="02040503050406030204" pitchFamily="18" charset="0"/>
                                      </a:rPr>
                                    </m:ctrlPr>
                                  </m:sSupPr>
                                  <m:e>
                                    <m:r>
                                      <a:rPr lang="en-US" sz="2200" i="1">
                                        <a:solidFill>
                                          <a:schemeClr val="tx1"/>
                                        </a:solidFill>
                                        <a:latin typeface="Cambria Math" panose="02040503050406030204" pitchFamily="18" charset="0"/>
                                        <a:ea typeface="Cambria Math" panose="02040503050406030204" pitchFamily="18" charset="0"/>
                                      </a:rPr>
                                      <m:t>𝜔</m:t>
                                    </m:r>
                                  </m:e>
                                  <m:sup>
                                    <m:r>
                                      <a:rPr lang="en-US" sz="2200" i="1">
                                        <a:solidFill>
                                          <a:schemeClr val="tx1"/>
                                        </a:solidFill>
                                        <a:latin typeface="Cambria Math" panose="02040503050406030204" pitchFamily="18" charset="0"/>
                                        <a:ea typeface="Cambria Math" panose="02040503050406030204" pitchFamily="18" charset="0"/>
                                      </a:rPr>
                                      <m:t>3</m:t>
                                    </m:r>
                                  </m:sup>
                                </m:sSup>
                              </m:e>
                              <m:e>
                                <m:r>
                                  <a:rPr lang="en-US" sz="2200" i="1">
                                    <a:solidFill>
                                      <a:schemeClr val="tx1"/>
                                    </a:solidFill>
                                    <a:latin typeface="Cambria Math" panose="02040503050406030204" pitchFamily="18" charset="0"/>
                                    <a:ea typeface="Cambria Math" panose="02040503050406030204" pitchFamily="18" charset="0"/>
                                  </a:rPr>
                                  <m:t>⋯</m:t>
                                </m:r>
                              </m:e>
                              <m:e>
                                <m:sSup>
                                  <m:sSupPr>
                                    <m:ctrlPr>
                                      <a:rPr lang="en-US" sz="2200" i="1">
                                        <a:solidFill>
                                          <a:schemeClr val="tx1"/>
                                        </a:solidFill>
                                        <a:latin typeface="Cambria Math" panose="02040503050406030204" pitchFamily="18" charset="0"/>
                                        <a:ea typeface="Cambria Math" panose="02040503050406030204" pitchFamily="18" charset="0"/>
                                      </a:rPr>
                                    </m:ctrlPr>
                                  </m:sSupPr>
                                  <m:e>
                                    <m:r>
                                      <a:rPr lang="en-US" sz="2200" i="1">
                                        <a:solidFill>
                                          <a:schemeClr val="tx1"/>
                                        </a:solidFill>
                                        <a:latin typeface="Cambria Math" panose="02040503050406030204" pitchFamily="18" charset="0"/>
                                        <a:ea typeface="Cambria Math" panose="02040503050406030204" pitchFamily="18" charset="0"/>
                                      </a:rPr>
                                      <m:t>𝜔</m:t>
                                    </m:r>
                                  </m:e>
                                  <m:sup>
                                    <m:r>
                                      <a:rPr lang="en-US" sz="2200" b="0" i="1" smtClean="0">
                                        <a:solidFill>
                                          <a:schemeClr val="tx1"/>
                                        </a:solidFill>
                                        <a:latin typeface="Cambria Math" panose="02040503050406030204" pitchFamily="18" charset="0"/>
                                        <a:ea typeface="Cambria Math" panose="02040503050406030204" pitchFamily="18" charset="0"/>
                                      </a:rPr>
                                      <m:t>𝑁</m:t>
                                    </m:r>
                                    <m:r>
                                      <a:rPr lang="en-US" sz="2200" i="1">
                                        <a:solidFill>
                                          <a:schemeClr val="tx1"/>
                                        </a:solidFill>
                                        <a:latin typeface="Cambria Math" panose="02040503050406030204" pitchFamily="18" charset="0"/>
                                        <a:ea typeface="Cambria Math" panose="02040503050406030204" pitchFamily="18" charset="0"/>
                                      </a:rPr>
                                      <m:t>−1</m:t>
                                    </m:r>
                                  </m:sup>
                                </m:sSup>
                              </m:e>
                            </m:mr>
                            <m:mr>
                              <m:e>
                                <m:r>
                                  <a:rPr lang="en-US" sz="2200" i="1">
                                    <a:solidFill>
                                      <a:schemeClr val="tx1"/>
                                    </a:solidFill>
                                    <a:latin typeface="Cambria Math" panose="02040503050406030204" pitchFamily="18" charset="0"/>
                                    <a:ea typeface="Cambria Math" panose="02040503050406030204" pitchFamily="18" charset="0"/>
                                  </a:rPr>
                                  <m:t>1</m:t>
                                </m:r>
                              </m:e>
                              <m:e>
                                <m:sSup>
                                  <m:sSupPr>
                                    <m:ctrlPr>
                                      <a:rPr lang="en-US" sz="2200" i="1">
                                        <a:solidFill>
                                          <a:schemeClr val="tx1"/>
                                        </a:solidFill>
                                        <a:latin typeface="Cambria Math" panose="02040503050406030204" pitchFamily="18" charset="0"/>
                                        <a:ea typeface="Cambria Math" panose="02040503050406030204" pitchFamily="18" charset="0"/>
                                      </a:rPr>
                                    </m:ctrlPr>
                                  </m:sSupPr>
                                  <m:e>
                                    <m:r>
                                      <a:rPr lang="en-US" sz="2200" i="1">
                                        <a:solidFill>
                                          <a:schemeClr val="tx1"/>
                                        </a:solidFill>
                                        <a:latin typeface="Cambria Math" panose="02040503050406030204" pitchFamily="18" charset="0"/>
                                        <a:ea typeface="Cambria Math" panose="02040503050406030204" pitchFamily="18" charset="0"/>
                                      </a:rPr>
                                      <m:t>𝜔</m:t>
                                    </m:r>
                                  </m:e>
                                  <m:sup>
                                    <m:r>
                                      <a:rPr lang="en-US" sz="2200" i="1">
                                        <a:solidFill>
                                          <a:schemeClr val="tx1"/>
                                        </a:solidFill>
                                        <a:latin typeface="Cambria Math" panose="02040503050406030204" pitchFamily="18" charset="0"/>
                                        <a:ea typeface="Cambria Math" panose="02040503050406030204" pitchFamily="18" charset="0"/>
                                      </a:rPr>
                                      <m:t>2</m:t>
                                    </m:r>
                                  </m:sup>
                                </m:sSup>
                              </m:e>
                              <m:e>
                                <m:sSup>
                                  <m:sSupPr>
                                    <m:ctrlPr>
                                      <a:rPr lang="en-US" sz="2200" i="1">
                                        <a:solidFill>
                                          <a:schemeClr val="tx1"/>
                                        </a:solidFill>
                                        <a:latin typeface="Cambria Math" panose="02040503050406030204" pitchFamily="18" charset="0"/>
                                        <a:ea typeface="Cambria Math" panose="02040503050406030204" pitchFamily="18" charset="0"/>
                                      </a:rPr>
                                    </m:ctrlPr>
                                  </m:sSupPr>
                                  <m:e>
                                    <m:r>
                                      <a:rPr lang="en-US" sz="2200" i="1">
                                        <a:solidFill>
                                          <a:schemeClr val="tx1"/>
                                        </a:solidFill>
                                        <a:latin typeface="Cambria Math" panose="02040503050406030204" pitchFamily="18" charset="0"/>
                                        <a:ea typeface="Cambria Math" panose="02040503050406030204" pitchFamily="18" charset="0"/>
                                      </a:rPr>
                                      <m:t>𝜔</m:t>
                                    </m:r>
                                  </m:e>
                                  <m:sup>
                                    <m:r>
                                      <a:rPr lang="en-US" sz="2200" i="1">
                                        <a:solidFill>
                                          <a:schemeClr val="tx1"/>
                                        </a:solidFill>
                                        <a:latin typeface="Cambria Math" panose="02040503050406030204" pitchFamily="18" charset="0"/>
                                        <a:ea typeface="Cambria Math" panose="02040503050406030204" pitchFamily="18" charset="0"/>
                                      </a:rPr>
                                      <m:t>4</m:t>
                                    </m:r>
                                  </m:sup>
                                </m:sSup>
                              </m:e>
                              <m:e>
                                <m:sSup>
                                  <m:sSupPr>
                                    <m:ctrlPr>
                                      <a:rPr lang="en-US" sz="2200" i="1">
                                        <a:solidFill>
                                          <a:schemeClr val="tx1"/>
                                        </a:solidFill>
                                        <a:latin typeface="Cambria Math" panose="02040503050406030204" pitchFamily="18" charset="0"/>
                                        <a:ea typeface="Cambria Math" panose="02040503050406030204" pitchFamily="18" charset="0"/>
                                      </a:rPr>
                                    </m:ctrlPr>
                                  </m:sSupPr>
                                  <m:e>
                                    <m:r>
                                      <a:rPr lang="en-US" sz="2200" i="1">
                                        <a:solidFill>
                                          <a:schemeClr val="tx1"/>
                                        </a:solidFill>
                                        <a:latin typeface="Cambria Math" panose="02040503050406030204" pitchFamily="18" charset="0"/>
                                        <a:ea typeface="Cambria Math" panose="02040503050406030204" pitchFamily="18" charset="0"/>
                                      </a:rPr>
                                      <m:t>𝜔</m:t>
                                    </m:r>
                                  </m:e>
                                  <m:sup>
                                    <m:r>
                                      <a:rPr lang="en-US" sz="2200" i="1">
                                        <a:solidFill>
                                          <a:schemeClr val="tx1"/>
                                        </a:solidFill>
                                        <a:latin typeface="Cambria Math" panose="02040503050406030204" pitchFamily="18" charset="0"/>
                                        <a:ea typeface="Cambria Math" panose="02040503050406030204" pitchFamily="18" charset="0"/>
                                      </a:rPr>
                                      <m:t>6</m:t>
                                    </m:r>
                                  </m:sup>
                                </m:sSup>
                              </m:e>
                              <m:e>
                                <m:r>
                                  <a:rPr lang="en-US" sz="2200" i="1">
                                    <a:solidFill>
                                      <a:schemeClr val="tx1"/>
                                    </a:solidFill>
                                    <a:latin typeface="Cambria Math" panose="02040503050406030204" pitchFamily="18" charset="0"/>
                                    <a:ea typeface="Cambria Math" panose="02040503050406030204" pitchFamily="18" charset="0"/>
                                  </a:rPr>
                                  <m:t>⋯</m:t>
                                </m:r>
                              </m:e>
                              <m:e>
                                <m:sSup>
                                  <m:sSupPr>
                                    <m:ctrlPr>
                                      <a:rPr lang="en-US" sz="2200" i="1">
                                        <a:solidFill>
                                          <a:schemeClr val="tx1"/>
                                        </a:solidFill>
                                        <a:latin typeface="Cambria Math" panose="02040503050406030204" pitchFamily="18" charset="0"/>
                                        <a:ea typeface="Cambria Math" panose="02040503050406030204" pitchFamily="18" charset="0"/>
                                      </a:rPr>
                                    </m:ctrlPr>
                                  </m:sSupPr>
                                  <m:e>
                                    <m:r>
                                      <a:rPr lang="en-US" sz="2200" i="1">
                                        <a:solidFill>
                                          <a:schemeClr val="tx1"/>
                                        </a:solidFill>
                                        <a:latin typeface="Cambria Math" panose="02040503050406030204" pitchFamily="18" charset="0"/>
                                        <a:ea typeface="Cambria Math" panose="02040503050406030204" pitchFamily="18" charset="0"/>
                                      </a:rPr>
                                      <m:t>𝜔</m:t>
                                    </m:r>
                                  </m:e>
                                  <m:sup>
                                    <m:r>
                                      <a:rPr lang="en-US" sz="2200" i="1">
                                        <a:solidFill>
                                          <a:schemeClr val="tx1"/>
                                        </a:solidFill>
                                        <a:latin typeface="Cambria Math" panose="02040503050406030204" pitchFamily="18" charset="0"/>
                                        <a:ea typeface="Cambria Math" panose="02040503050406030204" pitchFamily="18" charset="0"/>
                                      </a:rPr>
                                      <m:t>2(</m:t>
                                    </m:r>
                                    <m:r>
                                      <a:rPr lang="en-US" sz="2200" b="0" i="1" smtClean="0">
                                        <a:solidFill>
                                          <a:schemeClr val="tx1"/>
                                        </a:solidFill>
                                        <a:latin typeface="Cambria Math" panose="02040503050406030204" pitchFamily="18" charset="0"/>
                                        <a:ea typeface="Cambria Math" panose="02040503050406030204" pitchFamily="18" charset="0"/>
                                      </a:rPr>
                                      <m:t>𝑁</m:t>
                                    </m:r>
                                    <m:r>
                                      <a:rPr lang="en-US" sz="2200" i="1">
                                        <a:solidFill>
                                          <a:schemeClr val="tx1"/>
                                        </a:solidFill>
                                        <a:latin typeface="Cambria Math" panose="02040503050406030204" pitchFamily="18" charset="0"/>
                                        <a:ea typeface="Cambria Math" panose="02040503050406030204" pitchFamily="18" charset="0"/>
                                      </a:rPr>
                                      <m:t>−1)</m:t>
                                    </m:r>
                                  </m:sup>
                                </m:sSup>
                              </m:e>
                            </m:mr>
                            <m:mr>
                              <m:e>
                                <m:r>
                                  <a:rPr lang="en-US" sz="2200" i="1">
                                    <a:solidFill>
                                      <a:schemeClr val="tx1"/>
                                    </a:solidFill>
                                    <a:latin typeface="Cambria Math" panose="02040503050406030204" pitchFamily="18" charset="0"/>
                                    <a:ea typeface="Cambria Math" panose="02040503050406030204" pitchFamily="18" charset="0"/>
                                  </a:rPr>
                                  <m:t>1</m:t>
                                </m:r>
                              </m:e>
                              <m:e>
                                <m:sSup>
                                  <m:sSupPr>
                                    <m:ctrlPr>
                                      <a:rPr lang="en-US" sz="2200" i="1">
                                        <a:solidFill>
                                          <a:schemeClr val="tx1"/>
                                        </a:solidFill>
                                        <a:latin typeface="Cambria Math" panose="02040503050406030204" pitchFamily="18" charset="0"/>
                                        <a:ea typeface="Cambria Math" panose="02040503050406030204" pitchFamily="18" charset="0"/>
                                      </a:rPr>
                                    </m:ctrlPr>
                                  </m:sSupPr>
                                  <m:e>
                                    <m:r>
                                      <a:rPr lang="en-US" sz="2200" i="1">
                                        <a:solidFill>
                                          <a:schemeClr val="tx1"/>
                                        </a:solidFill>
                                        <a:latin typeface="Cambria Math" panose="02040503050406030204" pitchFamily="18" charset="0"/>
                                        <a:ea typeface="Cambria Math" panose="02040503050406030204" pitchFamily="18" charset="0"/>
                                      </a:rPr>
                                      <m:t>𝜔</m:t>
                                    </m:r>
                                  </m:e>
                                  <m:sup>
                                    <m:r>
                                      <a:rPr lang="en-US" sz="2200" i="1">
                                        <a:solidFill>
                                          <a:schemeClr val="tx1"/>
                                        </a:solidFill>
                                        <a:latin typeface="Cambria Math" panose="02040503050406030204" pitchFamily="18" charset="0"/>
                                        <a:ea typeface="Cambria Math" panose="02040503050406030204" pitchFamily="18" charset="0"/>
                                      </a:rPr>
                                      <m:t>3</m:t>
                                    </m:r>
                                  </m:sup>
                                </m:sSup>
                              </m:e>
                              <m:e>
                                <m:sSup>
                                  <m:sSupPr>
                                    <m:ctrlPr>
                                      <a:rPr lang="en-US" sz="2200" i="1">
                                        <a:solidFill>
                                          <a:schemeClr val="tx1"/>
                                        </a:solidFill>
                                        <a:latin typeface="Cambria Math" panose="02040503050406030204" pitchFamily="18" charset="0"/>
                                        <a:ea typeface="Cambria Math" panose="02040503050406030204" pitchFamily="18" charset="0"/>
                                      </a:rPr>
                                    </m:ctrlPr>
                                  </m:sSupPr>
                                  <m:e>
                                    <m:r>
                                      <a:rPr lang="en-US" sz="2200" i="1">
                                        <a:solidFill>
                                          <a:schemeClr val="tx1"/>
                                        </a:solidFill>
                                        <a:latin typeface="Cambria Math" panose="02040503050406030204" pitchFamily="18" charset="0"/>
                                        <a:ea typeface="Cambria Math" panose="02040503050406030204" pitchFamily="18" charset="0"/>
                                      </a:rPr>
                                      <m:t>𝜔</m:t>
                                    </m:r>
                                  </m:e>
                                  <m:sup>
                                    <m:r>
                                      <a:rPr lang="en-US" sz="2200" i="1">
                                        <a:solidFill>
                                          <a:schemeClr val="tx1"/>
                                        </a:solidFill>
                                        <a:latin typeface="Cambria Math" panose="02040503050406030204" pitchFamily="18" charset="0"/>
                                        <a:ea typeface="Cambria Math" panose="02040503050406030204" pitchFamily="18" charset="0"/>
                                      </a:rPr>
                                      <m:t>6</m:t>
                                    </m:r>
                                  </m:sup>
                                </m:sSup>
                              </m:e>
                              <m:e>
                                <m:sSup>
                                  <m:sSupPr>
                                    <m:ctrlPr>
                                      <a:rPr lang="en-US" sz="2200" i="1">
                                        <a:solidFill>
                                          <a:schemeClr val="tx1"/>
                                        </a:solidFill>
                                        <a:latin typeface="Cambria Math" panose="02040503050406030204" pitchFamily="18" charset="0"/>
                                        <a:ea typeface="Cambria Math" panose="02040503050406030204" pitchFamily="18" charset="0"/>
                                      </a:rPr>
                                    </m:ctrlPr>
                                  </m:sSupPr>
                                  <m:e>
                                    <m:r>
                                      <a:rPr lang="en-US" sz="2200" i="1">
                                        <a:solidFill>
                                          <a:schemeClr val="tx1"/>
                                        </a:solidFill>
                                        <a:latin typeface="Cambria Math" panose="02040503050406030204" pitchFamily="18" charset="0"/>
                                        <a:ea typeface="Cambria Math" panose="02040503050406030204" pitchFamily="18" charset="0"/>
                                      </a:rPr>
                                      <m:t>𝜔</m:t>
                                    </m:r>
                                  </m:e>
                                  <m:sup>
                                    <m:r>
                                      <a:rPr lang="en-US" sz="2200" i="1">
                                        <a:solidFill>
                                          <a:schemeClr val="tx1"/>
                                        </a:solidFill>
                                        <a:latin typeface="Cambria Math" panose="02040503050406030204" pitchFamily="18" charset="0"/>
                                        <a:ea typeface="Cambria Math" panose="02040503050406030204" pitchFamily="18" charset="0"/>
                                      </a:rPr>
                                      <m:t>9</m:t>
                                    </m:r>
                                  </m:sup>
                                </m:sSup>
                              </m:e>
                              <m:e>
                                <m:r>
                                  <a:rPr lang="en-US" sz="2200" i="1">
                                    <a:solidFill>
                                      <a:schemeClr val="tx1"/>
                                    </a:solidFill>
                                    <a:latin typeface="Cambria Math" panose="02040503050406030204" pitchFamily="18" charset="0"/>
                                    <a:ea typeface="Cambria Math" panose="02040503050406030204" pitchFamily="18" charset="0"/>
                                  </a:rPr>
                                  <m:t>⋯</m:t>
                                </m:r>
                              </m:e>
                              <m:e>
                                <m:sSup>
                                  <m:sSupPr>
                                    <m:ctrlPr>
                                      <a:rPr lang="en-US" sz="2200" i="1">
                                        <a:solidFill>
                                          <a:schemeClr val="tx1"/>
                                        </a:solidFill>
                                        <a:latin typeface="Cambria Math" panose="02040503050406030204" pitchFamily="18" charset="0"/>
                                        <a:ea typeface="Cambria Math" panose="02040503050406030204" pitchFamily="18" charset="0"/>
                                      </a:rPr>
                                    </m:ctrlPr>
                                  </m:sSupPr>
                                  <m:e>
                                    <m:r>
                                      <a:rPr lang="en-US" sz="2200" i="1">
                                        <a:solidFill>
                                          <a:schemeClr val="tx1"/>
                                        </a:solidFill>
                                        <a:latin typeface="Cambria Math" panose="02040503050406030204" pitchFamily="18" charset="0"/>
                                        <a:ea typeface="Cambria Math" panose="02040503050406030204" pitchFamily="18" charset="0"/>
                                      </a:rPr>
                                      <m:t>𝜔</m:t>
                                    </m:r>
                                  </m:e>
                                  <m:sup>
                                    <m:r>
                                      <a:rPr lang="en-US" sz="2200" i="1">
                                        <a:solidFill>
                                          <a:schemeClr val="tx1"/>
                                        </a:solidFill>
                                        <a:latin typeface="Cambria Math" panose="02040503050406030204" pitchFamily="18" charset="0"/>
                                        <a:ea typeface="Cambria Math" panose="02040503050406030204" pitchFamily="18" charset="0"/>
                                      </a:rPr>
                                      <m:t>3(</m:t>
                                    </m:r>
                                    <m:r>
                                      <a:rPr lang="en-US" sz="2200" b="0" i="1" smtClean="0">
                                        <a:solidFill>
                                          <a:schemeClr val="tx1"/>
                                        </a:solidFill>
                                        <a:latin typeface="Cambria Math" panose="02040503050406030204" pitchFamily="18" charset="0"/>
                                        <a:ea typeface="Cambria Math" panose="02040503050406030204" pitchFamily="18" charset="0"/>
                                      </a:rPr>
                                      <m:t>𝑁</m:t>
                                    </m:r>
                                    <m:r>
                                      <a:rPr lang="en-US" sz="2200" i="1">
                                        <a:solidFill>
                                          <a:schemeClr val="tx1"/>
                                        </a:solidFill>
                                        <a:latin typeface="Cambria Math" panose="02040503050406030204" pitchFamily="18" charset="0"/>
                                        <a:ea typeface="Cambria Math" panose="02040503050406030204" pitchFamily="18" charset="0"/>
                                      </a:rPr>
                                      <m:t>−1)</m:t>
                                    </m:r>
                                  </m:sup>
                                </m:sSup>
                              </m:e>
                            </m:mr>
                            <m:mr>
                              <m:e>
                                <m:r>
                                  <a:rPr lang="en-US" sz="2200" i="1">
                                    <a:solidFill>
                                      <a:schemeClr val="tx1"/>
                                    </a:solidFill>
                                    <a:latin typeface="Cambria Math" panose="02040503050406030204" pitchFamily="18" charset="0"/>
                                    <a:ea typeface="Cambria Math" panose="02040503050406030204" pitchFamily="18" charset="0"/>
                                  </a:rPr>
                                  <m:t>⋮</m:t>
                                </m:r>
                              </m:e>
                              <m:e>
                                <m:r>
                                  <a:rPr lang="en-US" sz="2200" i="1">
                                    <a:solidFill>
                                      <a:schemeClr val="tx1"/>
                                    </a:solidFill>
                                    <a:latin typeface="Cambria Math" panose="02040503050406030204" pitchFamily="18" charset="0"/>
                                    <a:ea typeface="Cambria Math" panose="02040503050406030204" pitchFamily="18" charset="0"/>
                                  </a:rPr>
                                  <m:t>⋮</m:t>
                                </m:r>
                              </m:e>
                              <m:e>
                                <m:r>
                                  <a:rPr lang="en-US" sz="2200" i="1">
                                    <a:solidFill>
                                      <a:schemeClr val="tx1"/>
                                    </a:solidFill>
                                    <a:latin typeface="Cambria Math" panose="02040503050406030204" pitchFamily="18" charset="0"/>
                                    <a:ea typeface="Cambria Math" panose="02040503050406030204" pitchFamily="18" charset="0"/>
                                  </a:rPr>
                                  <m:t>⋮</m:t>
                                </m:r>
                              </m:e>
                              <m:e>
                                <m:r>
                                  <a:rPr lang="en-US" sz="2200" i="1">
                                    <a:solidFill>
                                      <a:schemeClr val="tx1"/>
                                    </a:solidFill>
                                    <a:latin typeface="Cambria Math" panose="02040503050406030204" pitchFamily="18" charset="0"/>
                                    <a:ea typeface="Cambria Math" panose="02040503050406030204" pitchFamily="18" charset="0"/>
                                  </a:rPr>
                                  <m:t>⋮</m:t>
                                </m:r>
                              </m:e>
                              <m:e>
                                <m:r>
                                  <a:rPr lang="en-US" sz="2200" i="1">
                                    <a:solidFill>
                                      <a:schemeClr val="tx1"/>
                                    </a:solidFill>
                                    <a:latin typeface="Cambria Math" panose="02040503050406030204" pitchFamily="18" charset="0"/>
                                    <a:ea typeface="Cambria Math" panose="02040503050406030204" pitchFamily="18" charset="0"/>
                                  </a:rPr>
                                  <m:t>⋱</m:t>
                                </m:r>
                              </m:e>
                              <m:e>
                                <m:r>
                                  <a:rPr lang="en-US" sz="2200" i="1">
                                    <a:solidFill>
                                      <a:schemeClr val="tx1"/>
                                    </a:solidFill>
                                    <a:latin typeface="Cambria Math" panose="02040503050406030204" pitchFamily="18" charset="0"/>
                                    <a:ea typeface="Cambria Math" panose="02040503050406030204" pitchFamily="18" charset="0"/>
                                  </a:rPr>
                                  <m:t>⋮</m:t>
                                </m:r>
                              </m:e>
                            </m:mr>
                            <m:mr>
                              <m:e>
                                <m:r>
                                  <a:rPr lang="en-US" sz="2200" i="1">
                                    <a:solidFill>
                                      <a:schemeClr val="tx1"/>
                                    </a:solidFill>
                                    <a:latin typeface="Cambria Math" panose="02040503050406030204" pitchFamily="18" charset="0"/>
                                    <a:ea typeface="Cambria Math" panose="02040503050406030204" pitchFamily="18" charset="0"/>
                                  </a:rPr>
                                  <m:t>1</m:t>
                                </m:r>
                              </m:e>
                              <m:e>
                                <m:sSup>
                                  <m:sSupPr>
                                    <m:ctrlPr>
                                      <a:rPr lang="en-US" sz="2200" i="1">
                                        <a:solidFill>
                                          <a:schemeClr val="tx1"/>
                                        </a:solidFill>
                                        <a:latin typeface="Cambria Math" panose="02040503050406030204" pitchFamily="18" charset="0"/>
                                        <a:ea typeface="Cambria Math" panose="02040503050406030204" pitchFamily="18" charset="0"/>
                                      </a:rPr>
                                    </m:ctrlPr>
                                  </m:sSupPr>
                                  <m:e>
                                    <m:r>
                                      <a:rPr lang="en-US" sz="2200" i="1">
                                        <a:solidFill>
                                          <a:schemeClr val="tx1"/>
                                        </a:solidFill>
                                        <a:latin typeface="Cambria Math" panose="02040503050406030204" pitchFamily="18" charset="0"/>
                                        <a:ea typeface="Cambria Math" panose="02040503050406030204" pitchFamily="18" charset="0"/>
                                      </a:rPr>
                                      <m:t>𝜔</m:t>
                                    </m:r>
                                  </m:e>
                                  <m:sup>
                                    <m:r>
                                      <a:rPr lang="en-US" sz="2200" b="0" i="1" smtClean="0">
                                        <a:solidFill>
                                          <a:schemeClr val="tx1"/>
                                        </a:solidFill>
                                        <a:latin typeface="Cambria Math" panose="02040503050406030204" pitchFamily="18" charset="0"/>
                                        <a:ea typeface="Cambria Math" panose="02040503050406030204" pitchFamily="18" charset="0"/>
                                      </a:rPr>
                                      <m:t>𝑁</m:t>
                                    </m:r>
                                    <m:r>
                                      <a:rPr lang="en-US" sz="2200" i="1">
                                        <a:solidFill>
                                          <a:schemeClr val="tx1"/>
                                        </a:solidFill>
                                        <a:latin typeface="Cambria Math" panose="02040503050406030204" pitchFamily="18" charset="0"/>
                                        <a:ea typeface="Cambria Math" panose="02040503050406030204" pitchFamily="18" charset="0"/>
                                      </a:rPr>
                                      <m:t>−1</m:t>
                                    </m:r>
                                  </m:sup>
                                </m:sSup>
                              </m:e>
                              <m:e>
                                <m:sSup>
                                  <m:sSupPr>
                                    <m:ctrlPr>
                                      <a:rPr lang="en-US" sz="2200" i="1">
                                        <a:solidFill>
                                          <a:schemeClr val="tx1"/>
                                        </a:solidFill>
                                        <a:latin typeface="Cambria Math" panose="02040503050406030204" pitchFamily="18" charset="0"/>
                                        <a:ea typeface="Cambria Math" panose="02040503050406030204" pitchFamily="18" charset="0"/>
                                      </a:rPr>
                                    </m:ctrlPr>
                                  </m:sSupPr>
                                  <m:e>
                                    <m:r>
                                      <a:rPr lang="en-US" sz="2200" i="1">
                                        <a:solidFill>
                                          <a:schemeClr val="tx1"/>
                                        </a:solidFill>
                                        <a:latin typeface="Cambria Math" panose="02040503050406030204" pitchFamily="18" charset="0"/>
                                        <a:ea typeface="Cambria Math" panose="02040503050406030204" pitchFamily="18" charset="0"/>
                                      </a:rPr>
                                      <m:t>𝜔</m:t>
                                    </m:r>
                                  </m:e>
                                  <m:sup>
                                    <m:r>
                                      <a:rPr lang="en-US" sz="2200" i="1">
                                        <a:solidFill>
                                          <a:schemeClr val="tx1"/>
                                        </a:solidFill>
                                        <a:latin typeface="Cambria Math" panose="02040503050406030204" pitchFamily="18" charset="0"/>
                                        <a:ea typeface="Cambria Math" panose="02040503050406030204" pitchFamily="18" charset="0"/>
                                      </a:rPr>
                                      <m:t>2(</m:t>
                                    </m:r>
                                    <m:r>
                                      <a:rPr lang="en-US" sz="2200" b="0" i="1" smtClean="0">
                                        <a:solidFill>
                                          <a:schemeClr val="tx1"/>
                                        </a:solidFill>
                                        <a:latin typeface="Cambria Math" panose="02040503050406030204" pitchFamily="18" charset="0"/>
                                        <a:ea typeface="Cambria Math" panose="02040503050406030204" pitchFamily="18" charset="0"/>
                                      </a:rPr>
                                      <m:t>𝑁</m:t>
                                    </m:r>
                                    <m:r>
                                      <a:rPr lang="en-US" sz="2200" i="1">
                                        <a:solidFill>
                                          <a:schemeClr val="tx1"/>
                                        </a:solidFill>
                                        <a:latin typeface="Cambria Math" panose="02040503050406030204" pitchFamily="18" charset="0"/>
                                        <a:ea typeface="Cambria Math" panose="02040503050406030204" pitchFamily="18" charset="0"/>
                                      </a:rPr>
                                      <m:t>−1)</m:t>
                                    </m:r>
                                  </m:sup>
                                </m:sSup>
                              </m:e>
                              <m:e>
                                <m:sSup>
                                  <m:sSupPr>
                                    <m:ctrlPr>
                                      <a:rPr lang="en-US" sz="2200" i="1">
                                        <a:solidFill>
                                          <a:schemeClr val="tx1"/>
                                        </a:solidFill>
                                        <a:latin typeface="Cambria Math" panose="02040503050406030204" pitchFamily="18" charset="0"/>
                                        <a:ea typeface="Cambria Math" panose="02040503050406030204" pitchFamily="18" charset="0"/>
                                      </a:rPr>
                                    </m:ctrlPr>
                                  </m:sSupPr>
                                  <m:e>
                                    <m:r>
                                      <a:rPr lang="en-US" sz="2200" i="1">
                                        <a:solidFill>
                                          <a:schemeClr val="tx1"/>
                                        </a:solidFill>
                                        <a:latin typeface="Cambria Math" panose="02040503050406030204" pitchFamily="18" charset="0"/>
                                        <a:ea typeface="Cambria Math" panose="02040503050406030204" pitchFamily="18" charset="0"/>
                                      </a:rPr>
                                      <m:t>𝜔</m:t>
                                    </m:r>
                                  </m:e>
                                  <m:sup>
                                    <m:r>
                                      <a:rPr lang="en-US" sz="2200" i="1">
                                        <a:solidFill>
                                          <a:schemeClr val="tx1"/>
                                        </a:solidFill>
                                        <a:latin typeface="Cambria Math" panose="02040503050406030204" pitchFamily="18" charset="0"/>
                                        <a:ea typeface="Cambria Math" panose="02040503050406030204" pitchFamily="18" charset="0"/>
                                      </a:rPr>
                                      <m:t>3(</m:t>
                                    </m:r>
                                    <m:r>
                                      <a:rPr lang="en-US" sz="2200" b="0" i="1" smtClean="0">
                                        <a:solidFill>
                                          <a:schemeClr val="tx1"/>
                                        </a:solidFill>
                                        <a:latin typeface="Cambria Math" panose="02040503050406030204" pitchFamily="18" charset="0"/>
                                        <a:ea typeface="Cambria Math" panose="02040503050406030204" pitchFamily="18" charset="0"/>
                                      </a:rPr>
                                      <m:t>𝑁</m:t>
                                    </m:r>
                                    <m:r>
                                      <a:rPr lang="en-US" sz="2200" i="1">
                                        <a:solidFill>
                                          <a:schemeClr val="tx1"/>
                                        </a:solidFill>
                                        <a:latin typeface="Cambria Math" panose="02040503050406030204" pitchFamily="18" charset="0"/>
                                        <a:ea typeface="Cambria Math" panose="02040503050406030204" pitchFamily="18" charset="0"/>
                                      </a:rPr>
                                      <m:t>−1)</m:t>
                                    </m:r>
                                  </m:sup>
                                </m:sSup>
                              </m:e>
                              <m:e>
                                <m:r>
                                  <a:rPr lang="en-US" sz="2200" i="1">
                                    <a:solidFill>
                                      <a:schemeClr val="tx1"/>
                                    </a:solidFill>
                                    <a:latin typeface="Cambria Math" panose="02040503050406030204" pitchFamily="18" charset="0"/>
                                    <a:ea typeface="Cambria Math" panose="02040503050406030204" pitchFamily="18" charset="0"/>
                                  </a:rPr>
                                  <m:t>⋯</m:t>
                                </m:r>
                              </m:e>
                              <m:e>
                                <m:sSup>
                                  <m:sSupPr>
                                    <m:ctrlPr>
                                      <a:rPr lang="en-US" sz="2200" i="1">
                                        <a:solidFill>
                                          <a:schemeClr val="tx1"/>
                                        </a:solidFill>
                                        <a:latin typeface="Cambria Math" panose="02040503050406030204" pitchFamily="18" charset="0"/>
                                        <a:ea typeface="Cambria Math" panose="02040503050406030204" pitchFamily="18" charset="0"/>
                                      </a:rPr>
                                    </m:ctrlPr>
                                  </m:sSupPr>
                                  <m:e>
                                    <m:r>
                                      <a:rPr lang="en-US" sz="2200" i="1">
                                        <a:solidFill>
                                          <a:schemeClr val="tx1"/>
                                        </a:solidFill>
                                        <a:latin typeface="Cambria Math" panose="02040503050406030204" pitchFamily="18" charset="0"/>
                                        <a:ea typeface="Cambria Math" panose="02040503050406030204" pitchFamily="18" charset="0"/>
                                      </a:rPr>
                                      <m:t>𝜔</m:t>
                                    </m:r>
                                  </m:e>
                                  <m:sup>
                                    <m:r>
                                      <a:rPr lang="en-US" sz="2200" i="1">
                                        <a:solidFill>
                                          <a:schemeClr val="tx1"/>
                                        </a:solidFill>
                                        <a:latin typeface="Cambria Math" panose="02040503050406030204" pitchFamily="18" charset="0"/>
                                        <a:ea typeface="Cambria Math" panose="02040503050406030204" pitchFamily="18" charset="0"/>
                                      </a:rPr>
                                      <m:t>(</m:t>
                                    </m:r>
                                    <m:r>
                                      <a:rPr lang="en-US" sz="2200" b="0" i="1" smtClean="0">
                                        <a:solidFill>
                                          <a:schemeClr val="tx1"/>
                                        </a:solidFill>
                                        <a:latin typeface="Cambria Math" panose="02040503050406030204" pitchFamily="18" charset="0"/>
                                        <a:ea typeface="Cambria Math" panose="02040503050406030204" pitchFamily="18" charset="0"/>
                                      </a:rPr>
                                      <m:t>𝑁</m:t>
                                    </m:r>
                                    <m:r>
                                      <a:rPr lang="en-US" sz="2200" i="1">
                                        <a:solidFill>
                                          <a:schemeClr val="tx1"/>
                                        </a:solidFill>
                                        <a:latin typeface="Cambria Math" panose="02040503050406030204" pitchFamily="18" charset="0"/>
                                        <a:ea typeface="Cambria Math" panose="02040503050406030204" pitchFamily="18" charset="0"/>
                                      </a:rPr>
                                      <m:t>−1)(</m:t>
                                    </m:r>
                                    <m:r>
                                      <a:rPr lang="en-US" sz="2200" b="0" i="1" smtClean="0">
                                        <a:solidFill>
                                          <a:schemeClr val="tx1"/>
                                        </a:solidFill>
                                        <a:latin typeface="Cambria Math" panose="02040503050406030204" pitchFamily="18" charset="0"/>
                                        <a:ea typeface="Cambria Math" panose="02040503050406030204" pitchFamily="18" charset="0"/>
                                      </a:rPr>
                                      <m:t>𝑁</m:t>
                                    </m:r>
                                    <m:r>
                                      <a:rPr lang="en-US" sz="2200" i="1">
                                        <a:solidFill>
                                          <a:schemeClr val="tx1"/>
                                        </a:solidFill>
                                        <a:latin typeface="Cambria Math" panose="02040503050406030204" pitchFamily="18" charset="0"/>
                                        <a:ea typeface="Cambria Math" panose="02040503050406030204" pitchFamily="18" charset="0"/>
                                      </a:rPr>
                                      <m:t>−1)</m:t>
                                    </m:r>
                                  </m:sup>
                                </m:sSup>
                              </m:e>
                            </m:mr>
                          </m:m>
                        </m:e>
                      </m:d>
                      <m:r>
                        <a:rPr lang="en-US" sz="2200" b="0" i="1" smtClean="0">
                          <a:solidFill>
                            <a:schemeClr val="tx1"/>
                          </a:solidFill>
                          <a:latin typeface="Cambria Math" panose="02040503050406030204" pitchFamily="18" charset="0"/>
                          <a:ea typeface="Cambria Math" panose="02040503050406030204" pitchFamily="18" charset="0"/>
                        </a:rPr>
                        <m:t>,  </m:t>
                      </m:r>
                      <m:sSup>
                        <m:sSupPr>
                          <m:ctrlPr>
                            <a:rPr lang="en-US" sz="2200" i="1">
                              <a:latin typeface="Cambria Math" panose="02040503050406030204" pitchFamily="18" charset="0"/>
                              <a:ea typeface="Cambria Math" panose="02040503050406030204" pitchFamily="18" charset="0"/>
                            </a:rPr>
                          </m:ctrlPr>
                        </m:sSupPr>
                        <m:e>
                          <m:sSup>
                            <m:sSupPr>
                              <m:ctrlPr>
                                <a:rPr lang="en-US" sz="2200" i="1">
                                  <a:latin typeface="Cambria Math" panose="02040503050406030204" pitchFamily="18"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𝑒</m:t>
                              </m:r>
                            </m:e>
                            <m:sup>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2</m:t>
                                  </m:r>
                                  <m:r>
                                    <a:rPr lang="en-US" sz="2200" i="1">
                                      <a:latin typeface="Cambria Math" panose="02040503050406030204" pitchFamily="18" charset="0"/>
                                      <a:ea typeface="Cambria Math" panose="02040503050406030204" pitchFamily="18" charset="0"/>
                                    </a:rPr>
                                    <m:t>𝜋</m:t>
                                  </m:r>
                                  <m:r>
                                    <a:rPr lang="en-US" sz="2200" i="1">
                                      <a:latin typeface="Cambria Math" panose="02040503050406030204" pitchFamily="18" charset="0"/>
                                      <a:ea typeface="Cambria Math" panose="02040503050406030204" pitchFamily="18" charset="0"/>
                                    </a:rPr>
                                    <m:t>𝑖</m:t>
                                  </m:r>
                                </m:num>
                                <m:den>
                                  <m:r>
                                    <a:rPr lang="en-US" sz="2200" i="1">
                                      <a:latin typeface="Cambria Math" panose="02040503050406030204" pitchFamily="18" charset="0"/>
                                      <a:ea typeface="Cambria Math" panose="02040503050406030204" pitchFamily="18" charset="0"/>
                                    </a:rPr>
                                    <m:t>𝑁</m:t>
                                  </m:r>
                                </m:den>
                              </m:f>
                              <m:r>
                                <a:rPr lang="en-US" sz="2200" i="1">
                                  <a:latin typeface="Cambria Math" panose="02040503050406030204" pitchFamily="18" charset="0"/>
                                  <a:ea typeface="Cambria Math" panose="02040503050406030204" pitchFamily="18" charset="0"/>
                                </a:rPr>
                                <m:t>𝑗𝑘</m:t>
                              </m:r>
                            </m:sup>
                          </m:sSup>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𝜔</m:t>
                          </m:r>
                        </m:e>
                        <m:sup>
                          <m:r>
                            <a:rPr lang="en-US" sz="2200" i="1">
                              <a:latin typeface="Cambria Math" panose="02040503050406030204" pitchFamily="18" charset="0"/>
                              <a:ea typeface="Cambria Math" panose="02040503050406030204" pitchFamily="18" charset="0"/>
                            </a:rPr>
                            <m:t>𝑗𝑘</m:t>
                          </m:r>
                        </m:sup>
                      </m:sSup>
                      <m:d>
                        <m:dPr>
                          <m:begChr m:val="{"/>
                          <m:endChr m:val=""/>
                          <m:ctrlPr>
                            <a:rPr lang="en-US" sz="2200" i="1">
                              <a:latin typeface="Cambria Math" panose="02040503050406030204" pitchFamily="18" charset="0"/>
                              <a:ea typeface="Cambria Math" panose="02040503050406030204" pitchFamily="18" charset="0"/>
                            </a:rPr>
                          </m:ctrlPr>
                        </m:dPr>
                        <m:e>
                          <m:m>
                            <m:mPr>
                              <m:mcs>
                                <m:mc>
                                  <m:mcPr>
                                    <m:count m:val="1"/>
                                    <m:mcJc m:val="center"/>
                                  </m:mcPr>
                                </m:mc>
                              </m:mcs>
                              <m:ctrlPr>
                                <a:rPr lang="en-US" sz="2200" i="1">
                                  <a:latin typeface="Cambria Math" panose="02040503050406030204" pitchFamily="18" charset="0"/>
                                  <a:ea typeface="Cambria Math" panose="02040503050406030204" pitchFamily="18" charset="0"/>
                                </a:rPr>
                              </m:ctrlPr>
                            </m:mPr>
                            <m:mr>
                              <m:e>
                                <m:r>
                                  <m:rPr>
                                    <m:brk m:alnAt="7"/>
                                  </m:rPr>
                                  <a:rPr lang="en-US" sz="2200" i="1">
                                    <a:latin typeface="Cambria Math" panose="02040503050406030204" pitchFamily="18" charset="0"/>
                                    <a:ea typeface="Cambria Math" panose="02040503050406030204" pitchFamily="18" charset="0"/>
                                  </a:rPr>
                                  <m:t>𝑗</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𝑐𝑜𝑙𝑢𝑚𝑛</m:t>
                                </m:r>
                                <m:r>
                                  <a:rPr lang="en-US" sz="2200" i="1">
                                    <a:latin typeface="Cambria Math" panose="02040503050406030204" pitchFamily="18" charset="0"/>
                                    <a:ea typeface="Cambria Math" panose="02040503050406030204" pitchFamily="18" charset="0"/>
                                  </a:rPr>
                                  <m:t> </m:t>
                                </m:r>
                              </m:e>
                            </m:mr>
                            <m:mr>
                              <m:e>
                                <m:r>
                                  <a:rPr lang="en-US" sz="2200" i="1">
                                    <a:latin typeface="Cambria Math" panose="02040503050406030204" pitchFamily="18" charset="0"/>
                                    <a:ea typeface="Cambria Math" panose="02040503050406030204" pitchFamily="18" charset="0"/>
                                  </a:rPr>
                                  <m:t>𝑘</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𝑟𝑜𝑤</m:t>
                                </m:r>
                                <m:r>
                                  <a:rPr lang="en-US" sz="2200" i="1">
                                    <a:latin typeface="Cambria Math" panose="02040503050406030204" pitchFamily="18" charset="0"/>
                                    <a:ea typeface="Cambria Math" panose="02040503050406030204" pitchFamily="18" charset="0"/>
                                  </a:rPr>
                                  <m:t>       </m:t>
                                </m:r>
                              </m:e>
                            </m:mr>
                          </m:m>
                        </m:e>
                      </m:d>
                    </m:oMath>
                  </m:oMathPara>
                </a14:m>
                <a:endParaRPr lang="en-US" sz="2200" dirty="0"/>
              </a:p>
              <a:p>
                <a:endParaRPr lang="en-US" sz="2400" dirty="0">
                  <a:solidFill>
                    <a:schemeClr val="tx1"/>
                  </a:solidFill>
                </a:endParaRPr>
              </a:p>
            </p:txBody>
          </p:sp>
        </mc:Choice>
        <mc:Fallback xmlns="">
          <p:sp>
            <p:nvSpPr>
              <p:cNvPr id="37" name="Rectangle 36">
                <a:extLst>
                  <a:ext uri="{FF2B5EF4-FFF2-40B4-BE49-F238E27FC236}">
                    <a16:creationId xmlns:a16="http://schemas.microsoft.com/office/drawing/2014/main" id="{6973E91C-8400-7B4D-B209-80334C8E88AE}"/>
                  </a:ext>
                </a:extLst>
              </p:cNvPr>
              <p:cNvSpPr>
                <a:spLocks noRot="1" noChangeAspect="1" noMove="1" noResize="1" noEditPoints="1" noAdjustHandles="1" noChangeArrowheads="1" noChangeShapeType="1" noTextEdit="1"/>
              </p:cNvSpPr>
              <p:nvPr/>
            </p:nvSpPr>
            <p:spPr>
              <a:xfrm>
                <a:off x="-60265" y="1239971"/>
                <a:ext cx="12252265" cy="2379306"/>
              </a:xfrm>
              <a:prstGeom prst="rect">
                <a:avLst/>
              </a:prstGeom>
              <a:blipFill>
                <a:blip r:embed="rId3"/>
                <a:stretch>
                  <a:fillRect t="-46277" b="-62234"/>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3FCCA5C9-4A55-834C-8016-19B7D09A377F}"/>
              </a:ext>
            </a:extLst>
          </p:cNvPr>
          <p:cNvGrpSpPr/>
          <p:nvPr/>
        </p:nvGrpSpPr>
        <p:grpSpPr>
          <a:xfrm>
            <a:off x="193519" y="3861584"/>
            <a:ext cx="11744696" cy="2244159"/>
            <a:chOff x="193519" y="3861584"/>
            <a:chExt cx="11744696" cy="2244159"/>
          </a:xfrm>
        </p:grpSpPr>
        <p:sp>
          <p:nvSpPr>
            <p:cNvPr id="44" name="TextBox 43">
              <a:extLst>
                <a:ext uri="{FF2B5EF4-FFF2-40B4-BE49-F238E27FC236}">
                  <a16:creationId xmlns:a16="http://schemas.microsoft.com/office/drawing/2014/main" id="{1199281A-DA72-5346-BA7B-C521E5B9DF8D}"/>
                </a:ext>
              </a:extLst>
            </p:cNvPr>
            <p:cNvSpPr txBox="1"/>
            <p:nvPr/>
          </p:nvSpPr>
          <p:spPr>
            <a:xfrm>
              <a:off x="386861" y="3861584"/>
              <a:ext cx="1817357" cy="461665"/>
            </a:xfrm>
            <a:prstGeom prst="rect">
              <a:avLst/>
            </a:prstGeom>
            <a:solidFill>
              <a:schemeClr val="accent4">
                <a:lumMod val="20000"/>
                <a:lumOff val="80000"/>
              </a:schemeClr>
            </a:solidFill>
          </p:spPr>
          <p:txBody>
            <a:bodyPr wrap="none" rtlCol="0">
              <a:spAutoFit/>
            </a:bodyPr>
            <a:lstStyle/>
            <a:p>
              <a:r>
                <a:rPr lang="en-US" sz="2400" dirty="0"/>
                <a:t>Example</a:t>
              </a:r>
              <a:r>
                <a:rPr lang="en-US" dirty="0"/>
                <a:t> (N=4)</a:t>
              </a:r>
            </a:p>
          </p:txBody>
        </p:sp>
        <p:cxnSp>
          <p:nvCxnSpPr>
            <p:cNvPr id="46" name="Straight Connector 45">
              <a:extLst>
                <a:ext uri="{FF2B5EF4-FFF2-40B4-BE49-F238E27FC236}">
                  <a16:creationId xmlns:a16="http://schemas.microsoft.com/office/drawing/2014/main" id="{68D63018-1D55-0146-BED1-4FE53D3DE059}"/>
                </a:ext>
              </a:extLst>
            </p:cNvPr>
            <p:cNvCxnSpPr>
              <a:cxnSpLocks/>
            </p:cNvCxnSpPr>
            <p:nvPr/>
          </p:nvCxnSpPr>
          <p:spPr>
            <a:xfrm>
              <a:off x="386862" y="4359973"/>
              <a:ext cx="10867292" cy="0"/>
            </a:xfrm>
            <a:prstGeom prst="line">
              <a:avLst/>
            </a:prstGeom>
            <a:ln>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49247507-A31F-CF4F-A540-C9F4146CA754}"/>
                    </a:ext>
                  </a:extLst>
                </p:cNvPr>
                <p:cNvSpPr/>
                <p:nvPr/>
              </p:nvSpPr>
              <p:spPr>
                <a:xfrm>
                  <a:off x="193519" y="4741780"/>
                  <a:ext cx="11744696" cy="1363963"/>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200" i="1">
                                <a:latin typeface="Cambria Math" panose="02040503050406030204" pitchFamily="18" charset="0"/>
                                <a:ea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𝐹</m:t>
                            </m:r>
                          </m:e>
                          <m:sub>
                            <m:r>
                              <a:rPr lang="en-US" sz="2200" i="1">
                                <a:latin typeface="Cambria Math" panose="02040503050406030204" pitchFamily="18" charset="0"/>
                                <a:ea typeface="Cambria Math" panose="02040503050406030204" pitchFamily="18" charset="0"/>
                              </a:rPr>
                              <m:t>𝑁</m:t>
                            </m:r>
                          </m:sub>
                        </m:sSub>
                        <m:r>
                          <a:rPr lang="en-US" sz="2200" i="1">
                            <a:latin typeface="Cambria Math" panose="02040503050406030204" pitchFamily="18" charset="0"/>
                            <a:ea typeface="Cambria Math" panose="02040503050406030204" pitchFamily="18" charset="0"/>
                          </a:rPr>
                          <m:t>𝑥</m:t>
                        </m:r>
                        <m:r>
                          <a:rPr lang="en-US" sz="2200" b="0" i="1" smtClean="0">
                            <a:latin typeface="Cambria Math" panose="02040503050406030204" pitchFamily="18" charset="0"/>
                            <a:ea typeface="Cambria Math" panose="02040503050406030204" pitchFamily="18" charset="0"/>
                          </a:rPr>
                          <m:t>=</m:t>
                        </m:r>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1</m:t>
                            </m:r>
                          </m:num>
                          <m:den>
                            <m:rad>
                              <m:radPr>
                                <m:degHide m:val="on"/>
                                <m:ctrlPr>
                                  <a:rPr lang="en-US" sz="2200" i="1">
                                    <a:latin typeface="Cambria Math" panose="02040503050406030204" pitchFamily="18" charset="0"/>
                                    <a:ea typeface="Cambria Math" panose="02040503050406030204" pitchFamily="18" charset="0"/>
                                  </a:rPr>
                                </m:ctrlPr>
                              </m:radPr>
                              <m:deg/>
                              <m:e>
                                <m:r>
                                  <a:rPr lang="sr-Latn-RS" sz="2200" i="1">
                                    <a:latin typeface="Cambria Math" panose="02040503050406030204" pitchFamily="18" charset="0"/>
                                    <a:ea typeface="Cambria Math" panose="02040503050406030204" pitchFamily="18" charset="0"/>
                                  </a:rPr>
                                  <m:t>4</m:t>
                                </m:r>
                              </m:e>
                            </m:rad>
                          </m:den>
                        </m:f>
                        <m:r>
                          <a:rPr lang="sr-Latn-RS" sz="2200" i="1">
                            <a:latin typeface="Cambria Math" panose="02040503050406030204" pitchFamily="18" charset="0"/>
                            <a:ea typeface="Cambria Math" panose="02040503050406030204" pitchFamily="18" charset="0"/>
                          </a:rPr>
                          <m:t>  </m:t>
                        </m:r>
                        <m:d>
                          <m:dPr>
                            <m:ctrlPr>
                              <a:rPr lang="en-US" sz="2200" i="1">
                                <a:latin typeface="Cambria Math" panose="02040503050406030204" pitchFamily="18" charset="0"/>
                                <a:ea typeface="Cambria Math" panose="02040503050406030204" pitchFamily="18" charset="0"/>
                              </a:rPr>
                            </m:ctrlPr>
                          </m:dPr>
                          <m:e>
                            <m:m>
                              <m:mPr>
                                <m:mcs>
                                  <m:mc>
                                    <m:mcPr>
                                      <m:count m:val="4"/>
                                      <m:mcJc m:val="center"/>
                                    </m:mcPr>
                                  </m:mc>
                                </m:mcs>
                                <m:ctrlPr>
                                  <a:rPr lang="en-US" sz="2200" i="1">
                                    <a:latin typeface="Cambria Math" panose="02040503050406030204" pitchFamily="18" charset="0"/>
                                    <a:ea typeface="Cambria Math" panose="02040503050406030204" pitchFamily="18" charset="0"/>
                                  </a:rPr>
                                </m:ctrlPr>
                              </m:mPr>
                              <m:mr>
                                <m:e>
                                  <m:r>
                                    <m:rPr>
                                      <m:brk m:alnAt="7"/>
                                    </m:rPr>
                                    <a:rPr lang="en-US" sz="2200" i="1">
                                      <a:latin typeface="Cambria Math" panose="02040503050406030204" pitchFamily="18" charset="0"/>
                                      <a:ea typeface="Cambria Math" panose="02040503050406030204" pitchFamily="18" charset="0"/>
                                    </a:rPr>
                                    <m:t>1</m:t>
                                  </m:r>
                                </m:e>
                                <m:e>
                                  <m:r>
                                    <a:rPr lang="en-US" sz="2200" i="1">
                                      <a:latin typeface="Cambria Math" panose="02040503050406030204" pitchFamily="18" charset="0"/>
                                      <a:ea typeface="Cambria Math" panose="02040503050406030204" pitchFamily="18" charset="0"/>
                                    </a:rPr>
                                    <m:t>1</m:t>
                                  </m:r>
                                </m:e>
                                <m:e>
                                  <m:r>
                                    <a:rPr lang="en-US" sz="2200" i="1">
                                      <a:latin typeface="Cambria Math" panose="02040503050406030204" pitchFamily="18" charset="0"/>
                                      <a:ea typeface="Cambria Math" panose="02040503050406030204" pitchFamily="18" charset="0"/>
                                    </a:rPr>
                                    <m:t>1</m:t>
                                  </m:r>
                                </m:e>
                                <m:e>
                                  <m:r>
                                    <a:rPr lang="en-US" sz="2200" i="1">
                                      <a:latin typeface="Cambria Math" panose="02040503050406030204" pitchFamily="18" charset="0"/>
                                      <a:ea typeface="Cambria Math" panose="02040503050406030204" pitchFamily="18" charset="0"/>
                                    </a:rPr>
                                    <m:t>1</m:t>
                                  </m:r>
                                </m:e>
                              </m:mr>
                              <m:mr>
                                <m:e>
                                  <m:r>
                                    <a:rPr lang="en-US" sz="2200" i="1">
                                      <a:latin typeface="Cambria Math" panose="02040503050406030204" pitchFamily="18" charset="0"/>
                                      <a:ea typeface="Cambria Math" panose="02040503050406030204" pitchFamily="18" charset="0"/>
                                    </a:rPr>
                                    <m:t>1</m:t>
                                  </m:r>
                                </m:e>
                                <m:e>
                                  <m:r>
                                    <a:rPr lang="en-US" sz="2200" i="1">
                                      <a:latin typeface="Cambria Math" panose="02040503050406030204" pitchFamily="18" charset="0"/>
                                      <a:ea typeface="Cambria Math" panose="02040503050406030204" pitchFamily="18" charset="0"/>
                                    </a:rPr>
                                    <m:t>𝜔</m:t>
                                  </m:r>
                                </m:e>
                                <m:e>
                                  <m:sSup>
                                    <m:sSupPr>
                                      <m:ctrlPr>
                                        <a:rPr lang="en-US" sz="2200" i="1">
                                          <a:latin typeface="Cambria Math" panose="02040503050406030204" pitchFamily="18"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𝜔</m:t>
                                      </m:r>
                                    </m:e>
                                    <m:sup>
                                      <m:r>
                                        <a:rPr lang="en-US" sz="2200" i="1">
                                          <a:latin typeface="Cambria Math" panose="02040503050406030204" pitchFamily="18" charset="0"/>
                                          <a:ea typeface="Cambria Math" panose="02040503050406030204" pitchFamily="18" charset="0"/>
                                        </a:rPr>
                                        <m:t>2</m:t>
                                      </m:r>
                                    </m:sup>
                                  </m:sSup>
                                </m:e>
                                <m:e>
                                  <m:sSup>
                                    <m:sSupPr>
                                      <m:ctrlPr>
                                        <a:rPr lang="en-US" sz="2200" i="1">
                                          <a:latin typeface="Cambria Math" panose="02040503050406030204" pitchFamily="18"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𝜔</m:t>
                                      </m:r>
                                    </m:e>
                                    <m:sup>
                                      <m:r>
                                        <a:rPr lang="en-US" sz="2200" i="1">
                                          <a:latin typeface="Cambria Math" panose="02040503050406030204" pitchFamily="18" charset="0"/>
                                          <a:ea typeface="Cambria Math" panose="02040503050406030204" pitchFamily="18" charset="0"/>
                                        </a:rPr>
                                        <m:t>3</m:t>
                                      </m:r>
                                    </m:sup>
                                  </m:sSup>
                                </m:e>
                              </m:mr>
                              <m:mr>
                                <m:e>
                                  <m:r>
                                    <a:rPr lang="en-US" sz="2200" i="1">
                                      <a:latin typeface="Cambria Math" panose="02040503050406030204" pitchFamily="18" charset="0"/>
                                      <a:ea typeface="Cambria Math" panose="02040503050406030204" pitchFamily="18" charset="0"/>
                                    </a:rPr>
                                    <m:t>1</m:t>
                                  </m:r>
                                </m:e>
                                <m:e>
                                  <m:sSup>
                                    <m:sSupPr>
                                      <m:ctrlPr>
                                        <a:rPr lang="en-US" sz="2200" i="1">
                                          <a:latin typeface="Cambria Math" panose="02040503050406030204" pitchFamily="18"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𝜔</m:t>
                                      </m:r>
                                    </m:e>
                                    <m:sup>
                                      <m:r>
                                        <a:rPr lang="en-US" sz="2200" i="1">
                                          <a:latin typeface="Cambria Math" panose="02040503050406030204" pitchFamily="18" charset="0"/>
                                          <a:ea typeface="Cambria Math" panose="02040503050406030204" pitchFamily="18" charset="0"/>
                                        </a:rPr>
                                        <m:t>2</m:t>
                                      </m:r>
                                    </m:sup>
                                  </m:sSup>
                                </m:e>
                                <m:e>
                                  <m:sSup>
                                    <m:sSupPr>
                                      <m:ctrlPr>
                                        <a:rPr lang="en-US" sz="2200" i="1">
                                          <a:latin typeface="Cambria Math" panose="02040503050406030204" pitchFamily="18"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𝜔</m:t>
                                      </m:r>
                                    </m:e>
                                    <m:sup>
                                      <m:r>
                                        <a:rPr lang="en-US" sz="2200" i="1">
                                          <a:latin typeface="Cambria Math" panose="02040503050406030204" pitchFamily="18" charset="0"/>
                                          <a:ea typeface="Cambria Math" panose="02040503050406030204" pitchFamily="18" charset="0"/>
                                        </a:rPr>
                                        <m:t>4</m:t>
                                      </m:r>
                                    </m:sup>
                                  </m:sSup>
                                </m:e>
                                <m:e>
                                  <m:sSup>
                                    <m:sSupPr>
                                      <m:ctrlPr>
                                        <a:rPr lang="en-US" sz="2200" i="1">
                                          <a:latin typeface="Cambria Math" panose="02040503050406030204" pitchFamily="18"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𝜔</m:t>
                                      </m:r>
                                    </m:e>
                                    <m:sup>
                                      <m:r>
                                        <a:rPr lang="en-US" sz="2200" i="1">
                                          <a:latin typeface="Cambria Math" panose="02040503050406030204" pitchFamily="18" charset="0"/>
                                          <a:ea typeface="Cambria Math" panose="02040503050406030204" pitchFamily="18" charset="0"/>
                                        </a:rPr>
                                        <m:t>6</m:t>
                                      </m:r>
                                    </m:sup>
                                  </m:sSup>
                                </m:e>
                              </m:mr>
                              <m:mr>
                                <m:e>
                                  <m:r>
                                    <a:rPr lang="en-US" sz="2200" i="1">
                                      <a:latin typeface="Cambria Math" panose="02040503050406030204" pitchFamily="18" charset="0"/>
                                      <a:ea typeface="Cambria Math" panose="02040503050406030204" pitchFamily="18" charset="0"/>
                                    </a:rPr>
                                    <m:t>1</m:t>
                                  </m:r>
                                </m:e>
                                <m:e>
                                  <m:sSup>
                                    <m:sSupPr>
                                      <m:ctrlPr>
                                        <a:rPr lang="en-US" sz="2200" i="1">
                                          <a:latin typeface="Cambria Math" panose="02040503050406030204" pitchFamily="18"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𝜔</m:t>
                                      </m:r>
                                    </m:e>
                                    <m:sup>
                                      <m:r>
                                        <a:rPr lang="en-US" sz="2200" i="1">
                                          <a:latin typeface="Cambria Math" panose="02040503050406030204" pitchFamily="18" charset="0"/>
                                          <a:ea typeface="Cambria Math" panose="02040503050406030204" pitchFamily="18" charset="0"/>
                                        </a:rPr>
                                        <m:t>3</m:t>
                                      </m:r>
                                    </m:sup>
                                  </m:sSup>
                                </m:e>
                                <m:e>
                                  <m:sSup>
                                    <m:sSupPr>
                                      <m:ctrlPr>
                                        <a:rPr lang="en-US" sz="2200" i="1">
                                          <a:latin typeface="Cambria Math" panose="02040503050406030204" pitchFamily="18"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𝜔</m:t>
                                      </m:r>
                                    </m:e>
                                    <m:sup>
                                      <m:r>
                                        <a:rPr lang="en-US" sz="2200" i="1">
                                          <a:latin typeface="Cambria Math" panose="02040503050406030204" pitchFamily="18" charset="0"/>
                                          <a:ea typeface="Cambria Math" panose="02040503050406030204" pitchFamily="18" charset="0"/>
                                        </a:rPr>
                                        <m:t>6</m:t>
                                      </m:r>
                                    </m:sup>
                                  </m:sSup>
                                </m:e>
                                <m:e>
                                  <m:sSup>
                                    <m:sSupPr>
                                      <m:ctrlPr>
                                        <a:rPr lang="en-US" sz="2200" i="1">
                                          <a:latin typeface="Cambria Math" panose="02040503050406030204" pitchFamily="18"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𝜔</m:t>
                                      </m:r>
                                    </m:e>
                                    <m:sup>
                                      <m:r>
                                        <a:rPr lang="en-US" sz="2200" i="1">
                                          <a:latin typeface="Cambria Math" panose="02040503050406030204" pitchFamily="18" charset="0"/>
                                          <a:ea typeface="Cambria Math" panose="02040503050406030204" pitchFamily="18" charset="0"/>
                                        </a:rPr>
                                        <m:t>9</m:t>
                                      </m:r>
                                    </m:sup>
                                  </m:sSup>
                                </m:e>
                              </m:mr>
                            </m:m>
                          </m:e>
                        </m:d>
                        <m:d>
                          <m:dPr>
                            <m:ctrlPr>
                              <a:rPr lang="en-US" sz="2200" i="1">
                                <a:latin typeface="Cambria Math" panose="02040503050406030204" pitchFamily="18" charset="0"/>
                                <a:ea typeface="Cambria Math" panose="02040503050406030204" pitchFamily="18" charset="0"/>
                              </a:rPr>
                            </m:ctrlPr>
                          </m:dPr>
                          <m:e>
                            <m:m>
                              <m:mPr>
                                <m:mcs>
                                  <m:mc>
                                    <m:mcPr>
                                      <m:count m:val="1"/>
                                      <m:mcJc m:val="center"/>
                                    </m:mcPr>
                                  </m:mc>
                                </m:mcs>
                                <m:ctrlPr>
                                  <a:rPr lang="en-US" sz="2200" i="1">
                                    <a:latin typeface="Cambria Math" panose="02040503050406030204" pitchFamily="18" charset="0"/>
                                    <a:ea typeface="Cambria Math" panose="02040503050406030204" pitchFamily="18" charset="0"/>
                                  </a:rPr>
                                </m:ctrlPr>
                              </m:mPr>
                              <m:mr>
                                <m:e>
                                  <m:sSub>
                                    <m:sSubPr>
                                      <m:ctrlPr>
                                        <a:rPr lang="en-US" sz="2200" i="1">
                                          <a:latin typeface="Cambria Math" panose="02040503050406030204" pitchFamily="18" charset="0"/>
                                          <a:ea typeface="Cambria Math" panose="02040503050406030204" pitchFamily="18" charset="0"/>
                                        </a:rPr>
                                      </m:ctrlPr>
                                    </m:sSubPr>
                                    <m:e>
                                      <m:r>
                                        <a:rPr lang="sr-Latn-RS" sz="2200" i="1">
                                          <a:latin typeface="Cambria Math" panose="02040503050406030204" pitchFamily="18" charset="0"/>
                                          <a:ea typeface="Cambria Math" panose="02040503050406030204" pitchFamily="18" charset="0"/>
                                        </a:rPr>
                                        <m:t>𝑥</m:t>
                                      </m:r>
                                    </m:e>
                                    <m:sub>
                                      <m:r>
                                        <a:rPr lang="sr-Latn-RS" sz="2200" i="1">
                                          <a:latin typeface="Cambria Math" panose="02040503050406030204" pitchFamily="18" charset="0"/>
                                          <a:ea typeface="Cambria Math" panose="02040503050406030204" pitchFamily="18" charset="0"/>
                                        </a:rPr>
                                        <m:t>0</m:t>
                                      </m:r>
                                    </m:sub>
                                  </m:sSub>
                                </m:e>
                              </m:mr>
                              <m:mr>
                                <m:e>
                                  <m:sSub>
                                    <m:sSubPr>
                                      <m:ctrlPr>
                                        <a:rPr lang="en-US" sz="2200" i="1">
                                          <a:latin typeface="Cambria Math" panose="02040503050406030204" pitchFamily="18" charset="0"/>
                                          <a:ea typeface="Cambria Math" panose="02040503050406030204" pitchFamily="18" charset="0"/>
                                        </a:rPr>
                                      </m:ctrlPr>
                                    </m:sSubPr>
                                    <m:e>
                                      <m:r>
                                        <a:rPr lang="sr-Latn-RS" sz="2200" i="1">
                                          <a:latin typeface="Cambria Math" panose="02040503050406030204" pitchFamily="18" charset="0"/>
                                          <a:ea typeface="Cambria Math" panose="02040503050406030204" pitchFamily="18" charset="0"/>
                                        </a:rPr>
                                        <m:t>𝑥</m:t>
                                      </m:r>
                                    </m:e>
                                    <m:sub>
                                      <m:r>
                                        <a:rPr lang="sr-Latn-RS" sz="2200" i="1">
                                          <a:latin typeface="Cambria Math" panose="02040503050406030204" pitchFamily="18" charset="0"/>
                                          <a:ea typeface="Cambria Math" panose="02040503050406030204" pitchFamily="18" charset="0"/>
                                        </a:rPr>
                                        <m:t>1</m:t>
                                      </m:r>
                                    </m:sub>
                                  </m:sSub>
                                </m:e>
                              </m:mr>
                              <m:mr>
                                <m:e>
                                  <m:sSub>
                                    <m:sSubPr>
                                      <m:ctrlPr>
                                        <a:rPr lang="en-US" sz="2200" i="1">
                                          <a:latin typeface="Cambria Math" panose="02040503050406030204" pitchFamily="18" charset="0"/>
                                          <a:ea typeface="Cambria Math" panose="02040503050406030204" pitchFamily="18" charset="0"/>
                                        </a:rPr>
                                      </m:ctrlPr>
                                    </m:sSubPr>
                                    <m:e>
                                      <m:r>
                                        <a:rPr lang="sr-Latn-RS" sz="2200" i="1">
                                          <a:latin typeface="Cambria Math" panose="02040503050406030204" pitchFamily="18" charset="0"/>
                                          <a:ea typeface="Cambria Math" panose="02040503050406030204" pitchFamily="18" charset="0"/>
                                        </a:rPr>
                                        <m:t>𝑥</m:t>
                                      </m:r>
                                    </m:e>
                                    <m:sub>
                                      <m:r>
                                        <a:rPr lang="sr-Latn-RS" sz="2200" i="1">
                                          <a:latin typeface="Cambria Math" panose="02040503050406030204" pitchFamily="18" charset="0"/>
                                          <a:ea typeface="Cambria Math" panose="02040503050406030204" pitchFamily="18" charset="0"/>
                                        </a:rPr>
                                        <m:t>2</m:t>
                                      </m:r>
                                    </m:sub>
                                  </m:sSub>
                                </m:e>
                              </m:mr>
                              <m:mr>
                                <m:e>
                                  <m:sSub>
                                    <m:sSubPr>
                                      <m:ctrlPr>
                                        <a:rPr lang="en-US" sz="2200" i="1">
                                          <a:latin typeface="Cambria Math" panose="02040503050406030204" pitchFamily="18" charset="0"/>
                                          <a:ea typeface="Cambria Math" panose="02040503050406030204" pitchFamily="18" charset="0"/>
                                        </a:rPr>
                                      </m:ctrlPr>
                                    </m:sSubPr>
                                    <m:e>
                                      <m:r>
                                        <a:rPr lang="sr-Latn-RS" sz="2200" i="1">
                                          <a:latin typeface="Cambria Math" panose="02040503050406030204" pitchFamily="18" charset="0"/>
                                          <a:ea typeface="Cambria Math" panose="02040503050406030204" pitchFamily="18" charset="0"/>
                                        </a:rPr>
                                        <m:t>𝑥</m:t>
                                      </m:r>
                                    </m:e>
                                    <m:sub>
                                      <m:r>
                                        <a:rPr lang="sr-Latn-RS" sz="2200" i="1">
                                          <a:latin typeface="Cambria Math" panose="02040503050406030204" pitchFamily="18" charset="0"/>
                                          <a:ea typeface="Cambria Math" panose="02040503050406030204" pitchFamily="18" charset="0"/>
                                        </a:rPr>
                                        <m:t>3</m:t>
                                      </m:r>
                                    </m:sub>
                                  </m:sSub>
                                </m:e>
                              </m:mr>
                            </m:m>
                          </m:e>
                        </m:d>
                        <m:r>
                          <a:rPr lang="en-US" sz="2200" b="0" i="1" smtClean="0">
                            <a:latin typeface="Cambria Math" panose="02040503050406030204" pitchFamily="18" charset="0"/>
                            <a:ea typeface="Cambria Math" panose="02040503050406030204" pitchFamily="18" charset="0"/>
                          </a:rPr>
                          <m:t>=</m:t>
                        </m:r>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1</m:t>
                            </m:r>
                          </m:num>
                          <m:den>
                            <m:r>
                              <a:rPr lang="en-US" sz="2200" i="1">
                                <a:latin typeface="Cambria Math" panose="02040503050406030204" pitchFamily="18" charset="0"/>
                                <a:ea typeface="Cambria Math" panose="02040503050406030204" pitchFamily="18" charset="0"/>
                              </a:rPr>
                              <m:t>2</m:t>
                            </m:r>
                          </m:den>
                        </m:f>
                        <m:d>
                          <m:dPr>
                            <m:ctrlPr>
                              <a:rPr lang="en-US" sz="2200" i="1">
                                <a:latin typeface="Cambria Math" panose="02040503050406030204" pitchFamily="18" charset="0"/>
                                <a:ea typeface="Cambria Math" panose="02040503050406030204" pitchFamily="18" charset="0"/>
                              </a:rPr>
                            </m:ctrlPr>
                          </m:dPr>
                          <m:e>
                            <m:m>
                              <m:mPr>
                                <m:mcs>
                                  <m:mc>
                                    <m:mcPr>
                                      <m:count m:val="4"/>
                                      <m:mcJc m:val="center"/>
                                    </m:mcPr>
                                  </m:mc>
                                </m:mcs>
                                <m:ctrlPr>
                                  <a:rPr lang="en-US" sz="2200" i="1">
                                    <a:latin typeface="Cambria Math" panose="02040503050406030204" pitchFamily="18" charset="0"/>
                                    <a:ea typeface="Cambria Math" panose="02040503050406030204" pitchFamily="18" charset="0"/>
                                  </a:rPr>
                                </m:ctrlPr>
                              </m:mPr>
                              <m:mr>
                                <m:e>
                                  <m:r>
                                    <m:rPr>
                                      <m:brk m:alnAt="7"/>
                                    </m:rPr>
                                    <a:rPr lang="en-US" sz="2200" i="1">
                                      <a:latin typeface="Cambria Math" panose="02040503050406030204" pitchFamily="18" charset="0"/>
                                      <a:ea typeface="Cambria Math" panose="02040503050406030204" pitchFamily="18" charset="0"/>
                                    </a:rPr>
                                    <m:t>1</m:t>
                                  </m:r>
                                </m:e>
                                <m:e>
                                  <m:r>
                                    <a:rPr lang="en-US" sz="2200" i="1">
                                      <a:latin typeface="Cambria Math" panose="02040503050406030204" pitchFamily="18" charset="0"/>
                                      <a:ea typeface="Cambria Math" panose="02040503050406030204" pitchFamily="18" charset="0"/>
                                    </a:rPr>
                                    <m:t>1</m:t>
                                  </m:r>
                                </m:e>
                                <m:e>
                                  <m:r>
                                    <a:rPr lang="en-US" sz="2200" i="1">
                                      <a:latin typeface="Cambria Math" panose="02040503050406030204" pitchFamily="18" charset="0"/>
                                      <a:ea typeface="Cambria Math" panose="02040503050406030204" pitchFamily="18" charset="0"/>
                                    </a:rPr>
                                    <m:t>1</m:t>
                                  </m:r>
                                </m:e>
                                <m:e>
                                  <m:r>
                                    <a:rPr lang="en-US" sz="2200" i="1">
                                      <a:latin typeface="Cambria Math" panose="02040503050406030204" pitchFamily="18" charset="0"/>
                                      <a:ea typeface="Cambria Math" panose="02040503050406030204" pitchFamily="18" charset="0"/>
                                    </a:rPr>
                                    <m:t>1</m:t>
                                  </m:r>
                                </m:e>
                              </m:mr>
                              <m:mr>
                                <m:e>
                                  <m:r>
                                    <a:rPr lang="en-US" sz="2200" i="1">
                                      <a:latin typeface="Cambria Math" panose="02040503050406030204" pitchFamily="18" charset="0"/>
                                      <a:ea typeface="Cambria Math" panose="02040503050406030204" pitchFamily="18" charset="0"/>
                                    </a:rPr>
                                    <m:t>1</m:t>
                                  </m:r>
                                </m:e>
                                <m:e>
                                  <m:r>
                                    <a:rPr lang="en-US" sz="2200" i="1">
                                      <a:latin typeface="Cambria Math" panose="02040503050406030204" pitchFamily="18" charset="0"/>
                                      <a:ea typeface="Cambria Math" panose="02040503050406030204" pitchFamily="18" charset="0"/>
                                    </a:rPr>
                                    <m:t>𝑖</m:t>
                                  </m:r>
                                </m:e>
                                <m:e>
                                  <m:r>
                                    <a:rPr lang="en-US" sz="2200" i="1">
                                      <a:latin typeface="Cambria Math" panose="02040503050406030204" pitchFamily="18" charset="0"/>
                                      <a:ea typeface="Cambria Math" panose="02040503050406030204" pitchFamily="18" charset="0"/>
                                    </a:rPr>
                                    <m:t>−1</m:t>
                                  </m:r>
                                </m:e>
                                <m:e>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𝑖</m:t>
                                  </m:r>
                                </m:e>
                              </m:mr>
                              <m:mr>
                                <m:e>
                                  <m:r>
                                    <a:rPr lang="en-US" sz="2200" i="1">
                                      <a:latin typeface="Cambria Math" panose="02040503050406030204" pitchFamily="18" charset="0"/>
                                      <a:ea typeface="Cambria Math" panose="02040503050406030204" pitchFamily="18" charset="0"/>
                                    </a:rPr>
                                    <m:t>1</m:t>
                                  </m:r>
                                </m:e>
                                <m:e>
                                  <m:r>
                                    <a:rPr lang="en-US" sz="2200" i="1">
                                      <a:latin typeface="Cambria Math" panose="02040503050406030204" pitchFamily="18" charset="0"/>
                                      <a:ea typeface="Cambria Math" panose="02040503050406030204" pitchFamily="18" charset="0"/>
                                    </a:rPr>
                                    <m:t>−1</m:t>
                                  </m:r>
                                </m:e>
                                <m:e>
                                  <m:r>
                                    <a:rPr lang="en-US" sz="2200" i="1">
                                      <a:latin typeface="Cambria Math" panose="02040503050406030204" pitchFamily="18" charset="0"/>
                                      <a:ea typeface="Cambria Math" panose="02040503050406030204" pitchFamily="18" charset="0"/>
                                    </a:rPr>
                                    <m:t>1</m:t>
                                  </m:r>
                                </m:e>
                                <m:e>
                                  <m:r>
                                    <a:rPr lang="en-US" sz="2200" i="1">
                                      <a:latin typeface="Cambria Math" panose="02040503050406030204" pitchFamily="18" charset="0"/>
                                      <a:ea typeface="Cambria Math" panose="02040503050406030204" pitchFamily="18" charset="0"/>
                                    </a:rPr>
                                    <m:t>−1</m:t>
                                  </m:r>
                                </m:e>
                              </m:mr>
                              <m:mr>
                                <m:e>
                                  <m:r>
                                    <a:rPr lang="en-US" sz="2200" i="1">
                                      <a:latin typeface="Cambria Math" panose="02040503050406030204" pitchFamily="18" charset="0"/>
                                      <a:ea typeface="Cambria Math" panose="02040503050406030204" pitchFamily="18" charset="0"/>
                                    </a:rPr>
                                    <m:t>1</m:t>
                                  </m:r>
                                </m:e>
                                <m:e>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𝑖</m:t>
                                  </m:r>
                                </m:e>
                                <m:e>
                                  <m:r>
                                    <a:rPr lang="en-US" sz="2200" i="1">
                                      <a:latin typeface="Cambria Math" panose="02040503050406030204" pitchFamily="18" charset="0"/>
                                      <a:ea typeface="Cambria Math" panose="02040503050406030204" pitchFamily="18" charset="0"/>
                                    </a:rPr>
                                    <m:t>−1</m:t>
                                  </m:r>
                                </m:e>
                                <m:e>
                                  <m:r>
                                    <a:rPr lang="en-US" sz="2200" i="1">
                                      <a:latin typeface="Cambria Math" panose="02040503050406030204" pitchFamily="18" charset="0"/>
                                      <a:ea typeface="Cambria Math" panose="02040503050406030204" pitchFamily="18" charset="0"/>
                                    </a:rPr>
                                    <m:t>𝑖</m:t>
                                  </m:r>
                                </m:e>
                              </m:mr>
                            </m:m>
                          </m:e>
                        </m:d>
                        <m:d>
                          <m:dPr>
                            <m:ctrlPr>
                              <a:rPr lang="en-US" sz="2200" i="1">
                                <a:latin typeface="Cambria Math" panose="02040503050406030204" pitchFamily="18" charset="0"/>
                                <a:ea typeface="Cambria Math" panose="02040503050406030204" pitchFamily="18" charset="0"/>
                              </a:rPr>
                            </m:ctrlPr>
                          </m:dPr>
                          <m:e>
                            <m:m>
                              <m:mPr>
                                <m:mcs>
                                  <m:mc>
                                    <m:mcPr>
                                      <m:count m:val="1"/>
                                      <m:mcJc m:val="center"/>
                                    </m:mcPr>
                                  </m:mc>
                                </m:mcs>
                                <m:ctrlPr>
                                  <a:rPr lang="en-US" sz="2200" i="1">
                                    <a:latin typeface="Cambria Math" panose="02040503050406030204" pitchFamily="18" charset="0"/>
                                    <a:ea typeface="Cambria Math" panose="02040503050406030204" pitchFamily="18" charset="0"/>
                                  </a:rPr>
                                </m:ctrlPr>
                              </m:mPr>
                              <m:mr>
                                <m:e>
                                  <m:sSub>
                                    <m:sSubPr>
                                      <m:ctrlPr>
                                        <a:rPr lang="en-US" sz="2200" i="1">
                                          <a:latin typeface="Cambria Math" panose="02040503050406030204" pitchFamily="18" charset="0"/>
                                          <a:ea typeface="Cambria Math" panose="02040503050406030204" pitchFamily="18" charset="0"/>
                                        </a:rPr>
                                      </m:ctrlPr>
                                    </m:sSubPr>
                                    <m:e>
                                      <m:r>
                                        <a:rPr lang="sr-Latn-RS" sz="2200" i="1">
                                          <a:latin typeface="Cambria Math" panose="02040503050406030204" pitchFamily="18" charset="0"/>
                                          <a:ea typeface="Cambria Math" panose="02040503050406030204" pitchFamily="18" charset="0"/>
                                        </a:rPr>
                                        <m:t>𝑥</m:t>
                                      </m:r>
                                    </m:e>
                                    <m:sub>
                                      <m:r>
                                        <a:rPr lang="sr-Latn-RS" sz="2200" i="1">
                                          <a:latin typeface="Cambria Math" panose="02040503050406030204" pitchFamily="18" charset="0"/>
                                          <a:ea typeface="Cambria Math" panose="02040503050406030204" pitchFamily="18" charset="0"/>
                                        </a:rPr>
                                        <m:t>0</m:t>
                                      </m:r>
                                    </m:sub>
                                  </m:sSub>
                                </m:e>
                              </m:mr>
                              <m:mr>
                                <m:e>
                                  <m:sSub>
                                    <m:sSubPr>
                                      <m:ctrlPr>
                                        <a:rPr lang="en-US" sz="2200" i="1">
                                          <a:latin typeface="Cambria Math" panose="02040503050406030204" pitchFamily="18" charset="0"/>
                                          <a:ea typeface="Cambria Math" panose="02040503050406030204" pitchFamily="18" charset="0"/>
                                        </a:rPr>
                                      </m:ctrlPr>
                                    </m:sSubPr>
                                    <m:e>
                                      <m:r>
                                        <a:rPr lang="sr-Latn-RS" sz="2200" i="1">
                                          <a:latin typeface="Cambria Math" panose="02040503050406030204" pitchFamily="18" charset="0"/>
                                          <a:ea typeface="Cambria Math" panose="02040503050406030204" pitchFamily="18" charset="0"/>
                                        </a:rPr>
                                        <m:t>𝑥</m:t>
                                      </m:r>
                                    </m:e>
                                    <m:sub>
                                      <m:r>
                                        <a:rPr lang="sr-Latn-RS" sz="2200" i="1">
                                          <a:latin typeface="Cambria Math" panose="02040503050406030204" pitchFamily="18" charset="0"/>
                                          <a:ea typeface="Cambria Math" panose="02040503050406030204" pitchFamily="18" charset="0"/>
                                        </a:rPr>
                                        <m:t>1</m:t>
                                      </m:r>
                                    </m:sub>
                                  </m:sSub>
                                </m:e>
                              </m:mr>
                              <m:mr>
                                <m:e>
                                  <m:sSub>
                                    <m:sSubPr>
                                      <m:ctrlPr>
                                        <a:rPr lang="en-US" sz="2200" i="1">
                                          <a:latin typeface="Cambria Math" panose="02040503050406030204" pitchFamily="18" charset="0"/>
                                          <a:ea typeface="Cambria Math" panose="02040503050406030204" pitchFamily="18" charset="0"/>
                                        </a:rPr>
                                      </m:ctrlPr>
                                    </m:sSubPr>
                                    <m:e>
                                      <m:r>
                                        <a:rPr lang="sr-Latn-RS" sz="2200" i="1">
                                          <a:latin typeface="Cambria Math" panose="02040503050406030204" pitchFamily="18" charset="0"/>
                                          <a:ea typeface="Cambria Math" panose="02040503050406030204" pitchFamily="18" charset="0"/>
                                        </a:rPr>
                                        <m:t>𝑥</m:t>
                                      </m:r>
                                    </m:e>
                                    <m:sub>
                                      <m:r>
                                        <a:rPr lang="sr-Latn-RS" sz="2200" i="1">
                                          <a:latin typeface="Cambria Math" panose="02040503050406030204" pitchFamily="18" charset="0"/>
                                          <a:ea typeface="Cambria Math" panose="02040503050406030204" pitchFamily="18" charset="0"/>
                                        </a:rPr>
                                        <m:t>2</m:t>
                                      </m:r>
                                    </m:sub>
                                  </m:sSub>
                                </m:e>
                              </m:mr>
                              <m:mr>
                                <m:e>
                                  <m:sSub>
                                    <m:sSubPr>
                                      <m:ctrlPr>
                                        <a:rPr lang="en-US" sz="2200" i="1">
                                          <a:latin typeface="Cambria Math" panose="02040503050406030204" pitchFamily="18" charset="0"/>
                                          <a:ea typeface="Cambria Math" panose="02040503050406030204" pitchFamily="18" charset="0"/>
                                        </a:rPr>
                                      </m:ctrlPr>
                                    </m:sSubPr>
                                    <m:e>
                                      <m:r>
                                        <a:rPr lang="sr-Latn-RS" sz="2200" i="1">
                                          <a:latin typeface="Cambria Math" panose="02040503050406030204" pitchFamily="18" charset="0"/>
                                          <a:ea typeface="Cambria Math" panose="02040503050406030204" pitchFamily="18" charset="0"/>
                                        </a:rPr>
                                        <m:t>𝑥</m:t>
                                      </m:r>
                                    </m:e>
                                    <m:sub>
                                      <m:r>
                                        <a:rPr lang="sr-Latn-RS" sz="2200" i="1">
                                          <a:latin typeface="Cambria Math" panose="02040503050406030204" pitchFamily="18" charset="0"/>
                                          <a:ea typeface="Cambria Math" panose="02040503050406030204" pitchFamily="18" charset="0"/>
                                        </a:rPr>
                                        <m:t>3</m:t>
                                      </m:r>
                                    </m:sub>
                                  </m:sSub>
                                </m:e>
                              </m:mr>
                            </m:m>
                          </m:e>
                        </m:d>
                        <m:r>
                          <a:rPr lang="en-US" sz="2200" b="0" i="1" smtClean="0">
                            <a:latin typeface="Cambria Math" panose="02040503050406030204" pitchFamily="18" charset="0"/>
                            <a:ea typeface="Cambria Math" panose="02040503050406030204" pitchFamily="18" charset="0"/>
                          </a:rPr>
                          <m:t>=</m:t>
                        </m:r>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1</m:t>
                            </m:r>
                          </m:num>
                          <m:den>
                            <m:r>
                              <a:rPr lang="en-US" sz="2200" i="1">
                                <a:latin typeface="Cambria Math" panose="02040503050406030204" pitchFamily="18" charset="0"/>
                                <a:ea typeface="Cambria Math" panose="02040503050406030204" pitchFamily="18" charset="0"/>
                              </a:rPr>
                              <m:t>2</m:t>
                            </m:r>
                          </m:den>
                        </m:f>
                        <m:d>
                          <m:dPr>
                            <m:ctrlPr>
                              <a:rPr lang="en-US" sz="2200" i="1">
                                <a:latin typeface="Cambria Math" panose="02040503050406030204" pitchFamily="18" charset="0"/>
                                <a:ea typeface="Cambria Math" panose="02040503050406030204" pitchFamily="18" charset="0"/>
                              </a:rPr>
                            </m:ctrlPr>
                          </m:dPr>
                          <m:e>
                            <m:m>
                              <m:mPr>
                                <m:mcs>
                                  <m:mc>
                                    <m:mcPr>
                                      <m:count m:val="1"/>
                                      <m:mcJc m:val="center"/>
                                    </m:mcPr>
                                  </m:mc>
                                </m:mcs>
                                <m:ctrlPr>
                                  <a:rPr lang="en-US" sz="2200" i="1">
                                    <a:latin typeface="Cambria Math" panose="02040503050406030204" pitchFamily="18" charset="0"/>
                                    <a:ea typeface="Cambria Math" panose="02040503050406030204" pitchFamily="18" charset="0"/>
                                  </a:rPr>
                                </m:ctrlPr>
                              </m:mPr>
                              <m:mr>
                                <m:e>
                                  <m:sSub>
                                    <m:sSubPr>
                                      <m:ctrlPr>
                                        <a:rPr lang="en-US" sz="2200" i="1">
                                          <a:latin typeface="Cambria Math" panose="02040503050406030204" pitchFamily="18" charset="0"/>
                                          <a:ea typeface="Cambria Math" panose="02040503050406030204" pitchFamily="18" charset="0"/>
                                        </a:rPr>
                                      </m:ctrlPr>
                                    </m:sSubPr>
                                    <m:e>
                                      <m:r>
                                        <a:rPr lang="sr-Latn-RS" sz="2200" i="1">
                                          <a:latin typeface="Cambria Math" panose="02040503050406030204" pitchFamily="18" charset="0"/>
                                          <a:ea typeface="Cambria Math" panose="02040503050406030204" pitchFamily="18" charset="0"/>
                                        </a:rPr>
                                        <m:t>𝑥</m:t>
                                      </m:r>
                                    </m:e>
                                    <m:sub>
                                      <m:r>
                                        <a:rPr lang="sr-Latn-RS" sz="2200" i="1">
                                          <a:latin typeface="Cambria Math" panose="02040503050406030204" pitchFamily="18" charset="0"/>
                                          <a:ea typeface="Cambria Math" panose="02040503050406030204" pitchFamily="18" charset="0"/>
                                        </a:rPr>
                                        <m:t>0</m:t>
                                      </m:r>
                                    </m:sub>
                                  </m:sSub>
                                  <m:r>
                                    <a:rPr lang="en-US" sz="2200" b="0" i="1" smtClean="0">
                                      <a:latin typeface="Cambria Math" panose="02040503050406030204" pitchFamily="18" charset="0"/>
                                      <a:ea typeface="Cambria Math" panose="02040503050406030204" pitchFamily="18" charset="0"/>
                                    </a:rPr>
                                    <m:t>+</m:t>
                                  </m:r>
                                  <m:sSub>
                                    <m:sSubPr>
                                      <m:ctrlPr>
                                        <a:rPr lang="en-US" sz="2200" i="1">
                                          <a:latin typeface="Cambria Math" panose="02040503050406030204" pitchFamily="18" charset="0"/>
                                          <a:ea typeface="Cambria Math" panose="02040503050406030204" pitchFamily="18" charset="0"/>
                                        </a:rPr>
                                      </m:ctrlPr>
                                    </m:sSubPr>
                                    <m:e>
                                      <m:r>
                                        <a:rPr lang="sr-Latn-RS" sz="2200" i="1">
                                          <a:latin typeface="Cambria Math" panose="02040503050406030204" pitchFamily="18" charset="0"/>
                                          <a:ea typeface="Cambria Math" panose="02040503050406030204" pitchFamily="18" charset="0"/>
                                        </a:rPr>
                                        <m:t>𝑥</m:t>
                                      </m:r>
                                    </m:e>
                                    <m:sub>
                                      <m:r>
                                        <a:rPr lang="en-US" sz="2200" b="0" i="1" smtClean="0">
                                          <a:latin typeface="Cambria Math" panose="02040503050406030204" pitchFamily="18" charset="0"/>
                                          <a:ea typeface="Cambria Math" panose="02040503050406030204" pitchFamily="18" charset="0"/>
                                        </a:rPr>
                                        <m:t>1</m:t>
                                      </m:r>
                                    </m:sub>
                                  </m:sSub>
                                  <m:r>
                                    <a:rPr lang="en-US" sz="2200" i="1">
                                      <a:latin typeface="Cambria Math" panose="02040503050406030204" pitchFamily="18" charset="0"/>
                                      <a:ea typeface="Cambria Math" panose="02040503050406030204" pitchFamily="18" charset="0"/>
                                    </a:rPr>
                                    <m:t>+</m:t>
                                  </m:r>
                                  <m:sSub>
                                    <m:sSubPr>
                                      <m:ctrlPr>
                                        <a:rPr lang="en-US" sz="2200" i="1">
                                          <a:latin typeface="Cambria Math" panose="02040503050406030204" pitchFamily="18" charset="0"/>
                                          <a:ea typeface="Cambria Math" panose="02040503050406030204" pitchFamily="18" charset="0"/>
                                        </a:rPr>
                                      </m:ctrlPr>
                                    </m:sSubPr>
                                    <m:e>
                                      <m:r>
                                        <a:rPr lang="sr-Latn-RS" sz="2200" i="1">
                                          <a:latin typeface="Cambria Math" panose="02040503050406030204" pitchFamily="18" charset="0"/>
                                          <a:ea typeface="Cambria Math" panose="02040503050406030204" pitchFamily="18" charset="0"/>
                                        </a:rPr>
                                        <m:t>𝑥</m:t>
                                      </m:r>
                                    </m:e>
                                    <m:sub>
                                      <m:r>
                                        <a:rPr lang="en-US" sz="2200" b="0" i="1" smtClean="0">
                                          <a:latin typeface="Cambria Math" panose="02040503050406030204" pitchFamily="18" charset="0"/>
                                          <a:ea typeface="Cambria Math" panose="02040503050406030204" pitchFamily="18" charset="0"/>
                                        </a:rPr>
                                        <m:t>2</m:t>
                                      </m:r>
                                    </m:sub>
                                  </m:sSub>
                                  <m:r>
                                    <a:rPr lang="en-US" sz="2200" i="1">
                                      <a:latin typeface="Cambria Math" panose="02040503050406030204" pitchFamily="18" charset="0"/>
                                      <a:ea typeface="Cambria Math" panose="02040503050406030204" pitchFamily="18" charset="0"/>
                                    </a:rPr>
                                    <m:t>+</m:t>
                                  </m:r>
                                  <m:sSub>
                                    <m:sSubPr>
                                      <m:ctrlPr>
                                        <a:rPr lang="en-US" sz="2200" i="1">
                                          <a:latin typeface="Cambria Math" panose="02040503050406030204" pitchFamily="18" charset="0"/>
                                          <a:ea typeface="Cambria Math" panose="02040503050406030204" pitchFamily="18" charset="0"/>
                                        </a:rPr>
                                      </m:ctrlPr>
                                    </m:sSubPr>
                                    <m:e>
                                      <m:r>
                                        <a:rPr lang="sr-Latn-RS" sz="2200" i="1">
                                          <a:latin typeface="Cambria Math" panose="02040503050406030204" pitchFamily="18" charset="0"/>
                                          <a:ea typeface="Cambria Math" panose="02040503050406030204" pitchFamily="18" charset="0"/>
                                        </a:rPr>
                                        <m:t>𝑥</m:t>
                                      </m:r>
                                    </m:e>
                                    <m:sub>
                                      <m:r>
                                        <a:rPr lang="en-US" sz="2200" b="0" i="1" smtClean="0">
                                          <a:latin typeface="Cambria Math" panose="02040503050406030204" pitchFamily="18" charset="0"/>
                                          <a:ea typeface="Cambria Math" panose="02040503050406030204" pitchFamily="18" charset="0"/>
                                        </a:rPr>
                                        <m:t>3</m:t>
                                      </m:r>
                                    </m:sub>
                                  </m:sSub>
                                </m:e>
                              </m:mr>
                              <m:mr>
                                <m:e>
                                  <m:sSub>
                                    <m:sSubPr>
                                      <m:ctrlPr>
                                        <a:rPr lang="en-US" sz="2200" i="1">
                                          <a:latin typeface="Cambria Math" panose="02040503050406030204" pitchFamily="18" charset="0"/>
                                          <a:ea typeface="Cambria Math" panose="02040503050406030204" pitchFamily="18" charset="0"/>
                                        </a:rPr>
                                      </m:ctrlPr>
                                    </m:sSubPr>
                                    <m:e>
                                      <m:r>
                                        <a:rPr lang="sr-Latn-RS" sz="2200" i="1">
                                          <a:latin typeface="Cambria Math" panose="02040503050406030204" pitchFamily="18" charset="0"/>
                                          <a:ea typeface="Cambria Math" panose="02040503050406030204" pitchFamily="18" charset="0"/>
                                        </a:rPr>
                                        <m:t>𝑥</m:t>
                                      </m:r>
                                    </m:e>
                                    <m:sub>
                                      <m:r>
                                        <a:rPr lang="sr-Latn-RS" sz="2200" i="1">
                                          <a:latin typeface="Cambria Math" panose="02040503050406030204" pitchFamily="18" charset="0"/>
                                          <a:ea typeface="Cambria Math" panose="02040503050406030204" pitchFamily="18" charset="0"/>
                                        </a:rPr>
                                        <m:t>0</m:t>
                                      </m:r>
                                    </m:sub>
                                  </m:sSub>
                                  <m:r>
                                    <a:rPr lang="en-US" sz="2200" i="1">
                                      <a:latin typeface="Cambria Math" panose="02040503050406030204" pitchFamily="18" charset="0"/>
                                      <a:ea typeface="Cambria Math" panose="02040503050406030204" pitchFamily="18" charset="0"/>
                                    </a:rPr>
                                    <m:t>+</m:t>
                                  </m:r>
                                  <m:sSub>
                                    <m:sSubPr>
                                      <m:ctrlPr>
                                        <a:rPr lang="en-US" sz="2200" i="1">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𝑖</m:t>
                                      </m:r>
                                      <m:r>
                                        <a:rPr lang="sr-Latn-RS" sz="2200" i="1">
                                          <a:latin typeface="Cambria Math" panose="02040503050406030204" pitchFamily="18" charset="0"/>
                                          <a:ea typeface="Cambria Math" panose="02040503050406030204" pitchFamily="18" charset="0"/>
                                        </a:rPr>
                                        <m:t>𝑥</m:t>
                                      </m:r>
                                    </m:e>
                                    <m:sub>
                                      <m:r>
                                        <a:rPr lang="en-US" sz="2200" i="1">
                                          <a:latin typeface="Cambria Math" panose="02040503050406030204" pitchFamily="18" charset="0"/>
                                          <a:ea typeface="Cambria Math" panose="02040503050406030204" pitchFamily="18" charset="0"/>
                                        </a:rPr>
                                        <m:t>1</m:t>
                                      </m:r>
                                    </m:sub>
                                  </m:sSub>
                                  <m:r>
                                    <a:rPr lang="en-US" sz="2200" b="0" i="1" smtClean="0">
                                      <a:latin typeface="Cambria Math" panose="02040503050406030204" pitchFamily="18" charset="0"/>
                                      <a:ea typeface="Cambria Math" panose="02040503050406030204" pitchFamily="18" charset="0"/>
                                    </a:rPr>
                                    <m:t>−</m:t>
                                  </m:r>
                                  <m:sSub>
                                    <m:sSubPr>
                                      <m:ctrlPr>
                                        <a:rPr lang="en-US" sz="2200" i="1">
                                          <a:latin typeface="Cambria Math" panose="02040503050406030204" pitchFamily="18" charset="0"/>
                                          <a:ea typeface="Cambria Math" panose="02040503050406030204" pitchFamily="18" charset="0"/>
                                        </a:rPr>
                                      </m:ctrlPr>
                                    </m:sSubPr>
                                    <m:e>
                                      <m:r>
                                        <a:rPr lang="sr-Latn-RS" sz="2200" i="1">
                                          <a:latin typeface="Cambria Math" panose="02040503050406030204" pitchFamily="18" charset="0"/>
                                          <a:ea typeface="Cambria Math" panose="02040503050406030204" pitchFamily="18" charset="0"/>
                                        </a:rPr>
                                        <m:t>𝑥</m:t>
                                      </m:r>
                                    </m:e>
                                    <m:sub>
                                      <m:r>
                                        <a:rPr lang="en-US" sz="2200" i="1">
                                          <a:latin typeface="Cambria Math" panose="02040503050406030204" pitchFamily="18" charset="0"/>
                                          <a:ea typeface="Cambria Math" panose="02040503050406030204" pitchFamily="18" charset="0"/>
                                        </a:rPr>
                                        <m:t>2</m:t>
                                      </m:r>
                                    </m:sub>
                                  </m:sSub>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𝑖</m:t>
                                  </m:r>
                                  <m:sSub>
                                    <m:sSubPr>
                                      <m:ctrlPr>
                                        <a:rPr lang="en-US" sz="2200" i="1">
                                          <a:latin typeface="Cambria Math" panose="02040503050406030204" pitchFamily="18" charset="0"/>
                                          <a:ea typeface="Cambria Math" panose="02040503050406030204" pitchFamily="18" charset="0"/>
                                        </a:rPr>
                                      </m:ctrlPr>
                                    </m:sSubPr>
                                    <m:e>
                                      <m:r>
                                        <a:rPr lang="sr-Latn-RS" sz="2200" i="1">
                                          <a:latin typeface="Cambria Math" panose="02040503050406030204" pitchFamily="18" charset="0"/>
                                          <a:ea typeface="Cambria Math" panose="02040503050406030204" pitchFamily="18" charset="0"/>
                                        </a:rPr>
                                        <m:t>𝑥</m:t>
                                      </m:r>
                                    </m:e>
                                    <m:sub>
                                      <m:r>
                                        <a:rPr lang="en-US" sz="2200" i="1">
                                          <a:latin typeface="Cambria Math" panose="02040503050406030204" pitchFamily="18" charset="0"/>
                                          <a:ea typeface="Cambria Math" panose="02040503050406030204" pitchFamily="18" charset="0"/>
                                        </a:rPr>
                                        <m:t>3</m:t>
                                      </m:r>
                                    </m:sub>
                                  </m:sSub>
                                </m:e>
                              </m:mr>
                              <m:mr>
                                <m:e>
                                  <m:sSub>
                                    <m:sSubPr>
                                      <m:ctrlPr>
                                        <a:rPr lang="en-US" sz="2200" i="1">
                                          <a:latin typeface="Cambria Math" panose="02040503050406030204" pitchFamily="18" charset="0"/>
                                          <a:ea typeface="Cambria Math" panose="02040503050406030204" pitchFamily="18" charset="0"/>
                                        </a:rPr>
                                      </m:ctrlPr>
                                    </m:sSubPr>
                                    <m:e>
                                      <m:r>
                                        <a:rPr lang="sr-Latn-RS" sz="2200" i="1">
                                          <a:latin typeface="Cambria Math" panose="02040503050406030204" pitchFamily="18" charset="0"/>
                                          <a:ea typeface="Cambria Math" panose="02040503050406030204" pitchFamily="18" charset="0"/>
                                        </a:rPr>
                                        <m:t>𝑥</m:t>
                                      </m:r>
                                    </m:e>
                                    <m:sub>
                                      <m:r>
                                        <a:rPr lang="sr-Latn-RS" sz="2200" i="1">
                                          <a:latin typeface="Cambria Math" panose="02040503050406030204" pitchFamily="18" charset="0"/>
                                          <a:ea typeface="Cambria Math" panose="02040503050406030204" pitchFamily="18" charset="0"/>
                                        </a:rPr>
                                        <m:t>0</m:t>
                                      </m:r>
                                    </m:sub>
                                  </m:sSub>
                                  <m:r>
                                    <a:rPr lang="en-US" sz="2200" b="0" i="1" smtClean="0">
                                      <a:latin typeface="Cambria Math" panose="02040503050406030204" pitchFamily="18" charset="0"/>
                                      <a:ea typeface="Cambria Math" panose="02040503050406030204" pitchFamily="18" charset="0"/>
                                    </a:rPr>
                                    <m:t>−</m:t>
                                  </m:r>
                                  <m:sSub>
                                    <m:sSubPr>
                                      <m:ctrlPr>
                                        <a:rPr lang="en-US" sz="2200" i="1">
                                          <a:latin typeface="Cambria Math" panose="02040503050406030204" pitchFamily="18" charset="0"/>
                                          <a:ea typeface="Cambria Math" panose="02040503050406030204" pitchFamily="18" charset="0"/>
                                        </a:rPr>
                                      </m:ctrlPr>
                                    </m:sSubPr>
                                    <m:e>
                                      <m:r>
                                        <a:rPr lang="sr-Latn-RS" sz="2200" i="1">
                                          <a:latin typeface="Cambria Math" panose="02040503050406030204" pitchFamily="18" charset="0"/>
                                          <a:ea typeface="Cambria Math" panose="02040503050406030204" pitchFamily="18" charset="0"/>
                                        </a:rPr>
                                        <m:t>𝑥</m:t>
                                      </m:r>
                                    </m:e>
                                    <m:sub>
                                      <m:r>
                                        <a:rPr lang="en-US" sz="2200" i="1">
                                          <a:latin typeface="Cambria Math" panose="02040503050406030204" pitchFamily="18" charset="0"/>
                                          <a:ea typeface="Cambria Math" panose="02040503050406030204" pitchFamily="18" charset="0"/>
                                        </a:rPr>
                                        <m:t>1</m:t>
                                      </m:r>
                                    </m:sub>
                                  </m:sSub>
                                  <m:r>
                                    <a:rPr lang="en-US" sz="2200" i="1">
                                      <a:latin typeface="Cambria Math" panose="02040503050406030204" pitchFamily="18" charset="0"/>
                                      <a:ea typeface="Cambria Math" panose="02040503050406030204" pitchFamily="18" charset="0"/>
                                    </a:rPr>
                                    <m:t>+</m:t>
                                  </m:r>
                                  <m:sSub>
                                    <m:sSubPr>
                                      <m:ctrlPr>
                                        <a:rPr lang="en-US" sz="2200" i="1">
                                          <a:latin typeface="Cambria Math" panose="02040503050406030204" pitchFamily="18" charset="0"/>
                                          <a:ea typeface="Cambria Math" panose="02040503050406030204" pitchFamily="18" charset="0"/>
                                        </a:rPr>
                                      </m:ctrlPr>
                                    </m:sSubPr>
                                    <m:e>
                                      <m:r>
                                        <a:rPr lang="sr-Latn-RS" sz="2200" i="1">
                                          <a:latin typeface="Cambria Math" panose="02040503050406030204" pitchFamily="18" charset="0"/>
                                          <a:ea typeface="Cambria Math" panose="02040503050406030204" pitchFamily="18" charset="0"/>
                                        </a:rPr>
                                        <m:t>𝑥</m:t>
                                      </m:r>
                                    </m:e>
                                    <m:sub>
                                      <m:r>
                                        <a:rPr lang="en-US" sz="2200" i="1">
                                          <a:latin typeface="Cambria Math" panose="02040503050406030204" pitchFamily="18" charset="0"/>
                                          <a:ea typeface="Cambria Math" panose="02040503050406030204" pitchFamily="18" charset="0"/>
                                        </a:rPr>
                                        <m:t>2</m:t>
                                      </m:r>
                                    </m:sub>
                                  </m:sSub>
                                  <m:r>
                                    <a:rPr lang="en-US" sz="2200" b="0" i="1" smtClean="0">
                                      <a:latin typeface="Cambria Math" panose="02040503050406030204" pitchFamily="18" charset="0"/>
                                      <a:ea typeface="Cambria Math" panose="02040503050406030204" pitchFamily="18" charset="0"/>
                                    </a:rPr>
                                    <m:t>−</m:t>
                                  </m:r>
                                  <m:sSub>
                                    <m:sSubPr>
                                      <m:ctrlPr>
                                        <a:rPr lang="en-US" sz="2200" i="1">
                                          <a:latin typeface="Cambria Math" panose="02040503050406030204" pitchFamily="18" charset="0"/>
                                          <a:ea typeface="Cambria Math" panose="02040503050406030204" pitchFamily="18" charset="0"/>
                                        </a:rPr>
                                      </m:ctrlPr>
                                    </m:sSubPr>
                                    <m:e>
                                      <m:r>
                                        <a:rPr lang="sr-Latn-RS" sz="2200" i="1">
                                          <a:latin typeface="Cambria Math" panose="02040503050406030204" pitchFamily="18" charset="0"/>
                                          <a:ea typeface="Cambria Math" panose="02040503050406030204" pitchFamily="18" charset="0"/>
                                        </a:rPr>
                                        <m:t>𝑥</m:t>
                                      </m:r>
                                    </m:e>
                                    <m:sub>
                                      <m:r>
                                        <a:rPr lang="en-US" sz="2200" i="1">
                                          <a:latin typeface="Cambria Math" panose="02040503050406030204" pitchFamily="18" charset="0"/>
                                          <a:ea typeface="Cambria Math" panose="02040503050406030204" pitchFamily="18" charset="0"/>
                                        </a:rPr>
                                        <m:t>3</m:t>
                                      </m:r>
                                    </m:sub>
                                  </m:sSub>
                                </m:e>
                              </m:mr>
                              <m:mr>
                                <m:e>
                                  <m:sSub>
                                    <m:sSubPr>
                                      <m:ctrlPr>
                                        <a:rPr lang="en-US" sz="2200" i="1">
                                          <a:latin typeface="Cambria Math" panose="02040503050406030204" pitchFamily="18" charset="0"/>
                                          <a:ea typeface="Cambria Math" panose="02040503050406030204" pitchFamily="18" charset="0"/>
                                        </a:rPr>
                                      </m:ctrlPr>
                                    </m:sSubPr>
                                    <m:e>
                                      <m:r>
                                        <a:rPr lang="sr-Latn-RS" sz="2200" i="1">
                                          <a:latin typeface="Cambria Math" panose="02040503050406030204" pitchFamily="18" charset="0"/>
                                          <a:ea typeface="Cambria Math" panose="02040503050406030204" pitchFamily="18" charset="0"/>
                                        </a:rPr>
                                        <m:t>𝑥</m:t>
                                      </m:r>
                                    </m:e>
                                    <m:sub>
                                      <m:r>
                                        <a:rPr lang="sr-Latn-RS" sz="2200" i="1">
                                          <a:latin typeface="Cambria Math" panose="02040503050406030204" pitchFamily="18" charset="0"/>
                                          <a:ea typeface="Cambria Math" panose="02040503050406030204" pitchFamily="18" charset="0"/>
                                        </a:rPr>
                                        <m:t>0</m:t>
                                      </m:r>
                                    </m:sub>
                                  </m:sSub>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𝑖</m:t>
                                  </m:r>
                                  <m:sSub>
                                    <m:sSubPr>
                                      <m:ctrlPr>
                                        <a:rPr lang="en-US" sz="2200" i="1">
                                          <a:latin typeface="Cambria Math" panose="02040503050406030204" pitchFamily="18" charset="0"/>
                                          <a:ea typeface="Cambria Math" panose="02040503050406030204" pitchFamily="18" charset="0"/>
                                        </a:rPr>
                                      </m:ctrlPr>
                                    </m:sSubPr>
                                    <m:e>
                                      <m:r>
                                        <a:rPr lang="sr-Latn-RS" sz="2200" i="1">
                                          <a:latin typeface="Cambria Math" panose="02040503050406030204" pitchFamily="18" charset="0"/>
                                          <a:ea typeface="Cambria Math" panose="02040503050406030204" pitchFamily="18" charset="0"/>
                                        </a:rPr>
                                        <m:t>𝑥</m:t>
                                      </m:r>
                                    </m:e>
                                    <m:sub>
                                      <m:r>
                                        <a:rPr lang="en-US" sz="2200" i="1">
                                          <a:latin typeface="Cambria Math" panose="02040503050406030204" pitchFamily="18" charset="0"/>
                                          <a:ea typeface="Cambria Math" panose="02040503050406030204" pitchFamily="18" charset="0"/>
                                        </a:rPr>
                                        <m:t>1</m:t>
                                      </m:r>
                                    </m:sub>
                                  </m:sSub>
                                  <m:r>
                                    <a:rPr lang="en-US" sz="2200" b="0" i="1" smtClean="0">
                                      <a:latin typeface="Cambria Math" panose="02040503050406030204" pitchFamily="18" charset="0"/>
                                      <a:ea typeface="Cambria Math" panose="02040503050406030204" pitchFamily="18" charset="0"/>
                                    </a:rPr>
                                    <m:t>−</m:t>
                                  </m:r>
                                  <m:sSub>
                                    <m:sSubPr>
                                      <m:ctrlPr>
                                        <a:rPr lang="en-US" sz="2200" i="1">
                                          <a:latin typeface="Cambria Math" panose="02040503050406030204" pitchFamily="18" charset="0"/>
                                          <a:ea typeface="Cambria Math" panose="02040503050406030204" pitchFamily="18" charset="0"/>
                                        </a:rPr>
                                      </m:ctrlPr>
                                    </m:sSubPr>
                                    <m:e>
                                      <m:r>
                                        <a:rPr lang="sr-Latn-RS" sz="2200" i="1">
                                          <a:latin typeface="Cambria Math" panose="02040503050406030204" pitchFamily="18" charset="0"/>
                                          <a:ea typeface="Cambria Math" panose="02040503050406030204" pitchFamily="18" charset="0"/>
                                        </a:rPr>
                                        <m:t>𝑥</m:t>
                                      </m:r>
                                    </m:e>
                                    <m:sub>
                                      <m:r>
                                        <a:rPr lang="en-US" sz="2200" i="1">
                                          <a:latin typeface="Cambria Math" panose="02040503050406030204" pitchFamily="18" charset="0"/>
                                          <a:ea typeface="Cambria Math" panose="02040503050406030204" pitchFamily="18" charset="0"/>
                                        </a:rPr>
                                        <m:t>2</m:t>
                                      </m:r>
                                    </m:sub>
                                  </m:sSub>
                                  <m:r>
                                    <a:rPr lang="en-US"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𝑖</m:t>
                                  </m:r>
                                  <m:sSub>
                                    <m:sSubPr>
                                      <m:ctrlPr>
                                        <a:rPr lang="en-US" sz="2200" i="1">
                                          <a:latin typeface="Cambria Math" panose="02040503050406030204" pitchFamily="18" charset="0"/>
                                          <a:ea typeface="Cambria Math" panose="02040503050406030204" pitchFamily="18" charset="0"/>
                                        </a:rPr>
                                      </m:ctrlPr>
                                    </m:sSubPr>
                                    <m:e>
                                      <m:r>
                                        <a:rPr lang="sr-Latn-RS" sz="2200" i="1">
                                          <a:latin typeface="Cambria Math" panose="02040503050406030204" pitchFamily="18" charset="0"/>
                                          <a:ea typeface="Cambria Math" panose="02040503050406030204" pitchFamily="18" charset="0"/>
                                        </a:rPr>
                                        <m:t>𝑥</m:t>
                                      </m:r>
                                    </m:e>
                                    <m:sub>
                                      <m:r>
                                        <a:rPr lang="en-US" sz="2200" i="1">
                                          <a:latin typeface="Cambria Math" panose="02040503050406030204" pitchFamily="18" charset="0"/>
                                          <a:ea typeface="Cambria Math" panose="02040503050406030204" pitchFamily="18" charset="0"/>
                                        </a:rPr>
                                        <m:t>3</m:t>
                                      </m:r>
                                    </m:sub>
                                  </m:sSub>
                                </m:e>
                              </m:mr>
                            </m:m>
                          </m:e>
                        </m:d>
                      </m:oMath>
                    </m:oMathPara>
                  </a14:m>
                  <a:endParaRPr lang="en-US" sz="2200" dirty="0"/>
                </a:p>
              </p:txBody>
            </p:sp>
          </mc:Choice>
          <mc:Fallback xmlns="">
            <p:sp>
              <p:nvSpPr>
                <p:cNvPr id="10" name="Rectangle 9">
                  <a:extLst>
                    <a:ext uri="{FF2B5EF4-FFF2-40B4-BE49-F238E27FC236}">
                      <a16:creationId xmlns:a16="http://schemas.microsoft.com/office/drawing/2014/main" id="{49247507-A31F-CF4F-A540-C9F4146CA754}"/>
                    </a:ext>
                  </a:extLst>
                </p:cNvPr>
                <p:cNvSpPr>
                  <a:spLocks noRot="1" noChangeAspect="1" noMove="1" noResize="1" noEditPoints="1" noAdjustHandles="1" noChangeArrowheads="1" noChangeShapeType="1" noTextEdit="1"/>
                </p:cNvSpPr>
                <p:nvPr/>
              </p:nvSpPr>
              <p:spPr>
                <a:xfrm>
                  <a:off x="193519" y="4741780"/>
                  <a:ext cx="11744696" cy="1363963"/>
                </a:xfrm>
                <a:prstGeom prst="rect">
                  <a:avLst/>
                </a:prstGeom>
                <a:blipFill>
                  <a:blip r:embed="rId4"/>
                  <a:stretch>
                    <a:fillRect b="-917"/>
                  </a:stretch>
                </a:blipFill>
              </p:spPr>
              <p:txBody>
                <a:bodyPr/>
                <a:lstStyle/>
                <a:p>
                  <a:r>
                    <a:rPr lang="en-US">
                      <a:noFill/>
                    </a:rPr>
                    <a:t> </a:t>
                  </a:r>
                </a:p>
              </p:txBody>
            </p:sp>
          </mc:Fallback>
        </mc:AlternateContent>
      </p:grpSp>
    </p:spTree>
    <p:extLst>
      <p:ext uri="{BB962C8B-B14F-4D97-AF65-F5344CB8AC3E}">
        <p14:creationId xmlns:p14="http://schemas.microsoft.com/office/powerpoint/2010/main" val="2235074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64939-07B6-CE43-8D18-9C6B7F70DEA3}"/>
              </a:ext>
            </a:extLst>
          </p:cNvPr>
          <p:cNvSpPr>
            <a:spLocks noGrp="1"/>
          </p:cNvSpPr>
          <p:nvPr>
            <p:ph type="title"/>
          </p:nvPr>
        </p:nvSpPr>
        <p:spPr/>
        <p:txBody>
          <a:bodyPr>
            <a:normAutofit/>
          </a:bodyPr>
          <a:lstStyle/>
          <a:p>
            <a:r>
              <a:rPr lang="en-ZA" dirty="0"/>
              <a:t>Quantum Fourier Transform and Inverse Quantum Fourier Transform</a:t>
            </a:r>
            <a:endParaRPr lang="en-US" dirty="0"/>
          </a:p>
        </p:txBody>
      </p:sp>
      <p:sp>
        <p:nvSpPr>
          <p:cNvPr id="3" name="Slide Number Placeholder 2">
            <a:extLst>
              <a:ext uri="{FF2B5EF4-FFF2-40B4-BE49-F238E27FC236}">
                <a16:creationId xmlns:a16="http://schemas.microsoft.com/office/drawing/2014/main" id="{1D823C7B-7A7F-6F47-B9AE-E8B524D4AA45}"/>
              </a:ext>
            </a:extLst>
          </p:cNvPr>
          <p:cNvSpPr>
            <a:spLocks noGrp="1"/>
          </p:cNvSpPr>
          <p:nvPr>
            <p:ph type="sldNum" sz="quarter" idx="12"/>
          </p:nvPr>
        </p:nvSpPr>
        <p:spPr/>
        <p:txBody>
          <a:bodyPr/>
          <a:lstStyle/>
          <a:p>
            <a:fld id="{591A223C-FA10-BC46-A853-03BA373D023C}" type="slidenum">
              <a:rPr lang="en-US" smtClean="0"/>
              <a:t>55</a:t>
            </a:fld>
            <a:endParaRPr lang="en-US"/>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A1268109-772D-074C-ADB3-47DFCD722F4B}"/>
                  </a:ext>
                </a:extLst>
              </p:cNvPr>
              <p:cNvSpPr/>
              <p:nvPr/>
            </p:nvSpPr>
            <p:spPr>
              <a:xfrm>
                <a:off x="151602" y="1009428"/>
                <a:ext cx="10393551" cy="183383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b="0" i="1" smtClean="0">
                              <a:solidFill>
                                <a:srgbClr val="002060"/>
                              </a:solidFill>
                              <a:latin typeface="Cambria Math" panose="02040503050406030204" pitchFamily="18" charset="0"/>
                              <a:ea typeface="Cambria Math" panose="02040503050406030204" pitchFamily="18" charset="0"/>
                            </a:rPr>
                            <m:t>𝑥</m:t>
                          </m:r>
                        </m:e>
                      </m:d>
                      <m:r>
                        <a:rPr lang="sr-Latn-RS" sz="2400" b="0" i="1" smtClean="0">
                          <a:solidFill>
                            <a:srgbClr val="002060"/>
                          </a:solidFill>
                          <a:latin typeface="Cambria Math" panose="02040503050406030204" pitchFamily="18" charset="0"/>
                          <a:ea typeface="Cambria Math" panose="02040503050406030204" pitchFamily="18" charset="0"/>
                        </a:rPr>
                        <m:t>=</m:t>
                      </m:r>
                      <m:nary>
                        <m:naryPr>
                          <m:chr m:val="∑"/>
                          <m:ctrlPr>
                            <a:rPr lang="en-US" sz="2400" i="1">
                              <a:solidFill>
                                <a:srgbClr val="002060"/>
                              </a:solidFill>
                              <a:latin typeface="Cambria Math" panose="02040503050406030204" pitchFamily="18" charset="0"/>
                              <a:ea typeface="Cambria Math" panose="02040503050406030204" pitchFamily="18" charset="0"/>
                            </a:rPr>
                          </m:ctrlPr>
                        </m:naryPr>
                        <m:sub>
                          <m:r>
                            <a:rPr lang="sr-Latn-RS" sz="2400" b="0" i="1" smtClean="0">
                              <a:solidFill>
                                <a:srgbClr val="002060"/>
                              </a:solidFill>
                              <a:latin typeface="Cambria Math" panose="02040503050406030204" pitchFamily="18" charset="0"/>
                              <a:ea typeface="Cambria Math" panose="02040503050406030204" pitchFamily="18" charset="0"/>
                            </a:rPr>
                            <m:t>𝑘</m:t>
                          </m:r>
                          <m:r>
                            <a:rPr lang="en-US" sz="2400" i="1">
                              <a:solidFill>
                                <a:srgbClr val="002060"/>
                              </a:solidFill>
                              <a:latin typeface="Cambria Math" panose="02040503050406030204" pitchFamily="18" charset="0"/>
                              <a:ea typeface="Cambria Math" panose="02040503050406030204" pitchFamily="18" charset="0"/>
                            </a:rPr>
                            <m:t>=0</m:t>
                          </m:r>
                        </m:sub>
                        <m:sup>
                          <m:r>
                            <a:rPr lang="en-US" sz="2400" i="1">
                              <a:solidFill>
                                <a:srgbClr val="002060"/>
                              </a:solidFill>
                              <a:latin typeface="Cambria Math" panose="02040503050406030204" pitchFamily="18" charset="0"/>
                              <a:ea typeface="Cambria Math" panose="02040503050406030204" pitchFamily="18" charset="0"/>
                            </a:rPr>
                            <m:t>𝑁</m:t>
                          </m:r>
                          <m:r>
                            <a:rPr lang="en-US" sz="2400" i="1">
                              <a:solidFill>
                                <a:srgbClr val="002060"/>
                              </a:solidFill>
                              <a:latin typeface="Cambria Math" panose="02040503050406030204" pitchFamily="18" charset="0"/>
                              <a:ea typeface="Cambria Math" panose="02040503050406030204" pitchFamily="18" charset="0"/>
                            </a:rPr>
                            <m:t>−1</m:t>
                          </m:r>
                        </m:sup>
                        <m:e>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en-US" sz="2400" b="0" i="1" smtClean="0">
                                  <a:solidFill>
                                    <a:srgbClr val="002060"/>
                                  </a:solidFill>
                                  <a:latin typeface="Cambria Math" panose="02040503050406030204" pitchFamily="18" charset="0"/>
                                  <a:ea typeface="Cambria Math" panose="02040503050406030204" pitchFamily="18" charset="0"/>
                                </a:rPr>
                                <m:t>𝑥</m:t>
                              </m:r>
                            </m:e>
                            <m:sub>
                              <m:r>
                                <a:rPr lang="sr-Latn-RS" sz="2400" b="0" i="1" smtClean="0">
                                  <a:solidFill>
                                    <a:srgbClr val="002060"/>
                                  </a:solidFill>
                                  <a:latin typeface="Cambria Math" panose="02040503050406030204" pitchFamily="18" charset="0"/>
                                  <a:ea typeface="Cambria Math" panose="02040503050406030204" pitchFamily="18" charset="0"/>
                                </a:rPr>
                                <m:t>𝑘</m:t>
                              </m:r>
                            </m:sub>
                          </m:sSub>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sr-Latn-RS" sz="2400" b="0" i="1" smtClean="0">
                                  <a:solidFill>
                                    <a:srgbClr val="002060"/>
                                  </a:solidFill>
                                  <a:latin typeface="Cambria Math" panose="02040503050406030204" pitchFamily="18" charset="0"/>
                                  <a:ea typeface="Cambria Math" panose="02040503050406030204" pitchFamily="18" charset="0"/>
                                </a:rPr>
                                <m:t>𝑘</m:t>
                              </m:r>
                            </m:e>
                          </m:d>
                          <m:groupChr>
                            <m:groupChrPr>
                              <m:chr m:val="→"/>
                              <m:vertJc m:val="bot"/>
                              <m:ctrlPr>
                                <a:rPr lang="sr-Latn-RS" sz="2400" b="0" i="1" smtClean="0">
                                  <a:solidFill>
                                    <a:srgbClr val="002060"/>
                                  </a:solidFill>
                                  <a:latin typeface="Cambria Math" panose="02040503050406030204" pitchFamily="18" charset="0"/>
                                  <a:ea typeface="Cambria Math" panose="02040503050406030204" pitchFamily="18" charset="0"/>
                                </a:rPr>
                              </m:ctrlPr>
                            </m:groupChrPr>
                            <m:e>
                              <m:r>
                                <m:rPr>
                                  <m:brk m:alnAt="2"/>
                                </m:rPr>
                                <a:rPr lang="en-US" sz="2400" b="0" i="1" smtClean="0">
                                  <a:solidFill>
                                    <a:srgbClr val="002060"/>
                                  </a:solidFill>
                                  <a:latin typeface="Cambria Math" panose="02040503050406030204" pitchFamily="18" charset="0"/>
                                  <a:ea typeface="Cambria Math" panose="02040503050406030204" pitchFamily="18" charset="0"/>
                                </a:rPr>
                                <m:t>𝑄</m:t>
                              </m:r>
                              <m:r>
                                <a:rPr lang="sr-Latn-RS" sz="2400" b="0" i="1" smtClean="0">
                                  <a:solidFill>
                                    <a:srgbClr val="002060"/>
                                  </a:solidFill>
                                  <a:latin typeface="Cambria Math" panose="02040503050406030204" pitchFamily="18" charset="0"/>
                                  <a:ea typeface="Cambria Math" panose="02040503050406030204" pitchFamily="18" charset="0"/>
                                </a:rPr>
                                <m:t>𝐹𝑇</m:t>
                              </m:r>
                            </m:e>
                          </m:groupChr>
                        </m:e>
                      </m:nary>
                      <m:d>
                        <m:dPr>
                          <m:begChr m:val="{"/>
                          <m:endChr m:val=""/>
                          <m:ctrlPr>
                            <a:rPr lang="sr-Latn-RS" sz="2400" b="0" i="1" smtClean="0">
                              <a:solidFill>
                                <a:srgbClr val="002060"/>
                              </a:solidFill>
                              <a:latin typeface="Cambria Math" panose="02040503050406030204" pitchFamily="18" charset="0"/>
                              <a:ea typeface="Cambria Math" panose="02040503050406030204" pitchFamily="18" charset="0"/>
                            </a:rPr>
                          </m:ctrlPr>
                        </m:dPr>
                        <m:e>
                          <m:eqArr>
                            <m:eqArrPr>
                              <m:ctrlPr>
                                <a:rPr lang="sr-Latn-RS" sz="2400" b="0" i="1" smtClean="0">
                                  <a:solidFill>
                                    <a:srgbClr val="002060"/>
                                  </a:solidFill>
                                  <a:latin typeface="Cambria Math" panose="02040503050406030204" pitchFamily="18" charset="0"/>
                                  <a:ea typeface="Cambria Math" panose="02040503050406030204" pitchFamily="18" charset="0"/>
                                </a:rPr>
                              </m:ctrlPr>
                            </m:eqArrPr>
                            <m:e>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acc>
                                    <m:accPr>
                                      <m:chr m:val="̃"/>
                                      <m:ctrlPr>
                                        <a:rPr lang="en-US" sz="2400" i="1">
                                          <a:solidFill>
                                            <a:srgbClr val="002060"/>
                                          </a:solidFill>
                                          <a:latin typeface="Cambria Math" panose="02040503050406030204" pitchFamily="18" charset="0"/>
                                          <a:ea typeface="Cambria Math" panose="02040503050406030204" pitchFamily="18" charset="0"/>
                                        </a:rPr>
                                      </m:ctrlPr>
                                    </m:accPr>
                                    <m:e>
                                      <m:r>
                                        <a:rPr lang="en-US" sz="2400" i="1">
                                          <a:solidFill>
                                            <a:srgbClr val="002060"/>
                                          </a:solidFill>
                                          <a:latin typeface="Cambria Math" panose="02040503050406030204" pitchFamily="18" charset="0"/>
                                          <a:ea typeface="Cambria Math" panose="02040503050406030204" pitchFamily="18" charset="0"/>
                                        </a:rPr>
                                        <m:t>𝑥</m:t>
                                      </m:r>
                                    </m:e>
                                  </m:acc>
                                </m:e>
                              </m:d>
                              <m:r>
                                <a:rPr lang="en-US" sz="2400" i="1">
                                  <a:solidFill>
                                    <a:srgbClr val="002060"/>
                                  </a:solidFill>
                                  <a:latin typeface="Cambria Math" panose="02040503050406030204" pitchFamily="18" charset="0"/>
                                  <a:ea typeface="Cambria Math" panose="02040503050406030204" pitchFamily="18" charset="0"/>
                                </a:rPr>
                                <m:t>=</m:t>
                              </m:r>
                              <m:nary>
                                <m:naryPr>
                                  <m:chr m:val="∑"/>
                                  <m:ctrlPr>
                                    <a:rPr lang="en-US" sz="2400" i="1">
                                      <a:solidFill>
                                        <a:srgbClr val="002060"/>
                                      </a:solidFill>
                                      <a:latin typeface="Cambria Math" panose="02040503050406030204" pitchFamily="18" charset="0"/>
                                      <a:ea typeface="Cambria Math" panose="02040503050406030204" pitchFamily="18" charset="0"/>
                                    </a:rPr>
                                  </m:ctrlPr>
                                </m:naryPr>
                                <m:sub>
                                  <m:r>
                                    <a:rPr lang="en-US" sz="2400" i="1">
                                      <a:solidFill>
                                        <a:srgbClr val="002060"/>
                                      </a:solidFill>
                                      <a:latin typeface="Cambria Math" panose="02040503050406030204" pitchFamily="18" charset="0"/>
                                      <a:ea typeface="Cambria Math" panose="02040503050406030204" pitchFamily="18" charset="0"/>
                                    </a:rPr>
                                    <m:t>𝑘</m:t>
                                  </m:r>
                                  <m:r>
                                    <a:rPr lang="en-US" sz="2400" i="1">
                                      <a:solidFill>
                                        <a:srgbClr val="002060"/>
                                      </a:solidFill>
                                      <a:latin typeface="Cambria Math" panose="02040503050406030204" pitchFamily="18" charset="0"/>
                                      <a:ea typeface="Cambria Math" panose="02040503050406030204" pitchFamily="18" charset="0"/>
                                    </a:rPr>
                                    <m:t>=0</m:t>
                                  </m:r>
                                </m:sub>
                                <m:sup>
                                  <m:r>
                                    <a:rPr lang="en-US" sz="2400" i="1">
                                      <a:solidFill>
                                        <a:srgbClr val="002060"/>
                                      </a:solidFill>
                                      <a:latin typeface="Cambria Math" panose="02040503050406030204" pitchFamily="18" charset="0"/>
                                      <a:ea typeface="Cambria Math" panose="02040503050406030204" pitchFamily="18" charset="0"/>
                                    </a:rPr>
                                    <m:t>𝑁</m:t>
                                  </m:r>
                                  <m:r>
                                    <a:rPr lang="en-US" sz="2400" i="1">
                                      <a:solidFill>
                                        <a:srgbClr val="002060"/>
                                      </a:solidFill>
                                      <a:latin typeface="Cambria Math" panose="02040503050406030204" pitchFamily="18" charset="0"/>
                                      <a:ea typeface="Cambria Math" panose="02040503050406030204" pitchFamily="18" charset="0"/>
                                    </a:rPr>
                                    <m:t>−1</m:t>
                                  </m:r>
                                </m:sup>
                                <m:e>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𝑦</m:t>
                                      </m:r>
                                    </m:e>
                                    <m:sub>
                                      <m:r>
                                        <a:rPr lang="en-US" sz="2400" i="1">
                                          <a:solidFill>
                                            <a:srgbClr val="002060"/>
                                          </a:solidFill>
                                          <a:latin typeface="Cambria Math" panose="02040503050406030204" pitchFamily="18" charset="0"/>
                                          <a:ea typeface="Cambria Math" panose="02040503050406030204" pitchFamily="18" charset="0"/>
                                        </a:rPr>
                                        <m:t>𝑘</m:t>
                                      </m:r>
                                    </m:sub>
                                  </m:sSub>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𝑘</m:t>
                                      </m:r>
                                    </m:e>
                                  </m:d>
                                </m:e>
                              </m:nary>
                              <m:r>
                                <a:rPr lang="sr-Latn-RS" sz="2400" b="0" i="0" smtClean="0">
                                  <a:solidFill>
                                    <a:srgbClr val="002060"/>
                                  </a:solidFill>
                                  <a:latin typeface="Cambria Math" panose="02040503050406030204" pitchFamily="18" charset="0"/>
                                  <a:ea typeface="Cambria Math" panose="02040503050406030204" pitchFamily="18" charset="0"/>
                                </a:rPr>
                                <m:t>  </m:t>
                              </m:r>
                              <m:r>
                                <m:rPr>
                                  <m:sty m:val="p"/>
                                </m:rPr>
                                <a:rPr lang="en-US" sz="2400" b="0" i="0" smtClean="0">
                                  <a:solidFill>
                                    <a:srgbClr val="002060"/>
                                  </a:solidFill>
                                  <a:latin typeface="Cambria Math" panose="02040503050406030204" pitchFamily="18" charset="0"/>
                                  <a:ea typeface="Cambria Math" panose="02040503050406030204" pitchFamily="18" charset="0"/>
                                </a:rPr>
                                <m:t>where</m:t>
                              </m:r>
                              <m:r>
                                <a:rPr lang="sr-Latn-RS" sz="2400" b="0" i="1" smtClean="0">
                                  <a:solidFill>
                                    <a:srgbClr val="002060"/>
                                  </a:solidFill>
                                  <a:latin typeface="Cambria Math" panose="02040503050406030204" pitchFamily="18" charset="0"/>
                                  <a:ea typeface="Cambria Math" panose="02040503050406030204" pitchFamily="18" charset="0"/>
                                </a:rPr>
                                <m:t> </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sr-Latn-RS" sz="2400" b="0" i="1" smtClean="0">
                                      <a:solidFill>
                                        <a:srgbClr val="002060"/>
                                      </a:solidFill>
                                      <a:latin typeface="Cambria Math" panose="02040503050406030204" pitchFamily="18" charset="0"/>
                                      <a:ea typeface="Cambria Math" panose="02040503050406030204" pitchFamily="18" charset="0"/>
                                    </a:rPr>
                                    <m:t>   </m:t>
                                  </m:r>
                                  <m:r>
                                    <a:rPr lang="en-US" sz="2400" i="1">
                                      <a:solidFill>
                                        <a:srgbClr val="002060"/>
                                      </a:solidFill>
                                      <a:latin typeface="Cambria Math" panose="02040503050406030204" pitchFamily="18" charset="0"/>
                                      <a:ea typeface="Cambria Math" panose="02040503050406030204" pitchFamily="18" charset="0"/>
                                    </a:rPr>
                                    <m:t>𝑦</m:t>
                                  </m:r>
                                </m:e>
                                <m:sub>
                                  <m:r>
                                    <a:rPr lang="en-US" sz="2400" i="1">
                                      <a:solidFill>
                                        <a:srgbClr val="002060"/>
                                      </a:solidFill>
                                      <a:latin typeface="Cambria Math" panose="02040503050406030204" pitchFamily="18" charset="0"/>
                                      <a:ea typeface="Cambria Math" panose="02040503050406030204" pitchFamily="18" charset="0"/>
                                    </a:rPr>
                                    <m:t>𝑘</m:t>
                                  </m:r>
                                </m:sub>
                              </m:sSub>
                              <m:r>
                                <a:rPr lang="en-US" sz="2400" i="1">
                                  <a:solidFill>
                                    <a:srgbClr val="002060"/>
                                  </a:solidFill>
                                  <a:latin typeface="Cambria Math" panose="02040503050406030204" pitchFamily="18" charset="0"/>
                                  <a:ea typeface="Cambria Math" panose="02040503050406030204" pitchFamily="18" charset="0"/>
                                </a:rPr>
                                <m:t>=</m:t>
                              </m:r>
                              <m:f>
                                <m:fPr>
                                  <m:ctrlPr>
                                    <a:rPr lang="en-US" sz="2400" i="1">
                                      <a:solidFill>
                                        <a:srgbClr val="002060"/>
                                      </a:solidFill>
                                      <a:latin typeface="Cambria Math" panose="02040503050406030204" pitchFamily="18" charset="0"/>
                                      <a:ea typeface="Cambria Math" panose="02040503050406030204" pitchFamily="18" charset="0"/>
                                    </a:rPr>
                                  </m:ctrlPr>
                                </m:fPr>
                                <m:num>
                                  <m:r>
                                    <a:rPr lang="en-US" sz="2400" i="1">
                                      <a:solidFill>
                                        <a:srgbClr val="002060"/>
                                      </a:solidFill>
                                      <a:latin typeface="Cambria Math" panose="02040503050406030204" pitchFamily="18" charset="0"/>
                                      <a:ea typeface="Cambria Math" panose="02040503050406030204" pitchFamily="18" charset="0"/>
                                    </a:rPr>
                                    <m:t>1</m:t>
                                  </m:r>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𝑁</m:t>
                                      </m:r>
                                    </m:e>
                                  </m:rad>
                                </m:den>
                              </m:f>
                              <m:nary>
                                <m:naryPr>
                                  <m:chr m:val="∑"/>
                                  <m:ctrlPr>
                                    <a:rPr lang="en-US" sz="2400" i="1">
                                      <a:solidFill>
                                        <a:srgbClr val="002060"/>
                                      </a:solidFill>
                                      <a:latin typeface="Cambria Math" panose="02040503050406030204" pitchFamily="18" charset="0"/>
                                      <a:ea typeface="Cambria Math" panose="02040503050406030204" pitchFamily="18" charset="0"/>
                                    </a:rPr>
                                  </m:ctrlPr>
                                </m:naryPr>
                                <m:sub>
                                  <m:r>
                                    <a:rPr lang="en-US" sz="2400" i="1">
                                      <a:solidFill>
                                        <a:srgbClr val="002060"/>
                                      </a:solidFill>
                                      <a:latin typeface="Cambria Math" panose="02040503050406030204" pitchFamily="18" charset="0"/>
                                      <a:ea typeface="Cambria Math" panose="02040503050406030204" pitchFamily="18" charset="0"/>
                                    </a:rPr>
                                    <m:t>𝑛</m:t>
                                  </m:r>
                                  <m:r>
                                    <a:rPr lang="en-US" sz="2400" i="1">
                                      <a:solidFill>
                                        <a:srgbClr val="002060"/>
                                      </a:solidFill>
                                      <a:latin typeface="Cambria Math" panose="02040503050406030204" pitchFamily="18" charset="0"/>
                                      <a:ea typeface="Cambria Math" panose="02040503050406030204" pitchFamily="18" charset="0"/>
                                    </a:rPr>
                                    <m:t>=0</m:t>
                                  </m:r>
                                </m:sub>
                                <m:sup>
                                  <m:r>
                                    <a:rPr lang="en-US" sz="2400" i="1">
                                      <a:solidFill>
                                        <a:srgbClr val="002060"/>
                                      </a:solidFill>
                                      <a:latin typeface="Cambria Math" panose="02040503050406030204" pitchFamily="18" charset="0"/>
                                      <a:ea typeface="Cambria Math" panose="02040503050406030204" pitchFamily="18" charset="0"/>
                                    </a:rPr>
                                    <m:t>𝑁</m:t>
                                  </m:r>
                                  <m:r>
                                    <a:rPr lang="en-US" sz="2400" i="1">
                                      <a:solidFill>
                                        <a:srgbClr val="002060"/>
                                      </a:solidFill>
                                      <a:latin typeface="Cambria Math" panose="02040503050406030204" pitchFamily="18" charset="0"/>
                                      <a:ea typeface="Cambria Math" panose="02040503050406030204" pitchFamily="18" charset="0"/>
                                    </a:rPr>
                                    <m:t>−1</m:t>
                                  </m:r>
                                </m:sup>
                                <m:e>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𝑥</m:t>
                                      </m:r>
                                    </m:e>
                                    <m:sub>
                                      <m:r>
                                        <a:rPr lang="en-US" sz="2400" i="1">
                                          <a:solidFill>
                                            <a:srgbClr val="002060"/>
                                          </a:solidFill>
                                          <a:latin typeface="Cambria Math" panose="02040503050406030204" pitchFamily="18" charset="0"/>
                                          <a:ea typeface="Cambria Math" panose="02040503050406030204" pitchFamily="18" charset="0"/>
                                        </a:rPr>
                                        <m:t>𝑛</m:t>
                                      </m:r>
                                    </m:sub>
                                  </m:sSub>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i="1">
                                          <a:solidFill>
                                            <a:srgbClr val="002060"/>
                                          </a:solidFill>
                                          <a:latin typeface="Cambria Math" panose="02040503050406030204" pitchFamily="18" charset="0"/>
                                          <a:ea typeface="Cambria Math" panose="02040503050406030204" pitchFamily="18" charset="0"/>
                                        </a:rPr>
                                        <m:t>𝑛𝑘</m:t>
                                      </m:r>
                                    </m:sup>
                                  </m:sSup>
                                </m:e>
                              </m:nary>
                              <m:r>
                                <a:rPr lang="en-US" sz="2400" b="0" i="1" dirty="0" smtClean="0">
                                  <a:solidFill>
                                    <a:schemeClr val="tx1">
                                      <a:lumMod val="65000"/>
                                      <a:lumOff val="35000"/>
                                    </a:schemeClr>
                                  </a:solidFill>
                                  <a:latin typeface="Cambria Math" panose="02040503050406030204" pitchFamily="18" charset="0"/>
                                </a:rPr>
                                <m:t> </m:t>
                              </m:r>
                              <m:r>
                                <a:rPr lang="sr-Latn-RS" sz="2400" b="0" i="1" dirty="0" smtClean="0">
                                  <a:solidFill>
                                    <a:schemeClr val="tx1">
                                      <a:lumMod val="65000"/>
                                      <a:lumOff val="35000"/>
                                    </a:schemeClr>
                                  </a:solidFill>
                                  <a:latin typeface="Cambria Math" panose="02040503050406030204" pitchFamily="18" charset="0"/>
                                </a:rPr>
                                <m:t>                  </m:t>
                              </m:r>
                            </m:e>
                            <m:e>
                              <m:r>
                                <a:rPr lang="en-US" sz="2400" i="1">
                                  <a:solidFill>
                                    <a:srgbClr val="002060"/>
                                  </a:solidFill>
                                  <a:latin typeface="Cambria Math" panose="02040503050406030204" pitchFamily="18" charset="0"/>
                                  <a:ea typeface="Cambria Math" panose="02040503050406030204" pitchFamily="18" charset="0"/>
                                </a:rPr>
                                <m:t>𝜔</m:t>
                              </m:r>
                              <m:r>
                                <a:rPr lang="en-US" sz="2400" i="1">
                                  <a:solidFill>
                                    <a:srgbClr val="002060"/>
                                  </a:solidFill>
                                  <a:latin typeface="Cambria Math" panose="02040503050406030204" pitchFamily="18" charset="0"/>
                                  <a:ea typeface="Cambria Math" panose="02040503050406030204" pitchFamily="18" charset="0"/>
                                </a:rPr>
                                <m:t>=</m:t>
                              </m:r>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𝑒</m:t>
                                  </m:r>
                                </m:e>
                                <m:sup>
                                  <m:f>
                                    <m:fPr>
                                      <m:ctrlPr>
                                        <a:rPr lang="en-US" sz="2400" i="1">
                                          <a:solidFill>
                                            <a:srgbClr val="002060"/>
                                          </a:solidFill>
                                          <a:latin typeface="Cambria Math" panose="02040503050406030204" pitchFamily="18" charset="0"/>
                                          <a:ea typeface="Cambria Math" panose="02040503050406030204" pitchFamily="18" charset="0"/>
                                        </a:rPr>
                                      </m:ctrlPr>
                                    </m:fPr>
                                    <m:num>
                                      <m:r>
                                        <a:rPr lang="en-US" sz="2400" i="1">
                                          <a:solidFill>
                                            <a:srgbClr val="002060"/>
                                          </a:solidFill>
                                          <a:latin typeface="Cambria Math" panose="02040503050406030204" pitchFamily="18" charset="0"/>
                                          <a:ea typeface="Cambria Math" panose="02040503050406030204" pitchFamily="18" charset="0"/>
                                        </a:rPr>
                                        <m:t>2</m:t>
                                      </m:r>
                                      <m:r>
                                        <a:rPr lang="en-US" sz="2400" i="1">
                                          <a:solidFill>
                                            <a:srgbClr val="002060"/>
                                          </a:solidFill>
                                          <a:latin typeface="Cambria Math" panose="02040503050406030204" pitchFamily="18" charset="0"/>
                                          <a:ea typeface="Cambria Math" panose="02040503050406030204" pitchFamily="18" charset="0"/>
                                        </a:rPr>
                                        <m:t>𝜋</m:t>
                                      </m:r>
                                      <m:r>
                                        <a:rPr lang="en-US" sz="2400" i="1">
                                          <a:solidFill>
                                            <a:srgbClr val="002060"/>
                                          </a:solidFill>
                                          <a:latin typeface="Cambria Math" panose="02040503050406030204" pitchFamily="18" charset="0"/>
                                          <a:ea typeface="Cambria Math" panose="02040503050406030204" pitchFamily="18" charset="0"/>
                                        </a:rPr>
                                        <m:t>𝑖</m:t>
                                      </m:r>
                                    </m:num>
                                    <m:den>
                                      <m:r>
                                        <a:rPr lang="en-US" sz="2400" i="1">
                                          <a:solidFill>
                                            <a:srgbClr val="002060"/>
                                          </a:solidFill>
                                          <a:latin typeface="Cambria Math" panose="02040503050406030204" pitchFamily="18" charset="0"/>
                                          <a:ea typeface="Cambria Math" panose="02040503050406030204" pitchFamily="18" charset="0"/>
                                        </a:rPr>
                                        <m:t>𝑁</m:t>
                                      </m:r>
                                    </m:den>
                                  </m:f>
                                </m:sup>
                              </m:sSup>
                              <m:r>
                                <a:rPr lang="en-US" sz="2400" i="1">
                                  <a:solidFill>
                                    <a:srgbClr val="002060"/>
                                  </a:solidFill>
                                  <a:latin typeface="Cambria Math" panose="02040503050406030204" pitchFamily="18" charset="0"/>
                                  <a:ea typeface="Cambria Math" panose="02040503050406030204" pitchFamily="18" charset="0"/>
                                </a:rPr>
                                <m:t>,  </m:t>
                              </m:r>
                              <m:r>
                                <a:rPr lang="en-US" sz="2400" i="1">
                                  <a:solidFill>
                                    <a:schemeClr val="tx1">
                                      <a:lumMod val="50000"/>
                                      <a:lumOff val="50000"/>
                                    </a:schemeClr>
                                  </a:solidFill>
                                  <a:latin typeface="Cambria Math" panose="02040503050406030204" pitchFamily="18" charset="0"/>
                                  <a:ea typeface="Cambria Math" panose="02040503050406030204" pitchFamily="18" charset="0"/>
                                </a:rPr>
                                <m:t>𝑘</m:t>
                              </m:r>
                              <m:r>
                                <a:rPr lang="en-US" sz="2400" i="1">
                                  <a:solidFill>
                                    <a:schemeClr val="tx1">
                                      <a:lumMod val="50000"/>
                                      <a:lumOff val="50000"/>
                                    </a:schemeClr>
                                  </a:solidFill>
                                  <a:latin typeface="Cambria Math" panose="02040503050406030204" pitchFamily="18" charset="0"/>
                                  <a:ea typeface="Cambria Math" panose="02040503050406030204" pitchFamily="18" charset="0"/>
                                </a:rPr>
                                <m:t>=0,1,⋯</m:t>
                              </m:r>
                              <m:r>
                                <a:rPr lang="en-US" sz="2400" i="1">
                                  <a:solidFill>
                                    <a:schemeClr val="tx1">
                                      <a:lumMod val="50000"/>
                                      <a:lumOff val="50000"/>
                                    </a:schemeClr>
                                  </a:solidFill>
                                  <a:latin typeface="Cambria Math" panose="02040503050406030204" pitchFamily="18" charset="0"/>
                                  <a:ea typeface="Cambria Math" panose="02040503050406030204" pitchFamily="18" charset="0"/>
                                </a:rPr>
                                <m:t>𝑁</m:t>
                              </m:r>
                              <m:r>
                                <a:rPr lang="en-US" sz="2400" i="1">
                                  <a:solidFill>
                                    <a:schemeClr val="tx1">
                                      <a:lumMod val="50000"/>
                                      <a:lumOff val="50000"/>
                                    </a:schemeClr>
                                  </a:solidFill>
                                  <a:latin typeface="Cambria Math" panose="02040503050406030204" pitchFamily="18" charset="0"/>
                                  <a:ea typeface="Cambria Math" panose="02040503050406030204" pitchFamily="18" charset="0"/>
                                </a:rPr>
                                <m:t>−1,  </m:t>
                              </m:r>
                              <m:r>
                                <a:rPr lang="en-US" sz="2400" b="0" i="1" smtClean="0">
                                  <a:solidFill>
                                    <a:schemeClr val="tx1">
                                      <a:lumMod val="50000"/>
                                      <a:lumOff val="50000"/>
                                    </a:schemeClr>
                                  </a:solidFill>
                                  <a:latin typeface="Cambria Math" panose="02040503050406030204" pitchFamily="18" charset="0"/>
                                  <a:ea typeface="Cambria Math" panose="02040503050406030204" pitchFamily="18" charset="0"/>
                                </a:rPr>
                                <m:t>𝑁</m:t>
                              </m:r>
                              <m:r>
                                <a:rPr lang="en-US" sz="2400" b="0" i="1" smtClean="0">
                                  <a:solidFill>
                                    <a:schemeClr val="tx1">
                                      <a:lumMod val="50000"/>
                                      <a:lumOff val="50000"/>
                                    </a:schemeClr>
                                  </a:solidFill>
                                  <a:latin typeface="Cambria Math" panose="02040503050406030204" pitchFamily="18" charset="0"/>
                                  <a:ea typeface="Cambria Math" panose="02040503050406030204" pitchFamily="18" charset="0"/>
                                </a:rPr>
                                <m:t>=</m:t>
                              </m:r>
                              <m:sSup>
                                <m:sSupPr>
                                  <m:ctrlPr>
                                    <a:rPr lang="en-US" sz="2400" b="0" i="1" smtClean="0">
                                      <a:solidFill>
                                        <a:schemeClr val="tx1">
                                          <a:lumMod val="50000"/>
                                          <a:lumOff val="50000"/>
                                        </a:schemeClr>
                                      </a:solidFill>
                                      <a:latin typeface="Cambria Math" panose="02040503050406030204" pitchFamily="18" charset="0"/>
                                      <a:ea typeface="Cambria Math" panose="02040503050406030204" pitchFamily="18" charset="0"/>
                                    </a:rPr>
                                  </m:ctrlPr>
                                </m:sSupPr>
                                <m:e>
                                  <m:r>
                                    <a:rPr lang="en-US" sz="2400" b="0" i="1" smtClean="0">
                                      <a:solidFill>
                                        <a:schemeClr val="tx1">
                                          <a:lumMod val="50000"/>
                                          <a:lumOff val="50000"/>
                                        </a:schemeClr>
                                      </a:solidFill>
                                      <a:latin typeface="Cambria Math" panose="02040503050406030204" pitchFamily="18" charset="0"/>
                                      <a:ea typeface="Cambria Math" panose="02040503050406030204" pitchFamily="18" charset="0"/>
                                    </a:rPr>
                                    <m:t>2</m:t>
                                  </m:r>
                                </m:e>
                                <m:sup>
                                  <m:r>
                                    <a:rPr lang="en-US" sz="2400" b="0" i="1" smtClean="0">
                                      <a:solidFill>
                                        <a:schemeClr val="tx1">
                                          <a:lumMod val="50000"/>
                                          <a:lumOff val="50000"/>
                                        </a:schemeClr>
                                      </a:solidFill>
                                      <a:latin typeface="Cambria Math" panose="02040503050406030204" pitchFamily="18" charset="0"/>
                                      <a:ea typeface="Cambria Math" panose="02040503050406030204" pitchFamily="18" charset="0"/>
                                    </a:rPr>
                                    <m:t>𝑞</m:t>
                                  </m:r>
                                  <m:r>
                                    <a:rPr lang="en-US" sz="2400" b="0" i="1" smtClean="0">
                                      <a:solidFill>
                                        <a:schemeClr val="tx1">
                                          <a:lumMod val="50000"/>
                                          <a:lumOff val="50000"/>
                                        </a:schemeClr>
                                      </a:solidFill>
                                      <a:latin typeface="Cambria Math" panose="02040503050406030204" pitchFamily="18" charset="0"/>
                                      <a:ea typeface="Cambria Math" panose="02040503050406030204" pitchFamily="18" charset="0"/>
                                    </a:rPr>
                                    <m:t> (</m:t>
                                  </m:r>
                                  <m:r>
                                    <a:rPr lang="en-US" sz="2400" b="0" i="1" smtClean="0">
                                      <a:solidFill>
                                        <a:schemeClr val="tx1">
                                          <a:lumMod val="50000"/>
                                          <a:lumOff val="50000"/>
                                        </a:schemeClr>
                                      </a:solidFill>
                                      <a:latin typeface="Cambria Math" panose="02040503050406030204" pitchFamily="18" charset="0"/>
                                      <a:ea typeface="Cambria Math" panose="02040503050406030204" pitchFamily="18" charset="0"/>
                                    </a:rPr>
                                    <m:t>𝑞𝑢𝑏𝑖𝑡𝑠</m:t>
                                  </m:r>
                                  <m:r>
                                    <a:rPr lang="en-US" sz="2400" b="0" i="1" smtClean="0">
                                      <a:solidFill>
                                        <a:schemeClr val="tx1">
                                          <a:lumMod val="50000"/>
                                          <a:lumOff val="50000"/>
                                        </a:schemeClr>
                                      </a:solidFill>
                                      <a:latin typeface="Cambria Math" panose="02040503050406030204" pitchFamily="18" charset="0"/>
                                      <a:ea typeface="Cambria Math" panose="02040503050406030204" pitchFamily="18" charset="0"/>
                                    </a:rPr>
                                    <m:t>)</m:t>
                                  </m:r>
                                </m:sup>
                              </m:sSup>
                            </m:e>
                          </m:eqArr>
                        </m:e>
                      </m:d>
                    </m:oMath>
                  </m:oMathPara>
                </a14:m>
                <a:endParaRPr lang="en-US" sz="2400" dirty="0"/>
              </a:p>
            </p:txBody>
          </p:sp>
        </mc:Choice>
        <mc:Fallback xmlns="">
          <p:sp>
            <p:nvSpPr>
              <p:cNvPr id="5" name="Rectangle 4">
                <a:extLst>
                  <a:ext uri="{FF2B5EF4-FFF2-40B4-BE49-F238E27FC236}">
                    <a16:creationId xmlns:a16="http://schemas.microsoft.com/office/drawing/2014/main" id="{A1268109-772D-074C-ADB3-47DFCD722F4B}"/>
                  </a:ext>
                </a:extLst>
              </p:cNvPr>
              <p:cNvSpPr>
                <a:spLocks noRot="1" noChangeAspect="1" noMove="1" noResize="1" noEditPoints="1" noAdjustHandles="1" noChangeArrowheads="1" noChangeShapeType="1" noTextEdit="1"/>
              </p:cNvSpPr>
              <p:nvPr/>
            </p:nvSpPr>
            <p:spPr>
              <a:xfrm>
                <a:off x="151602" y="1009428"/>
                <a:ext cx="10393551" cy="1833835"/>
              </a:xfrm>
              <a:prstGeom prst="rect">
                <a:avLst/>
              </a:prstGeom>
              <a:blipFill>
                <a:blip r:embed="rId3"/>
                <a:stretch>
                  <a:fillRect l="-856" t="-57534" b="-77397"/>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CD6B82B9-D6FA-1244-884E-2D93DF377233}"/>
              </a:ext>
            </a:extLst>
          </p:cNvPr>
          <p:cNvSpPr txBox="1"/>
          <p:nvPr/>
        </p:nvSpPr>
        <p:spPr>
          <a:xfrm>
            <a:off x="10935749" y="1464681"/>
            <a:ext cx="591829" cy="461665"/>
          </a:xfrm>
          <a:prstGeom prst="rect">
            <a:avLst/>
          </a:prstGeom>
          <a:noFill/>
        </p:spPr>
        <p:txBody>
          <a:bodyPr wrap="none" rtlCol="0">
            <a:spAutoFit/>
          </a:bodyPr>
          <a:lstStyle/>
          <a:p>
            <a:r>
              <a:rPr lang="en-US" sz="2400" dirty="0">
                <a:latin typeface="+mj-lt"/>
              </a:rPr>
              <a:t> (1)</a:t>
            </a:r>
          </a:p>
        </p:txBody>
      </p:sp>
      <p:grpSp>
        <p:nvGrpSpPr>
          <p:cNvPr id="4" name="Group 3">
            <a:extLst>
              <a:ext uri="{FF2B5EF4-FFF2-40B4-BE49-F238E27FC236}">
                <a16:creationId xmlns:a16="http://schemas.microsoft.com/office/drawing/2014/main" id="{83DF6A02-2F94-D941-A068-7E1197A4DEEC}"/>
              </a:ext>
            </a:extLst>
          </p:cNvPr>
          <p:cNvGrpSpPr/>
          <p:nvPr/>
        </p:nvGrpSpPr>
        <p:grpSpPr>
          <a:xfrm>
            <a:off x="441889" y="3015090"/>
            <a:ext cx="11085688" cy="2184252"/>
            <a:chOff x="441889" y="3015090"/>
            <a:chExt cx="11085688" cy="2184252"/>
          </a:xfrm>
        </p:grpSpPr>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E8F1C74C-AEA7-5446-94C2-5107CB385614}"/>
                    </a:ext>
                  </a:extLst>
                </p:cNvPr>
                <p:cNvSpPr/>
                <p:nvPr/>
              </p:nvSpPr>
              <p:spPr>
                <a:xfrm>
                  <a:off x="441889" y="3015090"/>
                  <a:ext cx="8721810" cy="21842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𝑄</m:t>
                            </m:r>
                            <m:r>
                              <a:rPr lang="en-US" sz="2400" i="1">
                                <a:latin typeface="Cambria Math" panose="02040503050406030204" pitchFamily="18" charset="0"/>
                                <a:ea typeface="Cambria Math" panose="02040503050406030204" pitchFamily="18" charset="0"/>
                              </a:rPr>
                              <m:t>𝐹𝑇</m:t>
                            </m:r>
                          </m:e>
                          <m:sub>
                            <m:r>
                              <a:rPr lang="en-US" sz="2400" i="1">
                                <a:latin typeface="Cambria Math" panose="02040503050406030204" pitchFamily="18" charset="0"/>
                                <a:ea typeface="Cambria Math" panose="02040503050406030204" pitchFamily="18" charset="0"/>
                              </a:rPr>
                              <m:t>𝜔</m:t>
                            </m:r>
                          </m:sub>
                        </m:sSub>
                        <m:r>
                          <a:rPr lang="en-US" sz="2400" b="0" i="1" smtClean="0">
                            <a:latin typeface="Cambria Math" panose="02040503050406030204" pitchFamily="18" charset="0"/>
                            <a:ea typeface="Cambria Math" panose="02040503050406030204" pitchFamily="18" charset="0"/>
                          </a:rPr>
                          <m:t>=</m:t>
                        </m:r>
                        <m:f>
                          <m:fPr>
                            <m:ctrlPr>
                              <a:rPr lang="en-US" sz="2400" i="1">
                                <a:solidFill>
                                  <a:srgbClr val="002060"/>
                                </a:solidFill>
                                <a:latin typeface="Cambria Math" panose="02040503050406030204" pitchFamily="18" charset="0"/>
                                <a:ea typeface="Cambria Math" panose="02040503050406030204" pitchFamily="18" charset="0"/>
                              </a:rPr>
                            </m:ctrlPr>
                          </m:fPr>
                          <m:num>
                            <m:r>
                              <a:rPr lang="en-US" sz="2400" i="1">
                                <a:solidFill>
                                  <a:srgbClr val="002060"/>
                                </a:solidFill>
                                <a:latin typeface="Cambria Math" panose="02040503050406030204" pitchFamily="18" charset="0"/>
                                <a:ea typeface="Cambria Math" panose="02040503050406030204" pitchFamily="18" charset="0"/>
                              </a:rPr>
                              <m:t>1</m:t>
                            </m:r>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𝑁</m:t>
                                </m:r>
                              </m:e>
                            </m:rad>
                          </m:den>
                        </m:f>
                        <m:r>
                          <a:rPr lang="en-US" sz="2400" i="1">
                            <a:solidFill>
                              <a:srgbClr val="002060"/>
                            </a:solidFill>
                            <a:latin typeface="Cambria Math" panose="02040503050406030204" pitchFamily="18" charset="0"/>
                            <a:ea typeface="Cambria Math" panose="02040503050406030204" pitchFamily="18" charset="0"/>
                          </a:rPr>
                          <m:t> </m:t>
                        </m:r>
                        <m:d>
                          <m:dPr>
                            <m:ctrlPr>
                              <a:rPr lang="en-US" sz="2400" b="0" i="1" smtClean="0">
                                <a:solidFill>
                                  <a:srgbClr val="002060"/>
                                </a:solidFill>
                                <a:latin typeface="Cambria Math" panose="02040503050406030204" pitchFamily="18" charset="0"/>
                                <a:ea typeface="Cambria Math" panose="02040503050406030204" pitchFamily="18" charset="0"/>
                              </a:rPr>
                            </m:ctrlPr>
                          </m:dPr>
                          <m:e>
                            <m:m>
                              <m:mPr>
                                <m:mcs>
                                  <m:mc>
                                    <m:mcPr>
                                      <m:count m:val="6"/>
                                      <m:mcJc m:val="center"/>
                                    </m:mcPr>
                                  </m:mc>
                                </m:mcs>
                                <m:ctrlPr>
                                  <a:rPr lang="en-US" sz="2400" b="0" i="1" smtClean="0">
                                    <a:solidFill>
                                      <a:srgbClr val="002060"/>
                                    </a:solidFill>
                                    <a:latin typeface="Cambria Math" panose="02040503050406030204" pitchFamily="18" charset="0"/>
                                    <a:ea typeface="Cambria Math" panose="02040503050406030204" pitchFamily="18" charset="0"/>
                                  </a:rPr>
                                </m:ctrlPr>
                              </m:mPr>
                              <m:mr>
                                <m:e>
                                  <m:r>
                                    <m:rPr>
                                      <m:brk m:alnAt="7"/>
                                    </m:rPr>
                                    <a:rPr lang="en-US" sz="2400" b="0" i="1" smtClean="0">
                                      <a:solidFill>
                                        <a:srgbClr val="002060"/>
                                      </a:solidFill>
                                      <a:latin typeface="Cambria Math" panose="02040503050406030204" pitchFamily="18" charset="0"/>
                                      <a:ea typeface="Cambria Math" panose="02040503050406030204" pitchFamily="18" charset="0"/>
                                    </a:rPr>
                                    <m:t>1</m:t>
                                  </m:r>
                                </m:e>
                                <m:e>
                                  <m:r>
                                    <a:rPr lang="en-US" sz="2400" b="0" i="1" smtClean="0">
                                      <a:solidFill>
                                        <a:srgbClr val="002060"/>
                                      </a:solidFill>
                                      <a:latin typeface="Cambria Math" panose="02040503050406030204" pitchFamily="18" charset="0"/>
                                      <a:ea typeface="Cambria Math" panose="02040503050406030204" pitchFamily="18" charset="0"/>
                                    </a:rPr>
                                    <m:t>1</m:t>
                                  </m:r>
                                </m:e>
                                <m:e>
                                  <m:r>
                                    <a:rPr lang="en-US" sz="2400" b="0" i="1" smtClean="0">
                                      <a:solidFill>
                                        <a:srgbClr val="002060"/>
                                      </a:solidFill>
                                      <a:latin typeface="Cambria Math" panose="02040503050406030204" pitchFamily="18" charset="0"/>
                                      <a:ea typeface="Cambria Math" panose="02040503050406030204" pitchFamily="18" charset="0"/>
                                    </a:rPr>
                                    <m:t>1</m:t>
                                  </m:r>
                                </m:e>
                                <m:e>
                                  <m:r>
                                    <a:rPr lang="en-US" sz="2400" b="0" i="1" smtClean="0">
                                      <a:solidFill>
                                        <a:srgbClr val="002060"/>
                                      </a:solidFill>
                                      <a:latin typeface="Cambria Math" panose="02040503050406030204" pitchFamily="18" charset="0"/>
                                      <a:ea typeface="Cambria Math" panose="02040503050406030204" pitchFamily="18" charset="0"/>
                                    </a:rPr>
                                    <m:t>1</m:t>
                                  </m:r>
                                </m:e>
                                <m:e>
                                  <m:r>
                                    <a:rPr lang="en-US" sz="2400" i="1">
                                      <a:solidFill>
                                        <a:srgbClr val="002060"/>
                                      </a:solidFill>
                                      <a:latin typeface="Cambria Math" panose="02040503050406030204" pitchFamily="18" charset="0"/>
                                      <a:ea typeface="Cambria Math" panose="02040503050406030204" pitchFamily="18" charset="0"/>
                                    </a:rPr>
                                    <m:t>⋯</m:t>
                                  </m:r>
                                </m:e>
                                <m:e>
                                  <m:r>
                                    <a:rPr lang="en-US" sz="2400" b="0" i="1" smtClean="0">
                                      <a:solidFill>
                                        <a:srgbClr val="002060"/>
                                      </a:solidFill>
                                      <a:latin typeface="Cambria Math" panose="02040503050406030204" pitchFamily="18" charset="0"/>
                                      <a:ea typeface="Cambria Math" panose="02040503050406030204" pitchFamily="18" charset="0"/>
                                    </a:rPr>
                                    <m:t>1</m:t>
                                  </m:r>
                                </m:e>
                              </m:mr>
                              <m:mr>
                                <m:e>
                                  <m:r>
                                    <a:rPr lang="en-US" sz="2400" b="0" i="1" smtClean="0">
                                      <a:solidFill>
                                        <a:srgbClr val="002060"/>
                                      </a:solidFill>
                                      <a:latin typeface="Cambria Math" panose="02040503050406030204" pitchFamily="18" charset="0"/>
                                      <a:ea typeface="Cambria Math" panose="02040503050406030204" pitchFamily="18" charset="0"/>
                                    </a:rPr>
                                    <m:t>1</m:t>
                                  </m:r>
                                </m:e>
                                <m:e>
                                  <m:r>
                                    <a:rPr lang="en-US" sz="2400" i="1">
                                      <a:solidFill>
                                        <a:srgbClr val="002060"/>
                                      </a:solidFill>
                                      <a:latin typeface="Cambria Math" panose="02040503050406030204" pitchFamily="18" charset="0"/>
                                      <a:ea typeface="Cambria Math" panose="02040503050406030204" pitchFamily="18" charset="0"/>
                                    </a:rPr>
                                    <m:t>𝜔</m:t>
                                  </m:r>
                                </m:e>
                                <m:e>
                                  <m:sSup>
                                    <m:sSupPr>
                                      <m:ctrlPr>
                                        <a:rPr lang="en-US" sz="2400" i="1" smtClean="0">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b="0" i="1" smtClean="0">
                                          <a:solidFill>
                                            <a:srgbClr val="002060"/>
                                          </a:solidFill>
                                          <a:latin typeface="Cambria Math" panose="02040503050406030204" pitchFamily="18" charset="0"/>
                                          <a:ea typeface="Cambria Math" panose="02040503050406030204" pitchFamily="18" charset="0"/>
                                        </a:rPr>
                                        <m:t>2</m:t>
                                      </m:r>
                                    </m:sup>
                                  </m:sSup>
                                </m:e>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b="0" i="1" smtClean="0">
                                          <a:solidFill>
                                            <a:srgbClr val="002060"/>
                                          </a:solidFill>
                                          <a:latin typeface="Cambria Math" panose="02040503050406030204" pitchFamily="18" charset="0"/>
                                          <a:ea typeface="Cambria Math" panose="02040503050406030204" pitchFamily="18" charset="0"/>
                                        </a:rPr>
                                        <m:t>3</m:t>
                                      </m:r>
                                    </m:sup>
                                  </m:sSup>
                                </m:e>
                                <m:e>
                                  <m:r>
                                    <a:rPr lang="en-US" sz="2400" i="1">
                                      <a:solidFill>
                                        <a:srgbClr val="002060"/>
                                      </a:solidFill>
                                      <a:latin typeface="Cambria Math" panose="02040503050406030204" pitchFamily="18" charset="0"/>
                                      <a:ea typeface="Cambria Math" panose="02040503050406030204" pitchFamily="18" charset="0"/>
                                    </a:rPr>
                                    <m:t>⋯</m:t>
                                  </m:r>
                                </m:e>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b="0" i="1" smtClean="0">
                                          <a:solidFill>
                                            <a:srgbClr val="002060"/>
                                          </a:solidFill>
                                          <a:latin typeface="Cambria Math" panose="02040503050406030204" pitchFamily="18" charset="0"/>
                                          <a:ea typeface="Cambria Math" panose="02040503050406030204" pitchFamily="18" charset="0"/>
                                        </a:rPr>
                                        <m:t>𝑁</m:t>
                                      </m:r>
                                      <m:r>
                                        <a:rPr lang="en-US" sz="2400" b="0" i="1" smtClean="0">
                                          <a:solidFill>
                                            <a:srgbClr val="002060"/>
                                          </a:solidFill>
                                          <a:latin typeface="Cambria Math" panose="02040503050406030204" pitchFamily="18" charset="0"/>
                                          <a:ea typeface="Cambria Math" panose="02040503050406030204" pitchFamily="18" charset="0"/>
                                        </a:rPr>
                                        <m:t>−1</m:t>
                                      </m:r>
                                    </m:sup>
                                  </m:sSup>
                                </m:e>
                              </m:mr>
                              <m:mr>
                                <m:e>
                                  <m:r>
                                    <a:rPr lang="en-US" sz="2400" b="0" i="1" smtClean="0">
                                      <a:solidFill>
                                        <a:srgbClr val="002060"/>
                                      </a:solidFill>
                                      <a:latin typeface="Cambria Math" panose="02040503050406030204" pitchFamily="18" charset="0"/>
                                      <a:ea typeface="Cambria Math" panose="02040503050406030204" pitchFamily="18" charset="0"/>
                                    </a:rPr>
                                    <m:t>1</m:t>
                                  </m:r>
                                </m:e>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b="0" i="1" smtClean="0">
                                          <a:solidFill>
                                            <a:srgbClr val="002060"/>
                                          </a:solidFill>
                                          <a:latin typeface="Cambria Math" panose="02040503050406030204" pitchFamily="18" charset="0"/>
                                          <a:ea typeface="Cambria Math" panose="02040503050406030204" pitchFamily="18" charset="0"/>
                                        </a:rPr>
                                        <m:t>2</m:t>
                                      </m:r>
                                    </m:sup>
                                  </m:sSup>
                                </m:e>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b="0" i="1" smtClean="0">
                                          <a:solidFill>
                                            <a:srgbClr val="002060"/>
                                          </a:solidFill>
                                          <a:latin typeface="Cambria Math" panose="02040503050406030204" pitchFamily="18" charset="0"/>
                                          <a:ea typeface="Cambria Math" panose="02040503050406030204" pitchFamily="18" charset="0"/>
                                        </a:rPr>
                                        <m:t>4</m:t>
                                      </m:r>
                                    </m:sup>
                                  </m:sSup>
                                </m:e>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b="0" i="1" smtClean="0">
                                          <a:solidFill>
                                            <a:srgbClr val="002060"/>
                                          </a:solidFill>
                                          <a:latin typeface="Cambria Math" panose="02040503050406030204" pitchFamily="18" charset="0"/>
                                          <a:ea typeface="Cambria Math" panose="02040503050406030204" pitchFamily="18" charset="0"/>
                                        </a:rPr>
                                        <m:t>6</m:t>
                                      </m:r>
                                    </m:sup>
                                  </m:sSup>
                                </m:e>
                                <m:e>
                                  <m:r>
                                    <a:rPr lang="en-US" sz="2400" i="1">
                                      <a:solidFill>
                                        <a:srgbClr val="002060"/>
                                      </a:solidFill>
                                      <a:latin typeface="Cambria Math" panose="02040503050406030204" pitchFamily="18" charset="0"/>
                                      <a:ea typeface="Cambria Math" panose="02040503050406030204" pitchFamily="18" charset="0"/>
                                    </a:rPr>
                                    <m:t>⋯</m:t>
                                  </m:r>
                                </m:e>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b="0" i="1" smtClean="0">
                                          <a:solidFill>
                                            <a:srgbClr val="002060"/>
                                          </a:solidFill>
                                          <a:latin typeface="Cambria Math" panose="02040503050406030204" pitchFamily="18" charset="0"/>
                                          <a:ea typeface="Cambria Math" panose="02040503050406030204" pitchFamily="18" charset="0"/>
                                        </a:rPr>
                                        <m:t>2</m:t>
                                      </m:r>
                                      <m:r>
                                        <a:rPr lang="en-US" sz="2400" i="1">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𝑁</m:t>
                                      </m:r>
                                      <m:r>
                                        <a:rPr lang="en-US" sz="2400" i="1">
                                          <a:solidFill>
                                            <a:srgbClr val="002060"/>
                                          </a:solidFill>
                                          <a:latin typeface="Cambria Math" panose="02040503050406030204" pitchFamily="18" charset="0"/>
                                          <a:ea typeface="Cambria Math" panose="02040503050406030204" pitchFamily="18" charset="0"/>
                                        </a:rPr>
                                        <m:t>−1)</m:t>
                                      </m:r>
                                    </m:sup>
                                  </m:sSup>
                                </m:e>
                              </m:mr>
                              <m:mr>
                                <m:e>
                                  <m:r>
                                    <a:rPr lang="en-US" sz="2400" b="0" i="1" smtClean="0">
                                      <a:solidFill>
                                        <a:srgbClr val="002060"/>
                                      </a:solidFill>
                                      <a:latin typeface="Cambria Math" panose="02040503050406030204" pitchFamily="18" charset="0"/>
                                      <a:ea typeface="Cambria Math" panose="02040503050406030204" pitchFamily="18" charset="0"/>
                                    </a:rPr>
                                    <m:t>1</m:t>
                                  </m:r>
                                </m:e>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b="0" i="1" smtClean="0">
                                          <a:solidFill>
                                            <a:srgbClr val="002060"/>
                                          </a:solidFill>
                                          <a:latin typeface="Cambria Math" panose="02040503050406030204" pitchFamily="18" charset="0"/>
                                          <a:ea typeface="Cambria Math" panose="02040503050406030204" pitchFamily="18" charset="0"/>
                                        </a:rPr>
                                        <m:t>3</m:t>
                                      </m:r>
                                    </m:sup>
                                  </m:sSup>
                                </m:e>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b="0" i="1" smtClean="0">
                                          <a:solidFill>
                                            <a:srgbClr val="002060"/>
                                          </a:solidFill>
                                          <a:latin typeface="Cambria Math" panose="02040503050406030204" pitchFamily="18" charset="0"/>
                                          <a:ea typeface="Cambria Math" panose="02040503050406030204" pitchFamily="18" charset="0"/>
                                        </a:rPr>
                                        <m:t>6</m:t>
                                      </m:r>
                                    </m:sup>
                                  </m:sSup>
                                </m:e>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b="0" i="1" smtClean="0">
                                          <a:solidFill>
                                            <a:srgbClr val="002060"/>
                                          </a:solidFill>
                                          <a:latin typeface="Cambria Math" panose="02040503050406030204" pitchFamily="18" charset="0"/>
                                          <a:ea typeface="Cambria Math" panose="02040503050406030204" pitchFamily="18" charset="0"/>
                                        </a:rPr>
                                        <m:t>9</m:t>
                                      </m:r>
                                    </m:sup>
                                  </m:sSup>
                                </m:e>
                                <m:e>
                                  <m:r>
                                    <a:rPr lang="en-US" sz="2400" i="1">
                                      <a:solidFill>
                                        <a:srgbClr val="002060"/>
                                      </a:solidFill>
                                      <a:latin typeface="Cambria Math" panose="02040503050406030204" pitchFamily="18" charset="0"/>
                                      <a:ea typeface="Cambria Math" panose="02040503050406030204" pitchFamily="18" charset="0"/>
                                    </a:rPr>
                                    <m:t>⋯</m:t>
                                  </m:r>
                                </m:e>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b="0" i="1" smtClean="0">
                                          <a:solidFill>
                                            <a:srgbClr val="002060"/>
                                          </a:solidFill>
                                          <a:latin typeface="Cambria Math" panose="02040503050406030204" pitchFamily="18" charset="0"/>
                                          <a:ea typeface="Cambria Math" panose="02040503050406030204" pitchFamily="18" charset="0"/>
                                        </a:rPr>
                                        <m:t>3</m:t>
                                      </m:r>
                                      <m:r>
                                        <a:rPr lang="en-US" sz="2400" i="1">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𝑁</m:t>
                                      </m:r>
                                      <m:r>
                                        <a:rPr lang="en-US" sz="2400" i="1">
                                          <a:solidFill>
                                            <a:srgbClr val="002060"/>
                                          </a:solidFill>
                                          <a:latin typeface="Cambria Math" panose="02040503050406030204" pitchFamily="18" charset="0"/>
                                          <a:ea typeface="Cambria Math" panose="02040503050406030204" pitchFamily="18" charset="0"/>
                                        </a:rPr>
                                        <m:t>−1)</m:t>
                                      </m:r>
                                    </m:sup>
                                  </m:sSup>
                                </m:e>
                              </m:mr>
                              <m:mr>
                                <m:e>
                                  <m:r>
                                    <a:rPr lang="en-US" sz="2400" b="0" i="1" smtClean="0">
                                      <a:solidFill>
                                        <a:srgbClr val="002060"/>
                                      </a:solidFill>
                                      <a:latin typeface="Cambria Math" panose="02040503050406030204" pitchFamily="18" charset="0"/>
                                      <a:ea typeface="Cambria Math" panose="02040503050406030204" pitchFamily="18" charset="0"/>
                                    </a:rPr>
                                    <m:t>⋮</m:t>
                                  </m:r>
                                </m:e>
                                <m:e>
                                  <m:r>
                                    <a:rPr lang="en-US" sz="2400" i="1">
                                      <a:solidFill>
                                        <a:srgbClr val="002060"/>
                                      </a:solidFill>
                                      <a:latin typeface="Cambria Math" panose="02040503050406030204" pitchFamily="18" charset="0"/>
                                      <a:ea typeface="Cambria Math" panose="02040503050406030204" pitchFamily="18" charset="0"/>
                                    </a:rPr>
                                    <m:t>⋮</m:t>
                                  </m:r>
                                </m:e>
                                <m:e>
                                  <m:r>
                                    <a:rPr lang="en-US" sz="2400" i="1">
                                      <a:solidFill>
                                        <a:srgbClr val="002060"/>
                                      </a:solidFill>
                                      <a:latin typeface="Cambria Math" panose="02040503050406030204" pitchFamily="18" charset="0"/>
                                      <a:ea typeface="Cambria Math" panose="02040503050406030204" pitchFamily="18" charset="0"/>
                                    </a:rPr>
                                    <m:t>⋮</m:t>
                                  </m:r>
                                </m:e>
                                <m:e>
                                  <m:r>
                                    <a:rPr lang="en-US" sz="2400" i="1">
                                      <a:solidFill>
                                        <a:srgbClr val="002060"/>
                                      </a:solidFill>
                                      <a:latin typeface="Cambria Math" panose="02040503050406030204" pitchFamily="18" charset="0"/>
                                      <a:ea typeface="Cambria Math" panose="02040503050406030204" pitchFamily="18" charset="0"/>
                                    </a:rPr>
                                    <m:t>⋮</m:t>
                                  </m:r>
                                </m:e>
                                <m:e>
                                  <m:r>
                                    <a:rPr lang="en-US" sz="2400" b="0" i="1" smtClean="0">
                                      <a:solidFill>
                                        <a:srgbClr val="002060"/>
                                      </a:solidFill>
                                      <a:latin typeface="Cambria Math" panose="02040503050406030204" pitchFamily="18" charset="0"/>
                                      <a:ea typeface="Cambria Math" panose="02040503050406030204" pitchFamily="18" charset="0"/>
                                    </a:rPr>
                                    <m:t>⋱</m:t>
                                  </m:r>
                                </m:e>
                                <m:e>
                                  <m:r>
                                    <a:rPr lang="en-US" sz="2400" i="1">
                                      <a:solidFill>
                                        <a:srgbClr val="002060"/>
                                      </a:solidFill>
                                      <a:latin typeface="Cambria Math" panose="02040503050406030204" pitchFamily="18" charset="0"/>
                                      <a:ea typeface="Cambria Math" panose="02040503050406030204" pitchFamily="18" charset="0"/>
                                    </a:rPr>
                                    <m:t>⋮</m:t>
                                  </m:r>
                                </m:e>
                              </m:mr>
                              <m:mr>
                                <m:e>
                                  <m:r>
                                    <a:rPr lang="en-US" sz="2400" b="0" i="1" smtClean="0">
                                      <a:solidFill>
                                        <a:srgbClr val="002060"/>
                                      </a:solidFill>
                                      <a:latin typeface="Cambria Math" panose="02040503050406030204" pitchFamily="18" charset="0"/>
                                      <a:ea typeface="Cambria Math" panose="02040503050406030204" pitchFamily="18" charset="0"/>
                                    </a:rPr>
                                    <m:t>1</m:t>
                                  </m:r>
                                </m:e>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b="0" i="1" smtClean="0">
                                          <a:solidFill>
                                            <a:srgbClr val="002060"/>
                                          </a:solidFill>
                                          <a:latin typeface="Cambria Math" panose="02040503050406030204" pitchFamily="18" charset="0"/>
                                          <a:ea typeface="Cambria Math" panose="02040503050406030204" pitchFamily="18" charset="0"/>
                                        </a:rPr>
                                        <m:t>𝑁</m:t>
                                      </m:r>
                                      <m:r>
                                        <a:rPr lang="en-US" sz="2400" b="0" i="1" smtClean="0">
                                          <a:solidFill>
                                            <a:srgbClr val="002060"/>
                                          </a:solidFill>
                                          <a:latin typeface="Cambria Math" panose="02040503050406030204" pitchFamily="18" charset="0"/>
                                          <a:ea typeface="Cambria Math" panose="02040503050406030204" pitchFamily="18" charset="0"/>
                                        </a:rPr>
                                        <m:t>−1</m:t>
                                      </m:r>
                                    </m:sup>
                                  </m:sSup>
                                </m:e>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b="0" i="1" smtClean="0">
                                          <a:solidFill>
                                            <a:srgbClr val="002060"/>
                                          </a:solidFill>
                                          <a:latin typeface="Cambria Math" panose="02040503050406030204" pitchFamily="18" charset="0"/>
                                          <a:ea typeface="Cambria Math" panose="02040503050406030204" pitchFamily="18" charset="0"/>
                                        </a:rPr>
                                        <m:t>2(</m:t>
                                      </m:r>
                                      <m:r>
                                        <a:rPr lang="en-US" sz="2400" b="0" i="1" smtClean="0">
                                          <a:solidFill>
                                            <a:srgbClr val="002060"/>
                                          </a:solidFill>
                                          <a:latin typeface="Cambria Math" panose="02040503050406030204" pitchFamily="18" charset="0"/>
                                          <a:ea typeface="Cambria Math" panose="02040503050406030204" pitchFamily="18" charset="0"/>
                                        </a:rPr>
                                        <m:t>𝑁</m:t>
                                      </m:r>
                                      <m:r>
                                        <a:rPr lang="en-US" sz="2400" b="0" i="1" smtClean="0">
                                          <a:solidFill>
                                            <a:srgbClr val="002060"/>
                                          </a:solidFill>
                                          <a:latin typeface="Cambria Math" panose="02040503050406030204" pitchFamily="18" charset="0"/>
                                          <a:ea typeface="Cambria Math" panose="02040503050406030204" pitchFamily="18" charset="0"/>
                                        </a:rPr>
                                        <m:t>−1)</m:t>
                                      </m:r>
                                    </m:sup>
                                  </m:sSup>
                                </m:e>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b="0" i="1" smtClean="0">
                                          <a:solidFill>
                                            <a:srgbClr val="002060"/>
                                          </a:solidFill>
                                          <a:latin typeface="Cambria Math" panose="02040503050406030204" pitchFamily="18" charset="0"/>
                                          <a:ea typeface="Cambria Math" panose="02040503050406030204" pitchFamily="18" charset="0"/>
                                        </a:rPr>
                                        <m:t>3</m:t>
                                      </m:r>
                                      <m:r>
                                        <a:rPr lang="en-US" sz="2400" i="1">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𝑁</m:t>
                                      </m:r>
                                      <m:r>
                                        <a:rPr lang="en-US" sz="2400" i="1">
                                          <a:solidFill>
                                            <a:srgbClr val="002060"/>
                                          </a:solidFill>
                                          <a:latin typeface="Cambria Math" panose="02040503050406030204" pitchFamily="18" charset="0"/>
                                          <a:ea typeface="Cambria Math" panose="02040503050406030204" pitchFamily="18" charset="0"/>
                                        </a:rPr>
                                        <m:t>−1)</m:t>
                                      </m:r>
                                    </m:sup>
                                  </m:sSup>
                                </m:e>
                                <m:e>
                                  <m:r>
                                    <a:rPr lang="en-US" sz="2400" i="1">
                                      <a:solidFill>
                                        <a:srgbClr val="002060"/>
                                      </a:solidFill>
                                      <a:latin typeface="Cambria Math" panose="02040503050406030204" pitchFamily="18" charset="0"/>
                                      <a:ea typeface="Cambria Math" panose="02040503050406030204" pitchFamily="18" charset="0"/>
                                    </a:rPr>
                                    <m:t>⋯</m:t>
                                  </m:r>
                                </m:e>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i="1">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𝑁</m:t>
                                      </m:r>
                                      <m:r>
                                        <a:rPr lang="en-US" sz="2400" i="1">
                                          <a:solidFill>
                                            <a:srgbClr val="002060"/>
                                          </a:solidFill>
                                          <a:latin typeface="Cambria Math" panose="02040503050406030204" pitchFamily="18" charset="0"/>
                                          <a:ea typeface="Cambria Math" panose="02040503050406030204" pitchFamily="18" charset="0"/>
                                        </a:rPr>
                                        <m:t>−1)(</m:t>
                                      </m:r>
                                      <m:r>
                                        <a:rPr lang="en-US" sz="2400" i="1">
                                          <a:solidFill>
                                            <a:srgbClr val="002060"/>
                                          </a:solidFill>
                                          <a:latin typeface="Cambria Math" panose="02040503050406030204" pitchFamily="18" charset="0"/>
                                          <a:ea typeface="Cambria Math" panose="02040503050406030204" pitchFamily="18" charset="0"/>
                                        </a:rPr>
                                        <m:t>𝑁</m:t>
                                      </m:r>
                                      <m:r>
                                        <a:rPr lang="en-US" sz="2400" i="1">
                                          <a:solidFill>
                                            <a:srgbClr val="002060"/>
                                          </a:solidFill>
                                          <a:latin typeface="Cambria Math" panose="02040503050406030204" pitchFamily="18" charset="0"/>
                                          <a:ea typeface="Cambria Math" panose="02040503050406030204" pitchFamily="18" charset="0"/>
                                        </a:rPr>
                                        <m:t>−1)</m:t>
                                      </m:r>
                                    </m:sup>
                                  </m:sSup>
                                </m:e>
                              </m:mr>
                            </m:m>
                          </m:e>
                        </m:d>
                      </m:oMath>
                    </m:oMathPara>
                  </a14:m>
                  <a:endParaRPr lang="en-US" sz="2400" dirty="0"/>
                </a:p>
              </p:txBody>
            </p:sp>
          </mc:Choice>
          <mc:Fallback xmlns="">
            <p:sp>
              <p:nvSpPr>
                <p:cNvPr id="15" name="Rectangle 14">
                  <a:extLst>
                    <a:ext uri="{FF2B5EF4-FFF2-40B4-BE49-F238E27FC236}">
                      <a16:creationId xmlns:a16="http://schemas.microsoft.com/office/drawing/2014/main" id="{E8F1C74C-AEA7-5446-94C2-5107CB385614}"/>
                    </a:ext>
                  </a:extLst>
                </p:cNvPr>
                <p:cNvSpPr>
                  <a:spLocks noRot="1" noChangeAspect="1" noMove="1" noResize="1" noEditPoints="1" noAdjustHandles="1" noChangeArrowheads="1" noChangeShapeType="1" noTextEdit="1"/>
                </p:cNvSpPr>
                <p:nvPr/>
              </p:nvSpPr>
              <p:spPr>
                <a:xfrm>
                  <a:off x="441889" y="3015090"/>
                  <a:ext cx="8721810" cy="2184252"/>
                </a:xfrm>
                <a:prstGeom prst="rect">
                  <a:avLst/>
                </a:prstGeom>
                <a:blipFill>
                  <a:blip r:embed="rId4"/>
                  <a:stretch>
                    <a:fillRect b="-1156"/>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6444BD6B-6D62-BD45-9ADB-F4B553DC9654}"/>
                </a:ext>
              </a:extLst>
            </p:cNvPr>
            <p:cNvSpPr txBox="1"/>
            <p:nvPr/>
          </p:nvSpPr>
          <p:spPr>
            <a:xfrm>
              <a:off x="10935748" y="3747945"/>
              <a:ext cx="591829" cy="461665"/>
            </a:xfrm>
            <a:prstGeom prst="rect">
              <a:avLst/>
            </a:prstGeom>
            <a:noFill/>
          </p:spPr>
          <p:txBody>
            <a:bodyPr wrap="none" rtlCol="0">
              <a:spAutoFit/>
            </a:bodyPr>
            <a:lstStyle/>
            <a:p>
              <a:r>
                <a:rPr lang="en-US" sz="2400" dirty="0">
                  <a:latin typeface="+mj-lt"/>
                </a:rPr>
                <a:t> (2)</a:t>
              </a:r>
            </a:p>
          </p:txBody>
        </p:sp>
      </p:grpSp>
      <p:grpSp>
        <p:nvGrpSpPr>
          <p:cNvPr id="6" name="Group 5">
            <a:extLst>
              <a:ext uri="{FF2B5EF4-FFF2-40B4-BE49-F238E27FC236}">
                <a16:creationId xmlns:a16="http://schemas.microsoft.com/office/drawing/2014/main" id="{95675CFD-A053-DE4E-BBE2-D3BF36E254E4}"/>
              </a:ext>
            </a:extLst>
          </p:cNvPr>
          <p:cNvGrpSpPr/>
          <p:nvPr/>
        </p:nvGrpSpPr>
        <p:grpSpPr>
          <a:xfrm>
            <a:off x="441889" y="5371169"/>
            <a:ext cx="11085688" cy="1304268"/>
            <a:chOff x="441889" y="5371169"/>
            <a:chExt cx="11085688" cy="1304268"/>
          </a:xfrm>
        </p:grpSpPr>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C61D116-8ED0-DE49-99CA-6268C76A9509}"/>
                    </a:ext>
                  </a:extLst>
                </p:cNvPr>
                <p:cNvSpPr/>
                <p:nvPr/>
              </p:nvSpPr>
              <p:spPr>
                <a:xfrm>
                  <a:off x="441889" y="5371169"/>
                  <a:ext cx="8270597" cy="130426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rgbClr val="002060"/>
                                </a:solidFill>
                                <a:latin typeface="Cambria Math" panose="02040503050406030204" pitchFamily="18" charset="0"/>
                                <a:ea typeface="Cambria Math" panose="02040503050406030204" pitchFamily="18" charset="0"/>
                              </a:rPr>
                            </m:ctrlPr>
                          </m:sSubPr>
                          <m:e>
                            <m:r>
                              <a:rPr lang="en-US" sz="2800" b="0" i="1" smtClean="0">
                                <a:solidFill>
                                  <a:srgbClr val="002060"/>
                                </a:solidFill>
                                <a:latin typeface="Cambria Math" panose="02040503050406030204" pitchFamily="18" charset="0"/>
                                <a:ea typeface="Cambria Math" panose="02040503050406030204" pitchFamily="18" charset="0"/>
                              </a:rPr>
                              <m:t>𝐼𝑄</m:t>
                            </m:r>
                            <m:r>
                              <a:rPr lang="en-US" sz="2800" i="1">
                                <a:latin typeface="Cambria Math" panose="02040503050406030204" pitchFamily="18" charset="0"/>
                                <a:ea typeface="Cambria Math" panose="02040503050406030204" pitchFamily="18" charset="0"/>
                              </a:rPr>
                              <m:t>𝐹𝑇</m:t>
                            </m:r>
                            <m:r>
                              <a:rPr lang="en-US" sz="2800" b="0" i="1" smtClean="0">
                                <a:solidFill>
                                  <a:srgbClr val="002060"/>
                                </a:solidFill>
                                <a:latin typeface="Cambria Math" panose="02040503050406030204" pitchFamily="18" charset="0"/>
                                <a:ea typeface="Cambria Math" panose="02040503050406030204" pitchFamily="18" charset="0"/>
                              </a:rPr>
                              <m:t>:  </m:t>
                            </m:r>
                            <m:r>
                              <a:rPr lang="en-US" sz="2800" b="0" i="1" smtClean="0">
                                <a:solidFill>
                                  <a:srgbClr val="002060"/>
                                </a:solidFill>
                                <a:latin typeface="Cambria Math" panose="02040503050406030204" pitchFamily="18" charset="0"/>
                                <a:ea typeface="Cambria Math" panose="02040503050406030204" pitchFamily="18" charset="0"/>
                              </a:rPr>
                              <m:t>𝑥</m:t>
                            </m:r>
                          </m:e>
                          <m:sub>
                            <m:r>
                              <a:rPr lang="en-US" sz="2800" b="0" i="1" smtClean="0">
                                <a:solidFill>
                                  <a:srgbClr val="002060"/>
                                </a:solidFill>
                                <a:latin typeface="Cambria Math" panose="02040503050406030204" pitchFamily="18" charset="0"/>
                                <a:ea typeface="Cambria Math" panose="02040503050406030204" pitchFamily="18" charset="0"/>
                              </a:rPr>
                              <m:t>𝑛</m:t>
                            </m:r>
                          </m:sub>
                        </m:sSub>
                        <m:r>
                          <a:rPr lang="en-US" sz="2800" b="0" i="1" smtClean="0">
                            <a:solidFill>
                              <a:srgbClr val="002060"/>
                            </a:solidFill>
                            <a:latin typeface="Cambria Math" panose="02040503050406030204" pitchFamily="18" charset="0"/>
                            <a:ea typeface="Cambria Math" panose="02040503050406030204" pitchFamily="18" charset="0"/>
                          </a:rPr>
                          <m:t>=</m:t>
                        </m:r>
                        <m:f>
                          <m:fPr>
                            <m:ctrlPr>
                              <a:rPr lang="en-US" sz="2800" i="1">
                                <a:solidFill>
                                  <a:srgbClr val="002060"/>
                                </a:solidFill>
                                <a:latin typeface="Cambria Math" panose="02040503050406030204" pitchFamily="18" charset="0"/>
                                <a:ea typeface="Cambria Math" panose="02040503050406030204" pitchFamily="18" charset="0"/>
                              </a:rPr>
                            </m:ctrlPr>
                          </m:fPr>
                          <m:num>
                            <m:r>
                              <a:rPr lang="en-US" sz="2800" i="1">
                                <a:solidFill>
                                  <a:srgbClr val="002060"/>
                                </a:solidFill>
                                <a:latin typeface="Cambria Math" panose="02040503050406030204" pitchFamily="18" charset="0"/>
                                <a:ea typeface="Cambria Math" panose="02040503050406030204" pitchFamily="18" charset="0"/>
                              </a:rPr>
                              <m:t>1</m:t>
                            </m:r>
                          </m:num>
                          <m:den>
                            <m:rad>
                              <m:radPr>
                                <m:degHide m:val="on"/>
                                <m:ctrlPr>
                                  <a:rPr lang="en-US" sz="2800" i="1">
                                    <a:solidFill>
                                      <a:srgbClr val="002060"/>
                                    </a:solidFill>
                                    <a:latin typeface="Cambria Math" panose="02040503050406030204" pitchFamily="18" charset="0"/>
                                    <a:ea typeface="Cambria Math" panose="02040503050406030204" pitchFamily="18" charset="0"/>
                                  </a:rPr>
                                </m:ctrlPr>
                              </m:radPr>
                              <m:deg/>
                              <m:e>
                                <m:r>
                                  <a:rPr lang="en-US" sz="2800" i="1">
                                    <a:solidFill>
                                      <a:srgbClr val="002060"/>
                                    </a:solidFill>
                                    <a:latin typeface="Cambria Math" panose="02040503050406030204" pitchFamily="18" charset="0"/>
                                    <a:ea typeface="Cambria Math" panose="02040503050406030204" pitchFamily="18" charset="0"/>
                                  </a:rPr>
                                  <m:t>𝑁</m:t>
                                </m:r>
                              </m:e>
                            </m:rad>
                          </m:den>
                        </m:f>
                        <m:nary>
                          <m:naryPr>
                            <m:chr m:val="∑"/>
                            <m:ctrlPr>
                              <a:rPr lang="en-US" sz="2800" i="1" smtClean="0">
                                <a:solidFill>
                                  <a:srgbClr val="002060"/>
                                </a:solidFill>
                                <a:latin typeface="Cambria Math" panose="02040503050406030204" pitchFamily="18" charset="0"/>
                                <a:ea typeface="Cambria Math" panose="02040503050406030204" pitchFamily="18" charset="0"/>
                              </a:rPr>
                            </m:ctrlPr>
                          </m:naryPr>
                          <m:sub>
                            <m:r>
                              <a:rPr lang="en-US" sz="2800" b="0" i="1" smtClean="0">
                                <a:solidFill>
                                  <a:srgbClr val="002060"/>
                                </a:solidFill>
                                <a:latin typeface="Cambria Math" panose="02040503050406030204" pitchFamily="18" charset="0"/>
                                <a:ea typeface="Cambria Math" panose="02040503050406030204" pitchFamily="18" charset="0"/>
                              </a:rPr>
                              <m:t>𝑘</m:t>
                            </m:r>
                            <m:r>
                              <a:rPr lang="en-US" sz="2800" i="1">
                                <a:solidFill>
                                  <a:srgbClr val="002060"/>
                                </a:solidFill>
                                <a:latin typeface="Cambria Math" panose="02040503050406030204" pitchFamily="18" charset="0"/>
                                <a:ea typeface="Cambria Math" panose="02040503050406030204" pitchFamily="18" charset="0"/>
                              </a:rPr>
                              <m:t>=0</m:t>
                            </m:r>
                          </m:sub>
                          <m:sup>
                            <m:r>
                              <a:rPr lang="en-US" sz="2800" i="1">
                                <a:solidFill>
                                  <a:srgbClr val="002060"/>
                                </a:solidFill>
                                <a:latin typeface="Cambria Math" panose="02040503050406030204" pitchFamily="18" charset="0"/>
                                <a:ea typeface="Cambria Math" panose="02040503050406030204" pitchFamily="18" charset="0"/>
                              </a:rPr>
                              <m:t>𝑁</m:t>
                            </m:r>
                            <m:r>
                              <a:rPr lang="en-US" sz="2800" i="1">
                                <a:solidFill>
                                  <a:srgbClr val="002060"/>
                                </a:solidFill>
                                <a:latin typeface="Cambria Math" panose="02040503050406030204" pitchFamily="18" charset="0"/>
                                <a:ea typeface="Cambria Math" panose="02040503050406030204" pitchFamily="18" charset="0"/>
                              </a:rPr>
                              <m:t>−1</m:t>
                            </m:r>
                          </m:sup>
                          <m:e>
                            <m:sSub>
                              <m:sSubPr>
                                <m:ctrlPr>
                                  <a:rPr lang="en-US" sz="2800" i="1" smtClean="0">
                                    <a:solidFill>
                                      <a:srgbClr val="002060"/>
                                    </a:solidFill>
                                    <a:latin typeface="Cambria Math" panose="02040503050406030204" pitchFamily="18" charset="0"/>
                                    <a:ea typeface="Cambria Math" panose="02040503050406030204" pitchFamily="18" charset="0"/>
                                  </a:rPr>
                                </m:ctrlPr>
                              </m:sSubPr>
                              <m:e>
                                <m:r>
                                  <a:rPr lang="en-US" sz="2800" b="0" i="1" smtClean="0">
                                    <a:solidFill>
                                      <a:srgbClr val="002060"/>
                                    </a:solidFill>
                                    <a:latin typeface="Cambria Math" panose="02040503050406030204" pitchFamily="18" charset="0"/>
                                    <a:ea typeface="Cambria Math" panose="02040503050406030204" pitchFamily="18" charset="0"/>
                                  </a:rPr>
                                  <m:t>𝑦</m:t>
                                </m:r>
                              </m:e>
                              <m:sub>
                                <m:r>
                                  <a:rPr lang="en-US" sz="2800" b="0" i="1" smtClean="0">
                                    <a:solidFill>
                                      <a:srgbClr val="002060"/>
                                    </a:solidFill>
                                    <a:latin typeface="Cambria Math" panose="02040503050406030204" pitchFamily="18" charset="0"/>
                                    <a:ea typeface="Cambria Math" panose="02040503050406030204" pitchFamily="18" charset="0"/>
                                  </a:rPr>
                                  <m:t>𝑘</m:t>
                                </m:r>
                              </m:sub>
                            </m:sSub>
                            <m:sSup>
                              <m:sSupPr>
                                <m:ctrlPr>
                                  <a:rPr lang="en-US" sz="2800" i="1" smtClean="0">
                                    <a:solidFill>
                                      <a:srgbClr val="002060"/>
                                    </a:solidFill>
                                    <a:latin typeface="Cambria Math" panose="02040503050406030204" pitchFamily="18" charset="0"/>
                                    <a:ea typeface="Cambria Math" panose="02040503050406030204" pitchFamily="18" charset="0"/>
                                  </a:rPr>
                                </m:ctrlPr>
                              </m:sSupPr>
                              <m:e>
                                <m:r>
                                  <a:rPr lang="en-US" sz="2800" i="1">
                                    <a:solidFill>
                                      <a:srgbClr val="002060"/>
                                    </a:solidFill>
                                    <a:latin typeface="Cambria Math" panose="02040503050406030204" pitchFamily="18" charset="0"/>
                                    <a:ea typeface="Cambria Math" panose="02040503050406030204" pitchFamily="18" charset="0"/>
                                  </a:rPr>
                                  <m:t>𝜔</m:t>
                                </m:r>
                              </m:e>
                              <m:sup>
                                <m:r>
                                  <a:rPr lang="en-US" sz="2800" b="0" i="1" smtClean="0">
                                    <a:solidFill>
                                      <a:srgbClr val="FF0000"/>
                                    </a:solidFill>
                                    <a:latin typeface="Cambria Math" panose="02040503050406030204" pitchFamily="18" charset="0"/>
                                    <a:ea typeface="Cambria Math" panose="02040503050406030204" pitchFamily="18" charset="0"/>
                                  </a:rPr>
                                  <m:t>−</m:t>
                                </m:r>
                                <m:r>
                                  <a:rPr lang="en-US" sz="2800" b="0" i="1" smtClean="0">
                                    <a:solidFill>
                                      <a:srgbClr val="002060"/>
                                    </a:solidFill>
                                    <a:latin typeface="Cambria Math" panose="02040503050406030204" pitchFamily="18" charset="0"/>
                                    <a:ea typeface="Cambria Math" panose="02040503050406030204" pitchFamily="18" charset="0"/>
                                  </a:rPr>
                                  <m:t>𝑛𝑘</m:t>
                                </m:r>
                              </m:sup>
                            </m:sSup>
                          </m:e>
                        </m:nary>
                        <m:r>
                          <a:rPr lang="en-US" sz="2800" b="0" i="1" smtClean="0">
                            <a:solidFill>
                              <a:srgbClr val="002060"/>
                            </a:solidFill>
                            <a:latin typeface="Cambria Math" panose="02040503050406030204" pitchFamily="18" charset="0"/>
                            <a:ea typeface="Cambria Math" panose="02040503050406030204" pitchFamily="18" charset="0"/>
                          </a:rPr>
                          <m:t>,  </m:t>
                        </m:r>
                        <m:r>
                          <a:rPr lang="en-US" sz="2800" b="0" i="1" smtClean="0">
                            <a:solidFill>
                              <a:srgbClr val="002060"/>
                            </a:solidFill>
                            <a:latin typeface="Cambria Math" panose="02040503050406030204" pitchFamily="18" charset="0"/>
                            <a:ea typeface="Cambria Math" panose="02040503050406030204" pitchFamily="18" charset="0"/>
                          </a:rPr>
                          <m:t>𝑛</m:t>
                        </m:r>
                        <m:r>
                          <a:rPr lang="en-US" sz="2800" b="0" i="1" smtClean="0">
                            <a:solidFill>
                              <a:srgbClr val="002060"/>
                            </a:solidFill>
                            <a:latin typeface="Cambria Math" panose="02040503050406030204" pitchFamily="18" charset="0"/>
                            <a:ea typeface="Cambria Math" panose="02040503050406030204" pitchFamily="18" charset="0"/>
                          </a:rPr>
                          <m:t>=0,1,2,⋯</m:t>
                        </m:r>
                        <m:r>
                          <a:rPr lang="en-US" sz="2800" b="0" i="1" smtClean="0">
                            <a:solidFill>
                              <a:srgbClr val="002060"/>
                            </a:solidFill>
                            <a:latin typeface="Cambria Math" panose="02040503050406030204" pitchFamily="18" charset="0"/>
                            <a:ea typeface="Cambria Math" panose="02040503050406030204" pitchFamily="18" charset="0"/>
                          </a:rPr>
                          <m:t>𝑁</m:t>
                        </m:r>
                        <m:r>
                          <a:rPr lang="en-US" sz="2800" b="0" i="1" smtClean="0">
                            <a:solidFill>
                              <a:srgbClr val="002060"/>
                            </a:solidFill>
                            <a:latin typeface="Cambria Math" panose="02040503050406030204" pitchFamily="18" charset="0"/>
                            <a:ea typeface="Cambria Math" panose="02040503050406030204" pitchFamily="18" charset="0"/>
                          </a:rPr>
                          <m:t>−1</m:t>
                        </m:r>
                      </m:oMath>
                    </m:oMathPara>
                  </a14:m>
                  <a:endParaRPr lang="en-US" sz="2800" dirty="0"/>
                </a:p>
              </p:txBody>
            </p:sp>
          </mc:Choice>
          <mc:Fallback xmlns="">
            <p:sp>
              <p:nvSpPr>
                <p:cNvPr id="9" name="Rectangle 8">
                  <a:extLst>
                    <a:ext uri="{FF2B5EF4-FFF2-40B4-BE49-F238E27FC236}">
                      <a16:creationId xmlns:a16="http://schemas.microsoft.com/office/drawing/2014/main" id="{8C61D116-8ED0-DE49-99CA-6268C76A9509}"/>
                    </a:ext>
                  </a:extLst>
                </p:cNvPr>
                <p:cNvSpPr>
                  <a:spLocks noRot="1" noChangeAspect="1" noMove="1" noResize="1" noEditPoints="1" noAdjustHandles="1" noChangeArrowheads="1" noChangeShapeType="1" noTextEdit="1"/>
                </p:cNvSpPr>
                <p:nvPr/>
              </p:nvSpPr>
              <p:spPr>
                <a:xfrm>
                  <a:off x="441889" y="5371169"/>
                  <a:ext cx="8270597" cy="1304268"/>
                </a:xfrm>
                <a:prstGeom prst="rect">
                  <a:avLst/>
                </a:prstGeom>
                <a:blipFill>
                  <a:blip r:embed="rId5"/>
                  <a:stretch>
                    <a:fillRect t="-100000" b="-156731"/>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1FD2C007-C7A2-5E43-9953-DEE1EAFC2E4C}"/>
                </a:ext>
              </a:extLst>
            </p:cNvPr>
            <p:cNvSpPr txBox="1"/>
            <p:nvPr/>
          </p:nvSpPr>
          <p:spPr>
            <a:xfrm>
              <a:off x="10935748" y="5792470"/>
              <a:ext cx="591829" cy="461665"/>
            </a:xfrm>
            <a:prstGeom prst="rect">
              <a:avLst/>
            </a:prstGeom>
            <a:noFill/>
          </p:spPr>
          <p:txBody>
            <a:bodyPr wrap="none" rtlCol="0">
              <a:spAutoFit/>
            </a:bodyPr>
            <a:lstStyle/>
            <a:p>
              <a:r>
                <a:rPr lang="en-US" sz="2400" dirty="0">
                  <a:latin typeface="+mj-lt"/>
                </a:rPr>
                <a:t> (3)</a:t>
              </a:r>
            </a:p>
          </p:txBody>
        </p:sp>
      </p:grpSp>
    </p:spTree>
    <p:extLst>
      <p:ext uri="{BB962C8B-B14F-4D97-AF65-F5344CB8AC3E}">
        <p14:creationId xmlns:p14="http://schemas.microsoft.com/office/powerpoint/2010/main" val="3280379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D8952-EF9E-5741-B095-D8AC4A1CDAA7}"/>
              </a:ext>
            </a:extLst>
          </p:cNvPr>
          <p:cNvSpPr>
            <a:spLocks noGrp="1"/>
          </p:cNvSpPr>
          <p:nvPr>
            <p:ph type="title"/>
          </p:nvPr>
        </p:nvSpPr>
        <p:spPr/>
        <p:txBody>
          <a:bodyPr>
            <a:normAutofit/>
          </a:bodyPr>
          <a:lstStyle/>
          <a:p>
            <a:r>
              <a:rPr lang="en-ZA" dirty="0"/>
              <a:t>QFT: From Binary States to Phase Rotations</a:t>
            </a:r>
            <a:endParaRPr lang="en-US" dirty="0"/>
          </a:p>
        </p:txBody>
      </p:sp>
      <p:sp>
        <p:nvSpPr>
          <p:cNvPr id="3" name="Slide Number Placeholder 2">
            <a:extLst>
              <a:ext uri="{FF2B5EF4-FFF2-40B4-BE49-F238E27FC236}">
                <a16:creationId xmlns:a16="http://schemas.microsoft.com/office/drawing/2014/main" id="{9D2E2F5F-F793-0741-887D-92A6D666C9B3}"/>
              </a:ext>
            </a:extLst>
          </p:cNvPr>
          <p:cNvSpPr>
            <a:spLocks noGrp="1"/>
          </p:cNvSpPr>
          <p:nvPr>
            <p:ph type="sldNum" sz="quarter" idx="12"/>
          </p:nvPr>
        </p:nvSpPr>
        <p:spPr/>
        <p:txBody>
          <a:bodyPr/>
          <a:lstStyle/>
          <a:p>
            <a:fld id="{591A223C-FA10-BC46-A853-03BA373D023C}" type="slidenum">
              <a:rPr lang="en-US" smtClean="0"/>
              <a:t>56</a:t>
            </a:fld>
            <a:endParaRPr lang="en-US"/>
          </a:p>
        </p:txBody>
      </p:sp>
      <p:pic>
        <p:nvPicPr>
          <p:cNvPr id="8" name="Picture 7">
            <a:extLst>
              <a:ext uri="{FF2B5EF4-FFF2-40B4-BE49-F238E27FC236}">
                <a16:creationId xmlns:a16="http://schemas.microsoft.com/office/drawing/2014/main" id="{87B6B706-CC9D-864D-9820-C97EA97DE770}"/>
              </a:ext>
            </a:extLst>
          </p:cNvPr>
          <p:cNvPicPr>
            <a:picLocks noChangeAspect="1"/>
          </p:cNvPicPr>
          <p:nvPr/>
        </p:nvPicPr>
        <p:blipFill>
          <a:blip r:embed="rId3"/>
          <a:stretch>
            <a:fillRect/>
          </a:stretch>
        </p:blipFill>
        <p:spPr>
          <a:xfrm>
            <a:off x="1347783" y="928688"/>
            <a:ext cx="9942546" cy="2520000"/>
          </a:xfrm>
          <a:prstGeom prst="rect">
            <a:avLst/>
          </a:prstGeom>
        </p:spPr>
      </p:pic>
      <p:grpSp>
        <p:nvGrpSpPr>
          <p:cNvPr id="4" name="Group 3">
            <a:extLst>
              <a:ext uri="{FF2B5EF4-FFF2-40B4-BE49-F238E27FC236}">
                <a16:creationId xmlns:a16="http://schemas.microsoft.com/office/drawing/2014/main" id="{05B384F9-A421-D543-9734-4A71FEC0A869}"/>
              </a:ext>
            </a:extLst>
          </p:cNvPr>
          <p:cNvGrpSpPr/>
          <p:nvPr/>
        </p:nvGrpSpPr>
        <p:grpSpPr>
          <a:xfrm>
            <a:off x="1370693" y="3540452"/>
            <a:ext cx="9919636" cy="3134985"/>
            <a:chOff x="1370693" y="3540452"/>
            <a:chExt cx="9919636" cy="3134985"/>
          </a:xfrm>
        </p:grpSpPr>
        <p:pic>
          <p:nvPicPr>
            <p:cNvPr id="6" name="Picture 5">
              <a:extLst>
                <a:ext uri="{FF2B5EF4-FFF2-40B4-BE49-F238E27FC236}">
                  <a16:creationId xmlns:a16="http://schemas.microsoft.com/office/drawing/2014/main" id="{002FBCB5-AAEA-514E-844C-FCC116F75B5A}"/>
                </a:ext>
              </a:extLst>
            </p:cNvPr>
            <p:cNvPicPr>
              <a:picLocks noChangeAspect="1"/>
            </p:cNvPicPr>
            <p:nvPr/>
          </p:nvPicPr>
          <p:blipFill>
            <a:blip r:embed="rId4"/>
            <a:stretch>
              <a:fillRect/>
            </a:stretch>
          </p:blipFill>
          <p:spPr>
            <a:xfrm>
              <a:off x="1370693" y="4155437"/>
              <a:ext cx="9919636" cy="2520000"/>
            </a:xfrm>
            <a:prstGeom prst="rect">
              <a:avLst/>
            </a:prstGeom>
          </p:spPr>
        </p:pic>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A037DB46-8C4D-3046-BC3C-13F89F27165A}"/>
                    </a:ext>
                  </a:extLst>
                </p:cNvPr>
                <p:cNvSpPr/>
                <p:nvPr/>
              </p:nvSpPr>
              <p:spPr>
                <a:xfrm>
                  <a:off x="3329954" y="3540452"/>
                  <a:ext cx="5703613" cy="523220"/>
                </a:xfrm>
                <a:prstGeom prst="rect">
                  <a:avLst/>
                </a:prstGeom>
              </p:spPr>
              <p:txBody>
                <a:bodyPr wrap="none">
                  <a:spAutoFit/>
                </a:bodyPr>
                <a:lstStyle/>
                <a:p>
                  <a:r>
                    <a:rPr lang="en-US" sz="2800" dirty="0"/>
                    <a:t>{</a:t>
                  </a:r>
                  <a14:m>
                    <m:oMath xmlns:m="http://schemas.openxmlformats.org/officeDocument/2006/math">
                      <m:r>
                        <a:rPr lang="en-US" sz="2800" i="1">
                          <a:solidFill>
                            <a:srgbClr val="002060"/>
                          </a:solidFill>
                          <a:latin typeface="Cambria Math" panose="02040503050406030204" pitchFamily="18" charset="0"/>
                          <a:ea typeface="Cambria Math" panose="02040503050406030204" pitchFamily="18" charset="0"/>
                        </a:rPr>
                        <m:t>|</m:t>
                      </m:r>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b="0" i="1" smtClean="0">
                              <a:solidFill>
                                <a:srgbClr val="002060"/>
                              </a:solidFill>
                              <a:latin typeface="Cambria Math" panose="02040503050406030204" pitchFamily="18" charset="0"/>
                              <a:ea typeface="Cambria Math" panose="02040503050406030204" pitchFamily="18" charset="0"/>
                            </a:rPr>
                            <m:t>0</m:t>
                          </m:r>
                        </m:e>
                      </m:d>
                    </m:oMath>
                  </a14:m>
                  <a:r>
                    <a:rPr lang="en-US" sz="2800" dirty="0"/>
                    <a:t>,</a:t>
                  </a:r>
                  <a:r>
                    <a:rPr lang="en-US" sz="2800" dirty="0">
                      <a:solidFill>
                        <a:srgbClr val="002060"/>
                      </a:solidFill>
                      <a:ea typeface="Cambria Math" panose="02040503050406030204" pitchFamily="18" charset="0"/>
                    </a:rPr>
                    <a:t> </a:t>
                  </a:r>
                  <a14:m>
                    <m:oMath xmlns:m="http://schemas.openxmlformats.org/officeDocument/2006/math">
                      <m:r>
                        <a:rPr lang="en-US" sz="2800" i="1">
                          <a:solidFill>
                            <a:srgbClr val="002060"/>
                          </a:solidFill>
                          <a:latin typeface="Cambria Math" panose="02040503050406030204" pitchFamily="18" charset="0"/>
                          <a:ea typeface="Cambria Math" panose="02040503050406030204" pitchFamily="18" charset="0"/>
                        </a:rPr>
                        <m:t>|</m:t>
                      </m:r>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b="0" i="1" smtClean="0">
                              <a:solidFill>
                                <a:srgbClr val="002060"/>
                              </a:solidFill>
                              <a:latin typeface="Cambria Math" panose="02040503050406030204" pitchFamily="18" charset="0"/>
                              <a:ea typeface="Cambria Math" panose="02040503050406030204" pitchFamily="18" charset="0"/>
                            </a:rPr>
                            <m:t>1</m:t>
                          </m:r>
                        </m:e>
                      </m:d>
                    </m:oMath>
                  </a14:m>
                  <a:r>
                    <a:rPr lang="en-US" sz="2800" dirty="0"/>
                    <a:t>}</a:t>
                  </a:r>
                  <a:r>
                    <a:rPr lang="en-US" sz="2800" dirty="0">
                      <a:solidFill>
                        <a:srgbClr val="002060"/>
                      </a:solidFill>
                      <a:ea typeface="Cambria Math" panose="02040503050406030204" pitchFamily="18" charset="0"/>
                    </a:rPr>
                    <a:t> </a:t>
                  </a:r>
                  <a14:m>
                    <m:oMath xmlns:m="http://schemas.openxmlformats.org/officeDocument/2006/math">
                      <m:r>
                        <a:rPr lang="en-US" sz="2800" i="1">
                          <a:solidFill>
                            <a:srgbClr val="002060"/>
                          </a:solidFill>
                          <a:latin typeface="Cambria Math" panose="02040503050406030204" pitchFamily="18" charset="0"/>
                          <a:ea typeface="Cambria Math" panose="02040503050406030204" pitchFamily="18" charset="0"/>
                        </a:rPr>
                        <m:t>→</m:t>
                      </m:r>
                      <m:r>
                        <m:rPr>
                          <m:nor/>
                        </m:rPr>
                        <a:rPr lang="en-US" sz="2800" dirty="0"/>
                        <m:t>{</m:t>
                      </m:r>
                      <m:r>
                        <a:rPr lang="en-US" sz="2800" i="1">
                          <a:solidFill>
                            <a:srgbClr val="002060"/>
                          </a:solidFill>
                          <a:latin typeface="Cambria Math" panose="02040503050406030204" pitchFamily="18" charset="0"/>
                          <a:ea typeface="Cambria Math" panose="02040503050406030204" pitchFamily="18" charset="0"/>
                        </a:rPr>
                        <m:t>|</m:t>
                      </m:r>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b="0" i="1" smtClean="0">
                              <a:solidFill>
                                <a:srgbClr val="002060"/>
                              </a:solidFill>
                              <a:latin typeface="Cambria Math" panose="02040503050406030204" pitchFamily="18" charset="0"/>
                              <a:ea typeface="Cambria Math" panose="02040503050406030204" pitchFamily="18" charset="0"/>
                            </a:rPr>
                            <m:t>+</m:t>
                          </m:r>
                        </m:e>
                      </m:d>
                      <m:r>
                        <m:rPr>
                          <m:nor/>
                        </m:rPr>
                        <a:rPr lang="en-US" sz="2800" dirty="0"/>
                        <m:t>,</m:t>
                      </m:r>
                      <m:r>
                        <m:rPr>
                          <m:nor/>
                        </m:rPr>
                        <a:rPr lang="en-US" sz="2800" dirty="0">
                          <a:solidFill>
                            <a:srgbClr val="002060"/>
                          </a:solidFill>
                          <a:ea typeface="Cambria Math" panose="02040503050406030204" pitchFamily="18" charset="0"/>
                        </a:rPr>
                        <m:t> </m:t>
                      </m:r>
                      <m:r>
                        <a:rPr lang="en-US" sz="2800" i="1">
                          <a:solidFill>
                            <a:srgbClr val="002060"/>
                          </a:solidFill>
                          <a:latin typeface="Cambria Math" panose="02040503050406030204" pitchFamily="18" charset="0"/>
                          <a:ea typeface="Cambria Math" panose="02040503050406030204" pitchFamily="18" charset="0"/>
                        </a:rPr>
                        <m:t>|</m:t>
                      </m:r>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b="0" i="1" smtClean="0">
                              <a:solidFill>
                                <a:srgbClr val="002060"/>
                              </a:solidFill>
                              <a:latin typeface="Cambria Math" panose="02040503050406030204" pitchFamily="18" charset="0"/>
                              <a:ea typeface="Cambria Math" panose="02040503050406030204" pitchFamily="18" charset="0"/>
                            </a:rPr>
                            <m:t>−</m:t>
                          </m:r>
                        </m:e>
                      </m:d>
                      <m:r>
                        <m:rPr>
                          <m:nor/>
                        </m:rPr>
                        <a:rPr lang="en-US" sz="2800" dirty="0"/>
                        <m:t>}</m:t>
                      </m:r>
                      <m:r>
                        <m:rPr>
                          <m:nor/>
                        </m:rPr>
                        <a:rPr lang="en-US" sz="2800" b="0" i="0" dirty="0" smtClean="0"/>
                        <m:t>,     </m:t>
                      </m:r>
                      <m:r>
                        <a:rPr lang="sr-Latn-RS" sz="2800" b="0" i="1" dirty="0" smtClean="0">
                          <a:latin typeface="Cambria Math" panose="02040503050406030204" pitchFamily="18" charset="0"/>
                        </a:rPr>
                        <m:t>𝐾</m:t>
                      </m:r>
                      <m:r>
                        <a:rPr lang="en-US" sz="2800" i="1">
                          <a:solidFill>
                            <a:srgbClr val="002060"/>
                          </a:solidFill>
                          <a:latin typeface="Cambria Math" panose="02040503050406030204" pitchFamily="18" charset="0"/>
                          <a:ea typeface="Cambria Math" panose="02040503050406030204" pitchFamily="18" charset="0"/>
                        </a:rPr>
                        <m:t>𝐹𝑇</m:t>
                      </m:r>
                      <m:r>
                        <a:rPr lang="en-US" sz="2800" i="1">
                          <a:solidFill>
                            <a:srgbClr val="002060"/>
                          </a:solidFill>
                          <a:latin typeface="Cambria Math" panose="02040503050406030204" pitchFamily="18" charset="0"/>
                          <a:ea typeface="Cambria Math" panose="02040503050406030204" pitchFamily="18" charset="0"/>
                        </a:rPr>
                        <m:t>|</m:t>
                      </m:r>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𝑥</m:t>
                          </m:r>
                        </m:e>
                      </m:d>
                      <m:r>
                        <m:rPr>
                          <m:nor/>
                        </m:rPr>
                        <a:rPr lang="en-US" sz="2800" dirty="0"/>
                        <m:t>=</m:t>
                      </m:r>
                      <m:r>
                        <m:rPr>
                          <m:nor/>
                        </m:rPr>
                        <a:rPr lang="en-US" sz="2800" dirty="0">
                          <a:solidFill>
                            <a:srgbClr val="002060"/>
                          </a:solidFill>
                          <a:ea typeface="Cambria Math" panose="02040503050406030204" pitchFamily="18" charset="0"/>
                        </a:rPr>
                        <m:t> </m:t>
                      </m:r>
                      <m:r>
                        <a:rPr lang="en-US" sz="2800" i="1">
                          <a:solidFill>
                            <a:srgbClr val="002060"/>
                          </a:solidFill>
                          <a:latin typeface="Cambria Math" panose="02040503050406030204" pitchFamily="18" charset="0"/>
                          <a:ea typeface="Cambria Math" panose="02040503050406030204" pitchFamily="18" charset="0"/>
                        </a:rPr>
                        <m:t>|</m:t>
                      </m:r>
                      <m:d>
                        <m:dPr>
                          <m:begChr m:val=""/>
                          <m:endChr m:val="⟩"/>
                          <m:ctrlPr>
                            <a:rPr lang="en-US" sz="2800" i="1">
                              <a:solidFill>
                                <a:srgbClr val="002060"/>
                              </a:solidFill>
                              <a:latin typeface="Cambria Math" panose="02040503050406030204" pitchFamily="18" charset="0"/>
                              <a:ea typeface="Cambria Math" panose="02040503050406030204" pitchFamily="18" charset="0"/>
                            </a:rPr>
                          </m:ctrlPr>
                        </m:dPr>
                        <m:e>
                          <m:acc>
                            <m:accPr>
                              <m:chr m:val="̃"/>
                              <m:ctrlPr>
                                <a:rPr lang="en-US" sz="2800" i="1">
                                  <a:solidFill>
                                    <a:srgbClr val="002060"/>
                                  </a:solidFill>
                                  <a:latin typeface="Cambria Math" panose="02040503050406030204" pitchFamily="18" charset="0"/>
                                  <a:ea typeface="Cambria Math" panose="02040503050406030204" pitchFamily="18" charset="0"/>
                                </a:rPr>
                              </m:ctrlPr>
                            </m:accPr>
                            <m:e>
                              <m:r>
                                <a:rPr lang="en-US" sz="2800" i="1">
                                  <a:solidFill>
                                    <a:srgbClr val="002060"/>
                                  </a:solidFill>
                                  <a:latin typeface="Cambria Math" panose="02040503050406030204" pitchFamily="18" charset="0"/>
                                  <a:ea typeface="Cambria Math" panose="02040503050406030204" pitchFamily="18" charset="0"/>
                                </a:rPr>
                                <m:t>𝑥</m:t>
                              </m:r>
                            </m:e>
                          </m:acc>
                        </m:e>
                      </m:d>
                    </m:oMath>
                  </a14:m>
                  <a:endParaRPr lang="en-US" sz="2800" dirty="0"/>
                </a:p>
              </p:txBody>
            </p:sp>
          </mc:Choice>
          <mc:Fallback xmlns="">
            <p:sp>
              <p:nvSpPr>
                <p:cNvPr id="9" name="Rectangle 8">
                  <a:extLst>
                    <a:ext uri="{FF2B5EF4-FFF2-40B4-BE49-F238E27FC236}">
                      <a16:creationId xmlns:a16="http://schemas.microsoft.com/office/drawing/2014/main" id="{A037DB46-8C4D-3046-BC3C-13F89F27165A}"/>
                    </a:ext>
                  </a:extLst>
                </p:cNvPr>
                <p:cNvSpPr>
                  <a:spLocks noRot="1" noChangeAspect="1" noMove="1" noResize="1" noEditPoints="1" noAdjustHandles="1" noChangeArrowheads="1" noChangeShapeType="1" noTextEdit="1"/>
                </p:cNvSpPr>
                <p:nvPr/>
              </p:nvSpPr>
              <p:spPr>
                <a:xfrm>
                  <a:off x="3329954" y="3540452"/>
                  <a:ext cx="5703613" cy="523220"/>
                </a:xfrm>
                <a:prstGeom prst="rect">
                  <a:avLst/>
                </a:prstGeom>
                <a:blipFill>
                  <a:blip r:embed="rId5"/>
                  <a:stretch>
                    <a:fillRect l="-2444" t="-135714" r="-6889" b="-200000"/>
                  </a:stretch>
                </a:blipFill>
              </p:spPr>
              <p:txBody>
                <a:bodyPr/>
                <a:lstStyle/>
                <a:p>
                  <a:r>
                    <a:rPr lang="en-US">
                      <a:noFill/>
                    </a:rPr>
                    <a:t> </a:t>
                  </a:r>
                </a:p>
              </p:txBody>
            </p:sp>
          </mc:Fallback>
        </mc:AlternateContent>
      </p:grpSp>
    </p:spTree>
    <p:extLst>
      <p:ext uri="{BB962C8B-B14F-4D97-AF65-F5344CB8AC3E}">
        <p14:creationId xmlns:p14="http://schemas.microsoft.com/office/powerpoint/2010/main" val="484317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AB713-4C83-C746-BB3E-ADAA3E4CE9F4}"/>
              </a:ext>
            </a:extLst>
          </p:cNvPr>
          <p:cNvSpPr>
            <a:spLocks noGrp="1"/>
          </p:cNvSpPr>
          <p:nvPr>
            <p:ph type="title"/>
          </p:nvPr>
        </p:nvSpPr>
        <p:spPr/>
        <p:txBody>
          <a:bodyPr>
            <a:normAutofit/>
          </a:bodyPr>
          <a:lstStyle/>
          <a:p>
            <a:r>
              <a:rPr lang="en-ZA" dirty="0"/>
              <a:t>QFT Phase Progression</a:t>
            </a:r>
            <a:endParaRPr lang="en-US" dirty="0"/>
          </a:p>
        </p:txBody>
      </p:sp>
      <p:sp>
        <p:nvSpPr>
          <p:cNvPr id="3" name="Slide Number Placeholder 2">
            <a:extLst>
              <a:ext uri="{FF2B5EF4-FFF2-40B4-BE49-F238E27FC236}">
                <a16:creationId xmlns:a16="http://schemas.microsoft.com/office/drawing/2014/main" id="{9AEA0A3E-8A58-1D44-879F-F694E7885AAC}"/>
              </a:ext>
            </a:extLst>
          </p:cNvPr>
          <p:cNvSpPr>
            <a:spLocks noGrp="1"/>
          </p:cNvSpPr>
          <p:nvPr>
            <p:ph type="sldNum" sz="quarter" idx="12"/>
          </p:nvPr>
        </p:nvSpPr>
        <p:spPr/>
        <p:txBody>
          <a:bodyPr/>
          <a:lstStyle/>
          <a:p>
            <a:fld id="{591A223C-FA10-BC46-A853-03BA373D023C}" type="slidenum">
              <a:rPr lang="en-US" smtClean="0"/>
              <a:t>57</a:t>
            </a:fld>
            <a:endParaRPr lang="en-US"/>
          </a:p>
        </p:txBody>
      </p:sp>
      <p:pic>
        <p:nvPicPr>
          <p:cNvPr id="6" name="Picture 5">
            <a:extLst>
              <a:ext uri="{FF2B5EF4-FFF2-40B4-BE49-F238E27FC236}">
                <a16:creationId xmlns:a16="http://schemas.microsoft.com/office/drawing/2014/main" id="{4C296A32-1D57-7D45-8280-73AE9E2263EE}"/>
              </a:ext>
            </a:extLst>
          </p:cNvPr>
          <p:cNvPicPr>
            <a:picLocks noChangeAspect="1"/>
          </p:cNvPicPr>
          <p:nvPr/>
        </p:nvPicPr>
        <p:blipFill>
          <a:blip r:embed="rId3"/>
          <a:stretch>
            <a:fillRect/>
          </a:stretch>
        </p:blipFill>
        <p:spPr>
          <a:xfrm>
            <a:off x="132809" y="1918122"/>
            <a:ext cx="11856886" cy="3012142"/>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6A139D2-1EDF-464F-9806-E84AE30D0478}"/>
                  </a:ext>
                </a:extLst>
              </p:cNvPr>
              <p:cNvSpPr txBox="1"/>
              <p:nvPr/>
            </p:nvSpPr>
            <p:spPr>
              <a:xfrm>
                <a:off x="403397" y="1941655"/>
                <a:ext cx="1536766" cy="400110"/>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rgbClr val="002060"/>
                          </a:solidFill>
                          <a:latin typeface="Cambria Math" panose="02040503050406030204" pitchFamily="18" charset="0"/>
                          <a:ea typeface="Cambria Math" panose="02040503050406030204" pitchFamily="18" charset="0"/>
                        </a:rPr>
                        <m:t>𝑞𝑢𝑏𝑖𝑡</m:t>
                      </m:r>
                      <m:r>
                        <a:rPr lang="en-US" sz="2000" b="0" i="1" smtClean="0">
                          <a:solidFill>
                            <a:srgbClr val="002060"/>
                          </a:solidFill>
                          <a:latin typeface="Cambria Math" panose="02040503050406030204" pitchFamily="18" charset="0"/>
                          <a:ea typeface="Cambria Math" panose="02040503050406030204" pitchFamily="18" charset="0"/>
                        </a:rPr>
                        <m:t> </m:t>
                      </m:r>
                      <m:r>
                        <a:rPr lang="en-US" sz="2000" b="0" i="1" smtClean="0">
                          <a:solidFill>
                            <a:srgbClr val="002060"/>
                          </a:solidFill>
                          <a:latin typeface="Cambria Math" panose="02040503050406030204" pitchFamily="18" charset="0"/>
                          <a:ea typeface="Cambria Math" panose="02040503050406030204" pitchFamily="18" charset="0"/>
                        </a:rPr>
                        <m:t>𝑘</m:t>
                      </m:r>
                      <m:r>
                        <a:rPr lang="en-US" sz="2000" b="0" i="1" smtClean="0">
                          <a:solidFill>
                            <a:srgbClr val="002060"/>
                          </a:solidFill>
                          <a:latin typeface="Cambria Math" panose="02040503050406030204" pitchFamily="18" charset="0"/>
                          <a:ea typeface="Cambria Math" panose="02040503050406030204" pitchFamily="18" charset="0"/>
                        </a:rPr>
                        <m:t>=0</m:t>
                      </m:r>
                    </m:oMath>
                  </m:oMathPara>
                </a14:m>
                <a:endParaRPr lang="en-US" sz="2000" dirty="0"/>
              </a:p>
            </p:txBody>
          </p:sp>
        </mc:Choice>
        <mc:Fallback xmlns="">
          <p:sp>
            <p:nvSpPr>
              <p:cNvPr id="8" name="TextBox 7">
                <a:extLst>
                  <a:ext uri="{FF2B5EF4-FFF2-40B4-BE49-F238E27FC236}">
                    <a16:creationId xmlns:a16="http://schemas.microsoft.com/office/drawing/2014/main" id="{D6A139D2-1EDF-464F-9806-E84AE30D0478}"/>
                  </a:ext>
                </a:extLst>
              </p:cNvPr>
              <p:cNvSpPr txBox="1">
                <a:spLocks noRot="1" noChangeAspect="1" noMove="1" noResize="1" noEditPoints="1" noAdjustHandles="1" noChangeArrowheads="1" noChangeShapeType="1" noTextEdit="1"/>
              </p:cNvSpPr>
              <p:nvPr/>
            </p:nvSpPr>
            <p:spPr>
              <a:xfrm>
                <a:off x="403397" y="1941655"/>
                <a:ext cx="1536766" cy="400110"/>
              </a:xfrm>
              <a:prstGeom prst="rect">
                <a:avLst/>
              </a:prstGeom>
              <a:blipFill>
                <a:blip r:embed="rId4"/>
                <a:stretch>
                  <a:fillRect b="-1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4CE45A9-9D81-EA43-9CC3-236A0B731DD8}"/>
                  </a:ext>
                </a:extLst>
              </p:cNvPr>
              <p:cNvSpPr txBox="1"/>
              <p:nvPr/>
            </p:nvSpPr>
            <p:spPr>
              <a:xfrm>
                <a:off x="3641897" y="1941655"/>
                <a:ext cx="1536767" cy="400110"/>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rgbClr val="002060"/>
                          </a:solidFill>
                          <a:latin typeface="Cambria Math" panose="02040503050406030204" pitchFamily="18" charset="0"/>
                          <a:ea typeface="Cambria Math" panose="02040503050406030204" pitchFamily="18" charset="0"/>
                        </a:rPr>
                        <m:t>𝑞𝑢𝑏𝑖𝑡</m:t>
                      </m:r>
                      <m:r>
                        <a:rPr lang="en-US" sz="2000" b="0" i="1" smtClean="0">
                          <a:solidFill>
                            <a:srgbClr val="002060"/>
                          </a:solidFill>
                          <a:latin typeface="Cambria Math" panose="02040503050406030204" pitchFamily="18" charset="0"/>
                          <a:ea typeface="Cambria Math" panose="02040503050406030204" pitchFamily="18" charset="0"/>
                        </a:rPr>
                        <m:t> </m:t>
                      </m:r>
                      <m:r>
                        <a:rPr lang="en-US" sz="2000" b="0" i="1" smtClean="0">
                          <a:solidFill>
                            <a:srgbClr val="002060"/>
                          </a:solidFill>
                          <a:latin typeface="Cambria Math" panose="02040503050406030204" pitchFamily="18" charset="0"/>
                          <a:ea typeface="Cambria Math" panose="02040503050406030204" pitchFamily="18" charset="0"/>
                        </a:rPr>
                        <m:t>𝑘</m:t>
                      </m:r>
                      <m:r>
                        <a:rPr lang="en-US" sz="2000" b="0" i="1" smtClean="0">
                          <a:solidFill>
                            <a:srgbClr val="002060"/>
                          </a:solidFill>
                          <a:latin typeface="Cambria Math" panose="02040503050406030204" pitchFamily="18" charset="0"/>
                          <a:ea typeface="Cambria Math" panose="02040503050406030204" pitchFamily="18" charset="0"/>
                        </a:rPr>
                        <m:t>=1</m:t>
                      </m:r>
                    </m:oMath>
                  </m:oMathPara>
                </a14:m>
                <a:endParaRPr lang="en-US" sz="2000" dirty="0"/>
              </a:p>
            </p:txBody>
          </p:sp>
        </mc:Choice>
        <mc:Fallback xmlns="">
          <p:sp>
            <p:nvSpPr>
              <p:cNvPr id="9" name="TextBox 8">
                <a:extLst>
                  <a:ext uri="{FF2B5EF4-FFF2-40B4-BE49-F238E27FC236}">
                    <a16:creationId xmlns:a16="http://schemas.microsoft.com/office/drawing/2014/main" id="{34CE45A9-9D81-EA43-9CC3-236A0B731DD8}"/>
                  </a:ext>
                </a:extLst>
              </p:cNvPr>
              <p:cNvSpPr txBox="1">
                <a:spLocks noRot="1" noChangeAspect="1" noMove="1" noResize="1" noEditPoints="1" noAdjustHandles="1" noChangeArrowheads="1" noChangeShapeType="1" noTextEdit="1"/>
              </p:cNvSpPr>
              <p:nvPr/>
            </p:nvSpPr>
            <p:spPr>
              <a:xfrm>
                <a:off x="3641897" y="1941655"/>
                <a:ext cx="1536767" cy="400110"/>
              </a:xfrm>
              <a:prstGeom prst="rect">
                <a:avLst/>
              </a:prstGeom>
              <a:blipFill>
                <a:blip r:embed="rId5"/>
                <a:stretch>
                  <a:fillRect b="-1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2C65423-3F97-434C-BB61-4B067BBC93EE}"/>
                  </a:ext>
                </a:extLst>
              </p:cNvPr>
              <p:cNvSpPr txBox="1"/>
              <p:nvPr/>
            </p:nvSpPr>
            <p:spPr>
              <a:xfrm>
                <a:off x="6880397" y="1941655"/>
                <a:ext cx="1536767" cy="400110"/>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rgbClr val="002060"/>
                          </a:solidFill>
                          <a:latin typeface="Cambria Math" panose="02040503050406030204" pitchFamily="18" charset="0"/>
                          <a:ea typeface="Cambria Math" panose="02040503050406030204" pitchFamily="18" charset="0"/>
                        </a:rPr>
                        <m:t>𝑞𝑢𝑏𝑖𝑡</m:t>
                      </m:r>
                      <m:r>
                        <a:rPr lang="en-US" sz="2000" b="0" i="1" smtClean="0">
                          <a:solidFill>
                            <a:srgbClr val="002060"/>
                          </a:solidFill>
                          <a:latin typeface="Cambria Math" panose="02040503050406030204" pitchFamily="18" charset="0"/>
                          <a:ea typeface="Cambria Math" panose="02040503050406030204" pitchFamily="18" charset="0"/>
                        </a:rPr>
                        <m:t> </m:t>
                      </m:r>
                      <m:r>
                        <a:rPr lang="en-US" sz="2000" b="0" i="1" smtClean="0">
                          <a:solidFill>
                            <a:srgbClr val="002060"/>
                          </a:solidFill>
                          <a:latin typeface="Cambria Math" panose="02040503050406030204" pitchFamily="18" charset="0"/>
                          <a:ea typeface="Cambria Math" panose="02040503050406030204" pitchFamily="18" charset="0"/>
                        </a:rPr>
                        <m:t>𝑘</m:t>
                      </m:r>
                      <m:r>
                        <a:rPr lang="en-US" sz="2000" b="0" i="1" smtClean="0">
                          <a:solidFill>
                            <a:srgbClr val="002060"/>
                          </a:solidFill>
                          <a:latin typeface="Cambria Math" panose="02040503050406030204" pitchFamily="18" charset="0"/>
                          <a:ea typeface="Cambria Math" panose="02040503050406030204" pitchFamily="18" charset="0"/>
                        </a:rPr>
                        <m:t>=2</m:t>
                      </m:r>
                    </m:oMath>
                  </m:oMathPara>
                </a14:m>
                <a:endParaRPr lang="en-US" sz="2000" dirty="0"/>
              </a:p>
            </p:txBody>
          </p:sp>
        </mc:Choice>
        <mc:Fallback xmlns="">
          <p:sp>
            <p:nvSpPr>
              <p:cNvPr id="10" name="TextBox 9">
                <a:extLst>
                  <a:ext uri="{FF2B5EF4-FFF2-40B4-BE49-F238E27FC236}">
                    <a16:creationId xmlns:a16="http://schemas.microsoft.com/office/drawing/2014/main" id="{82C65423-3F97-434C-BB61-4B067BBC93EE}"/>
                  </a:ext>
                </a:extLst>
              </p:cNvPr>
              <p:cNvSpPr txBox="1">
                <a:spLocks noRot="1" noChangeAspect="1" noMove="1" noResize="1" noEditPoints="1" noAdjustHandles="1" noChangeArrowheads="1" noChangeShapeType="1" noTextEdit="1"/>
              </p:cNvSpPr>
              <p:nvPr/>
            </p:nvSpPr>
            <p:spPr>
              <a:xfrm>
                <a:off x="6880397" y="1941655"/>
                <a:ext cx="1536767" cy="400110"/>
              </a:xfrm>
              <a:prstGeom prst="rect">
                <a:avLst/>
              </a:prstGeom>
              <a:blipFill>
                <a:blip r:embed="rId6"/>
                <a:stretch>
                  <a:fillRect b="-1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266338A-43F7-3443-9500-9FBFC2213411}"/>
                  </a:ext>
                </a:extLst>
              </p:cNvPr>
              <p:cNvSpPr txBox="1"/>
              <p:nvPr/>
            </p:nvSpPr>
            <p:spPr>
              <a:xfrm>
                <a:off x="9954044" y="1941655"/>
                <a:ext cx="1536767" cy="400110"/>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rgbClr val="002060"/>
                          </a:solidFill>
                          <a:latin typeface="Cambria Math" panose="02040503050406030204" pitchFamily="18" charset="0"/>
                          <a:ea typeface="Cambria Math" panose="02040503050406030204" pitchFamily="18" charset="0"/>
                        </a:rPr>
                        <m:t>𝑞𝑢𝑏𝑖𝑡</m:t>
                      </m:r>
                      <m:r>
                        <a:rPr lang="en-US" sz="2000" b="0" i="1" smtClean="0">
                          <a:solidFill>
                            <a:srgbClr val="002060"/>
                          </a:solidFill>
                          <a:latin typeface="Cambria Math" panose="02040503050406030204" pitchFamily="18" charset="0"/>
                          <a:ea typeface="Cambria Math" panose="02040503050406030204" pitchFamily="18" charset="0"/>
                        </a:rPr>
                        <m:t> </m:t>
                      </m:r>
                      <m:r>
                        <a:rPr lang="en-US" sz="2000" b="0" i="1" smtClean="0">
                          <a:solidFill>
                            <a:srgbClr val="002060"/>
                          </a:solidFill>
                          <a:latin typeface="Cambria Math" panose="02040503050406030204" pitchFamily="18" charset="0"/>
                          <a:ea typeface="Cambria Math" panose="02040503050406030204" pitchFamily="18" charset="0"/>
                        </a:rPr>
                        <m:t>𝑘</m:t>
                      </m:r>
                      <m:r>
                        <a:rPr lang="en-US" sz="2000" b="0" i="1" smtClean="0">
                          <a:solidFill>
                            <a:srgbClr val="002060"/>
                          </a:solidFill>
                          <a:latin typeface="Cambria Math" panose="02040503050406030204" pitchFamily="18" charset="0"/>
                          <a:ea typeface="Cambria Math" panose="02040503050406030204" pitchFamily="18" charset="0"/>
                        </a:rPr>
                        <m:t>=3</m:t>
                      </m:r>
                    </m:oMath>
                  </m:oMathPara>
                </a14:m>
                <a:endParaRPr lang="en-US" sz="2000" dirty="0"/>
              </a:p>
            </p:txBody>
          </p:sp>
        </mc:Choice>
        <mc:Fallback xmlns="">
          <p:sp>
            <p:nvSpPr>
              <p:cNvPr id="11" name="TextBox 10">
                <a:extLst>
                  <a:ext uri="{FF2B5EF4-FFF2-40B4-BE49-F238E27FC236}">
                    <a16:creationId xmlns:a16="http://schemas.microsoft.com/office/drawing/2014/main" id="{9266338A-43F7-3443-9500-9FBFC2213411}"/>
                  </a:ext>
                </a:extLst>
              </p:cNvPr>
              <p:cNvSpPr txBox="1">
                <a:spLocks noRot="1" noChangeAspect="1" noMove="1" noResize="1" noEditPoints="1" noAdjustHandles="1" noChangeArrowheads="1" noChangeShapeType="1" noTextEdit="1"/>
              </p:cNvSpPr>
              <p:nvPr/>
            </p:nvSpPr>
            <p:spPr>
              <a:xfrm>
                <a:off x="9954044" y="1941655"/>
                <a:ext cx="1536767" cy="400110"/>
              </a:xfrm>
              <a:prstGeom prst="rect">
                <a:avLst/>
              </a:prstGeom>
              <a:blipFill>
                <a:blip r:embed="rId7"/>
                <a:stretch>
                  <a:fillRect b="-1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B5C08C9A-6AF0-174A-87A9-4DB4AAA064B1}"/>
                  </a:ext>
                </a:extLst>
              </p:cNvPr>
              <p:cNvSpPr/>
              <p:nvPr/>
            </p:nvSpPr>
            <p:spPr>
              <a:xfrm>
                <a:off x="209051" y="1159012"/>
                <a:ext cx="6169638" cy="461665"/>
              </a:xfrm>
              <a:prstGeom prst="rect">
                <a:avLst/>
              </a:prstGeom>
              <a:solidFill>
                <a:schemeClr val="accent4">
                  <a:lumMod val="20000"/>
                  <a:lumOff val="80000"/>
                </a:schemeClr>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2060"/>
                          </a:solidFill>
                          <a:latin typeface="Cambria Math" panose="02040503050406030204" pitchFamily="18" charset="0"/>
                          <a:ea typeface="Cambria Math" panose="02040503050406030204" pitchFamily="18" charset="0"/>
                        </a:rPr>
                        <m:t>𝑛</m:t>
                      </m:r>
                      <m:r>
                        <a:rPr lang="en-US" sz="2400" b="0" i="1" smtClean="0">
                          <a:solidFill>
                            <a:srgbClr val="002060"/>
                          </a:solidFill>
                          <a:latin typeface="Cambria Math" panose="02040503050406030204" pitchFamily="18" charset="0"/>
                          <a:ea typeface="Cambria Math" panose="02040503050406030204" pitchFamily="18" charset="0"/>
                        </a:rPr>
                        <m:t>=4 </m:t>
                      </m:r>
                      <m:r>
                        <a:rPr lang="en-US" sz="2400" b="0" i="1" smtClean="0">
                          <a:solidFill>
                            <a:srgbClr val="002060"/>
                          </a:solidFill>
                          <a:latin typeface="Cambria Math" panose="02040503050406030204" pitchFamily="18" charset="0"/>
                          <a:ea typeface="Cambria Math" panose="02040503050406030204" pitchFamily="18" charset="0"/>
                        </a:rPr>
                        <m:t>𝑞𝑢𝑏𝑖𝑡𝑠</m:t>
                      </m:r>
                      <m:r>
                        <a:rPr lang="en-US" sz="2400" b="0" i="1" smtClean="0">
                          <a:solidFill>
                            <a:srgbClr val="002060"/>
                          </a:solidFill>
                          <a:latin typeface="Cambria Math" panose="02040503050406030204" pitchFamily="18" charset="0"/>
                          <a:ea typeface="Cambria Math" panose="02040503050406030204" pitchFamily="18" charset="0"/>
                        </a:rPr>
                        <m:t>,  </m:t>
                      </m:r>
                      <m:r>
                        <a:rPr lang="en-US" sz="2400" b="0" i="1" smtClean="0">
                          <a:solidFill>
                            <a:srgbClr val="002060"/>
                          </a:solidFill>
                          <a:latin typeface="Cambria Math" panose="02040503050406030204" pitchFamily="18" charset="0"/>
                          <a:ea typeface="Cambria Math" panose="02040503050406030204" pitchFamily="18" charset="0"/>
                        </a:rPr>
                        <m:t>𝑁</m:t>
                      </m:r>
                      <m:r>
                        <a:rPr lang="en-US" sz="2400" b="0" i="1" smtClean="0">
                          <a:solidFill>
                            <a:srgbClr val="002060"/>
                          </a:solidFill>
                          <a:latin typeface="Cambria Math" panose="02040503050406030204" pitchFamily="18" charset="0"/>
                          <a:ea typeface="Cambria Math" panose="02040503050406030204" pitchFamily="18" charset="0"/>
                        </a:rPr>
                        <m:t>=</m:t>
                      </m:r>
                      <m:sSup>
                        <m:sSupPr>
                          <m:ctrlPr>
                            <a:rPr lang="en-US" sz="2400" b="0" i="1" smtClean="0">
                              <a:solidFill>
                                <a:srgbClr val="002060"/>
                              </a:solidFill>
                              <a:latin typeface="Cambria Math" panose="02040503050406030204" pitchFamily="18" charset="0"/>
                              <a:ea typeface="Cambria Math" panose="02040503050406030204" pitchFamily="18" charset="0"/>
                            </a:rPr>
                          </m:ctrlPr>
                        </m:sSupPr>
                        <m:e>
                          <m:r>
                            <a:rPr lang="en-US" sz="2400" b="0" i="1" smtClean="0">
                              <a:solidFill>
                                <a:srgbClr val="002060"/>
                              </a:solidFill>
                              <a:latin typeface="Cambria Math" panose="02040503050406030204" pitchFamily="18" charset="0"/>
                              <a:ea typeface="Cambria Math" panose="02040503050406030204" pitchFamily="18" charset="0"/>
                            </a:rPr>
                            <m:t>2</m:t>
                          </m:r>
                        </m:e>
                        <m:sup>
                          <m:r>
                            <a:rPr lang="en-US" sz="2400" b="0" i="1" smtClean="0">
                              <a:solidFill>
                                <a:srgbClr val="002060"/>
                              </a:solidFill>
                              <a:latin typeface="Cambria Math" panose="02040503050406030204" pitchFamily="18" charset="0"/>
                              <a:ea typeface="Cambria Math" panose="02040503050406030204" pitchFamily="18" charset="0"/>
                            </a:rPr>
                            <m:t>𝑛</m:t>
                          </m:r>
                        </m:sup>
                      </m:sSup>
                      <m:r>
                        <a:rPr lang="en-US" sz="2400" b="0" i="1" smtClean="0">
                          <a:solidFill>
                            <a:srgbClr val="002060"/>
                          </a:solidFill>
                          <a:latin typeface="Cambria Math" panose="02040503050406030204" pitchFamily="18" charset="0"/>
                          <a:ea typeface="Cambria Math" panose="02040503050406030204" pitchFamily="18" charset="0"/>
                        </a:rPr>
                        <m:t>=16,  </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b="0" i="1" smtClean="0">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𝑥</m:t>
                          </m:r>
                        </m:e>
                      </m:d>
                      <m:r>
                        <a:rPr lang="en-US" sz="2400" b="0" i="1" smtClean="0">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b="0" i="1" smtClean="0">
                              <a:solidFill>
                                <a:srgbClr val="002060"/>
                              </a:solidFill>
                              <a:latin typeface="Cambria Math" panose="02040503050406030204" pitchFamily="18" charset="0"/>
                              <a:ea typeface="Cambria Math" panose="02040503050406030204" pitchFamily="18" charset="0"/>
                            </a:rPr>
                            <m:t>5</m:t>
                          </m:r>
                        </m:e>
                      </m:d>
                    </m:oMath>
                  </m:oMathPara>
                </a14:m>
                <a:endParaRPr lang="en-US" sz="2400" dirty="0"/>
              </a:p>
            </p:txBody>
          </p:sp>
        </mc:Choice>
        <mc:Fallback xmlns="">
          <p:sp>
            <p:nvSpPr>
              <p:cNvPr id="12" name="Rectangle 11">
                <a:extLst>
                  <a:ext uri="{FF2B5EF4-FFF2-40B4-BE49-F238E27FC236}">
                    <a16:creationId xmlns:a16="http://schemas.microsoft.com/office/drawing/2014/main" id="{B5C08C9A-6AF0-174A-87A9-4DB4AAA064B1}"/>
                  </a:ext>
                </a:extLst>
              </p:cNvPr>
              <p:cNvSpPr>
                <a:spLocks noRot="1" noChangeAspect="1" noMove="1" noResize="1" noEditPoints="1" noAdjustHandles="1" noChangeArrowheads="1" noChangeShapeType="1" noTextEdit="1"/>
              </p:cNvSpPr>
              <p:nvPr/>
            </p:nvSpPr>
            <p:spPr>
              <a:xfrm>
                <a:off x="209051" y="1159012"/>
                <a:ext cx="6169638" cy="461665"/>
              </a:xfrm>
              <a:prstGeom prst="rect">
                <a:avLst/>
              </a:prstGeom>
              <a:blipFill>
                <a:blip r:embed="rId8"/>
                <a:stretch>
                  <a:fillRect t="-121053" r="-4723" b="-186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E8C1B907-32E0-1E46-9B3E-999D87A5AF58}"/>
                  </a:ext>
                </a:extLst>
              </p:cNvPr>
              <p:cNvSpPr/>
              <p:nvPr/>
            </p:nvSpPr>
            <p:spPr>
              <a:xfrm>
                <a:off x="3192863" y="5078944"/>
                <a:ext cx="2434833"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𝜑</m:t>
                      </m:r>
                      <m:r>
                        <a:rPr lang="en-US" sz="2800" b="0" i="1" smtClean="0">
                          <a:solidFill>
                            <a:srgbClr val="002060"/>
                          </a:solidFill>
                          <a:latin typeface="Cambria Math" panose="02040503050406030204" pitchFamily="18" charset="0"/>
                          <a:ea typeface="Cambria Math" panose="02040503050406030204" pitchFamily="18" charset="0"/>
                        </a:rPr>
                        <m:t>=</m:t>
                      </m:r>
                      <m:r>
                        <a:rPr lang="sr-Latn-RS" sz="2800" b="0" i="1" smtClean="0">
                          <a:solidFill>
                            <a:srgbClr val="002060"/>
                          </a:solidFill>
                          <a:latin typeface="Cambria Math" panose="02040503050406030204" pitchFamily="18" charset="0"/>
                          <a:ea typeface="Cambria Math" panose="02040503050406030204" pitchFamily="18" charset="0"/>
                        </a:rPr>
                        <m:t>2</m:t>
                      </m:r>
                      <m:r>
                        <a:rPr lang="en-US" sz="2800" i="1">
                          <a:solidFill>
                            <a:srgbClr val="002060"/>
                          </a:solidFill>
                          <a:latin typeface="Cambria Math" panose="02040503050406030204" pitchFamily="18" charset="0"/>
                          <a:ea typeface="Cambria Math" panose="02040503050406030204" pitchFamily="18" charset="0"/>
                        </a:rPr>
                        <m:t>×</m:t>
                      </m:r>
                      <m:f>
                        <m:fPr>
                          <m:ctrlPr>
                            <a:rPr lang="en-US" sz="2800" i="1">
                              <a:solidFill>
                                <a:srgbClr val="002060"/>
                              </a:solidFill>
                              <a:latin typeface="Cambria Math" panose="02040503050406030204" pitchFamily="18" charset="0"/>
                              <a:ea typeface="Cambria Math" panose="02040503050406030204" pitchFamily="18" charset="0"/>
                            </a:rPr>
                          </m:ctrlPr>
                        </m:fPr>
                        <m:num>
                          <m:r>
                            <a:rPr lang="en-US" sz="2800" i="1">
                              <a:solidFill>
                                <a:srgbClr val="002060"/>
                              </a:solidFill>
                              <a:latin typeface="Cambria Math" panose="02040503050406030204" pitchFamily="18" charset="0"/>
                              <a:ea typeface="Cambria Math" panose="02040503050406030204" pitchFamily="18" charset="0"/>
                            </a:rPr>
                            <m:t>2</m:t>
                          </m:r>
                          <m:r>
                            <a:rPr lang="en-US" sz="2800" i="1">
                              <a:solidFill>
                                <a:srgbClr val="002060"/>
                              </a:solidFill>
                              <a:latin typeface="Cambria Math" panose="02040503050406030204" pitchFamily="18" charset="0"/>
                              <a:ea typeface="Cambria Math" panose="02040503050406030204" pitchFamily="18" charset="0"/>
                            </a:rPr>
                            <m:t>𝜋</m:t>
                          </m:r>
                        </m:num>
                        <m:den>
                          <m:r>
                            <a:rPr lang="en-US" sz="2800" b="0" i="1" smtClean="0">
                              <a:solidFill>
                                <a:srgbClr val="002060"/>
                              </a:solidFill>
                              <a:latin typeface="Cambria Math" panose="02040503050406030204" pitchFamily="18" charset="0"/>
                              <a:ea typeface="Cambria Math" panose="02040503050406030204" pitchFamily="18" charset="0"/>
                            </a:rPr>
                            <m:t>16</m:t>
                          </m:r>
                        </m:den>
                      </m:f>
                      <m:r>
                        <a:rPr lang="en-US" sz="2800" i="1">
                          <a:solidFill>
                            <a:srgbClr val="002060"/>
                          </a:solidFill>
                          <a:latin typeface="Cambria Math" panose="02040503050406030204" pitchFamily="18" charset="0"/>
                          <a:ea typeface="Cambria Math" panose="02040503050406030204" pitchFamily="18" charset="0"/>
                        </a:rPr>
                        <m:t>×</m:t>
                      </m:r>
                      <m:r>
                        <a:rPr lang="sr-Latn-RS" sz="2800" b="0" i="1" smtClean="0">
                          <a:solidFill>
                            <a:srgbClr val="002060"/>
                          </a:solidFill>
                          <a:latin typeface="Cambria Math" panose="02040503050406030204" pitchFamily="18" charset="0"/>
                          <a:ea typeface="Cambria Math" panose="02040503050406030204" pitchFamily="18" charset="0"/>
                        </a:rPr>
                        <m:t>5</m:t>
                      </m:r>
                    </m:oMath>
                  </m:oMathPara>
                </a14:m>
                <a:endParaRPr lang="en-US" sz="2800" dirty="0"/>
              </a:p>
            </p:txBody>
          </p:sp>
        </mc:Choice>
        <mc:Fallback xmlns="">
          <p:sp>
            <p:nvSpPr>
              <p:cNvPr id="15" name="Rectangle 14">
                <a:extLst>
                  <a:ext uri="{FF2B5EF4-FFF2-40B4-BE49-F238E27FC236}">
                    <a16:creationId xmlns:a16="http://schemas.microsoft.com/office/drawing/2014/main" id="{E8C1B907-32E0-1E46-9B3E-999D87A5AF58}"/>
                  </a:ext>
                </a:extLst>
              </p:cNvPr>
              <p:cNvSpPr>
                <a:spLocks noRot="1" noChangeAspect="1" noMove="1" noResize="1" noEditPoints="1" noAdjustHandles="1" noChangeArrowheads="1" noChangeShapeType="1" noTextEdit="1"/>
              </p:cNvSpPr>
              <p:nvPr/>
            </p:nvSpPr>
            <p:spPr>
              <a:xfrm>
                <a:off x="3192863" y="5078944"/>
                <a:ext cx="2434833" cy="901785"/>
              </a:xfrm>
              <a:prstGeom prst="rect">
                <a:avLst/>
              </a:prstGeom>
              <a:blipFill>
                <a:blip r:embed="rId9"/>
                <a:stretch>
                  <a:fillRect b="-6944"/>
                </a:stretch>
              </a:blipFill>
            </p:spPr>
            <p:txBody>
              <a:bodyPr/>
              <a:lstStyle/>
              <a:p>
                <a:r>
                  <a:rPr lang="en-US">
                    <a:noFill/>
                  </a:rPr>
                  <a:t> </a:t>
                </a:r>
              </a:p>
            </p:txBody>
          </p:sp>
        </mc:Fallback>
      </mc:AlternateContent>
      <p:sp>
        <p:nvSpPr>
          <p:cNvPr id="18" name="Freeform 17">
            <a:extLst>
              <a:ext uri="{FF2B5EF4-FFF2-40B4-BE49-F238E27FC236}">
                <a16:creationId xmlns:a16="http://schemas.microsoft.com/office/drawing/2014/main" id="{A6FA52AA-24FC-8B49-823B-9403CC251B3F}"/>
              </a:ext>
            </a:extLst>
          </p:cNvPr>
          <p:cNvSpPr/>
          <p:nvPr/>
        </p:nvSpPr>
        <p:spPr>
          <a:xfrm>
            <a:off x="957643" y="3790949"/>
            <a:ext cx="915607" cy="180669"/>
          </a:xfrm>
          <a:custGeom>
            <a:avLst/>
            <a:gdLst>
              <a:gd name="connsiteX0" fmla="*/ 0 w 1216681"/>
              <a:gd name="connsiteY0" fmla="*/ 204040 h 229638"/>
              <a:gd name="connsiteX1" fmla="*/ 604562 w 1216681"/>
              <a:gd name="connsiteY1" fmla="*/ 211597 h 229638"/>
              <a:gd name="connsiteX2" fmla="*/ 1216681 w 1216681"/>
              <a:gd name="connsiteY2" fmla="*/ 0 h 229638"/>
            </a:gdLst>
            <a:ahLst/>
            <a:cxnLst>
              <a:cxn ang="0">
                <a:pos x="connsiteX0" y="connsiteY0"/>
              </a:cxn>
              <a:cxn ang="0">
                <a:pos x="connsiteX1" y="connsiteY1"/>
              </a:cxn>
              <a:cxn ang="0">
                <a:pos x="connsiteX2" y="connsiteY2"/>
              </a:cxn>
            </a:cxnLst>
            <a:rect l="l" t="t" r="r" b="b"/>
            <a:pathLst>
              <a:path w="1216681" h="229638">
                <a:moveTo>
                  <a:pt x="0" y="204040"/>
                </a:moveTo>
                <a:cubicBezTo>
                  <a:pt x="200891" y="224822"/>
                  <a:pt x="401782" y="245604"/>
                  <a:pt x="604562" y="211597"/>
                </a:cubicBezTo>
                <a:cubicBezTo>
                  <a:pt x="807342" y="177590"/>
                  <a:pt x="1012011" y="88795"/>
                  <a:pt x="1216681" y="0"/>
                </a:cubicBezTo>
              </a:path>
            </a:pathLst>
          </a:custGeom>
          <a:noFill/>
          <a:ln>
            <a:solidFill>
              <a:srgbClr val="0000FF"/>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CD34BE00-3466-1D42-A296-95E884745829}"/>
                  </a:ext>
                </a:extLst>
              </p:cNvPr>
              <p:cNvSpPr/>
              <p:nvPr/>
            </p:nvSpPr>
            <p:spPr>
              <a:xfrm>
                <a:off x="1133435" y="3881283"/>
                <a:ext cx="445635"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i="1" smtClean="0">
                          <a:solidFill>
                            <a:srgbClr val="0000FF"/>
                          </a:solidFill>
                          <a:latin typeface="Cambria Math" panose="02040503050406030204" pitchFamily="18" charset="0"/>
                          <a:ea typeface="Cambria Math" panose="02040503050406030204" pitchFamily="18" charset="0"/>
                        </a:rPr>
                        <m:t>𝜑</m:t>
                      </m:r>
                    </m:oMath>
                  </m:oMathPara>
                </a14:m>
                <a:endParaRPr lang="en-US" sz="2200" dirty="0">
                  <a:solidFill>
                    <a:srgbClr val="0000FF"/>
                  </a:solidFill>
                </a:endParaRPr>
              </a:p>
            </p:txBody>
          </p:sp>
        </mc:Choice>
        <mc:Fallback xmlns="">
          <p:sp>
            <p:nvSpPr>
              <p:cNvPr id="19" name="Rectangle 18">
                <a:extLst>
                  <a:ext uri="{FF2B5EF4-FFF2-40B4-BE49-F238E27FC236}">
                    <a16:creationId xmlns:a16="http://schemas.microsoft.com/office/drawing/2014/main" id="{CD34BE00-3466-1D42-A296-95E884745829}"/>
                  </a:ext>
                </a:extLst>
              </p:cNvPr>
              <p:cNvSpPr>
                <a:spLocks noRot="1" noChangeAspect="1" noMove="1" noResize="1" noEditPoints="1" noAdjustHandles="1" noChangeArrowheads="1" noChangeShapeType="1" noTextEdit="1"/>
              </p:cNvSpPr>
              <p:nvPr/>
            </p:nvSpPr>
            <p:spPr>
              <a:xfrm>
                <a:off x="1133435" y="3881283"/>
                <a:ext cx="445635" cy="430887"/>
              </a:xfrm>
              <a:prstGeom prst="rect">
                <a:avLst/>
              </a:prstGeom>
              <a:blipFill>
                <a:blip r:embed="rId13"/>
                <a:stretch>
                  <a:fillRect b="-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1B73FC1E-1BAC-AA40-B76E-4BB691898877}"/>
                  </a:ext>
                </a:extLst>
              </p:cNvPr>
              <p:cNvSpPr/>
              <p:nvPr/>
            </p:nvSpPr>
            <p:spPr>
              <a:xfrm>
                <a:off x="209051" y="5078944"/>
                <a:ext cx="1919756"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𝜑</m:t>
                      </m:r>
                      <m:r>
                        <a:rPr lang="en-US" sz="2800" b="0" i="1" smtClean="0">
                          <a:solidFill>
                            <a:srgbClr val="002060"/>
                          </a:solidFill>
                          <a:latin typeface="Cambria Math" panose="02040503050406030204" pitchFamily="18" charset="0"/>
                          <a:ea typeface="Cambria Math" panose="02040503050406030204" pitchFamily="18" charset="0"/>
                        </a:rPr>
                        <m:t>=</m:t>
                      </m:r>
                      <m:f>
                        <m:fPr>
                          <m:ctrlPr>
                            <a:rPr lang="en-US" sz="2800" i="1">
                              <a:solidFill>
                                <a:srgbClr val="002060"/>
                              </a:solidFill>
                              <a:latin typeface="Cambria Math" panose="02040503050406030204" pitchFamily="18" charset="0"/>
                              <a:ea typeface="Cambria Math" panose="02040503050406030204" pitchFamily="18" charset="0"/>
                            </a:rPr>
                          </m:ctrlPr>
                        </m:fPr>
                        <m:num>
                          <m:r>
                            <a:rPr lang="en-US" sz="2800" i="1">
                              <a:solidFill>
                                <a:srgbClr val="002060"/>
                              </a:solidFill>
                              <a:latin typeface="Cambria Math" panose="02040503050406030204" pitchFamily="18" charset="0"/>
                              <a:ea typeface="Cambria Math" panose="02040503050406030204" pitchFamily="18" charset="0"/>
                            </a:rPr>
                            <m:t>2</m:t>
                          </m:r>
                          <m:r>
                            <a:rPr lang="en-US" sz="2800" i="1">
                              <a:solidFill>
                                <a:srgbClr val="002060"/>
                              </a:solidFill>
                              <a:latin typeface="Cambria Math" panose="02040503050406030204" pitchFamily="18" charset="0"/>
                              <a:ea typeface="Cambria Math" panose="02040503050406030204" pitchFamily="18" charset="0"/>
                            </a:rPr>
                            <m:t>𝜋</m:t>
                          </m:r>
                        </m:num>
                        <m:den>
                          <m:r>
                            <a:rPr lang="en-US" sz="2800" b="0" i="1" smtClean="0">
                              <a:solidFill>
                                <a:srgbClr val="002060"/>
                              </a:solidFill>
                              <a:latin typeface="Cambria Math" panose="02040503050406030204" pitchFamily="18" charset="0"/>
                              <a:ea typeface="Cambria Math" panose="02040503050406030204" pitchFamily="18" charset="0"/>
                            </a:rPr>
                            <m:t>16</m:t>
                          </m:r>
                        </m:den>
                      </m:f>
                      <m:r>
                        <a:rPr lang="en-US" sz="2800" i="1">
                          <a:solidFill>
                            <a:srgbClr val="002060"/>
                          </a:solidFill>
                          <a:latin typeface="Cambria Math" panose="02040503050406030204" pitchFamily="18" charset="0"/>
                          <a:ea typeface="Cambria Math" panose="02040503050406030204" pitchFamily="18" charset="0"/>
                        </a:rPr>
                        <m:t>×</m:t>
                      </m:r>
                      <m:r>
                        <a:rPr lang="sr-Latn-RS" sz="2800" b="0" i="1" smtClean="0">
                          <a:solidFill>
                            <a:srgbClr val="002060"/>
                          </a:solidFill>
                          <a:latin typeface="Cambria Math" panose="02040503050406030204" pitchFamily="18" charset="0"/>
                          <a:ea typeface="Cambria Math" panose="02040503050406030204" pitchFamily="18" charset="0"/>
                        </a:rPr>
                        <m:t>5</m:t>
                      </m:r>
                    </m:oMath>
                  </m:oMathPara>
                </a14:m>
                <a:endParaRPr lang="en-US" sz="2800" dirty="0"/>
              </a:p>
            </p:txBody>
          </p:sp>
        </mc:Choice>
        <mc:Fallback xmlns="">
          <p:sp>
            <p:nvSpPr>
              <p:cNvPr id="20" name="Rectangle 19">
                <a:extLst>
                  <a:ext uri="{FF2B5EF4-FFF2-40B4-BE49-F238E27FC236}">
                    <a16:creationId xmlns:a16="http://schemas.microsoft.com/office/drawing/2014/main" id="{1B73FC1E-1BAC-AA40-B76E-4BB691898877}"/>
                  </a:ext>
                </a:extLst>
              </p:cNvPr>
              <p:cNvSpPr>
                <a:spLocks noRot="1" noChangeAspect="1" noMove="1" noResize="1" noEditPoints="1" noAdjustHandles="1" noChangeArrowheads="1" noChangeShapeType="1" noTextEdit="1"/>
              </p:cNvSpPr>
              <p:nvPr/>
            </p:nvSpPr>
            <p:spPr>
              <a:xfrm>
                <a:off x="209051" y="5078944"/>
                <a:ext cx="1919756" cy="901785"/>
              </a:xfrm>
              <a:prstGeom prst="rect">
                <a:avLst/>
              </a:prstGeom>
              <a:blipFill>
                <a:blip r:embed="rId14"/>
                <a:stretch>
                  <a:fillRect b="-69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8608B375-2296-B74F-B97B-B31DC1A19E81}"/>
                  </a:ext>
                </a:extLst>
              </p:cNvPr>
              <p:cNvSpPr/>
              <p:nvPr/>
            </p:nvSpPr>
            <p:spPr>
              <a:xfrm>
                <a:off x="6427709" y="5098488"/>
                <a:ext cx="2434834"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𝜑</m:t>
                      </m:r>
                      <m:r>
                        <a:rPr lang="en-US" sz="2800" b="0" i="1" smtClean="0">
                          <a:solidFill>
                            <a:srgbClr val="002060"/>
                          </a:solidFill>
                          <a:latin typeface="Cambria Math" panose="02040503050406030204" pitchFamily="18" charset="0"/>
                          <a:ea typeface="Cambria Math" panose="02040503050406030204" pitchFamily="18" charset="0"/>
                        </a:rPr>
                        <m:t>=</m:t>
                      </m:r>
                      <m:r>
                        <a:rPr lang="sr-Latn-RS" sz="2800" b="0" i="1" smtClean="0">
                          <a:solidFill>
                            <a:srgbClr val="002060"/>
                          </a:solidFill>
                          <a:latin typeface="Cambria Math" panose="02040503050406030204" pitchFamily="18" charset="0"/>
                          <a:ea typeface="Cambria Math" panose="02040503050406030204" pitchFamily="18" charset="0"/>
                        </a:rPr>
                        <m:t>4</m:t>
                      </m:r>
                      <m:r>
                        <a:rPr lang="en-US" sz="2800" i="1">
                          <a:solidFill>
                            <a:srgbClr val="002060"/>
                          </a:solidFill>
                          <a:latin typeface="Cambria Math" panose="02040503050406030204" pitchFamily="18" charset="0"/>
                          <a:ea typeface="Cambria Math" panose="02040503050406030204" pitchFamily="18" charset="0"/>
                        </a:rPr>
                        <m:t>×</m:t>
                      </m:r>
                      <m:f>
                        <m:fPr>
                          <m:ctrlPr>
                            <a:rPr lang="en-US" sz="2800" i="1">
                              <a:solidFill>
                                <a:srgbClr val="002060"/>
                              </a:solidFill>
                              <a:latin typeface="Cambria Math" panose="02040503050406030204" pitchFamily="18" charset="0"/>
                              <a:ea typeface="Cambria Math" panose="02040503050406030204" pitchFamily="18" charset="0"/>
                            </a:rPr>
                          </m:ctrlPr>
                        </m:fPr>
                        <m:num>
                          <m:r>
                            <a:rPr lang="en-US" sz="2800" i="1">
                              <a:solidFill>
                                <a:srgbClr val="002060"/>
                              </a:solidFill>
                              <a:latin typeface="Cambria Math" panose="02040503050406030204" pitchFamily="18" charset="0"/>
                              <a:ea typeface="Cambria Math" panose="02040503050406030204" pitchFamily="18" charset="0"/>
                            </a:rPr>
                            <m:t>2</m:t>
                          </m:r>
                          <m:r>
                            <a:rPr lang="en-US" sz="2800" i="1">
                              <a:solidFill>
                                <a:srgbClr val="002060"/>
                              </a:solidFill>
                              <a:latin typeface="Cambria Math" panose="02040503050406030204" pitchFamily="18" charset="0"/>
                              <a:ea typeface="Cambria Math" panose="02040503050406030204" pitchFamily="18" charset="0"/>
                            </a:rPr>
                            <m:t>𝜋</m:t>
                          </m:r>
                        </m:num>
                        <m:den>
                          <m:r>
                            <a:rPr lang="en-US" sz="2800" b="0" i="1" smtClean="0">
                              <a:solidFill>
                                <a:srgbClr val="002060"/>
                              </a:solidFill>
                              <a:latin typeface="Cambria Math" panose="02040503050406030204" pitchFamily="18" charset="0"/>
                              <a:ea typeface="Cambria Math" panose="02040503050406030204" pitchFamily="18" charset="0"/>
                            </a:rPr>
                            <m:t>16</m:t>
                          </m:r>
                        </m:den>
                      </m:f>
                      <m:r>
                        <a:rPr lang="en-US" sz="2800" i="1">
                          <a:solidFill>
                            <a:srgbClr val="002060"/>
                          </a:solidFill>
                          <a:latin typeface="Cambria Math" panose="02040503050406030204" pitchFamily="18" charset="0"/>
                          <a:ea typeface="Cambria Math" panose="02040503050406030204" pitchFamily="18" charset="0"/>
                        </a:rPr>
                        <m:t>×</m:t>
                      </m:r>
                      <m:r>
                        <a:rPr lang="sr-Latn-RS" sz="2800" b="0" i="1" smtClean="0">
                          <a:solidFill>
                            <a:srgbClr val="002060"/>
                          </a:solidFill>
                          <a:latin typeface="Cambria Math" panose="02040503050406030204" pitchFamily="18" charset="0"/>
                          <a:ea typeface="Cambria Math" panose="02040503050406030204" pitchFamily="18" charset="0"/>
                        </a:rPr>
                        <m:t>5</m:t>
                      </m:r>
                    </m:oMath>
                  </m:oMathPara>
                </a14:m>
                <a:endParaRPr lang="en-US" sz="2800" dirty="0"/>
              </a:p>
            </p:txBody>
          </p:sp>
        </mc:Choice>
        <mc:Fallback xmlns="">
          <p:sp>
            <p:nvSpPr>
              <p:cNvPr id="21" name="Rectangle 20">
                <a:extLst>
                  <a:ext uri="{FF2B5EF4-FFF2-40B4-BE49-F238E27FC236}">
                    <a16:creationId xmlns:a16="http://schemas.microsoft.com/office/drawing/2014/main" id="{8608B375-2296-B74F-B97B-B31DC1A19E81}"/>
                  </a:ext>
                </a:extLst>
              </p:cNvPr>
              <p:cNvSpPr>
                <a:spLocks noRot="1" noChangeAspect="1" noMove="1" noResize="1" noEditPoints="1" noAdjustHandles="1" noChangeArrowheads="1" noChangeShapeType="1" noTextEdit="1"/>
              </p:cNvSpPr>
              <p:nvPr/>
            </p:nvSpPr>
            <p:spPr>
              <a:xfrm>
                <a:off x="6427709" y="5098488"/>
                <a:ext cx="2434834" cy="901785"/>
              </a:xfrm>
              <a:prstGeom prst="rect">
                <a:avLst/>
              </a:prstGeom>
              <a:blipFill>
                <a:blip r:embed="rId15"/>
                <a:stretch>
                  <a:fillRect b="-69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0DFF94FC-D49E-C34B-B1C0-B6E3A967D590}"/>
                  </a:ext>
                </a:extLst>
              </p:cNvPr>
              <p:cNvSpPr/>
              <p:nvPr/>
            </p:nvSpPr>
            <p:spPr>
              <a:xfrm>
                <a:off x="9505010" y="5078944"/>
                <a:ext cx="2434834"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𝜑</m:t>
                      </m:r>
                      <m:r>
                        <a:rPr lang="en-US" sz="2800" b="0" i="1" smtClean="0">
                          <a:solidFill>
                            <a:srgbClr val="002060"/>
                          </a:solidFill>
                          <a:latin typeface="Cambria Math" panose="02040503050406030204" pitchFamily="18" charset="0"/>
                          <a:ea typeface="Cambria Math" panose="02040503050406030204" pitchFamily="18" charset="0"/>
                        </a:rPr>
                        <m:t>=</m:t>
                      </m:r>
                      <m:r>
                        <a:rPr lang="sr-Latn-RS" sz="2800" b="0" i="1" smtClean="0">
                          <a:solidFill>
                            <a:srgbClr val="002060"/>
                          </a:solidFill>
                          <a:latin typeface="Cambria Math" panose="02040503050406030204" pitchFamily="18" charset="0"/>
                          <a:ea typeface="Cambria Math" panose="02040503050406030204" pitchFamily="18" charset="0"/>
                        </a:rPr>
                        <m:t>8</m:t>
                      </m:r>
                      <m:r>
                        <a:rPr lang="en-US" sz="2800" i="1">
                          <a:solidFill>
                            <a:srgbClr val="002060"/>
                          </a:solidFill>
                          <a:latin typeface="Cambria Math" panose="02040503050406030204" pitchFamily="18" charset="0"/>
                          <a:ea typeface="Cambria Math" panose="02040503050406030204" pitchFamily="18" charset="0"/>
                        </a:rPr>
                        <m:t>×</m:t>
                      </m:r>
                      <m:f>
                        <m:fPr>
                          <m:ctrlPr>
                            <a:rPr lang="en-US" sz="2800" i="1">
                              <a:solidFill>
                                <a:srgbClr val="002060"/>
                              </a:solidFill>
                              <a:latin typeface="Cambria Math" panose="02040503050406030204" pitchFamily="18" charset="0"/>
                              <a:ea typeface="Cambria Math" panose="02040503050406030204" pitchFamily="18" charset="0"/>
                            </a:rPr>
                          </m:ctrlPr>
                        </m:fPr>
                        <m:num>
                          <m:r>
                            <a:rPr lang="en-US" sz="2800" i="1">
                              <a:solidFill>
                                <a:srgbClr val="002060"/>
                              </a:solidFill>
                              <a:latin typeface="Cambria Math" panose="02040503050406030204" pitchFamily="18" charset="0"/>
                              <a:ea typeface="Cambria Math" panose="02040503050406030204" pitchFamily="18" charset="0"/>
                            </a:rPr>
                            <m:t>2</m:t>
                          </m:r>
                          <m:r>
                            <a:rPr lang="en-US" sz="2800" i="1">
                              <a:solidFill>
                                <a:srgbClr val="002060"/>
                              </a:solidFill>
                              <a:latin typeface="Cambria Math" panose="02040503050406030204" pitchFamily="18" charset="0"/>
                              <a:ea typeface="Cambria Math" panose="02040503050406030204" pitchFamily="18" charset="0"/>
                            </a:rPr>
                            <m:t>𝜋</m:t>
                          </m:r>
                        </m:num>
                        <m:den>
                          <m:r>
                            <a:rPr lang="en-US" sz="2800" b="0" i="1" smtClean="0">
                              <a:solidFill>
                                <a:srgbClr val="002060"/>
                              </a:solidFill>
                              <a:latin typeface="Cambria Math" panose="02040503050406030204" pitchFamily="18" charset="0"/>
                              <a:ea typeface="Cambria Math" panose="02040503050406030204" pitchFamily="18" charset="0"/>
                            </a:rPr>
                            <m:t>16</m:t>
                          </m:r>
                        </m:den>
                      </m:f>
                      <m:r>
                        <a:rPr lang="en-US" sz="2800" i="1">
                          <a:solidFill>
                            <a:srgbClr val="002060"/>
                          </a:solidFill>
                          <a:latin typeface="Cambria Math" panose="02040503050406030204" pitchFamily="18" charset="0"/>
                          <a:ea typeface="Cambria Math" panose="02040503050406030204" pitchFamily="18" charset="0"/>
                        </a:rPr>
                        <m:t>×</m:t>
                      </m:r>
                      <m:r>
                        <a:rPr lang="sr-Latn-RS" sz="2800" b="0" i="1" smtClean="0">
                          <a:solidFill>
                            <a:srgbClr val="002060"/>
                          </a:solidFill>
                          <a:latin typeface="Cambria Math" panose="02040503050406030204" pitchFamily="18" charset="0"/>
                          <a:ea typeface="Cambria Math" panose="02040503050406030204" pitchFamily="18" charset="0"/>
                        </a:rPr>
                        <m:t>5</m:t>
                      </m:r>
                    </m:oMath>
                  </m:oMathPara>
                </a14:m>
                <a:endParaRPr lang="en-US" sz="2800" dirty="0"/>
              </a:p>
            </p:txBody>
          </p:sp>
        </mc:Choice>
        <mc:Fallback xmlns="">
          <p:sp>
            <p:nvSpPr>
              <p:cNvPr id="22" name="Rectangle 21">
                <a:extLst>
                  <a:ext uri="{FF2B5EF4-FFF2-40B4-BE49-F238E27FC236}">
                    <a16:creationId xmlns:a16="http://schemas.microsoft.com/office/drawing/2014/main" id="{0DFF94FC-D49E-C34B-B1C0-B6E3A967D590}"/>
                  </a:ext>
                </a:extLst>
              </p:cNvPr>
              <p:cNvSpPr>
                <a:spLocks noRot="1" noChangeAspect="1" noMove="1" noResize="1" noEditPoints="1" noAdjustHandles="1" noChangeArrowheads="1" noChangeShapeType="1" noTextEdit="1"/>
              </p:cNvSpPr>
              <p:nvPr/>
            </p:nvSpPr>
            <p:spPr>
              <a:xfrm>
                <a:off x="9505010" y="5078944"/>
                <a:ext cx="2434834" cy="901785"/>
              </a:xfrm>
              <a:prstGeom prst="rect">
                <a:avLst/>
              </a:prstGeom>
              <a:blipFill>
                <a:blip r:embed="rId16"/>
                <a:stretch>
                  <a:fillRect b="-69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2CE2E49-44DA-D44A-9562-8D4582853A7C}"/>
                  </a:ext>
                </a:extLst>
              </p:cNvPr>
              <p:cNvSpPr txBox="1"/>
              <p:nvPr/>
            </p:nvSpPr>
            <p:spPr>
              <a:xfrm>
                <a:off x="4700911" y="5919698"/>
                <a:ext cx="2720681" cy="901785"/>
              </a:xfrm>
              <a:prstGeom prst="rect">
                <a:avLst/>
              </a:prstGeom>
              <a:solidFill>
                <a:schemeClr val="bg1">
                  <a:lumMod val="95000"/>
                </a:schemeClr>
              </a:solid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2060"/>
                              </a:solidFill>
                              <a:latin typeface="Cambria Math" panose="02040503050406030204" pitchFamily="18" charset="0"/>
                              <a:ea typeface="Cambria Math" panose="02040503050406030204" pitchFamily="18" charset="0"/>
                            </a:rPr>
                          </m:ctrlPr>
                        </m:sSubPr>
                        <m:e>
                          <m:r>
                            <a:rPr lang="en-US" sz="2800" i="1">
                              <a:solidFill>
                                <a:srgbClr val="002060"/>
                              </a:solidFill>
                              <a:latin typeface="Cambria Math" panose="02040503050406030204" pitchFamily="18" charset="0"/>
                              <a:ea typeface="Cambria Math" panose="02040503050406030204" pitchFamily="18" charset="0"/>
                            </a:rPr>
                            <m:t>𝜑</m:t>
                          </m:r>
                        </m:e>
                        <m:sub>
                          <m:r>
                            <a:rPr lang="en-US" sz="2800" i="1">
                              <a:solidFill>
                                <a:srgbClr val="002060"/>
                              </a:solidFill>
                              <a:latin typeface="Cambria Math" panose="02040503050406030204" pitchFamily="18" charset="0"/>
                              <a:ea typeface="Cambria Math" panose="02040503050406030204" pitchFamily="18" charset="0"/>
                            </a:rPr>
                            <m:t>𝑗</m:t>
                          </m:r>
                        </m:sub>
                      </m:sSub>
                      <m:d>
                        <m:dPr>
                          <m:ctrlPr>
                            <a:rPr lang="en-US" sz="2800" i="1">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𝑘</m:t>
                          </m:r>
                        </m:e>
                      </m:d>
                      <m:r>
                        <a:rPr lang="en-US" sz="2800" i="1">
                          <a:solidFill>
                            <a:srgbClr val="002060"/>
                          </a:solidFill>
                          <a:latin typeface="Cambria Math" panose="02040503050406030204" pitchFamily="18" charset="0"/>
                          <a:ea typeface="Cambria Math" panose="02040503050406030204" pitchFamily="18" charset="0"/>
                        </a:rPr>
                        <m:t>=</m:t>
                      </m:r>
                      <m:sSup>
                        <m:sSupPr>
                          <m:ctrlPr>
                            <a:rPr lang="en-US" sz="2800" i="1">
                              <a:latin typeface="Cambria Math" panose="02040503050406030204" pitchFamily="18" charset="0"/>
                            </a:rPr>
                          </m:ctrlPr>
                        </m:sSupPr>
                        <m:e>
                          <m:r>
                            <a:rPr lang="en-US" sz="2800" i="1">
                              <a:latin typeface="Cambria Math" panose="02040503050406030204" pitchFamily="18" charset="0"/>
                            </a:rPr>
                            <m:t>2</m:t>
                          </m:r>
                        </m:e>
                        <m:sup>
                          <m:r>
                            <a:rPr lang="en-US" sz="2800" i="1">
                              <a:latin typeface="Cambria Math" panose="02040503050406030204" pitchFamily="18" charset="0"/>
                            </a:rPr>
                            <m:t>𝑗</m:t>
                          </m:r>
                        </m:sup>
                      </m:sSup>
                      <m:f>
                        <m:fPr>
                          <m:ctrlPr>
                            <a:rPr lang="en-US" sz="2800" i="1">
                              <a:solidFill>
                                <a:srgbClr val="002060"/>
                              </a:solidFill>
                              <a:latin typeface="Cambria Math" panose="02040503050406030204" pitchFamily="18" charset="0"/>
                              <a:ea typeface="Cambria Math" panose="02040503050406030204" pitchFamily="18" charset="0"/>
                            </a:rPr>
                          </m:ctrlPr>
                        </m:fPr>
                        <m:num>
                          <m:r>
                            <a:rPr lang="en-US" sz="2800" i="1">
                              <a:solidFill>
                                <a:srgbClr val="002060"/>
                              </a:solidFill>
                              <a:latin typeface="Cambria Math" panose="02040503050406030204" pitchFamily="18" charset="0"/>
                              <a:ea typeface="Cambria Math" panose="02040503050406030204" pitchFamily="18" charset="0"/>
                            </a:rPr>
                            <m:t>2</m:t>
                          </m:r>
                          <m:r>
                            <a:rPr lang="en-US" sz="2800" i="1">
                              <a:solidFill>
                                <a:srgbClr val="002060"/>
                              </a:solidFill>
                              <a:latin typeface="Cambria Math" panose="02040503050406030204" pitchFamily="18" charset="0"/>
                              <a:ea typeface="Cambria Math" panose="02040503050406030204" pitchFamily="18" charset="0"/>
                            </a:rPr>
                            <m:t>𝜋</m:t>
                          </m:r>
                        </m:num>
                        <m:den>
                          <m:r>
                            <a:rPr lang="en-US" sz="2800" i="1">
                              <a:solidFill>
                                <a:srgbClr val="002060"/>
                              </a:solidFill>
                              <a:latin typeface="Cambria Math" panose="02040503050406030204" pitchFamily="18" charset="0"/>
                              <a:ea typeface="Cambria Math" panose="02040503050406030204" pitchFamily="18" charset="0"/>
                            </a:rPr>
                            <m:t>16</m:t>
                          </m:r>
                        </m:den>
                      </m:f>
                      <m:r>
                        <a:rPr lang="en-US" sz="2800" i="1">
                          <a:solidFill>
                            <a:srgbClr val="002060"/>
                          </a:solidFill>
                          <a:latin typeface="Cambria Math" panose="02040503050406030204" pitchFamily="18" charset="0"/>
                          <a:ea typeface="Cambria Math" panose="02040503050406030204" pitchFamily="18" charset="0"/>
                        </a:rPr>
                        <m:t>𝑘</m:t>
                      </m:r>
                    </m:oMath>
                  </m:oMathPara>
                </a14:m>
                <a:endParaRPr lang="en-US" sz="2800" dirty="0"/>
              </a:p>
            </p:txBody>
          </p:sp>
        </mc:Choice>
        <mc:Fallback xmlns="">
          <p:sp>
            <p:nvSpPr>
              <p:cNvPr id="5" name="TextBox 4">
                <a:extLst>
                  <a:ext uri="{FF2B5EF4-FFF2-40B4-BE49-F238E27FC236}">
                    <a16:creationId xmlns:a16="http://schemas.microsoft.com/office/drawing/2014/main" id="{22CE2E49-44DA-D44A-9562-8D4582853A7C}"/>
                  </a:ext>
                </a:extLst>
              </p:cNvPr>
              <p:cNvSpPr txBox="1">
                <a:spLocks noRot="1" noChangeAspect="1" noMove="1" noResize="1" noEditPoints="1" noAdjustHandles="1" noChangeArrowheads="1" noChangeShapeType="1" noTextEdit="1"/>
              </p:cNvSpPr>
              <p:nvPr/>
            </p:nvSpPr>
            <p:spPr>
              <a:xfrm>
                <a:off x="4700911" y="5919698"/>
                <a:ext cx="2720681" cy="901785"/>
              </a:xfrm>
              <a:prstGeom prst="rect">
                <a:avLst/>
              </a:prstGeom>
              <a:blipFill>
                <a:blip r:embed="rId17"/>
                <a:stretch>
                  <a:fillRect b="-6944"/>
                </a:stretch>
              </a:blipFill>
            </p:spPr>
            <p:txBody>
              <a:bodyPr/>
              <a:lstStyle/>
              <a:p>
                <a:r>
                  <a:rPr lang="en-US">
                    <a:noFill/>
                  </a:rPr>
                  <a:t> </a:t>
                </a:r>
              </a:p>
            </p:txBody>
          </p:sp>
        </mc:Fallback>
      </mc:AlternateContent>
    </p:spTree>
    <p:extLst>
      <p:ext uri="{BB962C8B-B14F-4D97-AF65-F5344CB8AC3E}">
        <p14:creationId xmlns:p14="http://schemas.microsoft.com/office/powerpoint/2010/main" val="14387722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EEFA8-AC1E-9148-A658-61399E5A8F78}"/>
              </a:ext>
            </a:extLst>
          </p:cNvPr>
          <p:cNvSpPr>
            <a:spLocks noGrp="1"/>
          </p:cNvSpPr>
          <p:nvPr>
            <p:ph type="title"/>
          </p:nvPr>
        </p:nvSpPr>
        <p:spPr/>
        <p:txBody>
          <a:bodyPr/>
          <a:lstStyle/>
          <a:p>
            <a:r>
              <a:rPr lang="en-ZA" dirty="0"/>
              <a:t>QFT: one qubit</a:t>
            </a:r>
            <a:endParaRPr lang="en-US" dirty="0"/>
          </a:p>
        </p:txBody>
      </p:sp>
      <p:sp>
        <p:nvSpPr>
          <p:cNvPr id="3" name="Slide Number Placeholder 2">
            <a:extLst>
              <a:ext uri="{FF2B5EF4-FFF2-40B4-BE49-F238E27FC236}">
                <a16:creationId xmlns:a16="http://schemas.microsoft.com/office/drawing/2014/main" id="{A441217D-A16B-214A-81D1-4B3A8622BC1B}"/>
              </a:ext>
            </a:extLst>
          </p:cNvPr>
          <p:cNvSpPr>
            <a:spLocks noGrp="1"/>
          </p:cNvSpPr>
          <p:nvPr>
            <p:ph type="sldNum" sz="quarter" idx="12"/>
          </p:nvPr>
        </p:nvSpPr>
        <p:spPr/>
        <p:txBody>
          <a:bodyPr/>
          <a:lstStyle/>
          <a:p>
            <a:fld id="{591A223C-FA10-BC46-A853-03BA373D023C}" type="slidenum">
              <a:rPr lang="en-US" smtClean="0"/>
              <a:t>58</a:t>
            </a:fld>
            <a:endParaRPr lang="en-US"/>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D3513960-C679-EF4E-B69E-8A09D7909551}"/>
                  </a:ext>
                </a:extLst>
              </p:cNvPr>
              <p:cNvSpPr/>
              <p:nvPr/>
            </p:nvSpPr>
            <p:spPr>
              <a:xfrm>
                <a:off x="460796" y="912391"/>
                <a:ext cx="5917646" cy="595612"/>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r>
                        <a:rPr lang="en-US" sz="2200" i="1" smtClean="0">
                          <a:solidFill>
                            <a:srgbClr val="002060"/>
                          </a:solidFill>
                          <a:latin typeface="Cambria Math" panose="02040503050406030204" pitchFamily="18" charset="0"/>
                          <a:ea typeface="Cambria Math" panose="02040503050406030204" pitchFamily="18" charset="0"/>
                        </a:rPr>
                        <m:t>𝑛</m:t>
                      </m:r>
                      <m:r>
                        <a:rPr lang="en-US" sz="2200" i="1" smtClean="0">
                          <a:solidFill>
                            <a:srgbClr val="002060"/>
                          </a:solidFill>
                          <a:latin typeface="Cambria Math" panose="02040503050406030204" pitchFamily="18" charset="0"/>
                          <a:ea typeface="Cambria Math" panose="02040503050406030204" pitchFamily="18" charset="0"/>
                        </a:rPr>
                        <m:t>=1→</m:t>
                      </m:r>
                      <m:r>
                        <a:rPr lang="en-US" sz="2200" i="1" smtClean="0">
                          <a:solidFill>
                            <a:srgbClr val="002060"/>
                          </a:solidFill>
                          <a:latin typeface="Cambria Math" panose="02040503050406030204" pitchFamily="18" charset="0"/>
                          <a:ea typeface="Cambria Math" panose="02040503050406030204" pitchFamily="18" charset="0"/>
                        </a:rPr>
                        <m:t>𝑁</m:t>
                      </m:r>
                      <m:r>
                        <a:rPr lang="en-US" sz="2200" i="1" smtClean="0">
                          <a:solidFill>
                            <a:srgbClr val="002060"/>
                          </a:solidFill>
                          <a:latin typeface="Cambria Math" panose="02040503050406030204" pitchFamily="18" charset="0"/>
                          <a:ea typeface="Cambria Math" panose="02040503050406030204" pitchFamily="18" charset="0"/>
                        </a:rPr>
                        <m:t>=</m:t>
                      </m:r>
                      <m:sSup>
                        <m:sSupPr>
                          <m:ctrlPr>
                            <a:rPr lang="en-US" sz="2200" i="1">
                              <a:solidFill>
                                <a:srgbClr val="002060"/>
                              </a:solidFill>
                              <a:latin typeface="Cambria Math" panose="02040503050406030204" pitchFamily="18" charset="0"/>
                              <a:ea typeface="Cambria Math" panose="02040503050406030204" pitchFamily="18" charset="0"/>
                            </a:rPr>
                          </m:ctrlPr>
                        </m:sSupPr>
                        <m:e>
                          <m:r>
                            <a:rPr lang="en-US" sz="2200" i="1">
                              <a:solidFill>
                                <a:srgbClr val="002060"/>
                              </a:solidFill>
                              <a:latin typeface="Cambria Math" panose="02040503050406030204" pitchFamily="18" charset="0"/>
                              <a:ea typeface="Cambria Math" panose="02040503050406030204" pitchFamily="18" charset="0"/>
                            </a:rPr>
                            <m:t>2</m:t>
                          </m:r>
                        </m:e>
                        <m:sup>
                          <m:r>
                            <a:rPr lang="en-US" sz="2200" i="1">
                              <a:solidFill>
                                <a:srgbClr val="002060"/>
                              </a:solidFill>
                              <a:latin typeface="Cambria Math" panose="02040503050406030204" pitchFamily="18" charset="0"/>
                              <a:ea typeface="Cambria Math" panose="02040503050406030204" pitchFamily="18" charset="0"/>
                            </a:rPr>
                            <m:t>𝑛</m:t>
                          </m:r>
                        </m:sup>
                      </m:sSup>
                      <m:r>
                        <a:rPr lang="en-US" sz="2200" i="1">
                          <a:solidFill>
                            <a:srgbClr val="002060"/>
                          </a:solidFill>
                          <a:latin typeface="Cambria Math" panose="02040503050406030204" pitchFamily="18" charset="0"/>
                          <a:ea typeface="Cambria Math" panose="02040503050406030204" pitchFamily="18" charset="0"/>
                        </a:rPr>
                        <m:t>=2</m:t>
                      </m:r>
                      <m:r>
                        <a:rPr lang="en-US" sz="2200" b="0" i="1" smtClean="0">
                          <a:solidFill>
                            <a:srgbClr val="002060"/>
                          </a:solidFill>
                          <a:latin typeface="Cambria Math" panose="02040503050406030204" pitchFamily="18" charset="0"/>
                          <a:ea typeface="Cambria Math" panose="02040503050406030204" pitchFamily="18" charset="0"/>
                        </a:rPr>
                        <m:t>,  </m:t>
                      </m:r>
                      <m:r>
                        <a:rPr lang="en-US" sz="2200" i="1">
                          <a:solidFill>
                            <a:srgbClr val="002060"/>
                          </a:solidFill>
                          <a:latin typeface="Cambria Math" panose="02040503050406030204" pitchFamily="18" charset="0"/>
                          <a:ea typeface="Cambria Math" panose="02040503050406030204" pitchFamily="18" charset="0"/>
                        </a:rPr>
                        <m:t>𝜔</m:t>
                      </m:r>
                      <m:r>
                        <a:rPr lang="en-US" sz="2200" i="1">
                          <a:solidFill>
                            <a:srgbClr val="002060"/>
                          </a:solidFill>
                          <a:latin typeface="Cambria Math" panose="02040503050406030204" pitchFamily="18" charset="0"/>
                          <a:ea typeface="Cambria Math" panose="02040503050406030204" pitchFamily="18" charset="0"/>
                        </a:rPr>
                        <m:t>=</m:t>
                      </m:r>
                      <m:sSup>
                        <m:sSupPr>
                          <m:ctrlPr>
                            <a:rPr lang="en-US" sz="2200" i="1">
                              <a:solidFill>
                                <a:srgbClr val="002060"/>
                              </a:solidFill>
                              <a:latin typeface="Cambria Math" panose="02040503050406030204" pitchFamily="18" charset="0"/>
                              <a:ea typeface="Cambria Math" panose="02040503050406030204" pitchFamily="18" charset="0"/>
                            </a:rPr>
                          </m:ctrlPr>
                        </m:sSupPr>
                        <m:e>
                          <m:r>
                            <a:rPr lang="en-US" sz="2200" i="1">
                              <a:solidFill>
                                <a:srgbClr val="002060"/>
                              </a:solidFill>
                              <a:latin typeface="Cambria Math" panose="02040503050406030204" pitchFamily="18" charset="0"/>
                              <a:ea typeface="Cambria Math" panose="02040503050406030204" pitchFamily="18" charset="0"/>
                            </a:rPr>
                            <m:t>𝑒</m:t>
                          </m:r>
                        </m:e>
                        <m:sup>
                          <m:f>
                            <m:fPr>
                              <m:ctrlPr>
                                <a:rPr lang="en-US" sz="2200" i="1">
                                  <a:solidFill>
                                    <a:srgbClr val="002060"/>
                                  </a:solidFill>
                                  <a:latin typeface="Cambria Math" panose="02040503050406030204" pitchFamily="18" charset="0"/>
                                  <a:ea typeface="Cambria Math" panose="02040503050406030204" pitchFamily="18" charset="0"/>
                                </a:rPr>
                              </m:ctrlPr>
                            </m:fPr>
                            <m:num>
                              <m:r>
                                <a:rPr lang="en-US" sz="2200" i="1">
                                  <a:solidFill>
                                    <a:srgbClr val="002060"/>
                                  </a:solidFill>
                                  <a:latin typeface="Cambria Math" panose="02040503050406030204" pitchFamily="18" charset="0"/>
                                  <a:ea typeface="Cambria Math" panose="02040503050406030204" pitchFamily="18" charset="0"/>
                                </a:rPr>
                                <m:t>2</m:t>
                              </m:r>
                              <m:r>
                                <a:rPr lang="en-US" sz="2200" i="1">
                                  <a:solidFill>
                                    <a:srgbClr val="002060"/>
                                  </a:solidFill>
                                  <a:latin typeface="Cambria Math" panose="02040503050406030204" pitchFamily="18" charset="0"/>
                                  <a:ea typeface="Cambria Math" panose="02040503050406030204" pitchFamily="18" charset="0"/>
                                </a:rPr>
                                <m:t>𝜋</m:t>
                              </m:r>
                              <m:r>
                                <a:rPr lang="en-US" sz="2200" i="1">
                                  <a:solidFill>
                                    <a:srgbClr val="002060"/>
                                  </a:solidFill>
                                  <a:latin typeface="Cambria Math" panose="02040503050406030204" pitchFamily="18" charset="0"/>
                                  <a:ea typeface="Cambria Math" panose="02040503050406030204" pitchFamily="18" charset="0"/>
                                </a:rPr>
                                <m:t>𝑖</m:t>
                              </m:r>
                            </m:num>
                            <m:den>
                              <m:r>
                                <a:rPr lang="en-US" sz="2200" b="0" i="1" smtClean="0">
                                  <a:solidFill>
                                    <a:srgbClr val="002060"/>
                                  </a:solidFill>
                                  <a:latin typeface="Cambria Math" panose="02040503050406030204" pitchFamily="18" charset="0"/>
                                  <a:ea typeface="Cambria Math" panose="02040503050406030204" pitchFamily="18" charset="0"/>
                                </a:rPr>
                                <m:t>𝑁</m:t>
                              </m:r>
                            </m:den>
                          </m:f>
                        </m:sup>
                      </m:sSup>
                      <m:r>
                        <a:rPr lang="en-US" sz="2200" i="1">
                          <a:solidFill>
                            <a:srgbClr val="002060"/>
                          </a:solidFill>
                          <a:latin typeface="Cambria Math" panose="02040503050406030204" pitchFamily="18" charset="0"/>
                          <a:ea typeface="Cambria Math" panose="02040503050406030204" pitchFamily="18" charset="0"/>
                        </a:rPr>
                        <m:t>=</m:t>
                      </m:r>
                      <m:sSup>
                        <m:sSupPr>
                          <m:ctrlPr>
                            <a:rPr lang="en-US" sz="2200" i="1">
                              <a:solidFill>
                                <a:srgbClr val="002060"/>
                              </a:solidFill>
                              <a:latin typeface="Cambria Math" panose="02040503050406030204" pitchFamily="18" charset="0"/>
                              <a:ea typeface="Cambria Math" panose="02040503050406030204" pitchFamily="18" charset="0"/>
                            </a:rPr>
                          </m:ctrlPr>
                        </m:sSupPr>
                        <m:e>
                          <m:r>
                            <a:rPr lang="en-US" sz="2200" i="1">
                              <a:solidFill>
                                <a:srgbClr val="002060"/>
                              </a:solidFill>
                              <a:latin typeface="Cambria Math" panose="02040503050406030204" pitchFamily="18" charset="0"/>
                              <a:ea typeface="Cambria Math" panose="02040503050406030204" pitchFamily="18" charset="0"/>
                            </a:rPr>
                            <m:t>𝑒</m:t>
                          </m:r>
                        </m:e>
                        <m:sup>
                          <m:r>
                            <a:rPr lang="en-US" sz="2200" i="1">
                              <a:solidFill>
                                <a:srgbClr val="002060"/>
                              </a:solidFill>
                              <a:latin typeface="Cambria Math" panose="02040503050406030204" pitchFamily="18" charset="0"/>
                              <a:ea typeface="Cambria Math" panose="02040503050406030204" pitchFamily="18" charset="0"/>
                            </a:rPr>
                            <m:t>𝜋</m:t>
                          </m:r>
                          <m:r>
                            <a:rPr lang="en-US" sz="2200" i="1">
                              <a:solidFill>
                                <a:srgbClr val="002060"/>
                              </a:solidFill>
                              <a:latin typeface="Cambria Math" panose="02040503050406030204" pitchFamily="18" charset="0"/>
                              <a:ea typeface="Cambria Math" panose="02040503050406030204" pitchFamily="18" charset="0"/>
                            </a:rPr>
                            <m:t>𝑖</m:t>
                          </m:r>
                        </m:sup>
                      </m:sSup>
                      <m:r>
                        <a:rPr lang="en-US" sz="2200" b="0" i="1" smtClean="0">
                          <a:solidFill>
                            <a:srgbClr val="002060"/>
                          </a:solidFill>
                          <a:latin typeface="Cambria Math" panose="02040503050406030204" pitchFamily="18" charset="0"/>
                          <a:ea typeface="Cambria Math" panose="02040503050406030204" pitchFamily="18" charset="0"/>
                        </a:rPr>
                        <m:t>=</m:t>
                      </m:r>
                      <m:r>
                        <a:rPr lang="en-US" sz="2200" i="1">
                          <a:solidFill>
                            <a:srgbClr val="002060"/>
                          </a:solidFill>
                          <a:latin typeface="Cambria Math" panose="02040503050406030204" pitchFamily="18" charset="0"/>
                          <a:ea typeface="Cambria Math" panose="02040503050406030204" pitchFamily="18" charset="0"/>
                        </a:rPr>
                        <m:t>−1</m:t>
                      </m:r>
                    </m:oMath>
                  </m:oMathPara>
                </a14:m>
                <a:endParaRPr lang="en-US" sz="2200" dirty="0"/>
              </a:p>
            </p:txBody>
          </p:sp>
        </mc:Choice>
        <mc:Fallback xmlns="">
          <p:sp>
            <p:nvSpPr>
              <p:cNvPr id="4" name="Rectangle 3">
                <a:extLst>
                  <a:ext uri="{FF2B5EF4-FFF2-40B4-BE49-F238E27FC236}">
                    <a16:creationId xmlns:a16="http://schemas.microsoft.com/office/drawing/2014/main" id="{D3513960-C679-EF4E-B69E-8A09D7909551}"/>
                  </a:ext>
                </a:extLst>
              </p:cNvPr>
              <p:cNvSpPr>
                <a:spLocks noRot="1" noChangeAspect="1" noMove="1" noResize="1" noEditPoints="1" noAdjustHandles="1" noChangeArrowheads="1" noChangeShapeType="1" noTextEdit="1"/>
              </p:cNvSpPr>
              <p:nvPr/>
            </p:nvSpPr>
            <p:spPr>
              <a:xfrm>
                <a:off x="460796" y="912391"/>
                <a:ext cx="5917646" cy="595612"/>
              </a:xfrm>
              <a:prstGeom prst="rect">
                <a:avLst/>
              </a:prstGeom>
              <a:blipFill>
                <a:blip r:embed="rId3"/>
                <a:stretch>
                  <a:fillRect/>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58200C59-22C4-044E-BD85-218B94B880A6}"/>
              </a:ext>
            </a:extLst>
          </p:cNvPr>
          <p:cNvGrpSpPr/>
          <p:nvPr/>
        </p:nvGrpSpPr>
        <p:grpSpPr>
          <a:xfrm>
            <a:off x="280492" y="3029654"/>
            <a:ext cx="11532287" cy="2105508"/>
            <a:chOff x="280492" y="3029654"/>
            <a:chExt cx="11532287" cy="2105508"/>
          </a:xfrm>
        </p:grpSpPr>
        <p:sp>
          <p:nvSpPr>
            <p:cNvPr id="26" name="Rounded Rectangle 25">
              <a:extLst>
                <a:ext uri="{FF2B5EF4-FFF2-40B4-BE49-F238E27FC236}">
                  <a16:creationId xmlns:a16="http://schemas.microsoft.com/office/drawing/2014/main" id="{FFC0FF30-9454-384C-A7D9-D5381D7FDE59}"/>
                </a:ext>
              </a:extLst>
            </p:cNvPr>
            <p:cNvSpPr/>
            <p:nvPr/>
          </p:nvSpPr>
          <p:spPr>
            <a:xfrm>
              <a:off x="280493" y="3029654"/>
              <a:ext cx="11532286" cy="2105508"/>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3E5104C4-867E-B64A-BBAE-7F7C576D8A0C}"/>
                    </a:ext>
                  </a:extLst>
                </p:cNvPr>
                <p:cNvSpPr/>
                <p:nvPr/>
              </p:nvSpPr>
              <p:spPr>
                <a:xfrm>
                  <a:off x="280492" y="3078251"/>
                  <a:ext cx="11478462" cy="104458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ea typeface="Cambria Math" panose="02040503050406030204" pitchFamily="18" charset="0"/>
                          </a:rPr>
                          <m:t>𝑄𝐹𝑇</m:t>
                        </m:r>
                        <m:r>
                          <a:rPr lang="en-US" sz="2200" i="1" smtClean="0">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𝑥</m:t>
                            </m:r>
                          </m:e>
                        </m:d>
                        <m:r>
                          <a:rPr lang="en-US" sz="2200" b="0" i="1" smtClean="0">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𝑄𝐹𝑇</m:t>
                        </m:r>
                        <m:d>
                          <m:dPr>
                            <m:ctrlPr>
                              <a:rPr lang="en-US" sz="2400" i="1">
                                <a:latin typeface="Cambria Math" panose="02040503050406030204" pitchFamily="18" charset="0"/>
                                <a:ea typeface="Cambria Math" panose="02040503050406030204" pitchFamily="18" charset="0"/>
                              </a:rPr>
                            </m:ctrlPr>
                          </m:dPr>
                          <m:e>
                            <m:m>
                              <m:mPr>
                                <m:mcs>
                                  <m:mc>
                                    <m:mcPr>
                                      <m:count m:val="1"/>
                                      <m:mcJc m:val="center"/>
                                    </m:mcPr>
                                  </m:mc>
                                </m:mcs>
                                <m:ctrlPr>
                                  <a:rPr lang="en-US" sz="2400" i="1">
                                    <a:latin typeface="Cambria Math" panose="02040503050406030204" pitchFamily="18" charset="0"/>
                                    <a:ea typeface="Cambria Math" panose="02040503050406030204" pitchFamily="18" charset="0"/>
                                  </a:rPr>
                                </m:ctrlPr>
                              </m:mPr>
                              <m:m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i="1">
                                          <a:latin typeface="Cambria Math" panose="02040503050406030204" pitchFamily="18" charset="0"/>
                                          <a:ea typeface="Cambria Math" panose="02040503050406030204" pitchFamily="18" charset="0"/>
                                        </a:rPr>
                                        <m:t>0</m:t>
                                      </m:r>
                                    </m:sub>
                                  </m:sSub>
                                </m:e>
                              </m:mr>
                              <m:m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sr-Latn-RS" sz="2400" i="1">
                                          <a:latin typeface="Cambria Math" panose="02040503050406030204" pitchFamily="18" charset="0"/>
                                          <a:ea typeface="Cambria Math" panose="02040503050406030204" pitchFamily="18" charset="0"/>
                                        </a:rPr>
                                        <m:t>1</m:t>
                                      </m:r>
                                    </m:sub>
                                  </m:sSub>
                                </m:e>
                              </m:mr>
                            </m:m>
                          </m:e>
                        </m:d>
                        <m:r>
                          <a:rPr lang="sr-Latn-RS" sz="2400" b="0" i="1" smtClean="0">
                            <a:latin typeface="Cambria Math" panose="02040503050406030204" pitchFamily="18" charset="0"/>
                            <a:ea typeface="Cambria Math" panose="02040503050406030204" pitchFamily="18" charset="0"/>
                          </a:rPr>
                          <m:t>=</m:t>
                        </m:r>
                        <m:nary>
                          <m:naryPr>
                            <m:chr m:val="∑"/>
                            <m:ctrlPr>
                              <a:rPr lang="en-US" sz="2200" i="1">
                                <a:solidFill>
                                  <a:srgbClr val="002060"/>
                                </a:solidFill>
                                <a:latin typeface="Cambria Math" panose="02040503050406030204" pitchFamily="18" charset="0"/>
                                <a:ea typeface="Cambria Math" panose="02040503050406030204" pitchFamily="18" charset="0"/>
                              </a:rPr>
                            </m:ctrlPr>
                          </m:naryPr>
                          <m:sub>
                            <m:r>
                              <a:rPr lang="en-US" sz="2200" b="0" i="1" smtClean="0">
                                <a:solidFill>
                                  <a:srgbClr val="002060"/>
                                </a:solidFill>
                                <a:latin typeface="Cambria Math" panose="02040503050406030204" pitchFamily="18" charset="0"/>
                                <a:ea typeface="Cambria Math" panose="02040503050406030204" pitchFamily="18" charset="0"/>
                              </a:rPr>
                              <m:t>𝑘</m:t>
                            </m:r>
                            <m:r>
                              <a:rPr lang="en-US" sz="2200" i="1">
                                <a:solidFill>
                                  <a:srgbClr val="002060"/>
                                </a:solidFill>
                                <a:latin typeface="Cambria Math" panose="02040503050406030204" pitchFamily="18" charset="0"/>
                                <a:ea typeface="Cambria Math" panose="02040503050406030204" pitchFamily="18" charset="0"/>
                              </a:rPr>
                              <m:t>=0</m:t>
                            </m:r>
                          </m:sub>
                          <m:sup>
                            <m:r>
                              <a:rPr lang="en-US" sz="2200" i="1">
                                <a:solidFill>
                                  <a:srgbClr val="002060"/>
                                </a:solidFill>
                                <a:latin typeface="Cambria Math" panose="02040503050406030204" pitchFamily="18" charset="0"/>
                                <a:ea typeface="Cambria Math" panose="02040503050406030204" pitchFamily="18" charset="0"/>
                              </a:rPr>
                              <m:t>𝑁</m:t>
                            </m:r>
                            <m:r>
                              <a:rPr lang="en-US" sz="2200" i="1">
                                <a:solidFill>
                                  <a:srgbClr val="002060"/>
                                </a:solidFill>
                                <a:latin typeface="Cambria Math" panose="02040503050406030204" pitchFamily="18" charset="0"/>
                                <a:ea typeface="Cambria Math" panose="02040503050406030204" pitchFamily="18" charset="0"/>
                              </a:rPr>
                              <m:t>−1</m:t>
                            </m:r>
                          </m:sup>
                          <m:e>
                            <m:sSub>
                              <m:sSubPr>
                                <m:ctrlPr>
                                  <a:rPr lang="en-US" sz="2200" i="1">
                                    <a:solidFill>
                                      <a:srgbClr val="002060"/>
                                    </a:solidFill>
                                    <a:latin typeface="Cambria Math" panose="02040503050406030204" pitchFamily="18" charset="0"/>
                                    <a:ea typeface="Cambria Math" panose="02040503050406030204" pitchFamily="18" charset="0"/>
                                  </a:rPr>
                                </m:ctrlPr>
                              </m:sSubPr>
                              <m:e>
                                <m:r>
                                  <a:rPr lang="en-US" sz="2200" i="1">
                                    <a:solidFill>
                                      <a:srgbClr val="002060"/>
                                    </a:solidFill>
                                    <a:latin typeface="Cambria Math" panose="02040503050406030204" pitchFamily="18" charset="0"/>
                                    <a:ea typeface="Cambria Math" panose="02040503050406030204" pitchFamily="18" charset="0"/>
                                  </a:rPr>
                                  <m:t>𝑦</m:t>
                                </m:r>
                              </m:e>
                              <m:sub>
                                <m:r>
                                  <a:rPr lang="en-US" sz="2200" b="0" i="1" smtClean="0">
                                    <a:solidFill>
                                      <a:srgbClr val="002060"/>
                                    </a:solidFill>
                                    <a:latin typeface="Cambria Math" panose="02040503050406030204" pitchFamily="18" charset="0"/>
                                    <a:ea typeface="Cambria Math" panose="02040503050406030204" pitchFamily="18" charset="0"/>
                                  </a:rPr>
                                  <m:t>𝑘</m:t>
                                </m:r>
                              </m:sub>
                            </m:sSub>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b="0" i="1" smtClean="0">
                                        <a:solidFill>
                                          <a:srgbClr val="002060"/>
                                        </a:solidFill>
                                        <a:latin typeface="Cambria Math" panose="02040503050406030204" pitchFamily="18" charset="0"/>
                                        <a:ea typeface="Cambria Math" panose="02040503050406030204" pitchFamily="18" charset="0"/>
                                      </a:rPr>
                                      <m:t>𝑘</m:t>
                                    </m:r>
                                  </m:e>
                                </m:d>
                                <m:r>
                                  <a:rPr lang="en-US" sz="2200" b="0" i="1" smtClean="0">
                                    <a:solidFill>
                                      <a:srgbClr val="002060"/>
                                    </a:solidFill>
                                    <a:latin typeface="Cambria Math" panose="02040503050406030204" pitchFamily="18" charset="0"/>
                                    <a:ea typeface="Cambria Math" panose="02040503050406030204" pitchFamily="18" charset="0"/>
                                  </a:rPr>
                                  <m:t>=</m:t>
                                </m:r>
                                <m:sSub>
                                  <m:sSubPr>
                                    <m:ctrlPr>
                                      <a:rPr lang="en-US" sz="2200" i="1">
                                        <a:solidFill>
                                          <a:srgbClr val="002060"/>
                                        </a:solidFill>
                                        <a:latin typeface="Cambria Math" panose="02040503050406030204" pitchFamily="18" charset="0"/>
                                        <a:ea typeface="Cambria Math" panose="02040503050406030204" pitchFamily="18" charset="0"/>
                                      </a:rPr>
                                    </m:ctrlPr>
                                  </m:sSubPr>
                                  <m:e>
                                    <m:r>
                                      <a:rPr lang="en-US" sz="2200" i="1">
                                        <a:solidFill>
                                          <a:srgbClr val="002060"/>
                                        </a:solidFill>
                                        <a:latin typeface="Cambria Math" panose="02040503050406030204" pitchFamily="18" charset="0"/>
                                        <a:ea typeface="Cambria Math" panose="02040503050406030204" pitchFamily="18" charset="0"/>
                                      </a:rPr>
                                      <m:t>𝑦</m:t>
                                    </m:r>
                                  </m:e>
                                  <m:sub>
                                    <m:r>
                                      <a:rPr lang="en-US" sz="2200" b="0" i="1" smtClean="0">
                                        <a:solidFill>
                                          <a:srgbClr val="002060"/>
                                        </a:solidFill>
                                        <a:latin typeface="Cambria Math" panose="02040503050406030204" pitchFamily="18" charset="0"/>
                                        <a:ea typeface="Cambria Math" panose="02040503050406030204" pitchFamily="18" charset="0"/>
                                      </a:rPr>
                                      <m:t>0</m:t>
                                    </m:r>
                                  </m:sub>
                                </m:sSub>
                              </m:e>
                            </m:d>
                            <m:d>
                              <m:dPr>
                                <m:begChr m:val=""/>
                                <m:endChr m:val="⟩"/>
                                <m:ctrlPr>
                                  <a:rPr lang="en-US" sz="2200" i="1">
                                    <a:solidFill>
                                      <a:srgbClr val="002060"/>
                                    </a:solidFill>
                                    <a:latin typeface="Cambria Math" panose="02040503050406030204" pitchFamily="18" charset="0"/>
                                    <a:ea typeface="Cambria Math" panose="02040503050406030204" pitchFamily="18" charset="0"/>
                                  </a:rPr>
                                </m:ctrlPr>
                              </m:dPr>
                              <m:e>
                                <m:r>
                                  <a:rPr lang="en-US" sz="2200" b="0" i="1" smtClean="0">
                                    <a:solidFill>
                                      <a:srgbClr val="002060"/>
                                    </a:solidFill>
                                    <a:latin typeface="Cambria Math" panose="02040503050406030204" pitchFamily="18" charset="0"/>
                                    <a:ea typeface="Cambria Math" panose="02040503050406030204" pitchFamily="18" charset="0"/>
                                  </a:rPr>
                                  <m:t>0</m:t>
                                </m:r>
                              </m:e>
                            </m:d>
                            <m:r>
                              <a:rPr lang="en-US" sz="2200" b="0" i="1" smtClean="0">
                                <a:solidFill>
                                  <a:srgbClr val="002060"/>
                                </a:solidFill>
                                <a:latin typeface="Cambria Math" panose="02040503050406030204" pitchFamily="18" charset="0"/>
                                <a:ea typeface="Cambria Math" panose="02040503050406030204" pitchFamily="18" charset="0"/>
                              </a:rPr>
                              <m:t>+</m:t>
                            </m:r>
                            <m:sSub>
                              <m:sSubPr>
                                <m:ctrlPr>
                                  <a:rPr lang="en-US" sz="2200" i="1">
                                    <a:solidFill>
                                      <a:srgbClr val="002060"/>
                                    </a:solidFill>
                                    <a:latin typeface="Cambria Math" panose="02040503050406030204" pitchFamily="18" charset="0"/>
                                    <a:ea typeface="Cambria Math" panose="02040503050406030204" pitchFamily="18" charset="0"/>
                                  </a:rPr>
                                </m:ctrlPr>
                              </m:sSubPr>
                              <m:e>
                                <m:r>
                                  <a:rPr lang="en-US" sz="2200" i="1">
                                    <a:solidFill>
                                      <a:srgbClr val="002060"/>
                                    </a:solidFill>
                                    <a:latin typeface="Cambria Math" panose="02040503050406030204" pitchFamily="18" charset="0"/>
                                    <a:ea typeface="Cambria Math" panose="02040503050406030204" pitchFamily="18" charset="0"/>
                                  </a:rPr>
                                  <m:t>𝑦</m:t>
                                </m:r>
                              </m:e>
                              <m:sub>
                                <m:r>
                                  <a:rPr lang="en-US" sz="2200" b="0" i="1" smtClean="0">
                                    <a:solidFill>
                                      <a:srgbClr val="002060"/>
                                    </a:solidFill>
                                    <a:latin typeface="Cambria Math" panose="02040503050406030204" pitchFamily="18" charset="0"/>
                                    <a:ea typeface="Cambria Math" panose="02040503050406030204" pitchFamily="18" charset="0"/>
                                  </a:rPr>
                                  <m:t>1</m:t>
                                </m:r>
                              </m:sub>
                            </m:sSub>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1</m:t>
                                </m:r>
                              </m:e>
                            </m:d>
                            <m:r>
                              <a:rPr lang="sr-Latn-RS" sz="2200" b="0" i="1" smtClean="0">
                                <a:latin typeface="Cambria Math" panose="02040503050406030204" pitchFamily="18" charset="0"/>
                                <a:ea typeface="Cambria Math" panose="02040503050406030204" pitchFamily="18" charset="0"/>
                              </a:rPr>
                              <m:t>,</m:t>
                            </m:r>
                            <m:sSub>
                              <m:sSubPr>
                                <m:ctrlPr>
                                  <a:rPr lang="en-US" sz="2200" i="1" smtClean="0">
                                    <a:solidFill>
                                      <a:srgbClr val="002060"/>
                                    </a:solidFill>
                                    <a:latin typeface="Cambria Math" panose="02040503050406030204" pitchFamily="18" charset="0"/>
                                    <a:ea typeface="Cambria Math" panose="02040503050406030204" pitchFamily="18" charset="0"/>
                                  </a:rPr>
                                </m:ctrlPr>
                              </m:sSubPr>
                              <m:e>
                                <m:r>
                                  <a:rPr lang="en-US" sz="2200" b="0" i="1" smtClean="0">
                                    <a:solidFill>
                                      <a:srgbClr val="002060"/>
                                    </a:solidFill>
                                    <a:latin typeface="Cambria Math" panose="02040503050406030204" pitchFamily="18" charset="0"/>
                                    <a:ea typeface="Cambria Math" panose="02040503050406030204" pitchFamily="18" charset="0"/>
                                  </a:rPr>
                                  <m:t>    </m:t>
                                </m:r>
                                <m:r>
                                  <a:rPr lang="en-US" sz="2200" i="1">
                                    <a:solidFill>
                                      <a:srgbClr val="002060"/>
                                    </a:solidFill>
                                    <a:latin typeface="Cambria Math" panose="02040503050406030204" pitchFamily="18" charset="0"/>
                                    <a:ea typeface="Cambria Math" panose="02040503050406030204" pitchFamily="18" charset="0"/>
                                  </a:rPr>
                                  <m:t>𝑦</m:t>
                                </m:r>
                              </m:e>
                              <m:sub>
                                <m:r>
                                  <a:rPr lang="en-US" sz="2200" i="1">
                                    <a:solidFill>
                                      <a:srgbClr val="002060"/>
                                    </a:solidFill>
                                    <a:latin typeface="Cambria Math" panose="02040503050406030204" pitchFamily="18" charset="0"/>
                                    <a:ea typeface="Cambria Math" panose="02040503050406030204" pitchFamily="18" charset="0"/>
                                  </a:rPr>
                                  <m:t>𝑘</m:t>
                                </m:r>
                              </m:sub>
                            </m:sSub>
                            <m:r>
                              <a:rPr lang="en-US" sz="2200" i="1">
                                <a:solidFill>
                                  <a:srgbClr val="002060"/>
                                </a:solidFill>
                                <a:latin typeface="Cambria Math" panose="02040503050406030204" pitchFamily="18" charset="0"/>
                                <a:ea typeface="Cambria Math" panose="02040503050406030204" pitchFamily="18" charset="0"/>
                              </a:rPr>
                              <m:t>=</m:t>
                            </m:r>
                            <m:f>
                              <m:fPr>
                                <m:ctrlPr>
                                  <a:rPr lang="en-US" sz="2200" i="1">
                                    <a:solidFill>
                                      <a:srgbClr val="002060"/>
                                    </a:solidFill>
                                    <a:latin typeface="Cambria Math" panose="02040503050406030204" pitchFamily="18" charset="0"/>
                                    <a:ea typeface="Cambria Math" panose="02040503050406030204" pitchFamily="18" charset="0"/>
                                  </a:rPr>
                                </m:ctrlPr>
                              </m:fPr>
                              <m:num>
                                <m:r>
                                  <a:rPr lang="en-US" sz="2200" i="1">
                                    <a:solidFill>
                                      <a:srgbClr val="002060"/>
                                    </a:solidFill>
                                    <a:latin typeface="Cambria Math" panose="02040503050406030204" pitchFamily="18" charset="0"/>
                                    <a:ea typeface="Cambria Math" panose="02040503050406030204" pitchFamily="18" charset="0"/>
                                  </a:rPr>
                                  <m:t>1</m:t>
                                </m:r>
                              </m:num>
                              <m:den>
                                <m:rad>
                                  <m:radPr>
                                    <m:degHide m:val="on"/>
                                    <m:ctrlPr>
                                      <a:rPr lang="en-US" sz="2200" i="1">
                                        <a:solidFill>
                                          <a:srgbClr val="002060"/>
                                        </a:solidFill>
                                        <a:latin typeface="Cambria Math" panose="02040503050406030204" pitchFamily="18" charset="0"/>
                                        <a:ea typeface="Cambria Math" panose="02040503050406030204" pitchFamily="18" charset="0"/>
                                      </a:rPr>
                                    </m:ctrlPr>
                                  </m:radPr>
                                  <m:deg/>
                                  <m:e>
                                    <m:r>
                                      <a:rPr lang="en-US" sz="2200" i="1">
                                        <a:solidFill>
                                          <a:srgbClr val="002060"/>
                                        </a:solidFill>
                                        <a:latin typeface="Cambria Math" panose="02040503050406030204" pitchFamily="18" charset="0"/>
                                        <a:ea typeface="Cambria Math" panose="02040503050406030204" pitchFamily="18" charset="0"/>
                                      </a:rPr>
                                      <m:t>𝑁</m:t>
                                    </m:r>
                                  </m:e>
                                </m:rad>
                              </m:den>
                            </m:f>
                            <m:nary>
                              <m:naryPr>
                                <m:chr m:val="∑"/>
                                <m:ctrlPr>
                                  <a:rPr lang="en-US" sz="2200" i="1">
                                    <a:solidFill>
                                      <a:srgbClr val="002060"/>
                                    </a:solidFill>
                                    <a:latin typeface="Cambria Math" panose="02040503050406030204" pitchFamily="18" charset="0"/>
                                    <a:ea typeface="Cambria Math" panose="02040503050406030204" pitchFamily="18" charset="0"/>
                                  </a:rPr>
                                </m:ctrlPr>
                              </m:naryPr>
                              <m:sub>
                                <m:r>
                                  <a:rPr lang="en-US" sz="2200" i="1">
                                    <a:solidFill>
                                      <a:srgbClr val="002060"/>
                                    </a:solidFill>
                                    <a:latin typeface="Cambria Math" panose="02040503050406030204" pitchFamily="18" charset="0"/>
                                    <a:ea typeface="Cambria Math" panose="02040503050406030204" pitchFamily="18" charset="0"/>
                                  </a:rPr>
                                  <m:t>𝑛</m:t>
                                </m:r>
                                <m:r>
                                  <a:rPr lang="en-US" sz="2200" i="1">
                                    <a:solidFill>
                                      <a:srgbClr val="002060"/>
                                    </a:solidFill>
                                    <a:latin typeface="Cambria Math" panose="02040503050406030204" pitchFamily="18" charset="0"/>
                                    <a:ea typeface="Cambria Math" panose="02040503050406030204" pitchFamily="18" charset="0"/>
                                  </a:rPr>
                                  <m:t>=0</m:t>
                                </m:r>
                              </m:sub>
                              <m:sup>
                                <m:r>
                                  <a:rPr lang="en-US" sz="2200" i="1">
                                    <a:solidFill>
                                      <a:srgbClr val="002060"/>
                                    </a:solidFill>
                                    <a:latin typeface="Cambria Math" panose="02040503050406030204" pitchFamily="18" charset="0"/>
                                    <a:ea typeface="Cambria Math" panose="02040503050406030204" pitchFamily="18" charset="0"/>
                                  </a:rPr>
                                  <m:t>𝑁</m:t>
                                </m:r>
                                <m:r>
                                  <a:rPr lang="en-US" sz="2200" i="1">
                                    <a:solidFill>
                                      <a:srgbClr val="002060"/>
                                    </a:solidFill>
                                    <a:latin typeface="Cambria Math" panose="02040503050406030204" pitchFamily="18" charset="0"/>
                                    <a:ea typeface="Cambria Math" panose="02040503050406030204" pitchFamily="18" charset="0"/>
                                  </a:rPr>
                                  <m:t>−1</m:t>
                                </m:r>
                              </m:sup>
                              <m:e>
                                <m:sSub>
                                  <m:sSubPr>
                                    <m:ctrlPr>
                                      <a:rPr lang="en-US" sz="2200" i="1">
                                        <a:solidFill>
                                          <a:srgbClr val="002060"/>
                                        </a:solidFill>
                                        <a:latin typeface="Cambria Math" panose="02040503050406030204" pitchFamily="18" charset="0"/>
                                        <a:ea typeface="Cambria Math" panose="02040503050406030204" pitchFamily="18" charset="0"/>
                                      </a:rPr>
                                    </m:ctrlPr>
                                  </m:sSubPr>
                                  <m:e>
                                    <m:r>
                                      <a:rPr lang="en-US" sz="2200" i="1">
                                        <a:solidFill>
                                          <a:srgbClr val="002060"/>
                                        </a:solidFill>
                                        <a:latin typeface="Cambria Math" panose="02040503050406030204" pitchFamily="18" charset="0"/>
                                        <a:ea typeface="Cambria Math" panose="02040503050406030204" pitchFamily="18" charset="0"/>
                                      </a:rPr>
                                      <m:t>𝑥</m:t>
                                    </m:r>
                                  </m:e>
                                  <m:sub>
                                    <m:r>
                                      <a:rPr lang="en-US" sz="2200" i="1">
                                        <a:solidFill>
                                          <a:srgbClr val="002060"/>
                                        </a:solidFill>
                                        <a:latin typeface="Cambria Math" panose="02040503050406030204" pitchFamily="18" charset="0"/>
                                        <a:ea typeface="Cambria Math" panose="02040503050406030204" pitchFamily="18" charset="0"/>
                                      </a:rPr>
                                      <m:t>𝑛</m:t>
                                    </m:r>
                                  </m:sub>
                                </m:sSub>
                                <m:sSup>
                                  <m:sSupPr>
                                    <m:ctrlPr>
                                      <a:rPr lang="en-US" sz="2200" i="1">
                                        <a:solidFill>
                                          <a:srgbClr val="002060"/>
                                        </a:solidFill>
                                        <a:latin typeface="Cambria Math" panose="02040503050406030204" pitchFamily="18" charset="0"/>
                                        <a:ea typeface="Cambria Math" panose="02040503050406030204" pitchFamily="18" charset="0"/>
                                      </a:rPr>
                                    </m:ctrlPr>
                                  </m:sSupPr>
                                  <m:e>
                                    <m:r>
                                      <a:rPr lang="en-US" sz="2200" i="1">
                                        <a:solidFill>
                                          <a:srgbClr val="002060"/>
                                        </a:solidFill>
                                        <a:latin typeface="Cambria Math" panose="02040503050406030204" pitchFamily="18" charset="0"/>
                                        <a:ea typeface="Cambria Math" panose="02040503050406030204" pitchFamily="18" charset="0"/>
                                      </a:rPr>
                                      <m:t>𝜔</m:t>
                                    </m:r>
                                  </m:e>
                                  <m:sup>
                                    <m:r>
                                      <a:rPr lang="en-US" sz="2200" i="1">
                                        <a:solidFill>
                                          <a:srgbClr val="002060"/>
                                        </a:solidFill>
                                        <a:latin typeface="Cambria Math" panose="02040503050406030204" pitchFamily="18" charset="0"/>
                                        <a:ea typeface="Cambria Math" panose="02040503050406030204" pitchFamily="18" charset="0"/>
                                      </a:rPr>
                                      <m:t>𝑛𝑘</m:t>
                                    </m:r>
                                  </m:sup>
                                </m:sSup>
                              </m:e>
                            </m:nary>
                            <m:r>
                              <a:rPr lang="en-US" sz="2200" i="1">
                                <a:solidFill>
                                  <a:srgbClr val="002060"/>
                                </a:solidFill>
                                <a:latin typeface="Cambria Math" panose="02040503050406030204" pitchFamily="18" charset="0"/>
                                <a:ea typeface="Cambria Math" panose="02040503050406030204" pitchFamily="18" charset="0"/>
                              </a:rPr>
                              <m:t>=</m:t>
                            </m:r>
                            <m:f>
                              <m:fPr>
                                <m:ctrlPr>
                                  <a:rPr lang="en-US" sz="2200" i="1">
                                    <a:solidFill>
                                      <a:srgbClr val="002060"/>
                                    </a:solidFill>
                                    <a:latin typeface="Cambria Math" panose="02040503050406030204" pitchFamily="18" charset="0"/>
                                    <a:ea typeface="Cambria Math" panose="02040503050406030204" pitchFamily="18" charset="0"/>
                                  </a:rPr>
                                </m:ctrlPr>
                              </m:fPr>
                              <m:num>
                                <m:r>
                                  <a:rPr lang="en-US" sz="2200" i="1">
                                    <a:solidFill>
                                      <a:srgbClr val="002060"/>
                                    </a:solidFill>
                                    <a:latin typeface="Cambria Math" panose="02040503050406030204" pitchFamily="18" charset="0"/>
                                    <a:ea typeface="Cambria Math" panose="02040503050406030204" pitchFamily="18" charset="0"/>
                                  </a:rPr>
                                  <m:t>1</m:t>
                                </m:r>
                              </m:num>
                              <m:den>
                                <m:rad>
                                  <m:radPr>
                                    <m:degHide m:val="on"/>
                                    <m:ctrlPr>
                                      <a:rPr lang="en-US" sz="2200" i="1">
                                        <a:solidFill>
                                          <a:srgbClr val="002060"/>
                                        </a:solidFill>
                                        <a:latin typeface="Cambria Math" panose="02040503050406030204" pitchFamily="18" charset="0"/>
                                        <a:ea typeface="Cambria Math" panose="02040503050406030204" pitchFamily="18" charset="0"/>
                                      </a:rPr>
                                    </m:ctrlPr>
                                  </m:radPr>
                                  <m:deg/>
                                  <m:e>
                                    <m:r>
                                      <a:rPr lang="en-US" sz="2200" i="1">
                                        <a:solidFill>
                                          <a:srgbClr val="002060"/>
                                        </a:solidFill>
                                        <a:latin typeface="Cambria Math" panose="02040503050406030204" pitchFamily="18" charset="0"/>
                                        <a:ea typeface="Cambria Math" panose="02040503050406030204" pitchFamily="18" charset="0"/>
                                      </a:rPr>
                                      <m:t>𝑁</m:t>
                                    </m:r>
                                  </m:e>
                                </m:rad>
                              </m:den>
                            </m:f>
                            <m:nary>
                              <m:naryPr>
                                <m:chr m:val="∑"/>
                                <m:ctrlPr>
                                  <a:rPr lang="en-US" sz="2200" i="1">
                                    <a:solidFill>
                                      <a:srgbClr val="002060"/>
                                    </a:solidFill>
                                    <a:latin typeface="Cambria Math" panose="02040503050406030204" pitchFamily="18" charset="0"/>
                                    <a:ea typeface="Cambria Math" panose="02040503050406030204" pitchFamily="18" charset="0"/>
                                  </a:rPr>
                                </m:ctrlPr>
                              </m:naryPr>
                              <m:sub>
                                <m:r>
                                  <a:rPr lang="en-US" sz="2200" i="1">
                                    <a:solidFill>
                                      <a:srgbClr val="002060"/>
                                    </a:solidFill>
                                    <a:latin typeface="Cambria Math" panose="02040503050406030204" pitchFamily="18" charset="0"/>
                                    <a:ea typeface="Cambria Math" panose="02040503050406030204" pitchFamily="18" charset="0"/>
                                  </a:rPr>
                                  <m:t>𝑛</m:t>
                                </m:r>
                                <m:r>
                                  <a:rPr lang="en-US" sz="2200" i="1">
                                    <a:solidFill>
                                      <a:srgbClr val="002060"/>
                                    </a:solidFill>
                                    <a:latin typeface="Cambria Math" panose="02040503050406030204" pitchFamily="18" charset="0"/>
                                    <a:ea typeface="Cambria Math" panose="02040503050406030204" pitchFamily="18" charset="0"/>
                                  </a:rPr>
                                  <m:t>=0</m:t>
                                </m:r>
                              </m:sub>
                              <m:sup>
                                <m:r>
                                  <a:rPr lang="en-US" sz="2200" i="1">
                                    <a:solidFill>
                                      <a:srgbClr val="002060"/>
                                    </a:solidFill>
                                    <a:latin typeface="Cambria Math" panose="02040503050406030204" pitchFamily="18" charset="0"/>
                                    <a:ea typeface="Cambria Math" panose="02040503050406030204" pitchFamily="18" charset="0"/>
                                  </a:rPr>
                                  <m:t>𝑁</m:t>
                                </m:r>
                                <m:r>
                                  <a:rPr lang="en-US" sz="2200" i="1">
                                    <a:solidFill>
                                      <a:srgbClr val="002060"/>
                                    </a:solidFill>
                                    <a:latin typeface="Cambria Math" panose="02040503050406030204" pitchFamily="18" charset="0"/>
                                    <a:ea typeface="Cambria Math" panose="02040503050406030204" pitchFamily="18" charset="0"/>
                                  </a:rPr>
                                  <m:t>−1</m:t>
                                </m:r>
                              </m:sup>
                              <m:e>
                                <m:sSub>
                                  <m:sSubPr>
                                    <m:ctrlPr>
                                      <a:rPr lang="en-US" sz="2200" i="1">
                                        <a:solidFill>
                                          <a:srgbClr val="002060"/>
                                        </a:solidFill>
                                        <a:latin typeface="Cambria Math" panose="02040503050406030204" pitchFamily="18" charset="0"/>
                                        <a:ea typeface="Cambria Math" panose="02040503050406030204" pitchFamily="18" charset="0"/>
                                      </a:rPr>
                                    </m:ctrlPr>
                                  </m:sSubPr>
                                  <m:e>
                                    <m:r>
                                      <a:rPr lang="en-US" sz="2200" i="1">
                                        <a:solidFill>
                                          <a:srgbClr val="002060"/>
                                        </a:solidFill>
                                        <a:latin typeface="Cambria Math" panose="02040503050406030204" pitchFamily="18" charset="0"/>
                                        <a:ea typeface="Cambria Math" panose="02040503050406030204" pitchFamily="18" charset="0"/>
                                      </a:rPr>
                                      <m:t>𝑥</m:t>
                                    </m:r>
                                  </m:e>
                                  <m:sub>
                                    <m:r>
                                      <a:rPr lang="en-US" sz="2200" i="1">
                                        <a:solidFill>
                                          <a:srgbClr val="002060"/>
                                        </a:solidFill>
                                        <a:latin typeface="Cambria Math" panose="02040503050406030204" pitchFamily="18" charset="0"/>
                                        <a:ea typeface="Cambria Math" panose="02040503050406030204" pitchFamily="18" charset="0"/>
                                      </a:rPr>
                                      <m:t>𝑛</m:t>
                                    </m:r>
                                  </m:sub>
                                </m:sSub>
                                <m:sSup>
                                  <m:sSupPr>
                                    <m:ctrlPr>
                                      <a:rPr lang="en-US" sz="2200" i="1">
                                        <a:solidFill>
                                          <a:srgbClr val="002060"/>
                                        </a:solidFill>
                                        <a:latin typeface="Cambria Math" panose="02040503050406030204" pitchFamily="18" charset="0"/>
                                        <a:ea typeface="Cambria Math" panose="02040503050406030204" pitchFamily="18" charset="0"/>
                                      </a:rPr>
                                    </m:ctrlPr>
                                  </m:sSupPr>
                                  <m:e>
                                    <m:r>
                                      <a:rPr lang="en-US" sz="2200" i="1">
                                        <a:solidFill>
                                          <a:srgbClr val="002060"/>
                                        </a:solidFill>
                                        <a:latin typeface="Cambria Math" panose="02040503050406030204" pitchFamily="18" charset="0"/>
                                        <a:ea typeface="Cambria Math" panose="02040503050406030204" pitchFamily="18" charset="0"/>
                                      </a:rPr>
                                      <m:t>(−1)</m:t>
                                    </m:r>
                                  </m:e>
                                  <m:sup>
                                    <m:r>
                                      <a:rPr lang="en-US" sz="2200" i="1">
                                        <a:solidFill>
                                          <a:srgbClr val="002060"/>
                                        </a:solidFill>
                                        <a:latin typeface="Cambria Math" panose="02040503050406030204" pitchFamily="18" charset="0"/>
                                        <a:ea typeface="Cambria Math" panose="02040503050406030204" pitchFamily="18" charset="0"/>
                                      </a:rPr>
                                      <m:t>𝑛𝑘</m:t>
                                    </m:r>
                                  </m:sup>
                                </m:sSup>
                              </m:e>
                            </m:nary>
                            <m:r>
                              <m:rPr>
                                <m:nor/>
                              </m:rPr>
                              <a:rPr lang="en-US" sz="2200" dirty="0"/>
                              <m:t> </m:t>
                            </m:r>
                          </m:e>
                        </m:nary>
                      </m:oMath>
                    </m:oMathPara>
                  </a14:m>
                  <a:endParaRPr lang="en-US" sz="2200" dirty="0"/>
                </a:p>
              </p:txBody>
            </p:sp>
          </mc:Choice>
          <mc:Fallback xmlns="">
            <p:sp>
              <p:nvSpPr>
                <p:cNvPr id="11" name="Rectangle 10">
                  <a:extLst>
                    <a:ext uri="{FF2B5EF4-FFF2-40B4-BE49-F238E27FC236}">
                      <a16:creationId xmlns:a16="http://schemas.microsoft.com/office/drawing/2014/main" id="{3E5104C4-867E-B64A-BBAE-7F7C576D8A0C}"/>
                    </a:ext>
                  </a:extLst>
                </p:cNvPr>
                <p:cNvSpPr>
                  <a:spLocks noRot="1" noChangeAspect="1" noMove="1" noResize="1" noEditPoints="1" noAdjustHandles="1" noChangeArrowheads="1" noChangeShapeType="1" noTextEdit="1"/>
                </p:cNvSpPr>
                <p:nvPr/>
              </p:nvSpPr>
              <p:spPr>
                <a:xfrm>
                  <a:off x="280492" y="3078251"/>
                  <a:ext cx="11478462" cy="1044581"/>
                </a:xfrm>
                <a:prstGeom prst="rect">
                  <a:avLst/>
                </a:prstGeom>
                <a:blipFill>
                  <a:blip r:embed="rId4"/>
                  <a:stretch>
                    <a:fillRect t="-97619" b="-153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1B04988E-C60F-5A44-BF7F-026064454B47}"/>
                    </a:ext>
                  </a:extLst>
                </p:cNvPr>
                <p:cNvSpPr/>
                <p:nvPr/>
              </p:nvSpPr>
              <p:spPr>
                <a:xfrm>
                  <a:off x="323804" y="4162438"/>
                  <a:ext cx="10913244" cy="83503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ea typeface="Cambria Math" panose="02040503050406030204" pitchFamily="18" charset="0"/>
                          </a:rPr>
                          <m:t>𝑄𝐹𝑇</m:t>
                        </m:r>
                        <m:r>
                          <a:rPr lang="en-US" sz="2200" i="1" smtClean="0">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𝑥</m:t>
                            </m:r>
                          </m:e>
                        </m:d>
                        <m:r>
                          <a:rPr lang="en-US" sz="2200" i="1">
                            <a:latin typeface="Cambria Math" panose="02040503050406030204" pitchFamily="18" charset="0"/>
                            <a:ea typeface="Cambria Math" panose="02040503050406030204" pitchFamily="18" charset="0"/>
                          </a:rPr>
                          <m:t>=</m:t>
                        </m:r>
                        <m:f>
                          <m:fPr>
                            <m:ctrlPr>
                              <a:rPr lang="en-US" sz="2200" i="1" smtClean="0">
                                <a:solidFill>
                                  <a:srgbClr val="002060"/>
                                </a:solidFill>
                                <a:latin typeface="Cambria Math" panose="02040503050406030204" pitchFamily="18" charset="0"/>
                                <a:ea typeface="Cambria Math" panose="02040503050406030204" pitchFamily="18" charset="0"/>
                              </a:rPr>
                            </m:ctrlPr>
                          </m:fPr>
                          <m:num>
                            <m:sSub>
                              <m:sSubPr>
                                <m:ctrlPr>
                                  <a:rPr lang="en-US" sz="2200" i="1">
                                    <a:solidFill>
                                      <a:srgbClr val="002060"/>
                                    </a:solidFill>
                                    <a:latin typeface="Cambria Math" panose="02040503050406030204" pitchFamily="18" charset="0"/>
                                    <a:ea typeface="Cambria Math" panose="02040503050406030204" pitchFamily="18" charset="0"/>
                                  </a:rPr>
                                </m:ctrlPr>
                              </m:sSubPr>
                              <m:e>
                                <m:r>
                                  <a:rPr lang="en-US" sz="2200" i="1">
                                    <a:solidFill>
                                      <a:srgbClr val="002060"/>
                                    </a:solidFill>
                                    <a:latin typeface="Cambria Math" panose="02040503050406030204" pitchFamily="18" charset="0"/>
                                    <a:ea typeface="Cambria Math" panose="02040503050406030204" pitchFamily="18" charset="0"/>
                                  </a:rPr>
                                  <m:t>𝑥</m:t>
                                </m:r>
                              </m:e>
                              <m:sub>
                                <m:r>
                                  <a:rPr lang="en-US" sz="2200" b="0" i="1" smtClean="0">
                                    <a:solidFill>
                                      <a:srgbClr val="002060"/>
                                    </a:solidFill>
                                    <a:latin typeface="Cambria Math" panose="02040503050406030204" pitchFamily="18" charset="0"/>
                                    <a:ea typeface="Cambria Math" panose="02040503050406030204" pitchFamily="18" charset="0"/>
                                  </a:rPr>
                                  <m:t>0</m:t>
                                </m:r>
                              </m:sub>
                            </m:sSub>
                            <m:sSup>
                              <m:sSupPr>
                                <m:ctrlPr>
                                  <a:rPr lang="en-US" sz="2200" i="1" smtClean="0">
                                    <a:solidFill>
                                      <a:srgbClr val="002060"/>
                                    </a:solidFill>
                                    <a:latin typeface="Cambria Math" panose="02040503050406030204" pitchFamily="18" charset="0"/>
                                    <a:ea typeface="Cambria Math" panose="02040503050406030204" pitchFamily="18" charset="0"/>
                                  </a:rPr>
                                </m:ctrlPr>
                              </m:sSupPr>
                              <m:e>
                                <m:r>
                                  <a:rPr lang="en-US" sz="2200" b="0" i="1" smtClean="0">
                                    <a:solidFill>
                                      <a:srgbClr val="002060"/>
                                    </a:solidFill>
                                    <a:latin typeface="Cambria Math" panose="02040503050406030204" pitchFamily="18" charset="0"/>
                                    <a:ea typeface="Cambria Math" panose="02040503050406030204" pitchFamily="18" charset="0"/>
                                  </a:rPr>
                                  <m:t>(−1)</m:t>
                                </m:r>
                              </m:e>
                              <m:sup>
                                <m:r>
                                  <a:rPr lang="en-US" sz="2200" b="0" i="1" smtClean="0">
                                    <a:solidFill>
                                      <a:srgbClr val="002060"/>
                                    </a:solidFill>
                                    <a:latin typeface="Cambria Math" panose="02040503050406030204" pitchFamily="18" charset="0"/>
                                    <a:ea typeface="Cambria Math" panose="02040503050406030204" pitchFamily="18" charset="0"/>
                                  </a:rPr>
                                  <m:t>00</m:t>
                                </m:r>
                              </m:sup>
                            </m:sSup>
                            <m:r>
                              <a:rPr lang="en-US" sz="2200" b="0" i="1" smtClean="0">
                                <a:solidFill>
                                  <a:srgbClr val="002060"/>
                                </a:solidFill>
                                <a:latin typeface="Cambria Math" panose="02040503050406030204" pitchFamily="18" charset="0"/>
                                <a:ea typeface="Cambria Math" panose="02040503050406030204" pitchFamily="18" charset="0"/>
                              </a:rPr>
                              <m:t>+</m:t>
                            </m:r>
                            <m:sSub>
                              <m:sSubPr>
                                <m:ctrlPr>
                                  <a:rPr lang="en-US" sz="2200" i="1">
                                    <a:solidFill>
                                      <a:srgbClr val="002060"/>
                                    </a:solidFill>
                                    <a:latin typeface="Cambria Math" panose="02040503050406030204" pitchFamily="18" charset="0"/>
                                    <a:ea typeface="Cambria Math" panose="02040503050406030204" pitchFamily="18" charset="0"/>
                                  </a:rPr>
                                </m:ctrlPr>
                              </m:sSubPr>
                              <m:e>
                                <m:r>
                                  <a:rPr lang="en-US" sz="2200" i="1">
                                    <a:solidFill>
                                      <a:srgbClr val="002060"/>
                                    </a:solidFill>
                                    <a:latin typeface="Cambria Math" panose="02040503050406030204" pitchFamily="18" charset="0"/>
                                    <a:ea typeface="Cambria Math" panose="02040503050406030204" pitchFamily="18" charset="0"/>
                                  </a:rPr>
                                  <m:t>𝑥</m:t>
                                </m:r>
                              </m:e>
                              <m:sub>
                                <m:r>
                                  <a:rPr lang="en-US" sz="2200" b="0" i="1" smtClean="0">
                                    <a:solidFill>
                                      <a:srgbClr val="002060"/>
                                    </a:solidFill>
                                    <a:latin typeface="Cambria Math" panose="02040503050406030204" pitchFamily="18" charset="0"/>
                                    <a:ea typeface="Cambria Math" panose="02040503050406030204" pitchFamily="18" charset="0"/>
                                  </a:rPr>
                                  <m:t>1</m:t>
                                </m:r>
                              </m:sub>
                            </m:sSub>
                            <m:sSup>
                              <m:sSupPr>
                                <m:ctrlPr>
                                  <a:rPr lang="en-US" sz="2200" i="1">
                                    <a:solidFill>
                                      <a:srgbClr val="002060"/>
                                    </a:solidFill>
                                    <a:latin typeface="Cambria Math" panose="02040503050406030204" pitchFamily="18" charset="0"/>
                                    <a:ea typeface="Cambria Math" panose="02040503050406030204" pitchFamily="18" charset="0"/>
                                  </a:rPr>
                                </m:ctrlPr>
                              </m:sSupPr>
                              <m:e>
                                <m:r>
                                  <a:rPr lang="en-US" sz="2200" i="1">
                                    <a:solidFill>
                                      <a:srgbClr val="002060"/>
                                    </a:solidFill>
                                    <a:latin typeface="Cambria Math" panose="02040503050406030204" pitchFamily="18" charset="0"/>
                                    <a:ea typeface="Cambria Math" panose="02040503050406030204" pitchFamily="18" charset="0"/>
                                  </a:rPr>
                                  <m:t>(−1)</m:t>
                                </m:r>
                              </m:e>
                              <m:sup>
                                <m:r>
                                  <a:rPr lang="en-US" sz="2200" b="0" i="1" smtClean="0">
                                    <a:solidFill>
                                      <a:srgbClr val="002060"/>
                                    </a:solidFill>
                                    <a:latin typeface="Cambria Math" panose="02040503050406030204" pitchFamily="18" charset="0"/>
                                    <a:ea typeface="Cambria Math" panose="02040503050406030204" pitchFamily="18" charset="0"/>
                                  </a:rPr>
                                  <m:t>1</m:t>
                                </m:r>
                                <m:r>
                                  <a:rPr lang="en-US" sz="2200" i="1">
                                    <a:solidFill>
                                      <a:srgbClr val="002060"/>
                                    </a:solidFill>
                                    <a:latin typeface="Cambria Math" panose="02040503050406030204" pitchFamily="18" charset="0"/>
                                    <a:ea typeface="Cambria Math" panose="02040503050406030204" pitchFamily="18" charset="0"/>
                                  </a:rPr>
                                  <m:t>0</m:t>
                                </m:r>
                              </m:sup>
                            </m:sSup>
                          </m:num>
                          <m:den>
                            <m:rad>
                              <m:radPr>
                                <m:degHide m:val="on"/>
                                <m:ctrlPr>
                                  <a:rPr lang="en-US" sz="2200" i="1">
                                    <a:solidFill>
                                      <a:srgbClr val="002060"/>
                                    </a:solidFill>
                                    <a:latin typeface="Cambria Math" panose="02040503050406030204" pitchFamily="18" charset="0"/>
                                    <a:ea typeface="Cambria Math" panose="02040503050406030204" pitchFamily="18" charset="0"/>
                                  </a:rPr>
                                </m:ctrlPr>
                              </m:radPr>
                              <m:deg/>
                              <m:e>
                                <m:r>
                                  <a:rPr lang="en-US" sz="2200" b="0" i="1" smtClean="0">
                                    <a:solidFill>
                                      <a:srgbClr val="002060"/>
                                    </a:solidFill>
                                    <a:latin typeface="Cambria Math" panose="02040503050406030204" pitchFamily="18" charset="0"/>
                                    <a:ea typeface="Cambria Math" panose="02040503050406030204" pitchFamily="18" charset="0"/>
                                  </a:rPr>
                                  <m:t>2</m:t>
                                </m:r>
                              </m:e>
                            </m:rad>
                          </m:den>
                        </m:f>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0</m:t>
                            </m:r>
                          </m:e>
                        </m:d>
                        <m:r>
                          <a:rPr lang="en-US" sz="2200" b="0" i="1" smtClean="0">
                            <a:solidFill>
                              <a:srgbClr val="002060"/>
                            </a:solidFill>
                            <a:latin typeface="Cambria Math" panose="02040503050406030204" pitchFamily="18" charset="0"/>
                            <a:ea typeface="Cambria Math" panose="02040503050406030204" pitchFamily="18" charset="0"/>
                          </a:rPr>
                          <m:t>+</m:t>
                        </m:r>
                        <m:f>
                          <m:fPr>
                            <m:ctrlPr>
                              <a:rPr lang="en-US" sz="2200" i="1">
                                <a:solidFill>
                                  <a:srgbClr val="002060"/>
                                </a:solidFill>
                                <a:latin typeface="Cambria Math" panose="02040503050406030204" pitchFamily="18" charset="0"/>
                                <a:ea typeface="Cambria Math" panose="02040503050406030204" pitchFamily="18" charset="0"/>
                              </a:rPr>
                            </m:ctrlPr>
                          </m:fPr>
                          <m:num>
                            <m:sSub>
                              <m:sSubPr>
                                <m:ctrlPr>
                                  <a:rPr lang="en-US" sz="2200" i="1">
                                    <a:solidFill>
                                      <a:srgbClr val="002060"/>
                                    </a:solidFill>
                                    <a:latin typeface="Cambria Math" panose="02040503050406030204" pitchFamily="18" charset="0"/>
                                    <a:ea typeface="Cambria Math" panose="02040503050406030204" pitchFamily="18" charset="0"/>
                                  </a:rPr>
                                </m:ctrlPr>
                              </m:sSubPr>
                              <m:e>
                                <m:r>
                                  <a:rPr lang="en-US" sz="2200" i="1">
                                    <a:solidFill>
                                      <a:srgbClr val="002060"/>
                                    </a:solidFill>
                                    <a:latin typeface="Cambria Math" panose="02040503050406030204" pitchFamily="18" charset="0"/>
                                    <a:ea typeface="Cambria Math" panose="02040503050406030204" pitchFamily="18" charset="0"/>
                                  </a:rPr>
                                  <m:t>𝑥</m:t>
                                </m:r>
                              </m:e>
                              <m:sub>
                                <m:r>
                                  <a:rPr lang="en-US" sz="2200" i="1">
                                    <a:solidFill>
                                      <a:srgbClr val="002060"/>
                                    </a:solidFill>
                                    <a:latin typeface="Cambria Math" panose="02040503050406030204" pitchFamily="18" charset="0"/>
                                    <a:ea typeface="Cambria Math" panose="02040503050406030204" pitchFamily="18" charset="0"/>
                                  </a:rPr>
                                  <m:t>0</m:t>
                                </m:r>
                              </m:sub>
                            </m:sSub>
                            <m:sSup>
                              <m:sSupPr>
                                <m:ctrlPr>
                                  <a:rPr lang="en-US" sz="2200" i="1">
                                    <a:solidFill>
                                      <a:srgbClr val="002060"/>
                                    </a:solidFill>
                                    <a:latin typeface="Cambria Math" panose="02040503050406030204" pitchFamily="18" charset="0"/>
                                    <a:ea typeface="Cambria Math" panose="02040503050406030204" pitchFamily="18" charset="0"/>
                                  </a:rPr>
                                </m:ctrlPr>
                              </m:sSupPr>
                              <m:e>
                                <m:d>
                                  <m:dPr>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−1</m:t>
                                    </m:r>
                                  </m:e>
                                </m:d>
                              </m:e>
                              <m:sup>
                                <m:r>
                                  <a:rPr lang="en-US" sz="2200" i="1">
                                    <a:solidFill>
                                      <a:srgbClr val="002060"/>
                                    </a:solidFill>
                                    <a:latin typeface="Cambria Math" panose="02040503050406030204" pitchFamily="18" charset="0"/>
                                    <a:ea typeface="Cambria Math" panose="02040503050406030204" pitchFamily="18" charset="0"/>
                                  </a:rPr>
                                  <m:t>0</m:t>
                                </m:r>
                                <m:r>
                                  <a:rPr lang="en-US" sz="2200" b="0" i="1" smtClean="0">
                                    <a:solidFill>
                                      <a:srgbClr val="002060"/>
                                    </a:solidFill>
                                    <a:latin typeface="Cambria Math" panose="02040503050406030204" pitchFamily="18" charset="0"/>
                                    <a:ea typeface="Cambria Math" panose="02040503050406030204" pitchFamily="18" charset="0"/>
                                  </a:rPr>
                                  <m:t>1</m:t>
                                </m:r>
                              </m:sup>
                            </m:sSup>
                            <m:r>
                              <a:rPr lang="en-US" sz="2200" i="1">
                                <a:solidFill>
                                  <a:srgbClr val="002060"/>
                                </a:solidFill>
                                <a:latin typeface="Cambria Math" panose="02040503050406030204" pitchFamily="18" charset="0"/>
                                <a:ea typeface="Cambria Math" panose="02040503050406030204" pitchFamily="18" charset="0"/>
                              </a:rPr>
                              <m:t>+</m:t>
                            </m:r>
                            <m:sSub>
                              <m:sSubPr>
                                <m:ctrlPr>
                                  <a:rPr lang="en-US" sz="2200" i="1">
                                    <a:solidFill>
                                      <a:srgbClr val="002060"/>
                                    </a:solidFill>
                                    <a:latin typeface="Cambria Math" panose="02040503050406030204" pitchFamily="18" charset="0"/>
                                    <a:ea typeface="Cambria Math" panose="02040503050406030204" pitchFamily="18" charset="0"/>
                                  </a:rPr>
                                </m:ctrlPr>
                              </m:sSubPr>
                              <m:e>
                                <m:r>
                                  <a:rPr lang="en-US" sz="2200" i="1">
                                    <a:solidFill>
                                      <a:srgbClr val="002060"/>
                                    </a:solidFill>
                                    <a:latin typeface="Cambria Math" panose="02040503050406030204" pitchFamily="18" charset="0"/>
                                    <a:ea typeface="Cambria Math" panose="02040503050406030204" pitchFamily="18" charset="0"/>
                                  </a:rPr>
                                  <m:t>𝑥</m:t>
                                </m:r>
                              </m:e>
                              <m:sub>
                                <m:r>
                                  <a:rPr lang="en-US" sz="2200" i="1">
                                    <a:solidFill>
                                      <a:srgbClr val="002060"/>
                                    </a:solidFill>
                                    <a:latin typeface="Cambria Math" panose="02040503050406030204" pitchFamily="18" charset="0"/>
                                    <a:ea typeface="Cambria Math" panose="02040503050406030204" pitchFamily="18" charset="0"/>
                                  </a:rPr>
                                  <m:t>1</m:t>
                                </m:r>
                              </m:sub>
                            </m:sSub>
                            <m:sSup>
                              <m:sSupPr>
                                <m:ctrlPr>
                                  <a:rPr lang="en-US" sz="2200" i="1">
                                    <a:solidFill>
                                      <a:srgbClr val="002060"/>
                                    </a:solidFill>
                                    <a:latin typeface="Cambria Math" panose="02040503050406030204" pitchFamily="18" charset="0"/>
                                    <a:ea typeface="Cambria Math" panose="02040503050406030204" pitchFamily="18" charset="0"/>
                                  </a:rPr>
                                </m:ctrlPr>
                              </m:sSupPr>
                              <m:e>
                                <m:d>
                                  <m:dPr>
                                    <m:ctrlPr>
                                      <a:rPr lang="en-US" sz="2200" i="1">
                                        <a:solidFill>
                                          <a:srgbClr val="002060"/>
                                        </a:solidFill>
                                        <a:latin typeface="Cambria Math" panose="02040503050406030204" pitchFamily="18" charset="0"/>
                                        <a:ea typeface="Cambria Math" panose="02040503050406030204" pitchFamily="18" charset="0"/>
                                      </a:rPr>
                                    </m:ctrlPr>
                                  </m:dPr>
                                  <m:e>
                                    <m:r>
                                      <a:rPr lang="en-US" sz="2200" i="1">
                                        <a:solidFill>
                                          <a:srgbClr val="002060"/>
                                        </a:solidFill>
                                        <a:latin typeface="Cambria Math" panose="02040503050406030204" pitchFamily="18" charset="0"/>
                                        <a:ea typeface="Cambria Math" panose="02040503050406030204" pitchFamily="18" charset="0"/>
                                      </a:rPr>
                                      <m:t>−1</m:t>
                                    </m:r>
                                  </m:e>
                                </m:d>
                              </m:e>
                              <m:sup>
                                <m:r>
                                  <a:rPr lang="en-US" sz="2200" i="1">
                                    <a:solidFill>
                                      <a:srgbClr val="002060"/>
                                    </a:solidFill>
                                    <a:latin typeface="Cambria Math" panose="02040503050406030204" pitchFamily="18" charset="0"/>
                                    <a:ea typeface="Cambria Math" panose="02040503050406030204" pitchFamily="18" charset="0"/>
                                  </a:rPr>
                                  <m:t>1</m:t>
                                </m:r>
                                <m:r>
                                  <a:rPr lang="en-US" sz="2200" b="0" i="1" smtClean="0">
                                    <a:solidFill>
                                      <a:srgbClr val="002060"/>
                                    </a:solidFill>
                                    <a:latin typeface="Cambria Math" panose="02040503050406030204" pitchFamily="18" charset="0"/>
                                    <a:ea typeface="Cambria Math" panose="02040503050406030204" pitchFamily="18" charset="0"/>
                                  </a:rPr>
                                  <m:t>1</m:t>
                                </m:r>
                              </m:sup>
                            </m:sSup>
                          </m:num>
                          <m:den>
                            <m:rad>
                              <m:radPr>
                                <m:degHide m:val="on"/>
                                <m:ctrlPr>
                                  <a:rPr lang="en-US" sz="2200" i="1">
                                    <a:solidFill>
                                      <a:srgbClr val="002060"/>
                                    </a:solidFill>
                                    <a:latin typeface="Cambria Math" panose="02040503050406030204" pitchFamily="18" charset="0"/>
                                    <a:ea typeface="Cambria Math" panose="02040503050406030204" pitchFamily="18" charset="0"/>
                                  </a:rPr>
                                </m:ctrlPr>
                              </m:radPr>
                              <m:deg/>
                              <m:e>
                                <m:r>
                                  <a:rPr lang="en-US" sz="2200" i="1">
                                    <a:solidFill>
                                      <a:srgbClr val="002060"/>
                                    </a:solidFill>
                                    <a:latin typeface="Cambria Math" panose="02040503050406030204" pitchFamily="18" charset="0"/>
                                    <a:ea typeface="Cambria Math" panose="02040503050406030204" pitchFamily="18" charset="0"/>
                                  </a:rPr>
                                  <m:t>2</m:t>
                                </m:r>
                              </m:e>
                            </m:rad>
                          </m:den>
                        </m:f>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1</m:t>
                            </m:r>
                          </m:e>
                        </m:d>
                        <m:r>
                          <a:rPr lang="en-US" sz="2200" i="1">
                            <a:solidFill>
                              <a:srgbClr val="002060"/>
                            </a:solidFill>
                            <a:latin typeface="Cambria Math" panose="02040503050406030204" pitchFamily="18" charset="0"/>
                            <a:ea typeface="Cambria Math" panose="02040503050406030204" pitchFamily="18" charset="0"/>
                          </a:rPr>
                          <m:t>=</m:t>
                        </m:r>
                        <m:f>
                          <m:fPr>
                            <m:ctrlPr>
                              <a:rPr lang="en-US" sz="2200" i="1">
                                <a:solidFill>
                                  <a:srgbClr val="002060"/>
                                </a:solidFill>
                                <a:latin typeface="Cambria Math" panose="02040503050406030204" pitchFamily="18" charset="0"/>
                                <a:ea typeface="Cambria Math" panose="02040503050406030204" pitchFamily="18" charset="0"/>
                              </a:rPr>
                            </m:ctrlPr>
                          </m:fPr>
                          <m:num>
                            <m:sSub>
                              <m:sSubPr>
                                <m:ctrlPr>
                                  <a:rPr lang="en-US" sz="2200" i="1">
                                    <a:solidFill>
                                      <a:srgbClr val="002060"/>
                                    </a:solidFill>
                                    <a:latin typeface="Cambria Math" panose="02040503050406030204" pitchFamily="18" charset="0"/>
                                    <a:ea typeface="Cambria Math" panose="02040503050406030204" pitchFamily="18" charset="0"/>
                                  </a:rPr>
                                </m:ctrlPr>
                              </m:sSubPr>
                              <m:e>
                                <m:r>
                                  <a:rPr lang="en-US" sz="2200" i="1">
                                    <a:solidFill>
                                      <a:srgbClr val="002060"/>
                                    </a:solidFill>
                                    <a:latin typeface="Cambria Math" panose="02040503050406030204" pitchFamily="18" charset="0"/>
                                    <a:ea typeface="Cambria Math" panose="02040503050406030204" pitchFamily="18" charset="0"/>
                                  </a:rPr>
                                  <m:t>𝑥</m:t>
                                </m:r>
                              </m:e>
                              <m:sub>
                                <m:r>
                                  <a:rPr lang="en-US" sz="2200" i="1">
                                    <a:solidFill>
                                      <a:srgbClr val="002060"/>
                                    </a:solidFill>
                                    <a:latin typeface="Cambria Math" panose="02040503050406030204" pitchFamily="18" charset="0"/>
                                    <a:ea typeface="Cambria Math" panose="02040503050406030204" pitchFamily="18" charset="0"/>
                                  </a:rPr>
                                  <m:t>0</m:t>
                                </m:r>
                              </m:sub>
                            </m:sSub>
                            <m:r>
                              <a:rPr lang="en-US" sz="2200" i="1">
                                <a:solidFill>
                                  <a:srgbClr val="002060"/>
                                </a:solidFill>
                                <a:latin typeface="Cambria Math" panose="02040503050406030204" pitchFamily="18" charset="0"/>
                                <a:ea typeface="Cambria Math" panose="02040503050406030204" pitchFamily="18" charset="0"/>
                              </a:rPr>
                              <m:t>+</m:t>
                            </m:r>
                            <m:sSub>
                              <m:sSubPr>
                                <m:ctrlPr>
                                  <a:rPr lang="en-US" sz="2200" i="1">
                                    <a:solidFill>
                                      <a:srgbClr val="002060"/>
                                    </a:solidFill>
                                    <a:latin typeface="Cambria Math" panose="02040503050406030204" pitchFamily="18" charset="0"/>
                                    <a:ea typeface="Cambria Math" panose="02040503050406030204" pitchFamily="18" charset="0"/>
                                  </a:rPr>
                                </m:ctrlPr>
                              </m:sSubPr>
                              <m:e>
                                <m:r>
                                  <a:rPr lang="en-US" sz="2200" i="1">
                                    <a:solidFill>
                                      <a:srgbClr val="002060"/>
                                    </a:solidFill>
                                    <a:latin typeface="Cambria Math" panose="02040503050406030204" pitchFamily="18" charset="0"/>
                                    <a:ea typeface="Cambria Math" panose="02040503050406030204" pitchFamily="18" charset="0"/>
                                  </a:rPr>
                                  <m:t>𝑥</m:t>
                                </m:r>
                              </m:e>
                              <m:sub>
                                <m:r>
                                  <a:rPr lang="en-US" sz="2200" i="1">
                                    <a:solidFill>
                                      <a:srgbClr val="002060"/>
                                    </a:solidFill>
                                    <a:latin typeface="Cambria Math" panose="02040503050406030204" pitchFamily="18" charset="0"/>
                                    <a:ea typeface="Cambria Math" panose="02040503050406030204" pitchFamily="18" charset="0"/>
                                  </a:rPr>
                                  <m:t>1</m:t>
                                </m:r>
                              </m:sub>
                            </m:sSub>
                          </m:num>
                          <m:den>
                            <m:rad>
                              <m:radPr>
                                <m:degHide m:val="on"/>
                                <m:ctrlPr>
                                  <a:rPr lang="en-US" sz="2200" i="1">
                                    <a:solidFill>
                                      <a:srgbClr val="002060"/>
                                    </a:solidFill>
                                    <a:latin typeface="Cambria Math" panose="02040503050406030204" pitchFamily="18" charset="0"/>
                                    <a:ea typeface="Cambria Math" panose="02040503050406030204" pitchFamily="18" charset="0"/>
                                  </a:rPr>
                                </m:ctrlPr>
                              </m:radPr>
                              <m:deg/>
                              <m:e>
                                <m:r>
                                  <a:rPr lang="en-US" sz="2200" i="1">
                                    <a:solidFill>
                                      <a:srgbClr val="002060"/>
                                    </a:solidFill>
                                    <a:latin typeface="Cambria Math" panose="02040503050406030204" pitchFamily="18" charset="0"/>
                                    <a:ea typeface="Cambria Math" panose="02040503050406030204" pitchFamily="18" charset="0"/>
                                  </a:rPr>
                                  <m:t>2</m:t>
                                </m:r>
                              </m:e>
                            </m:rad>
                          </m:den>
                        </m:f>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0</m:t>
                            </m:r>
                          </m:e>
                        </m:d>
                        <m:r>
                          <a:rPr lang="en-US" sz="2200" b="0" i="1" smtClean="0">
                            <a:latin typeface="Cambria Math" panose="02040503050406030204" pitchFamily="18" charset="0"/>
                            <a:ea typeface="Cambria Math" panose="02040503050406030204" pitchFamily="18" charset="0"/>
                          </a:rPr>
                          <m:t>+</m:t>
                        </m:r>
                        <m:f>
                          <m:fPr>
                            <m:ctrlPr>
                              <a:rPr lang="en-US" sz="2200" i="1">
                                <a:solidFill>
                                  <a:srgbClr val="002060"/>
                                </a:solidFill>
                                <a:latin typeface="Cambria Math" panose="02040503050406030204" pitchFamily="18" charset="0"/>
                                <a:ea typeface="Cambria Math" panose="02040503050406030204" pitchFamily="18" charset="0"/>
                              </a:rPr>
                            </m:ctrlPr>
                          </m:fPr>
                          <m:num>
                            <m:sSub>
                              <m:sSubPr>
                                <m:ctrlPr>
                                  <a:rPr lang="en-US" sz="2200" i="1">
                                    <a:solidFill>
                                      <a:srgbClr val="002060"/>
                                    </a:solidFill>
                                    <a:latin typeface="Cambria Math" panose="02040503050406030204" pitchFamily="18" charset="0"/>
                                    <a:ea typeface="Cambria Math" panose="02040503050406030204" pitchFamily="18" charset="0"/>
                                  </a:rPr>
                                </m:ctrlPr>
                              </m:sSubPr>
                              <m:e>
                                <m:r>
                                  <a:rPr lang="en-US" sz="2200" i="1">
                                    <a:solidFill>
                                      <a:srgbClr val="002060"/>
                                    </a:solidFill>
                                    <a:latin typeface="Cambria Math" panose="02040503050406030204" pitchFamily="18" charset="0"/>
                                    <a:ea typeface="Cambria Math" panose="02040503050406030204" pitchFamily="18" charset="0"/>
                                  </a:rPr>
                                  <m:t>𝑥</m:t>
                                </m:r>
                              </m:e>
                              <m:sub>
                                <m:r>
                                  <a:rPr lang="en-US" sz="2200" i="1">
                                    <a:solidFill>
                                      <a:srgbClr val="002060"/>
                                    </a:solidFill>
                                    <a:latin typeface="Cambria Math" panose="02040503050406030204" pitchFamily="18" charset="0"/>
                                    <a:ea typeface="Cambria Math" panose="02040503050406030204" pitchFamily="18" charset="0"/>
                                  </a:rPr>
                                  <m:t>0</m:t>
                                </m:r>
                              </m:sub>
                            </m:sSub>
                            <m:r>
                              <a:rPr lang="en-US" sz="2200" b="0" i="1" smtClean="0">
                                <a:solidFill>
                                  <a:srgbClr val="002060"/>
                                </a:solidFill>
                                <a:latin typeface="Cambria Math" panose="02040503050406030204" pitchFamily="18" charset="0"/>
                                <a:ea typeface="Cambria Math" panose="02040503050406030204" pitchFamily="18" charset="0"/>
                              </a:rPr>
                              <m:t>−</m:t>
                            </m:r>
                            <m:sSub>
                              <m:sSubPr>
                                <m:ctrlPr>
                                  <a:rPr lang="en-US" sz="2200" i="1">
                                    <a:solidFill>
                                      <a:srgbClr val="002060"/>
                                    </a:solidFill>
                                    <a:latin typeface="Cambria Math" panose="02040503050406030204" pitchFamily="18" charset="0"/>
                                    <a:ea typeface="Cambria Math" panose="02040503050406030204" pitchFamily="18" charset="0"/>
                                  </a:rPr>
                                </m:ctrlPr>
                              </m:sSubPr>
                              <m:e>
                                <m:r>
                                  <a:rPr lang="en-US" sz="2200" i="1">
                                    <a:solidFill>
                                      <a:srgbClr val="002060"/>
                                    </a:solidFill>
                                    <a:latin typeface="Cambria Math" panose="02040503050406030204" pitchFamily="18" charset="0"/>
                                    <a:ea typeface="Cambria Math" panose="02040503050406030204" pitchFamily="18" charset="0"/>
                                  </a:rPr>
                                  <m:t>𝑥</m:t>
                                </m:r>
                              </m:e>
                              <m:sub>
                                <m:r>
                                  <a:rPr lang="en-US" sz="2200" i="1">
                                    <a:solidFill>
                                      <a:srgbClr val="002060"/>
                                    </a:solidFill>
                                    <a:latin typeface="Cambria Math" panose="02040503050406030204" pitchFamily="18" charset="0"/>
                                    <a:ea typeface="Cambria Math" panose="02040503050406030204" pitchFamily="18" charset="0"/>
                                  </a:rPr>
                                  <m:t>1</m:t>
                                </m:r>
                              </m:sub>
                            </m:sSub>
                          </m:num>
                          <m:den>
                            <m:rad>
                              <m:radPr>
                                <m:degHide m:val="on"/>
                                <m:ctrlPr>
                                  <a:rPr lang="en-US" sz="2200" i="1">
                                    <a:solidFill>
                                      <a:srgbClr val="002060"/>
                                    </a:solidFill>
                                    <a:latin typeface="Cambria Math" panose="02040503050406030204" pitchFamily="18" charset="0"/>
                                    <a:ea typeface="Cambria Math" panose="02040503050406030204" pitchFamily="18" charset="0"/>
                                  </a:rPr>
                                </m:ctrlPr>
                              </m:radPr>
                              <m:deg/>
                              <m:e>
                                <m:r>
                                  <a:rPr lang="en-US" sz="2200" i="1">
                                    <a:solidFill>
                                      <a:srgbClr val="002060"/>
                                    </a:solidFill>
                                    <a:latin typeface="Cambria Math" panose="02040503050406030204" pitchFamily="18" charset="0"/>
                                    <a:ea typeface="Cambria Math" panose="02040503050406030204" pitchFamily="18" charset="0"/>
                                  </a:rPr>
                                  <m:t>2</m:t>
                                </m:r>
                              </m:e>
                            </m:rad>
                          </m:den>
                        </m:f>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1</m:t>
                            </m:r>
                          </m:e>
                        </m:d>
                      </m:oMath>
                    </m:oMathPara>
                  </a14:m>
                  <a:endParaRPr lang="en-US" sz="2200" dirty="0"/>
                </a:p>
              </p:txBody>
            </p:sp>
          </mc:Choice>
          <mc:Fallback xmlns="">
            <p:sp>
              <p:nvSpPr>
                <p:cNvPr id="12" name="Rectangle 11">
                  <a:extLst>
                    <a:ext uri="{FF2B5EF4-FFF2-40B4-BE49-F238E27FC236}">
                      <a16:creationId xmlns:a16="http://schemas.microsoft.com/office/drawing/2014/main" id="{1B04988E-C60F-5A44-BF7F-026064454B47}"/>
                    </a:ext>
                  </a:extLst>
                </p:cNvPr>
                <p:cNvSpPr>
                  <a:spLocks noRot="1" noChangeAspect="1" noMove="1" noResize="1" noEditPoints="1" noAdjustHandles="1" noChangeArrowheads="1" noChangeShapeType="1" noTextEdit="1"/>
                </p:cNvSpPr>
                <p:nvPr/>
              </p:nvSpPr>
              <p:spPr>
                <a:xfrm>
                  <a:off x="323804" y="4162438"/>
                  <a:ext cx="10913244" cy="835037"/>
                </a:xfrm>
                <a:prstGeom prst="rect">
                  <a:avLst/>
                </a:prstGeom>
                <a:blipFill>
                  <a:blip r:embed="rId5"/>
                  <a:stretch>
                    <a:fillRect t="-35821" r="-2091" b="-73134"/>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E5A9A7B9-60FE-A04F-AA3B-3719B2A53FFC}"/>
                  </a:ext>
                </a:extLst>
              </p:cNvPr>
              <p:cNvSpPr/>
              <p:nvPr/>
            </p:nvSpPr>
            <p:spPr>
              <a:xfrm>
                <a:off x="460796" y="5135162"/>
                <a:ext cx="5739841" cy="16189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latin typeface="Cambria Math" panose="02040503050406030204" pitchFamily="18" charset="0"/>
                              <a:ea typeface="Cambria Math" panose="02040503050406030204" pitchFamily="18" charset="0"/>
                            </a:rPr>
                          </m:ctrlPr>
                        </m:dPr>
                        <m:e>
                          <m:m>
                            <m:mPr>
                              <m:mcs>
                                <m:mc>
                                  <m:mcPr>
                                    <m:count m:val="1"/>
                                    <m:mcJc m:val="center"/>
                                  </m:mcPr>
                                </m:mc>
                              </m:mcs>
                              <m:ctrlPr>
                                <a:rPr lang="en-US" sz="2200" i="1">
                                  <a:solidFill>
                                    <a:srgbClr val="002060"/>
                                  </a:solidFill>
                                  <a:latin typeface="Cambria Math" panose="02040503050406030204" pitchFamily="18" charset="0"/>
                                  <a:ea typeface="Cambria Math" panose="02040503050406030204" pitchFamily="18" charset="0"/>
                                </a:rPr>
                              </m:ctrlPr>
                            </m:mPr>
                            <m:mr>
                              <m:e>
                                <m:r>
                                  <a:rPr lang="en-US" sz="2200" i="1">
                                    <a:latin typeface="Cambria Math" panose="02040503050406030204" pitchFamily="18" charset="0"/>
                                    <a:ea typeface="Cambria Math" panose="02040503050406030204" pitchFamily="18" charset="0"/>
                                  </a:rPr>
                                  <m:t>𝑄𝐹𝑇</m:t>
                                </m:r>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0</m:t>
                                    </m:r>
                                  </m:e>
                                </m:d>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𝑄𝐹𝑇</m:t>
                                </m:r>
                                <m:d>
                                  <m:dPr>
                                    <m:ctrlPr>
                                      <a:rPr lang="en-US" sz="2000" i="1">
                                        <a:latin typeface="Cambria Math" panose="02040503050406030204" pitchFamily="18" charset="0"/>
                                        <a:ea typeface="Cambria Math" panose="02040503050406030204" pitchFamily="18" charset="0"/>
                                      </a:rPr>
                                    </m:ctrlPr>
                                  </m:dPr>
                                  <m:e>
                                    <m:m>
                                      <m:mPr>
                                        <m:mcs>
                                          <m:mc>
                                            <m:mcPr>
                                              <m:count m:val="1"/>
                                              <m:mcJc m:val="center"/>
                                            </m:mcPr>
                                          </m:mc>
                                        </m:mcs>
                                        <m:ctrlPr>
                                          <a:rPr lang="en-US" sz="2000" i="1">
                                            <a:latin typeface="Cambria Math" panose="02040503050406030204" pitchFamily="18" charset="0"/>
                                            <a:ea typeface="Cambria Math" panose="02040503050406030204" pitchFamily="18" charset="0"/>
                                          </a:rPr>
                                        </m:ctrlPr>
                                      </m:mPr>
                                      <m:m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𝑥</m:t>
                                              </m:r>
                                            </m:e>
                                            <m:sub>
                                              <m:r>
                                                <a:rPr lang="en-US" sz="2000" i="1">
                                                  <a:latin typeface="Cambria Math" panose="02040503050406030204" pitchFamily="18" charset="0"/>
                                                  <a:ea typeface="Cambria Math" panose="02040503050406030204" pitchFamily="18" charset="0"/>
                                                </a:rPr>
                                                <m:t>0</m:t>
                                              </m:r>
                                            </m:sub>
                                          </m:sSub>
                                          <m:r>
                                            <a:rPr lang="en-US" sz="2000" i="1">
                                              <a:latin typeface="Cambria Math" panose="02040503050406030204" pitchFamily="18" charset="0"/>
                                              <a:ea typeface="Cambria Math" panose="02040503050406030204" pitchFamily="18" charset="0"/>
                                            </a:rPr>
                                            <m:t>=1</m:t>
                                          </m:r>
                                        </m:e>
                                      </m:mr>
                                      <m:m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𝑥</m:t>
                                              </m:r>
                                            </m:e>
                                            <m:sub>
                                              <m:r>
                                                <a:rPr lang="sr-Latn-RS" sz="2000" b="0" i="1" smtClean="0">
                                                  <a:latin typeface="Cambria Math" panose="02040503050406030204" pitchFamily="18" charset="0"/>
                                                  <a:ea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r>
                                            <a:rPr lang="sr-Latn-RS" sz="2000" b="0" i="1" smtClean="0">
                                              <a:latin typeface="Cambria Math" panose="02040503050406030204" pitchFamily="18" charset="0"/>
                                              <a:ea typeface="Cambria Math" panose="02040503050406030204" pitchFamily="18" charset="0"/>
                                            </a:rPr>
                                            <m:t>0</m:t>
                                          </m:r>
                                        </m:e>
                                      </m:mr>
                                    </m:m>
                                  </m:e>
                                </m:d>
                                <m:r>
                                  <a:rPr lang="sr-Latn-RS" sz="2200" b="0" i="1" smtClean="0">
                                    <a:latin typeface="Cambria Math" panose="02040503050406030204" pitchFamily="18" charset="0"/>
                                    <a:ea typeface="Cambria Math" panose="02040503050406030204" pitchFamily="18" charset="0"/>
                                  </a:rPr>
                                  <m:t>=</m:t>
                                </m:r>
                                <m:f>
                                  <m:fPr>
                                    <m:ctrlPr>
                                      <a:rPr lang="en-US" sz="2200" i="1">
                                        <a:solidFill>
                                          <a:srgbClr val="002060"/>
                                        </a:solidFill>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0</m:t>
                                        </m:r>
                                      </m:e>
                                    </m:d>
                                    <m:r>
                                      <a:rPr lang="en-US" sz="2200" i="1">
                                        <a:solidFill>
                                          <a:srgbClr val="002060"/>
                                        </a:solidFill>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1</m:t>
                                        </m:r>
                                      </m:e>
                                    </m:d>
                                  </m:num>
                                  <m:den>
                                    <m:rad>
                                      <m:radPr>
                                        <m:degHide m:val="on"/>
                                        <m:ctrlPr>
                                          <a:rPr lang="en-US" sz="2200" i="1">
                                            <a:solidFill>
                                              <a:srgbClr val="002060"/>
                                            </a:solidFill>
                                            <a:latin typeface="Cambria Math" panose="02040503050406030204" pitchFamily="18" charset="0"/>
                                            <a:ea typeface="Cambria Math" panose="02040503050406030204" pitchFamily="18" charset="0"/>
                                          </a:rPr>
                                        </m:ctrlPr>
                                      </m:radPr>
                                      <m:deg/>
                                      <m:e>
                                        <m:r>
                                          <a:rPr lang="en-US" sz="2200" i="1">
                                            <a:solidFill>
                                              <a:srgbClr val="002060"/>
                                            </a:solidFill>
                                            <a:latin typeface="Cambria Math" panose="02040503050406030204" pitchFamily="18" charset="0"/>
                                            <a:ea typeface="Cambria Math" panose="02040503050406030204" pitchFamily="18" charset="0"/>
                                          </a:rPr>
                                          <m:t>2</m:t>
                                        </m:r>
                                      </m:e>
                                    </m:rad>
                                  </m:den>
                                </m:f>
                                <m:r>
                                  <a:rPr lang="en-US" sz="2200" b="0" i="1" smtClean="0">
                                    <a:solidFill>
                                      <a:srgbClr val="002060"/>
                                    </a:solidFill>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m:t>
                                    </m:r>
                                  </m:e>
                                </m:d>
                              </m:e>
                            </m:mr>
                            <m:mr>
                              <m:e>
                                <m:r>
                                  <a:rPr lang="en-US" sz="2200" i="1">
                                    <a:latin typeface="Cambria Math" panose="02040503050406030204" pitchFamily="18" charset="0"/>
                                    <a:ea typeface="Cambria Math" panose="02040503050406030204" pitchFamily="18" charset="0"/>
                                  </a:rPr>
                                  <m:t>𝑄𝐹𝑇</m:t>
                                </m:r>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sr-Latn-RS" sz="2200" b="0" i="1" smtClean="0">
                                        <a:latin typeface="Cambria Math" panose="02040503050406030204" pitchFamily="18" charset="0"/>
                                        <a:ea typeface="Cambria Math" panose="02040503050406030204" pitchFamily="18" charset="0"/>
                                      </a:rPr>
                                      <m:t>1</m:t>
                                    </m:r>
                                  </m:e>
                                </m:d>
                                <m:r>
                                  <a:rPr lang="sr-Latn-RS" sz="2200" b="0" i="1" smtClean="0">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𝑄𝐹𝑇</m:t>
                                </m:r>
                                <m:d>
                                  <m:dPr>
                                    <m:ctrlPr>
                                      <a:rPr lang="en-US" sz="2400" i="1">
                                        <a:latin typeface="Cambria Math" panose="02040503050406030204" pitchFamily="18" charset="0"/>
                                        <a:ea typeface="Cambria Math" panose="02040503050406030204" pitchFamily="18" charset="0"/>
                                      </a:rPr>
                                    </m:ctrlPr>
                                  </m:dPr>
                                  <m:e>
                                    <m:m>
                                      <m:mPr>
                                        <m:mcs>
                                          <m:mc>
                                            <m:mcPr>
                                              <m:count m:val="1"/>
                                              <m:mcJc m:val="center"/>
                                            </m:mcPr>
                                          </m:mc>
                                        </m:mcs>
                                        <m:ctrlPr>
                                          <a:rPr lang="en-US" sz="2400" i="1">
                                            <a:latin typeface="Cambria Math" panose="02040503050406030204" pitchFamily="18" charset="0"/>
                                            <a:ea typeface="Cambria Math" panose="02040503050406030204" pitchFamily="18" charset="0"/>
                                          </a:rPr>
                                        </m:ctrlPr>
                                      </m:mPr>
                                      <m:m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i="1">
                                                  <a:latin typeface="Cambria Math" panose="02040503050406030204" pitchFamily="18" charset="0"/>
                                                  <a:ea typeface="Cambria Math" panose="02040503050406030204" pitchFamily="18" charset="0"/>
                                                </a:rPr>
                                                <m:t>0</m:t>
                                              </m:r>
                                            </m:sub>
                                          </m:sSub>
                                          <m:r>
                                            <a:rPr lang="en-US" sz="2400" i="1">
                                              <a:latin typeface="Cambria Math" panose="02040503050406030204" pitchFamily="18" charset="0"/>
                                              <a:ea typeface="Cambria Math" panose="02040503050406030204" pitchFamily="18" charset="0"/>
                                            </a:rPr>
                                            <m:t>=</m:t>
                                          </m:r>
                                          <m:r>
                                            <a:rPr lang="sr-Latn-RS" sz="2400" b="0" i="1" smtClean="0">
                                              <a:latin typeface="Cambria Math" panose="02040503050406030204" pitchFamily="18" charset="0"/>
                                              <a:ea typeface="Cambria Math" panose="02040503050406030204" pitchFamily="18" charset="0"/>
                                            </a:rPr>
                                            <m:t>0</m:t>
                                          </m:r>
                                        </m:e>
                                      </m:mr>
                                      <m:m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sr-Latn-RS" sz="2400" i="1">
                                                  <a:latin typeface="Cambria Math" panose="02040503050406030204" pitchFamily="18" charset="0"/>
                                                  <a:ea typeface="Cambria Math" panose="02040503050406030204" pitchFamily="18" charset="0"/>
                                                </a:rPr>
                                                <m:t>1</m:t>
                                              </m:r>
                                            </m:sub>
                                          </m:sSub>
                                          <m:r>
                                            <a:rPr lang="en-US" sz="2400" i="1">
                                              <a:latin typeface="Cambria Math" panose="02040503050406030204" pitchFamily="18" charset="0"/>
                                              <a:ea typeface="Cambria Math" panose="02040503050406030204" pitchFamily="18" charset="0"/>
                                            </a:rPr>
                                            <m:t>=</m:t>
                                          </m:r>
                                          <m:r>
                                            <a:rPr lang="sr-Latn-RS" sz="2400" b="0" i="1" smtClean="0">
                                              <a:latin typeface="Cambria Math" panose="02040503050406030204" pitchFamily="18" charset="0"/>
                                              <a:ea typeface="Cambria Math" panose="02040503050406030204" pitchFamily="18" charset="0"/>
                                            </a:rPr>
                                            <m:t>1</m:t>
                                          </m:r>
                                        </m:e>
                                      </m:mr>
                                    </m:m>
                                  </m:e>
                                </m:d>
                                <m:r>
                                  <a:rPr lang="en-US" sz="2200" i="1">
                                    <a:latin typeface="Cambria Math" panose="02040503050406030204" pitchFamily="18" charset="0"/>
                                    <a:ea typeface="Cambria Math" panose="02040503050406030204" pitchFamily="18" charset="0"/>
                                  </a:rPr>
                                  <m:t>=</m:t>
                                </m:r>
                                <m:f>
                                  <m:fPr>
                                    <m:ctrlPr>
                                      <a:rPr lang="en-US" sz="2200" i="1">
                                        <a:solidFill>
                                          <a:srgbClr val="002060"/>
                                        </a:solidFill>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0</m:t>
                                        </m:r>
                                      </m:e>
                                    </m:d>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1</m:t>
                                        </m:r>
                                      </m:e>
                                    </m:d>
                                  </m:num>
                                  <m:den>
                                    <m:rad>
                                      <m:radPr>
                                        <m:degHide m:val="on"/>
                                        <m:ctrlPr>
                                          <a:rPr lang="en-US" sz="2200" i="1">
                                            <a:solidFill>
                                              <a:srgbClr val="002060"/>
                                            </a:solidFill>
                                            <a:latin typeface="Cambria Math" panose="02040503050406030204" pitchFamily="18" charset="0"/>
                                            <a:ea typeface="Cambria Math" panose="02040503050406030204" pitchFamily="18" charset="0"/>
                                          </a:rPr>
                                        </m:ctrlPr>
                                      </m:radPr>
                                      <m:deg/>
                                      <m:e>
                                        <m:r>
                                          <a:rPr lang="en-US" sz="2200" i="1">
                                            <a:solidFill>
                                              <a:srgbClr val="002060"/>
                                            </a:solidFill>
                                            <a:latin typeface="Cambria Math" panose="02040503050406030204" pitchFamily="18" charset="0"/>
                                            <a:ea typeface="Cambria Math" panose="02040503050406030204" pitchFamily="18" charset="0"/>
                                          </a:rPr>
                                          <m:t>2</m:t>
                                        </m:r>
                                      </m:e>
                                    </m:rad>
                                  </m:den>
                                </m:f>
                                <m:r>
                                  <a:rPr lang="en-US" sz="2200" b="0" i="1" smtClean="0">
                                    <a:solidFill>
                                      <a:srgbClr val="002060"/>
                                    </a:solidFill>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m:t>
                                    </m:r>
                                  </m:e>
                                </m:d>
                              </m:e>
                            </m:mr>
                          </m:m>
                        </m:e>
                      </m:d>
                    </m:oMath>
                  </m:oMathPara>
                </a14:m>
                <a:endParaRPr lang="en-US" sz="2200" dirty="0"/>
              </a:p>
            </p:txBody>
          </p:sp>
        </mc:Choice>
        <mc:Fallback xmlns="">
          <p:sp>
            <p:nvSpPr>
              <p:cNvPr id="17" name="Rectangle 16">
                <a:extLst>
                  <a:ext uri="{FF2B5EF4-FFF2-40B4-BE49-F238E27FC236}">
                    <a16:creationId xmlns:a16="http://schemas.microsoft.com/office/drawing/2014/main" id="{E5A9A7B9-60FE-A04F-AA3B-3719B2A53FFC}"/>
                  </a:ext>
                </a:extLst>
              </p:cNvPr>
              <p:cNvSpPr>
                <a:spLocks noRot="1" noChangeAspect="1" noMove="1" noResize="1" noEditPoints="1" noAdjustHandles="1" noChangeArrowheads="1" noChangeShapeType="1" noTextEdit="1"/>
              </p:cNvSpPr>
              <p:nvPr/>
            </p:nvSpPr>
            <p:spPr>
              <a:xfrm>
                <a:off x="460796" y="5135162"/>
                <a:ext cx="5739841" cy="1618969"/>
              </a:xfrm>
              <a:prstGeom prst="rect">
                <a:avLst/>
              </a:prstGeom>
              <a:blipFill>
                <a:blip r:embed="rId6"/>
                <a:stretch>
                  <a:fillRect t="-31783" r="-221" b="-36434"/>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4CBF0768-99E7-0748-B1BA-35392DBF8916}"/>
              </a:ext>
            </a:extLst>
          </p:cNvPr>
          <p:cNvGrpSpPr/>
          <p:nvPr/>
        </p:nvGrpSpPr>
        <p:grpSpPr>
          <a:xfrm>
            <a:off x="460796" y="1710464"/>
            <a:ext cx="7465879" cy="973271"/>
            <a:chOff x="526106" y="2158198"/>
            <a:chExt cx="7465879" cy="973271"/>
          </a:xfrm>
        </p:grpSpPr>
        <p:sp>
          <p:nvSpPr>
            <p:cNvPr id="25" name="Rounded Rectangle 24">
              <a:extLst>
                <a:ext uri="{FF2B5EF4-FFF2-40B4-BE49-F238E27FC236}">
                  <a16:creationId xmlns:a16="http://schemas.microsoft.com/office/drawing/2014/main" id="{39811DB5-1928-CE48-A679-6001B89D3F7F}"/>
                </a:ext>
              </a:extLst>
            </p:cNvPr>
            <p:cNvSpPr/>
            <p:nvPr/>
          </p:nvSpPr>
          <p:spPr>
            <a:xfrm>
              <a:off x="526106" y="2158198"/>
              <a:ext cx="7465879" cy="973271"/>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6" name="Group 15">
              <a:extLst>
                <a:ext uri="{FF2B5EF4-FFF2-40B4-BE49-F238E27FC236}">
                  <a16:creationId xmlns:a16="http://schemas.microsoft.com/office/drawing/2014/main" id="{F63E04F0-7CC8-F84E-9654-8A03DB40839E}"/>
                </a:ext>
              </a:extLst>
            </p:cNvPr>
            <p:cNvGrpSpPr/>
            <p:nvPr/>
          </p:nvGrpSpPr>
          <p:grpSpPr>
            <a:xfrm>
              <a:off x="6111946" y="2246459"/>
              <a:ext cx="1566871" cy="720000"/>
              <a:chOff x="11268731" y="5608563"/>
              <a:chExt cx="1566871" cy="720000"/>
            </a:xfrm>
          </p:grpSpPr>
          <p:cxnSp>
            <p:nvCxnSpPr>
              <p:cNvPr id="14" name="Straight Connector 13">
                <a:extLst>
                  <a:ext uri="{FF2B5EF4-FFF2-40B4-BE49-F238E27FC236}">
                    <a16:creationId xmlns:a16="http://schemas.microsoft.com/office/drawing/2014/main" id="{287A2F36-AF71-6542-B3E1-C488208D63C8}"/>
                  </a:ext>
                </a:extLst>
              </p:cNvPr>
              <p:cNvCxnSpPr>
                <a:cxnSpLocks/>
              </p:cNvCxnSpPr>
              <p:nvPr/>
            </p:nvCxnSpPr>
            <p:spPr>
              <a:xfrm flipV="1">
                <a:off x="11268731" y="5956469"/>
                <a:ext cx="1566871" cy="1209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76C19713-1980-E449-8F65-90FE808A4CDD}"/>
                  </a:ext>
                </a:extLst>
              </p:cNvPr>
              <p:cNvSpPr/>
              <p:nvPr/>
            </p:nvSpPr>
            <p:spPr>
              <a:xfrm>
                <a:off x="11685479" y="5608563"/>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H</a:t>
                </a:r>
              </a:p>
            </p:txBody>
          </p:sp>
        </p:grpSp>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BFEDFB95-685D-694A-A9FF-831391EB5A73}"/>
                    </a:ext>
                  </a:extLst>
                </p:cNvPr>
                <p:cNvSpPr/>
                <p:nvPr/>
              </p:nvSpPr>
              <p:spPr>
                <a:xfrm>
                  <a:off x="618276" y="2188178"/>
                  <a:ext cx="5018297" cy="8552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𝐹</m:t>
                            </m:r>
                          </m:e>
                          <m:sub>
                            <m:r>
                              <a:rPr lang="en-US" sz="2400" b="0" i="1" smtClean="0">
                                <a:latin typeface="Cambria Math" panose="02040503050406030204" pitchFamily="18" charset="0"/>
                                <a:ea typeface="Cambria Math" panose="02040503050406030204" pitchFamily="18" charset="0"/>
                              </a:rPr>
                              <m:t>2</m:t>
                            </m:r>
                          </m:sub>
                        </m:sSub>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1</m:t>
                            </m:r>
                          </m:num>
                          <m:den>
                            <m:rad>
                              <m:radPr>
                                <m:degHide m:val="on"/>
                                <m:ctrlPr>
                                  <a:rPr lang="en-US" sz="2400" b="0" i="1" smtClean="0">
                                    <a:latin typeface="Cambria Math" panose="02040503050406030204" pitchFamily="18" charset="0"/>
                                    <a:ea typeface="Cambria Math" panose="02040503050406030204" pitchFamily="18" charset="0"/>
                                  </a:rPr>
                                </m:ctrlPr>
                              </m:radPr>
                              <m:deg/>
                              <m:e>
                                <m:r>
                                  <a:rPr lang="en-US" sz="2400" b="0" i="1" smtClean="0">
                                    <a:latin typeface="Cambria Math" panose="02040503050406030204" pitchFamily="18" charset="0"/>
                                    <a:ea typeface="Cambria Math" panose="02040503050406030204" pitchFamily="18" charset="0"/>
                                  </a:rPr>
                                  <m:t>2</m:t>
                                </m:r>
                              </m:e>
                            </m:rad>
                          </m:den>
                        </m:f>
                        <m:d>
                          <m:dPr>
                            <m:ctrlPr>
                              <a:rPr lang="en-US" sz="2400" b="0" i="1" smtClean="0">
                                <a:latin typeface="Cambria Math" panose="02040503050406030204" pitchFamily="18" charset="0"/>
                                <a:ea typeface="Cambria Math" panose="02040503050406030204" pitchFamily="18" charset="0"/>
                              </a:rPr>
                            </m:ctrlPr>
                          </m:dPr>
                          <m:e>
                            <m:m>
                              <m:mPr>
                                <m:mcs>
                                  <m:mc>
                                    <m:mcPr>
                                      <m:count m:val="2"/>
                                      <m:mcJc m:val="center"/>
                                    </m:mcPr>
                                  </m:mc>
                                </m:mcs>
                                <m:ctrlPr>
                                  <a:rPr lang="en-US" sz="2400" b="0" i="1" smtClean="0">
                                    <a:latin typeface="Cambria Math" panose="02040503050406030204" pitchFamily="18" charset="0"/>
                                    <a:ea typeface="Cambria Math" panose="02040503050406030204" pitchFamily="18" charset="0"/>
                                  </a:rPr>
                                </m:ctrlPr>
                              </m:mPr>
                              <m:mr>
                                <m:e>
                                  <m:r>
                                    <m:rPr>
                                      <m:brk m:alnAt="7"/>
                                    </m:rPr>
                                    <a:rPr lang="en-US" sz="2400" b="0" i="1" smtClean="0">
                                      <a:latin typeface="Cambria Math" panose="02040503050406030204" pitchFamily="18" charset="0"/>
                                      <a:ea typeface="Cambria Math" panose="02040503050406030204" pitchFamily="18" charset="0"/>
                                    </a:rPr>
                                    <m:t>1</m:t>
                                  </m:r>
                                </m:e>
                                <m:e>
                                  <m:r>
                                    <a:rPr lang="en-US" sz="2400" b="0" i="1" smtClean="0">
                                      <a:latin typeface="Cambria Math" panose="02040503050406030204" pitchFamily="18" charset="0"/>
                                      <a:ea typeface="Cambria Math" panose="02040503050406030204" pitchFamily="18" charset="0"/>
                                    </a:rPr>
                                    <m:t>1</m:t>
                                  </m:r>
                                </m:e>
                              </m:mr>
                              <m:mr>
                                <m:e>
                                  <m:r>
                                    <a:rPr lang="en-US" sz="2400" b="0" i="1" smtClean="0">
                                      <a:latin typeface="Cambria Math" panose="02040503050406030204" pitchFamily="18" charset="0"/>
                                      <a:ea typeface="Cambria Math" panose="02040503050406030204" pitchFamily="18" charset="0"/>
                                    </a:rPr>
                                    <m:t>1</m:t>
                                  </m:r>
                                </m:e>
                                <m:e>
                                  <m:r>
                                    <a:rPr lang="en-US" sz="2400" i="1">
                                      <a:solidFill>
                                        <a:srgbClr val="002060"/>
                                      </a:solidFill>
                                      <a:latin typeface="Cambria Math" panose="02040503050406030204" pitchFamily="18" charset="0"/>
                                      <a:ea typeface="Cambria Math" panose="02040503050406030204" pitchFamily="18" charset="0"/>
                                    </a:rPr>
                                    <m:t>𝜔</m:t>
                                  </m:r>
                                </m:e>
                              </m:mr>
                            </m:m>
                          </m:e>
                        </m:d>
                        <m:r>
                          <a:rPr lang="en-US" sz="2400" b="0" i="1" smtClean="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ad>
                              <m:radPr>
                                <m:degHide m:val="on"/>
                                <m:ctrlPr>
                                  <a:rPr lang="en-US" sz="2400" i="1">
                                    <a:latin typeface="Cambria Math" panose="02040503050406030204" pitchFamily="18" charset="0"/>
                                    <a:ea typeface="Cambria Math" panose="02040503050406030204" pitchFamily="18" charset="0"/>
                                  </a:rPr>
                                </m:ctrlPr>
                              </m:radPr>
                              <m:deg/>
                              <m:e>
                                <m:r>
                                  <a:rPr lang="en-US" sz="2400" i="1">
                                    <a:latin typeface="Cambria Math" panose="02040503050406030204" pitchFamily="18" charset="0"/>
                                    <a:ea typeface="Cambria Math" panose="02040503050406030204" pitchFamily="18" charset="0"/>
                                  </a:rPr>
                                  <m:t>2</m:t>
                                </m:r>
                              </m:e>
                            </m:rad>
                          </m:den>
                        </m:f>
                        <m:d>
                          <m:dPr>
                            <m:ctrlPr>
                              <a:rPr lang="en-US" sz="2400" i="1">
                                <a:latin typeface="Cambria Math" panose="02040503050406030204" pitchFamily="18" charset="0"/>
                                <a:ea typeface="Cambria Math" panose="02040503050406030204" pitchFamily="18" charset="0"/>
                              </a:rPr>
                            </m:ctrlPr>
                          </m:dPr>
                          <m:e>
                            <m:m>
                              <m:mPr>
                                <m:mcs>
                                  <m:mc>
                                    <m:mcPr>
                                      <m:count m:val="2"/>
                                      <m:mcJc m:val="center"/>
                                    </m:mcPr>
                                  </m:mc>
                                </m:mcs>
                                <m:ctrlPr>
                                  <a:rPr lang="en-US" sz="2400" i="1">
                                    <a:latin typeface="Cambria Math" panose="02040503050406030204" pitchFamily="18" charset="0"/>
                                    <a:ea typeface="Cambria Math" panose="02040503050406030204" pitchFamily="18" charset="0"/>
                                  </a:rPr>
                                </m:ctrlPr>
                              </m:mPr>
                              <m:mr>
                                <m:e>
                                  <m:r>
                                    <m:rPr>
                                      <m:brk m:alnAt="7"/>
                                    </m:rPr>
                                    <a:rPr lang="en-US" sz="2400" i="1">
                                      <a:latin typeface="Cambria Math" panose="02040503050406030204" pitchFamily="18" charset="0"/>
                                      <a:ea typeface="Cambria Math" panose="02040503050406030204" pitchFamily="18" charset="0"/>
                                    </a:rPr>
                                    <m:t>1</m:t>
                                  </m:r>
                                </m:e>
                                <m:e>
                                  <m:r>
                                    <a:rPr lang="en-US" sz="2400" i="1">
                                      <a:latin typeface="Cambria Math" panose="02040503050406030204" pitchFamily="18" charset="0"/>
                                      <a:ea typeface="Cambria Math" panose="02040503050406030204" pitchFamily="18" charset="0"/>
                                    </a:rPr>
                                    <m:t>1</m:t>
                                  </m:r>
                                </m:e>
                              </m:mr>
                              <m:mr>
                                <m:e>
                                  <m:r>
                                    <a:rPr lang="en-US" sz="2400" i="1">
                                      <a:latin typeface="Cambria Math" panose="02040503050406030204" pitchFamily="18" charset="0"/>
                                      <a:ea typeface="Cambria Math" panose="02040503050406030204" pitchFamily="18" charset="0"/>
                                    </a:rPr>
                                    <m:t>1</m:t>
                                  </m:r>
                                </m:e>
                                <m:e>
                                  <m:r>
                                    <a:rPr lang="en-US" sz="2400" b="0" i="1" smtClean="0">
                                      <a:latin typeface="Cambria Math" panose="02040503050406030204" pitchFamily="18" charset="0"/>
                                      <a:ea typeface="Cambria Math" panose="02040503050406030204" pitchFamily="18" charset="0"/>
                                    </a:rPr>
                                    <m:t>−1</m:t>
                                  </m:r>
                                </m:e>
                              </m:mr>
                            </m:m>
                          </m:e>
                        </m:d>
                        <m:r>
                          <a:rPr lang="en-US" sz="2400" b="0" i="1" smtClean="0">
                            <a:solidFill>
                              <a:srgbClr val="002060"/>
                            </a:solidFill>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𝐻</m:t>
                        </m:r>
                      </m:oMath>
                    </m:oMathPara>
                  </a14:m>
                  <a:endParaRPr lang="en-US" sz="2400" dirty="0"/>
                </a:p>
              </p:txBody>
            </p:sp>
          </mc:Choice>
          <mc:Fallback xmlns="">
            <p:sp>
              <p:nvSpPr>
                <p:cNvPr id="19" name="Rectangle 18">
                  <a:extLst>
                    <a:ext uri="{FF2B5EF4-FFF2-40B4-BE49-F238E27FC236}">
                      <a16:creationId xmlns:a16="http://schemas.microsoft.com/office/drawing/2014/main" id="{BFEDFB95-685D-694A-A9FF-831391EB5A73}"/>
                    </a:ext>
                  </a:extLst>
                </p:cNvPr>
                <p:cNvSpPr>
                  <a:spLocks noRot="1" noChangeAspect="1" noMove="1" noResize="1" noEditPoints="1" noAdjustHandles="1" noChangeArrowheads="1" noChangeShapeType="1" noTextEdit="1"/>
                </p:cNvSpPr>
                <p:nvPr/>
              </p:nvSpPr>
              <p:spPr>
                <a:xfrm>
                  <a:off x="618276" y="2188178"/>
                  <a:ext cx="5018297" cy="855299"/>
                </a:xfrm>
                <a:prstGeom prst="rect">
                  <a:avLst/>
                </a:prstGeom>
                <a:blipFill>
                  <a:blip r:embed="rId7"/>
                  <a:stretch>
                    <a:fillRect b="-2941"/>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3DC4421D-D384-8447-B508-9B7FE2445D90}"/>
                </a:ext>
              </a:extLst>
            </p:cNvPr>
            <p:cNvSpPr/>
            <p:nvPr/>
          </p:nvSpPr>
          <p:spPr>
            <a:xfrm>
              <a:off x="1862051" y="2188178"/>
              <a:ext cx="1030778" cy="8552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97896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dissolve">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15F4B-A38B-B44C-83C1-996C3D6D481A}"/>
              </a:ext>
            </a:extLst>
          </p:cNvPr>
          <p:cNvSpPr>
            <a:spLocks noGrp="1"/>
          </p:cNvSpPr>
          <p:nvPr>
            <p:ph type="title"/>
          </p:nvPr>
        </p:nvSpPr>
        <p:spPr/>
        <p:txBody>
          <a:bodyPr/>
          <a:lstStyle/>
          <a:p>
            <a:r>
              <a:rPr lang="en-ZA" dirty="0"/>
              <a:t>QFT: two qubits</a:t>
            </a:r>
            <a:endParaRPr lang="en-US" dirty="0"/>
          </a:p>
        </p:txBody>
      </p:sp>
      <p:sp>
        <p:nvSpPr>
          <p:cNvPr id="3" name="Slide Number Placeholder 2">
            <a:extLst>
              <a:ext uri="{FF2B5EF4-FFF2-40B4-BE49-F238E27FC236}">
                <a16:creationId xmlns:a16="http://schemas.microsoft.com/office/drawing/2014/main" id="{A397D9B2-80B7-A347-9A84-2C8F3387A33B}"/>
              </a:ext>
            </a:extLst>
          </p:cNvPr>
          <p:cNvSpPr>
            <a:spLocks noGrp="1"/>
          </p:cNvSpPr>
          <p:nvPr>
            <p:ph type="sldNum" sz="quarter" idx="12"/>
          </p:nvPr>
        </p:nvSpPr>
        <p:spPr/>
        <p:txBody>
          <a:bodyPr/>
          <a:lstStyle/>
          <a:p>
            <a:fld id="{591A223C-FA10-BC46-A853-03BA373D023C}" type="slidenum">
              <a:rPr lang="en-US" smtClean="0"/>
              <a:t>59</a:t>
            </a:fld>
            <a:endParaRPr lang="en-US"/>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88AF61D7-79D8-CE4D-B5ED-860C85591823}"/>
                  </a:ext>
                </a:extLst>
              </p:cNvPr>
              <p:cNvSpPr/>
              <p:nvPr/>
            </p:nvSpPr>
            <p:spPr>
              <a:xfrm>
                <a:off x="3758373" y="899807"/>
                <a:ext cx="5182957" cy="641138"/>
              </a:xfrm>
              <a:prstGeom prst="rect">
                <a:avLst/>
              </a:prstGeom>
              <a:solidFill>
                <a:schemeClr val="bg1">
                  <a:lumMod val="95000"/>
                </a:schemeClr>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𝑛</m:t>
                      </m:r>
                      <m:r>
                        <a:rPr lang="en-US" sz="2400" i="1" smtClean="0">
                          <a:solidFill>
                            <a:srgbClr val="002060"/>
                          </a:solidFill>
                          <a:latin typeface="Cambria Math" panose="02040503050406030204" pitchFamily="18" charset="0"/>
                          <a:ea typeface="Cambria Math" panose="02040503050406030204" pitchFamily="18" charset="0"/>
                        </a:rPr>
                        <m:t>=2→</m:t>
                      </m:r>
                      <m:r>
                        <a:rPr lang="en-US" sz="2400" i="1">
                          <a:solidFill>
                            <a:srgbClr val="002060"/>
                          </a:solidFill>
                          <a:latin typeface="Cambria Math" panose="02040503050406030204" pitchFamily="18" charset="0"/>
                          <a:ea typeface="Cambria Math" panose="02040503050406030204" pitchFamily="18" charset="0"/>
                        </a:rPr>
                        <m:t>𝑁</m:t>
                      </m:r>
                      <m:r>
                        <a:rPr lang="en-US" sz="2400" i="1">
                          <a:solidFill>
                            <a:srgbClr val="002060"/>
                          </a:solidFill>
                          <a:latin typeface="Cambria Math" panose="02040503050406030204" pitchFamily="18" charset="0"/>
                          <a:ea typeface="Cambria Math" panose="02040503050406030204" pitchFamily="18" charset="0"/>
                        </a:rPr>
                        <m:t>=</m:t>
                      </m:r>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2</m:t>
                          </m:r>
                        </m:e>
                        <m:sup>
                          <m:r>
                            <a:rPr lang="en-US" sz="2400" b="0" i="1" smtClean="0">
                              <a:solidFill>
                                <a:srgbClr val="002060"/>
                              </a:solidFill>
                              <a:latin typeface="Cambria Math" panose="02040503050406030204" pitchFamily="18" charset="0"/>
                              <a:ea typeface="Cambria Math" panose="02040503050406030204" pitchFamily="18" charset="0"/>
                            </a:rPr>
                            <m:t>2</m:t>
                          </m:r>
                        </m:sup>
                      </m:sSup>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4,  </m:t>
                      </m:r>
                      <m:r>
                        <a:rPr lang="en-US" sz="2400" i="1">
                          <a:solidFill>
                            <a:srgbClr val="002060"/>
                          </a:solidFill>
                          <a:latin typeface="Cambria Math" panose="02040503050406030204" pitchFamily="18" charset="0"/>
                          <a:ea typeface="Cambria Math" panose="02040503050406030204" pitchFamily="18" charset="0"/>
                        </a:rPr>
                        <m:t>𝜔</m:t>
                      </m:r>
                      <m:r>
                        <a:rPr lang="en-US" sz="2400" b="0" i="0" smtClean="0">
                          <a:solidFill>
                            <a:srgbClr val="002060"/>
                          </a:solidFill>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num>
                            <m:den>
                              <m:r>
                                <a:rPr lang="en-US" sz="2400" b="0" i="1" smtClean="0">
                                  <a:latin typeface="Cambria Math" panose="02040503050406030204" pitchFamily="18" charset="0"/>
                                  <a:ea typeface="Cambria Math" panose="02040503050406030204" pitchFamily="18" charset="0"/>
                                </a:rPr>
                                <m:t>2</m:t>
                              </m:r>
                            </m:den>
                          </m:f>
                        </m:sup>
                      </m:sSup>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𝑖</m:t>
                      </m:r>
                    </m:oMath>
                  </m:oMathPara>
                </a14:m>
                <a:endParaRPr lang="en-US" sz="2400" dirty="0"/>
              </a:p>
            </p:txBody>
          </p:sp>
        </mc:Choice>
        <mc:Fallback xmlns="">
          <p:sp>
            <p:nvSpPr>
              <p:cNvPr id="10" name="Rectangle 9">
                <a:extLst>
                  <a:ext uri="{FF2B5EF4-FFF2-40B4-BE49-F238E27FC236}">
                    <a16:creationId xmlns:a16="http://schemas.microsoft.com/office/drawing/2014/main" id="{88AF61D7-79D8-CE4D-B5ED-860C85591823}"/>
                  </a:ext>
                </a:extLst>
              </p:cNvPr>
              <p:cNvSpPr>
                <a:spLocks noRot="1" noChangeAspect="1" noMove="1" noResize="1" noEditPoints="1" noAdjustHandles="1" noChangeArrowheads="1" noChangeShapeType="1" noTextEdit="1"/>
              </p:cNvSpPr>
              <p:nvPr/>
            </p:nvSpPr>
            <p:spPr>
              <a:xfrm>
                <a:off x="3758373" y="899807"/>
                <a:ext cx="5182957" cy="64113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CD29C42F-36BD-8B46-9F79-4102A8FD7327}"/>
                  </a:ext>
                </a:extLst>
              </p:cNvPr>
              <p:cNvSpPr/>
              <p:nvPr/>
            </p:nvSpPr>
            <p:spPr>
              <a:xfrm>
                <a:off x="2167713" y="4402277"/>
                <a:ext cx="7856574" cy="184576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𝐹</m:t>
                          </m:r>
                        </m:e>
                        <m:sub>
                          <m:r>
                            <a:rPr lang="en-US" sz="2400" i="1">
                              <a:latin typeface="Cambria Math" panose="02040503050406030204" pitchFamily="18" charset="0"/>
                            </a:rPr>
                            <m:t>4</m:t>
                          </m:r>
                        </m:sub>
                      </m:sSub>
                      <m:r>
                        <a:rPr lang="en-US" sz="2400" b="0" i="1" smtClean="0">
                          <a:latin typeface="Cambria Math" panose="02040503050406030204" pitchFamily="18" charset="0"/>
                        </a:rPr>
                        <m:t>=</m:t>
                      </m:r>
                      <m:f>
                        <m:fPr>
                          <m:ctrlPr>
                            <a:rPr lang="en-US" sz="2400" i="1" smtClean="0">
                              <a:solidFill>
                                <a:srgbClr val="002060"/>
                              </a:solidFill>
                              <a:latin typeface="Cambria Math" panose="02040503050406030204" pitchFamily="18" charset="0"/>
                              <a:ea typeface="Cambria Math" panose="02040503050406030204" pitchFamily="18" charset="0"/>
                            </a:rPr>
                          </m:ctrlPr>
                        </m:fPr>
                        <m:num>
                          <m:r>
                            <a:rPr lang="en-US" sz="2400" i="1">
                              <a:solidFill>
                                <a:srgbClr val="002060"/>
                              </a:solidFill>
                              <a:latin typeface="Cambria Math" panose="02040503050406030204" pitchFamily="18" charset="0"/>
                              <a:ea typeface="Cambria Math" panose="02040503050406030204" pitchFamily="18" charset="0"/>
                            </a:rPr>
                            <m:t>1</m:t>
                          </m:r>
                        </m:num>
                        <m:den>
                          <m:r>
                            <a:rPr lang="en-US" sz="2400" b="0" i="1" smtClean="0">
                              <a:solidFill>
                                <a:srgbClr val="002060"/>
                              </a:solidFill>
                              <a:latin typeface="Cambria Math" panose="02040503050406030204" pitchFamily="18" charset="0"/>
                              <a:ea typeface="Cambria Math" panose="02040503050406030204" pitchFamily="18" charset="0"/>
                            </a:rPr>
                            <m:t>2</m:t>
                          </m:r>
                        </m:den>
                      </m:f>
                      <m:r>
                        <a:rPr lang="en-US" sz="2400" i="1">
                          <a:solidFill>
                            <a:srgbClr val="002060"/>
                          </a:solidFill>
                          <a:latin typeface="Cambria Math" panose="02040503050406030204" pitchFamily="18" charset="0"/>
                          <a:ea typeface="Cambria Math" panose="02040503050406030204" pitchFamily="18" charset="0"/>
                        </a:rPr>
                        <m:t> </m:t>
                      </m:r>
                      <m:d>
                        <m:dPr>
                          <m:ctrlPr>
                            <a:rPr lang="en-US" sz="2400" b="0" i="1" smtClean="0">
                              <a:solidFill>
                                <a:srgbClr val="002060"/>
                              </a:solidFill>
                              <a:latin typeface="Cambria Math" panose="02040503050406030204" pitchFamily="18" charset="0"/>
                              <a:ea typeface="Cambria Math" panose="02040503050406030204" pitchFamily="18" charset="0"/>
                            </a:rPr>
                          </m:ctrlPr>
                        </m:dPr>
                        <m:e>
                          <m:m>
                            <m:mPr>
                              <m:mcs>
                                <m:mc>
                                  <m:mcPr>
                                    <m:count m:val="4"/>
                                    <m:mcJc m:val="center"/>
                                  </m:mcPr>
                                </m:mc>
                              </m:mcs>
                              <m:ctrlPr>
                                <a:rPr lang="en-US" sz="2400" b="0" i="1" smtClean="0">
                                  <a:solidFill>
                                    <a:srgbClr val="002060"/>
                                  </a:solidFill>
                                  <a:latin typeface="Cambria Math" panose="02040503050406030204" pitchFamily="18" charset="0"/>
                                  <a:ea typeface="Cambria Math" panose="02040503050406030204" pitchFamily="18" charset="0"/>
                                </a:rPr>
                              </m:ctrlPr>
                            </m:mPr>
                            <m:mr>
                              <m:e>
                                <m:r>
                                  <m:rPr>
                                    <m:brk m:alnAt="7"/>
                                  </m:rPr>
                                  <a:rPr lang="en-US" sz="2400" b="0" i="1" smtClean="0">
                                    <a:solidFill>
                                      <a:srgbClr val="002060"/>
                                    </a:solidFill>
                                    <a:latin typeface="Cambria Math" panose="02040503050406030204" pitchFamily="18" charset="0"/>
                                    <a:ea typeface="Cambria Math" panose="02040503050406030204" pitchFamily="18" charset="0"/>
                                  </a:rPr>
                                  <m:t>1</m:t>
                                </m:r>
                              </m:e>
                              <m:e>
                                <m:r>
                                  <a:rPr lang="en-US" sz="2400" b="0" i="1" smtClean="0">
                                    <a:solidFill>
                                      <a:srgbClr val="002060"/>
                                    </a:solidFill>
                                    <a:latin typeface="Cambria Math" panose="02040503050406030204" pitchFamily="18" charset="0"/>
                                    <a:ea typeface="Cambria Math" panose="02040503050406030204" pitchFamily="18" charset="0"/>
                                  </a:rPr>
                                  <m:t>1</m:t>
                                </m:r>
                              </m:e>
                              <m:e>
                                <m:r>
                                  <a:rPr lang="en-US" sz="2400" b="0" i="1" smtClean="0">
                                    <a:solidFill>
                                      <a:srgbClr val="002060"/>
                                    </a:solidFill>
                                    <a:latin typeface="Cambria Math" panose="02040503050406030204" pitchFamily="18" charset="0"/>
                                    <a:ea typeface="Cambria Math" panose="02040503050406030204" pitchFamily="18" charset="0"/>
                                  </a:rPr>
                                  <m:t>1</m:t>
                                </m:r>
                              </m:e>
                              <m:e>
                                <m:r>
                                  <a:rPr lang="en-US" sz="2400" b="0" i="1" smtClean="0">
                                    <a:solidFill>
                                      <a:srgbClr val="002060"/>
                                    </a:solidFill>
                                    <a:latin typeface="Cambria Math" panose="02040503050406030204" pitchFamily="18" charset="0"/>
                                    <a:ea typeface="Cambria Math" panose="02040503050406030204" pitchFamily="18" charset="0"/>
                                  </a:rPr>
                                  <m:t>1</m:t>
                                </m:r>
                              </m:e>
                            </m:mr>
                            <m:mr>
                              <m:e>
                                <m:r>
                                  <a:rPr lang="en-US" sz="2400" b="0" i="1" smtClean="0">
                                    <a:solidFill>
                                      <a:srgbClr val="002060"/>
                                    </a:solidFill>
                                    <a:latin typeface="Cambria Math" panose="02040503050406030204" pitchFamily="18" charset="0"/>
                                    <a:ea typeface="Cambria Math" panose="02040503050406030204" pitchFamily="18" charset="0"/>
                                  </a:rPr>
                                  <m:t>1</m:t>
                                </m:r>
                              </m:e>
                              <m:e>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num>
                                      <m:den>
                                        <m:r>
                                          <a:rPr lang="en-US" sz="2400" i="1">
                                            <a:latin typeface="Cambria Math" panose="02040503050406030204" pitchFamily="18" charset="0"/>
                                            <a:ea typeface="Cambria Math" panose="02040503050406030204" pitchFamily="18" charset="0"/>
                                          </a:rPr>
                                          <m:t>2</m:t>
                                        </m:r>
                                      </m:den>
                                    </m:f>
                                  </m:sup>
                                </m:sSup>
                              </m:e>
                              <m:e>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𝜋</m:t>
                                    </m:r>
                                    <m:r>
                                      <a:rPr lang="en-US" sz="2400" b="0" i="1" smtClean="0">
                                        <a:latin typeface="Cambria Math" panose="02040503050406030204" pitchFamily="18" charset="0"/>
                                        <a:ea typeface="Cambria Math" panose="02040503050406030204" pitchFamily="18" charset="0"/>
                                      </a:rPr>
                                      <m:t>𝑖</m:t>
                                    </m:r>
                                  </m:sup>
                                </m:sSup>
                              </m:e>
                              <m:e>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f>
                                      <m:fPr>
                                        <m:ctrlPr>
                                          <a:rPr lang="en-US" sz="2400" i="1">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3</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num>
                                      <m:den>
                                        <m:r>
                                          <a:rPr lang="en-US" sz="2400" i="1">
                                            <a:latin typeface="Cambria Math" panose="02040503050406030204" pitchFamily="18" charset="0"/>
                                            <a:ea typeface="Cambria Math" panose="02040503050406030204" pitchFamily="18" charset="0"/>
                                          </a:rPr>
                                          <m:t>2</m:t>
                                        </m:r>
                                      </m:den>
                                    </m:f>
                                  </m:sup>
                                </m:sSup>
                              </m:e>
                            </m:mr>
                            <m:mr>
                              <m:e>
                                <m:r>
                                  <a:rPr lang="en-US" sz="2400" b="0" i="1" smtClean="0">
                                    <a:solidFill>
                                      <a:srgbClr val="002060"/>
                                    </a:solidFill>
                                    <a:latin typeface="Cambria Math" panose="02040503050406030204" pitchFamily="18" charset="0"/>
                                    <a:ea typeface="Cambria Math" panose="02040503050406030204" pitchFamily="18" charset="0"/>
                                  </a:rPr>
                                  <m:t>1</m:t>
                                </m:r>
                              </m:e>
                              <m:e>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sup>
                                </m:sSup>
                              </m:e>
                              <m:e>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b="0" i="1" smtClean="0">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sup>
                                </m:sSup>
                              </m:e>
                              <m:e>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b="0" i="1" smtClean="0">
                                        <a:latin typeface="Cambria Math" panose="02040503050406030204" pitchFamily="18" charset="0"/>
                                        <a:ea typeface="Cambria Math" panose="02040503050406030204" pitchFamily="18" charset="0"/>
                                      </a:rPr>
                                      <m:t>3</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sup>
                                </m:sSup>
                              </m:e>
                            </m:mr>
                            <m:mr>
                              <m:e>
                                <m:r>
                                  <a:rPr lang="en-US" sz="2400" b="0" i="1" smtClean="0">
                                    <a:solidFill>
                                      <a:srgbClr val="002060"/>
                                    </a:solidFill>
                                    <a:latin typeface="Cambria Math" panose="02040503050406030204" pitchFamily="18" charset="0"/>
                                    <a:ea typeface="Cambria Math" panose="02040503050406030204" pitchFamily="18" charset="0"/>
                                  </a:rPr>
                                  <m:t>1</m:t>
                                </m:r>
                              </m:e>
                              <m:e>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3</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num>
                                      <m:den>
                                        <m:r>
                                          <a:rPr lang="en-US" sz="2400" i="1">
                                            <a:latin typeface="Cambria Math" panose="02040503050406030204" pitchFamily="18" charset="0"/>
                                            <a:ea typeface="Cambria Math" panose="02040503050406030204" pitchFamily="18" charset="0"/>
                                          </a:rPr>
                                          <m:t>2</m:t>
                                        </m:r>
                                      </m:den>
                                    </m:f>
                                  </m:sup>
                                </m:sSup>
                              </m:e>
                              <m:e>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b="0" i="1" smtClean="0">
                                        <a:latin typeface="Cambria Math" panose="02040503050406030204" pitchFamily="18" charset="0"/>
                                        <a:ea typeface="Cambria Math" panose="02040503050406030204" pitchFamily="18" charset="0"/>
                                      </a:rPr>
                                      <m:t>3</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sup>
                                </m:sSup>
                              </m:e>
                              <m:e>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f>
                                      <m:fPr>
                                        <m:ctrlPr>
                                          <a:rPr lang="en-US" sz="2400" i="1">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9</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num>
                                      <m:den>
                                        <m:r>
                                          <a:rPr lang="en-US" sz="2400" i="1">
                                            <a:latin typeface="Cambria Math" panose="02040503050406030204" pitchFamily="18" charset="0"/>
                                            <a:ea typeface="Cambria Math" panose="02040503050406030204" pitchFamily="18" charset="0"/>
                                          </a:rPr>
                                          <m:t>2</m:t>
                                        </m:r>
                                      </m:den>
                                    </m:f>
                                  </m:sup>
                                </m:sSup>
                              </m:e>
                            </m:mr>
                          </m:m>
                        </m:e>
                      </m:d>
                      <m:r>
                        <a:rPr lang="en-US" sz="2400" b="0" i="1" smtClean="0">
                          <a:solidFill>
                            <a:srgbClr val="002060"/>
                          </a:solidFill>
                          <a:latin typeface="Cambria Math" panose="02040503050406030204" pitchFamily="18" charset="0"/>
                          <a:ea typeface="Cambria Math" panose="02040503050406030204" pitchFamily="18" charset="0"/>
                        </a:rPr>
                        <m:t>=</m:t>
                      </m:r>
                      <m:f>
                        <m:fPr>
                          <m:ctrlPr>
                            <a:rPr lang="en-US" sz="2400" i="1" smtClean="0">
                              <a:solidFill>
                                <a:srgbClr val="0000FF"/>
                              </a:solidFill>
                              <a:latin typeface="Cambria Math" panose="02040503050406030204" pitchFamily="18" charset="0"/>
                              <a:ea typeface="Cambria Math" panose="02040503050406030204" pitchFamily="18" charset="0"/>
                            </a:rPr>
                          </m:ctrlPr>
                        </m:fPr>
                        <m:num>
                          <m:r>
                            <a:rPr lang="en-US" sz="2400" i="1">
                              <a:solidFill>
                                <a:srgbClr val="0000FF"/>
                              </a:solidFill>
                              <a:latin typeface="Cambria Math" panose="02040503050406030204" pitchFamily="18" charset="0"/>
                              <a:ea typeface="Cambria Math" panose="02040503050406030204" pitchFamily="18" charset="0"/>
                            </a:rPr>
                            <m:t>1</m:t>
                          </m:r>
                        </m:num>
                        <m:den>
                          <m:r>
                            <a:rPr lang="en-US" sz="2400" i="1">
                              <a:solidFill>
                                <a:srgbClr val="0000FF"/>
                              </a:solidFill>
                              <a:latin typeface="Cambria Math" panose="02040503050406030204" pitchFamily="18" charset="0"/>
                              <a:ea typeface="Cambria Math" panose="02040503050406030204" pitchFamily="18" charset="0"/>
                            </a:rPr>
                            <m:t>2</m:t>
                          </m:r>
                        </m:den>
                      </m:f>
                      <m:r>
                        <a:rPr lang="en-US" sz="2400" i="1">
                          <a:solidFill>
                            <a:srgbClr val="0000FF"/>
                          </a:solidFill>
                          <a:latin typeface="Cambria Math" panose="02040503050406030204" pitchFamily="18" charset="0"/>
                          <a:ea typeface="Cambria Math" panose="02040503050406030204" pitchFamily="18" charset="0"/>
                        </a:rPr>
                        <m:t> </m:t>
                      </m:r>
                      <m:d>
                        <m:dPr>
                          <m:ctrlPr>
                            <a:rPr lang="en-US" sz="2400" i="1">
                              <a:solidFill>
                                <a:srgbClr val="0000FF"/>
                              </a:solidFill>
                              <a:latin typeface="Cambria Math" panose="02040503050406030204" pitchFamily="18" charset="0"/>
                              <a:ea typeface="Cambria Math" panose="02040503050406030204" pitchFamily="18" charset="0"/>
                            </a:rPr>
                          </m:ctrlPr>
                        </m:dPr>
                        <m:e>
                          <m:m>
                            <m:mPr>
                              <m:mcs>
                                <m:mc>
                                  <m:mcPr>
                                    <m:count m:val="4"/>
                                    <m:mcJc m:val="center"/>
                                  </m:mcPr>
                                </m:mc>
                              </m:mcs>
                              <m:ctrlPr>
                                <a:rPr lang="en-US" sz="2400" i="1" smtClean="0">
                                  <a:solidFill>
                                    <a:srgbClr val="0000FF"/>
                                  </a:solidFill>
                                  <a:latin typeface="Cambria Math" panose="02040503050406030204" pitchFamily="18" charset="0"/>
                                  <a:ea typeface="Cambria Math" panose="02040503050406030204" pitchFamily="18" charset="0"/>
                                </a:rPr>
                              </m:ctrlPr>
                            </m:mPr>
                            <m:mr>
                              <m:e>
                                <m:r>
                                  <m:rPr>
                                    <m:brk m:alnAt="7"/>
                                  </m:rPr>
                                  <a:rPr lang="en-US" sz="2400" i="1">
                                    <a:solidFill>
                                      <a:srgbClr val="0000FF"/>
                                    </a:solidFill>
                                    <a:latin typeface="Cambria Math" panose="02040503050406030204" pitchFamily="18" charset="0"/>
                                    <a:ea typeface="Cambria Math" panose="02040503050406030204" pitchFamily="18" charset="0"/>
                                  </a:rPr>
                                  <m:t>1</m:t>
                                </m:r>
                              </m:e>
                              <m:e>
                                <m:r>
                                  <a:rPr lang="en-US" sz="2400" i="1">
                                    <a:solidFill>
                                      <a:srgbClr val="0000FF"/>
                                    </a:solidFill>
                                    <a:latin typeface="Cambria Math" panose="02040503050406030204" pitchFamily="18" charset="0"/>
                                    <a:ea typeface="Cambria Math" panose="02040503050406030204" pitchFamily="18" charset="0"/>
                                  </a:rPr>
                                  <m:t>1</m:t>
                                </m:r>
                              </m:e>
                              <m:e>
                                <m:r>
                                  <a:rPr lang="en-US" sz="2400" i="1">
                                    <a:solidFill>
                                      <a:srgbClr val="0000FF"/>
                                    </a:solidFill>
                                    <a:latin typeface="Cambria Math" panose="02040503050406030204" pitchFamily="18" charset="0"/>
                                    <a:ea typeface="Cambria Math" panose="02040503050406030204" pitchFamily="18" charset="0"/>
                                  </a:rPr>
                                  <m:t>1</m:t>
                                </m:r>
                              </m:e>
                              <m:e>
                                <m:r>
                                  <a:rPr lang="en-US" sz="2400" i="1">
                                    <a:solidFill>
                                      <a:srgbClr val="0000FF"/>
                                    </a:solidFill>
                                    <a:latin typeface="Cambria Math" panose="02040503050406030204" pitchFamily="18" charset="0"/>
                                    <a:ea typeface="Cambria Math" panose="02040503050406030204" pitchFamily="18" charset="0"/>
                                  </a:rPr>
                                  <m:t>1</m:t>
                                </m:r>
                              </m:e>
                            </m:mr>
                            <m:mr>
                              <m:e>
                                <m:r>
                                  <a:rPr lang="en-US" sz="2400" i="1">
                                    <a:solidFill>
                                      <a:srgbClr val="0000FF"/>
                                    </a:solidFill>
                                    <a:latin typeface="Cambria Math" panose="02040503050406030204" pitchFamily="18" charset="0"/>
                                    <a:ea typeface="Cambria Math" panose="02040503050406030204" pitchFamily="18" charset="0"/>
                                  </a:rPr>
                                  <m:t>1</m:t>
                                </m:r>
                              </m:e>
                              <m:e>
                                <m:r>
                                  <a:rPr lang="en-US" sz="2400" b="0" i="1" smtClean="0">
                                    <a:solidFill>
                                      <a:srgbClr val="0000FF"/>
                                    </a:solidFill>
                                    <a:latin typeface="Cambria Math" panose="02040503050406030204" pitchFamily="18" charset="0"/>
                                    <a:ea typeface="Cambria Math" panose="02040503050406030204" pitchFamily="18" charset="0"/>
                                  </a:rPr>
                                  <m:t>𝑖</m:t>
                                </m:r>
                              </m:e>
                              <m:e>
                                <m:r>
                                  <a:rPr lang="en-US" sz="2400" b="0" i="1" smtClean="0">
                                    <a:solidFill>
                                      <a:srgbClr val="0000FF"/>
                                    </a:solidFill>
                                    <a:latin typeface="Cambria Math" panose="02040503050406030204" pitchFamily="18" charset="0"/>
                                    <a:ea typeface="Cambria Math" panose="02040503050406030204" pitchFamily="18" charset="0"/>
                                  </a:rPr>
                                  <m:t>−1</m:t>
                                </m:r>
                              </m:e>
                              <m:e>
                                <m:r>
                                  <a:rPr lang="en-US" sz="2400" b="0" i="1" smtClean="0">
                                    <a:solidFill>
                                      <a:srgbClr val="0000FF"/>
                                    </a:solidFill>
                                    <a:latin typeface="Cambria Math" panose="02040503050406030204" pitchFamily="18" charset="0"/>
                                    <a:ea typeface="Cambria Math" panose="02040503050406030204" pitchFamily="18" charset="0"/>
                                  </a:rPr>
                                  <m:t>−</m:t>
                                </m:r>
                                <m:r>
                                  <a:rPr lang="en-US" sz="2400" b="0" i="1" smtClean="0">
                                    <a:solidFill>
                                      <a:srgbClr val="0000FF"/>
                                    </a:solidFill>
                                    <a:latin typeface="Cambria Math" panose="02040503050406030204" pitchFamily="18" charset="0"/>
                                    <a:ea typeface="Cambria Math" panose="02040503050406030204" pitchFamily="18" charset="0"/>
                                  </a:rPr>
                                  <m:t>𝑖</m:t>
                                </m:r>
                              </m:e>
                            </m:mr>
                            <m:mr>
                              <m:e>
                                <m:r>
                                  <a:rPr lang="en-US" sz="2400" i="1">
                                    <a:solidFill>
                                      <a:srgbClr val="0000FF"/>
                                    </a:solidFill>
                                    <a:latin typeface="Cambria Math" panose="02040503050406030204" pitchFamily="18" charset="0"/>
                                    <a:ea typeface="Cambria Math" panose="02040503050406030204" pitchFamily="18" charset="0"/>
                                  </a:rPr>
                                  <m:t>1</m:t>
                                </m:r>
                              </m:e>
                              <m:e>
                                <m:r>
                                  <a:rPr lang="en-US" sz="2400" b="0" i="1" smtClean="0">
                                    <a:solidFill>
                                      <a:srgbClr val="0000FF"/>
                                    </a:solidFill>
                                    <a:latin typeface="Cambria Math" panose="02040503050406030204" pitchFamily="18" charset="0"/>
                                    <a:ea typeface="Cambria Math" panose="02040503050406030204" pitchFamily="18" charset="0"/>
                                  </a:rPr>
                                  <m:t>−1</m:t>
                                </m:r>
                              </m:e>
                              <m:e>
                                <m:r>
                                  <a:rPr lang="en-US" sz="2400" b="0" i="1" smtClean="0">
                                    <a:solidFill>
                                      <a:srgbClr val="0000FF"/>
                                    </a:solidFill>
                                    <a:latin typeface="Cambria Math" panose="02040503050406030204" pitchFamily="18" charset="0"/>
                                    <a:ea typeface="Cambria Math" panose="02040503050406030204" pitchFamily="18" charset="0"/>
                                  </a:rPr>
                                  <m:t>1</m:t>
                                </m:r>
                              </m:e>
                              <m:e>
                                <m:r>
                                  <a:rPr lang="en-US" sz="2400" b="0" i="1" smtClean="0">
                                    <a:solidFill>
                                      <a:srgbClr val="0000FF"/>
                                    </a:solidFill>
                                    <a:latin typeface="Cambria Math" panose="02040503050406030204" pitchFamily="18" charset="0"/>
                                    <a:ea typeface="Cambria Math" panose="02040503050406030204" pitchFamily="18" charset="0"/>
                                  </a:rPr>
                                  <m:t>−1</m:t>
                                </m:r>
                              </m:e>
                            </m:mr>
                            <m:mr>
                              <m:e>
                                <m:r>
                                  <a:rPr lang="en-US" sz="2400" i="1">
                                    <a:solidFill>
                                      <a:srgbClr val="0000FF"/>
                                    </a:solidFill>
                                    <a:latin typeface="Cambria Math" panose="02040503050406030204" pitchFamily="18" charset="0"/>
                                    <a:ea typeface="Cambria Math" panose="02040503050406030204" pitchFamily="18" charset="0"/>
                                  </a:rPr>
                                  <m:t>1</m:t>
                                </m:r>
                              </m:e>
                              <m:e>
                                <m:r>
                                  <a:rPr lang="en-US" sz="2400" b="0" i="1" smtClean="0">
                                    <a:solidFill>
                                      <a:srgbClr val="0000FF"/>
                                    </a:solidFill>
                                    <a:latin typeface="Cambria Math" panose="02040503050406030204" pitchFamily="18" charset="0"/>
                                    <a:ea typeface="Cambria Math" panose="02040503050406030204" pitchFamily="18" charset="0"/>
                                  </a:rPr>
                                  <m:t>−</m:t>
                                </m:r>
                                <m:r>
                                  <a:rPr lang="en-US" sz="2400" b="0" i="1" smtClean="0">
                                    <a:solidFill>
                                      <a:srgbClr val="0000FF"/>
                                    </a:solidFill>
                                    <a:latin typeface="Cambria Math" panose="02040503050406030204" pitchFamily="18" charset="0"/>
                                    <a:ea typeface="Cambria Math" panose="02040503050406030204" pitchFamily="18" charset="0"/>
                                  </a:rPr>
                                  <m:t>𝑖</m:t>
                                </m:r>
                              </m:e>
                              <m:e>
                                <m:r>
                                  <a:rPr lang="en-US" sz="2400" b="0" i="1" smtClean="0">
                                    <a:solidFill>
                                      <a:srgbClr val="0000FF"/>
                                    </a:solidFill>
                                    <a:latin typeface="Cambria Math" panose="02040503050406030204" pitchFamily="18" charset="0"/>
                                    <a:ea typeface="Cambria Math" panose="02040503050406030204" pitchFamily="18" charset="0"/>
                                  </a:rPr>
                                  <m:t>−1</m:t>
                                </m:r>
                              </m:e>
                              <m:e>
                                <m:r>
                                  <a:rPr lang="en-US" sz="2400" b="0" i="1" smtClean="0">
                                    <a:solidFill>
                                      <a:srgbClr val="0000FF"/>
                                    </a:solidFill>
                                    <a:latin typeface="Cambria Math" panose="02040503050406030204" pitchFamily="18" charset="0"/>
                                    <a:ea typeface="Cambria Math" panose="02040503050406030204" pitchFamily="18" charset="0"/>
                                  </a:rPr>
                                  <m:t>1</m:t>
                                </m:r>
                              </m:e>
                            </m:mr>
                          </m:m>
                        </m:e>
                      </m:d>
                    </m:oMath>
                  </m:oMathPara>
                </a14:m>
                <a:endParaRPr lang="en-US" sz="2400" dirty="0"/>
              </a:p>
            </p:txBody>
          </p:sp>
        </mc:Choice>
        <mc:Fallback xmlns="">
          <p:sp>
            <p:nvSpPr>
              <p:cNvPr id="11" name="Rectangle 10">
                <a:extLst>
                  <a:ext uri="{FF2B5EF4-FFF2-40B4-BE49-F238E27FC236}">
                    <a16:creationId xmlns:a16="http://schemas.microsoft.com/office/drawing/2014/main" id="{CD29C42F-36BD-8B46-9F79-4102A8FD7327}"/>
                  </a:ext>
                </a:extLst>
              </p:cNvPr>
              <p:cNvSpPr>
                <a:spLocks noRot="1" noChangeAspect="1" noMove="1" noResize="1" noEditPoints="1" noAdjustHandles="1" noChangeArrowheads="1" noChangeShapeType="1" noTextEdit="1"/>
              </p:cNvSpPr>
              <p:nvPr/>
            </p:nvSpPr>
            <p:spPr>
              <a:xfrm>
                <a:off x="2167713" y="4402277"/>
                <a:ext cx="7856574" cy="1845762"/>
              </a:xfrm>
              <a:prstGeom prst="rect">
                <a:avLst/>
              </a:prstGeom>
              <a:blipFill>
                <a:blip r:embed="rId5"/>
                <a:stretch>
                  <a:fillRect/>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2B1890C7-A295-A448-BC4A-D5BEB042ABDE}"/>
              </a:ext>
            </a:extLst>
          </p:cNvPr>
          <p:cNvGrpSpPr/>
          <p:nvPr/>
        </p:nvGrpSpPr>
        <p:grpSpPr>
          <a:xfrm>
            <a:off x="1964356" y="1879485"/>
            <a:ext cx="8263288" cy="2184252"/>
            <a:chOff x="1964356" y="1879485"/>
            <a:chExt cx="8263288" cy="2184252"/>
          </a:xfrm>
        </p:grpSpPr>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5BB11929-FEA2-D445-BED4-58BAAB150143}"/>
                    </a:ext>
                  </a:extLst>
                </p:cNvPr>
                <p:cNvSpPr/>
                <p:nvPr/>
              </p:nvSpPr>
              <p:spPr>
                <a:xfrm>
                  <a:off x="1964356" y="1879485"/>
                  <a:ext cx="8263288" cy="21842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𝐹</m:t>
                            </m:r>
                          </m:e>
                          <m:sub>
                            <m:r>
                              <a:rPr lang="en-US" sz="2400" i="1">
                                <a:latin typeface="Cambria Math" panose="02040503050406030204" pitchFamily="18" charset="0"/>
                              </a:rPr>
                              <m:t>4</m:t>
                            </m:r>
                          </m:sub>
                        </m:sSub>
                        <m:r>
                          <a:rPr lang="en-US" sz="2400" b="0" i="1" smtClean="0">
                            <a:latin typeface="Cambria Math" panose="02040503050406030204" pitchFamily="18" charset="0"/>
                          </a:rPr>
                          <m:t>=</m:t>
                        </m:r>
                        <m:f>
                          <m:fPr>
                            <m:ctrlPr>
                              <a:rPr lang="en-US" sz="2400" i="1">
                                <a:solidFill>
                                  <a:srgbClr val="002060"/>
                                </a:solidFill>
                                <a:latin typeface="Cambria Math" panose="02040503050406030204" pitchFamily="18" charset="0"/>
                                <a:ea typeface="Cambria Math" panose="02040503050406030204" pitchFamily="18" charset="0"/>
                              </a:rPr>
                            </m:ctrlPr>
                          </m:fPr>
                          <m:num>
                            <m:r>
                              <a:rPr lang="en-US" sz="2400" i="1">
                                <a:solidFill>
                                  <a:srgbClr val="002060"/>
                                </a:solidFill>
                                <a:latin typeface="Cambria Math" panose="02040503050406030204" pitchFamily="18" charset="0"/>
                                <a:ea typeface="Cambria Math" panose="02040503050406030204" pitchFamily="18" charset="0"/>
                              </a:rPr>
                              <m:t>1</m:t>
                            </m:r>
                          </m:num>
                          <m:den>
                            <m:rad>
                              <m:radPr>
                                <m:degHide m:val="on"/>
                                <m:ctrlPr>
                                  <a:rPr lang="en-US" sz="2400" i="1">
                                    <a:solidFill>
                                      <a:srgbClr val="002060"/>
                                    </a:solidFill>
                                    <a:latin typeface="Cambria Math" panose="02040503050406030204" pitchFamily="18" charset="0"/>
                                    <a:ea typeface="Cambria Math" panose="02040503050406030204" pitchFamily="18" charset="0"/>
                                  </a:rPr>
                                </m:ctrlPr>
                              </m:radPr>
                              <m:deg/>
                              <m:e>
                                <m:r>
                                  <a:rPr lang="en-US" sz="2400" i="1">
                                    <a:solidFill>
                                      <a:srgbClr val="002060"/>
                                    </a:solidFill>
                                    <a:latin typeface="Cambria Math" panose="02040503050406030204" pitchFamily="18" charset="0"/>
                                    <a:ea typeface="Cambria Math" panose="02040503050406030204" pitchFamily="18" charset="0"/>
                                  </a:rPr>
                                  <m:t>𝑁</m:t>
                                </m:r>
                              </m:e>
                            </m:rad>
                          </m:den>
                        </m:f>
                        <m:r>
                          <a:rPr lang="en-US" sz="2400" i="1">
                            <a:solidFill>
                              <a:srgbClr val="002060"/>
                            </a:solidFill>
                            <a:latin typeface="Cambria Math" panose="02040503050406030204" pitchFamily="18" charset="0"/>
                            <a:ea typeface="Cambria Math" panose="02040503050406030204" pitchFamily="18" charset="0"/>
                          </a:rPr>
                          <m:t> </m:t>
                        </m:r>
                        <m:d>
                          <m:dPr>
                            <m:ctrlPr>
                              <a:rPr lang="en-US" sz="2400" b="0" i="1" smtClean="0">
                                <a:solidFill>
                                  <a:srgbClr val="002060"/>
                                </a:solidFill>
                                <a:latin typeface="Cambria Math" panose="02040503050406030204" pitchFamily="18" charset="0"/>
                                <a:ea typeface="Cambria Math" panose="02040503050406030204" pitchFamily="18" charset="0"/>
                              </a:rPr>
                            </m:ctrlPr>
                          </m:dPr>
                          <m:e>
                            <m:m>
                              <m:mPr>
                                <m:mcs>
                                  <m:mc>
                                    <m:mcPr>
                                      <m:count m:val="6"/>
                                      <m:mcJc m:val="center"/>
                                    </m:mcPr>
                                  </m:mc>
                                </m:mcs>
                                <m:ctrlPr>
                                  <a:rPr lang="en-US" sz="2400" b="0" i="1" smtClean="0">
                                    <a:solidFill>
                                      <a:srgbClr val="002060"/>
                                    </a:solidFill>
                                    <a:latin typeface="Cambria Math" panose="02040503050406030204" pitchFamily="18" charset="0"/>
                                    <a:ea typeface="Cambria Math" panose="02040503050406030204" pitchFamily="18" charset="0"/>
                                  </a:rPr>
                                </m:ctrlPr>
                              </m:mPr>
                              <m:mr>
                                <m:e>
                                  <m:r>
                                    <m:rPr>
                                      <m:brk m:alnAt="7"/>
                                    </m:rPr>
                                    <a:rPr lang="en-US" sz="2400" b="0" i="1" smtClean="0">
                                      <a:solidFill>
                                        <a:srgbClr val="002060"/>
                                      </a:solidFill>
                                      <a:latin typeface="Cambria Math" panose="02040503050406030204" pitchFamily="18" charset="0"/>
                                      <a:ea typeface="Cambria Math" panose="02040503050406030204" pitchFamily="18" charset="0"/>
                                    </a:rPr>
                                    <m:t>1</m:t>
                                  </m:r>
                                </m:e>
                                <m:e>
                                  <m:r>
                                    <a:rPr lang="en-US" sz="2400" b="0" i="1" smtClean="0">
                                      <a:solidFill>
                                        <a:srgbClr val="002060"/>
                                      </a:solidFill>
                                      <a:latin typeface="Cambria Math" panose="02040503050406030204" pitchFamily="18" charset="0"/>
                                      <a:ea typeface="Cambria Math" panose="02040503050406030204" pitchFamily="18" charset="0"/>
                                    </a:rPr>
                                    <m:t>1</m:t>
                                  </m:r>
                                </m:e>
                                <m:e>
                                  <m:r>
                                    <a:rPr lang="en-US" sz="2400" b="0" i="1" smtClean="0">
                                      <a:solidFill>
                                        <a:srgbClr val="002060"/>
                                      </a:solidFill>
                                      <a:latin typeface="Cambria Math" panose="02040503050406030204" pitchFamily="18" charset="0"/>
                                      <a:ea typeface="Cambria Math" panose="02040503050406030204" pitchFamily="18" charset="0"/>
                                    </a:rPr>
                                    <m:t>1</m:t>
                                  </m:r>
                                </m:e>
                                <m:e>
                                  <m:r>
                                    <a:rPr lang="en-US" sz="2400" b="0" i="1" smtClean="0">
                                      <a:solidFill>
                                        <a:srgbClr val="002060"/>
                                      </a:solidFill>
                                      <a:latin typeface="Cambria Math" panose="02040503050406030204" pitchFamily="18" charset="0"/>
                                      <a:ea typeface="Cambria Math" panose="02040503050406030204" pitchFamily="18" charset="0"/>
                                    </a:rPr>
                                    <m:t>1</m:t>
                                  </m:r>
                                </m:e>
                                <m:e>
                                  <m:r>
                                    <a:rPr lang="en-US" sz="2400" i="1">
                                      <a:solidFill>
                                        <a:srgbClr val="002060"/>
                                      </a:solidFill>
                                      <a:latin typeface="Cambria Math" panose="02040503050406030204" pitchFamily="18" charset="0"/>
                                      <a:ea typeface="Cambria Math" panose="02040503050406030204" pitchFamily="18" charset="0"/>
                                    </a:rPr>
                                    <m:t>⋯</m:t>
                                  </m:r>
                                </m:e>
                                <m:e>
                                  <m:r>
                                    <a:rPr lang="en-US" sz="2400" b="0" i="1" smtClean="0">
                                      <a:solidFill>
                                        <a:srgbClr val="002060"/>
                                      </a:solidFill>
                                      <a:latin typeface="Cambria Math" panose="02040503050406030204" pitchFamily="18" charset="0"/>
                                      <a:ea typeface="Cambria Math" panose="02040503050406030204" pitchFamily="18" charset="0"/>
                                    </a:rPr>
                                    <m:t>1</m:t>
                                  </m:r>
                                </m:e>
                              </m:mr>
                              <m:mr>
                                <m:e>
                                  <m:r>
                                    <a:rPr lang="en-US" sz="2400" b="0" i="1" smtClean="0">
                                      <a:solidFill>
                                        <a:srgbClr val="002060"/>
                                      </a:solidFill>
                                      <a:latin typeface="Cambria Math" panose="02040503050406030204" pitchFamily="18" charset="0"/>
                                      <a:ea typeface="Cambria Math" panose="02040503050406030204" pitchFamily="18" charset="0"/>
                                    </a:rPr>
                                    <m:t>1</m:t>
                                  </m:r>
                                </m:e>
                                <m:e>
                                  <m:r>
                                    <a:rPr lang="en-US" sz="2400" i="1">
                                      <a:solidFill>
                                        <a:srgbClr val="002060"/>
                                      </a:solidFill>
                                      <a:latin typeface="Cambria Math" panose="02040503050406030204" pitchFamily="18" charset="0"/>
                                      <a:ea typeface="Cambria Math" panose="02040503050406030204" pitchFamily="18" charset="0"/>
                                    </a:rPr>
                                    <m:t>𝜔</m:t>
                                  </m:r>
                                </m:e>
                                <m:e>
                                  <m:sSup>
                                    <m:sSupPr>
                                      <m:ctrlPr>
                                        <a:rPr lang="en-US" sz="2400" i="1" smtClean="0">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b="0" i="1" smtClean="0">
                                          <a:solidFill>
                                            <a:srgbClr val="002060"/>
                                          </a:solidFill>
                                          <a:latin typeface="Cambria Math" panose="02040503050406030204" pitchFamily="18" charset="0"/>
                                          <a:ea typeface="Cambria Math" panose="02040503050406030204" pitchFamily="18" charset="0"/>
                                        </a:rPr>
                                        <m:t>2</m:t>
                                      </m:r>
                                    </m:sup>
                                  </m:sSup>
                                </m:e>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b="0" i="1" smtClean="0">
                                          <a:solidFill>
                                            <a:srgbClr val="002060"/>
                                          </a:solidFill>
                                          <a:latin typeface="Cambria Math" panose="02040503050406030204" pitchFamily="18" charset="0"/>
                                          <a:ea typeface="Cambria Math" panose="02040503050406030204" pitchFamily="18" charset="0"/>
                                        </a:rPr>
                                        <m:t>3</m:t>
                                      </m:r>
                                    </m:sup>
                                  </m:sSup>
                                </m:e>
                                <m:e>
                                  <m:r>
                                    <a:rPr lang="en-US" sz="2400" i="1">
                                      <a:solidFill>
                                        <a:srgbClr val="002060"/>
                                      </a:solidFill>
                                      <a:latin typeface="Cambria Math" panose="02040503050406030204" pitchFamily="18" charset="0"/>
                                      <a:ea typeface="Cambria Math" panose="02040503050406030204" pitchFamily="18" charset="0"/>
                                    </a:rPr>
                                    <m:t>⋯</m:t>
                                  </m:r>
                                </m:e>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b="0" i="1" smtClean="0">
                                          <a:solidFill>
                                            <a:srgbClr val="002060"/>
                                          </a:solidFill>
                                          <a:latin typeface="Cambria Math" panose="02040503050406030204" pitchFamily="18" charset="0"/>
                                          <a:ea typeface="Cambria Math" panose="02040503050406030204" pitchFamily="18" charset="0"/>
                                        </a:rPr>
                                        <m:t>𝑁</m:t>
                                      </m:r>
                                      <m:r>
                                        <a:rPr lang="en-US" sz="2400" b="0" i="1" smtClean="0">
                                          <a:solidFill>
                                            <a:srgbClr val="002060"/>
                                          </a:solidFill>
                                          <a:latin typeface="Cambria Math" panose="02040503050406030204" pitchFamily="18" charset="0"/>
                                          <a:ea typeface="Cambria Math" panose="02040503050406030204" pitchFamily="18" charset="0"/>
                                        </a:rPr>
                                        <m:t>−1</m:t>
                                      </m:r>
                                    </m:sup>
                                  </m:sSup>
                                </m:e>
                              </m:mr>
                              <m:mr>
                                <m:e>
                                  <m:r>
                                    <a:rPr lang="en-US" sz="2400" b="0" i="1" smtClean="0">
                                      <a:solidFill>
                                        <a:srgbClr val="002060"/>
                                      </a:solidFill>
                                      <a:latin typeface="Cambria Math" panose="02040503050406030204" pitchFamily="18" charset="0"/>
                                      <a:ea typeface="Cambria Math" panose="02040503050406030204" pitchFamily="18" charset="0"/>
                                    </a:rPr>
                                    <m:t>1</m:t>
                                  </m:r>
                                </m:e>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b="0" i="1" smtClean="0">
                                          <a:solidFill>
                                            <a:srgbClr val="002060"/>
                                          </a:solidFill>
                                          <a:latin typeface="Cambria Math" panose="02040503050406030204" pitchFamily="18" charset="0"/>
                                          <a:ea typeface="Cambria Math" panose="02040503050406030204" pitchFamily="18" charset="0"/>
                                        </a:rPr>
                                        <m:t>2</m:t>
                                      </m:r>
                                    </m:sup>
                                  </m:sSup>
                                </m:e>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b="0" i="1" smtClean="0">
                                          <a:solidFill>
                                            <a:srgbClr val="002060"/>
                                          </a:solidFill>
                                          <a:latin typeface="Cambria Math" panose="02040503050406030204" pitchFamily="18" charset="0"/>
                                          <a:ea typeface="Cambria Math" panose="02040503050406030204" pitchFamily="18" charset="0"/>
                                        </a:rPr>
                                        <m:t>4</m:t>
                                      </m:r>
                                    </m:sup>
                                  </m:sSup>
                                </m:e>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b="0" i="1" smtClean="0">
                                          <a:solidFill>
                                            <a:srgbClr val="002060"/>
                                          </a:solidFill>
                                          <a:latin typeface="Cambria Math" panose="02040503050406030204" pitchFamily="18" charset="0"/>
                                          <a:ea typeface="Cambria Math" panose="02040503050406030204" pitchFamily="18" charset="0"/>
                                        </a:rPr>
                                        <m:t>6</m:t>
                                      </m:r>
                                    </m:sup>
                                  </m:sSup>
                                </m:e>
                                <m:e>
                                  <m:r>
                                    <a:rPr lang="en-US" sz="2400" i="1">
                                      <a:solidFill>
                                        <a:srgbClr val="002060"/>
                                      </a:solidFill>
                                      <a:latin typeface="Cambria Math" panose="02040503050406030204" pitchFamily="18" charset="0"/>
                                      <a:ea typeface="Cambria Math" panose="02040503050406030204" pitchFamily="18" charset="0"/>
                                    </a:rPr>
                                    <m:t>⋯</m:t>
                                  </m:r>
                                </m:e>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b="0" i="1" smtClean="0">
                                          <a:solidFill>
                                            <a:srgbClr val="002060"/>
                                          </a:solidFill>
                                          <a:latin typeface="Cambria Math" panose="02040503050406030204" pitchFamily="18" charset="0"/>
                                          <a:ea typeface="Cambria Math" panose="02040503050406030204" pitchFamily="18" charset="0"/>
                                        </a:rPr>
                                        <m:t>2</m:t>
                                      </m:r>
                                      <m:r>
                                        <a:rPr lang="en-US" sz="2400" i="1">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𝑁</m:t>
                                      </m:r>
                                      <m:r>
                                        <a:rPr lang="en-US" sz="2400" i="1">
                                          <a:solidFill>
                                            <a:srgbClr val="002060"/>
                                          </a:solidFill>
                                          <a:latin typeface="Cambria Math" panose="02040503050406030204" pitchFamily="18" charset="0"/>
                                          <a:ea typeface="Cambria Math" panose="02040503050406030204" pitchFamily="18" charset="0"/>
                                        </a:rPr>
                                        <m:t>−1)</m:t>
                                      </m:r>
                                    </m:sup>
                                  </m:sSup>
                                </m:e>
                              </m:mr>
                              <m:mr>
                                <m:e>
                                  <m:r>
                                    <a:rPr lang="en-US" sz="2400" b="0" i="1" smtClean="0">
                                      <a:solidFill>
                                        <a:srgbClr val="002060"/>
                                      </a:solidFill>
                                      <a:latin typeface="Cambria Math" panose="02040503050406030204" pitchFamily="18" charset="0"/>
                                      <a:ea typeface="Cambria Math" panose="02040503050406030204" pitchFamily="18" charset="0"/>
                                    </a:rPr>
                                    <m:t>1</m:t>
                                  </m:r>
                                </m:e>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b="0" i="1" smtClean="0">
                                          <a:solidFill>
                                            <a:srgbClr val="002060"/>
                                          </a:solidFill>
                                          <a:latin typeface="Cambria Math" panose="02040503050406030204" pitchFamily="18" charset="0"/>
                                          <a:ea typeface="Cambria Math" panose="02040503050406030204" pitchFamily="18" charset="0"/>
                                        </a:rPr>
                                        <m:t>3</m:t>
                                      </m:r>
                                    </m:sup>
                                  </m:sSup>
                                </m:e>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b="0" i="1" smtClean="0">
                                          <a:solidFill>
                                            <a:srgbClr val="002060"/>
                                          </a:solidFill>
                                          <a:latin typeface="Cambria Math" panose="02040503050406030204" pitchFamily="18" charset="0"/>
                                          <a:ea typeface="Cambria Math" panose="02040503050406030204" pitchFamily="18" charset="0"/>
                                        </a:rPr>
                                        <m:t>6</m:t>
                                      </m:r>
                                    </m:sup>
                                  </m:sSup>
                                </m:e>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b="0" i="1" smtClean="0">
                                          <a:solidFill>
                                            <a:srgbClr val="002060"/>
                                          </a:solidFill>
                                          <a:latin typeface="Cambria Math" panose="02040503050406030204" pitchFamily="18" charset="0"/>
                                          <a:ea typeface="Cambria Math" panose="02040503050406030204" pitchFamily="18" charset="0"/>
                                        </a:rPr>
                                        <m:t>9</m:t>
                                      </m:r>
                                    </m:sup>
                                  </m:sSup>
                                </m:e>
                                <m:e>
                                  <m:r>
                                    <a:rPr lang="en-US" sz="2400" i="1">
                                      <a:solidFill>
                                        <a:srgbClr val="002060"/>
                                      </a:solidFill>
                                      <a:latin typeface="Cambria Math" panose="02040503050406030204" pitchFamily="18" charset="0"/>
                                      <a:ea typeface="Cambria Math" panose="02040503050406030204" pitchFamily="18" charset="0"/>
                                    </a:rPr>
                                    <m:t>⋯</m:t>
                                  </m:r>
                                </m:e>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b="0" i="1" smtClean="0">
                                          <a:solidFill>
                                            <a:srgbClr val="002060"/>
                                          </a:solidFill>
                                          <a:latin typeface="Cambria Math" panose="02040503050406030204" pitchFamily="18" charset="0"/>
                                          <a:ea typeface="Cambria Math" panose="02040503050406030204" pitchFamily="18" charset="0"/>
                                        </a:rPr>
                                        <m:t>3</m:t>
                                      </m:r>
                                      <m:r>
                                        <a:rPr lang="en-US" sz="2400" i="1">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𝑁</m:t>
                                      </m:r>
                                      <m:r>
                                        <a:rPr lang="en-US" sz="2400" i="1">
                                          <a:solidFill>
                                            <a:srgbClr val="002060"/>
                                          </a:solidFill>
                                          <a:latin typeface="Cambria Math" panose="02040503050406030204" pitchFamily="18" charset="0"/>
                                          <a:ea typeface="Cambria Math" panose="02040503050406030204" pitchFamily="18" charset="0"/>
                                        </a:rPr>
                                        <m:t>−1)</m:t>
                                      </m:r>
                                    </m:sup>
                                  </m:sSup>
                                </m:e>
                              </m:mr>
                              <m:mr>
                                <m:e>
                                  <m:r>
                                    <a:rPr lang="en-US" sz="2400" b="0" i="1" smtClean="0">
                                      <a:solidFill>
                                        <a:srgbClr val="002060"/>
                                      </a:solidFill>
                                      <a:latin typeface="Cambria Math" panose="02040503050406030204" pitchFamily="18" charset="0"/>
                                      <a:ea typeface="Cambria Math" panose="02040503050406030204" pitchFamily="18" charset="0"/>
                                    </a:rPr>
                                    <m:t>⋮</m:t>
                                  </m:r>
                                </m:e>
                                <m:e>
                                  <m:r>
                                    <a:rPr lang="en-US" sz="2400" i="1">
                                      <a:solidFill>
                                        <a:srgbClr val="002060"/>
                                      </a:solidFill>
                                      <a:latin typeface="Cambria Math" panose="02040503050406030204" pitchFamily="18" charset="0"/>
                                      <a:ea typeface="Cambria Math" panose="02040503050406030204" pitchFamily="18" charset="0"/>
                                    </a:rPr>
                                    <m:t>⋮</m:t>
                                  </m:r>
                                </m:e>
                                <m:e>
                                  <m:r>
                                    <a:rPr lang="en-US" sz="2400" i="1">
                                      <a:solidFill>
                                        <a:srgbClr val="002060"/>
                                      </a:solidFill>
                                      <a:latin typeface="Cambria Math" panose="02040503050406030204" pitchFamily="18" charset="0"/>
                                      <a:ea typeface="Cambria Math" panose="02040503050406030204" pitchFamily="18" charset="0"/>
                                    </a:rPr>
                                    <m:t>⋮</m:t>
                                  </m:r>
                                </m:e>
                                <m:e>
                                  <m:r>
                                    <a:rPr lang="en-US" sz="2400" i="1">
                                      <a:solidFill>
                                        <a:srgbClr val="002060"/>
                                      </a:solidFill>
                                      <a:latin typeface="Cambria Math" panose="02040503050406030204" pitchFamily="18" charset="0"/>
                                      <a:ea typeface="Cambria Math" panose="02040503050406030204" pitchFamily="18" charset="0"/>
                                    </a:rPr>
                                    <m:t>⋮</m:t>
                                  </m:r>
                                </m:e>
                                <m:e>
                                  <m:r>
                                    <a:rPr lang="en-US" sz="2400" b="0" i="1" smtClean="0">
                                      <a:solidFill>
                                        <a:srgbClr val="002060"/>
                                      </a:solidFill>
                                      <a:latin typeface="Cambria Math" panose="02040503050406030204" pitchFamily="18" charset="0"/>
                                      <a:ea typeface="Cambria Math" panose="02040503050406030204" pitchFamily="18" charset="0"/>
                                    </a:rPr>
                                    <m:t>⋱</m:t>
                                  </m:r>
                                </m:e>
                                <m:e>
                                  <m:r>
                                    <a:rPr lang="en-US" sz="2400" i="1">
                                      <a:solidFill>
                                        <a:srgbClr val="002060"/>
                                      </a:solidFill>
                                      <a:latin typeface="Cambria Math" panose="02040503050406030204" pitchFamily="18" charset="0"/>
                                      <a:ea typeface="Cambria Math" panose="02040503050406030204" pitchFamily="18" charset="0"/>
                                    </a:rPr>
                                    <m:t>⋮</m:t>
                                  </m:r>
                                </m:e>
                              </m:mr>
                              <m:mr>
                                <m:e>
                                  <m:r>
                                    <a:rPr lang="en-US" sz="2400" b="0" i="1" smtClean="0">
                                      <a:solidFill>
                                        <a:srgbClr val="002060"/>
                                      </a:solidFill>
                                      <a:latin typeface="Cambria Math" panose="02040503050406030204" pitchFamily="18" charset="0"/>
                                      <a:ea typeface="Cambria Math" panose="02040503050406030204" pitchFamily="18" charset="0"/>
                                    </a:rPr>
                                    <m:t>1</m:t>
                                  </m:r>
                                </m:e>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b="0" i="1" smtClean="0">
                                          <a:solidFill>
                                            <a:srgbClr val="002060"/>
                                          </a:solidFill>
                                          <a:latin typeface="Cambria Math" panose="02040503050406030204" pitchFamily="18" charset="0"/>
                                          <a:ea typeface="Cambria Math" panose="02040503050406030204" pitchFamily="18" charset="0"/>
                                        </a:rPr>
                                        <m:t>𝑁</m:t>
                                      </m:r>
                                      <m:r>
                                        <a:rPr lang="en-US" sz="2400" b="0" i="1" smtClean="0">
                                          <a:solidFill>
                                            <a:srgbClr val="002060"/>
                                          </a:solidFill>
                                          <a:latin typeface="Cambria Math" panose="02040503050406030204" pitchFamily="18" charset="0"/>
                                          <a:ea typeface="Cambria Math" panose="02040503050406030204" pitchFamily="18" charset="0"/>
                                        </a:rPr>
                                        <m:t>−1</m:t>
                                      </m:r>
                                    </m:sup>
                                  </m:sSup>
                                </m:e>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b="0" i="1" smtClean="0">
                                          <a:solidFill>
                                            <a:srgbClr val="002060"/>
                                          </a:solidFill>
                                          <a:latin typeface="Cambria Math" panose="02040503050406030204" pitchFamily="18" charset="0"/>
                                          <a:ea typeface="Cambria Math" panose="02040503050406030204" pitchFamily="18" charset="0"/>
                                        </a:rPr>
                                        <m:t>2(</m:t>
                                      </m:r>
                                      <m:r>
                                        <a:rPr lang="en-US" sz="2400" b="0" i="1" smtClean="0">
                                          <a:solidFill>
                                            <a:srgbClr val="002060"/>
                                          </a:solidFill>
                                          <a:latin typeface="Cambria Math" panose="02040503050406030204" pitchFamily="18" charset="0"/>
                                          <a:ea typeface="Cambria Math" panose="02040503050406030204" pitchFamily="18" charset="0"/>
                                        </a:rPr>
                                        <m:t>𝑁</m:t>
                                      </m:r>
                                      <m:r>
                                        <a:rPr lang="en-US" sz="2400" b="0" i="1" smtClean="0">
                                          <a:solidFill>
                                            <a:srgbClr val="002060"/>
                                          </a:solidFill>
                                          <a:latin typeface="Cambria Math" panose="02040503050406030204" pitchFamily="18" charset="0"/>
                                          <a:ea typeface="Cambria Math" panose="02040503050406030204" pitchFamily="18" charset="0"/>
                                        </a:rPr>
                                        <m:t>−1)</m:t>
                                      </m:r>
                                    </m:sup>
                                  </m:sSup>
                                </m:e>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b="0" i="1" smtClean="0">
                                          <a:solidFill>
                                            <a:srgbClr val="002060"/>
                                          </a:solidFill>
                                          <a:latin typeface="Cambria Math" panose="02040503050406030204" pitchFamily="18" charset="0"/>
                                          <a:ea typeface="Cambria Math" panose="02040503050406030204" pitchFamily="18" charset="0"/>
                                        </a:rPr>
                                        <m:t>3</m:t>
                                      </m:r>
                                      <m:r>
                                        <a:rPr lang="en-US" sz="2400" i="1">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𝑁</m:t>
                                      </m:r>
                                      <m:r>
                                        <a:rPr lang="en-US" sz="2400" i="1">
                                          <a:solidFill>
                                            <a:srgbClr val="002060"/>
                                          </a:solidFill>
                                          <a:latin typeface="Cambria Math" panose="02040503050406030204" pitchFamily="18" charset="0"/>
                                          <a:ea typeface="Cambria Math" panose="02040503050406030204" pitchFamily="18" charset="0"/>
                                        </a:rPr>
                                        <m:t>−1)</m:t>
                                      </m:r>
                                    </m:sup>
                                  </m:sSup>
                                </m:e>
                                <m:e>
                                  <m:r>
                                    <a:rPr lang="en-US" sz="2400" i="1">
                                      <a:solidFill>
                                        <a:srgbClr val="002060"/>
                                      </a:solidFill>
                                      <a:latin typeface="Cambria Math" panose="02040503050406030204" pitchFamily="18" charset="0"/>
                                      <a:ea typeface="Cambria Math" panose="02040503050406030204" pitchFamily="18" charset="0"/>
                                    </a:rPr>
                                    <m:t>⋯</m:t>
                                  </m:r>
                                </m:e>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𝜔</m:t>
                                      </m:r>
                                    </m:e>
                                    <m:sup>
                                      <m:r>
                                        <a:rPr lang="en-US" sz="2400" i="1">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𝑁</m:t>
                                      </m:r>
                                      <m:r>
                                        <a:rPr lang="en-US" sz="2400" i="1">
                                          <a:solidFill>
                                            <a:srgbClr val="002060"/>
                                          </a:solidFill>
                                          <a:latin typeface="Cambria Math" panose="02040503050406030204" pitchFamily="18" charset="0"/>
                                          <a:ea typeface="Cambria Math" panose="02040503050406030204" pitchFamily="18" charset="0"/>
                                        </a:rPr>
                                        <m:t>−1)(</m:t>
                                      </m:r>
                                      <m:r>
                                        <a:rPr lang="en-US" sz="2400" i="1">
                                          <a:solidFill>
                                            <a:srgbClr val="002060"/>
                                          </a:solidFill>
                                          <a:latin typeface="Cambria Math" panose="02040503050406030204" pitchFamily="18" charset="0"/>
                                          <a:ea typeface="Cambria Math" panose="02040503050406030204" pitchFamily="18" charset="0"/>
                                        </a:rPr>
                                        <m:t>𝑁</m:t>
                                      </m:r>
                                      <m:r>
                                        <a:rPr lang="en-US" sz="2400" i="1">
                                          <a:solidFill>
                                            <a:srgbClr val="002060"/>
                                          </a:solidFill>
                                          <a:latin typeface="Cambria Math" panose="02040503050406030204" pitchFamily="18" charset="0"/>
                                          <a:ea typeface="Cambria Math" panose="02040503050406030204" pitchFamily="18" charset="0"/>
                                        </a:rPr>
                                        <m:t>−1)</m:t>
                                      </m:r>
                                    </m:sup>
                                  </m:sSup>
                                </m:e>
                              </m:mr>
                            </m:m>
                          </m:e>
                        </m:d>
                      </m:oMath>
                    </m:oMathPara>
                  </a14:m>
                  <a:endParaRPr lang="en-US" sz="2400" dirty="0"/>
                </a:p>
              </p:txBody>
            </p:sp>
          </mc:Choice>
          <mc:Fallback xmlns="">
            <p:sp>
              <p:nvSpPr>
                <p:cNvPr id="7" name="Rectangle 6">
                  <a:extLst>
                    <a:ext uri="{FF2B5EF4-FFF2-40B4-BE49-F238E27FC236}">
                      <a16:creationId xmlns:a16="http://schemas.microsoft.com/office/drawing/2014/main" id="{5BB11929-FEA2-D445-BED4-58BAAB150143}"/>
                    </a:ext>
                  </a:extLst>
                </p:cNvPr>
                <p:cNvSpPr>
                  <a:spLocks noRot="1" noChangeAspect="1" noMove="1" noResize="1" noEditPoints="1" noAdjustHandles="1" noChangeArrowheads="1" noChangeShapeType="1" noTextEdit="1"/>
                </p:cNvSpPr>
                <p:nvPr/>
              </p:nvSpPr>
              <p:spPr>
                <a:xfrm>
                  <a:off x="1964356" y="1879485"/>
                  <a:ext cx="8263288" cy="2184252"/>
                </a:xfrm>
                <a:prstGeom prst="rect">
                  <a:avLst/>
                </a:prstGeom>
                <a:blipFill>
                  <a:blip r:embed="rId6"/>
                  <a:stretch>
                    <a:fillRect b="-1156"/>
                  </a:stretch>
                </a:blipFill>
              </p:spPr>
              <p:txBody>
                <a:bodyPr/>
                <a:lstStyle/>
                <a:p>
                  <a:r>
                    <a:rPr lang="en-US">
                      <a:noFill/>
                    </a:rPr>
                    <a:t> </a:t>
                  </a:r>
                </a:p>
              </p:txBody>
            </p:sp>
          </mc:Fallback>
        </mc:AlternateContent>
        <p:sp>
          <p:nvSpPr>
            <p:cNvPr id="12" name="Rectangle 11">
              <a:extLst>
                <a:ext uri="{FF2B5EF4-FFF2-40B4-BE49-F238E27FC236}">
                  <a16:creationId xmlns:a16="http://schemas.microsoft.com/office/drawing/2014/main" id="{E320D84E-45B9-3C46-8E19-8D48F26F9CE0}"/>
                </a:ext>
              </a:extLst>
            </p:cNvPr>
            <p:cNvSpPr/>
            <p:nvPr/>
          </p:nvSpPr>
          <p:spPr>
            <a:xfrm>
              <a:off x="3582649" y="1879485"/>
              <a:ext cx="3627620" cy="1508292"/>
            </a:xfrm>
            <a:prstGeom prst="rect">
              <a:avLst/>
            </a:prstGeom>
            <a:noFill/>
            <a:ln>
              <a:solidFill>
                <a:srgbClr val="C0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00156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0DE9FF98-3CB0-F048-9F02-65038C299A65}"/>
                  </a:ext>
                </a:extLst>
              </p:cNvPr>
              <p:cNvSpPr/>
              <p:nvPr/>
            </p:nvSpPr>
            <p:spPr>
              <a:xfrm>
                <a:off x="91321" y="2270160"/>
                <a:ext cx="10623190" cy="61093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𝑄𝐹𝑇</m:t>
                      </m:r>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ea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𝑥</m:t>
                              </m:r>
                            </m:e>
                            <m:sub>
                              <m:r>
                                <a:rPr lang="en-US" i="1">
                                  <a:solidFill>
                                    <a:schemeClr val="tx1"/>
                                  </a:solidFill>
                                  <a:latin typeface="Cambria Math" panose="02040503050406030204" pitchFamily="18" charset="0"/>
                                  <a:ea typeface="Cambria Math" panose="02040503050406030204" pitchFamily="18" charset="0"/>
                                </a:rPr>
                                <m:t>=1</m:t>
                              </m:r>
                            </m:sub>
                          </m:sSub>
                        </m:e>
                      </m:d>
                      <m:r>
                        <a:rPr lang="en-US" i="1">
                          <a:solidFill>
                            <a:schemeClr val="tx1"/>
                          </a:solidFill>
                          <a:latin typeface="Cambria Math" panose="02040503050406030204" pitchFamily="18" charset="0"/>
                          <a:ea typeface="Cambria Math" panose="02040503050406030204" pitchFamily="18" charset="0"/>
                        </a:rPr>
                        <m:t>=</m:t>
                      </m:r>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1</m:t>
                          </m:r>
                        </m:num>
                        <m:den>
                          <m:r>
                            <a:rPr lang="en-US" i="1">
                              <a:solidFill>
                                <a:schemeClr val="tx1"/>
                              </a:solidFill>
                              <a:latin typeface="Cambria Math" panose="02040503050406030204" pitchFamily="18" charset="0"/>
                              <a:ea typeface="Cambria Math" panose="02040503050406030204" pitchFamily="18" charset="0"/>
                            </a:rPr>
                            <m:t>2</m:t>
                          </m:r>
                        </m:den>
                      </m:f>
                      <m:d>
                        <m:dPr>
                          <m:ctrlPr>
                            <a:rPr lang="en-US" i="1">
                              <a:solidFill>
                                <a:schemeClr val="tx1"/>
                              </a:solidFill>
                              <a:latin typeface="Cambria Math" panose="02040503050406030204" pitchFamily="18" charset="0"/>
                              <a:ea typeface="Cambria Math" panose="02040503050406030204" pitchFamily="18" charset="0"/>
                            </a:rPr>
                          </m:ctrlPr>
                        </m:dPr>
                        <m:e>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𝜋</m:t>
                                  </m:r>
                                  <m:r>
                                    <a:rPr lang="en-US" i="1">
                                      <a:solidFill>
                                        <a:schemeClr val="tx1"/>
                                      </a:solidFill>
                                      <a:latin typeface="Cambria Math" panose="02040503050406030204" pitchFamily="18" charset="0"/>
                                      <a:ea typeface="Cambria Math" panose="02040503050406030204" pitchFamily="18" charset="0"/>
                                    </a:rPr>
                                    <m:t>𝑖</m:t>
                                  </m:r>
                                </m:num>
                                <m:den>
                                  <m:r>
                                    <a:rPr lang="en-US" i="1">
                                      <a:solidFill>
                                        <a:schemeClr val="tx1"/>
                                      </a:solidFill>
                                      <a:latin typeface="Cambria Math" panose="02040503050406030204" pitchFamily="18" charset="0"/>
                                      <a:ea typeface="Cambria Math" panose="02040503050406030204" pitchFamily="18" charset="0"/>
                                    </a:rPr>
                                    <m:t>2</m:t>
                                  </m:r>
                                </m:den>
                              </m:f>
                              <m:r>
                                <a:rPr lang="en-US" b="1" i="1">
                                  <a:solidFill>
                                    <a:schemeClr val="tx1"/>
                                  </a:solidFill>
                                  <a:latin typeface="Cambria Math" panose="02040503050406030204" pitchFamily="18" charset="0"/>
                                  <a:ea typeface="Cambria Math" panose="02040503050406030204" pitchFamily="18" charset="0"/>
                                </a:rPr>
                                <m:t>𝟏</m:t>
                              </m:r>
                              <m:r>
                                <a:rPr lang="en-US" b="1" i="1">
                                  <a:solidFill>
                                    <a:schemeClr val="tx1"/>
                                  </a:solidFill>
                                  <a:latin typeface="Cambria Math" panose="02040503050406030204" pitchFamily="18" charset="0"/>
                                  <a:ea typeface="Cambria Math" panose="02040503050406030204" pitchFamily="18" charset="0"/>
                                </a:rPr>
                                <m:t>×</m:t>
                              </m:r>
                              <m:r>
                                <a:rPr lang="en-US" b="1" i="1">
                                  <a:solidFill>
                                    <a:schemeClr val="tx1"/>
                                  </a:solidFill>
                                  <a:latin typeface="Cambria Math" panose="02040503050406030204" pitchFamily="18" charset="0"/>
                                  <a:ea typeface="Cambria Math" panose="02040503050406030204" pitchFamily="18" charset="0"/>
                                </a:rPr>
                                <m:t>𝟎</m:t>
                              </m:r>
                            </m:sup>
                          </m:sSup>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|0</m:t>
                              </m:r>
                            </m:e>
                          </m:d>
                          <m:r>
                            <a:rPr lang="en-US" i="1">
                              <a:solidFill>
                                <a:schemeClr val="tx1"/>
                              </a:solidFill>
                              <a:latin typeface="Cambria Math" panose="02040503050406030204" pitchFamily="18" charset="0"/>
                              <a:ea typeface="Cambria Math" panose="02040503050406030204" pitchFamily="18" charset="0"/>
                            </a:rPr>
                            <m:t>+</m:t>
                          </m:r>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𝜋</m:t>
                                  </m:r>
                                  <m:r>
                                    <a:rPr lang="en-US" i="1">
                                      <a:solidFill>
                                        <a:schemeClr val="tx1"/>
                                      </a:solidFill>
                                      <a:latin typeface="Cambria Math" panose="02040503050406030204" pitchFamily="18" charset="0"/>
                                      <a:ea typeface="Cambria Math" panose="02040503050406030204" pitchFamily="18" charset="0"/>
                                    </a:rPr>
                                    <m:t>𝑖</m:t>
                                  </m:r>
                                </m:num>
                                <m:den>
                                  <m:r>
                                    <a:rPr lang="en-US" i="1">
                                      <a:solidFill>
                                        <a:schemeClr val="tx1"/>
                                      </a:solidFill>
                                      <a:latin typeface="Cambria Math" panose="02040503050406030204" pitchFamily="18" charset="0"/>
                                      <a:ea typeface="Cambria Math" panose="02040503050406030204" pitchFamily="18" charset="0"/>
                                    </a:rPr>
                                    <m:t>2</m:t>
                                  </m:r>
                                </m:den>
                              </m:f>
                              <m:r>
                                <a:rPr lang="en-US" b="1" i="1">
                                  <a:solidFill>
                                    <a:schemeClr val="tx1"/>
                                  </a:solidFill>
                                  <a:latin typeface="Cambria Math" panose="02040503050406030204" pitchFamily="18" charset="0"/>
                                  <a:ea typeface="Cambria Math" panose="02040503050406030204" pitchFamily="18" charset="0"/>
                                </a:rPr>
                                <m:t>𝟏</m:t>
                              </m:r>
                              <m:r>
                                <a:rPr lang="en-US" b="1" i="1">
                                  <a:solidFill>
                                    <a:schemeClr val="tx1"/>
                                  </a:solidFill>
                                  <a:latin typeface="Cambria Math" panose="02040503050406030204" pitchFamily="18" charset="0"/>
                                  <a:ea typeface="Cambria Math" panose="02040503050406030204" pitchFamily="18" charset="0"/>
                                </a:rPr>
                                <m:t>×</m:t>
                              </m:r>
                              <m:r>
                                <a:rPr lang="en-US" b="1" i="1">
                                  <a:solidFill>
                                    <a:schemeClr val="tx1"/>
                                  </a:solidFill>
                                  <a:latin typeface="Cambria Math" panose="02040503050406030204" pitchFamily="18" charset="0"/>
                                  <a:ea typeface="Cambria Math" panose="02040503050406030204" pitchFamily="18" charset="0"/>
                                </a:rPr>
                                <m:t>𝟏</m:t>
                              </m:r>
                            </m:sup>
                          </m:sSup>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|1</m:t>
                              </m:r>
                            </m:e>
                          </m:d>
                          <m:r>
                            <a:rPr lang="en-US" i="1">
                              <a:solidFill>
                                <a:schemeClr val="tx1"/>
                              </a:solidFill>
                              <a:latin typeface="Cambria Math" panose="02040503050406030204" pitchFamily="18" charset="0"/>
                              <a:ea typeface="Cambria Math" panose="02040503050406030204" pitchFamily="18" charset="0"/>
                            </a:rPr>
                            <m:t>+</m:t>
                          </m:r>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𝜋</m:t>
                                  </m:r>
                                  <m:r>
                                    <a:rPr lang="en-US" i="1">
                                      <a:solidFill>
                                        <a:schemeClr val="tx1"/>
                                      </a:solidFill>
                                      <a:latin typeface="Cambria Math" panose="02040503050406030204" pitchFamily="18" charset="0"/>
                                      <a:ea typeface="Cambria Math" panose="02040503050406030204" pitchFamily="18" charset="0"/>
                                    </a:rPr>
                                    <m:t>𝑖</m:t>
                                  </m:r>
                                </m:num>
                                <m:den>
                                  <m:r>
                                    <a:rPr lang="en-US" i="1">
                                      <a:solidFill>
                                        <a:schemeClr val="tx1"/>
                                      </a:solidFill>
                                      <a:latin typeface="Cambria Math" panose="02040503050406030204" pitchFamily="18" charset="0"/>
                                      <a:ea typeface="Cambria Math" panose="02040503050406030204" pitchFamily="18" charset="0"/>
                                    </a:rPr>
                                    <m:t>2</m:t>
                                  </m:r>
                                </m:den>
                              </m:f>
                              <m:r>
                                <a:rPr lang="en-US" b="1" i="1">
                                  <a:solidFill>
                                    <a:schemeClr val="tx1"/>
                                  </a:solidFill>
                                  <a:latin typeface="Cambria Math" panose="02040503050406030204" pitchFamily="18" charset="0"/>
                                  <a:ea typeface="Cambria Math" panose="02040503050406030204" pitchFamily="18" charset="0"/>
                                </a:rPr>
                                <m:t>𝟏</m:t>
                              </m:r>
                              <m:r>
                                <a:rPr lang="en-US" b="1" i="1">
                                  <a:solidFill>
                                    <a:schemeClr val="tx1"/>
                                  </a:solidFill>
                                  <a:latin typeface="Cambria Math" panose="02040503050406030204" pitchFamily="18" charset="0"/>
                                  <a:ea typeface="Cambria Math" panose="02040503050406030204" pitchFamily="18" charset="0"/>
                                </a:rPr>
                                <m:t>×</m:t>
                              </m:r>
                              <m:r>
                                <a:rPr lang="en-US" b="1" i="1">
                                  <a:solidFill>
                                    <a:schemeClr val="tx1"/>
                                  </a:solidFill>
                                  <a:latin typeface="Cambria Math" panose="02040503050406030204" pitchFamily="18" charset="0"/>
                                  <a:ea typeface="Cambria Math" panose="02040503050406030204" pitchFamily="18" charset="0"/>
                                </a:rPr>
                                <m:t>𝟐</m:t>
                              </m:r>
                            </m:sup>
                          </m:sSup>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|2</m:t>
                              </m:r>
                            </m:e>
                          </m:d>
                          <m:r>
                            <a:rPr lang="en-US" i="1">
                              <a:solidFill>
                                <a:schemeClr val="tx1"/>
                              </a:solidFill>
                              <a:latin typeface="Cambria Math" panose="02040503050406030204" pitchFamily="18" charset="0"/>
                              <a:ea typeface="Cambria Math" panose="02040503050406030204" pitchFamily="18" charset="0"/>
                            </a:rPr>
                            <m:t>+</m:t>
                          </m:r>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𝜋</m:t>
                                  </m:r>
                                  <m:r>
                                    <a:rPr lang="en-US" i="1">
                                      <a:solidFill>
                                        <a:schemeClr val="tx1"/>
                                      </a:solidFill>
                                      <a:latin typeface="Cambria Math" panose="02040503050406030204" pitchFamily="18" charset="0"/>
                                      <a:ea typeface="Cambria Math" panose="02040503050406030204" pitchFamily="18" charset="0"/>
                                    </a:rPr>
                                    <m:t>𝑖</m:t>
                                  </m:r>
                                </m:num>
                                <m:den>
                                  <m:r>
                                    <a:rPr lang="en-US" i="1">
                                      <a:solidFill>
                                        <a:schemeClr val="tx1"/>
                                      </a:solidFill>
                                      <a:latin typeface="Cambria Math" panose="02040503050406030204" pitchFamily="18" charset="0"/>
                                      <a:ea typeface="Cambria Math" panose="02040503050406030204" pitchFamily="18" charset="0"/>
                                    </a:rPr>
                                    <m:t>2</m:t>
                                  </m:r>
                                </m:den>
                              </m:f>
                              <m:r>
                                <a:rPr lang="en-US" b="1" i="1">
                                  <a:solidFill>
                                    <a:schemeClr val="tx1"/>
                                  </a:solidFill>
                                  <a:latin typeface="Cambria Math" panose="02040503050406030204" pitchFamily="18" charset="0"/>
                                  <a:ea typeface="Cambria Math" panose="02040503050406030204" pitchFamily="18" charset="0"/>
                                </a:rPr>
                                <m:t>𝟏</m:t>
                              </m:r>
                              <m:r>
                                <a:rPr lang="en-US" b="1" i="1">
                                  <a:solidFill>
                                    <a:schemeClr val="tx1"/>
                                  </a:solidFill>
                                  <a:latin typeface="Cambria Math" panose="02040503050406030204" pitchFamily="18" charset="0"/>
                                  <a:ea typeface="Cambria Math" panose="02040503050406030204" pitchFamily="18" charset="0"/>
                                </a:rPr>
                                <m:t>×</m:t>
                              </m:r>
                              <m:r>
                                <a:rPr lang="en-US" b="1" i="1">
                                  <a:solidFill>
                                    <a:schemeClr val="tx1"/>
                                  </a:solidFill>
                                  <a:latin typeface="Cambria Math" panose="02040503050406030204" pitchFamily="18" charset="0"/>
                                  <a:ea typeface="Cambria Math" panose="02040503050406030204" pitchFamily="18" charset="0"/>
                                </a:rPr>
                                <m:t>𝟑</m:t>
                              </m:r>
                            </m:sup>
                          </m:sSup>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|3</m:t>
                              </m:r>
                            </m:e>
                          </m:d>
                        </m:e>
                      </m:d>
                      <m:r>
                        <a:rPr lang="en-US" i="1">
                          <a:solidFill>
                            <a:schemeClr val="tx1"/>
                          </a:solidFill>
                          <a:latin typeface="Cambria Math" panose="02040503050406030204" pitchFamily="18" charset="0"/>
                          <a:ea typeface="Cambria Math" panose="02040503050406030204" pitchFamily="18" charset="0"/>
                        </a:rPr>
                        <m:t>=</m:t>
                      </m:r>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1</m:t>
                          </m:r>
                        </m:num>
                        <m:den>
                          <m:r>
                            <a:rPr lang="en-US" i="1">
                              <a:solidFill>
                                <a:schemeClr val="tx1"/>
                              </a:solidFill>
                              <a:latin typeface="Cambria Math" panose="02040503050406030204" pitchFamily="18" charset="0"/>
                              <a:ea typeface="Cambria Math" panose="02040503050406030204" pitchFamily="18" charset="0"/>
                            </a:rPr>
                            <m:t>2</m:t>
                          </m:r>
                        </m:den>
                      </m:f>
                      <m:d>
                        <m:dPr>
                          <m:ctrlPr>
                            <a:rPr lang="en-US" i="1">
                              <a:solidFill>
                                <a:schemeClr val="tx1"/>
                              </a:solidFill>
                              <a:latin typeface="Cambria Math" panose="02040503050406030204" pitchFamily="18" charset="0"/>
                              <a:ea typeface="Cambria Math" panose="02040503050406030204" pitchFamily="18" charset="0"/>
                            </a:rPr>
                          </m:ctrlPr>
                        </m:dPr>
                        <m:e>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|00</m:t>
                              </m:r>
                            </m:e>
                          </m:d>
                          <m:r>
                            <a:rPr lang="en-US" i="1">
                              <a:solidFill>
                                <a:schemeClr val="tx1"/>
                              </a:solidFill>
                              <a:latin typeface="Cambria Math" panose="02040503050406030204" pitchFamily="18" charset="0"/>
                              <a:ea typeface="Cambria Math" panose="02040503050406030204" pitchFamily="18" charset="0"/>
                            </a:rPr>
                            <m:t>+</m:t>
                          </m:r>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𝜋</m:t>
                                  </m:r>
                                  <m:r>
                                    <a:rPr lang="en-US" i="1">
                                      <a:solidFill>
                                        <a:schemeClr val="tx1"/>
                                      </a:solidFill>
                                      <a:latin typeface="Cambria Math" panose="02040503050406030204" pitchFamily="18" charset="0"/>
                                      <a:ea typeface="Cambria Math" panose="02040503050406030204" pitchFamily="18" charset="0"/>
                                    </a:rPr>
                                    <m:t>𝑖</m:t>
                                  </m:r>
                                </m:num>
                                <m:den>
                                  <m:r>
                                    <a:rPr lang="en-US" i="1">
                                      <a:solidFill>
                                        <a:schemeClr val="tx1"/>
                                      </a:solidFill>
                                      <a:latin typeface="Cambria Math" panose="02040503050406030204" pitchFamily="18" charset="0"/>
                                      <a:ea typeface="Cambria Math" panose="02040503050406030204" pitchFamily="18" charset="0"/>
                                    </a:rPr>
                                    <m:t>2</m:t>
                                  </m:r>
                                </m:den>
                              </m:f>
                            </m:sup>
                          </m:sSup>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|01</m:t>
                              </m:r>
                            </m:e>
                          </m:d>
                          <m:r>
                            <a:rPr lang="en-US" i="1">
                              <a:solidFill>
                                <a:schemeClr val="tx1"/>
                              </a:solidFill>
                              <a:latin typeface="Cambria Math" panose="02040503050406030204" pitchFamily="18" charset="0"/>
                              <a:ea typeface="Cambria Math" panose="02040503050406030204" pitchFamily="18" charset="0"/>
                            </a:rPr>
                            <m:t>+</m:t>
                          </m:r>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r>
                                <a:rPr lang="en-US" i="1">
                                  <a:solidFill>
                                    <a:schemeClr val="tx1"/>
                                  </a:solidFill>
                                  <a:latin typeface="Cambria Math" panose="02040503050406030204" pitchFamily="18" charset="0"/>
                                  <a:ea typeface="Cambria Math" panose="02040503050406030204" pitchFamily="18" charset="0"/>
                                </a:rPr>
                                <m:t>𝜋</m:t>
                              </m:r>
                              <m:r>
                                <a:rPr lang="en-US" i="1">
                                  <a:solidFill>
                                    <a:schemeClr val="tx1"/>
                                  </a:solidFill>
                                  <a:latin typeface="Cambria Math" panose="02040503050406030204" pitchFamily="18" charset="0"/>
                                  <a:ea typeface="Cambria Math" panose="02040503050406030204" pitchFamily="18" charset="0"/>
                                </a:rPr>
                                <m:t>𝑖</m:t>
                              </m:r>
                            </m:sup>
                          </m:sSup>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|10</m:t>
                              </m:r>
                            </m:e>
                          </m:d>
                          <m:r>
                            <a:rPr lang="en-US" i="1">
                              <a:solidFill>
                                <a:schemeClr val="tx1"/>
                              </a:solidFill>
                              <a:latin typeface="Cambria Math" panose="02040503050406030204" pitchFamily="18" charset="0"/>
                              <a:ea typeface="Cambria Math" panose="02040503050406030204" pitchFamily="18" charset="0"/>
                            </a:rPr>
                            <m:t>+</m:t>
                          </m:r>
                          <m:r>
                            <a:rPr lang="sr-Latn-RS" b="0" i="1" smtClean="0">
                              <a:solidFill>
                                <a:schemeClr val="tx1"/>
                              </a:solidFill>
                              <a:latin typeface="Cambria Math" panose="02040503050406030204" pitchFamily="18" charset="0"/>
                              <a:ea typeface="Cambria Math" panose="02040503050406030204" pitchFamily="18" charset="0"/>
                            </a:rPr>
                            <m:t>  </m:t>
                          </m:r>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3</m:t>
                                  </m:r>
                                  <m:r>
                                    <a:rPr lang="en-US" i="1">
                                      <a:solidFill>
                                        <a:schemeClr val="tx1"/>
                                      </a:solidFill>
                                      <a:latin typeface="Cambria Math" panose="02040503050406030204" pitchFamily="18" charset="0"/>
                                      <a:ea typeface="Cambria Math" panose="02040503050406030204" pitchFamily="18" charset="0"/>
                                    </a:rPr>
                                    <m:t>𝜋</m:t>
                                  </m:r>
                                  <m:r>
                                    <a:rPr lang="en-US" i="1">
                                      <a:solidFill>
                                        <a:schemeClr val="tx1"/>
                                      </a:solidFill>
                                      <a:latin typeface="Cambria Math" panose="02040503050406030204" pitchFamily="18" charset="0"/>
                                      <a:ea typeface="Cambria Math" panose="02040503050406030204" pitchFamily="18" charset="0"/>
                                    </a:rPr>
                                    <m:t>𝑖</m:t>
                                  </m:r>
                                </m:num>
                                <m:den>
                                  <m:r>
                                    <a:rPr lang="en-US" i="1">
                                      <a:solidFill>
                                        <a:schemeClr val="tx1"/>
                                      </a:solidFill>
                                      <a:latin typeface="Cambria Math" panose="02040503050406030204" pitchFamily="18" charset="0"/>
                                      <a:ea typeface="Cambria Math" panose="02040503050406030204" pitchFamily="18" charset="0"/>
                                    </a:rPr>
                                    <m:t>2</m:t>
                                  </m:r>
                                </m:den>
                              </m:f>
                            </m:sup>
                          </m:sSup>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|11</m:t>
                              </m:r>
                            </m:e>
                          </m:d>
                        </m:e>
                      </m:d>
                    </m:oMath>
                  </m:oMathPara>
                </a14:m>
                <a:endParaRPr lang="en-US" dirty="0">
                  <a:solidFill>
                    <a:schemeClr val="tx1"/>
                  </a:solidFill>
                </a:endParaRPr>
              </a:p>
            </p:txBody>
          </p:sp>
        </mc:Choice>
        <mc:Fallback xmlns="">
          <p:sp>
            <p:nvSpPr>
              <p:cNvPr id="5" name="Rectangle 4">
                <a:extLst>
                  <a:ext uri="{FF2B5EF4-FFF2-40B4-BE49-F238E27FC236}">
                    <a16:creationId xmlns:a16="http://schemas.microsoft.com/office/drawing/2014/main" id="{0DE9FF98-3CB0-F048-9F02-65038C299A65}"/>
                  </a:ext>
                </a:extLst>
              </p:cNvPr>
              <p:cNvSpPr>
                <a:spLocks noRot="1" noChangeAspect="1" noMove="1" noResize="1" noEditPoints="1" noAdjustHandles="1" noChangeArrowheads="1" noChangeShapeType="1" noTextEdit="1"/>
              </p:cNvSpPr>
              <p:nvPr/>
            </p:nvSpPr>
            <p:spPr>
              <a:xfrm>
                <a:off x="91321" y="2270160"/>
                <a:ext cx="10623190" cy="610936"/>
              </a:xfrm>
              <a:prstGeom prst="rect">
                <a:avLst/>
              </a:prstGeom>
              <a:blipFill>
                <a:blip r:embed="rId3"/>
                <a:stretch>
                  <a:fillRect t="-44898" r="-716" b="-83673"/>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3BFD60F2-9FFA-7B47-87D0-DF5691A9FC9C}"/>
              </a:ext>
            </a:extLst>
          </p:cNvPr>
          <p:cNvSpPr>
            <a:spLocks noGrp="1"/>
          </p:cNvSpPr>
          <p:nvPr>
            <p:ph type="title"/>
          </p:nvPr>
        </p:nvSpPr>
        <p:spPr/>
        <p:txBody>
          <a:bodyPr/>
          <a:lstStyle/>
          <a:p>
            <a:r>
              <a:rPr lang="en-ZA" dirty="0"/>
              <a:t>QFT: two qubits</a:t>
            </a:r>
            <a:endParaRPr lang="en-US" dirty="0"/>
          </a:p>
        </p:txBody>
      </p:sp>
      <p:sp>
        <p:nvSpPr>
          <p:cNvPr id="3" name="Slide Number Placeholder 2">
            <a:extLst>
              <a:ext uri="{FF2B5EF4-FFF2-40B4-BE49-F238E27FC236}">
                <a16:creationId xmlns:a16="http://schemas.microsoft.com/office/drawing/2014/main" id="{07779C8C-1111-5A40-8FED-48BEF5291175}"/>
              </a:ext>
            </a:extLst>
          </p:cNvPr>
          <p:cNvSpPr>
            <a:spLocks noGrp="1"/>
          </p:cNvSpPr>
          <p:nvPr>
            <p:ph type="sldNum" sz="quarter" idx="12"/>
          </p:nvPr>
        </p:nvSpPr>
        <p:spPr/>
        <p:txBody>
          <a:bodyPr/>
          <a:lstStyle/>
          <a:p>
            <a:fld id="{591A223C-FA10-BC46-A853-03BA373D023C}" type="slidenum">
              <a:rPr lang="en-US" smtClean="0"/>
              <a:t>60</a:t>
            </a:fld>
            <a:endParaRPr lang="en-US"/>
          </a:p>
        </p:txBody>
      </p:sp>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FFCBC084-643E-7B49-9229-16CF63556D53}"/>
                  </a:ext>
                </a:extLst>
              </p:cNvPr>
              <p:cNvSpPr/>
              <p:nvPr/>
            </p:nvSpPr>
            <p:spPr>
              <a:xfrm>
                <a:off x="150461" y="808168"/>
                <a:ext cx="2952411" cy="7842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ea typeface="Cambria Math" panose="02040503050406030204" pitchFamily="18" charset="0"/>
                        </a:rPr>
                        <m:t>𝑄𝐹𝑇</m:t>
                      </m:r>
                      <m:r>
                        <a:rPr lang="en-US" sz="1600" i="1" smtClean="0">
                          <a:solidFill>
                            <a:schemeClr val="tx1"/>
                          </a:solidFill>
                          <a:latin typeface="Cambria Math" panose="02040503050406030204" pitchFamily="18" charset="0"/>
                          <a:ea typeface="Cambria Math" panose="02040503050406030204" pitchFamily="18" charset="0"/>
                        </a:rPr>
                        <m:t>|</m:t>
                      </m:r>
                      <m:d>
                        <m:dPr>
                          <m:begChr m:val=""/>
                          <m:endChr m:val="⟩"/>
                          <m:ctrlPr>
                            <a:rPr lang="en-US" sz="1600" i="1">
                              <a:solidFill>
                                <a:schemeClr val="tx1"/>
                              </a:solidFill>
                              <a:latin typeface="Cambria Math" panose="02040503050406030204" pitchFamily="18" charset="0"/>
                              <a:ea typeface="Cambria Math" panose="02040503050406030204" pitchFamily="18" charset="0"/>
                            </a:rPr>
                          </m:ctrlPr>
                        </m:dPr>
                        <m:e>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𝑥</m:t>
                              </m:r>
                            </m:e>
                            <m:sub>
                              <m:r>
                                <a:rPr lang="en-US" sz="1600" i="1">
                                  <a:latin typeface="Cambria Math" panose="02040503050406030204" pitchFamily="18" charset="0"/>
                                  <a:ea typeface="Cambria Math" panose="02040503050406030204" pitchFamily="18" charset="0"/>
                                </a:rPr>
                                <m:t>𝑘</m:t>
                              </m:r>
                            </m:sub>
                          </m:sSub>
                        </m:e>
                      </m:d>
                      <m:r>
                        <a:rPr lang="en-US" sz="1600" i="1">
                          <a:solidFill>
                            <a:schemeClr val="tx1"/>
                          </a:solidFill>
                          <a:latin typeface="Cambria Math" panose="02040503050406030204" pitchFamily="18" charset="0"/>
                          <a:ea typeface="Cambria Math" panose="02040503050406030204" pitchFamily="18" charset="0"/>
                        </a:rPr>
                        <m:t>=</m:t>
                      </m:r>
                      <m:f>
                        <m:fPr>
                          <m:ctrlPr>
                            <a:rPr lang="en-US" sz="1600" i="1">
                              <a:solidFill>
                                <a:schemeClr val="tx1"/>
                              </a:solidFill>
                              <a:latin typeface="Cambria Math" panose="02040503050406030204" pitchFamily="18" charset="0"/>
                              <a:ea typeface="Cambria Math" panose="02040503050406030204" pitchFamily="18" charset="0"/>
                            </a:rPr>
                          </m:ctrlPr>
                        </m:fPr>
                        <m:num>
                          <m:r>
                            <a:rPr lang="en-US" sz="1600" i="1">
                              <a:solidFill>
                                <a:schemeClr val="tx1"/>
                              </a:solidFill>
                              <a:latin typeface="Cambria Math" panose="02040503050406030204" pitchFamily="18" charset="0"/>
                              <a:ea typeface="Cambria Math" panose="02040503050406030204" pitchFamily="18" charset="0"/>
                            </a:rPr>
                            <m:t>1</m:t>
                          </m:r>
                        </m:num>
                        <m:den>
                          <m:rad>
                            <m:radPr>
                              <m:degHide m:val="on"/>
                              <m:ctrlPr>
                                <a:rPr lang="en-US" sz="1600" i="1">
                                  <a:solidFill>
                                    <a:schemeClr val="tx1"/>
                                  </a:solidFill>
                                  <a:latin typeface="Cambria Math" panose="02040503050406030204" pitchFamily="18" charset="0"/>
                                  <a:ea typeface="Cambria Math" panose="02040503050406030204" pitchFamily="18" charset="0"/>
                                </a:rPr>
                              </m:ctrlPr>
                            </m:radPr>
                            <m:deg/>
                            <m:e>
                              <m:r>
                                <a:rPr lang="en-US" sz="1600" b="0" i="1" smtClean="0">
                                  <a:solidFill>
                                    <a:schemeClr val="tx1"/>
                                  </a:solidFill>
                                  <a:latin typeface="Cambria Math" panose="02040503050406030204" pitchFamily="18" charset="0"/>
                                  <a:ea typeface="Cambria Math" panose="02040503050406030204" pitchFamily="18" charset="0"/>
                                </a:rPr>
                                <m:t>4</m:t>
                              </m:r>
                            </m:e>
                          </m:rad>
                        </m:den>
                      </m:f>
                      <m:nary>
                        <m:naryPr>
                          <m:chr m:val="∑"/>
                          <m:ctrlPr>
                            <a:rPr lang="en-US" sz="1600" i="1">
                              <a:solidFill>
                                <a:schemeClr val="tx1"/>
                              </a:solidFill>
                              <a:latin typeface="Cambria Math" panose="02040503050406030204" pitchFamily="18" charset="0"/>
                              <a:ea typeface="Cambria Math" panose="02040503050406030204" pitchFamily="18" charset="0"/>
                            </a:rPr>
                          </m:ctrlPr>
                        </m:naryPr>
                        <m:sub>
                          <m:r>
                            <a:rPr lang="en-US" sz="1600" b="0" i="1" smtClean="0">
                              <a:solidFill>
                                <a:schemeClr val="tx1"/>
                              </a:solidFill>
                              <a:latin typeface="Cambria Math" panose="02040503050406030204" pitchFamily="18" charset="0"/>
                              <a:ea typeface="Cambria Math" panose="02040503050406030204" pitchFamily="18" charset="0"/>
                            </a:rPr>
                            <m:t>𝑘</m:t>
                          </m:r>
                          <m:r>
                            <a:rPr lang="en-US" sz="1600" i="1">
                              <a:solidFill>
                                <a:schemeClr val="tx1"/>
                              </a:solidFill>
                              <a:latin typeface="Cambria Math" panose="02040503050406030204" pitchFamily="18" charset="0"/>
                              <a:ea typeface="Cambria Math" panose="02040503050406030204" pitchFamily="18" charset="0"/>
                            </a:rPr>
                            <m:t>=0</m:t>
                          </m:r>
                        </m:sub>
                        <m:sup>
                          <m:r>
                            <a:rPr lang="en-US" sz="1600" b="0" i="1" smtClean="0">
                              <a:solidFill>
                                <a:schemeClr val="tx1"/>
                              </a:solidFill>
                              <a:latin typeface="Cambria Math" panose="02040503050406030204" pitchFamily="18" charset="0"/>
                              <a:ea typeface="Cambria Math" panose="02040503050406030204" pitchFamily="18" charset="0"/>
                            </a:rPr>
                            <m:t>4</m:t>
                          </m:r>
                          <m:r>
                            <a:rPr lang="en-US" sz="1600" i="1">
                              <a:solidFill>
                                <a:schemeClr val="tx1"/>
                              </a:solidFill>
                              <a:latin typeface="Cambria Math" panose="02040503050406030204" pitchFamily="18" charset="0"/>
                              <a:ea typeface="Cambria Math" panose="02040503050406030204" pitchFamily="18" charset="0"/>
                            </a:rPr>
                            <m:t>−1</m:t>
                          </m:r>
                        </m:sup>
                        <m:e>
                          <m:sSup>
                            <m:sSupPr>
                              <m:ctrlPr>
                                <a:rPr lang="en-US" sz="1600" i="1">
                                  <a:solidFill>
                                    <a:schemeClr val="tx1"/>
                                  </a:solidFill>
                                  <a:latin typeface="Cambria Math" panose="02040503050406030204" pitchFamily="18" charset="0"/>
                                  <a:ea typeface="Cambria Math" panose="02040503050406030204" pitchFamily="18" charset="0"/>
                                </a:rPr>
                              </m:ctrlPr>
                            </m:sSupPr>
                            <m:e>
                              <m:r>
                                <a:rPr lang="en-US" sz="1600" i="1">
                                  <a:solidFill>
                                    <a:schemeClr val="tx1"/>
                                  </a:solidFill>
                                  <a:latin typeface="Cambria Math" panose="02040503050406030204" pitchFamily="18" charset="0"/>
                                  <a:ea typeface="Cambria Math" panose="02040503050406030204" pitchFamily="18" charset="0"/>
                                </a:rPr>
                                <m:t>𝑒</m:t>
                              </m:r>
                            </m:e>
                            <m:sup>
                              <m:f>
                                <m:fPr>
                                  <m:ctrlPr>
                                    <a:rPr lang="en-US" sz="1600" i="1">
                                      <a:solidFill>
                                        <a:schemeClr val="tx1"/>
                                      </a:solidFill>
                                      <a:latin typeface="Cambria Math" panose="02040503050406030204" pitchFamily="18" charset="0"/>
                                      <a:ea typeface="Cambria Math" panose="02040503050406030204" pitchFamily="18" charset="0"/>
                                    </a:rPr>
                                  </m:ctrlPr>
                                </m:fPr>
                                <m:num>
                                  <m:r>
                                    <a:rPr lang="en-US" sz="1600" i="1">
                                      <a:solidFill>
                                        <a:schemeClr val="tx1"/>
                                      </a:solidFill>
                                      <a:latin typeface="Cambria Math" panose="02040503050406030204" pitchFamily="18" charset="0"/>
                                      <a:ea typeface="Cambria Math" panose="02040503050406030204" pitchFamily="18" charset="0"/>
                                    </a:rPr>
                                    <m:t>2</m:t>
                                  </m:r>
                                  <m:r>
                                    <a:rPr lang="en-US" sz="1600" i="1">
                                      <a:solidFill>
                                        <a:schemeClr val="tx1"/>
                                      </a:solidFill>
                                      <a:latin typeface="Cambria Math" panose="02040503050406030204" pitchFamily="18" charset="0"/>
                                      <a:ea typeface="Cambria Math" panose="02040503050406030204" pitchFamily="18" charset="0"/>
                                    </a:rPr>
                                    <m:t>𝜋</m:t>
                                  </m:r>
                                  <m:r>
                                    <a:rPr lang="en-US" sz="1600" i="1">
                                      <a:solidFill>
                                        <a:schemeClr val="tx1"/>
                                      </a:solidFill>
                                      <a:latin typeface="Cambria Math" panose="02040503050406030204" pitchFamily="18" charset="0"/>
                                      <a:ea typeface="Cambria Math" panose="02040503050406030204" pitchFamily="18" charset="0"/>
                                    </a:rPr>
                                    <m:t>𝑖</m:t>
                                  </m:r>
                                </m:num>
                                <m:den>
                                  <m:r>
                                    <a:rPr lang="en-US" sz="1600" b="0" i="1" smtClean="0">
                                      <a:solidFill>
                                        <a:schemeClr val="tx1"/>
                                      </a:solidFill>
                                      <a:latin typeface="Cambria Math" panose="02040503050406030204" pitchFamily="18" charset="0"/>
                                      <a:ea typeface="Cambria Math" panose="02040503050406030204" pitchFamily="18" charset="0"/>
                                    </a:rPr>
                                    <m:t>4</m:t>
                                  </m:r>
                                </m:den>
                              </m:f>
                              <m:r>
                                <a:rPr lang="en-US" sz="1600" b="0" i="1" smtClean="0">
                                  <a:solidFill>
                                    <a:schemeClr val="tx1"/>
                                  </a:solidFill>
                                  <a:latin typeface="Cambria Math" panose="02040503050406030204" pitchFamily="18" charset="0"/>
                                  <a:ea typeface="Cambria Math" panose="02040503050406030204" pitchFamily="18" charset="0"/>
                                </a:rPr>
                                <m:t>𝑥𝑘</m:t>
                              </m:r>
                            </m:sup>
                          </m:sSup>
                          <m:d>
                            <m:dPr>
                              <m:begChr m:val=""/>
                              <m:endChr m:val="⟩"/>
                              <m:ctrlPr>
                                <a:rPr lang="en-US" sz="1600" i="1">
                                  <a:solidFill>
                                    <a:schemeClr val="tx1"/>
                                  </a:solidFill>
                                  <a:latin typeface="Cambria Math" panose="02040503050406030204" pitchFamily="18" charset="0"/>
                                  <a:ea typeface="Cambria Math" panose="02040503050406030204" pitchFamily="18" charset="0"/>
                                </a:rPr>
                              </m:ctrlPr>
                            </m:dPr>
                            <m:e>
                              <m:r>
                                <a:rPr lang="en-US" sz="1600" b="0" i="1" smtClean="0">
                                  <a:solidFill>
                                    <a:schemeClr val="tx1"/>
                                  </a:solidFill>
                                  <a:latin typeface="Cambria Math" panose="02040503050406030204" pitchFamily="18" charset="0"/>
                                  <a:ea typeface="Cambria Math" panose="02040503050406030204" pitchFamily="18" charset="0"/>
                                </a:rPr>
                                <m:t>|</m:t>
                              </m:r>
                              <m:r>
                                <a:rPr lang="en-US" sz="1600" b="0" i="1" smtClean="0">
                                  <a:solidFill>
                                    <a:schemeClr val="tx1"/>
                                  </a:solidFill>
                                  <a:latin typeface="Cambria Math" panose="02040503050406030204" pitchFamily="18" charset="0"/>
                                  <a:ea typeface="Cambria Math" panose="02040503050406030204" pitchFamily="18" charset="0"/>
                                </a:rPr>
                                <m:t>𝑘</m:t>
                              </m:r>
                            </m:e>
                          </m:d>
                        </m:e>
                      </m:nary>
                      <m:r>
                        <a:rPr lang="en-US" sz="1600" i="1" dirty="0" smtClean="0">
                          <a:solidFill>
                            <a:schemeClr val="tx1"/>
                          </a:solidFill>
                          <a:latin typeface="Cambria Math" panose="02040503050406030204" pitchFamily="18" charset="0"/>
                          <a:ea typeface="Cambria Math" panose="02040503050406030204" pitchFamily="18" charset="0"/>
                        </a:rPr>
                        <m:t>⟹</m:t>
                      </m:r>
                    </m:oMath>
                  </m:oMathPara>
                </a14:m>
                <a:endParaRPr lang="en-US" sz="1600" dirty="0">
                  <a:solidFill>
                    <a:schemeClr val="tx1"/>
                  </a:solidFill>
                </a:endParaRPr>
              </a:p>
            </p:txBody>
          </p:sp>
        </mc:Choice>
        <mc:Fallback xmlns="">
          <p:sp>
            <p:nvSpPr>
              <p:cNvPr id="29" name="Rectangle 28">
                <a:extLst>
                  <a:ext uri="{FF2B5EF4-FFF2-40B4-BE49-F238E27FC236}">
                    <a16:creationId xmlns:a16="http://schemas.microsoft.com/office/drawing/2014/main" id="{FFCBC084-643E-7B49-9229-16CF63556D53}"/>
                  </a:ext>
                </a:extLst>
              </p:cNvPr>
              <p:cNvSpPr>
                <a:spLocks noRot="1" noChangeAspect="1" noMove="1" noResize="1" noEditPoints="1" noAdjustHandles="1" noChangeArrowheads="1" noChangeShapeType="1" noTextEdit="1"/>
              </p:cNvSpPr>
              <p:nvPr/>
            </p:nvSpPr>
            <p:spPr>
              <a:xfrm>
                <a:off x="150461" y="808168"/>
                <a:ext cx="2952411" cy="784254"/>
              </a:xfrm>
              <a:prstGeom prst="rect">
                <a:avLst/>
              </a:prstGeom>
              <a:blipFill>
                <a:blip r:embed="rId4"/>
                <a:stretch>
                  <a:fillRect t="-98387" b="-1532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854B8ECE-C0F6-354F-961F-21ADD9ADBCCD}"/>
                  </a:ext>
                </a:extLst>
              </p:cNvPr>
              <p:cNvSpPr/>
              <p:nvPr/>
            </p:nvSpPr>
            <p:spPr>
              <a:xfrm>
                <a:off x="150461" y="1653049"/>
                <a:ext cx="11589403" cy="610936"/>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ea typeface="Cambria Math" panose="02040503050406030204" pitchFamily="18" charset="0"/>
                        </a:rPr>
                        <m:t>𝑄𝐹𝑇</m:t>
                      </m:r>
                      <m:r>
                        <a:rPr lang="en-US" i="1" smtClean="0">
                          <a:solidFill>
                            <a:schemeClr val="tx1"/>
                          </a:solidFill>
                          <a:latin typeface="Cambria Math" panose="02040503050406030204" pitchFamily="18" charset="0"/>
                          <a:ea typeface="Cambria Math" panose="02040503050406030204" pitchFamily="18" charset="0"/>
                        </a:rPr>
                        <m:t>|</m:t>
                      </m:r>
                      <m:d>
                        <m:dPr>
                          <m:begChr m:val=""/>
                          <m:endChr m:val="⟩"/>
                          <m:ctrlPr>
                            <a:rPr lang="en-US" i="1">
                              <a:solidFill>
                                <a:schemeClr val="tx1"/>
                              </a:solidFill>
                              <a:latin typeface="Cambria Math" panose="02040503050406030204" pitchFamily="18" charset="0"/>
                              <a:ea typeface="Cambria Math" panose="02040503050406030204" pitchFamily="18" charset="0"/>
                            </a:rPr>
                          </m:ctrlPr>
                        </m:dPr>
                        <m:e>
                          <m:sSub>
                            <m:sSubPr>
                              <m:ctrlPr>
                                <a:rPr lang="en-US" i="1">
                                  <a:solidFill>
                                    <a:schemeClr val="tx1"/>
                                  </a:solidFill>
                                  <a:latin typeface="Cambria Math" panose="02040503050406030204" pitchFamily="18" charset="0"/>
                                  <a:ea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𝑥</m:t>
                              </m:r>
                            </m:e>
                            <m:sub>
                              <m:r>
                                <a:rPr lang="en-US" i="1">
                                  <a:solidFill>
                                    <a:schemeClr val="tx1"/>
                                  </a:solidFill>
                                  <a:latin typeface="Cambria Math" panose="02040503050406030204" pitchFamily="18" charset="0"/>
                                  <a:ea typeface="Cambria Math" panose="02040503050406030204" pitchFamily="18" charset="0"/>
                                </a:rPr>
                                <m:t>=0</m:t>
                              </m:r>
                            </m:sub>
                          </m:sSub>
                        </m:e>
                      </m:d>
                      <m:r>
                        <a:rPr lang="en-US" i="1">
                          <a:solidFill>
                            <a:schemeClr val="tx1"/>
                          </a:solidFill>
                          <a:latin typeface="Cambria Math" panose="02040503050406030204" pitchFamily="18" charset="0"/>
                          <a:ea typeface="Cambria Math" panose="02040503050406030204" pitchFamily="18" charset="0"/>
                        </a:rPr>
                        <m:t>=</m:t>
                      </m:r>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1</m:t>
                          </m:r>
                        </m:num>
                        <m:den>
                          <m:r>
                            <a:rPr lang="en-US" i="1">
                              <a:solidFill>
                                <a:schemeClr val="tx1"/>
                              </a:solidFill>
                              <a:latin typeface="Cambria Math" panose="02040503050406030204" pitchFamily="18" charset="0"/>
                              <a:ea typeface="Cambria Math" panose="02040503050406030204" pitchFamily="18" charset="0"/>
                            </a:rPr>
                            <m:t>2</m:t>
                          </m:r>
                        </m:den>
                      </m:f>
                      <m:d>
                        <m:dPr>
                          <m:ctrlPr>
                            <a:rPr lang="en-US" i="1">
                              <a:solidFill>
                                <a:schemeClr val="tx1"/>
                              </a:solidFill>
                              <a:latin typeface="Cambria Math" panose="02040503050406030204" pitchFamily="18" charset="0"/>
                              <a:ea typeface="Cambria Math" panose="02040503050406030204" pitchFamily="18" charset="0"/>
                            </a:rPr>
                          </m:ctrlPr>
                        </m:dPr>
                        <m:e>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𝜋</m:t>
                                  </m:r>
                                  <m:r>
                                    <a:rPr lang="en-US" i="1">
                                      <a:solidFill>
                                        <a:schemeClr val="tx1"/>
                                      </a:solidFill>
                                      <a:latin typeface="Cambria Math" panose="02040503050406030204" pitchFamily="18" charset="0"/>
                                      <a:ea typeface="Cambria Math" panose="02040503050406030204" pitchFamily="18" charset="0"/>
                                    </a:rPr>
                                    <m:t>𝑖</m:t>
                                  </m:r>
                                </m:num>
                                <m:den>
                                  <m:r>
                                    <a:rPr lang="en-US" i="1">
                                      <a:solidFill>
                                        <a:schemeClr val="tx1"/>
                                      </a:solidFill>
                                      <a:latin typeface="Cambria Math" panose="02040503050406030204" pitchFamily="18" charset="0"/>
                                      <a:ea typeface="Cambria Math" panose="02040503050406030204" pitchFamily="18" charset="0"/>
                                    </a:rPr>
                                    <m:t>2</m:t>
                                  </m:r>
                                </m:den>
                              </m:f>
                              <m:r>
                                <a:rPr lang="en-US" b="1" i="1" smtClean="0">
                                  <a:solidFill>
                                    <a:schemeClr val="tx1"/>
                                  </a:solidFill>
                                  <a:latin typeface="Cambria Math" panose="02040503050406030204" pitchFamily="18" charset="0"/>
                                  <a:ea typeface="Cambria Math" panose="02040503050406030204" pitchFamily="18" charset="0"/>
                                </a:rPr>
                                <m:t>𝟎</m:t>
                              </m:r>
                              <m:r>
                                <a:rPr lang="en-US" b="1" i="1">
                                  <a:latin typeface="Cambria Math" panose="02040503050406030204" pitchFamily="18" charset="0"/>
                                  <a:ea typeface="Cambria Math" panose="02040503050406030204" pitchFamily="18" charset="0"/>
                                </a:rPr>
                                <m:t>×</m:t>
                              </m:r>
                              <m:r>
                                <a:rPr lang="en-US" b="1" i="1">
                                  <a:solidFill>
                                    <a:schemeClr val="tx1"/>
                                  </a:solidFill>
                                  <a:latin typeface="Cambria Math" panose="02040503050406030204" pitchFamily="18" charset="0"/>
                                  <a:ea typeface="Cambria Math" panose="02040503050406030204" pitchFamily="18" charset="0"/>
                                </a:rPr>
                                <m:t>𝟎</m:t>
                              </m:r>
                            </m:sup>
                          </m:sSup>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|0</m:t>
                              </m:r>
                            </m:e>
                          </m:d>
                          <m:r>
                            <a:rPr lang="en-US" i="1">
                              <a:solidFill>
                                <a:schemeClr val="tx1"/>
                              </a:solidFill>
                              <a:latin typeface="Cambria Math" panose="02040503050406030204" pitchFamily="18" charset="0"/>
                              <a:ea typeface="Cambria Math" panose="02040503050406030204" pitchFamily="18" charset="0"/>
                            </a:rPr>
                            <m:t>+</m:t>
                          </m:r>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𝜋</m:t>
                                  </m:r>
                                  <m:r>
                                    <a:rPr lang="en-US" i="1">
                                      <a:solidFill>
                                        <a:schemeClr val="tx1"/>
                                      </a:solidFill>
                                      <a:latin typeface="Cambria Math" panose="02040503050406030204" pitchFamily="18" charset="0"/>
                                      <a:ea typeface="Cambria Math" panose="02040503050406030204" pitchFamily="18" charset="0"/>
                                    </a:rPr>
                                    <m:t>𝑖</m:t>
                                  </m:r>
                                </m:num>
                                <m:den>
                                  <m:r>
                                    <a:rPr lang="en-US" i="1">
                                      <a:solidFill>
                                        <a:schemeClr val="tx1"/>
                                      </a:solidFill>
                                      <a:latin typeface="Cambria Math" panose="02040503050406030204" pitchFamily="18" charset="0"/>
                                      <a:ea typeface="Cambria Math" panose="02040503050406030204" pitchFamily="18" charset="0"/>
                                    </a:rPr>
                                    <m:t>2</m:t>
                                  </m:r>
                                </m:den>
                              </m:f>
                              <m:r>
                                <a:rPr lang="en-US" b="1" i="1">
                                  <a:latin typeface="Cambria Math" panose="02040503050406030204" pitchFamily="18" charset="0"/>
                                  <a:ea typeface="Cambria Math" panose="02040503050406030204" pitchFamily="18" charset="0"/>
                                </a:rPr>
                                <m:t>𝟎</m:t>
                              </m:r>
                              <m:r>
                                <a:rPr lang="en-US" b="1" i="1">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𝟏</m:t>
                              </m:r>
                            </m:sup>
                          </m:sSup>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|1</m:t>
                              </m:r>
                            </m:e>
                          </m:d>
                          <m:r>
                            <a:rPr lang="en-US" i="1">
                              <a:solidFill>
                                <a:schemeClr val="tx1"/>
                              </a:solidFill>
                              <a:latin typeface="Cambria Math" panose="02040503050406030204" pitchFamily="18" charset="0"/>
                              <a:ea typeface="Cambria Math" panose="02040503050406030204" pitchFamily="18" charset="0"/>
                            </a:rPr>
                            <m:t>+</m:t>
                          </m:r>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𝜋</m:t>
                                  </m:r>
                                  <m:r>
                                    <a:rPr lang="en-US" i="1">
                                      <a:solidFill>
                                        <a:schemeClr val="tx1"/>
                                      </a:solidFill>
                                      <a:latin typeface="Cambria Math" panose="02040503050406030204" pitchFamily="18" charset="0"/>
                                      <a:ea typeface="Cambria Math" panose="02040503050406030204" pitchFamily="18" charset="0"/>
                                    </a:rPr>
                                    <m:t>𝑖</m:t>
                                  </m:r>
                                </m:num>
                                <m:den>
                                  <m:r>
                                    <a:rPr lang="en-US" i="1">
                                      <a:solidFill>
                                        <a:schemeClr val="tx1"/>
                                      </a:solidFill>
                                      <a:latin typeface="Cambria Math" panose="02040503050406030204" pitchFamily="18" charset="0"/>
                                      <a:ea typeface="Cambria Math" panose="02040503050406030204" pitchFamily="18" charset="0"/>
                                    </a:rPr>
                                    <m:t>2</m:t>
                                  </m:r>
                                </m:den>
                              </m:f>
                              <m:r>
                                <a:rPr lang="en-US" b="1" i="1">
                                  <a:latin typeface="Cambria Math" panose="02040503050406030204" pitchFamily="18" charset="0"/>
                                  <a:ea typeface="Cambria Math" panose="02040503050406030204" pitchFamily="18" charset="0"/>
                                </a:rPr>
                                <m:t>𝟎</m:t>
                              </m:r>
                              <m:r>
                                <a:rPr lang="en-US" b="1" i="1">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𝟐</m:t>
                              </m:r>
                            </m:sup>
                          </m:sSup>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|2</m:t>
                              </m:r>
                            </m:e>
                          </m:d>
                          <m:r>
                            <a:rPr lang="en-US" i="1">
                              <a:solidFill>
                                <a:schemeClr val="tx1"/>
                              </a:solidFill>
                              <a:latin typeface="Cambria Math" panose="02040503050406030204" pitchFamily="18" charset="0"/>
                              <a:ea typeface="Cambria Math" panose="02040503050406030204" pitchFamily="18" charset="0"/>
                            </a:rPr>
                            <m:t>+</m:t>
                          </m:r>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𝜋</m:t>
                                  </m:r>
                                  <m:r>
                                    <a:rPr lang="en-US" i="1">
                                      <a:solidFill>
                                        <a:schemeClr val="tx1"/>
                                      </a:solidFill>
                                      <a:latin typeface="Cambria Math" panose="02040503050406030204" pitchFamily="18" charset="0"/>
                                      <a:ea typeface="Cambria Math" panose="02040503050406030204" pitchFamily="18" charset="0"/>
                                    </a:rPr>
                                    <m:t>𝑖</m:t>
                                  </m:r>
                                </m:num>
                                <m:den>
                                  <m:r>
                                    <a:rPr lang="en-US" i="1">
                                      <a:solidFill>
                                        <a:schemeClr val="tx1"/>
                                      </a:solidFill>
                                      <a:latin typeface="Cambria Math" panose="02040503050406030204" pitchFamily="18" charset="0"/>
                                      <a:ea typeface="Cambria Math" panose="02040503050406030204" pitchFamily="18" charset="0"/>
                                    </a:rPr>
                                    <m:t>2</m:t>
                                  </m:r>
                                </m:den>
                              </m:f>
                              <m:r>
                                <a:rPr lang="en-US" b="1" i="1">
                                  <a:latin typeface="Cambria Math" panose="02040503050406030204" pitchFamily="18" charset="0"/>
                                  <a:ea typeface="Cambria Math" panose="02040503050406030204" pitchFamily="18" charset="0"/>
                                </a:rPr>
                                <m:t>𝟎</m:t>
                              </m:r>
                              <m:r>
                                <a:rPr lang="en-US" b="1" i="1">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𝟑</m:t>
                              </m:r>
                            </m:sup>
                          </m:sSup>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|3</m:t>
                              </m:r>
                            </m:e>
                          </m:d>
                        </m:e>
                      </m:d>
                      <m:r>
                        <a:rPr lang="en-US" i="1">
                          <a:solidFill>
                            <a:schemeClr val="tx1"/>
                          </a:solidFill>
                          <a:latin typeface="Cambria Math" panose="02040503050406030204" pitchFamily="18" charset="0"/>
                          <a:ea typeface="Cambria Math" panose="02040503050406030204" pitchFamily="18" charset="0"/>
                        </a:rPr>
                        <m:t>=</m:t>
                      </m:r>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1</m:t>
                          </m:r>
                        </m:num>
                        <m:den>
                          <m:r>
                            <a:rPr lang="en-US" i="1">
                              <a:solidFill>
                                <a:schemeClr val="tx1"/>
                              </a:solidFill>
                              <a:latin typeface="Cambria Math" panose="02040503050406030204" pitchFamily="18" charset="0"/>
                              <a:ea typeface="Cambria Math" panose="02040503050406030204" pitchFamily="18" charset="0"/>
                            </a:rPr>
                            <m:t>2</m:t>
                          </m:r>
                        </m:den>
                      </m:f>
                      <m:d>
                        <m:dPr>
                          <m:ctrlPr>
                            <a:rPr lang="en-US" i="1">
                              <a:solidFill>
                                <a:schemeClr val="tx1"/>
                              </a:solidFill>
                              <a:latin typeface="Cambria Math" panose="02040503050406030204" pitchFamily="18" charset="0"/>
                              <a:ea typeface="Cambria Math" panose="02040503050406030204" pitchFamily="18" charset="0"/>
                            </a:rPr>
                          </m:ctrlPr>
                        </m:dPr>
                        <m:e>
                          <m:r>
                            <a:rPr lang="en-US" b="0" i="1" smtClean="0">
                              <a:solidFill>
                                <a:schemeClr val="tx1"/>
                              </a:solidFill>
                              <a:latin typeface="Cambria Math" panose="02040503050406030204" pitchFamily="18" charset="0"/>
                              <a:ea typeface="Cambria Math" panose="02040503050406030204" pitchFamily="18" charset="0"/>
                            </a:rPr>
                            <m:t>1</m:t>
                          </m:r>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|00</m:t>
                              </m:r>
                            </m:e>
                          </m:d>
                          <m:r>
                            <a:rPr lang="en-US" i="1">
                              <a:solidFill>
                                <a:schemeClr val="tx1"/>
                              </a:solidFill>
                              <a:latin typeface="Cambria Math" panose="02040503050406030204" pitchFamily="18" charset="0"/>
                              <a:ea typeface="Cambria Math" panose="02040503050406030204" pitchFamily="18" charset="0"/>
                            </a:rPr>
                            <m:t>+</m:t>
                          </m:r>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sr-Latn-RS" b="0" i="1" smtClean="0">
                                  <a:solidFill>
                                    <a:schemeClr val="tx1"/>
                                  </a:solidFill>
                                  <a:latin typeface="Cambria Math" panose="02040503050406030204" pitchFamily="18" charset="0"/>
                                  <a:ea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1</m:t>
                              </m:r>
                              <m:r>
                                <a:rPr lang="en-US" i="1">
                                  <a:solidFill>
                                    <a:schemeClr val="tx1"/>
                                  </a:solidFill>
                                  <a:latin typeface="Cambria Math" panose="02040503050406030204" pitchFamily="18" charset="0"/>
                                  <a:ea typeface="Cambria Math" panose="02040503050406030204" pitchFamily="18" charset="0"/>
                                </a:rPr>
                                <m:t>|01</m:t>
                              </m:r>
                            </m:e>
                          </m:d>
                          <m:r>
                            <a:rPr lang="sr-Latn-RS" b="0" i="1" smtClean="0">
                              <a:solidFill>
                                <a:schemeClr val="tx1"/>
                              </a:solidFill>
                              <a:latin typeface="Cambria Math" panose="02040503050406030204" pitchFamily="18" charset="0"/>
                              <a:ea typeface="Cambria Math" panose="02040503050406030204" pitchFamily="18" charset="0"/>
                            </a:rPr>
                            <m:t> </m:t>
                          </m:r>
                          <m:r>
                            <a:rPr lang="en-US" i="1">
                              <a:solidFill>
                                <a:schemeClr val="tx1"/>
                              </a:solidFill>
                              <a:latin typeface="Cambria Math" panose="02040503050406030204" pitchFamily="18" charset="0"/>
                              <a:ea typeface="Cambria Math" panose="02040503050406030204" pitchFamily="18" charset="0"/>
                            </a:rPr>
                            <m:t>+</m:t>
                          </m:r>
                          <m:r>
                            <a:rPr lang="sr-Latn-RS" b="0" i="1" smtClean="0">
                              <a:solidFill>
                                <a:schemeClr val="tx1"/>
                              </a:solidFill>
                              <a:latin typeface="Cambria Math" panose="02040503050406030204" pitchFamily="18" charset="0"/>
                              <a:ea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1</m:t>
                          </m:r>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|10</m:t>
                              </m:r>
                            </m:e>
                          </m:d>
                          <m:r>
                            <a:rPr lang="sr-Latn-RS" b="0" i="1" smtClean="0">
                              <a:solidFill>
                                <a:schemeClr val="tx1"/>
                              </a:solidFill>
                              <a:latin typeface="Cambria Math" panose="02040503050406030204" pitchFamily="18" charset="0"/>
                              <a:ea typeface="Cambria Math" panose="02040503050406030204" pitchFamily="18" charset="0"/>
                            </a:rPr>
                            <m:t>  </m:t>
                          </m:r>
                          <m:r>
                            <a:rPr lang="en-US" i="1">
                              <a:solidFill>
                                <a:schemeClr val="tx1"/>
                              </a:solidFill>
                              <a:latin typeface="Cambria Math" panose="02040503050406030204" pitchFamily="18" charset="0"/>
                              <a:ea typeface="Cambria Math" panose="02040503050406030204" pitchFamily="18" charset="0"/>
                            </a:rPr>
                            <m:t>+</m:t>
                          </m:r>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sr-Latn-RS" b="0" i="1" smtClean="0">
                                  <a:solidFill>
                                    <a:schemeClr val="tx1"/>
                                  </a:solidFill>
                                  <a:latin typeface="Cambria Math" panose="02040503050406030204" pitchFamily="18" charset="0"/>
                                  <a:ea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1</m:t>
                              </m:r>
                              <m:r>
                                <a:rPr lang="sr-Latn-RS" b="0" i="1" smtClean="0">
                                  <a:solidFill>
                                    <a:schemeClr val="tx1"/>
                                  </a:solidFill>
                                  <a:latin typeface="Cambria Math" panose="02040503050406030204" pitchFamily="18" charset="0"/>
                                  <a:ea typeface="Cambria Math" panose="02040503050406030204" pitchFamily="18" charset="0"/>
                                </a:rPr>
                                <m:t> </m:t>
                              </m:r>
                              <m:r>
                                <a:rPr lang="en-US" i="1">
                                  <a:solidFill>
                                    <a:schemeClr val="tx1"/>
                                  </a:solidFill>
                                  <a:latin typeface="Cambria Math" panose="02040503050406030204" pitchFamily="18" charset="0"/>
                                  <a:ea typeface="Cambria Math" panose="02040503050406030204" pitchFamily="18" charset="0"/>
                                </a:rPr>
                                <m:t>|11</m:t>
                              </m:r>
                            </m:e>
                          </m:d>
                        </m:e>
                      </m:d>
                    </m:oMath>
                  </m:oMathPara>
                </a14:m>
                <a:endParaRPr lang="en-US" dirty="0">
                  <a:solidFill>
                    <a:schemeClr val="tx1"/>
                  </a:solidFill>
                </a:endParaRPr>
              </a:p>
            </p:txBody>
          </p:sp>
        </mc:Choice>
        <mc:Fallback xmlns="">
          <p:sp>
            <p:nvSpPr>
              <p:cNvPr id="4" name="Rectangle 3">
                <a:extLst>
                  <a:ext uri="{FF2B5EF4-FFF2-40B4-BE49-F238E27FC236}">
                    <a16:creationId xmlns:a16="http://schemas.microsoft.com/office/drawing/2014/main" id="{854B8ECE-C0F6-354F-961F-21ADD9ADBCCD}"/>
                  </a:ext>
                </a:extLst>
              </p:cNvPr>
              <p:cNvSpPr>
                <a:spLocks noRot="1" noChangeAspect="1" noMove="1" noResize="1" noEditPoints="1" noAdjustHandles="1" noChangeArrowheads="1" noChangeShapeType="1" noTextEdit="1"/>
              </p:cNvSpPr>
              <p:nvPr/>
            </p:nvSpPr>
            <p:spPr>
              <a:xfrm>
                <a:off x="150461" y="1653049"/>
                <a:ext cx="11589403" cy="610936"/>
              </a:xfrm>
              <a:prstGeom prst="rect">
                <a:avLst/>
              </a:prstGeom>
              <a:blipFill>
                <a:blip r:embed="rId5"/>
                <a:stretch>
                  <a:fillRect l="-110" t="-42857" b="-8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CEBA32B2-FBB3-4E46-8B99-7E0786CD3B45}"/>
                  </a:ext>
                </a:extLst>
              </p:cNvPr>
              <p:cNvSpPr/>
              <p:nvPr/>
            </p:nvSpPr>
            <p:spPr>
              <a:xfrm>
                <a:off x="91321" y="2848031"/>
                <a:ext cx="10623190" cy="61093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𝑄𝐹𝑇</m:t>
                      </m:r>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ea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𝑥</m:t>
                              </m:r>
                            </m:e>
                            <m:sub>
                              <m:r>
                                <a:rPr lang="en-US" i="1">
                                  <a:solidFill>
                                    <a:schemeClr val="tx1"/>
                                  </a:solidFill>
                                  <a:latin typeface="Cambria Math" panose="02040503050406030204" pitchFamily="18" charset="0"/>
                                  <a:ea typeface="Cambria Math" panose="02040503050406030204" pitchFamily="18" charset="0"/>
                                </a:rPr>
                                <m:t>=2</m:t>
                              </m:r>
                            </m:sub>
                          </m:sSub>
                        </m:e>
                      </m:d>
                      <m:r>
                        <a:rPr lang="en-US" i="1">
                          <a:solidFill>
                            <a:schemeClr val="tx1"/>
                          </a:solidFill>
                          <a:latin typeface="Cambria Math" panose="02040503050406030204" pitchFamily="18" charset="0"/>
                          <a:ea typeface="Cambria Math" panose="02040503050406030204" pitchFamily="18" charset="0"/>
                        </a:rPr>
                        <m:t>=</m:t>
                      </m:r>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1</m:t>
                          </m:r>
                        </m:num>
                        <m:den>
                          <m:r>
                            <a:rPr lang="en-US" i="1">
                              <a:solidFill>
                                <a:schemeClr val="tx1"/>
                              </a:solidFill>
                              <a:latin typeface="Cambria Math" panose="02040503050406030204" pitchFamily="18" charset="0"/>
                              <a:ea typeface="Cambria Math" panose="02040503050406030204" pitchFamily="18" charset="0"/>
                            </a:rPr>
                            <m:t>2</m:t>
                          </m:r>
                        </m:den>
                      </m:f>
                      <m:d>
                        <m:dPr>
                          <m:ctrlPr>
                            <a:rPr lang="en-US" i="1">
                              <a:solidFill>
                                <a:schemeClr val="tx1"/>
                              </a:solidFill>
                              <a:latin typeface="Cambria Math" panose="02040503050406030204" pitchFamily="18" charset="0"/>
                              <a:ea typeface="Cambria Math" panose="02040503050406030204" pitchFamily="18" charset="0"/>
                            </a:rPr>
                          </m:ctrlPr>
                        </m:dPr>
                        <m:e>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𝜋</m:t>
                                  </m:r>
                                  <m:r>
                                    <a:rPr lang="en-US" i="1">
                                      <a:solidFill>
                                        <a:schemeClr val="tx1"/>
                                      </a:solidFill>
                                      <a:latin typeface="Cambria Math" panose="02040503050406030204" pitchFamily="18" charset="0"/>
                                      <a:ea typeface="Cambria Math" panose="02040503050406030204" pitchFamily="18" charset="0"/>
                                    </a:rPr>
                                    <m:t>𝑖</m:t>
                                  </m:r>
                                </m:num>
                                <m:den>
                                  <m:r>
                                    <a:rPr lang="en-US" i="1">
                                      <a:solidFill>
                                        <a:schemeClr val="tx1"/>
                                      </a:solidFill>
                                      <a:latin typeface="Cambria Math" panose="02040503050406030204" pitchFamily="18" charset="0"/>
                                      <a:ea typeface="Cambria Math" panose="02040503050406030204" pitchFamily="18" charset="0"/>
                                    </a:rPr>
                                    <m:t>2</m:t>
                                  </m:r>
                                </m:den>
                              </m:f>
                              <m:r>
                                <a:rPr lang="en-US" b="1" i="1">
                                  <a:solidFill>
                                    <a:schemeClr val="tx1"/>
                                  </a:solidFill>
                                  <a:latin typeface="Cambria Math" panose="02040503050406030204" pitchFamily="18" charset="0"/>
                                  <a:ea typeface="Cambria Math" panose="02040503050406030204" pitchFamily="18" charset="0"/>
                                </a:rPr>
                                <m:t>𝟐</m:t>
                              </m:r>
                              <m:r>
                                <a:rPr lang="en-US" b="1" i="1">
                                  <a:solidFill>
                                    <a:schemeClr val="tx1"/>
                                  </a:solidFill>
                                  <a:latin typeface="Cambria Math" panose="02040503050406030204" pitchFamily="18" charset="0"/>
                                  <a:ea typeface="Cambria Math" panose="02040503050406030204" pitchFamily="18" charset="0"/>
                                </a:rPr>
                                <m:t>×</m:t>
                              </m:r>
                              <m:r>
                                <a:rPr lang="en-US" b="1" i="1">
                                  <a:solidFill>
                                    <a:schemeClr val="tx1"/>
                                  </a:solidFill>
                                  <a:latin typeface="Cambria Math" panose="02040503050406030204" pitchFamily="18" charset="0"/>
                                  <a:ea typeface="Cambria Math" panose="02040503050406030204" pitchFamily="18" charset="0"/>
                                </a:rPr>
                                <m:t>𝟎</m:t>
                              </m:r>
                            </m:sup>
                          </m:sSup>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|0</m:t>
                              </m:r>
                            </m:e>
                          </m:d>
                          <m:r>
                            <a:rPr lang="en-US" i="1">
                              <a:solidFill>
                                <a:schemeClr val="tx1"/>
                              </a:solidFill>
                              <a:latin typeface="Cambria Math" panose="02040503050406030204" pitchFamily="18" charset="0"/>
                              <a:ea typeface="Cambria Math" panose="02040503050406030204" pitchFamily="18" charset="0"/>
                            </a:rPr>
                            <m:t>+</m:t>
                          </m:r>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𝜋</m:t>
                                  </m:r>
                                  <m:r>
                                    <a:rPr lang="en-US" i="1">
                                      <a:solidFill>
                                        <a:schemeClr val="tx1"/>
                                      </a:solidFill>
                                      <a:latin typeface="Cambria Math" panose="02040503050406030204" pitchFamily="18" charset="0"/>
                                      <a:ea typeface="Cambria Math" panose="02040503050406030204" pitchFamily="18" charset="0"/>
                                    </a:rPr>
                                    <m:t>𝑖</m:t>
                                  </m:r>
                                </m:num>
                                <m:den>
                                  <m:r>
                                    <a:rPr lang="en-US" i="1">
                                      <a:solidFill>
                                        <a:schemeClr val="tx1"/>
                                      </a:solidFill>
                                      <a:latin typeface="Cambria Math" panose="02040503050406030204" pitchFamily="18" charset="0"/>
                                      <a:ea typeface="Cambria Math" panose="02040503050406030204" pitchFamily="18" charset="0"/>
                                    </a:rPr>
                                    <m:t>2</m:t>
                                  </m:r>
                                </m:den>
                              </m:f>
                              <m:r>
                                <a:rPr lang="en-US" b="1" i="1">
                                  <a:solidFill>
                                    <a:schemeClr val="tx1"/>
                                  </a:solidFill>
                                  <a:latin typeface="Cambria Math" panose="02040503050406030204" pitchFamily="18" charset="0"/>
                                  <a:ea typeface="Cambria Math" panose="02040503050406030204" pitchFamily="18" charset="0"/>
                                </a:rPr>
                                <m:t>𝟐</m:t>
                              </m:r>
                              <m:r>
                                <a:rPr lang="en-US" b="1" i="1">
                                  <a:solidFill>
                                    <a:schemeClr val="tx1"/>
                                  </a:solidFill>
                                  <a:latin typeface="Cambria Math" panose="02040503050406030204" pitchFamily="18" charset="0"/>
                                  <a:ea typeface="Cambria Math" panose="02040503050406030204" pitchFamily="18" charset="0"/>
                                </a:rPr>
                                <m:t>×</m:t>
                              </m:r>
                              <m:r>
                                <a:rPr lang="en-US" b="1" i="1">
                                  <a:solidFill>
                                    <a:schemeClr val="tx1"/>
                                  </a:solidFill>
                                  <a:latin typeface="Cambria Math" panose="02040503050406030204" pitchFamily="18" charset="0"/>
                                  <a:ea typeface="Cambria Math" panose="02040503050406030204" pitchFamily="18" charset="0"/>
                                </a:rPr>
                                <m:t>𝟏</m:t>
                              </m:r>
                            </m:sup>
                          </m:sSup>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|1</m:t>
                              </m:r>
                            </m:e>
                          </m:d>
                          <m:r>
                            <a:rPr lang="en-US" i="1">
                              <a:solidFill>
                                <a:schemeClr val="tx1"/>
                              </a:solidFill>
                              <a:latin typeface="Cambria Math" panose="02040503050406030204" pitchFamily="18" charset="0"/>
                              <a:ea typeface="Cambria Math" panose="02040503050406030204" pitchFamily="18" charset="0"/>
                            </a:rPr>
                            <m:t>+</m:t>
                          </m:r>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𝜋</m:t>
                                  </m:r>
                                  <m:r>
                                    <a:rPr lang="en-US" i="1">
                                      <a:solidFill>
                                        <a:schemeClr val="tx1"/>
                                      </a:solidFill>
                                      <a:latin typeface="Cambria Math" panose="02040503050406030204" pitchFamily="18" charset="0"/>
                                      <a:ea typeface="Cambria Math" panose="02040503050406030204" pitchFamily="18" charset="0"/>
                                    </a:rPr>
                                    <m:t>𝑖</m:t>
                                  </m:r>
                                </m:num>
                                <m:den>
                                  <m:r>
                                    <a:rPr lang="en-US" i="1">
                                      <a:solidFill>
                                        <a:schemeClr val="tx1"/>
                                      </a:solidFill>
                                      <a:latin typeface="Cambria Math" panose="02040503050406030204" pitchFamily="18" charset="0"/>
                                      <a:ea typeface="Cambria Math" panose="02040503050406030204" pitchFamily="18" charset="0"/>
                                    </a:rPr>
                                    <m:t>2</m:t>
                                  </m:r>
                                </m:den>
                              </m:f>
                              <m:r>
                                <a:rPr lang="en-US" b="1" i="1">
                                  <a:solidFill>
                                    <a:schemeClr val="tx1"/>
                                  </a:solidFill>
                                  <a:latin typeface="Cambria Math" panose="02040503050406030204" pitchFamily="18" charset="0"/>
                                  <a:ea typeface="Cambria Math" panose="02040503050406030204" pitchFamily="18" charset="0"/>
                                </a:rPr>
                                <m:t>𝟐</m:t>
                              </m:r>
                              <m:r>
                                <a:rPr lang="en-US" b="1" i="1">
                                  <a:solidFill>
                                    <a:schemeClr val="tx1"/>
                                  </a:solidFill>
                                  <a:latin typeface="Cambria Math" panose="02040503050406030204" pitchFamily="18" charset="0"/>
                                  <a:ea typeface="Cambria Math" panose="02040503050406030204" pitchFamily="18" charset="0"/>
                                </a:rPr>
                                <m:t>×</m:t>
                              </m:r>
                              <m:r>
                                <a:rPr lang="en-US" b="1" i="1">
                                  <a:solidFill>
                                    <a:schemeClr val="tx1"/>
                                  </a:solidFill>
                                  <a:latin typeface="Cambria Math" panose="02040503050406030204" pitchFamily="18" charset="0"/>
                                  <a:ea typeface="Cambria Math" panose="02040503050406030204" pitchFamily="18" charset="0"/>
                                </a:rPr>
                                <m:t>𝟐</m:t>
                              </m:r>
                            </m:sup>
                          </m:sSup>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|2</m:t>
                              </m:r>
                            </m:e>
                          </m:d>
                          <m:r>
                            <a:rPr lang="en-US" i="1">
                              <a:solidFill>
                                <a:schemeClr val="tx1"/>
                              </a:solidFill>
                              <a:latin typeface="Cambria Math" panose="02040503050406030204" pitchFamily="18" charset="0"/>
                              <a:ea typeface="Cambria Math" panose="02040503050406030204" pitchFamily="18" charset="0"/>
                            </a:rPr>
                            <m:t>+</m:t>
                          </m:r>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𝜋</m:t>
                                  </m:r>
                                  <m:r>
                                    <a:rPr lang="en-US" i="1">
                                      <a:solidFill>
                                        <a:schemeClr val="tx1"/>
                                      </a:solidFill>
                                      <a:latin typeface="Cambria Math" panose="02040503050406030204" pitchFamily="18" charset="0"/>
                                      <a:ea typeface="Cambria Math" panose="02040503050406030204" pitchFamily="18" charset="0"/>
                                    </a:rPr>
                                    <m:t>𝑖</m:t>
                                  </m:r>
                                </m:num>
                                <m:den>
                                  <m:r>
                                    <a:rPr lang="en-US" i="1">
                                      <a:solidFill>
                                        <a:schemeClr val="tx1"/>
                                      </a:solidFill>
                                      <a:latin typeface="Cambria Math" panose="02040503050406030204" pitchFamily="18" charset="0"/>
                                      <a:ea typeface="Cambria Math" panose="02040503050406030204" pitchFamily="18" charset="0"/>
                                    </a:rPr>
                                    <m:t>2</m:t>
                                  </m:r>
                                </m:den>
                              </m:f>
                              <m:r>
                                <a:rPr lang="en-US" b="1" i="1">
                                  <a:solidFill>
                                    <a:schemeClr val="tx1"/>
                                  </a:solidFill>
                                  <a:latin typeface="Cambria Math" panose="02040503050406030204" pitchFamily="18" charset="0"/>
                                  <a:ea typeface="Cambria Math" panose="02040503050406030204" pitchFamily="18" charset="0"/>
                                </a:rPr>
                                <m:t>𝟐</m:t>
                              </m:r>
                              <m:r>
                                <a:rPr lang="en-US" b="1" i="1">
                                  <a:solidFill>
                                    <a:schemeClr val="tx1"/>
                                  </a:solidFill>
                                  <a:latin typeface="Cambria Math" panose="02040503050406030204" pitchFamily="18" charset="0"/>
                                  <a:ea typeface="Cambria Math" panose="02040503050406030204" pitchFamily="18" charset="0"/>
                                </a:rPr>
                                <m:t>×</m:t>
                              </m:r>
                              <m:r>
                                <a:rPr lang="en-US" b="1" i="1">
                                  <a:solidFill>
                                    <a:schemeClr val="tx1"/>
                                  </a:solidFill>
                                  <a:latin typeface="Cambria Math" panose="02040503050406030204" pitchFamily="18" charset="0"/>
                                  <a:ea typeface="Cambria Math" panose="02040503050406030204" pitchFamily="18" charset="0"/>
                                </a:rPr>
                                <m:t>𝟑</m:t>
                              </m:r>
                            </m:sup>
                          </m:sSup>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|3</m:t>
                              </m:r>
                            </m:e>
                          </m:d>
                        </m:e>
                      </m:d>
                      <m:r>
                        <a:rPr lang="en-US" i="1">
                          <a:solidFill>
                            <a:schemeClr val="tx1"/>
                          </a:solidFill>
                          <a:latin typeface="Cambria Math" panose="02040503050406030204" pitchFamily="18" charset="0"/>
                          <a:ea typeface="Cambria Math" panose="02040503050406030204" pitchFamily="18" charset="0"/>
                        </a:rPr>
                        <m:t>=</m:t>
                      </m:r>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1</m:t>
                          </m:r>
                        </m:num>
                        <m:den>
                          <m:r>
                            <a:rPr lang="en-US" i="1">
                              <a:solidFill>
                                <a:schemeClr val="tx1"/>
                              </a:solidFill>
                              <a:latin typeface="Cambria Math" panose="02040503050406030204" pitchFamily="18" charset="0"/>
                              <a:ea typeface="Cambria Math" panose="02040503050406030204" pitchFamily="18" charset="0"/>
                            </a:rPr>
                            <m:t>2</m:t>
                          </m:r>
                        </m:den>
                      </m:f>
                      <m:d>
                        <m:dPr>
                          <m:ctrlPr>
                            <a:rPr lang="en-US" i="1">
                              <a:solidFill>
                                <a:schemeClr val="tx1"/>
                              </a:solidFill>
                              <a:latin typeface="Cambria Math" panose="02040503050406030204" pitchFamily="18" charset="0"/>
                              <a:ea typeface="Cambria Math" panose="02040503050406030204" pitchFamily="18" charset="0"/>
                            </a:rPr>
                          </m:ctrlPr>
                        </m:dPr>
                        <m:e>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|00</m:t>
                              </m:r>
                            </m:e>
                          </m:d>
                          <m:r>
                            <a:rPr lang="en-US" i="1">
                              <a:solidFill>
                                <a:schemeClr val="tx1"/>
                              </a:solidFill>
                              <a:latin typeface="Cambria Math" panose="02040503050406030204" pitchFamily="18" charset="0"/>
                              <a:ea typeface="Cambria Math" panose="02040503050406030204" pitchFamily="18" charset="0"/>
                            </a:rPr>
                            <m:t>+</m:t>
                          </m:r>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r>
                                <a:rPr lang="en-US" i="1">
                                  <a:solidFill>
                                    <a:schemeClr val="tx1"/>
                                  </a:solidFill>
                                  <a:latin typeface="Cambria Math" panose="02040503050406030204" pitchFamily="18" charset="0"/>
                                  <a:ea typeface="Cambria Math" panose="02040503050406030204" pitchFamily="18" charset="0"/>
                                </a:rPr>
                                <m:t>𝜋</m:t>
                              </m:r>
                              <m:r>
                                <a:rPr lang="en-US" i="1">
                                  <a:solidFill>
                                    <a:schemeClr val="tx1"/>
                                  </a:solidFill>
                                  <a:latin typeface="Cambria Math" panose="02040503050406030204" pitchFamily="18" charset="0"/>
                                  <a:ea typeface="Cambria Math" panose="02040503050406030204" pitchFamily="18" charset="0"/>
                                </a:rPr>
                                <m:t>𝑖</m:t>
                              </m:r>
                            </m:sup>
                          </m:sSup>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|01</m:t>
                              </m:r>
                            </m:e>
                          </m:d>
                          <m:r>
                            <a:rPr lang="en-US" i="1">
                              <a:solidFill>
                                <a:schemeClr val="tx1"/>
                              </a:solidFill>
                              <a:latin typeface="Cambria Math" panose="02040503050406030204" pitchFamily="18" charset="0"/>
                              <a:ea typeface="Cambria Math" panose="02040503050406030204" pitchFamily="18" charset="0"/>
                            </a:rPr>
                            <m:t>+</m:t>
                          </m:r>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r>
                                <a:rPr lang="en-US" b="0" i="1" smtClean="0">
                                  <a:solidFill>
                                    <a:schemeClr val="tx1"/>
                                  </a:solidFill>
                                  <a:latin typeface="Cambria Math" panose="02040503050406030204" pitchFamily="18" charset="0"/>
                                  <a:ea typeface="Cambria Math" panose="02040503050406030204" pitchFamily="18" charset="0"/>
                                </a:rPr>
                                <m:t>2</m:t>
                              </m:r>
                              <m:r>
                                <a:rPr lang="en-US" i="1">
                                  <a:solidFill>
                                    <a:schemeClr val="tx1"/>
                                  </a:solidFill>
                                  <a:latin typeface="Cambria Math" panose="02040503050406030204" pitchFamily="18" charset="0"/>
                                  <a:ea typeface="Cambria Math" panose="02040503050406030204" pitchFamily="18" charset="0"/>
                                </a:rPr>
                                <m:t>𝜋</m:t>
                              </m:r>
                              <m:r>
                                <a:rPr lang="en-US" i="1">
                                  <a:solidFill>
                                    <a:schemeClr val="tx1"/>
                                  </a:solidFill>
                                  <a:latin typeface="Cambria Math" panose="02040503050406030204" pitchFamily="18" charset="0"/>
                                  <a:ea typeface="Cambria Math" panose="02040503050406030204" pitchFamily="18" charset="0"/>
                                </a:rPr>
                                <m:t>𝑖</m:t>
                              </m:r>
                            </m:sup>
                          </m:sSup>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|10</m:t>
                              </m:r>
                            </m:e>
                          </m:d>
                          <m:r>
                            <a:rPr lang="en-US" i="1">
                              <a:solidFill>
                                <a:schemeClr val="tx1"/>
                              </a:solidFill>
                              <a:latin typeface="Cambria Math" panose="02040503050406030204" pitchFamily="18" charset="0"/>
                              <a:ea typeface="Cambria Math" panose="02040503050406030204" pitchFamily="18" charset="0"/>
                            </a:rPr>
                            <m:t>+</m:t>
                          </m:r>
                          <m:r>
                            <a:rPr lang="sr-Latn-RS" b="0" i="1" smtClean="0">
                              <a:solidFill>
                                <a:schemeClr val="tx1"/>
                              </a:solidFill>
                              <a:latin typeface="Cambria Math" panose="02040503050406030204" pitchFamily="18" charset="0"/>
                              <a:ea typeface="Cambria Math" panose="02040503050406030204" pitchFamily="18" charset="0"/>
                            </a:rPr>
                            <m:t> </m:t>
                          </m:r>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r>
                                <a:rPr lang="en-US" b="0" i="1" smtClean="0">
                                  <a:solidFill>
                                    <a:schemeClr val="tx1"/>
                                  </a:solidFill>
                                  <a:latin typeface="Cambria Math" panose="02040503050406030204" pitchFamily="18" charset="0"/>
                                  <a:ea typeface="Cambria Math" panose="02040503050406030204" pitchFamily="18" charset="0"/>
                                </a:rPr>
                                <m:t>3</m:t>
                              </m:r>
                              <m:r>
                                <a:rPr lang="en-US" i="1">
                                  <a:solidFill>
                                    <a:schemeClr val="tx1"/>
                                  </a:solidFill>
                                  <a:latin typeface="Cambria Math" panose="02040503050406030204" pitchFamily="18" charset="0"/>
                                  <a:ea typeface="Cambria Math" panose="02040503050406030204" pitchFamily="18" charset="0"/>
                                </a:rPr>
                                <m:t>𝜋</m:t>
                              </m:r>
                              <m:r>
                                <a:rPr lang="en-US" i="1">
                                  <a:solidFill>
                                    <a:schemeClr val="tx1"/>
                                  </a:solidFill>
                                  <a:latin typeface="Cambria Math" panose="02040503050406030204" pitchFamily="18" charset="0"/>
                                  <a:ea typeface="Cambria Math" panose="02040503050406030204" pitchFamily="18" charset="0"/>
                                </a:rPr>
                                <m:t>𝑖</m:t>
                              </m:r>
                            </m:sup>
                          </m:sSup>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|11</m:t>
                              </m:r>
                            </m:e>
                          </m:d>
                        </m:e>
                      </m:d>
                    </m:oMath>
                  </m:oMathPara>
                </a14:m>
                <a:endParaRPr lang="en-US" dirty="0">
                  <a:solidFill>
                    <a:schemeClr val="tx1"/>
                  </a:solidFill>
                </a:endParaRPr>
              </a:p>
            </p:txBody>
          </p:sp>
        </mc:Choice>
        <mc:Fallback xmlns="">
          <p:sp>
            <p:nvSpPr>
              <p:cNvPr id="6" name="Rectangle 5">
                <a:extLst>
                  <a:ext uri="{FF2B5EF4-FFF2-40B4-BE49-F238E27FC236}">
                    <a16:creationId xmlns:a16="http://schemas.microsoft.com/office/drawing/2014/main" id="{CEBA32B2-FBB3-4E46-8B99-7E0786CD3B45}"/>
                  </a:ext>
                </a:extLst>
              </p:cNvPr>
              <p:cNvSpPr>
                <a:spLocks noRot="1" noChangeAspect="1" noMove="1" noResize="1" noEditPoints="1" noAdjustHandles="1" noChangeArrowheads="1" noChangeShapeType="1" noTextEdit="1"/>
              </p:cNvSpPr>
              <p:nvPr/>
            </p:nvSpPr>
            <p:spPr>
              <a:xfrm>
                <a:off x="91321" y="2848031"/>
                <a:ext cx="10623190" cy="610936"/>
              </a:xfrm>
              <a:prstGeom prst="rect">
                <a:avLst/>
              </a:prstGeom>
              <a:blipFill>
                <a:blip r:embed="rId6"/>
                <a:stretch>
                  <a:fillRect t="-42857" r="-835" b="-8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3552E961-A88D-1946-BAFE-3FB951BBB651}"/>
                  </a:ext>
                </a:extLst>
              </p:cNvPr>
              <p:cNvSpPr/>
              <p:nvPr/>
            </p:nvSpPr>
            <p:spPr>
              <a:xfrm>
                <a:off x="150461" y="3425901"/>
                <a:ext cx="10722750" cy="61093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𝑄𝐹𝑇</m:t>
                      </m:r>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ea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𝑥</m:t>
                              </m:r>
                            </m:e>
                            <m:sub>
                              <m:r>
                                <a:rPr lang="en-US" i="1">
                                  <a:solidFill>
                                    <a:schemeClr val="tx1"/>
                                  </a:solidFill>
                                  <a:latin typeface="Cambria Math" panose="02040503050406030204" pitchFamily="18" charset="0"/>
                                  <a:ea typeface="Cambria Math" panose="02040503050406030204" pitchFamily="18" charset="0"/>
                                </a:rPr>
                                <m:t>=3</m:t>
                              </m:r>
                            </m:sub>
                          </m:sSub>
                        </m:e>
                      </m:d>
                      <m:r>
                        <a:rPr lang="en-US" i="1">
                          <a:solidFill>
                            <a:schemeClr val="tx1"/>
                          </a:solidFill>
                          <a:latin typeface="Cambria Math" panose="02040503050406030204" pitchFamily="18" charset="0"/>
                          <a:ea typeface="Cambria Math" panose="02040503050406030204" pitchFamily="18" charset="0"/>
                        </a:rPr>
                        <m:t>=</m:t>
                      </m:r>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1</m:t>
                          </m:r>
                        </m:num>
                        <m:den>
                          <m:r>
                            <a:rPr lang="en-US" i="1">
                              <a:solidFill>
                                <a:schemeClr val="tx1"/>
                              </a:solidFill>
                              <a:latin typeface="Cambria Math" panose="02040503050406030204" pitchFamily="18" charset="0"/>
                              <a:ea typeface="Cambria Math" panose="02040503050406030204" pitchFamily="18" charset="0"/>
                            </a:rPr>
                            <m:t>2</m:t>
                          </m:r>
                        </m:den>
                      </m:f>
                      <m:d>
                        <m:dPr>
                          <m:ctrlPr>
                            <a:rPr lang="en-US" i="1">
                              <a:solidFill>
                                <a:schemeClr val="tx1"/>
                              </a:solidFill>
                              <a:latin typeface="Cambria Math" panose="02040503050406030204" pitchFamily="18" charset="0"/>
                              <a:ea typeface="Cambria Math" panose="02040503050406030204" pitchFamily="18" charset="0"/>
                            </a:rPr>
                          </m:ctrlPr>
                        </m:dPr>
                        <m:e>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𝜋</m:t>
                                  </m:r>
                                  <m:r>
                                    <a:rPr lang="en-US" i="1">
                                      <a:solidFill>
                                        <a:schemeClr val="tx1"/>
                                      </a:solidFill>
                                      <a:latin typeface="Cambria Math" panose="02040503050406030204" pitchFamily="18" charset="0"/>
                                      <a:ea typeface="Cambria Math" panose="02040503050406030204" pitchFamily="18" charset="0"/>
                                    </a:rPr>
                                    <m:t>𝑖</m:t>
                                  </m:r>
                                </m:num>
                                <m:den>
                                  <m:r>
                                    <a:rPr lang="en-US" i="1">
                                      <a:solidFill>
                                        <a:schemeClr val="tx1"/>
                                      </a:solidFill>
                                      <a:latin typeface="Cambria Math" panose="02040503050406030204" pitchFamily="18" charset="0"/>
                                      <a:ea typeface="Cambria Math" panose="02040503050406030204" pitchFamily="18" charset="0"/>
                                    </a:rPr>
                                    <m:t>2</m:t>
                                  </m:r>
                                </m:den>
                              </m:f>
                              <m:r>
                                <a:rPr lang="en-US" b="1" i="1">
                                  <a:solidFill>
                                    <a:schemeClr val="tx1"/>
                                  </a:solidFill>
                                  <a:latin typeface="Cambria Math" panose="02040503050406030204" pitchFamily="18" charset="0"/>
                                  <a:ea typeface="Cambria Math" panose="02040503050406030204" pitchFamily="18" charset="0"/>
                                </a:rPr>
                                <m:t>𝟑</m:t>
                              </m:r>
                              <m:r>
                                <a:rPr lang="en-US" b="1" i="1">
                                  <a:solidFill>
                                    <a:schemeClr val="tx1"/>
                                  </a:solidFill>
                                  <a:latin typeface="Cambria Math" panose="02040503050406030204" pitchFamily="18" charset="0"/>
                                  <a:ea typeface="Cambria Math" panose="02040503050406030204" pitchFamily="18" charset="0"/>
                                </a:rPr>
                                <m:t>×</m:t>
                              </m:r>
                              <m:r>
                                <a:rPr lang="en-US" b="1" i="1">
                                  <a:solidFill>
                                    <a:schemeClr val="tx1"/>
                                  </a:solidFill>
                                  <a:latin typeface="Cambria Math" panose="02040503050406030204" pitchFamily="18" charset="0"/>
                                  <a:ea typeface="Cambria Math" panose="02040503050406030204" pitchFamily="18" charset="0"/>
                                </a:rPr>
                                <m:t>𝟎</m:t>
                              </m:r>
                            </m:sup>
                          </m:sSup>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|0</m:t>
                              </m:r>
                            </m:e>
                          </m:d>
                          <m:r>
                            <a:rPr lang="en-US" i="1">
                              <a:solidFill>
                                <a:schemeClr val="tx1"/>
                              </a:solidFill>
                              <a:latin typeface="Cambria Math" panose="02040503050406030204" pitchFamily="18" charset="0"/>
                              <a:ea typeface="Cambria Math" panose="02040503050406030204" pitchFamily="18" charset="0"/>
                            </a:rPr>
                            <m:t>+</m:t>
                          </m:r>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𝜋</m:t>
                                  </m:r>
                                  <m:r>
                                    <a:rPr lang="en-US" i="1">
                                      <a:solidFill>
                                        <a:schemeClr val="tx1"/>
                                      </a:solidFill>
                                      <a:latin typeface="Cambria Math" panose="02040503050406030204" pitchFamily="18" charset="0"/>
                                      <a:ea typeface="Cambria Math" panose="02040503050406030204" pitchFamily="18" charset="0"/>
                                    </a:rPr>
                                    <m:t>𝑖</m:t>
                                  </m:r>
                                </m:num>
                                <m:den>
                                  <m:r>
                                    <a:rPr lang="en-US" i="1">
                                      <a:solidFill>
                                        <a:schemeClr val="tx1"/>
                                      </a:solidFill>
                                      <a:latin typeface="Cambria Math" panose="02040503050406030204" pitchFamily="18" charset="0"/>
                                      <a:ea typeface="Cambria Math" panose="02040503050406030204" pitchFamily="18" charset="0"/>
                                    </a:rPr>
                                    <m:t>2</m:t>
                                  </m:r>
                                </m:den>
                              </m:f>
                              <m:r>
                                <a:rPr lang="en-US" b="1" i="1">
                                  <a:solidFill>
                                    <a:schemeClr val="tx1"/>
                                  </a:solidFill>
                                  <a:latin typeface="Cambria Math" panose="02040503050406030204" pitchFamily="18" charset="0"/>
                                  <a:ea typeface="Cambria Math" panose="02040503050406030204" pitchFamily="18" charset="0"/>
                                </a:rPr>
                                <m:t>𝟑</m:t>
                              </m:r>
                              <m:r>
                                <a:rPr lang="en-US" b="1" i="1">
                                  <a:solidFill>
                                    <a:schemeClr val="tx1"/>
                                  </a:solidFill>
                                  <a:latin typeface="Cambria Math" panose="02040503050406030204" pitchFamily="18" charset="0"/>
                                  <a:ea typeface="Cambria Math" panose="02040503050406030204" pitchFamily="18" charset="0"/>
                                </a:rPr>
                                <m:t>×</m:t>
                              </m:r>
                              <m:r>
                                <a:rPr lang="en-US" b="1" i="1">
                                  <a:solidFill>
                                    <a:schemeClr val="tx1"/>
                                  </a:solidFill>
                                  <a:latin typeface="Cambria Math" panose="02040503050406030204" pitchFamily="18" charset="0"/>
                                  <a:ea typeface="Cambria Math" panose="02040503050406030204" pitchFamily="18" charset="0"/>
                                </a:rPr>
                                <m:t>𝟏</m:t>
                              </m:r>
                            </m:sup>
                          </m:sSup>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|1</m:t>
                              </m:r>
                            </m:e>
                          </m:d>
                          <m:r>
                            <a:rPr lang="en-US" i="1">
                              <a:solidFill>
                                <a:schemeClr val="tx1"/>
                              </a:solidFill>
                              <a:latin typeface="Cambria Math" panose="02040503050406030204" pitchFamily="18" charset="0"/>
                              <a:ea typeface="Cambria Math" panose="02040503050406030204" pitchFamily="18" charset="0"/>
                            </a:rPr>
                            <m:t>+</m:t>
                          </m:r>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𝜋</m:t>
                                  </m:r>
                                  <m:r>
                                    <a:rPr lang="en-US" i="1">
                                      <a:solidFill>
                                        <a:schemeClr val="tx1"/>
                                      </a:solidFill>
                                      <a:latin typeface="Cambria Math" panose="02040503050406030204" pitchFamily="18" charset="0"/>
                                      <a:ea typeface="Cambria Math" panose="02040503050406030204" pitchFamily="18" charset="0"/>
                                    </a:rPr>
                                    <m:t>𝑖</m:t>
                                  </m:r>
                                </m:num>
                                <m:den>
                                  <m:r>
                                    <a:rPr lang="en-US" i="1">
                                      <a:solidFill>
                                        <a:schemeClr val="tx1"/>
                                      </a:solidFill>
                                      <a:latin typeface="Cambria Math" panose="02040503050406030204" pitchFamily="18" charset="0"/>
                                      <a:ea typeface="Cambria Math" panose="02040503050406030204" pitchFamily="18" charset="0"/>
                                    </a:rPr>
                                    <m:t>2</m:t>
                                  </m:r>
                                </m:den>
                              </m:f>
                              <m:r>
                                <a:rPr lang="en-US" b="1" i="1">
                                  <a:solidFill>
                                    <a:schemeClr val="tx1"/>
                                  </a:solidFill>
                                  <a:latin typeface="Cambria Math" panose="02040503050406030204" pitchFamily="18" charset="0"/>
                                  <a:ea typeface="Cambria Math" panose="02040503050406030204" pitchFamily="18" charset="0"/>
                                </a:rPr>
                                <m:t>𝟑</m:t>
                              </m:r>
                              <m:r>
                                <a:rPr lang="en-US" b="1" i="1">
                                  <a:solidFill>
                                    <a:schemeClr val="tx1"/>
                                  </a:solidFill>
                                  <a:latin typeface="Cambria Math" panose="02040503050406030204" pitchFamily="18" charset="0"/>
                                  <a:ea typeface="Cambria Math" panose="02040503050406030204" pitchFamily="18" charset="0"/>
                                </a:rPr>
                                <m:t>×</m:t>
                              </m:r>
                              <m:r>
                                <a:rPr lang="en-US" b="1" i="1">
                                  <a:solidFill>
                                    <a:schemeClr val="tx1"/>
                                  </a:solidFill>
                                  <a:latin typeface="Cambria Math" panose="02040503050406030204" pitchFamily="18" charset="0"/>
                                  <a:ea typeface="Cambria Math" panose="02040503050406030204" pitchFamily="18" charset="0"/>
                                </a:rPr>
                                <m:t>𝟐</m:t>
                              </m:r>
                            </m:sup>
                          </m:sSup>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|2</m:t>
                              </m:r>
                            </m:e>
                          </m:d>
                          <m:r>
                            <a:rPr lang="en-US" i="1">
                              <a:solidFill>
                                <a:schemeClr val="tx1"/>
                              </a:solidFill>
                              <a:latin typeface="Cambria Math" panose="02040503050406030204" pitchFamily="18" charset="0"/>
                              <a:ea typeface="Cambria Math" panose="02040503050406030204" pitchFamily="18" charset="0"/>
                            </a:rPr>
                            <m:t>+</m:t>
                          </m:r>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𝜋</m:t>
                                  </m:r>
                                  <m:r>
                                    <a:rPr lang="en-US" i="1">
                                      <a:solidFill>
                                        <a:schemeClr val="tx1"/>
                                      </a:solidFill>
                                      <a:latin typeface="Cambria Math" panose="02040503050406030204" pitchFamily="18" charset="0"/>
                                      <a:ea typeface="Cambria Math" panose="02040503050406030204" pitchFamily="18" charset="0"/>
                                    </a:rPr>
                                    <m:t>𝑖</m:t>
                                  </m:r>
                                </m:num>
                                <m:den>
                                  <m:r>
                                    <a:rPr lang="en-US" i="1">
                                      <a:solidFill>
                                        <a:schemeClr val="tx1"/>
                                      </a:solidFill>
                                      <a:latin typeface="Cambria Math" panose="02040503050406030204" pitchFamily="18" charset="0"/>
                                      <a:ea typeface="Cambria Math" panose="02040503050406030204" pitchFamily="18" charset="0"/>
                                    </a:rPr>
                                    <m:t>2</m:t>
                                  </m:r>
                                </m:den>
                              </m:f>
                              <m:r>
                                <a:rPr lang="en-US" b="1" i="1">
                                  <a:solidFill>
                                    <a:schemeClr val="tx1"/>
                                  </a:solidFill>
                                  <a:latin typeface="Cambria Math" panose="02040503050406030204" pitchFamily="18" charset="0"/>
                                  <a:ea typeface="Cambria Math" panose="02040503050406030204" pitchFamily="18" charset="0"/>
                                </a:rPr>
                                <m:t>𝟑</m:t>
                              </m:r>
                              <m:r>
                                <a:rPr lang="en-US" b="1" i="1">
                                  <a:solidFill>
                                    <a:schemeClr val="tx1"/>
                                  </a:solidFill>
                                  <a:latin typeface="Cambria Math" panose="02040503050406030204" pitchFamily="18" charset="0"/>
                                  <a:ea typeface="Cambria Math" panose="02040503050406030204" pitchFamily="18" charset="0"/>
                                </a:rPr>
                                <m:t>×</m:t>
                              </m:r>
                              <m:r>
                                <a:rPr lang="en-US" b="1" i="1">
                                  <a:solidFill>
                                    <a:schemeClr val="tx1"/>
                                  </a:solidFill>
                                  <a:latin typeface="Cambria Math" panose="02040503050406030204" pitchFamily="18" charset="0"/>
                                  <a:ea typeface="Cambria Math" panose="02040503050406030204" pitchFamily="18" charset="0"/>
                                </a:rPr>
                                <m:t>𝟑</m:t>
                              </m:r>
                            </m:sup>
                          </m:sSup>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|3</m:t>
                              </m:r>
                            </m:e>
                          </m:d>
                        </m:e>
                      </m:d>
                      <m:r>
                        <a:rPr lang="en-US" i="1">
                          <a:solidFill>
                            <a:schemeClr val="tx1"/>
                          </a:solidFill>
                          <a:latin typeface="Cambria Math" panose="02040503050406030204" pitchFamily="18" charset="0"/>
                          <a:ea typeface="Cambria Math" panose="02040503050406030204" pitchFamily="18" charset="0"/>
                        </a:rPr>
                        <m:t>=</m:t>
                      </m:r>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1</m:t>
                          </m:r>
                        </m:num>
                        <m:den>
                          <m:r>
                            <a:rPr lang="en-US" i="1">
                              <a:solidFill>
                                <a:schemeClr val="tx1"/>
                              </a:solidFill>
                              <a:latin typeface="Cambria Math" panose="02040503050406030204" pitchFamily="18" charset="0"/>
                              <a:ea typeface="Cambria Math" panose="02040503050406030204" pitchFamily="18" charset="0"/>
                            </a:rPr>
                            <m:t>2</m:t>
                          </m:r>
                        </m:den>
                      </m:f>
                      <m:d>
                        <m:dPr>
                          <m:ctrlPr>
                            <a:rPr lang="en-US" i="1">
                              <a:solidFill>
                                <a:schemeClr val="tx1"/>
                              </a:solidFill>
                              <a:latin typeface="Cambria Math" panose="02040503050406030204" pitchFamily="18" charset="0"/>
                              <a:ea typeface="Cambria Math" panose="02040503050406030204" pitchFamily="18" charset="0"/>
                            </a:rPr>
                          </m:ctrlPr>
                        </m:dPr>
                        <m:e>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|00</m:t>
                              </m:r>
                            </m:e>
                          </m:d>
                          <m:r>
                            <a:rPr lang="en-US" i="1">
                              <a:solidFill>
                                <a:schemeClr val="tx1"/>
                              </a:solidFill>
                              <a:latin typeface="Cambria Math" panose="02040503050406030204" pitchFamily="18" charset="0"/>
                              <a:ea typeface="Cambria Math" panose="02040503050406030204" pitchFamily="18" charset="0"/>
                            </a:rPr>
                            <m:t>+</m:t>
                          </m:r>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f>
                                <m:fPr>
                                  <m:ctrlPr>
                                    <a:rPr lang="en-US" i="1">
                                      <a:solidFill>
                                        <a:schemeClr val="tx1"/>
                                      </a:solidFill>
                                      <a:latin typeface="Cambria Math" panose="02040503050406030204" pitchFamily="18" charset="0"/>
                                      <a:ea typeface="Cambria Math" panose="02040503050406030204" pitchFamily="18" charset="0"/>
                                    </a:rPr>
                                  </m:ctrlPr>
                                </m:fPr>
                                <m:num>
                                  <m:r>
                                    <a:rPr lang="en-US" b="0" i="1" smtClean="0">
                                      <a:solidFill>
                                        <a:schemeClr val="tx1"/>
                                      </a:solidFill>
                                      <a:latin typeface="Cambria Math" panose="02040503050406030204" pitchFamily="18" charset="0"/>
                                      <a:ea typeface="Cambria Math" panose="02040503050406030204" pitchFamily="18" charset="0"/>
                                    </a:rPr>
                                    <m:t>3</m:t>
                                  </m:r>
                                  <m:r>
                                    <a:rPr lang="en-US" i="1">
                                      <a:solidFill>
                                        <a:schemeClr val="tx1"/>
                                      </a:solidFill>
                                      <a:latin typeface="Cambria Math" panose="02040503050406030204" pitchFamily="18" charset="0"/>
                                      <a:ea typeface="Cambria Math" panose="02040503050406030204" pitchFamily="18" charset="0"/>
                                    </a:rPr>
                                    <m:t>𝜋</m:t>
                                  </m:r>
                                  <m:r>
                                    <a:rPr lang="en-US" i="1">
                                      <a:solidFill>
                                        <a:schemeClr val="tx1"/>
                                      </a:solidFill>
                                      <a:latin typeface="Cambria Math" panose="02040503050406030204" pitchFamily="18" charset="0"/>
                                      <a:ea typeface="Cambria Math" panose="02040503050406030204" pitchFamily="18" charset="0"/>
                                    </a:rPr>
                                    <m:t>𝑖</m:t>
                                  </m:r>
                                </m:num>
                                <m:den>
                                  <m:r>
                                    <a:rPr lang="en-US" i="1">
                                      <a:solidFill>
                                        <a:schemeClr val="tx1"/>
                                      </a:solidFill>
                                      <a:latin typeface="Cambria Math" panose="02040503050406030204" pitchFamily="18" charset="0"/>
                                      <a:ea typeface="Cambria Math" panose="02040503050406030204" pitchFamily="18" charset="0"/>
                                    </a:rPr>
                                    <m:t>2</m:t>
                                  </m:r>
                                </m:den>
                              </m:f>
                            </m:sup>
                          </m:sSup>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|01</m:t>
                              </m:r>
                            </m:e>
                          </m:d>
                          <m:r>
                            <a:rPr lang="en-US" i="1">
                              <a:solidFill>
                                <a:schemeClr val="tx1"/>
                              </a:solidFill>
                              <a:latin typeface="Cambria Math" panose="02040503050406030204" pitchFamily="18" charset="0"/>
                              <a:ea typeface="Cambria Math" panose="02040503050406030204" pitchFamily="18" charset="0"/>
                            </a:rPr>
                            <m:t>+</m:t>
                          </m:r>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r>
                                <a:rPr lang="en-US" b="0" i="1" smtClean="0">
                                  <a:solidFill>
                                    <a:schemeClr val="tx1"/>
                                  </a:solidFill>
                                  <a:latin typeface="Cambria Math" panose="02040503050406030204" pitchFamily="18" charset="0"/>
                                  <a:ea typeface="Cambria Math" panose="02040503050406030204" pitchFamily="18" charset="0"/>
                                </a:rPr>
                                <m:t>3</m:t>
                              </m:r>
                              <m:r>
                                <a:rPr lang="en-US" i="1">
                                  <a:solidFill>
                                    <a:schemeClr val="tx1"/>
                                  </a:solidFill>
                                  <a:latin typeface="Cambria Math" panose="02040503050406030204" pitchFamily="18" charset="0"/>
                                  <a:ea typeface="Cambria Math" panose="02040503050406030204" pitchFamily="18" charset="0"/>
                                </a:rPr>
                                <m:t>𝜋</m:t>
                              </m:r>
                              <m:r>
                                <a:rPr lang="en-US" i="1">
                                  <a:solidFill>
                                    <a:schemeClr val="tx1"/>
                                  </a:solidFill>
                                  <a:latin typeface="Cambria Math" panose="02040503050406030204" pitchFamily="18" charset="0"/>
                                  <a:ea typeface="Cambria Math" panose="02040503050406030204" pitchFamily="18" charset="0"/>
                                </a:rPr>
                                <m:t>𝑖</m:t>
                              </m:r>
                            </m:sup>
                          </m:sSup>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|10</m:t>
                              </m:r>
                            </m:e>
                          </m:d>
                          <m:r>
                            <a:rPr lang="en-US" i="1">
                              <a:solidFill>
                                <a:schemeClr val="tx1"/>
                              </a:solidFill>
                              <a:latin typeface="Cambria Math" panose="02040503050406030204" pitchFamily="18" charset="0"/>
                              <a:ea typeface="Cambria Math" panose="02040503050406030204" pitchFamily="18" charset="0"/>
                            </a:rPr>
                            <m:t>+</m:t>
                          </m:r>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f>
                                <m:fPr>
                                  <m:ctrlPr>
                                    <a:rPr lang="en-US" i="1">
                                      <a:solidFill>
                                        <a:schemeClr val="tx1"/>
                                      </a:solidFill>
                                      <a:latin typeface="Cambria Math" panose="02040503050406030204" pitchFamily="18" charset="0"/>
                                      <a:ea typeface="Cambria Math" panose="02040503050406030204" pitchFamily="18" charset="0"/>
                                    </a:rPr>
                                  </m:ctrlPr>
                                </m:fPr>
                                <m:num>
                                  <m:r>
                                    <a:rPr lang="en-US" b="0" i="1" smtClean="0">
                                      <a:solidFill>
                                        <a:schemeClr val="tx1"/>
                                      </a:solidFill>
                                      <a:latin typeface="Cambria Math" panose="02040503050406030204" pitchFamily="18" charset="0"/>
                                      <a:ea typeface="Cambria Math" panose="02040503050406030204" pitchFamily="18" charset="0"/>
                                    </a:rPr>
                                    <m:t>9</m:t>
                                  </m:r>
                                  <m:r>
                                    <a:rPr lang="en-US" i="1">
                                      <a:solidFill>
                                        <a:schemeClr val="tx1"/>
                                      </a:solidFill>
                                      <a:latin typeface="Cambria Math" panose="02040503050406030204" pitchFamily="18" charset="0"/>
                                      <a:ea typeface="Cambria Math" panose="02040503050406030204" pitchFamily="18" charset="0"/>
                                    </a:rPr>
                                    <m:t>𝜋</m:t>
                                  </m:r>
                                  <m:r>
                                    <a:rPr lang="en-US" i="1">
                                      <a:solidFill>
                                        <a:schemeClr val="tx1"/>
                                      </a:solidFill>
                                      <a:latin typeface="Cambria Math" panose="02040503050406030204" pitchFamily="18" charset="0"/>
                                      <a:ea typeface="Cambria Math" panose="02040503050406030204" pitchFamily="18" charset="0"/>
                                    </a:rPr>
                                    <m:t>𝑖</m:t>
                                  </m:r>
                                </m:num>
                                <m:den>
                                  <m:r>
                                    <a:rPr lang="en-US" i="1">
                                      <a:solidFill>
                                        <a:schemeClr val="tx1"/>
                                      </a:solidFill>
                                      <a:latin typeface="Cambria Math" panose="02040503050406030204" pitchFamily="18" charset="0"/>
                                      <a:ea typeface="Cambria Math" panose="02040503050406030204" pitchFamily="18" charset="0"/>
                                    </a:rPr>
                                    <m:t>2</m:t>
                                  </m:r>
                                </m:den>
                              </m:f>
                            </m:sup>
                          </m:sSup>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|11</m:t>
                              </m:r>
                            </m:e>
                          </m:d>
                        </m:e>
                      </m:d>
                    </m:oMath>
                  </m:oMathPara>
                </a14:m>
                <a:endParaRPr lang="en-US" dirty="0">
                  <a:solidFill>
                    <a:schemeClr val="tx1"/>
                  </a:solidFill>
                </a:endParaRPr>
              </a:p>
            </p:txBody>
          </p:sp>
        </mc:Choice>
        <mc:Fallback xmlns="">
          <p:sp>
            <p:nvSpPr>
              <p:cNvPr id="7" name="Rectangle 6">
                <a:extLst>
                  <a:ext uri="{FF2B5EF4-FFF2-40B4-BE49-F238E27FC236}">
                    <a16:creationId xmlns:a16="http://schemas.microsoft.com/office/drawing/2014/main" id="{3552E961-A88D-1946-BAFE-3FB951BBB651}"/>
                  </a:ext>
                </a:extLst>
              </p:cNvPr>
              <p:cNvSpPr>
                <a:spLocks noRot="1" noChangeAspect="1" noMove="1" noResize="1" noEditPoints="1" noAdjustHandles="1" noChangeArrowheads="1" noChangeShapeType="1" noTextEdit="1"/>
              </p:cNvSpPr>
              <p:nvPr/>
            </p:nvSpPr>
            <p:spPr>
              <a:xfrm>
                <a:off x="150461" y="3425901"/>
                <a:ext cx="10722750" cy="610936"/>
              </a:xfrm>
              <a:prstGeom prst="rect">
                <a:avLst/>
              </a:prstGeom>
              <a:blipFill>
                <a:blip r:embed="rId7"/>
                <a:stretch>
                  <a:fillRect t="-44898" r="-711" b="-85714"/>
                </a:stretch>
              </a:blipFill>
            </p:spPr>
            <p:txBody>
              <a:bodyPr/>
              <a:lstStyle/>
              <a:p>
                <a:r>
                  <a:rPr lang="en-US">
                    <a:noFill/>
                  </a:rPr>
                  <a:t> </a:t>
                </a:r>
              </a:p>
            </p:txBody>
          </p:sp>
        </mc:Fallback>
      </mc:AlternateContent>
      <p:grpSp>
        <p:nvGrpSpPr>
          <p:cNvPr id="9" name="Group 8">
            <a:extLst>
              <a:ext uri="{FF2B5EF4-FFF2-40B4-BE49-F238E27FC236}">
                <a16:creationId xmlns:a16="http://schemas.microsoft.com/office/drawing/2014/main" id="{684814EF-4CEF-584E-81EC-12AE77D168B1}"/>
              </a:ext>
            </a:extLst>
          </p:cNvPr>
          <p:cNvGrpSpPr/>
          <p:nvPr/>
        </p:nvGrpSpPr>
        <p:grpSpPr>
          <a:xfrm>
            <a:off x="5806481" y="4022838"/>
            <a:ext cx="4128262" cy="2816924"/>
            <a:chOff x="5806481" y="4022838"/>
            <a:chExt cx="4128262" cy="2816924"/>
          </a:xfrm>
        </p:grpSpPr>
        <p:grpSp>
          <p:nvGrpSpPr>
            <p:cNvPr id="72" name="Group 71">
              <a:extLst>
                <a:ext uri="{FF2B5EF4-FFF2-40B4-BE49-F238E27FC236}">
                  <a16:creationId xmlns:a16="http://schemas.microsoft.com/office/drawing/2014/main" id="{B3A57BDD-7C2E-CC4D-BD92-1D4BAB9FBF27}"/>
                </a:ext>
              </a:extLst>
            </p:cNvPr>
            <p:cNvGrpSpPr/>
            <p:nvPr/>
          </p:nvGrpSpPr>
          <p:grpSpPr>
            <a:xfrm>
              <a:off x="5806481" y="4022838"/>
              <a:ext cx="4128262" cy="2816924"/>
              <a:chOff x="5806481" y="4022838"/>
              <a:chExt cx="4128262" cy="2816924"/>
            </a:xfrm>
          </p:grpSpPr>
          <p:sp>
            <p:nvSpPr>
              <p:cNvPr id="13" name="Oval 12">
                <a:extLst>
                  <a:ext uri="{FF2B5EF4-FFF2-40B4-BE49-F238E27FC236}">
                    <a16:creationId xmlns:a16="http://schemas.microsoft.com/office/drawing/2014/main" id="{C3F4AADF-6EAA-284D-B486-5AC11C5A4CC6}"/>
                  </a:ext>
                </a:extLst>
              </p:cNvPr>
              <p:cNvSpPr/>
              <p:nvPr/>
            </p:nvSpPr>
            <p:spPr>
              <a:xfrm>
                <a:off x="6651811" y="4374050"/>
                <a:ext cx="2160000" cy="2160000"/>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D505A544-8B08-8E4C-BB7F-5CA18C0394E5}"/>
                  </a:ext>
                </a:extLst>
              </p:cNvPr>
              <p:cNvCxnSpPr>
                <a:cxnSpLocks/>
              </p:cNvCxnSpPr>
              <p:nvPr/>
            </p:nvCxnSpPr>
            <p:spPr>
              <a:xfrm>
                <a:off x="6084890" y="5454050"/>
                <a:ext cx="328108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26C8879-5753-BF40-AA37-7018B383B0F6}"/>
                  </a:ext>
                </a:extLst>
              </p:cNvPr>
              <p:cNvCxnSpPr>
                <a:cxnSpLocks/>
              </p:cNvCxnSpPr>
              <p:nvPr/>
            </p:nvCxnSpPr>
            <p:spPr>
              <a:xfrm>
                <a:off x="7734396" y="4153663"/>
                <a:ext cx="0" cy="2600775"/>
              </a:xfrm>
              <a:prstGeom prst="line">
                <a:avLst/>
              </a:prstGeom>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C1C5BEB2-4155-4C41-AC05-D9A38D657772}"/>
                  </a:ext>
                </a:extLst>
              </p:cNvPr>
              <p:cNvSpPr txBox="1"/>
              <p:nvPr/>
            </p:nvSpPr>
            <p:spPr>
              <a:xfrm>
                <a:off x="8831102" y="5107256"/>
                <a:ext cx="301686" cy="369332"/>
              </a:xfrm>
              <a:prstGeom prst="rect">
                <a:avLst/>
              </a:prstGeom>
              <a:noFill/>
            </p:spPr>
            <p:txBody>
              <a:bodyPr wrap="none" rtlCol="0">
                <a:spAutoFit/>
              </a:bodyPr>
              <a:lstStyle/>
              <a:p>
                <a:r>
                  <a:rPr lang="en-US" dirty="0"/>
                  <a:t>1</a:t>
                </a:r>
              </a:p>
            </p:txBody>
          </p:sp>
          <p:sp>
            <p:nvSpPr>
              <p:cNvPr id="35" name="TextBox 34">
                <a:extLst>
                  <a:ext uri="{FF2B5EF4-FFF2-40B4-BE49-F238E27FC236}">
                    <a16:creationId xmlns:a16="http://schemas.microsoft.com/office/drawing/2014/main" id="{F343BE8F-048D-F64F-8F8F-01CD1B186234}"/>
                  </a:ext>
                </a:extLst>
              </p:cNvPr>
              <p:cNvSpPr txBox="1"/>
              <p:nvPr/>
            </p:nvSpPr>
            <p:spPr>
              <a:xfrm>
                <a:off x="6227558" y="5107256"/>
                <a:ext cx="372218" cy="369332"/>
              </a:xfrm>
              <a:prstGeom prst="rect">
                <a:avLst/>
              </a:prstGeom>
              <a:noFill/>
            </p:spPr>
            <p:txBody>
              <a:bodyPr wrap="none" rtlCol="0">
                <a:spAutoFit/>
              </a:bodyPr>
              <a:lstStyle/>
              <a:p>
                <a:r>
                  <a:rPr lang="en-US" dirty="0"/>
                  <a:t>-1</a:t>
                </a:r>
              </a:p>
            </p:txBody>
          </p:sp>
          <p:sp>
            <p:nvSpPr>
              <p:cNvPr id="36" name="TextBox 35">
                <a:extLst>
                  <a:ext uri="{FF2B5EF4-FFF2-40B4-BE49-F238E27FC236}">
                    <a16:creationId xmlns:a16="http://schemas.microsoft.com/office/drawing/2014/main" id="{14DD01FB-04F0-CD4A-8F35-C6897D56D86C}"/>
                  </a:ext>
                </a:extLst>
              </p:cNvPr>
              <p:cNvSpPr txBox="1"/>
              <p:nvPr/>
            </p:nvSpPr>
            <p:spPr>
              <a:xfrm>
                <a:off x="7495425" y="4022838"/>
                <a:ext cx="248786" cy="369332"/>
              </a:xfrm>
              <a:prstGeom prst="rect">
                <a:avLst/>
              </a:prstGeom>
              <a:noFill/>
            </p:spPr>
            <p:txBody>
              <a:bodyPr wrap="none" rtlCol="0">
                <a:spAutoFit/>
              </a:bodyPr>
              <a:lstStyle/>
              <a:p>
                <a:r>
                  <a:rPr lang="en-US" i="1" dirty="0" err="1">
                    <a:latin typeface="Cambria Math" panose="02040503050406030204" pitchFamily="18" charset="0"/>
                    <a:ea typeface="Cambria Math" panose="02040503050406030204" pitchFamily="18" charset="0"/>
                  </a:rPr>
                  <a:t>i</a:t>
                </a:r>
                <a:endParaRPr lang="en-US" i="1" dirty="0">
                  <a:latin typeface="Cambria Math" panose="02040503050406030204" pitchFamily="18" charset="0"/>
                  <a:ea typeface="Cambria Math" panose="02040503050406030204" pitchFamily="18" charset="0"/>
                </a:endParaRPr>
              </a:p>
            </p:txBody>
          </p:sp>
          <p:sp>
            <p:nvSpPr>
              <p:cNvPr id="40" name="TextBox 39">
                <a:extLst>
                  <a:ext uri="{FF2B5EF4-FFF2-40B4-BE49-F238E27FC236}">
                    <a16:creationId xmlns:a16="http://schemas.microsoft.com/office/drawing/2014/main" id="{8D690652-3A1D-8F48-B8A3-7422221056ED}"/>
                  </a:ext>
                </a:extLst>
              </p:cNvPr>
              <p:cNvSpPr txBox="1"/>
              <p:nvPr/>
            </p:nvSpPr>
            <p:spPr>
              <a:xfrm>
                <a:off x="7807958" y="6459578"/>
                <a:ext cx="325730" cy="369332"/>
              </a:xfrm>
              <a:prstGeom prst="rect">
                <a:avLst/>
              </a:prstGeom>
              <a:noFill/>
            </p:spPr>
            <p:txBody>
              <a:bodyPr wrap="none" rtlCol="0">
                <a:spAutoFit/>
              </a:bodyPr>
              <a:lstStyle/>
              <a:p>
                <a:r>
                  <a:rPr lang="en-US" i="1" dirty="0">
                    <a:latin typeface="Cambria Math" panose="02040503050406030204" pitchFamily="18" charset="0"/>
                    <a:ea typeface="Cambria Math" panose="02040503050406030204" pitchFamily="18" charset="0"/>
                  </a:rPr>
                  <a:t>-</a:t>
                </a:r>
                <a:r>
                  <a:rPr lang="en-US" i="1" dirty="0" err="1">
                    <a:latin typeface="Cambria Math" panose="02040503050406030204" pitchFamily="18" charset="0"/>
                    <a:ea typeface="Cambria Math" panose="02040503050406030204" pitchFamily="18" charset="0"/>
                  </a:rPr>
                  <a:t>i</a:t>
                </a:r>
                <a:endParaRPr lang="en-US" i="1" dirty="0">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F95F25F9-FCA5-8449-92DD-89F829FC3D6A}"/>
                      </a:ext>
                    </a:extLst>
                  </p:cNvPr>
                  <p:cNvSpPr txBox="1"/>
                  <p:nvPr/>
                </p:nvSpPr>
                <p:spPr>
                  <a:xfrm>
                    <a:off x="9105542" y="5119607"/>
                    <a:ext cx="82920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0000"/>
                              </a:solidFill>
                              <a:latin typeface="Cambria Math" panose="02040503050406030204" pitchFamily="18" charset="0"/>
                              <a:ea typeface="Cambria Math" panose="02040503050406030204" pitchFamily="18" charset="0"/>
                            </a:rPr>
                            <m:t>𝜑</m:t>
                          </m:r>
                          <m:r>
                            <a:rPr lang="en-US" b="0" i="1" smtClean="0">
                              <a:solidFill>
                                <a:srgbClr val="FF0000"/>
                              </a:solidFill>
                              <a:latin typeface="Cambria Math" panose="02040503050406030204" pitchFamily="18" charset="0"/>
                              <a:ea typeface="Cambria Math" panose="02040503050406030204" pitchFamily="18" charset="0"/>
                            </a:rPr>
                            <m:t>=0</m:t>
                          </m:r>
                        </m:oMath>
                      </m:oMathPara>
                    </a14:m>
                    <a:endParaRPr lang="en-US" dirty="0">
                      <a:solidFill>
                        <a:srgbClr val="FF0000"/>
                      </a:solidFill>
                    </a:endParaRPr>
                  </a:p>
                </p:txBody>
              </p:sp>
            </mc:Choice>
            <mc:Fallback xmlns="">
              <p:sp>
                <p:nvSpPr>
                  <p:cNvPr id="27" name="TextBox 26">
                    <a:extLst>
                      <a:ext uri="{FF2B5EF4-FFF2-40B4-BE49-F238E27FC236}">
                        <a16:creationId xmlns:a16="http://schemas.microsoft.com/office/drawing/2014/main" id="{F95F25F9-FCA5-8449-92DD-89F829FC3D6A}"/>
                      </a:ext>
                    </a:extLst>
                  </p:cNvPr>
                  <p:cNvSpPr txBox="1">
                    <a:spLocks noRot="1" noChangeAspect="1" noMove="1" noResize="1" noEditPoints="1" noAdjustHandles="1" noChangeArrowheads="1" noChangeShapeType="1" noTextEdit="1"/>
                  </p:cNvSpPr>
                  <p:nvPr/>
                </p:nvSpPr>
                <p:spPr>
                  <a:xfrm>
                    <a:off x="9105542" y="5119607"/>
                    <a:ext cx="829201" cy="369332"/>
                  </a:xfrm>
                  <a:prstGeom prst="rect">
                    <a:avLst/>
                  </a:prstGeom>
                  <a:blipFill>
                    <a:blip r:embed="rId9"/>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63FE9FF1-3551-8740-8C71-2C47849CB74F}"/>
                      </a:ext>
                    </a:extLst>
                  </p:cNvPr>
                  <p:cNvSpPr txBox="1"/>
                  <p:nvPr/>
                </p:nvSpPr>
                <p:spPr>
                  <a:xfrm>
                    <a:off x="6384727" y="6470430"/>
                    <a:ext cx="121244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0000"/>
                              </a:solidFill>
                              <a:latin typeface="Cambria Math" panose="02040503050406030204" pitchFamily="18" charset="0"/>
                              <a:ea typeface="Cambria Math" panose="02040503050406030204" pitchFamily="18" charset="0"/>
                            </a:rPr>
                            <m:t>𝜑</m:t>
                          </m:r>
                          <m:r>
                            <a:rPr lang="en-US" b="0" i="1" smtClean="0">
                              <a:solidFill>
                                <a:srgbClr val="FF0000"/>
                              </a:solidFill>
                              <a:latin typeface="Cambria Math" panose="02040503050406030204" pitchFamily="18" charset="0"/>
                              <a:ea typeface="Cambria Math" panose="02040503050406030204" pitchFamily="18" charset="0"/>
                            </a:rPr>
                            <m:t>=3</m:t>
                          </m:r>
                          <m:r>
                            <a:rPr lang="en-US" b="0" i="1" smtClean="0">
                              <a:solidFill>
                                <a:srgbClr val="FF0000"/>
                              </a:solidFill>
                              <a:latin typeface="Cambria Math" panose="02040503050406030204" pitchFamily="18" charset="0"/>
                              <a:ea typeface="Cambria Math" panose="02040503050406030204" pitchFamily="18" charset="0"/>
                            </a:rPr>
                            <m:t>𝜋</m:t>
                          </m:r>
                          <m:r>
                            <a:rPr lang="en-US" b="0" i="1" smtClean="0">
                              <a:solidFill>
                                <a:srgbClr val="FF0000"/>
                              </a:solidFill>
                              <a:latin typeface="Cambria Math" panose="02040503050406030204" pitchFamily="18" charset="0"/>
                              <a:ea typeface="Cambria Math" panose="02040503050406030204" pitchFamily="18" charset="0"/>
                            </a:rPr>
                            <m:t>/2</m:t>
                          </m:r>
                        </m:oMath>
                      </m:oMathPara>
                    </a14:m>
                    <a:endParaRPr lang="en-US" dirty="0">
                      <a:solidFill>
                        <a:srgbClr val="FF0000"/>
                      </a:solidFill>
                    </a:endParaRPr>
                  </a:p>
                </p:txBody>
              </p:sp>
            </mc:Choice>
            <mc:Fallback xmlns="">
              <p:sp>
                <p:nvSpPr>
                  <p:cNvPr id="43" name="TextBox 42">
                    <a:extLst>
                      <a:ext uri="{FF2B5EF4-FFF2-40B4-BE49-F238E27FC236}">
                        <a16:creationId xmlns:a16="http://schemas.microsoft.com/office/drawing/2014/main" id="{63FE9FF1-3551-8740-8C71-2C47849CB74F}"/>
                      </a:ext>
                    </a:extLst>
                  </p:cNvPr>
                  <p:cNvSpPr txBox="1">
                    <a:spLocks noRot="1" noChangeAspect="1" noMove="1" noResize="1" noEditPoints="1" noAdjustHandles="1" noChangeArrowheads="1" noChangeShapeType="1" noTextEdit="1"/>
                  </p:cNvSpPr>
                  <p:nvPr/>
                </p:nvSpPr>
                <p:spPr>
                  <a:xfrm>
                    <a:off x="6384727" y="6470430"/>
                    <a:ext cx="1212448" cy="369332"/>
                  </a:xfrm>
                  <a:prstGeom prst="rect">
                    <a:avLst/>
                  </a:prstGeom>
                  <a:blipFill>
                    <a:blip r:embed="rId10"/>
                    <a:stretch>
                      <a:fillRect b="-96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F9FDA2F9-F136-684F-A8D4-50638A736499}"/>
                      </a:ext>
                    </a:extLst>
                  </p:cNvPr>
                  <p:cNvSpPr txBox="1"/>
                  <p:nvPr/>
                </p:nvSpPr>
                <p:spPr>
                  <a:xfrm>
                    <a:off x="5806481" y="5412968"/>
                    <a:ext cx="84215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0000"/>
                              </a:solidFill>
                              <a:latin typeface="Cambria Math" panose="02040503050406030204" pitchFamily="18" charset="0"/>
                              <a:ea typeface="Cambria Math" panose="02040503050406030204" pitchFamily="18" charset="0"/>
                            </a:rPr>
                            <m:t>𝜑</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𝜋</m:t>
                          </m:r>
                        </m:oMath>
                      </m:oMathPara>
                    </a14:m>
                    <a:endParaRPr lang="en-US" dirty="0">
                      <a:solidFill>
                        <a:srgbClr val="FF0000"/>
                      </a:solidFill>
                    </a:endParaRPr>
                  </a:p>
                </p:txBody>
              </p:sp>
            </mc:Choice>
            <mc:Fallback xmlns="">
              <p:sp>
                <p:nvSpPr>
                  <p:cNvPr id="44" name="TextBox 43">
                    <a:extLst>
                      <a:ext uri="{FF2B5EF4-FFF2-40B4-BE49-F238E27FC236}">
                        <a16:creationId xmlns:a16="http://schemas.microsoft.com/office/drawing/2014/main" id="{F9FDA2F9-F136-684F-A8D4-50638A736499}"/>
                      </a:ext>
                    </a:extLst>
                  </p:cNvPr>
                  <p:cNvSpPr txBox="1">
                    <a:spLocks noRot="1" noChangeAspect="1" noMove="1" noResize="1" noEditPoints="1" noAdjustHandles="1" noChangeArrowheads="1" noChangeShapeType="1" noTextEdit="1"/>
                  </p:cNvSpPr>
                  <p:nvPr/>
                </p:nvSpPr>
                <p:spPr>
                  <a:xfrm>
                    <a:off x="5806481" y="5412968"/>
                    <a:ext cx="842154" cy="369332"/>
                  </a:xfrm>
                  <a:prstGeom prst="rect">
                    <a:avLst/>
                  </a:prstGeom>
                  <a:blipFill>
                    <a:blip r:embed="rId11"/>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0239A1E2-FBAD-C54D-852F-E1C87ECE545F}"/>
                      </a:ext>
                    </a:extLst>
                  </p:cNvPr>
                  <p:cNvSpPr txBox="1"/>
                  <p:nvPr/>
                </p:nvSpPr>
                <p:spPr>
                  <a:xfrm>
                    <a:off x="7796484" y="4068339"/>
                    <a:ext cx="108420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0000"/>
                              </a:solidFill>
                              <a:latin typeface="Cambria Math" panose="02040503050406030204" pitchFamily="18" charset="0"/>
                              <a:ea typeface="Cambria Math" panose="02040503050406030204" pitchFamily="18" charset="0"/>
                            </a:rPr>
                            <m:t>𝜑</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𝜋</m:t>
                          </m:r>
                          <m:r>
                            <a:rPr lang="en-US" b="0" i="1" smtClean="0">
                              <a:solidFill>
                                <a:srgbClr val="FF0000"/>
                              </a:solidFill>
                              <a:latin typeface="Cambria Math" panose="02040503050406030204" pitchFamily="18" charset="0"/>
                              <a:ea typeface="Cambria Math" panose="02040503050406030204" pitchFamily="18" charset="0"/>
                            </a:rPr>
                            <m:t>/2</m:t>
                          </m:r>
                        </m:oMath>
                      </m:oMathPara>
                    </a14:m>
                    <a:endParaRPr lang="en-US" dirty="0">
                      <a:solidFill>
                        <a:srgbClr val="FF0000"/>
                      </a:solidFill>
                    </a:endParaRPr>
                  </a:p>
                </p:txBody>
              </p:sp>
            </mc:Choice>
            <mc:Fallback xmlns="">
              <p:sp>
                <p:nvSpPr>
                  <p:cNvPr id="45" name="TextBox 44">
                    <a:extLst>
                      <a:ext uri="{FF2B5EF4-FFF2-40B4-BE49-F238E27FC236}">
                        <a16:creationId xmlns:a16="http://schemas.microsoft.com/office/drawing/2014/main" id="{0239A1E2-FBAD-C54D-852F-E1C87ECE545F}"/>
                      </a:ext>
                    </a:extLst>
                  </p:cNvPr>
                  <p:cNvSpPr txBox="1">
                    <a:spLocks noRot="1" noChangeAspect="1" noMove="1" noResize="1" noEditPoints="1" noAdjustHandles="1" noChangeArrowheads="1" noChangeShapeType="1" noTextEdit="1"/>
                  </p:cNvSpPr>
                  <p:nvPr/>
                </p:nvSpPr>
                <p:spPr>
                  <a:xfrm>
                    <a:off x="7796484" y="4068339"/>
                    <a:ext cx="1084208" cy="369332"/>
                  </a:xfrm>
                  <a:prstGeom prst="rect">
                    <a:avLst/>
                  </a:prstGeom>
                  <a:blipFill>
                    <a:blip r:embed="rId12"/>
                    <a:stretch>
                      <a:fillRect b="-13333"/>
                    </a:stretch>
                  </a:blipFill>
                </p:spPr>
                <p:txBody>
                  <a:bodyPr/>
                  <a:lstStyle/>
                  <a:p>
                    <a:r>
                      <a:rPr lang="en-US">
                        <a:noFill/>
                      </a:rPr>
                      <a:t> </a:t>
                    </a:r>
                  </a:p>
                </p:txBody>
              </p:sp>
            </mc:Fallback>
          </mc:AlternateContent>
        </p:grpSp>
        <p:pic>
          <p:nvPicPr>
            <p:cNvPr id="66" name="Picture 65">
              <a:extLst>
                <a:ext uri="{FF2B5EF4-FFF2-40B4-BE49-F238E27FC236}">
                  <a16:creationId xmlns:a16="http://schemas.microsoft.com/office/drawing/2014/main" id="{7834E50F-9306-5446-8CAA-111F171D726B}"/>
                </a:ext>
              </a:extLst>
            </p:cNvPr>
            <p:cNvPicPr>
              <a:picLocks noChangeAspect="1"/>
            </p:cNvPicPr>
            <p:nvPr/>
          </p:nvPicPr>
          <p:blipFill>
            <a:blip r:embed="rId13"/>
            <a:stretch>
              <a:fillRect/>
            </a:stretch>
          </p:blipFill>
          <p:spPr>
            <a:xfrm>
              <a:off x="6621758" y="4339391"/>
              <a:ext cx="2235600" cy="2235600"/>
            </a:xfrm>
            <a:prstGeom prst="rect">
              <a:avLst/>
            </a:prstGeom>
          </p:spPr>
        </p:pic>
      </p:grpSp>
      <p:grpSp>
        <p:nvGrpSpPr>
          <p:cNvPr id="10" name="Group 9">
            <a:extLst>
              <a:ext uri="{FF2B5EF4-FFF2-40B4-BE49-F238E27FC236}">
                <a16:creationId xmlns:a16="http://schemas.microsoft.com/office/drawing/2014/main" id="{B0B4C15A-3496-2C4C-AC12-627EFE5E6847}"/>
              </a:ext>
            </a:extLst>
          </p:cNvPr>
          <p:cNvGrpSpPr/>
          <p:nvPr/>
        </p:nvGrpSpPr>
        <p:grpSpPr>
          <a:xfrm>
            <a:off x="1336702" y="1461458"/>
            <a:ext cx="8409603" cy="4736478"/>
            <a:chOff x="1336702" y="1461458"/>
            <a:chExt cx="8409603" cy="4736478"/>
          </a:xfrm>
        </p:grpSpPr>
        <p:cxnSp>
          <p:nvCxnSpPr>
            <p:cNvPr id="17" name="Straight Arrow Connector 16">
              <a:extLst>
                <a:ext uri="{FF2B5EF4-FFF2-40B4-BE49-F238E27FC236}">
                  <a16:creationId xmlns:a16="http://schemas.microsoft.com/office/drawing/2014/main" id="{81AB1881-1D9A-0A4E-8D40-7BF2B976D220}"/>
                </a:ext>
              </a:extLst>
            </p:cNvPr>
            <p:cNvCxnSpPr>
              <a:cxnSpLocks/>
            </p:cNvCxnSpPr>
            <p:nvPr/>
          </p:nvCxnSpPr>
          <p:spPr>
            <a:xfrm flipH="1">
              <a:off x="6881312" y="1461458"/>
              <a:ext cx="965" cy="3476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7B20B6F7-735F-0D4A-A97B-28DD4061DDDB}"/>
                </a:ext>
              </a:extLst>
            </p:cNvPr>
            <p:cNvCxnSpPr>
              <a:cxnSpLocks/>
            </p:cNvCxnSpPr>
            <p:nvPr/>
          </p:nvCxnSpPr>
          <p:spPr>
            <a:xfrm flipH="1">
              <a:off x="7816218" y="1461458"/>
              <a:ext cx="965" cy="3476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4B41C075-AD0E-0642-B72D-2EC9ADA8D006}"/>
                </a:ext>
              </a:extLst>
            </p:cNvPr>
            <p:cNvCxnSpPr>
              <a:cxnSpLocks/>
            </p:cNvCxnSpPr>
            <p:nvPr/>
          </p:nvCxnSpPr>
          <p:spPr>
            <a:xfrm flipH="1">
              <a:off x="8711796" y="1461458"/>
              <a:ext cx="965" cy="3476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73B8A62D-854E-ED47-869A-0CF809AA3DA7}"/>
                </a:ext>
              </a:extLst>
            </p:cNvPr>
            <p:cNvCxnSpPr>
              <a:cxnSpLocks/>
            </p:cNvCxnSpPr>
            <p:nvPr/>
          </p:nvCxnSpPr>
          <p:spPr>
            <a:xfrm flipH="1">
              <a:off x="9745428" y="1461458"/>
              <a:ext cx="877" cy="3476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F38C86E3-BE4E-F546-8FD3-54BB23B654E0}"/>
                </a:ext>
              </a:extLst>
            </p:cNvPr>
            <p:cNvGrpSpPr/>
            <p:nvPr/>
          </p:nvGrpSpPr>
          <p:grpSpPr>
            <a:xfrm>
              <a:off x="1336702" y="4279071"/>
              <a:ext cx="3900427" cy="1918865"/>
              <a:chOff x="1336702" y="4279071"/>
              <a:chExt cx="3900427" cy="1918865"/>
            </a:xfrm>
          </p:grpSpPr>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85B042E4-2B98-9C47-A4B5-CB1336CAC2B7}"/>
                      </a:ext>
                    </a:extLst>
                  </p:cNvPr>
                  <p:cNvSpPr/>
                  <p:nvPr/>
                </p:nvSpPr>
                <p:spPr>
                  <a:xfrm>
                    <a:off x="1336702" y="4663344"/>
                    <a:ext cx="3900427" cy="1471941"/>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𝐹</m:t>
                              </m:r>
                            </m:e>
                            <m:sub>
                              <m:r>
                                <a:rPr lang="en-US" sz="2400" b="0" i="1" smtClean="0">
                                  <a:latin typeface="Cambria Math" panose="02040503050406030204" pitchFamily="18" charset="0"/>
                                </a:rPr>
                                <m:t>4</m:t>
                              </m:r>
                            </m:sub>
                          </m:sSub>
                          <m:r>
                            <a:rPr lang="en-US" sz="2400" b="0" i="1" smtClean="0">
                              <a:latin typeface="Cambria Math" panose="02040503050406030204" pitchFamily="18" charset="0"/>
                            </a:rPr>
                            <m:t>=</m:t>
                          </m:r>
                          <m:f>
                            <m:fPr>
                              <m:ctrlPr>
                                <a:rPr lang="en-US" sz="2400" i="1" smtClean="0">
                                  <a:solidFill>
                                    <a:schemeClr val="tx1"/>
                                  </a:solidFill>
                                  <a:latin typeface="Cambria Math" panose="02040503050406030204" pitchFamily="18" charset="0"/>
                                </a:rPr>
                              </m:ctrlPr>
                            </m:fPr>
                            <m:num>
                              <m:r>
                                <m:rPr>
                                  <m:nor/>
                                </m:rPr>
                                <a:rPr lang="en-US" sz="2400" i="0">
                                  <a:solidFill>
                                    <a:schemeClr val="tx1"/>
                                  </a:solidFill>
                                  <a:latin typeface="Cambria Math" panose="02040503050406030204" pitchFamily="18" charset="0"/>
                                </a:rPr>
                                <m:t>1</m:t>
                              </m:r>
                            </m:num>
                            <m:den>
                              <m:r>
                                <a:rPr lang="en-US" sz="2400" b="0" i="1" smtClean="0">
                                  <a:solidFill>
                                    <a:schemeClr val="tx1"/>
                                  </a:solidFill>
                                  <a:latin typeface="Cambria Math" panose="02040503050406030204" pitchFamily="18" charset="0"/>
                                </a:rPr>
                                <m:t>2</m:t>
                              </m:r>
                            </m:den>
                          </m:f>
                          <m:d>
                            <m:dPr>
                              <m:ctrlPr>
                                <a:rPr lang="en-US" sz="2400" i="1" smtClean="0">
                                  <a:solidFill>
                                    <a:schemeClr val="tx1"/>
                                  </a:solidFill>
                                  <a:latin typeface="Cambria Math" panose="02040503050406030204" pitchFamily="18" charset="0"/>
                                </a:rPr>
                              </m:ctrlPr>
                            </m:dPr>
                            <m:e>
                              <m:m>
                                <m:mPr>
                                  <m:mcs>
                                    <m:mc>
                                      <m:mcPr>
                                        <m:count m:val="4"/>
                                        <m:mcJc m:val="center"/>
                                      </m:mcPr>
                                    </m:mc>
                                  </m:mcs>
                                  <m:ctrlPr>
                                    <a:rPr lang="en-US" sz="2400" i="1" smtClean="0">
                                      <a:solidFill>
                                        <a:schemeClr val="tx1"/>
                                      </a:solidFill>
                                      <a:latin typeface="Cambria Math" panose="02040503050406030204" pitchFamily="18" charset="0"/>
                                    </a:rPr>
                                  </m:ctrlPr>
                                </m:mPr>
                                <m:mr>
                                  <m:e>
                                    <m:r>
                                      <m:rPr>
                                        <m:brk m:alnAt="7"/>
                                      </m:rPr>
                                      <a:rPr lang="en-US" sz="2400" b="0" i="1" smtClean="0">
                                        <a:solidFill>
                                          <a:schemeClr val="tx1"/>
                                        </a:solidFill>
                                        <a:latin typeface="Cambria Math" panose="02040503050406030204" pitchFamily="18" charset="0"/>
                                      </a:rPr>
                                      <m:t>1</m:t>
                                    </m:r>
                                  </m:e>
                                  <m:e>
                                    <m:r>
                                      <a:rPr lang="en-US" sz="2400" b="0" i="1" smtClean="0">
                                        <a:solidFill>
                                          <a:schemeClr val="tx1"/>
                                        </a:solidFill>
                                        <a:latin typeface="Cambria Math" panose="02040503050406030204" pitchFamily="18" charset="0"/>
                                      </a:rPr>
                                      <m:t>1</m:t>
                                    </m:r>
                                  </m:e>
                                  <m:e>
                                    <m:r>
                                      <a:rPr lang="en-US" sz="2400" b="0" i="1" smtClean="0">
                                        <a:solidFill>
                                          <a:schemeClr val="tx1"/>
                                        </a:solidFill>
                                        <a:latin typeface="Cambria Math" panose="02040503050406030204" pitchFamily="18" charset="0"/>
                                      </a:rPr>
                                      <m:t>1</m:t>
                                    </m:r>
                                  </m:e>
                                  <m:e>
                                    <m:r>
                                      <a:rPr lang="en-US" sz="2400" b="0" i="1" smtClean="0">
                                        <a:solidFill>
                                          <a:schemeClr val="tx1"/>
                                        </a:solidFill>
                                        <a:latin typeface="Cambria Math" panose="02040503050406030204" pitchFamily="18" charset="0"/>
                                      </a:rPr>
                                      <m:t>1</m:t>
                                    </m:r>
                                  </m:e>
                                </m:mr>
                                <m:mr>
                                  <m:e>
                                    <m:r>
                                      <a:rPr lang="en-US" sz="2400" b="0" i="1" smtClean="0">
                                        <a:solidFill>
                                          <a:schemeClr val="tx1"/>
                                        </a:solidFill>
                                        <a:latin typeface="Cambria Math" panose="02040503050406030204" pitchFamily="18" charset="0"/>
                                      </a:rPr>
                                      <m:t>1</m:t>
                                    </m:r>
                                  </m:e>
                                  <m:e>
                                    <m:r>
                                      <a:rPr lang="en-US" sz="2400" b="0" i="1" smtClean="0">
                                        <a:solidFill>
                                          <a:schemeClr val="tx1"/>
                                        </a:solidFill>
                                        <a:latin typeface="Cambria Math" panose="02040503050406030204" pitchFamily="18" charset="0"/>
                                      </a:rPr>
                                      <m:t>𝑖</m:t>
                                    </m:r>
                                  </m:e>
                                  <m:e>
                                    <m:r>
                                      <a:rPr lang="en-US" sz="2400" b="0" i="1" smtClean="0">
                                        <a:solidFill>
                                          <a:schemeClr val="tx1"/>
                                        </a:solidFill>
                                        <a:latin typeface="Cambria Math" panose="02040503050406030204" pitchFamily="18" charset="0"/>
                                      </a:rPr>
                                      <m:t>−1</m:t>
                                    </m:r>
                                  </m:e>
                                  <m:e>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𝑖</m:t>
                                    </m:r>
                                  </m:e>
                                </m:mr>
                                <m:mr>
                                  <m:e>
                                    <m:r>
                                      <a:rPr lang="en-US" sz="2400" b="0" i="1" smtClean="0">
                                        <a:solidFill>
                                          <a:schemeClr val="tx1"/>
                                        </a:solidFill>
                                        <a:latin typeface="Cambria Math" panose="02040503050406030204" pitchFamily="18" charset="0"/>
                                      </a:rPr>
                                      <m:t>1</m:t>
                                    </m:r>
                                  </m:e>
                                  <m:e>
                                    <m:r>
                                      <a:rPr lang="en-US" sz="2400" b="0" i="1" smtClean="0">
                                        <a:solidFill>
                                          <a:schemeClr val="tx1"/>
                                        </a:solidFill>
                                        <a:latin typeface="Cambria Math" panose="02040503050406030204" pitchFamily="18" charset="0"/>
                                      </a:rPr>
                                      <m:t>−1</m:t>
                                    </m:r>
                                  </m:e>
                                  <m:e>
                                    <m:r>
                                      <a:rPr lang="en-US" sz="2400" b="0" i="1" smtClean="0">
                                        <a:solidFill>
                                          <a:schemeClr val="tx1"/>
                                        </a:solidFill>
                                        <a:latin typeface="Cambria Math" panose="02040503050406030204" pitchFamily="18" charset="0"/>
                                      </a:rPr>
                                      <m:t>1</m:t>
                                    </m:r>
                                  </m:e>
                                  <m:e>
                                    <m:r>
                                      <a:rPr lang="en-US" sz="2400" b="0" i="1" smtClean="0">
                                        <a:solidFill>
                                          <a:schemeClr val="tx1"/>
                                        </a:solidFill>
                                        <a:latin typeface="Cambria Math" panose="02040503050406030204" pitchFamily="18" charset="0"/>
                                      </a:rPr>
                                      <m:t>−1</m:t>
                                    </m:r>
                                  </m:e>
                                </m:mr>
                                <m:mr>
                                  <m:e>
                                    <m:r>
                                      <a:rPr lang="en-US" sz="2400" b="0" i="1" smtClean="0">
                                        <a:solidFill>
                                          <a:schemeClr val="tx1"/>
                                        </a:solidFill>
                                        <a:latin typeface="Cambria Math" panose="02040503050406030204" pitchFamily="18" charset="0"/>
                                      </a:rPr>
                                      <m:t>1</m:t>
                                    </m:r>
                                  </m:e>
                                  <m:e>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𝑖</m:t>
                                    </m:r>
                                  </m:e>
                                  <m:e>
                                    <m:r>
                                      <a:rPr lang="en-US" sz="2400" b="0" i="1" smtClean="0">
                                        <a:solidFill>
                                          <a:schemeClr val="tx1"/>
                                        </a:solidFill>
                                        <a:latin typeface="Cambria Math" panose="02040503050406030204" pitchFamily="18" charset="0"/>
                                      </a:rPr>
                                      <m:t>−1</m:t>
                                    </m:r>
                                  </m:e>
                                  <m:e>
                                    <m:r>
                                      <a:rPr lang="en-US" sz="2400" b="0" i="1" smtClean="0">
                                        <a:solidFill>
                                          <a:schemeClr val="tx1"/>
                                        </a:solidFill>
                                        <a:latin typeface="Cambria Math" panose="02040503050406030204" pitchFamily="18" charset="0"/>
                                      </a:rPr>
                                      <m:t>𝑖</m:t>
                                    </m:r>
                                  </m:e>
                                </m:mr>
                              </m:m>
                            </m:e>
                          </m:d>
                        </m:oMath>
                      </m:oMathPara>
                    </a14:m>
                    <a:endParaRPr lang="en-US" sz="2400" dirty="0">
                      <a:solidFill>
                        <a:schemeClr val="tx1"/>
                      </a:solidFill>
                    </a:endParaRPr>
                  </a:p>
                </p:txBody>
              </p:sp>
            </mc:Choice>
            <mc:Fallback xmlns="">
              <p:sp>
                <p:nvSpPr>
                  <p:cNvPr id="14" name="Rectangle 13">
                    <a:extLst>
                      <a:ext uri="{FF2B5EF4-FFF2-40B4-BE49-F238E27FC236}">
                        <a16:creationId xmlns:a16="http://schemas.microsoft.com/office/drawing/2014/main" id="{85B042E4-2B98-9C47-A4B5-CB1336CAC2B7}"/>
                      </a:ext>
                    </a:extLst>
                  </p:cNvPr>
                  <p:cNvSpPr>
                    <a:spLocks noRot="1" noChangeAspect="1" noMove="1" noResize="1" noEditPoints="1" noAdjustHandles="1" noChangeArrowheads="1" noChangeShapeType="1" noTextEdit="1"/>
                  </p:cNvSpPr>
                  <p:nvPr/>
                </p:nvSpPr>
                <p:spPr>
                  <a:xfrm>
                    <a:off x="1336702" y="4663344"/>
                    <a:ext cx="3900427" cy="1471941"/>
                  </a:xfrm>
                  <a:prstGeom prst="rect">
                    <a:avLst/>
                  </a:prstGeom>
                  <a:blipFill>
                    <a:blip r:embed="rId14"/>
                    <a:stretch>
                      <a:fillRect b="-855"/>
                    </a:stretch>
                  </a:blipFill>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0545DB20-9539-A54A-9565-7E60C9005427}"/>
                  </a:ext>
                </a:extLst>
              </p:cNvPr>
              <p:cNvCxnSpPr>
                <a:cxnSpLocks/>
              </p:cNvCxnSpPr>
              <p:nvPr/>
            </p:nvCxnSpPr>
            <p:spPr>
              <a:xfrm>
                <a:off x="2881745" y="4557462"/>
                <a:ext cx="0" cy="1640474"/>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C9BF2E4E-7F8F-1F4A-A01B-CB2D75E11AFC}"/>
                  </a:ext>
                </a:extLst>
              </p:cNvPr>
              <p:cNvCxnSpPr>
                <a:cxnSpLocks/>
              </p:cNvCxnSpPr>
              <p:nvPr/>
            </p:nvCxnSpPr>
            <p:spPr>
              <a:xfrm>
                <a:off x="3574472" y="4557462"/>
                <a:ext cx="0" cy="1640474"/>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BE93C3C2-1614-2442-9637-7B075D674F66}"/>
                  </a:ext>
                </a:extLst>
              </p:cNvPr>
              <p:cNvCxnSpPr>
                <a:cxnSpLocks/>
              </p:cNvCxnSpPr>
              <p:nvPr/>
            </p:nvCxnSpPr>
            <p:spPr>
              <a:xfrm>
                <a:off x="4267199" y="4557462"/>
                <a:ext cx="0" cy="1640474"/>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DE50BE72-1229-F44C-ACBF-828560995CC0}"/>
                  </a:ext>
                </a:extLst>
              </p:cNvPr>
              <p:cNvCxnSpPr>
                <a:cxnSpLocks/>
              </p:cNvCxnSpPr>
              <p:nvPr/>
            </p:nvCxnSpPr>
            <p:spPr>
              <a:xfrm flipH="1">
                <a:off x="2641821" y="4279071"/>
                <a:ext cx="965" cy="25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64A60A65-3E3F-2548-A64B-7962F24C4DED}"/>
                  </a:ext>
                </a:extLst>
              </p:cNvPr>
              <p:cNvCxnSpPr>
                <a:cxnSpLocks/>
              </p:cNvCxnSpPr>
              <p:nvPr/>
            </p:nvCxnSpPr>
            <p:spPr>
              <a:xfrm flipH="1">
                <a:off x="3181010" y="4279071"/>
                <a:ext cx="965" cy="25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215CAEBD-C100-8348-A07D-B86AEFA565A5}"/>
                  </a:ext>
                </a:extLst>
              </p:cNvPr>
              <p:cNvCxnSpPr>
                <a:cxnSpLocks/>
              </p:cNvCxnSpPr>
              <p:nvPr/>
            </p:nvCxnSpPr>
            <p:spPr>
              <a:xfrm flipH="1">
                <a:off x="3920542" y="4279071"/>
                <a:ext cx="965" cy="25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4037C584-2E2F-0240-8261-C49C07ECC6EF}"/>
                  </a:ext>
                </a:extLst>
              </p:cNvPr>
              <p:cNvCxnSpPr>
                <a:cxnSpLocks/>
              </p:cNvCxnSpPr>
              <p:nvPr/>
            </p:nvCxnSpPr>
            <p:spPr>
              <a:xfrm flipH="1">
                <a:off x="4562650" y="4279071"/>
                <a:ext cx="965" cy="25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995757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circle(in)">
                                      <p:cBhvr>
                                        <p:cTn id="12"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ounded Rectangle 12">
            <a:extLst>
              <a:ext uri="{FF2B5EF4-FFF2-40B4-BE49-F238E27FC236}">
                <a16:creationId xmlns:a16="http://schemas.microsoft.com/office/drawing/2014/main" id="{CEEB54A8-61B1-E24B-A672-7959EEB972F6}"/>
              </a:ext>
            </a:extLst>
          </p:cNvPr>
          <p:cNvSpPr/>
          <p:nvPr/>
        </p:nvSpPr>
        <p:spPr>
          <a:xfrm>
            <a:off x="2744583" y="2131480"/>
            <a:ext cx="8276094" cy="2488787"/>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73BDA5-6B76-364E-AA64-C7C3DD7A61C4}"/>
              </a:ext>
            </a:extLst>
          </p:cNvPr>
          <p:cNvSpPr>
            <a:spLocks noGrp="1"/>
          </p:cNvSpPr>
          <p:nvPr>
            <p:ph type="title"/>
          </p:nvPr>
        </p:nvSpPr>
        <p:spPr/>
        <p:txBody>
          <a:bodyPr/>
          <a:lstStyle/>
          <a:p>
            <a:r>
              <a:rPr lang="en-ZA" dirty="0"/>
              <a:t>Coppersmith decomposition</a:t>
            </a:r>
            <a:endParaRPr lang="en-US" dirty="0"/>
          </a:p>
        </p:txBody>
      </p:sp>
      <p:sp>
        <p:nvSpPr>
          <p:cNvPr id="3" name="Slide Number Placeholder 2">
            <a:extLst>
              <a:ext uri="{FF2B5EF4-FFF2-40B4-BE49-F238E27FC236}">
                <a16:creationId xmlns:a16="http://schemas.microsoft.com/office/drawing/2014/main" id="{A467284E-31D9-D848-BD8C-180A163D2F47}"/>
              </a:ext>
            </a:extLst>
          </p:cNvPr>
          <p:cNvSpPr>
            <a:spLocks noGrp="1"/>
          </p:cNvSpPr>
          <p:nvPr>
            <p:ph type="sldNum" sz="quarter" idx="12"/>
          </p:nvPr>
        </p:nvSpPr>
        <p:spPr/>
        <p:txBody>
          <a:bodyPr/>
          <a:lstStyle/>
          <a:p>
            <a:fld id="{591A223C-FA10-BC46-A853-03BA373D023C}" type="slidenum">
              <a:rPr lang="en-US" smtClean="0"/>
              <a:t>61</a:t>
            </a:fld>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516C5BF-3331-E94D-92E3-A0DBE40A5985}"/>
                  </a:ext>
                </a:extLst>
              </p:cNvPr>
              <p:cNvSpPr txBox="1"/>
              <p:nvPr/>
            </p:nvSpPr>
            <p:spPr>
              <a:xfrm>
                <a:off x="2032687" y="1076796"/>
                <a:ext cx="9955206" cy="830997"/>
              </a:xfrm>
              <a:prstGeom prst="rect">
                <a:avLst/>
              </a:prstGeom>
              <a:noFill/>
            </p:spPr>
            <p:txBody>
              <a:bodyPr wrap="square" rtlCol="0">
                <a:spAutoFit/>
              </a:bodyPr>
              <a:lstStyle/>
              <a:p>
                <a:r>
                  <a:rPr lang="en-US" sz="2400" dirty="0">
                    <a:latin typeface="+mj-lt"/>
                  </a:rPr>
                  <a:t>Theorem</a:t>
                </a:r>
                <a:r>
                  <a:rPr lang="en-US" sz="2400" baseline="30000" dirty="0">
                    <a:latin typeface="+mj-lt"/>
                  </a:rPr>
                  <a:t>*</a:t>
                </a:r>
                <a:r>
                  <a:rPr lang="en-US" sz="2400" dirty="0">
                    <a:latin typeface="+mj-lt"/>
                  </a:rPr>
                  <a:t>: </a:t>
                </a:r>
                <a:r>
                  <a:rPr lang="en-ZA" sz="2400" dirty="0">
                    <a:latin typeface="+mj-lt"/>
                  </a:rPr>
                  <a:t>The QFT of an </a:t>
                </a:r>
                <a14:m>
                  <m:oMath xmlns:m="http://schemas.openxmlformats.org/officeDocument/2006/math">
                    <m:r>
                      <a:rPr lang="en-ZA" sz="2400" i="1">
                        <a:latin typeface="Cambria Math" panose="02040503050406030204" pitchFamily="18" charset="0"/>
                      </a:rPr>
                      <m:t>𝑛</m:t>
                    </m:r>
                    <m:r>
                      <a:rPr lang="en-ZA" sz="2400" i="1">
                        <a:latin typeface="Cambria Math" panose="02040503050406030204" pitchFamily="18" charset="0"/>
                      </a:rPr>
                      <m:t> </m:t>
                    </m:r>
                  </m:oMath>
                </a14:m>
                <a:r>
                  <a:rPr lang="en-ZA" sz="2400" dirty="0">
                    <a:latin typeface="+mj-lt"/>
                  </a:rPr>
                  <a:t>-qubit computational basis state can be expressed</a:t>
                </a:r>
                <a:br>
                  <a:rPr lang="en-ZA" sz="2400" dirty="0">
                    <a:latin typeface="+mj-lt"/>
                  </a:rPr>
                </a:br>
                <a:r>
                  <a:rPr lang="en-ZA" sz="2400" dirty="0">
                    <a:latin typeface="+mj-lt"/>
                  </a:rPr>
                  <a:t>	       using the Kronecker product in the following form</a:t>
                </a:r>
                <a:r>
                  <a:rPr lang="en-US" sz="2400" dirty="0">
                    <a:latin typeface="+mj-lt"/>
                  </a:rPr>
                  <a:t>:</a:t>
                </a:r>
              </a:p>
            </p:txBody>
          </p:sp>
        </mc:Choice>
        <mc:Fallback xmlns="">
          <p:sp>
            <p:nvSpPr>
              <p:cNvPr id="7" name="TextBox 6">
                <a:extLst>
                  <a:ext uri="{FF2B5EF4-FFF2-40B4-BE49-F238E27FC236}">
                    <a16:creationId xmlns:a16="http://schemas.microsoft.com/office/drawing/2014/main" id="{A516C5BF-3331-E94D-92E3-A0DBE40A5985}"/>
                  </a:ext>
                </a:extLst>
              </p:cNvPr>
              <p:cNvSpPr txBox="1">
                <a:spLocks noRot="1" noChangeAspect="1" noMove="1" noResize="1" noEditPoints="1" noAdjustHandles="1" noChangeArrowheads="1" noChangeShapeType="1" noTextEdit="1"/>
              </p:cNvSpPr>
              <p:nvPr/>
            </p:nvSpPr>
            <p:spPr>
              <a:xfrm>
                <a:off x="2032687" y="1076796"/>
                <a:ext cx="9955206" cy="830997"/>
              </a:xfrm>
              <a:prstGeom prst="rect">
                <a:avLst/>
              </a:prstGeom>
              <a:blipFill>
                <a:blip r:embed="rId3"/>
                <a:stretch>
                  <a:fillRect l="-892" t="-3030" b="-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48F73E69-ED47-F546-9642-80032D882A90}"/>
                  </a:ext>
                </a:extLst>
              </p:cNvPr>
              <p:cNvSpPr/>
              <p:nvPr/>
            </p:nvSpPr>
            <p:spPr>
              <a:xfrm>
                <a:off x="3006216" y="2251964"/>
                <a:ext cx="7752828" cy="21684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ZA" sz="2400" i="1" smtClean="0">
                          <a:latin typeface="Cambria Math" panose="02040503050406030204" pitchFamily="18" charset="0"/>
                        </a:rPr>
                        <m:t>𝑄𝐹𝑇</m:t>
                      </m:r>
                      <m:r>
                        <a:rPr lang="en-ZA" sz="2400" i="1" smtClean="0">
                          <a:latin typeface="Cambria Math" panose="02040503050406030204" pitchFamily="18" charset="0"/>
                        </a:rPr>
                        <m:t>|</m:t>
                      </m:r>
                      <m:d>
                        <m:dPr>
                          <m:begChr m:val=""/>
                          <m:endChr m:val="⟩"/>
                          <m:ctrlPr>
                            <a:rPr lang="en-ZA" sz="2400" i="1">
                              <a:latin typeface="Cambria Math" panose="02040503050406030204" pitchFamily="18" charset="0"/>
                            </a:rPr>
                          </m:ctrlPr>
                        </m:dPr>
                        <m:e>
                          <m:sSub>
                            <m:sSubPr>
                              <m:ctrlPr>
                                <a:rPr lang="en-ZA" sz="2400" i="1">
                                  <a:latin typeface="Cambria Math" panose="02040503050406030204" pitchFamily="18" charset="0"/>
                                </a:rPr>
                              </m:ctrlPr>
                            </m:sSubPr>
                            <m:e>
                              <m:r>
                                <a:rPr lang="en-ZA" sz="2400" i="1">
                                  <a:latin typeface="Cambria Math" panose="02040503050406030204" pitchFamily="18" charset="0"/>
                                </a:rPr>
                                <m:t>𝑥</m:t>
                              </m:r>
                            </m:e>
                            <m:sub>
                              <m:r>
                                <a:rPr lang="en-ZA" sz="2400" i="1">
                                  <a:latin typeface="Cambria Math" panose="02040503050406030204" pitchFamily="18" charset="0"/>
                                </a:rPr>
                                <m:t>1</m:t>
                              </m:r>
                            </m:sub>
                          </m:sSub>
                          <m:sSub>
                            <m:sSubPr>
                              <m:ctrlPr>
                                <a:rPr lang="en-ZA" sz="2400" i="1">
                                  <a:latin typeface="Cambria Math" panose="02040503050406030204" pitchFamily="18" charset="0"/>
                                </a:rPr>
                              </m:ctrlPr>
                            </m:sSubPr>
                            <m:e>
                              <m:r>
                                <a:rPr lang="en-ZA" sz="2400" i="1">
                                  <a:latin typeface="Cambria Math" panose="02040503050406030204" pitchFamily="18" charset="0"/>
                                </a:rPr>
                                <m:t>𝑥</m:t>
                              </m:r>
                            </m:e>
                            <m:sub>
                              <m:r>
                                <a:rPr lang="en-ZA" sz="2400" i="1">
                                  <a:latin typeface="Cambria Math" panose="02040503050406030204" pitchFamily="18" charset="0"/>
                                </a:rPr>
                                <m:t>2</m:t>
                              </m:r>
                            </m:sub>
                          </m:sSub>
                          <m:r>
                            <a:rPr lang="en-ZA" sz="2400" i="1">
                              <a:latin typeface="Cambria Math" panose="02040503050406030204" pitchFamily="18" charset="0"/>
                            </a:rPr>
                            <m:t>⋯</m:t>
                          </m:r>
                          <m:sSub>
                            <m:sSubPr>
                              <m:ctrlPr>
                                <a:rPr lang="en-ZA" sz="2400" i="1">
                                  <a:latin typeface="Cambria Math" panose="02040503050406030204" pitchFamily="18" charset="0"/>
                                </a:rPr>
                              </m:ctrlPr>
                            </m:sSubPr>
                            <m:e>
                              <m:r>
                                <a:rPr lang="en-ZA" sz="2400" i="1">
                                  <a:latin typeface="Cambria Math" panose="02040503050406030204" pitchFamily="18" charset="0"/>
                                </a:rPr>
                                <m:t>𝑥</m:t>
                              </m:r>
                            </m:e>
                            <m:sub>
                              <m:r>
                                <a:rPr lang="en-ZA" sz="2400" i="1">
                                  <a:latin typeface="Cambria Math" panose="02040503050406030204" pitchFamily="18" charset="0"/>
                                </a:rPr>
                                <m:t>𝑛</m:t>
                              </m:r>
                            </m:sub>
                          </m:sSub>
                        </m:e>
                      </m:d>
                      <m:r>
                        <a:rPr lang="en-ZA" sz="2400" i="1">
                          <a:latin typeface="Cambria Math" panose="02040503050406030204" pitchFamily="18" charset="0"/>
                        </a:rPr>
                        <m:t>=</m:t>
                      </m:r>
                      <m:f>
                        <m:fPr>
                          <m:ctrlPr>
                            <a:rPr lang="en-ZA" sz="2400" i="1">
                              <a:latin typeface="Cambria Math" panose="02040503050406030204" pitchFamily="18" charset="0"/>
                            </a:rPr>
                          </m:ctrlPr>
                        </m:fPr>
                        <m:num>
                          <m:r>
                            <a:rPr lang="en-ZA" sz="2400" i="1">
                              <a:latin typeface="Cambria Math" panose="02040503050406030204" pitchFamily="18" charset="0"/>
                            </a:rPr>
                            <m:t>1</m:t>
                          </m:r>
                        </m:num>
                        <m:den>
                          <m:rad>
                            <m:radPr>
                              <m:degHide m:val="on"/>
                              <m:ctrlPr>
                                <a:rPr lang="en-ZA" sz="2400" i="1">
                                  <a:latin typeface="Cambria Math" panose="02040503050406030204" pitchFamily="18" charset="0"/>
                                </a:rPr>
                              </m:ctrlPr>
                            </m:radPr>
                            <m:deg/>
                            <m:e>
                              <m:sSup>
                                <m:sSupPr>
                                  <m:ctrlPr>
                                    <a:rPr lang="en-ZA" sz="2400" i="1">
                                      <a:latin typeface="Cambria Math" panose="02040503050406030204" pitchFamily="18" charset="0"/>
                                    </a:rPr>
                                  </m:ctrlPr>
                                </m:sSupPr>
                                <m:e>
                                  <m:r>
                                    <a:rPr lang="en-ZA" sz="2400" i="1">
                                      <a:latin typeface="Cambria Math" panose="02040503050406030204" pitchFamily="18" charset="0"/>
                                    </a:rPr>
                                    <m:t>2</m:t>
                                  </m:r>
                                </m:e>
                                <m:sup>
                                  <m:r>
                                    <a:rPr lang="en-ZA" sz="2400" i="1">
                                      <a:latin typeface="Cambria Math" panose="02040503050406030204" pitchFamily="18" charset="0"/>
                                    </a:rPr>
                                    <m:t>𝑛</m:t>
                                  </m:r>
                                </m:sup>
                              </m:sSup>
                            </m:e>
                          </m:rad>
                        </m:den>
                      </m:f>
                      <m:nary>
                        <m:naryPr>
                          <m:chr m:val="⨂"/>
                          <m:ctrlPr>
                            <a:rPr lang="en-ZA" sz="2400" i="1">
                              <a:latin typeface="Cambria Math" panose="02040503050406030204" pitchFamily="18" charset="0"/>
                            </a:rPr>
                          </m:ctrlPr>
                        </m:naryPr>
                        <m:sub>
                          <m:r>
                            <a:rPr lang="en-ZA" sz="2400" i="1">
                              <a:latin typeface="Cambria Math" panose="02040503050406030204" pitchFamily="18" charset="0"/>
                            </a:rPr>
                            <m:t>𝑘</m:t>
                          </m:r>
                          <m:r>
                            <a:rPr lang="en-ZA" sz="2400" i="1">
                              <a:latin typeface="Cambria Math" panose="02040503050406030204" pitchFamily="18" charset="0"/>
                            </a:rPr>
                            <m:t>=1</m:t>
                          </m:r>
                        </m:sub>
                        <m:sup>
                          <m:r>
                            <a:rPr lang="en-ZA" sz="2400" i="1">
                              <a:latin typeface="Cambria Math" panose="02040503050406030204" pitchFamily="18" charset="0"/>
                            </a:rPr>
                            <m:t>𝑛</m:t>
                          </m:r>
                        </m:sup>
                        <m:e>
                          <m:d>
                            <m:dPr>
                              <m:ctrlPr>
                                <a:rPr lang="en-ZA" sz="2400" i="1">
                                  <a:latin typeface="Cambria Math" panose="02040503050406030204" pitchFamily="18" charset="0"/>
                                </a:rPr>
                              </m:ctrlPr>
                            </m:dPr>
                            <m:e>
                              <m:d>
                                <m:dPr>
                                  <m:begChr m:val=""/>
                                  <m:endChr m:val="⟩"/>
                                  <m:ctrlPr>
                                    <a:rPr lang="en-ZA" sz="2400" i="1">
                                      <a:latin typeface="Cambria Math" panose="02040503050406030204" pitchFamily="18" charset="0"/>
                                    </a:rPr>
                                  </m:ctrlPr>
                                </m:dPr>
                                <m:e>
                                  <m:r>
                                    <a:rPr lang="en-ZA" sz="2400" i="1">
                                      <a:latin typeface="Cambria Math" panose="02040503050406030204" pitchFamily="18" charset="0"/>
                                    </a:rPr>
                                    <m:t>|0</m:t>
                                  </m:r>
                                </m:e>
                              </m:d>
                              <m:r>
                                <a:rPr lang="en-ZA" sz="2400" i="1">
                                  <a:latin typeface="Cambria Math" panose="02040503050406030204" pitchFamily="18" charset="0"/>
                                </a:rPr>
                                <m:t>+</m:t>
                              </m:r>
                              <m:sSup>
                                <m:sSupPr>
                                  <m:ctrlPr>
                                    <a:rPr lang="en-ZA" sz="2400" i="1">
                                      <a:latin typeface="Cambria Math" panose="02040503050406030204" pitchFamily="18" charset="0"/>
                                    </a:rPr>
                                  </m:ctrlPr>
                                </m:sSupPr>
                                <m:e>
                                  <m:r>
                                    <a:rPr lang="en-ZA" sz="2400" i="1">
                                      <a:latin typeface="Cambria Math" panose="02040503050406030204" pitchFamily="18" charset="0"/>
                                    </a:rPr>
                                    <m:t>𝑒</m:t>
                                  </m:r>
                                </m:e>
                                <m:sup>
                                  <m:r>
                                    <a:rPr lang="en-ZA" sz="2400" i="1">
                                      <a:latin typeface="Cambria Math" panose="02040503050406030204" pitchFamily="18" charset="0"/>
                                    </a:rPr>
                                    <m:t>2</m:t>
                                  </m:r>
                                  <m:r>
                                    <a:rPr lang="en-ZA" sz="2400" i="1">
                                      <a:latin typeface="Cambria Math" panose="02040503050406030204" pitchFamily="18" charset="0"/>
                                    </a:rPr>
                                    <m:t>𝜋</m:t>
                                  </m:r>
                                  <m:r>
                                    <a:rPr lang="en-ZA" sz="2400" i="1">
                                      <a:latin typeface="Cambria Math" panose="02040503050406030204" pitchFamily="18" charset="0"/>
                                    </a:rPr>
                                    <m:t>𝑖</m:t>
                                  </m:r>
                                  <m:d>
                                    <m:dPr>
                                      <m:begChr m:val="["/>
                                      <m:endChr m:val="]"/>
                                      <m:ctrlPr>
                                        <a:rPr lang="en-ZA" sz="2400" i="1">
                                          <a:latin typeface="Cambria Math" panose="02040503050406030204" pitchFamily="18" charset="0"/>
                                        </a:rPr>
                                      </m:ctrlPr>
                                    </m:dPr>
                                    <m:e>
                                      <m:r>
                                        <a:rPr lang="en-ZA" sz="2400" i="1">
                                          <a:latin typeface="Cambria Math" panose="02040503050406030204" pitchFamily="18" charset="0"/>
                                        </a:rPr>
                                        <m:t>0.</m:t>
                                      </m:r>
                                      <m:sSub>
                                        <m:sSubPr>
                                          <m:ctrlPr>
                                            <a:rPr lang="en-ZA" sz="2400" i="1">
                                              <a:latin typeface="Cambria Math" panose="02040503050406030204" pitchFamily="18" charset="0"/>
                                            </a:rPr>
                                          </m:ctrlPr>
                                        </m:sSubPr>
                                        <m:e>
                                          <m:r>
                                            <a:rPr lang="en-ZA" sz="2400" i="1">
                                              <a:latin typeface="Cambria Math" panose="02040503050406030204" pitchFamily="18" charset="0"/>
                                            </a:rPr>
                                            <m:t>𝑥</m:t>
                                          </m:r>
                                        </m:e>
                                        <m:sub>
                                          <m:r>
                                            <a:rPr lang="en-US" sz="2400" b="0" i="1" smtClean="0">
                                              <a:latin typeface="Cambria Math" panose="02040503050406030204" pitchFamily="18" charset="0"/>
                                            </a:rPr>
                                            <m:t>𝑘</m:t>
                                          </m:r>
                                        </m:sub>
                                      </m:sSub>
                                      <m:sSub>
                                        <m:sSubPr>
                                          <m:ctrlPr>
                                            <a:rPr lang="en-ZA" sz="2400" i="1">
                                              <a:latin typeface="Cambria Math" panose="02040503050406030204" pitchFamily="18" charset="0"/>
                                            </a:rPr>
                                          </m:ctrlPr>
                                        </m:sSubPr>
                                        <m:e>
                                          <m:r>
                                            <a:rPr lang="en-ZA" sz="2400" i="1">
                                              <a:latin typeface="Cambria Math" panose="02040503050406030204" pitchFamily="18" charset="0"/>
                                            </a:rPr>
                                            <m:t>𝑥</m:t>
                                          </m:r>
                                        </m:e>
                                        <m:sub>
                                          <m:r>
                                            <a:rPr lang="en-US" sz="2400" b="0" i="1" smtClean="0">
                                              <a:latin typeface="Cambria Math" panose="02040503050406030204" pitchFamily="18" charset="0"/>
                                            </a:rPr>
                                            <m:t>𝑘</m:t>
                                          </m:r>
                                          <m:r>
                                            <a:rPr lang="en-US" sz="2400" b="0" i="1" smtClean="0">
                                              <a:latin typeface="Cambria Math" panose="02040503050406030204" pitchFamily="18" charset="0"/>
                                            </a:rPr>
                                            <m:t>+1</m:t>
                                          </m:r>
                                        </m:sub>
                                      </m:sSub>
                                      <m:r>
                                        <a:rPr lang="en-ZA" sz="2400" i="1">
                                          <a:latin typeface="Cambria Math" panose="02040503050406030204" pitchFamily="18" charset="0"/>
                                        </a:rPr>
                                        <m:t>⋯</m:t>
                                      </m:r>
                                      <m:sSub>
                                        <m:sSubPr>
                                          <m:ctrlPr>
                                            <a:rPr lang="en-ZA" sz="2400" i="1">
                                              <a:latin typeface="Cambria Math" panose="02040503050406030204" pitchFamily="18" charset="0"/>
                                            </a:rPr>
                                          </m:ctrlPr>
                                        </m:sSubPr>
                                        <m:e>
                                          <m:r>
                                            <a:rPr lang="en-ZA" sz="2400" i="1">
                                              <a:latin typeface="Cambria Math" panose="02040503050406030204" pitchFamily="18" charset="0"/>
                                            </a:rPr>
                                            <m:t>𝑥</m:t>
                                          </m:r>
                                        </m:e>
                                        <m:sub>
                                          <m:r>
                                            <a:rPr lang="en-ZA" sz="2400" i="1">
                                              <a:latin typeface="Cambria Math" panose="02040503050406030204" pitchFamily="18" charset="0"/>
                                            </a:rPr>
                                            <m:t>𝑛</m:t>
                                          </m:r>
                                        </m:sub>
                                      </m:sSub>
                                    </m:e>
                                  </m:d>
                                </m:sup>
                              </m:sSup>
                              <m:d>
                                <m:dPr>
                                  <m:begChr m:val=""/>
                                  <m:endChr m:val="⟩"/>
                                  <m:ctrlPr>
                                    <a:rPr lang="en-ZA" sz="2400" i="1">
                                      <a:latin typeface="Cambria Math" panose="02040503050406030204" pitchFamily="18" charset="0"/>
                                    </a:rPr>
                                  </m:ctrlPr>
                                </m:dPr>
                                <m:e>
                                  <m:r>
                                    <a:rPr lang="en-ZA" sz="2400" i="1">
                                      <a:latin typeface="Cambria Math" panose="02040503050406030204" pitchFamily="18" charset="0"/>
                                    </a:rPr>
                                    <m:t>|1</m:t>
                                  </m:r>
                                </m:e>
                              </m:d>
                            </m:e>
                          </m:d>
                        </m:e>
                      </m:nary>
                    </m:oMath>
                  </m:oMathPara>
                </a14:m>
                <a:endParaRPr lang="en-US" sz="2400" b="0" i="1" dirty="0">
                  <a:latin typeface="Cambria Math" panose="02040503050406030204" pitchFamily="18" charset="0"/>
                  <a:ea typeface="Cambria Math" panose="02040503050406030204" pitchFamily="18" charset="0"/>
                </a:endParaRPr>
              </a:p>
              <a:p>
                <a:endParaRPr lang="en-US" sz="28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m:rPr>
                          <m:sty m:val="p"/>
                        </m:rPr>
                        <a:rPr lang="en-US" sz="2400" b="0" i="0" smtClean="0">
                          <a:latin typeface="Cambria Math" panose="02040503050406030204" pitchFamily="18" charset="0"/>
                        </a:rPr>
                        <m:t>where</m:t>
                      </m:r>
                      <m:r>
                        <a:rPr lang="en-US" sz="2400" b="0" i="1" smtClean="0">
                          <a:latin typeface="Cambria Math" panose="02040503050406030204" pitchFamily="18" charset="0"/>
                        </a:rPr>
                        <m:t>  </m:t>
                      </m:r>
                      <m:r>
                        <a:rPr lang="en-ZA" sz="2400" i="1">
                          <a:latin typeface="Cambria Math" panose="02040503050406030204" pitchFamily="18" charset="0"/>
                        </a:rPr>
                        <m:t>0.</m:t>
                      </m:r>
                      <m:sSub>
                        <m:sSubPr>
                          <m:ctrlPr>
                            <a:rPr lang="en-ZA" sz="2400" i="1">
                              <a:latin typeface="Cambria Math" panose="02040503050406030204" pitchFamily="18" charset="0"/>
                            </a:rPr>
                          </m:ctrlPr>
                        </m:sSubPr>
                        <m:e>
                          <m:r>
                            <a:rPr lang="en-ZA" sz="2400" i="1">
                              <a:latin typeface="Cambria Math" panose="02040503050406030204" pitchFamily="18" charset="0"/>
                            </a:rPr>
                            <m:t>𝑥</m:t>
                          </m:r>
                        </m:e>
                        <m:sub>
                          <m:r>
                            <a:rPr lang="en-US" sz="2400" b="0" i="1" smtClean="0">
                              <a:latin typeface="Cambria Math" panose="02040503050406030204" pitchFamily="18" charset="0"/>
                            </a:rPr>
                            <m:t>𝑘</m:t>
                          </m:r>
                        </m:sub>
                      </m:sSub>
                      <m:sSub>
                        <m:sSubPr>
                          <m:ctrlPr>
                            <a:rPr lang="en-ZA" sz="2400" i="1">
                              <a:latin typeface="Cambria Math" panose="02040503050406030204" pitchFamily="18" charset="0"/>
                            </a:rPr>
                          </m:ctrlPr>
                        </m:sSubPr>
                        <m:e>
                          <m:r>
                            <a:rPr lang="en-ZA" sz="2400" i="1">
                              <a:latin typeface="Cambria Math" panose="02040503050406030204" pitchFamily="18" charset="0"/>
                            </a:rPr>
                            <m:t>𝑥</m:t>
                          </m:r>
                        </m:e>
                        <m:sub>
                          <m:r>
                            <a:rPr lang="en-US" sz="2400" b="0" i="1" smtClean="0">
                              <a:latin typeface="Cambria Math" panose="02040503050406030204" pitchFamily="18" charset="0"/>
                            </a:rPr>
                            <m:t>𝑘</m:t>
                          </m:r>
                          <m:r>
                            <a:rPr lang="en-US" sz="2400" b="0" i="1" smtClean="0">
                              <a:latin typeface="Cambria Math" panose="02040503050406030204" pitchFamily="18" charset="0"/>
                            </a:rPr>
                            <m:t>+1</m:t>
                          </m:r>
                        </m:sub>
                      </m:sSub>
                      <m:r>
                        <a:rPr lang="en-ZA" sz="2400" i="1">
                          <a:latin typeface="Cambria Math" panose="02040503050406030204" pitchFamily="18" charset="0"/>
                        </a:rPr>
                        <m:t>⋯</m:t>
                      </m:r>
                      <m:sSub>
                        <m:sSubPr>
                          <m:ctrlPr>
                            <a:rPr lang="en-ZA" sz="2400" i="1">
                              <a:latin typeface="Cambria Math" panose="02040503050406030204" pitchFamily="18" charset="0"/>
                            </a:rPr>
                          </m:ctrlPr>
                        </m:sSubPr>
                        <m:e>
                          <m:r>
                            <a:rPr lang="en-ZA" sz="2400" i="1">
                              <a:latin typeface="Cambria Math" panose="02040503050406030204" pitchFamily="18" charset="0"/>
                            </a:rPr>
                            <m:t>𝑥</m:t>
                          </m:r>
                        </m:e>
                        <m:sub>
                          <m:r>
                            <a:rPr lang="en-US" sz="2400" i="1">
                              <a:latin typeface="Cambria Math" panose="02040503050406030204" pitchFamily="18" charset="0"/>
                            </a:rPr>
                            <m:t>𝑛</m:t>
                          </m:r>
                        </m:sub>
                      </m:sSub>
                      <m:r>
                        <a:rPr lang="en-ZA" sz="2400" i="1">
                          <a:latin typeface="Cambria Math" panose="02040503050406030204" pitchFamily="18" charset="0"/>
                        </a:rPr>
                        <m:t>=</m:t>
                      </m:r>
                      <m:f>
                        <m:fPr>
                          <m:ctrlPr>
                            <a:rPr lang="en-ZA" sz="2400" i="1">
                              <a:latin typeface="Cambria Math" panose="02040503050406030204" pitchFamily="18" charset="0"/>
                            </a:rPr>
                          </m:ctrlPr>
                        </m:fPr>
                        <m:num>
                          <m:sSub>
                            <m:sSubPr>
                              <m:ctrlPr>
                                <a:rPr lang="en-ZA" sz="2400" i="1">
                                  <a:latin typeface="Cambria Math" panose="02040503050406030204" pitchFamily="18" charset="0"/>
                                </a:rPr>
                              </m:ctrlPr>
                            </m:sSubPr>
                            <m:e>
                              <m:r>
                                <a:rPr lang="en-ZA" sz="2400" i="1">
                                  <a:latin typeface="Cambria Math" panose="02040503050406030204" pitchFamily="18" charset="0"/>
                                </a:rPr>
                                <m:t>𝑥</m:t>
                              </m:r>
                            </m:e>
                            <m:sub>
                              <m:r>
                                <a:rPr lang="en-US" sz="2400" b="0" i="1" smtClean="0">
                                  <a:latin typeface="Cambria Math" panose="02040503050406030204" pitchFamily="18" charset="0"/>
                                </a:rPr>
                                <m:t>𝑘</m:t>
                              </m:r>
                            </m:sub>
                          </m:sSub>
                        </m:num>
                        <m:den>
                          <m:r>
                            <a:rPr lang="en-ZA" sz="2400" i="1">
                              <a:latin typeface="Cambria Math" panose="02040503050406030204" pitchFamily="18" charset="0"/>
                            </a:rPr>
                            <m:t>2</m:t>
                          </m:r>
                        </m:den>
                      </m:f>
                      <m:r>
                        <a:rPr lang="en-ZA" sz="2400" i="1">
                          <a:latin typeface="Cambria Math" panose="02040503050406030204" pitchFamily="18" charset="0"/>
                        </a:rPr>
                        <m:t>+</m:t>
                      </m:r>
                      <m:f>
                        <m:fPr>
                          <m:ctrlPr>
                            <a:rPr lang="en-ZA" sz="2400" i="1">
                              <a:latin typeface="Cambria Math" panose="02040503050406030204" pitchFamily="18" charset="0"/>
                            </a:rPr>
                          </m:ctrlPr>
                        </m:fPr>
                        <m:num>
                          <m:sSub>
                            <m:sSubPr>
                              <m:ctrlPr>
                                <a:rPr lang="en-ZA" sz="2400" i="1">
                                  <a:latin typeface="Cambria Math" panose="02040503050406030204" pitchFamily="18" charset="0"/>
                                </a:rPr>
                              </m:ctrlPr>
                            </m:sSubPr>
                            <m:e>
                              <m:r>
                                <a:rPr lang="en-ZA" sz="2400" i="1">
                                  <a:latin typeface="Cambria Math" panose="02040503050406030204" pitchFamily="18" charset="0"/>
                                </a:rPr>
                                <m:t>𝑥</m:t>
                              </m:r>
                            </m:e>
                            <m:sub>
                              <m:r>
                                <a:rPr lang="en-US" sz="2400" b="0" i="1" smtClean="0">
                                  <a:latin typeface="Cambria Math" panose="02040503050406030204" pitchFamily="18" charset="0"/>
                                </a:rPr>
                                <m:t>𝑘</m:t>
                              </m:r>
                              <m:r>
                                <a:rPr lang="en-US" sz="2400" b="0" i="1" smtClean="0">
                                  <a:latin typeface="Cambria Math" panose="02040503050406030204" pitchFamily="18" charset="0"/>
                                </a:rPr>
                                <m:t>+1</m:t>
                              </m:r>
                            </m:sub>
                          </m:sSub>
                        </m:num>
                        <m:den>
                          <m:r>
                            <a:rPr lang="en-ZA" sz="2400" i="1">
                              <a:latin typeface="Cambria Math" panose="02040503050406030204" pitchFamily="18" charset="0"/>
                            </a:rPr>
                            <m:t>4</m:t>
                          </m:r>
                        </m:den>
                      </m:f>
                      <m:r>
                        <a:rPr lang="en-ZA" sz="2400" i="1">
                          <a:latin typeface="Cambria Math" panose="02040503050406030204" pitchFamily="18" charset="0"/>
                        </a:rPr>
                        <m:t>+⋯</m:t>
                      </m:r>
                      <m:r>
                        <a:rPr lang="en-US" sz="2400" b="0" i="1" smtClean="0">
                          <a:latin typeface="Cambria Math" panose="02040503050406030204" pitchFamily="18" charset="0"/>
                        </a:rPr>
                        <m:t>+</m:t>
                      </m:r>
                      <m:f>
                        <m:fPr>
                          <m:ctrlPr>
                            <a:rPr lang="en-ZA" sz="2400" i="1">
                              <a:latin typeface="Cambria Math" panose="02040503050406030204" pitchFamily="18" charset="0"/>
                            </a:rPr>
                          </m:ctrlPr>
                        </m:fPr>
                        <m:num>
                          <m:sSub>
                            <m:sSubPr>
                              <m:ctrlPr>
                                <a:rPr lang="en-ZA" sz="2400" i="1">
                                  <a:latin typeface="Cambria Math" panose="02040503050406030204" pitchFamily="18" charset="0"/>
                                </a:rPr>
                              </m:ctrlPr>
                            </m:sSubPr>
                            <m:e>
                              <m:r>
                                <a:rPr lang="en-ZA" sz="2400" i="1">
                                  <a:latin typeface="Cambria Math" panose="02040503050406030204" pitchFamily="18" charset="0"/>
                                </a:rPr>
                                <m:t>𝑥</m:t>
                              </m:r>
                            </m:e>
                            <m:sub>
                              <m:r>
                                <a:rPr lang="en-US" sz="2400" b="0" i="1" smtClean="0">
                                  <a:latin typeface="Cambria Math" panose="02040503050406030204" pitchFamily="18" charset="0"/>
                                </a:rPr>
                                <m:t>𝑛</m:t>
                              </m:r>
                            </m:sub>
                          </m:sSub>
                        </m:num>
                        <m:den>
                          <m:sSup>
                            <m:sSupPr>
                              <m:ctrlPr>
                                <a:rPr lang="en-ZA" sz="2400" i="1" smtClean="0">
                                  <a:latin typeface="Cambria Math" panose="02040503050406030204" pitchFamily="18" charset="0"/>
                                </a:rPr>
                              </m:ctrlPr>
                            </m:sSupPr>
                            <m:e>
                              <m:r>
                                <a:rPr lang="en-US" sz="2400" b="0" i="1" smtClean="0">
                                  <a:latin typeface="Cambria Math" panose="02040503050406030204" pitchFamily="18" charset="0"/>
                                </a:rPr>
                                <m:t>2</m:t>
                              </m:r>
                            </m:e>
                            <m:sup>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𝑘</m:t>
                              </m:r>
                              <m:r>
                                <a:rPr lang="en-US" sz="2400" b="0" i="1" smtClean="0">
                                  <a:latin typeface="Cambria Math" panose="02040503050406030204" pitchFamily="18" charset="0"/>
                                </a:rPr>
                                <m:t>+1</m:t>
                              </m:r>
                            </m:sup>
                          </m:sSup>
                        </m:den>
                      </m:f>
                    </m:oMath>
                  </m:oMathPara>
                </a14:m>
                <a:endParaRPr lang="en-ZA" sz="2400" dirty="0"/>
              </a:p>
            </p:txBody>
          </p:sp>
        </mc:Choice>
        <mc:Fallback xmlns="">
          <p:sp>
            <p:nvSpPr>
              <p:cNvPr id="12" name="Rectangle 11">
                <a:extLst>
                  <a:ext uri="{FF2B5EF4-FFF2-40B4-BE49-F238E27FC236}">
                    <a16:creationId xmlns:a16="http://schemas.microsoft.com/office/drawing/2014/main" id="{48F73E69-ED47-F546-9642-80032D882A90}"/>
                  </a:ext>
                </a:extLst>
              </p:cNvPr>
              <p:cNvSpPr>
                <a:spLocks noRot="1" noChangeAspect="1" noMove="1" noResize="1" noEditPoints="1" noAdjustHandles="1" noChangeArrowheads="1" noChangeShapeType="1" noTextEdit="1"/>
              </p:cNvSpPr>
              <p:nvPr/>
            </p:nvSpPr>
            <p:spPr>
              <a:xfrm>
                <a:off x="3006216" y="2251964"/>
                <a:ext cx="7752828" cy="2168479"/>
              </a:xfrm>
              <a:prstGeom prst="rect">
                <a:avLst/>
              </a:prstGeom>
              <a:blipFill>
                <a:blip r:embed="rId4"/>
                <a:stretch>
                  <a:fillRect t="-54070" r="-327" b="-33721"/>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16C7700B-8E34-294F-9CFB-B974DFB95D96}"/>
              </a:ext>
            </a:extLst>
          </p:cNvPr>
          <p:cNvSpPr txBox="1"/>
          <p:nvPr/>
        </p:nvSpPr>
        <p:spPr>
          <a:xfrm>
            <a:off x="16982" y="6102435"/>
            <a:ext cx="11987892" cy="369332"/>
          </a:xfrm>
          <a:prstGeom prst="rect">
            <a:avLst/>
          </a:prstGeom>
          <a:noFill/>
        </p:spPr>
        <p:txBody>
          <a:bodyPr wrap="square" rtlCol="0">
            <a:spAutoFit/>
          </a:bodyPr>
          <a:lstStyle/>
          <a:p>
            <a:r>
              <a:rPr lang="en-ZA" baseline="30000" dirty="0"/>
              <a:t>* </a:t>
            </a:r>
            <a:r>
              <a:rPr lang="en-ZA" dirty="0"/>
              <a:t>Coppersmith, D., 1994, “An Approximate Fourier Transform Useful in Quantum Factoring”, IBM Research Report No. RC19642.</a:t>
            </a:r>
            <a:endParaRPr lang="en-US" dirty="0"/>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0380E8FF-4ED2-3946-AA9E-36559E5B5F31}"/>
                  </a:ext>
                </a:extLst>
              </p:cNvPr>
              <p:cNvSpPr/>
              <p:nvPr/>
            </p:nvSpPr>
            <p:spPr>
              <a:xfrm>
                <a:off x="91518" y="5138986"/>
                <a:ext cx="12071894" cy="586956"/>
              </a:xfrm>
              <a:prstGeom prst="rect">
                <a:avLst/>
              </a:prstGeom>
            </p:spPr>
            <p:txBody>
              <a:bodyPr wrap="none">
                <a:spAutoFit/>
              </a:bodyPr>
              <a:lstStyle/>
              <a:p>
                <a14:m>
                  <m:oMath xmlns:m="http://schemas.openxmlformats.org/officeDocument/2006/math">
                    <m:r>
                      <a:rPr lang="en-ZA" sz="2200" i="1" smtClean="0">
                        <a:latin typeface="Cambria Math" panose="02040503050406030204" pitchFamily="18" charset="0"/>
                      </a:rPr>
                      <m:t>𝑄𝐹𝑇</m:t>
                    </m:r>
                    <m:r>
                      <a:rPr lang="en-ZA" sz="2200" i="1" smtClean="0">
                        <a:latin typeface="Cambria Math" panose="02040503050406030204" pitchFamily="18" charset="0"/>
                      </a:rPr>
                      <m:t>|</m:t>
                    </m:r>
                    <m:d>
                      <m:dPr>
                        <m:begChr m:val=""/>
                        <m:endChr m:val="⟩"/>
                        <m:ctrlPr>
                          <a:rPr lang="en-ZA" sz="2200" i="1">
                            <a:latin typeface="Cambria Math" panose="02040503050406030204" pitchFamily="18" charset="0"/>
                          </a:rPr>
                        </m:ctrlPr>
                      </m:dPr>
                      <m:e>
                        <m:sSub>
                          <m:sSubPr>
                            <m:ctrlPr>
                              <a:rPr lang="en-ZA" sz="2200" i="1">
                                <a:latin typeface="Cambria Math" panose="02040503050406030204" pitchFamily="18" charset="0"/>
                              </a:rPr>
                            </m:ctrlPr>
                          </m:sSubPr>
                          <m:e>
                            <m:r>
                              <a:rPr lang="en-ZA" sz="2200" i="1">
                                <a:latin typeface="Cambria Math" panose="02040503050406030204" pitchFamily="18" charset="0"/>
                              </a:rPr>
                              <m:t>𝑥</m:t>
                            </m:r>
                          </m:e>
                          <m:sub>
                            <m:r>
                              <a:rPr lang="en-ZA" sz="2200" i="1">
                                <a:latin typeface="Cambria Math" panose="02040503050406030204" pitchFamily="18" charset="0"/>
                              </a:rPr>
                              <m:t>1</m:t>
                            </m:r>
                          </m:sub>
                        </m:sSub>
                        <m:sSub>
                          <m:sSubPr>
                            <m:ctrlPr>
                              <a:rPr lang="en-ZA" sz="2200" i="1">
                                <a:latin typeface="Cambria Math" panose="02040503050406030204" pitchFamily="18" charset="0"/>
                              </a:rPr>
                            </m:ctrlPr>
                          </m:sSubPr>
                          <m:e>
                            <m:r>
                              <a:rPr lang="en-ZA" sz="2200" i="1">
                                <a:latin typeface="Cambria Math" panose="02040503050406030204" pitchFamily="18" charset="0"/>
                              </a:rPr>
                              <m:t>𝑥</m:t>
                            </m:r>
                          </m:e>
                          <m:sub>
                            <m:r>
                              <a:rPr lang="en-ZA" sz="2200" i="1">
                                <a:latin typeface="Cambria Math" panose="02040503050406030204" pitchFamily="18" charset="0"/>
                              </a:rPr>
                              <m:t>2</m:t>
                            </m:r>
                          </m:sub>
                        </m:sSub>
                        <m:r>
                          <a:rPr lang="en-ZA" sz="2200" i="1">
                            <a:latin typeface="Cambria Math" panose="02040503050406030204" pitchFamily="18" charset="0"/>
                          </a:rPr>
                          <m:t>⋯</m:t>
                        </m:r>
                        <m:sSub>
                          <m:sSubPr>
                            <m:ctrlPr>
                              <a:rPr lang="en-ZA" sz="2200" i="1">
                                <a:latin typeface="Cambria Math" panose="02040503050406030204" pitchFamily="18" charset="0"/>
                              </a:rPr>
                            </m:ctrlPr>
                          </m:sSubPr>
                          <m:e>
                            <m:r>
                              <a:rPr lang="en-ZA" sz="2200" i="1">
                                <a:latin typeface="Cambria Math" panose="02040503050406030204" pitchFamily="18" charset="0"/>
                              </a:rPr>
                              <m:t>𝑥</m:t>
                            </m:r>
                          </m:e>
                          <m:sub>
                            <m:r>
                              <a:rPr lang="en-ZA" sz="2200" i="1">
                                <a:latin typeface="Cambria Math" panose="02040503050406030204" pitchFamily="18" charset="0"/>
                              </a:rPr>
                              <m:t>𝑛</m:t>
                            </m:r>
                          </m:sub>
                        </m:sSub>
                      </m:e>
                    </m:d>
                    <m:r>
                      <a:rPr lang="en-ZA" sz="2200" i="1">
                        <a:latin typeface="Cambria Math" panose="02040503050406030204" pitchFamily="18" charset="0"/>
                      </a:rPr>
                      <m:t>=</m:t>
                    </m:r>
                    <m:f>
                      <m:fPr>
                        <m:ctrlPr>
                          <a:rPr lang="en-ZA" sz="2200" i="1">
                            <a:latin typeface="Cambria Math" panose="02040503050406030204" pitchFamily="18" charset="0"/>
                          </a:rPr>
                        </m:ctrlPr>
                      </m:fPr>
                      <m:num>
                        <m:r>
                          <a:rPr lang="en-ZA" sz="2200" i="1">
                            <a:latin typeface="Cambria Math" panose="02040503050406030204" pitchFamily="18" charset="0"/>
                          </a:rPr>
                          <m:t>1</m:t>
                        </m:r>
                      </m:num>
                      <m:den>
                        <m:rad>
                          <m:radPr>
                            <m:degHide m:val="on"/>
                            <m:ctrlPr>
                              <a:rPr lang="en-ZA" sz="2200" i="1">
                                <a:latin typeface="Cambria Math" panose="02040503050406030204" pitchFamily="18" charset="0"/>
                              </a:rPr>
                            </m:ctrlPr>
                          </m:radPr>
                          <m:deg/>
                          <m:e>
                            <m:sSup>
                              <m:sSupPr>
                                <m:ctrlPr>
                                  <a:rPr lang="en-ZA" sz="2200" i="1">
                                    <a:latin typeface="Cambria Math" panose="02040503050406030204" pitchFamily="18" charset="0"/>
                                  </a:rPr>
                                </m:ctrlPr>
                              </m:sSupPr>
                              <m:e>
                                <m:r>
                                  <a:rPr lang="en-ZA" sz="2200" i="1">
                                    <a:latin typeface="Cambria Math" panose="02040503050406030204" pitchFamily="18" charset="0"/>
                                  </a:rPr>
                                  <m:t>2</m:t>
                                </m:r>
                              </m:e>
                              <m:sup>
                                <m:r>
                                  <a:rPr lang="en-ZA" sz="2200" i="1">
                                    <a:latin typeface="Cambria Math" panose="02040503050406030204" pitchFamily="18" charset="0"/>
                                  </a:rPr>
                                  <m:t>𝑛</m:t>
                                </m:r>
                              </m:sup>
                            </m:sSup>
                          </m:e>
                        </m:rad>
                      </m:den>
                    </m:f>
                  </m:oMath>
                </a14:m>
                <a:r>
                  <a:rPr lang="en-ZA" sz="2200" dirty="0"/>
                  <a:t> </a:t>
                </a:r>
                <a14:m>
                  <m:oMath xmlns:m="http://schemas.openxmlformats.org/officeDocument/2006/math">
                    <m:d>
                      <m:dPr>
                        <m:ctrlPr>
                          <a:rPr lang="en-ZA" sz="2200" i="1">
                            <a:latin typeface="Cambria Math" panose="02040503050406030204" pitchFamily="18" charset="0"/>
                          </a:rPr>
                        </m:ctrlPr>
                      </m:dPr>
                      <m:e>
                        <m:d>
                          <m:dPr>
                            <m:begChr m:val=""/>
                            <m:endChr m:val="⟩"/>
                            <m:ctrlPr>
                              <a:rPr lang="en-ZA" sz="2200" i="1">
                                <a:latin typeface="Cambria Math" panose="02040503050406030204" pitchFamily="18" charset="0"/>
                              </a:rPr>
                            </m:ctrlPr>
                          </m:dPr>
                          <m:e>
                            <m:r>
                              <a:rPr lang="en-ZA" sz="2200" i="1">
                                <a:latin typeface="Cambria Math" panose="02040503050406030204" pitchFamily="18" charset="0"/>
                              </a:rPr>
                              <m:t>|0</m:t>
                            </m:r>
                          </m:e>
                        </m:d>
                        <m:r>
                          <a:rPr lang="en-ZA" sz="2200" i="1">
                            <a:latin typeface="Cambria Math" panose="02040503050406030204" pitchFamily="18" charset="0"/>
                          </a:rPr>
                          <m:t>+</m:t>
                        </m:r>
                        <m:sSup>
                          <m:sSupPr>
                            <m:ctrlPr>
                              <a:rPr lang="en-ZA" sz="2200" i="1">
                                <a:latin typeface="Cambria Math" panose="02040503050406030204" pitchFamily="18" charset="0"/>
                              </a:rPr>
                            </m:ctrlPr>
                          </m:sSupPr>
                          <m:e>
                            <m:r>
                              <a:rPr lang="en-ZA" sz="2200" i="1">
                                <a:latin typeface="Cambria Math" panose="02040503050406030204" pitchFamily="18" charset="0"/>
                              </a:rPr>
                              <m:t>𝑒</m:t>
                            </m:r>
                          </m:e>
                          <m:sup>
                            <m:r>
                              <a:rPr lang="en-ZA" sz="2200" i="1">
                                <a:latin typeface="Cambria Math" panose="02040503050406030204" pitchFamily="18" charset="0"/>
                              </a:rPr>
                              <m:t>2</m:t>
                            </m:r>
                            <m:r>
                              <a:rPr lang="en-ZA" sz="2200" i="1">
                                <a:latin typeface="Cambria Math" panose="02040503050406030204" pitchFamily="18" charset="0"/>
                              </a:rPr>
                              <m:t>𝜋</m:t>
                            </m:r>
                            <m:r>
                              <a:rPr lang="en-ZA" sz="2200" i="1">
                                <a:latin typeface="Cambria Math" panose="02040503050406030204" pitchFamily="18" charset="0"/>
                              </a:rPr>
                              <m:t>𝑖</m:t>
                            </m:r>
                            <m:d>
                              <m:dPr>
                                <m:begChr m:val="["/>
                                <m:endChr m:val="]"/>
                                <m:ctrlPr>
                                  <a:rPr lang="en-ZA" sz="2200" i="1">
                                    <a:latin typeface="Cambria Math" panose="02040503050406030204" pitchFamily="18" charset="0"/>
                                  </a:rPr>
                                </m:ctrlPr>
                              </m:dPr>
                              <m:e>
                                <m:r>
                                  <a:rPr lang="en-ZA" sz="2200" i="1">
                                    <a:latin typeface="Cambria Math" panose="02040503050406030204" pitchFamily="18" charset="0"/>
                                  </a:rPr>
                                  <m:t>0.</m:t>
                                </m:r>
                                <m:sSub>
                                  <m:sSubPr>
                                    <m:ctrlPr>
                                      <a:rPr lang="en-ZA" sz="2200" i="1">
                                        <a:latin typeface="Cambria Math" panose="02040503050406030204" pitchFamily="18" charset="0"/>
                                      </a:rPr>
                                    </m:ctrlPr>
                                  </m:sSubPr>
                                  <m:e>
                                    <m:r>
                                      <a:rPr lang="en-ZA" sz="2200" i="1">
                                        <a:latin typeface="Cambria Math" panose="02040503050406030204" pitchFamily="18" charset="0"/>
                                      </a:rPr>
                                      <m:t>𝑥</m:t>
                                    </m:r>
                                  </m:e>
                                  <m:sub>
                                    <m:r>
                                      <a:rPr lang="en-US" sz="2200" b="0" i="1" smtClean="0">
                                        <a:latin typeface="Cambria Math" panose="02040503050406030204" pitchFamily="18" charset="0"/>
                                      </a:rPr>
                                      <m:t>1</m:t>
                                    </m:r>
                                  </m:sub>
                                </m:sSub>
                                <m:r>
                                  <a:rPr lang="en-ZA" sz="2200" i="1">
                                    <a:latin typeface="Cambria Math" panose="02040503050406030204" pitchFamily="18" charset="0"/>
                                  </a:rPr>
                                  <m:t>⋯</m:t>
                                </m:r>
                                <m:sSub>
                                  <m:sSubPr>
                                    <m:ctrlPr>
                                      <a:rPr lang="en-ZA" sz="2200" i="1">
                                        <a:latin typeface="Cambria Math" panose="02040503050406030204" pitchFamily="18" charset="0"/>
                                      </a:rPr>
                                    </m:ctrlPr>
                                  </m:sSubPr>
                                  <m:e>
                                    <m:r>
                                      <a:rPr lang="en-ZA" sz="2200" i="1">
                                        <a:latin typeface="Cambria Math" panose="02040503050406030204" pitchFamily="18" charset="0"/>
                                      </a:rPr>
                                      <m:t>𝑥</m:t>
                                    </m:r>
                                  </m:e>
                                  <m:sub>
                                    <m:r>
                                      <a:rPr lang="en-ZA" sz="2200" i="1">
                                        <a:latin typeface="Cambria Math" panose="02040503050406030204" pitchFamily="18" charset="0"/>
                                      </a:rPr>
                                      <m:t>𝑛</m:t>
                                    </m:r>
                                  </m:sub>
                                </m:sSub>
                              </m:e>
                            </m:d>
                          </m:sup>
                        </m:sSup>
                        <m:d>
                          <m:dPr>
                            <m:begChr m:val=""/>
                            <m:endChr m:val="⟩"/>
                            <m:ctrlPr>
                              <a:rPr lang="en-ZA" sz="2200" i="1">
                                <a:latin typeface="Cambria Math" panose="02040503050406030204" pitchFamily="18" charset="0"/>
                              </a:rPr>
                            </m:ctrlPr>
                          </m:dPr>
                          <m:e>
                            <m:r>
                              <a:rPr lang="en-ZA" sz="2200" i="1">
                                <a:latin typeface="Cambria Math" panose="02040503050406030204" pitchFamily="18" charset="0"/>
                              </a:rPr>
                              <m:t>|1</m:t>
                            </m:r>
                          </m:e>
                        </m:d>
                      </m:e>
                    </m:d>
                    <m:r>
                      <a:rPr lang="en-ZA" sz="2200" i="1" smtClean="0">
                        <a:latin typeface="Cambria Math" panose="02040503050406030204" pitchFamily="18" charset="0"/>
                        <a:ea typeface="Cambria Math" panose="02040503050406030204" pitchFamily="18" charset="0"/>
                      </a:rPr>
                      <m:t>⨂</m:t>
                    </m:r>
                    <m:d>
                      <m:dPr>
                        <m:ctrlPr>
                          <a:rPr lang="en-ZA" sz="2200" i="1">
                            <a:latin typeface="Cambria Math" panose="02040503050406030204" pitchFamily="18" charset="0"/>
                          </a:rPr>
                        </m:ctrlPr>
                      </m:dPr>
                      <m:e>
                        <m:d>
                          <m:dPr>
                            <m:begChr m:val=""/>
                            <m:endChr m:val="⟩"/>
                            <m:ctrlPr>
                              <a:rPr lang="en-ZA" sz="2200" i="1">
                                <a:latin typeface="Cambria Math" panose="02040503050406030204" pitchFamily="18" charset="0"/>
                              </a:rPr>
                            </m:ctrlPr>
                          </m:dPr>
                          <m:e>
                            <m:r>
                              <a:rPr lang="en-ZA" sz="2200" i="1">
                                <a:latin typeface="Cambria Math" panose="02040503050406030204" pitchFamily="18" charset="0"/>
                              </a:rPr>
                              <m:t>|0</m:t>
                            </m:r>
                          </m:e>
                        </m:d>
                        <m:r>
                          <a:rPr lang="en-ZA" sz="2200" i="1">
                            <a:latin typeface="Cambria Math" panose="02040503050406030204" pitchFamily="18" charset="0"/>
                          </a:rPr>
                          <m:t>+</m:t>
                        </m:r>
                        <m:sSup>
                          <m:sSupPr>
                            <m:ctrlPr>
                              <a:rPr lang="en-ZA" sz="2200" i="1">
                                <a:latin typeface="Cambria Math" panose="02040503050406030204" pitchFamily="18" charset="0"/>
                              </a:rPr>
                            </m:ctrlPr>
                          </m:sSupPr>
                          <m:e>
                            <m:r>
                              <a:rPr lang="en-ZA" sz="2200" i="1">
                                <a:latin typeface="Cambria Math" panose="02040503050406030204" pitchFamily="18" charset="0"/>
                              </a:rPr>
                              <m:t>𝑒</m:t>
                            </m:r>
                          </m:e>
                          <m:sup>
                            <m:r>
                              <a:rPr lang="en-ZA" sz="2200" i="1">
                                <a:latin typeface="Cambria Math" panose="02040503050406030204" pitchFamily="18" charset="0"/>
                              </a:rPr>
                              <m:t>2</m:t>
                            </m:r>
                            <m:r>
                              <a:rPr lang="en-ZA" sz="2200" i="1">
                                <a:latin typeface="Cambria Math" panose="02040503050406030204" pitchFamily="18" charset="0"/>
                              </a:rPr>
                              <m:t>𝜋</m:t>
                            </m:r>
                            <m:r>
                              <a:rPr lang="en-ZA" sz="2200" i="1">
                                <a:latin typeface="Cambria Math" panose="02040503050406030204" pitchFamily="18" charset="0"/>
                              </a:rPr>
                              <m:t>𝑖</m:t>
                            </m:r>
                            <m:d>
                              <m:dPr>
                                <m:begChr m:val="["/>
                                <m:endChr m:val="]"/>
                                <m:ctrlPr>
                                  <a:rPr lang="en-ZA" sz="2200" i="1">
                                    <a:latin typeface="Cambria Math" panose="02040503050406030204" pitchFamily="18" charset="0"/>
                                  </a:rPr>
                                </m:ctrlPr>
                              </m:dPr>
                              <m:e>
                                <m:r>
                                  <a:rPr lang="en-ZA" sz="2200" i="1">
                                    <a:latin typeface="Cambria Math" panose="02040503050406030204" pitchFamily="18" charset="0"/>
                                  </a:rPr>
                                  <m:t>0.</m:t>
                                </m:r>
                                <m:sSub>
                                  <m:sSubPr>
                                    <m:ctrlPr>
                                      <a:rPr lang="en-ZA" sz="2200" i="1">
                                        <a:latin typeface="Cambria Math" panose="02040503050406030204" pitchFamily="18" charset="0"/>
                                      </a:rPr>
                                    </m:ctrlPr>
                                  </m:sSubPr>
                                  <m:e>
                                    <m:r>
                                      <a:rPr lang="en-ZA" sz="2200" i="1">
                                        <a:latin typeface="Cambria Math" panose="02040503050406030204" pitchFamily="18" charset="0"/>
                                      </a:rPr>
                                      <m:t>𝑥</m:t>
                                    </m:r>
                                  </m:e>
                                  <m:sub>
                                    <m:r>
                                      <a:rPr lang="en-US" sz="2200" b="0" i="1" smtClean="0">
                                        <a:latin typeface="Cambria Math" panose="02040503050406030204" pitchFamily="18" charset="0"/>
                                      </a:rPr>
                                      <m:t>2</m:t>
                                    </m:r>
                                  </m:sub>
                                </m:sSub>
                                <m:r>
                                  <a:rPr lang="en-ZA" sz="2200" i="1">
                                    <a:latin typeface="Cambria Math" panose="02040503050406030204" pitchFamily="18" charset="0"/>
                                  </a:rPr>
                                  <m:t>⋯</m:t>
                                </m:r>
                                <m:sSub>
                                  <m:sSubPr>
                                    <m:ctrlPr>
                                      <a:rPr lang="en-ZA" sz="2200" i="1">
                                        <a:latin typeface="Cambria Math" panose="02040503050406030204" pitchFamily="18" charset="0"/>
                                      </a:rPr>
                                    </m:ctrlPr>
                                  </m:sSubPr>
                                  <m:e>
                                    <m:r>
                                      <a:rPr lang="en-ZA" sz="2200" i="1">
                                        <a:latin typeface="Cambria Math" panose="02040503050406030204" pitchFamily="18" charset="0"/>
                                      </a:rPr>
                                      <m:t>𝑥</m:t>
                                    </m:r>
                                  </m:e>
                                  <m:sub>
                                    <m:r>
                                      <a:rPr lang="en-ZA" sz="2200" i="1">
                                        <a:latin typeface="Cambria Math" panose="02040503050406030204" pitchFamily="18" charset="0"/>
                                      </a:rPr>
                                      <m:t>𝑛</m:t>
                                    </m:r>
                                    <m:r>
                                      <a:rPr lang="en-US" sz="2200" b="0" i="1" smtClean="0">
                                        <a:latin typeface="Cambria Math" panose="02040503050406030204" pitchFamily="18" charset="0"/>
                                      </a:rPr>
                                      <m:t>−1</m:t>
                                    </m:r>
                                  </m:sub>
                                </m:sSub>
                              </m:e>
                            </m:d>
                          </m:sup>
                        </m:sSup>
                        <m:d>
                          <m:dPr>
                            <m:begChr m:val=""/>
                            <m:endChr m:val="⟩"/>
                            <m:ctrlPr>
                              <a:rPr lang="en-ZA" sz="2200" i="1">
                                <a:latin typeface="Cambria Math" panose="02040503050406030204" pitchFamily="18" charset="0"/>
                              </a:rPr>
                            </m:ctrlPr>
                          </m:dPr>
                          <m:e>
                            <m:r>
                              <a:rPr lang="en-ZA" sz="2200" i="1">
                                <a:latin typeface="Cambria Math" panose="02040503050406030204" pitchFamily="18" charset="0"/>
                              </a:rPr>
                              <m:t>|1</m:t>
                            </m:r>
                          </m:e>
                        </m:d>
                      </m:e>
                    </m:d>
                    <m:r>
                      <a:rPr lang="en-ZA" sz="2200" i="1">
                        <a:latin typeface="Cambria Math" panose="02040503050406030204" pitchFamily="18" charset="0"/>
                        <a:ea typeface="Cambria Math" panose="02040503050406030204" pitchFamily="18" charset="0"/>
                      </a:rPr>
                      <m:t>⨂</m:t>
                    </m:r>
                    <m:r>
                      <a:rPr lang="en-ZA" sz="2200" i="1" smtClean="0">
                        <a:latin typeface="Cambria Math" panose="02040503050406030204" pitchFamily="18" charset="0"/>
                        <a:ea typeface="Cambria Math" panose="02040503050406030204" pitchFamily="18" charset="0"/>
                      </a:rPr>
                      <m:t>⋯</m:t>
                    </m:r>
                    <m:r>
                      <a:rPr lang="en-ZA" sz="2200" i="1">
                        <a:latin typeface="Cambria Math" panose="02040503050406030204" pitchFamily="18" charset="0"/>
                        <a:ea typeface="Cambria Math" panose="02040503050406030204" pitchFamily="18" charset="0"/>
                      </a:rPr>
                      <m:t>⨂</m:t>
                    </m:r>
                    <m:d>
                      <m:dPr>
                        <m:ctrlPr>
                          <a:rPr lang="en-ZA" sz="2200" i="1">
                            <a:latin typeface="Cambria Math" panose="02040503050406030204" pitchFamily="18" charset="0"/>
                          </a:rPr>
                        </m:ctrlPr>
                      </m:dPr>
                      <m:e>
                        <m:d>
                          <m:dPr>
                            <m:begChr m:val=""/>
                            <m:endChr m:val="⟩"/>
                            <m:ctrlPr>
                              <a:rPr lang="en-ZA" sz="2200" i="1">
                                <a:latin typeface="Cambria Math" panose="02040503050406030204" pitchFamily="18" charset="0"/>
                              </a:rPr>
                            </m:ctrlPr>
                          </m:dPr>
                          <m:e>
                            <m:r>
                              <a:rPr lang="en-ZA" sz="2200" i="1">
                                <a:latin typeface="Cambria Math" panose="02040503050406030204" pitchFamily="18" charset="0"/>
                              </a:rPr>
                              <m:t>|0</m:t>
                            </m:r>
                          </m:e>
                        </m:d>
                        <m:r>
                          <a:rPr lang="en-ZA" sz="2200" i="1">
                            <a:latin typeface="Cambria Math" panose="02040503050406030204" pitchFamily="18" charset="0"/>
                          </a:rPr>
                          <m:t>+</m:t>
                        </m:r>
                        <m:sSup>
                          <m:sSupPr>
                            <m:ctrlPr>
                              <a:rPr lang="en-ZA" sz="2200" i="1">
                                <a:latin typeface="Cambria Math" panose="02040503050406030204" pitchFamily="18" charset="0"/>
                              </a:rPr>
                            </m:ctrlPr>
                          </m:sSupPr>
                          <m:e>
                            <m:r>
                              <a:rPr lang="en-ZA" sz="2200" i="1">
                                <a:latin typeface="Cambria Math" panose="02040503050406030204" pitchFamily="18" charset="0"/>
                              </a:rPr>
                              <m:t>𝑒</m:t>
                            </m:r>
                          </m:e>
                          <m:sup>
                            <m:r>
                              <a:rPr lang="en-ZA" sz="2200" i="1">
                                <a:latin typeface="Cambria Math" panose="02040503050406030204" pitchFamily="18" charset="0"/>
                              </a:rPr>
                              <m:t>2</m:t>
                            </m:r>
                            <m:r>
                              <a:rPr lang="en-ZA" sz="2200" i="1">
                                <a:latin typeface="Cambria Math" panose="02040503050406030204" pitchFamily="18" charset="0"/>
                              </a:rPr>
                              <m:t>𝜋</m:t>
                            </m:r>
                            <m:r>
                              <a:rPr lang="en-ZA" sz="2200" i="1">
                                <a:latin typeface="Cambria Math" panose="02040503050406030204" pitchFamily="18" charset="0"/>
                              </a:rPr>
                              <m:t>𝑖</m:t>
                            </m:r>
                            <m:d>
                              <m:dPr>
                                <m:begChr m:val="["/>
                                <m:endChr m:val="]"/>
                                <m:ctrlPr>
                                  <a:rPr lang="en-ZA" sz="2200" i="1">
                                    <a:latin typeface="Cambria Math" panose="02040503050406030204" pitchFamily="18" charset="0"/>
                                  </a:rPr>
                                </m:ctrlPr>
                              </m:dPr>
                              <m:e>
                                <m:r>
                                  <a:rPr lang="en-ZA" sz="2200" i="1">
                                    <a:latin typeface="Cambria Math" panose="02040503050406030204" pitchFamily="18" charset="0"/>
                                  </a:rPr>
                                  <m:t>0.</m:t>
                                </m:r>
                                <m:r>
                                  <a:rPr lang="en-ZA" sz="2200" i="1" smtClean="0">
                                    <a:latin typeface="Cambria Math" panose="02040503050406030204" pitchFamily="18" charset="0"/>
                                  </a:rPr>
                                  <m:t> </m:t>
                                </m:r>
                                <m:sSub>
                                  <m:sSubPr>
                                    <m:ctrlPr>
                                      <a:rPr lang="en-ZA" sz="2200" i="1">
                                        <a:latin typeface="Cambria Math" panose="02040503050406030204" pitchFamily="18" charset="0"/>
                                      </a:rPr>
                                    </m:ctrlPr>
                                  </m:sSubPr>
                                  <m:e>
                                    <m:r>
                                      <a:rPr lang="en-ZA" sz="2200" i="1">
                                        <a:latin typeface="Cambria Math" panose="02040503050406030204" pitchFamily="18" charset="0"/>
                                      </a:rPr>
                                      <m:t>𝑥</m:t>
                                    </m:r>
                                  </m:e>
                                  <m:sub>
                                    <m:r>
                                      <a:rPr lang="en-US" sz="2200" b="0" i="1" smtClean="0">
                                        <a:latin typeface="Cambria Math" panose="02040503050406030204" pitchFamily="18" charset="0"/>
                                      </a:rPr>
                                      <m:t>𝑛</m:t>
                                    </m:r>
                                  </m:sub>
                                </m:sSub>
                              </m:e>
                            </m:d>
                          </m:sup>
                        </m:sSup>
                        <m:d>
                          <m:dPr>
                            <m:begChr m:val=""/>
                            <m:endChr m:val="⟩"/>
                            <m:ctrlPr>
                              <a:rPr lang="en-ZA" sz="2200" i="1">
                                <a:latin typeface="Cambria Math" panose="02040503050406030204" pitchFamily="18" charset="0"/>
                              </a:rPr>
                            </m:ctrlPr>
                          </m:dPr>
                          <m:e>
                            <m:r>
                              <a:rPr lang="en-ZA" sz="2200" i="1">
                                <a:latin typeface="Cambria Math" panose="02040503050406030204" pitchFamily="18" charset="0"/>
                              </a:rPr>
                              <m:t>|1</m:t>
                            </m:r>
                          </m:e>
                        </m:d>
                      </m:e>
                    </m:d>
                  </m:oMath>
                </a14:m>
                <a:endParaRPr lang="en-US" sz="2200" dirty="0"/>
              </a:p>
            </p:txBody>
          </p:sp>
        </mc:Choice>
        <mc:Fallback xmlns="">
          <p:sp>
            <p:nvSpPr>
              <p:cNvPr id="5" name="Rectangle 4">
                <a:extLst>
                  <a:ext uri="{FF2B5EF4-FFF2-40B4-BE49-F238E27FC236}">
                    <a16:creationId xmlns:a16="http://schemas.microsoft.com/office/drawing/2014/main" id="{0380E8FF-4ED2-3946-AA9E-36559E5B5F31}"/>
                  </a:ext>
                </a:extLst>
              </p:cNvPr>
              <p:cNvSpPr>
                <a:spLocks noRot="1" noChangeAspect="1" noMove="1" noResize="1" noEditPoints="1" noAdjustHandles="1" noChangeArrowheads="1" noChangeShapeType="1" noTextEdit="1"/>
              </p:cNvSpPr>
              <p:nvPr/>
            </p:nvSpPr>
            <p:spPr>
              <a:xfrm>
                <a:off x="91518" y="5138986"/>
                <a:ext cx="12071894" cy="586956"/>
              </a:xfrm>
              <a:prstGeom prst="rect">
                <a:avLst/>
              </a:prstGeom>
              <a:blipFill>
                <a:blip r:embed="rId5"/>
                <a:stretch>
                  <a:fillRect l="-210" t="-76596" r="-210" b="-121277"/>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705EF0C4-98E5-D54B-AEFD-B67E3DBFC7FF}"/>
              </a:ext>
            </a:extLst>
          </p:cNvPr>
          <p:cNvSpPr txBox="1"/>
          <p:nvPr/>
        </p:nvSpPr>
        <p:spPr>
          <a:xfrm>
            <a:off x="202506" y="3805371"/>
            <a:ext cx="1830181" cy="646331"/>
          </a:xfrm>
          <a:prstGeom prst="rect">
            <a:avLst/>
          </a:prstGeom>
          <a:noFill/>
        </p:spPr>
        <p:txBody>
          <a:bodyPr wrap="none" rtlCol="0">
            <a:spAutoFit/>
          </a:bodyPr>
          <a:lstStyle/>
          <a:p>
            <a:pPr algn="ctr"/>
            <a:r>
              <a:rPr lang="en-US" dirty="0"/>
              <a:t>Don Coppersmith</a:t>
            </a:r>
          </a:p>
          <a:p>
            <a:pPr algn="ctr"/>
            <a:r>
              <a:rPr lang="en-US" dirty="0"/>
              <a:t>(born 1950)</a:t>
            </a:r>
          </a:p>
        </p:txBody>
      </p:sp>
      <p:pic>
        <p:nvPicPr>
          <p:cNvPr id="11" name="Picture 10">
            <a:extLst>
              <a:ext uri="{FF2B5EF4-FFF2-40B4-BE49-F238E27FC236}">
                <a16:creationId xmlns:a16="http://schemas.microsoft.com/office/drawing/2014/main" id="{5589B0D9-C4DA-D34D-B7C0-7FF834BDA1BE}"/>
              </a:ext>
            </a:extLst>
          </p:cNvPr>
          <p:cNvPicPr>
            <a:picLocks noChangeAspect="1"/>
          </p:cNvPicPr>
          <p:nvPr/>
        </p:nvPicPr>
        <p:blipFill>
          <a:blip r:embed="rId6"/>
          <a:stretch>
            <a:fillRect/>
          </a:stretch>
        </p:blipFill>
        <p:spPr>
          <a:xfrm>
            <a:off x="16982" y="1180266"/>
            <a:ext cx="2201229" cy="2521635"/>
          </a:xfrm>
          <a:prstGeom prst="rect">
            <a:avLst/>
          </a:prstGeom>
        </p:spPr>
      </p:pic>
    </p:spTree>
    <p:extLst>
      <p:ext uri="{BB962C8B-B14F-4D97-AF65-F5344CB8AC3E}">
        <p14:creationId xmlns:p14="http://schemas.microsoft.com/office/powerpoint/2010/main" val="3159142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3BDA5-6B76-364E-AA64-C7C3DD7A61C4}"/>
              </a:ext>
            </a:extLst>
          </p:cNvPr>
          <p:cNvSpPr>
            <a:spLocks noGrp="1"/>
          </p:cNvSpPr>
          <p:nvPr>
            <p:ph type="title"/>
          </p:nvPr>
        </p:nvSpPr>
        <p:spPr/>
        <p:txBody>
          <a:bodyPr/>
          <a:lstStyle/>
          <a:p>
            <a:r>
              <a:rPr lang="en-ZA" dirty="0"/>
              <a:t>QFT from One to Three Qubits</a:t>
            </a:r>
            <a:endParaRPr lang="en-US" dirty="0"/>
          </a:p>
        </p:txBody>
      </p:sp>
      <p:sp>
        <p:nvSpPr>
          <p:cNvPr id="3" name="Slide Number Placeholder 2">
            <a:extLst>
              <a:ext uri="{FF2B5EF4-FFF2-40B4-BE49-F238E27FC236}">
                <a16:creationId xmlns:a16="http://schemas.microsoft.com/office/drawing/2014/main" id="{A467284E-31D9-D848-BD8C-180A163D2F47}"/>
              </a:ext>
            </a:extLst>
          </p:cNvPr>
          <p:cNvSpPr>
            <a:spLocks noGrp="1"/>
          </p:cNvSpPr>
          <p:nvPr>
            <p:ph type="sldNum" sz="quarter" idx="12"/>
          </p:nvPr>
        </p:nvSpPr>
        <p:spPr/>
        <p:txBody>
          <a:bodyPr/>
          <a:lstStyle/>
          <a:p>
            <a:fld id="{591A223C-FA10-BC46-A853-03BA373D023C}" type="slidenum">
              <a:rPr lang="en-US" smtClean="0"/>
              <a:t>62</a:t>
            </a:fld>
            <a:endParaRPr lang="en-US" dirty="0"/>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02A9765C-CE73-A346-ADD5-673153F0C590}"/>
                  </a:ext>
                </a:extLst>
              </p:cNvPr>
              <p:cNvSpPr/>
              <p:nvPr/>
            </p:nvSpPr>
            <p:spPr>
              <a:xfrm>
                <a:off x="379829" y="2066637"/>
                <a:ext cx="4586807" cy="85529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2400" b="0" i="1" smtClean="0">
                              <a:latin typeface="Cambria Math" panose="02040503050406030204" pitchFamily="18" charset="0"/>
                              <a:ea typeface="Cambria Math" panose="02040503050406030204" pitchFamily="18" charset="0"/>
                            </a:rPr>
                          </m:ctrlPr>
                        </m:mPr>
                        <m:mr>
                          <m:e>
                            <m:r>
                              <a:rPr lang="en-US" sz="2400" i="1">
                                <a:latin typeface="Cambria Math" panose="02040503050406030204" pitchFamily="18" charset="0"/>
                                <a:ea typeface="Cambria Math" panose="02040503050406030204" pitchFamily="18" charset="0"/>
                              </a:rPr>
                              <m:t>𝑄𝐹𝑇</m:t>
                            </m:r>
                            <m:r>
                              <a:rPr lang="en-US" sz="2400" b="0" i="1" smtClean="0">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sSub>
                                  <m:sSubPr>
                                    <m:ctrlPr>
                                      <a:rPr lang="en-US" sz="2400" i="1" smtClean="0">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1</m:t>
                                    </m:r>
                                  </m:sub>
                                </m:sSub>
                              </m:e>
                            </m:d>
                            <m:r>
                              <a:rPr lang="en-US" sz="240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ad>
                                  <m:radPr>
                                    <m:degHide m:val="on"/>
                                    <m:ctrlPr>
                                      <a:rPr lang="en-US" sz="2400" i="1">
                                        <a:latin typeface="Cambria Math" panose="02040503050406030204" pitchFamily="18" charset="0"/>
                                        <a:ea typeface="Cambria Math" panose="02040503050406030204" pitchFamily="18" charset="0"/>
                                      </a:rPr>
                                    </m:ctrlPr>
                                  </m:radPr>
                                  <m:deg/>
                                  <m:e>
                                    <m:r>
                                      <a:rPr lang="en-US" sz="2400" i="1">
                                        <a:latin typeface="Cambria Math" panose="02040503050406030204" pitchFamily="18" charset="0"/>
                                        <a:ea typeface="Cambria Math" panose="02040503050406030204" pitchFamily="18" charset="0"/>
                                      </a:rPr>
                                      <m:t>2</m:t>
                                    </m:r>
                                  </m:e>
                                </m:rad>
                              </m:den>
                            </m:f>
                            <m:d>
                              <m:dPr>
                                <m:ctrlPr>
                                  <a:rPr lang="en-US" sz="2400" i="1">
                                    <a:latin typeface="Cambria Math" panose="02040503050406030204" pitchFamily="18" charset="0"/>
                                    <a:ea typeface="Cambria Math" panose="02040503050406030204" pitchFamily="18" charset="0"/>
                                  </a:rPr>
                                </m:ctrlPr>
                              </m:dPr>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b="0" i="1" smtClean="0">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sSub>
                                      <m:sSubPr>
                                        <m:ctrlPr>
                                          <a:rPr lang="en-US" sz="240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[0.</m:t>
                                        </m:r>
                                        <m:r>
                                          <a:rPr lang="en-US" sz="2400" b="0" i="1" smtClean="0">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1</m:t>
                                        </m:r>
                                      </m:sub>
                                    </m:sSub>
                                    <m:r>
                                      <a:rPr lang="en-US" sz="2400" b="0" i="1" smtClean="0">
                                        <a:latin typeface="Cambria Math" panose="02040503050406030204" pitchFamily="18" charset="0"/>
                                        <a:ea typeface="Cambria Math" panose="02040503050406030204" pitchFamily="18" charset="0"/>
                                      </a:rPr>
                                      <m:t>]</m:t>
                                    </m:r>
                                  </m:sup>
                                </m:sSup>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m:t>
                                    </m:r>
                                  </m:e>
                                </m:d>
                              </m:e>
                            </m:d>
                          </m:e>
                        </m:mr>
                      </m:m>
                    </m:oMath>
                  </m:oMathPara>
                </a14:m>
                <a:endParaRPr lang="en-US" sz="2400" dirty="0"/>
              </a:p>
            </p:txBody>
          </p:sp>
        </mc:Choice>
        <mc:Fallback xmlns="">
          <p:sp>
            <p:nvSpPr>
              <p:cNvPr id="4" name="Rectangle 3">
                <a:extLst>
                  <a:ext uri="{FF2B5EF4-FFF2-40B4-BE49-F238E27FC236}">
                    <a16:creationId xmlns:a16="http://schemas.microsoft.com/office/drawing/2014/main" id="{02A9765C-CE73-A346-ADD5-673153F0C590}"/>
                  </a:ext>
                </a:extLst>
              </p:cNvPr>
              <p:cNvSpPr>
                <a:spLocks noRot="1" noChangeAspect="1" noMove="1" noResize="1" noEditPoints="1" noAdjustHandles="1" noChangeArrowheads="1" noChangeShapeType="1" noTextEdit="1"/>
              </p:cNvSpPr>
              <p:nvPr/>
            </p:nvSpPr>
            <p:spPr>
              <a:xfrm>
                <a:off x="379829" y="2066637"/>
                <a:ext cx="4586807" cy="855299"/>
              </a:xfrm>
              <a:prstGeom prst="rect">
                <a:avLst/>
              </a:prstGeom>
              <a:blipFill>
                <a:blip r:embed="rId3"/>
                <a:stretch>
                  <a:fillRect l="-829" t="-47059" r="-4696" b="-808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28111C94-0EE6-494A-B320-C33EDE7D6893}"/>
                  </a:ext>
                </a:extLst>
              </p:cNvPr>
              <p:cNvSpPr/>
              <p:nvPr/>
            </p:nvSpPr>
            <p:spPr>
              <a:xfrm>
                <a:off x="362245" y="3524358"/>
                <a:ext cx="8500561" cy="613886"/>
              </a:xfrm>
              <a:prstGeom prst="rect">
                <a:avLst/>
              </a:prstGeom>
            </p:spPr>
            <p:txBody>
              <a:bodyPr wrap="square">
                <a:spAutoFit/>
              </a:bodyPr>
              <a:lstStyle/>
              <a:p>
                <a14:m>
                  <m:oMath xmlns:m="http://schemas.openxmlformats.org/officeDocument/2006/math">
                    <m:m>
                      <m:mPr>
                        <m:mcs>
                          <m:mc>
                            <m:mcPr>
                              <m:count m:val="1"/>
                              <m:mcJc m:val="center"/>
                            </m:mcPr>
                          </m:mc>
                        </m:mcs>
                        <m:ctrlPr>
                          <a:rPr lang="en-US" sz="2400" b="0" i="1" smtClean="0">
                            <a:latin typeface="Cambria Math" panose="02040503050406030204" pitchFamily="18" charset="0"/>
                            <a:ea typeface="Cambria Math" panose="02040503050406030204" pitchFamily="18" charset="0"/>
                          </a:rPr>
                        </m:ctrlPr>
                      </m:mPr>
                      <m:mr>
                        <m:e>
                          <m:r>
                            <a:rPr lang="en-US" sz="2400" i="1">
                              <a:latin typeface="Cambria Math" panose="02040503050406030204" pitchFamily="18" charset="0"/>
                              <a:ea typeface="Cambria Math" panose="02040503050406030204" pitchFamily="18" charset="0"/>
                            </a:rPr>
                            <m:t>𝑄𝐹𝑇</m:t>
                          </m:r>
                          <m:r>
                            <a:rPr lang="en-US" sz="2400" b="0" i="1" smtClean="0">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1</m:t>
                                  </m:r>
                                </m:sub>
                              </m:sSub>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2</m:t>
                                  </m:r>
                                </m:sub>
                              </m:sSub>
                            </m:e>
                          </m:d>
                          <m:r>
                            <a:rPr lang="en-US" sz="2400" b="0" i="1" smtClean="0">
                              <a:latin typeface="Cambria Math" panose="02040503050406030204" pitchFamily="18" charset="0"/>
                              <a:ea typeface="Cambria Math" panose="02040503050406030204" pitchFamily="18" charset="0"/>
                            </a:rPr>
                            <m:t>=</m:t>
                          </m:r>
                        </m:e>
                      </m:mr>
                    </m:m>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
                          <a:rPr lang="en-US" sz="2400" b="0" i="1" smtClean="0">
                            <a:latin typeface="Cambria Math" panose="02040503050406030204" pitchFamily="18" charset="0"/>
                            <a:ea typeface="Cambria Math" panose="02040503050406030204" pitchFamily="18" charset="0"/>
                          </a:rPr>
                          <m:t>2</m:t>
                        </m:r>
                      </m:den>
                    </m:f>
                    <m:d>
                      <m:dPr>
                        <m:ctrlPr>
                          <a:rPr lang="en-US" sz="2400" i="1">
                            <a:latin typeface="Cambria Math" panose="02040503050406030204" pitchFamily="18" charset="0"/>
                            <a:ea typeface="Cambria Math" panose="02040503050406030204" pitchFamily="18" charset="0"/>
                          </a:rPr>
                        </m:ctrlPr>
                      </m:dPr>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[0.</m:t>
                                </m:r>
                                <m:sSub>
                                  <m:sSubPr>
                                    <m:ctrlPr>
                                      <a:rPr lang="en-US" sz="240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1</m:t>
                                    </m:r>
                                  </m:sub>
                                </m:sSub>
                                <m:r>
                                  <a:rPr lang="en-US"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2</m:t>
                                </m:r>
                              </m:sub>
                            </m:sSub>
                            <m:r>
                              <a:rPr lang="en-US" sz="2400" i="1">
                                <a:latin typeface="Cambria Math" panose="02040503050406030204" pitchFamily="18" charset="0"/>
                                <a:ea typeface="Cambria Math" panose="02040503050406030204" pitchFamily="18" charset="0"/>
                              </a:rPr>
                              <m:t>]</m:t>
                            </m:r>
                          </m:sup>
                        </m:sSup>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m:t>
                            </m:r>
                          </m:e>
                        </m:d>
                      </m:e>
                    </m:d>
                  </m:oMath>
                </a14:m>
                <a:r>
                  <a:rPr lang="en-US" sz="2400" dirty="0">
                    <a:ea typeface="Cambria Math" panose="02040503050406030204" pitchFamily="18"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 </m:t>
                    </m:r>
                    <m:d>
                      <m:dPr>
                        <m:ctrlPr>
                          <a:rPr lang="en-US" sz="2400" i="1">
                            <a:latin typeface="Cambria Math" panose="02040503050406030204" pitchFamily="18" charset="0"/>
                            <a:ea typeface="Cambria Math" panose="02040503050406030204" pitchFamily="18" charset="0"/>
                          </a:rPr>
                        </m:ctrlPr>
                      </m:dPr>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[0.</m:t>
                                </m:r>
                                <m:r>
                                  <a:rPr lang="en-US" sz="2400" i="1">
                                    <a:latin typeface="Cambria Math" panose="02040503050406030204" pitchFamily="18" charset="0"/>
                                    <a:ea typeface="Cambria Math" panose="02040503050406030204" pitchFamily="18" charset="0"/>
                                  </a:rPr>
                                  <m:t>𝑥</m:t>
                                </m:r>
                              </m:e>
                              <m:sub>
                                <m:r>
                                  <a:rPr lang="en-US" sz="2400" i="1">
                                    <a:latin typeface="Cambria Math" panose="02040503050406030204" pitchFamily="18" charset="0"/>
                                    <a:ea typeface="Cambria Math" panose="02040503050406030204" pitchFamily="18" charset="0"/>
                                  </a:rPr>
                                  <m:t>2</m:t>
                                </m:r>
                              </m:sub>
                            </m:sSub>
                            <m:r>
                              <a:rPr lang="en-US" sz="2400" i="1">
                                <a:latin typeface="Cambria Math" panose="02040503050406030204" pitchFamily="18" charset="0"/>
                                <a:ea typeface="Cambria Math" panose="02040503050406030204" pitchFamily="18" charset="0"/>
                              </a:rPr>
                              <m:t>]</m:t>
                            </m:r>
                          </m:sup>
                        </m:sSup>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m:t>
                            </m:r>
                          </m:e>
                        </m:d>
                      </m:e>
                    </m:d>
                  </m:oMath>
                </a14:m>
                <a:endParaRPr lang="en-US" sz="2400" dirty="0"/>
              </a:p>
            </p:txBody>
          </p:sp>
        </mc:Choice>
        <mc:Fallback xmlns="">
          <p:sp>
            <p:nvSpPr>
              <p:cNvPr id="5" name="Rectangle 4">
                <a:extLst>
                  <a:ext uri="{FF2B5EF4-FFF2-40B4-BE49-F238E27FC236}">
                    <a16:creationId xmlns:a16="http://schemas.microsoft.com/office/drawing/2014/main" id="{28111C94-0EE6-494A-B320-C33EDE7D6893}"/>
                  </a:ext>
                </a:extLst>
              </p:cNvPr>
              <p:cNvSpPr>
                <a:spLocks noRot="1" noChangeAspect="1" noMove="1" noResize="1" noEditPoints="1" noAdjustHandles="1" noChangeArrowheads="1" noChangeShapeType="1" noTextEdit="1"/>
              </p:cNvSpPr>
              <p:nvPr/>
            </p:nvSpPr>
            <p:spPr>
              <a:xfrm>
                <a:off x="362245" y="3524358"/>
                <a:ext cx="8500561" cy="613886"/>
              </a:xfrm>
              <a:prstGeom prst="rect">
                <a:avLst/>
              </a:prstGeom>
              <a:blipFill>
                <a:blip r:embed="rId4"/>
                <a:stretch>
                  <a:fillRect l="-597" t="-81633" b="-1387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77F2D13E-0C44-E949-AC27-240717FAF0EC}"/>
                  </a:ext>
                </a:extLst>
              </p:cNvPr>
              <p:cNvSpPr/>
              <p:nvPr/>
            </p:nvSpPr>
            <p:spPr>
              <a:xfrm>
                <a:off x="191192" y="4916677"/>
                <a:ext cx="11716092" cy="8552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2400" b="0" i="1" smtClean="0">
                              <a:latin typeface="Cambria Math" panose="02040503050406030204" pitchFamily="18" charset="0"/>
                              <a:ea typeface="Cambria Math" panose="02040503050406030204" pitchFamily="18" charset="0"/>
                            </a:rPr>
                          </m:ctrlPr>
                        </m:mPr>
                        <m:mr>
                          <m:e>
                            <m:r>
                              <a:rPr lang="en-US" sz="2400" i="1">
                                <a:latin typeface="Cambria Math" panose="02040503050406030204" pitchFamily="18" charset="0"/>
                                <a:ea typeface="Cambria Math" panose="02040503050406030204" pitchFamily="18" charset="0"/>
                              </a:rPr>
                              <m:t>𝑄𝐹𝑇</m:t>
                            </m:r>
                            <m:r>
                              <a:rPr lang="en-US" sz="2400" b="0" i="1" smtClean="0">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1</m:t>
                                    </m:r>
                                  </m:sub>
                                </m:sSub>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2</m:t>
                                    </m:r>
                                  </m:sub>
                                </m:sSub>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3</m:t>
                                    </m:r>
                                  </m:sub>
                                </m:sSub>
                              </m:e>
                            </m:d>
                            <m:r>
                              <a:rPr lang="en-US" sz="2400" b="0" i="1" smtClean="0">
                                <a:latin typeface="Cambria Math" panose="02040503050406030204" pitchFamily="18" charset="0"/>
                                <a:ea typeface="Cambria Math" panose="02040503050406030204" pitchFamily="18" charset="0"/>
                              </a:rPr>
                              <m:t>=</m:t>
                            </m:r>
                          </m:e>
                        </m:mr>
                      </m:m>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ad>
                            <m:radPr>
                              <m:degHide m:val="on"/>
                              <m:ctrlPr>
                                <a:rPr lang="en-US" sz="2400" i="1">
                                  <a:latin typeface="Cambria Math" panose="02040503050406030204" pitchFamily="18" charset="0"/>
                                  <a:ea typeface="Cambria Math" panose="02040503050406030204" pitchFamily="18" charset="0"/>
                                </a:rPr>
                              </m:ctrlPr>
                            </m:radPr>
                            <m:deg/>
                            <m:e>
                              <m:r>
                                <a:rPr lang="en-US" sz="2400" b="0" i="1" smtClean="0">
                                  <a:latin typeface="Cambria Math" panose="02040503050406030204" pitchFamily="18" charset="0"/>
                                  <a:ea typeface="Cambria Math" panose="02040503050406030204" pitchFamily="18" charset="0"/>
                                </a:rPr>
                                <m:t>8</m:t>
                              </m:r>
                            </m:e>
                          </m:rad>
                        </m:den>
                      </m:f>
                      <m:d>
                        <m:dPr>
                          <m:ctrlPr>
                            <a:rPr lang="en-US" sz="2400" i="1">
                              <a:latin typeface="Cambria Math" panose="02040503050406030204" pitchFamily="18" charset="0"/>
                              <a:ea typeface="Cambria Math" panose="02040503050406030204" pitchFamily="18" charset="0"/>
                            </a:rPr>
                          </m:ctrlPr>
                        </m:dPr>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[0.</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1</m:t>
                                      </m:r>
                                    </m:sub>
                                  </m:sSub>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i="1">
                                          <a:latin typeface="Cambria Math" panose="02040503050406030204" pitchFamily="18" charset="0"/>
                                          <a:ea typeface="Cambria Math" panose="02040503050406030204" pitchFamily="18" charset="0"/>
                                        </a:rPr>
                                        <m:t>2</m:t>
                                      </m:r>
                                    </m:sub>
                                  </m:sSub>
                                  <m:r>
                                    <a:rPr lang="en-US"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3</m:t>
                                  </m:r>
                                </m:sub>
                              </m:sSub>
                              <m:r>
                                <a:rPr lang="en-US" sz="2400" i="1">
                                  <a:latin typeface="Cambria Math" panose="02040503050406030204" pitchFamily="18" charset="0"/>
                                  <a:ea typeface="Cambria Math" panose="02040503050406030204" pitchFamily="18" charset="0"/>
                                </a:rPr>
                                <m:t>]</m:t>
                              </m:r>
                            </m:sup>
                          </m:sSup>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m:t>
                              </m:r>
                            </m:e>
                          </m:d>
                        </m:e>
                      </m:d>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[0.</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2</m:t>
                                      </m:r>
                                    </m:sub>
                                  </m:sSub>
                                  <m:r>
                                    <a:rPr lang="en-US"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3</m:t>
                                  </m:r>
                                </m:sub>
                              </m:sSub>
                              <m:r>
                                <a:rPr lang="en-US" sz="2400" i="1">
                                  <a:latin typeface="Cambria Math" panose="02040503050406030204" pitchFamily="18" charset="0"/>
                                  <a:ea typeface="Cambria Math" panose="02040503050406030204" pitchFamily="18" charset="0"/>
                                </a:rPr>
                                <m:t>]</m:t>
                              </m:r>
                            </m:sup>
                          </m:sSup>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m:t>
                              </m:r>
                            </m:e>
                          </m:d>
                        </m:e>
                      </m:d>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[0.</m:t>
                                  </m:r>
                                  <m:r>
                                    <a:rPr lang="en-US" sz="2400" i="1">
                                      <a:latin typeface="Cambria Math" panose="02040503050406030204" pitchFamily="18" charset="0"/>
                                      <a:ea typeface="Cambria Math" panose="02040503050406030204" pitchFamily="18" charset="0"/>
                                    </a:rPr>
                                    <m:t>𝑥</m:t>
                                  </m:r>
                                </m:e>
                                <m:sub>
                                  <m:r>
                                    <a:rPr lang="en-US" sz="2400" i="1">
                                      <a:latin typeface="Cambria Math" panose="02040503050406030204" pitchFamily="18" charset="0"/>
                                      <a:ea typeface="Cambria Math" panose="02040503050406030204" pitchFamily="18" charset="0"/>
                                    </a:rPr>
                                    <m:t>3</m:t>
                                  </m:r>
                                </m:sub>
                              </m:sSub>
                              <m:r>
                                <a:rPr lang="en-US" sz="2400" i="1">
                                  <a:latin typeface="Cambria Math" panose="02040503050406030204" pitchFamily="18" charset="0"/>
                                  <a:ea typeface="Cambria Math" panose="02040503050406030204" pitchFamily="18" charset="0"/>
                                </a:rPr>
                                <m:t>]</m:t>
                              </m:r>
                            </m:sup>
                          </m:sSup>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m:t>
                              </m:r>
                            </m:e>
                          </m:d>
                        </m:e>
                      </m:d>
                    </m:oMath>
                  </m:oMathPara>
                </a14:m>
                <a:endParaRPr lang="en-US" sz="2400" dirty="0"/>
              </a:p>
            </p:txBody>
          </p:sp>
        </mc:Choice>
        <mc:Fallback xmlns="">
          <p:sp>
            <p:nvSpPr>
              <p:cNvPr id="8" name="Rectangle 7">
                <a:extLst>
                  <a:ext uri="{FF2B5EF4-FFF2-40B4-BE49-F238E27FC236}">
                    <a16:creationId xmlns:a16="http://schemas.microsoft.com/office/drawing/2014/main" id="{77F2D13E-0C44-E949-AC27-240717FAF0EC}"/>
                  </a:ext>
                </a:extLst>
              </p:cNvPr>
              <p:cNvSpPr>
                <a:spLocks noRot="1" noChangeAspect="1" noMove="1" noResize="1" noEditPoints="1" noAdjustHandles="1" noChangeArrowheads="1" noChangeShapeType="1" noTextEdit="1"/>
              </p:cNvSpPr>
              <p:nvPr/>
            </p:nvSpPr>
            <p:spPr>
              <a:xfrm>
                <a:off x="191192" y="4916677"/>
                <a:ext cx="11716092" cy="855299"/>
              </a:xfrm>
              <a:prstGeom prst="rect">
                <a:avLst/>
              </a:prstGeom>
              <a:blipFill>
                <a:blip r:embed="rId5"/>
                <a:stretch>
                  <a:fillRect t="-45588" r="-1082" b="-852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D5BFF18-6E8B-B641-9742-19986D778FE6}"/>
                  </a:ext>
                </a:extLst>
              </p:cNvPr>
              <p:cNvSpPr txBox="1"/>
              <p:nvPr/>
            </p:nvSpPr>
            <p:spPr>
              <a:xfrm>
                <a:off x="379830" y="1386722"/>
                <a:ext cx="1407886"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200" i="1" smtClean="0">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𝑥</m:t>
                          </m:r>
                        </m:e>
                        <m:sub>
                          <m:r>
                            <a:rPr lang="en-US" sz="2200" b="0" i="1" smtClean="0">
                              <a:latin typeface="Cambria Math" panose="02040503050406030204" pitchFamily="18" charset="0"/>
                              <a:ea typeface="Cambria Math" panose="02040503050406030204" pitchFamily="18" charset="0"/>
                            </a:rPr>
                            <m:t>𝑖</m:t>
                          </m:r>
                        </m:sub>
                      </m:sSub>
                      <m:r>
                        <a:rPr lang="en-US" sz="2200" i="1" smtClean="0">
                          <a:latin typeface="Cambria Math" panose="02040503050406030204" pitchFamily="18" charset="0"/>
                          <a:ea typeface="Cambria Math" panose="02040503050406030204" pitchFamily="18" charset="0"/>
                        </a:rPr>
                        <m:t>∈</m:t>
                      </m:r>
                      <m:d>
                        <m:dPr>
                          <m:begChr m:val="{"/>
                          <m:endChr m:val="}"/>
                          <m:ctrlPr>
                            <a:rPr lang="en-US" sz="2200" i="1" smtClean="0">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0,1</m:t>
                          </m:r>
                        </m:e>
                      </m:d>
                    </m:oMath>
                  </m:oMathPara>
                </a14:m>
                <a:endParaRPr lang="en-US" sz="2200" dirty="0"/>
              </a:p>
            </p:txBody>
          </p:sp>
        </mc:Choice>
        <mc:Fallback xmlns="">
          <p:sp>
            <p:nvSpPr>
              <p:cNvPr id="6" name="TextBox 5">
                <a:extLst>
                  <a:ext uri="{FF2B5EF4-FFF2-40B4-BE49-F238E27FC236}">
                    <a16:creationId xmlns:a16="http://schemas.microsoft.com/office/drawing/2014/main" id="{2D5BFF18-6E8B-B641-9742-19986D778FE6}"/>
                  </a:ext>
                </a:extLst>
              </p:cNvPr>
              <p:cNvSpPr txBox="1">
                <a:spLocks noRot="1" noChangeAspect="1" noMove="1" noResize="1" noEditPoints="1" noAdjustHandles="1" noChangeArrowheads="1" noChangeShapeType="1" noTextEdit="1"/>
              </p:cNvSpPr>
              <p:nvPr/>
            </p:nvSpPr>
            <p:spPr>
              <a:xfrm>
                <a:off x="379830" y="1386722"/>
                <a:ext cx="1407886" cy="430887"/>
              </a:xfrm>
              <a:prstGeom prst="rect">
                <a:avLst/>
              </a:prstGeom>
              <a:blipFill>
                <a:blip r:embed="rId6"/>
                <a:stretch>
                  <a:fillRect b="-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117B38B-A1F8-EE41-84B9-6E756A479D2F}"/>
                  </a:ext>
                </a:extLst>
              </p:cNvPr>
              <p:cNvSpPr txBox="1"/>
              <p:nvPr/>
            </p:nvSpPr>
            <p:spPr>
              <a:xfrm>
                <a:off x="3379983" y="1634828"/>
                <a:ext cx="1586653" cy="564898"/>
              </a:xfrm>
              <a:prstGeom prst="rect">
                <a:avLst/>
              </a:prstGeom>
              <a:solidFill>
                <a:schemeClr val="accent4">
                  <a:lumMod val="20000"/>
                  <a:lumOff val="80000"/>
                </a:scheme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𝑖</m:t>
                      </m:r>
                      <m:f>
                        <m:fPr>
                          <m:ctrlPr>
                            <a:rPr lang="en-US" i="1" smtClean="0">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1</m:t>
                              </m:r>
                            </m:sub>
                          </m:sSub>
                        </m:num>
                        <m:den>
                          <m:r>
                            <a:rPr lang="sr-Latn-RS" b="0" i="1" smtClean="0">
                              <a:latin typeface="Cambria Math" panose="02040503050406030204" pitchFamily="18" charset="0"/>
                              <a:ea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𝑖</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1</m:t>
                          </m:r>
                        </m:sub>
                      </m:sSub>
                    </m:oMath>
                  </m:oMathPara>
                </a14:m>
                <a:endParaRPr lang="en-US" dirty="0"/>
              </a:p>
            </p:txBody>
          </p:sp>
        </mc:Choice>
        <mc:Fallback xmlns="">
          <p:sp>
            <p:nvSpPr>
              <p:cNvPr id="7" name="TextBox 6">
                <a:extLst>
                  <a:ext uri="{FF2B5EF4-FFF2-40B4-BE49-F238E27FC236}">
                    <a16:creationId xmlns:a16="http://schemas.microsoft.com/office/drawing/2014/main" id="{D117B38B-A1F8-EE41-84B9-6E756A479D2F}"/>
                  </a:ext>
                </a:extLst>
              </p:cNvPr>
              <p:cNvSpPr txBox="1">
                <a:spLocks noRot="1" noChangeAspect="1" noMove="1" noResize="1" noEditPoints="1" noAdjustHandles="1" noChangeArrowheads="1" noChangeShapeType="1" noTextEdit="1"/>
              </p:cNvSpPr>
              <p:nvPr/>
            </p:nvSpPr>
            <p:spPr>
              <a:xfrm>
                <a:off x="3379983" y="1634828"/>
                <a:ext cx="1586653" cy="564898"/>
              </a:xfrm>
              <a:prstGeom prst="rect">
                <a:avLst/>
              </a:prstGeom>
              <a:blipFill>
                <a:blip r:embed="rId7"/>
                <a:stretch>
                  <a:fillRect b="-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D5F7348-7E35-7444-8952-81F9AF450BA6}"/>
                  </a:ext>
                </a:extLst>
              </p:cNvPr>
              <p:cNvSpPr txBox="1"/>
              <p:nvPr/>
            </p:nvSpPr>
            <p:spPr>
              <a:xfrm>
                <a:off x="6654728" y="3001721"/>
                <a:ext cx="850105" cy="564898"/>
              </a:xfrm>
              <a:prstGeom prst="rect">
                <a:avLst/>
              </a:prstGeom>
              <a:solidFill>
                <a:schemeClr val="accent4">
                  <a:lumMod val="20000"/>
                  <a:lumOff val="80000"/>
                </a:scheme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𝑖</m:t>
                      </m:r>
                      <m:f>
                        <m:fPr>
                          <m:ctrlPr>
                            <a:rPr lang="en-US" i="1" smtClean="0">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sr-Latn-RS" b="0" i="1" smtClean="0">
                                  <a:latin typeface="Cambria Math" panose="02040503050406030204" pitchFamily="18" charset="0"/>
                                  <a:ea typeface="Cambria Math" panose="02040503050406030204" pitchFamily="18" charset="0"/>
                                </a:rPr>
                                <m:t>2</m:t>
                              </m:r>
                            </m:sub>
                          </m:sSub>
                        </m:num>
                        <m:den>
                          <m:r>
                            <a:rPr lang="sr-Latn-RS" b="0" i="1" smtClean="0">
                              <a:latin typeface="Cambria Math" panose="02040503050406030204" pitchFamily="18" charset="0"/>
                              <a:ea typeface="Cambria Math" panose="02040503050406030204" pitchFamily="18" charset="0"/>
                            </a:rPr>
                            <m:t>2</m:t>
                          </m:r>
                        </m:den>
                      </m:f>
                    </m:oMath>
                  </m:oMathPara>
                </a14:m>
                <a:endParaRPr lang="en-US" dirty="0"/>
              </a:p>
            </p:txBody>
          </p:sp>
        </mc:Choice>
        <mc:Fallback xmlns="">
          <p:sp>
            <p:nvSpPr>
              <p:cNvPr id="9" name="TextBox 8">
                <a:extLst>
                  <a:ext uri="{FF2B5EF4-FFF2-40B4-BE49-F238E27FC236}">
                    <a16:creationId xmlns:a16="http://schemas.microsoft.com/office/drawing/2014/main" id="{ED5F7348-7E35-7444-8952-81F9AF450BA6}"/>
                  </a:ext>
                </a:extLst>
              </p:cNvPr>
              <p:cNvSpPr txBox="1">
                <a:spLocks noRot="1" noChangeAspect="1" noMove="1" noResize="1" noEditPoints="1" noAdjustHandles="1" noChangeArrowheads="1" noChangeShapeType="1" noTextEdit="1"/>
              </p:cNvSpPr>
              <p:nvPr/>
            </p:nvSpPr>
            <p:spPr>
              <a:xfrm>
                <a:off x="6654728" y="3001721"/>
                <a:ext cx="850105" cy="564898"/>
              </a:xfrm>
              <a:prstGeom prst="rect">
                <a:avLst/>
              </a:prstGeom>
              <a:blipFill>
                <a:blip r:embed="rId8"/>
                <a:stretch>
                  <a:fillRect b="-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735BA18-7B66-144C-BB04-FAE83E600CCF}"/>
                  </a:ext>
                </a:extLst>
              </p:cNvPr>
              <p:cNvSpPr txBox="1"/>
              <p:nvPr/>
            </p:nvSpPr>
            <p:spPr>
              <a:xfrm>
                <a:off x="3331317" y="3043981"/>
                <a:ext cx="1635319" cy="564898"/>
              </a:xfrm>
              <a:prstGeom prst="rect">
                <a:avLst/>
              </a:prstGeom>
              <a:solidFill>
                <a:schemeClr val="accent4">
                  <a:lumMod val="20000"/>
                  <a:lumOff val="80000"/>
                </a:scheme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𝑖</m:t>
                      </m:r>
                      <m:d>
                        <m:dPr>
                          <m:ctrlPr>
                            <a:rPr lang="en-US" i="1" smtClean="0">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1</m:t>
                                  </m:r>
                                </m:sub>
                              </m:sSub>
                            </m:num>
                            <m:den>
                              <m:r>
                                <a:rPr lang="en-US" b="0" i="1" smtClean="0">
                                  <a:latin typeface="Cambria Math" panose="02040503050406030204" pitchFamily="18" charset="0"/>
                                  <a:ea typeface="Cambria Math" panose="02040503050406030204" pitchFamily="18" charset="0"/>
                                </a:rPr>
                                <m:t>2</m:t>
                              </m:r>
                            </m:den>
                          </m:f>
                          <m:r>
                            <a:rPr lang="sr-Latn-R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2</m:t>
                                  </m:r>
                                </m:sub>
                              </m:sSub>
                            </m:num>
                            <m:den>
                              <m:r>
                                <a:rPr lang="en-US" b="0" i="1" smtClean="0">
                                  <a:latin typeface="Cambria Math" panose="02040503050406030204" pitchFamily="18" charset="0"/>
                                  <a:ea typeface="Cambria Math" panose="02040503050406030204" pitchFamily="18" charset="0"/>
                                </a:rPr>
                                <m:t>4</m:t>
                              </m:r>
                            </m:den>
                          </m:f>
                        </m:e>
                      </m:d>
                    </m:oMath>
                  </m:oMathPara>
                </a14:m>
                <a:endParaRPr lang="en-US" dirty="0"/>
              </a:p>
            </p:txBody>
          </p:sp>
        </mc:Choice>
        <mc:Fallback xmlns="">
          <p:sp>
            <p:nvSpPr>
              <p:cNvPr id="10" name="TextBox 9">
                <a:extLst>
                  <a:ext uri="{FF2B5EF4-FFF2-40B4-BE49-F238E27FC236}">
                    <a16:creationId xmlns:a16="http://schemas.microsoft.com/office/drawing/2014/main" id="{6735BA18-7B66-144C-BB04-FAE83E600CCF}"/>
                  </a:ext>
                </a:extLst>
              </p:cNvPr>
              <p:cNvSpPr txBox="1">
                <a:spLocks noRot="1" noChangeAspect="1" noMove="1" noResize="1" noEditPoints="1" noAdjustHandles="1" noChangeArrowheads="1" noChangeShapeType="1" noTextEdit="1"/>
              </p:cNvSpPr>
              <p:nvPr/>
            </p:nvSpPr>
            <p:spPr>
              <a:xfrm>
                <a:off x="3331317" y="3043981"/>
                <a:ext cx="1635319" cy="564898"/>
              </a:xfrm>
              <a:prstGeom prst="rect">
                <a:avLst/>
              </a:prstGeom>
              <a:blipFill>
                <a:blip r:embed="rId9"/>
                <a:stretch>
                  <a:fillRect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8BDFD1D-C5FA-0E4E-99A9-644796EB8C39}"/>
                  </a:ext>
                </a:extLst>
              </p:cNvPr>
              <p:cNvSpPr txBox="1"/>
              <p:nvPr/>
            </p:nvSpPr>
            <p:spPr>
              <a:xfrm>
                <a:off x="10208230" y="4534101"/>
                <a:ext cx="850105" cy="564898"/>
              </a:xfrm>
              <a:prstGeom prst="rect">
                <a:avLst/>
              </a:prstGeom>
              <a:solidFill>
                <a:schemeClr val="accent4">
                  <a:lumMod val="20000"/>
                  <a:lumOff val="80000"/>
                </a:scheme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𝑖</m:t>
                      </m:r>
                      <m:f>
                        <m:fPr>
                          <m:ctrlPr>
                            <a:rPr lang="en-US" i="1" smtClean="0">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sr-Latn-RS" b="0" i="1" smtClean="0">
                                  <a:latin typeface="Cambria Math" panose="02040503050406030204" pitchFamily="18" charset="0"/>
                                  <a:ea typeface="Cambria Math" panose="02040503050406030204" pitchFamily="18" charset="0"/>
                                </a:rPr>
                                <m:t>3</m:t>
                              </m:r>
                            </m:sub>
                          </m:sSub>
                        </m:num>
                        <m:den>
                          <m:r>
                            <a:rPr lang="sr-Latn-RS" b="0" i="1" smtClean="0">
                              <a:latin typeface="Cambria Math" panose="02040503050406030204" pitchFamily="18" charset="0"/>
                              <a:ea typeface="Cambria Math" panose="02040503050406030204" pitchFamily="18" charset="0"/>
                            </a:rPr>
                            <m:t>2</m:t>
                          </m:r>
                        </m:den>
                      </m:f>
                    </m:oMath>
                  </m:oMathPara>
                </a14:m>
                <a:endParaRPr lang="en-US" dirty="0"/>
              </a:p>
            </p:txBody>
          </p:sp>
        </mc:Choice>
        <mc:Fallback xmlns="">
          <p:sp>
            <p:nvSpPr>
              <p:cNvPr id="11" name="TextBox 10">
                <a:extLst>
                  <a:ext uri="{FF2B5EF4-FFF2-40B4-BE49-F238E27FC236}">
                    <a16:creationId xmlns:a16="http://schemas.microsoft.com/office/drawing/2014/main" id="{B8BDFD1D-C5FA-0E4E-99A9-644796EB8C39}"/>
                  </a:ext>
                </a:extLst>
              </p:cNvPr>
              <p:cNvSpPr txBox="1">
                <a:spLocks noRot="1" noChangeAspect="1" noMove="1" noResize="1" noEditPoints="1" noAdjustHandles="1" noChangeArrowheads="1" noChangeShapeType="1" noTextEdit="1"/>
              </p:cNvSpPr>
              <p:nvPr/>
            </p:nvSpPr>
            <p:spPr>
              <a:xfrm>
                <a:off x="10208230" y="4534101"/>
                <a:ext cx="850105" cy="564898"/>
              </a:xfrm>
              <a:prstGeom prst="rect">
                <a:avLst/>
              </a:prstGeom>
              <a:blipFill>
                <a:blip r:embed="rId10"/>
                <a:stretch>
                  <a:fillRect b="-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38B48FD-6F08-9B43-99CF-978B54FA0FB8}"/>
                  </a:ext>
                </a:extLst>
              </p:cNvPr>
              <p:cNvSpPr txBox="1"/>
              <p:nvPr/>
            </p:nvSpPr>
            <p:spPr>
              <a:xfrm>
                <a:off x="6506170" y="4534101"/>
                <a:ext cx="1635319" cy="564898"/>
              </a:xfrm>
              <a:prstGeom prst="rect">
                <a:avLst/>
              </a:prstGeom>
              <a:solidFill>
                <a:schemeClr val="accent4">
                  <a:lumMod val="20000"/>
                  <a:lumOff val="80000"/>
                </a:scheme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𝑖</m:t>
                      </m:r>
                      <m:d>
                        <m:dPr>
                          <m:ctrlPr>
                            <a:rPr lang="en-US" i="1" smtClean="0">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2</m:t>
                                  </m:r>
                                </m:sub>
                              </m:sSub>
                            </m:num>
                            <m:den>
                              <m:r>
                                <a:rPr lang="sr-Latn-RS" i="1">
                                  <a:latin typeface="Cambria Math" panose="02040503050406030204" pitchFamily="18" charset="0"/>
                                  <a:ea typeface="Cambria Math" panose="02040503050406030204" pitchFamily="18" charset="0"/>
                                </a:rPr>
                                <m:t>2</m:t>
                              </m:r>
                            </m:den>
                          </m:f>
                          <m:r>
                            <a:rPr lang="sr-Latn-R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3</m:t>
                                  </m:r>
                                </m:sub>
                              </m:sSub>
                            </m:num>
                            <m:den>
                              <m:r>
                                <a:rPr lang="sr-Latn-RS" b="0" i="1" smtClean="0">
                                  <a:latin typeface="Cambria Math" panose="02040503050406030204" pitchFamily="18" charset="0"/>
                                  <a:ea typeface="Cambria Math" panose="02040503050406030204" pitchFamily="18" charset="0"/>
                                </a:rPr>
                                <m:t>4</m:t>
                              </m:r>
                            </m:den>
                          </m:f>
                        </m:e>
                      </m:d>
                    </m:oMath>
                  </m:oMathPara>
                </a14:m>
                <a:endParaRPr lang="en-US" dirty="0"/>
              </a:p>
            </p:txBody>
          </p:sp>
        </mc:Choice>
        <mc:Fallback xmlns="">
          <p:sp>
            <p:nvSpPr>
              <p:cNvPr id="12" name="TextBox 11">
                <a:extLst>
                  <a:ext uri="{FF2B5EF4-FFF2-40B4-BE49-F238E27FC236}">
                    <a16:creationId xmlns:a16="http://schemas.microsoft.com/office/drawing/2014/main" id="{138B48FD-6F08-9B43-99CF-978B54FA0FB8}"/>
                  </a:ext>
                </a:extLst>
              </p:cNvPr>
              <p:cNvSpPr txBox="1">
                <a:spLocks noRot="1" noChangeAspect="1" noMove="1" noResize="1" noEditPoints="1" noAdjustHandles="1" noChangeArrowheads="1" noChangeShapeType="1" noTextEdit="1"/>
              </p:cNvSpPr>
              <p:nvPr/>
            </p:nvSpPr>
            <p:spPr>
              <a:xfrm>
                <a:off x="6506170" y="4534101"/>
                <a:ext cx="1635319" cy="564898"/>
              </a:xfrm>
              <a:prstGeom prst="rect">
                <a:avLst/>
              </a:prstGeom>
              <a:blipFill>
                <a:blip r:embed="rId11"/>
                <a:stretch>
                  <a:fillRect b="-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1217511-87F0-DC42-9CEB-19513EEBB2DE}"/>
                  </a:ext>
                </a:extLst>
              </p:cNvPr>
              <p:cNvSpPr txBox="1"/>
              <p:nvPr/>
            </p:nvSpPr>
            <p:spPr>
              <a:xfrm>
                <a:off x="3540083" y="4458217"/>
                <a:ext cx="2144883" cy="564898"/>
              </a:xfrm>
              <a:prstGeom prst="rect">
                <a:avLst/>
              </a:prstGeom>
              <a:solidFill>
                <a:schemeClr val="accent4">
                  <a:lumMod val="20000"/>
                  <a:lumOff val="80000"/>
                </a:scheme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𝑖</m:t>
                      </m:r>
                      <m:d>
                        <m:dPr>
                          <m:ctrlPr>
                            <a:rPr lang="en-US" i="1" smtClean="0">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1</m:t>
                                  </m:r>
                                </m:sub>
                              </m:sSub>
                            </m:num>
                            <m:den>
                              <m:r>
                                <a:rPr lang="sr-Latn-RS" i="1">
                                  <a:latin typeface="Cambria Math" panose="02040503050406030204" pitchFamily="18" charset="0"/>
                                  <a:ea typeface="Cambria Math" panose="02040503050406030204" pitchFamily="18" charset="0"/>
                                </a:rPr>
                                <m:t>2</m:t>
                              </m:r>
                            </m:den>
                          </m:f>
                          <m:r>
                            <a:rPr lang="sr-Latn-R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sr-Latn-RS" b="0" i="1" smtClean="0">
                                      <a:latin typeface="Cambria Math" panose="02040503050406030204" pitchFamily="18" charset="0"/>
                                      <a:ea typeface="Cambria Math" panose="02040503050406030204" pitchFamily="18" charset="0"/>
                                    </a:rPr>
                                    <m:t>2</m:t>
                                  </m:r>
                                </m:sub>
                              </m:sSub>
                            </m:num>
                            <m:den>
                              <m:r>
                                <a:rPr lang="sr-Latn-RS" b="0" i="1" smtClean="0">
                                  <a:latin typeface="Cambria Math" panose="02040503050406030204" pitchFamily="18" charset="0"/>
                                  <a:ea typeface="Cambria Math" panose="02040503050406030204" pitchFamily="18" charset="0"/>
                                </a:rPr>
                                <m:t>4</m:t>
                              </m:r>
                            </m:den>
                          </m:f>
                          <m:r>
                            <a:rPr lang="sr-Latn-R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3</m:t>
                                  </m:r>
                                </m:sub>
                              </m:sSub>
                            </m:num>
                            <m:den>
                              <m:r>
                                <a:rPr lang="sr-Latn-RS" b="0" i="1" smtClean="0">
                                  <a:latin typeface="Cambria Math" panose="02040503050406030204" pitchFamily="18" charset="0"/>
                                  <a:ea typeface="Cambria Math" panose="02040503050406030204" pitchFamily="18" charset="0"/>
                                </a:rPr>
                                <m:t>8</m:t>
                              </m:r>
                            </m:den>
                          </m:f>
                        </m:e>
                      </m:d>
                    </m:oMath>
                  </m:oMathPara>
                </a14:m>
                <a:endParaRPr lang="en-US" dirty="0"/>
              </a:p>
            </p:txBody>
          </p:sp>
        </mc:Choice>
        <mc:Fallback xmlns="">
          <p:sp>
            <p:nvSpPr>
              <p:cNvPr id="13" name="TextBox 12">
                <a:extLst>
                  <a:ext uri="{FF2B5EF4-FFF2-40B4-BE49-F238E27FC236}">
                    <a16:creationId xmlns:a16="http://schemas.microsoft.com/office/drawing/2014/main" id="{B1217511-87F0-DC42-9CEB-19513EEBB2DE}"/>
                  </a:ext>
                </a:extLst>
              </p:cNvPr>
              <p:cNvSpPr txBox="1">
                <a:spLocks noRot="1" noChangeAspect="1" noMove="1" noResize="1" noEditPoints="1" noAdjustHandles="1" noChangeArrowheads="1" noChangeShapeType="1" noTextEdit="1"/>
              </p:cNvSpPr>
              <p:nvPr/>
            </p:nvSpPr>
            <p:spPr>
              <a:xfrm>
                <a:off x="3540083" y="4458217"/>
                <a:ext cx="2144883" cy="564898"/>
              </a:xfrm>
              <a:prstGeom prst="rect">
                <a:avLst/>
              </a:prstGeom>
              <a:blipFill>
                <a:blip r:embed="rId12"/>
                <a:stretch>
                  <a:fillRect b="-2174"/>
                </a:stretch>
              </a:blipFill>
            </p:spPr>
            <p:txBody>
              <a:bodyPr/>
              <a:lstStyle/>
              <a:p>
                <a:r>
                  <a:rPr lang="en-US">
                    <a:noFill/>
                  </a:rPr>
                  <a:t> </a:t>
                </a:r>
              </a:p>
            </p:txBody>
          </p:sp>
        </mc:Fallback>
      </mc:AlternateContent>
    </p:spTree>
    <p:extLst>
      <p:ext uri="{BB962C8B-B14F-4D97-AF65-F5344CB8AC3E}">
        <p14:creationId xmlns:p14="http://schemas.microsoft.com/office/powerpoint/2010/main" val="34298571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DD4FA-F255-0A4B-B126-AEBABA8BD1AE}"/>
              </a:ext>
            </a:extLst>
          </p:cNvPr>
          <p:cNvSpPr>
            <a:spLocks noGrp="1"/>
          </p:cNvSpPr>
          <p:nvPr>
            <p:ph type="title"/>
          </p:nvPr>
        </p:nvSpPr>
        <p:spPr/>
        <p:txBody>
          <a:bodyPr/>
          <a:lstStyle/>
          <a:p>
            <a:r>
              <a:rPr lang="en-ZA" dirty="0"/>
              <a:t>Quantum Gates for the QFT</a:t>
            </a:r>
            <a:endParaRPr lang="en-US" dirty="0"/>
          </a:p>
        </p:txBody>
      </p:sp>
      <p:sp>
        <p:nvSpPr>
          <p:cNvPr id="3" name="Slide Number Placeholder 2">
            <a:extLst>
              <a:ext uri="{FF2B5EF4-FFF2-40B4-BE49-F238E27FC236}">
                <a16:creationId xmlns:a16="http://schemas.microsoft.com/office/drawing/2014/main" id="{8DC687BC-C709-0F4E-99F4-5B9D17E8345D}"/>
              </a:ext>
            </a:extLst>
          </p:cNvPr>
          <p:cNvSpPr>
            <a:spLocks noGrp="1"/>
          </p:cNvSpPr>
          <p:nvPr>
            <p:ph type="sldNum" sz="quarter" idx="12"/>
          </p:nvPr>
        </p:nvSpPr>
        <p:spPr/>
        <p:txBody>
          <a:bodyPr/>
          <a:lstStyle/>
          <a:p>
            <a:fld id="{591A223C-FA10-BC46-A853-03BA373D023C}" type="slidenum">
              <a:rPr lang="en-US" smtClean="0"/>
              <a:t>63</a:t>
            </a:fld>
            <a:endParaRPr lang="en-US"/>
          </a:p>
        </p:txBody>
      </p:sp>
      <p:grpSp>
        <p:nvGrpSpPr>
          <p:cNvPr id="9" name="Group 8">
            <a:extLst>
              <a:ext uri="{FF2B5EF4-FFF2-40B4-BE49-F238E27FC236}">
                <a16:creationId xmlns:a16="http://schemas.microsoft.com/office/drawing/2014/main" id="{57F88D93-22CF-384E-BC51-91C1687DDB20}"/>
              </a:ext>
            </a:extLst>
          </p:cNvPr>
          <p:cNvGrpSpPr/>
          <p:nvPr/>
        </p:nvGrpSpPr>
        <p:grpSpPr>
          <a:xfrm>
            <a:off x="301905" y="2294340"/>
            <a:ext cx="7625167" cy="2424517"/>
            <a:chOff x="301905" y="2675340"/>
            <a:chExt cx="7625167" cy="2424517"/>
          </a:xfrm>
        </p:grpSpPr>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ADB6887A-C9B3-2244-B498-B73A8594931D}"/>
                    </a:ext>
                  </a:extLst>
                </p:cNvPr>
                <p:cNvSpPr/>
                <p:nvPr/>
              </p:nvSpPr>
              <p:spPr>
                <a:xfrm>
                  <a:off x="4431678" y="2675340"/>
                  <a:ext cx="397225" cy="4924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600" b="0" i="1" smtClean="0">
                            <a:latin typeface="Cambria Math" panose="02040503050406030204" pitchFamily="18" charset="0"/>
                            <a:ea typeface="Cambria Math" panose="02040503050406030204" pitchFamily="18" charset="0"/>
                          </a:rPr>
                          <m:t>𝐼</m:t>
                        </m:r>
                      </m:oMath>
                    </m:oMathPara>
                  </a14:m>
                  <a:endParaRPr lang="en-US" sz="2600" dirty="0"/>
                </a:p>
              </p:txBody>
            </p:sp>
          </mc:Choice>
          <mc:Fallback xmlns="">
            <p:sp>
              <p:nvSpPr>
                <p:cNvPr id="15" name="Rectangle 14">
                  <a:extLst>
                    <a:ext uri="{FF2B5EF4-FFF2-40B4-BE49-F238E27FC236}">
                      <a16:creationId xmlns:a16="http://schemas.microsoft.com/office/drawing/2014/main" id="{ADB6887A-C9B3-2244-B498-B73A8594931D}"/>
                    </a:ext>
                  </a:extLst>
                </p:cNvPr>
                <p:cNvSpPr>
                  <a:spLocks noRot="1" noChangeAspect="1" noMove="1" noResize="1" noEditPoints="1" noAdjustHandles="1" noChangeArrowheads="1" noChangeShapeType="1" noTextEdit="1"/>
                </p:cNvSpPr>
                <p:nvPr/>
              </p:nvSpPr>
              <p:spPr>
                <a:xfrm>
                  <a:off x="4431678" y="2675340"/>
                  <a:ext cx="397225" cy="49244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680871C4-D5E0-EC4C-AA95-6FEEDD73C661}"/>
                    </a:ext>
                  </a:extLst>
                </p:cNvPr>
                <p:cNvSpPr/>
                <p:nvPr/>
              </p:nvSpPr>
              <p:spPr>
                <a:xfrm>
                  <a:off x="5543191" y="4607414"/>
                  <a:ext cx="474938" cy="4924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600" b="0" i="1" smtClean="0">
                            <a:latin typeface="Cambria Math" panose="02040503050406030204" pitchFamily="18" charset="0"/>
                            <a:ea typeface="Cambria Math" panose="02040503050406030204" pitchFamily="18" charset="0"/>
                          </a:rPr>
                          <m:t>𝑃</m:t>
                        </m:r>
                      </m:oMath>
                    </m:oMathPara>
                  </a14:m>
                  <a:endParaRPr lang="en-US" sz="2600" dirty="0"/>
                </a:p>
              </p:txBody>
            </p:sp>
          </mc:Choice>
          <mc:Fallback xmlns="">
            <p:sp>
              <p:nvSpPr>
                <p:cNvPr id="16" name="Rectangle 15">
                  <a:extLst>
                    <a:ext uri="{FF2B5EF4-FFF2-40B4-BE49-F238E27FC236}">
                      <a16:creationId xmlns:a16="http://schemas.microsoft.com/office/drawing/2014/main" id="{680871C4-D5E0-EC4C-AA95-6FEEDD73C661}"/>
                    </a:ext>
                  </a:extLst>
                </p:cNvPr>
                <p:cNvSpPr>
                  <a:spLocks noRot="1" noChangeAspect="1" noMove="1" noResize="1" noEditPoints="1" noAdjustHandles="1" noChangeArrowheads="1" noChangeShapeType="1" noTextEdit="1"/>
                </p:cNvSpPr>
                <p:nvPr/>
              </p:nvSpPr>
              <p:spPr>
                <a:xfrm>
                  <a:off x="5543191" y="4607414"/>
                  <a:ext cx="474938" cy="492443"/>
                </a:xfrm>
                <a:prstGeom prst="rect">
                  <a:avLst/>
                </a:prstGeom>
                <a:blipFill>
                  <a:blip r:embed="rId4"/>
                  <a:stretch>
                    <a:fillRect/>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2F659F2D-A54C-0240-B898-074970CCAA46}"/>
                </a:ext>
              </a:extLst>
            </p:cNvPr>
            <p:cNvGrpSpPr/>
            <p:nvPr/>
          </p:nvGrpSpPr>
          <p:grpSpPr>
            <a:xfrm>
              <a:off x="301905" y="3080139"/>
              <a:ext cx="7625167" cy="1604525"/>
              <a:chOff x="301905" y="3080139"/>
              <a:chExt cx="7625167" cy="1604525"/>
            </a:xfrm>
          </p:grpSpPr>
          <p:cxnSp>
            <p:nvCxnSpPr>
              <p:cNvPr id="45" name="Straight Connector 44">
                <a:extLst>
                  <a:ext uri="{FF2B5EF4-FFF2-40B4-BE49-F238E27FC236}">
                    <a16:creationId xmlns:a16="http://schemas.microsoft.com/office/drawing/2014/main" id="{2F7B76F1-1B25-3D40-9845-6763384314BB}"/>
                  </a:ext>
                </a:extLst>
              </p:cNvPr>
              <p:cNvCxnSpPr>
                <a:cxnSpLocks/>
              </p:cNvCxnSpPr>
              <p:nvPr/>
            </p:nvCxnSpPr>
            <p:spPr>
              <a:xfrm flipH="1">
                <a:off x="301905" y="4324664"/>
                <a:ext cx="16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FF2C34D-7B72-1B42-8E40-0F15838BB18E}"/>
                  </a:ext>
                </a:extLst>
              </p:cNvPr>
              <p:cNvCxnSpPr>
                <a:cxnSpLocks/>
              </p:cNvCxnSpPr>
              <p:nvPr/>
            </p:nvCxnSpPr>
            <p:spPr>
              <a:xfrm flipV="1">
                <a:off x="1111905" y="3254029"/>
                <a:ext cx="0" cy="7591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A99B32A4-B33E-C74D-8AC4-E36C3D83EC7C}"/>
                      </a:ext>
                    </a:extLst>
                  </p:cNvPr>
                  <p:cNvSpPr/>
                  <p:nvPr/>
                </p:nvSpPr>
                <p:spPr>
                  <a:xfrm>
                    <a:off x="571905" y="3964664"/>
                    <a:ext cx="1080000" cy="720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ea typeface="Cambria Math" panose="02040503050406030204" pitchFamily="18" charset="0"/>
                                </a:rPr>
                              </m:ctrlPr>
                            </m:sSubPr>
                            <m:e>
                              <m:r>
                                <a:rPr lang="sr-Latn-RS" sz="2400" b="0" i="1" smtClean="0">
                                  <a:latin typeface="Cambria Math" panose="02040503050406030204" pitchFamily="18" charset="0"/>
                                  <a:ea typeface="Cambria Math" panose="02040503050406030204" pitchFamily="18" charset="0"/>
                                </a:rPr>
                                <m:t>𝑐</m:t>
                              </m:r>
                              <m:r>
                                <a:rPr lang="en-US" sz="2400" i="1">
                                  <a:latin typeface="Cambria Math" panose="02040503050406030204" pitchFamily="18" charset="0"/>
                                  <a:ea typeface="Cambria Math" panose="02040503050406030204" pitchFamily="18" charset="0"/>
                                </a:rPr>
                                <m:t>𝑃</m:t>
                              </m:r>
                            </m:e>
                            <m:sub>
                              <m:r>
                                <a:rPr lang="en-US" sz="2400" i="1">
                                  <a:latin typeface="Cambria Math" panose="02040503050406030204" pitchFamily="18" charset="0"/>
                                  <a:ea typeface="Cambria Math" panose="02040503050406030204" pitchFamily="18" charset="0"/>
                                </a:rPr>
                                <m:t>𝑘</m:t>
                              </m:r>
                            </m:sub>
                          </m:sSub>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𝜃</m:t>
                              </m:r>
                            </m:e>
                          </m:d>
                        </m:oMath>
                      </m:oMathPara>
                    </a14:m>
                    <a:endParaRPr lang="en-US" sz="2400" baseline="-25000" dirty="0">
                      <a:solidFill>
                        <a:schemeClr val="bg1"/>
                      </a:solidFill>
                      <a:latin typeface="Times" pitchFamily="2" charset="0"/>
                    </a:endParaRPr>
                  </a:p>
                </p:txBody>
              </p:sp>
            </mc:Choice>
            <mc:Fallback xmlns="">
              <p:sp>
                <p:nvSpPr>
                  <p:cNvPr id="18" name="Rectangle 17">
                    <a:extLst>
                      <a:ext uri="{FF2B5EF4-FFF2-40B4-BE49-F238E27FC236}">
                        <a16:creationId xmlns:a16="http://schemas.microsoft.com/office/drawing/2014/main" id="{A99B32A4-B33E-C74D-8AC4-E36C3D83EC7C}"/>
                      </a:ext>
                    </a:extLst>
                  </p:cNvPr>
                  <p:cNvSpPr>
                    <a:spLocks noRot="1" noChangeAspect="1" noMove="1" noResize="1" noEditPoints="1" noAdjustHandles="1" noChangeArrowheads="1" noChangeShapeType="1" noTextEdit="1"/>
                  </p:cNvSpPr>
                  <p:nvPr/>
                </p:nvSpPr>
                <p:spPr>
                  <a:xfrm>
                    <a:off x="571905" y="3964664"/>
                    <a:ext cx="1080000" cy="720000"/>
                  </a:xfrm>
                  <a:prstGeom prst="rect">
                    <a:avLst/>
                  </a:prstGeom>
                  <a:blipFill>
                    <a:blip r:embed="rId5"/>
                    <a:stretch>
                      <a:fillRect/>
                    </a:stretch>
                  </a:blipFill>
                </p:spPr>
                <p:txBody>
                  <a:bodyPr/>
                  <a:lstStyle/>
                  <a:p>
                    <a:r>
                      <a:rPr lang="en-US">
                        <a:noFill/>
                      </a:rPr>
                      <a:t> </a:t>
                    </a:r>
                  </a:p>
                </p:txBody>
              </p:sp>
            </mc:Fallback>
          </mc:AlternateContent>
          <p:sp>
            <p:nvSpPr>
              <p:cNvPr id="19" name="Oval 18">
                <a:extLst>
                  <a:ext uri="{FF2B5EF4-FFF2-40B4-BE49-F238E27FC236}">
                    <a16:creationId xmlns:a16="http://schemas.microsoft.com/office/drawing/2014/main" id="{3D89FF1A-E25A-8849-9D05-E92A20146FDA}"/>
                  </a:ext>
                </a:extLst>
              </p:cNvPr>
              <p:cNvSpPr/>
              <p:nvPr/>
            </p:nvSpPr>
            <p:spPr>
              <a:xfrm>
                <a:off x="993939" y="3128028"/>
                <a:ext cx="251999" cy="25199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2CF12384-51E6-B44A-868D-72066B4F45AA}"/>
                  </a:ext>
                </a:extLst>
              </p:cNvPr>
              <p:cNvCxnSpPr>
                <a:cxnSpLocks/>
              </p:cNvCxnSpPr>
              <p:nvPr/>
            </p:nvCxnSpPr>
            <p:spPr>
              <a:xfrm flipH="1">
                <a:off x="301905" y="3254029"/>
                <a:ext cx="16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6B59458A-1987-724C-A52F-AF50225A9B12}"/>
                      </a:ext>
                    </a:extLst>
                  </p:cNvPr>
                  <p:cNvSpPr/>
                  <p:nvPr/>
                </p:nvSpPr>
                <p:spPr>
                  <a:xfrm>
                    <a:off x="2724301" y="3095905"/>
                    <a:ext cx="5202771" cy="1586909"/>
                  </a:xfrm>
                  <a:prstGeom prst="rect">
                    <a:avLst/>
                  </a:prstGeom>
                </p:spPr>
                <p:txBody>
                  <a:bodyPr wrap="none">
                    <a:spAutoFit/>
                  </a:bodyPr>
                  <a:lstStyle/>
                  <a:p>
                    <a:r>
                      <a:rPr lang="en-US" sz="2600" b="0" dirty="0">
                        <a:ea typeface="Cambria Math" panose="02040503050406030204" pitchFamily="18" charset="0"/>
                      </a:rPr>
                      <a:t>c</a:t>
                    </a:r>
                    <a14:m>
                      <m:oMath xmlns:m="http://schemas.openxmlformats.org/officeDocument/2006/math">
                        <m:r>
                          <a:rPr lang="en-US" sz="2600" b="0" i="1" smtClean="0">
                            <a:latin typeface="Cambria Math" panose="02040503050406030204" pitchFamily="18" charset="0"/>
                            <a:ea typeface="Cambria Math" panose="02040503050406030204" pitchFamily="18" charset="0"/>
                          </a:rPr>
                          <m:t>𝑃</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𝜃</m:t>
                            </m:r>
                          </m:e>
                        </m:d>
                        <m:r>
                          <a:rPr lang="en-US" sz="2600" b="0" i="1" smtClean="0">
                            <a:latin typeface="Cambria Math" panose="02040503050406030204" pitchFamily="18" charset="0"/>
                            <a:ea typeface="Cambria Math" panose="02040503050406030204" pitchFamily="18" charset="0"/>
                          </a:rPr>
                          <m:t>=</m:t>
                        </m:r>
                        <m:d>
                          <m:dPr>
                            <m:ctrlPr>
                              <a:rPr lang="en-US" sz="2600" b="0" i="1" smtClean="0">
                                <a:latin typeface="Cambria Math" panose="02040503050406030204" pitchFamily="18" charset="0"/>
                                <a:ea typeface="Cambria Math" panose="02040503050406030204" pitchFamily="18" charset="0"/>
                              </a:rPr>
                            </m:ctrlPr>
                          </m:dPr>
                          <m:e>
                            <m:m>
                              <m:mPr>
                                <m:mcs>
                                  <m:mc>
                                    <m:mcPr>
                                      <m:count m:val="4"/>
                                      <m:mcJc m:val="center"/>
                                    </m:mcPr>
                                  </m:mc>
                                </m:mcs>
                                <m:ctrlPr>
                                  <a:rPr lang="en-US" sz="2600" b="0" i="1" smtClean="0">
                                    <a:latin typeface="Cambria Math" panose="02040503050406030204" pitchFamily="18" charset="0"/>
                                    <a:ea typeface="Cambria Math" panose="02040503050406030204" pitchFamily="18" charset="0"/>
                                  </a:rPr>
                                </m:ctrlPr>
                              </m:mPr>
                              <m:mr>
                                <m:e>
                                  <m:r>
                                    <m:rPr>
                                      <m:brk m:alnAt="7"/>
                                    </m:rPr>
                                    <a:rPr lang="en-US" sz="2600" b="0" i="1" smtClean="0">
                                      <a:solidFill>
                                        <a:srgbClr val="C00000"/>
                                      </a:solidFill>
                                      <a:latin typeface="Cambria Math" panose="02040503050406030204" pitchFamily="18" charset="0"/>
                                      <a:ea typeface="Cambria Math" panose="02040503050406030204" pitchFamily="18" charset="0"/>
                                    </a:rPr>
                                    <m:t>1</m:t>
                                  </m:r>
                                </m:e>
                                <m:e>
                                  <m:r>
                                    <a:rPr lang="en-US" sz="2600" b="0" i="1" smtClean="0">
                                      <a:solidFill>
                                        <a:srgbClr val="C00000"/>
                                      </a:solidFill>
                                      <a:latin typeface="Cambria Math" panose="02040503050406030204" pitchFamily="18" charset="0"/>
                                      <a:ea typeface="Cambria Math" panose="02040503050406030204" pitchFamily="18" charset="0"/>
                                    </a:rPr>
                                    <m:t>0</m:t>
                                  </m:r>
                                </m:e>
                                <m:e>
                                  <m:r>
                                    <a:rPr lang="en-US" sz="2600" b="0" i="1" smtClean="0">
                                      <a:latin typeface="Cambria Math" panose="02040503050406030204" pitchFamily="18" charset="0"/>
                                      <a:ea typeface="Cambria Math" panose="02040503050406030204" pitchFamily="18" charset="0"/>
                                    </a:rPr>
                                    <m:t>0</m:t>
                                  </m:r>
                                </m:e>
                                <m:e>
                                  <m:r>
                                    <a:rPr lang="en-US" sz="2600" b="0" i="1" smtClean="0">
                                      <a:latin typeface="Cambria Math" panose="02040503050406030204" pitchFamily="18" charset="0"/>
                                      <a:ea typeface="Cambria Math" panose="02040503050406030204" pitchFamily="18" charset="0"/>
                                    </a:rPr>
                                    <m:t>0</m:t>
                                  </m:r>
                                </m:e>
                              </m:mr>
                              <m:mr>
                                <m:e>
                                  <m:r>
                                    <a:rPr lang="en-US" sz="2600" b="0" i="1" smtClean="0">
                                      <a:solidFill>
                                        <a:srgbClr val="C00000"/>
                                      </a:solidFill>
                                      <a:latin typeface="Cambria Math" panose="02040503050406030204" pitchFamily="18" charset="0"/>
                                      <a:ea typeface="Cambria Math" panose="02040503050406030204" pitchFamily="18" charset="0"/>
                                    </a:rPr>
                                    <m:t>0</m:t>
                                  </m:r>
                                </m:e>
                                <m:e>
                                  <m:r>
                                    <a:rPr lang="en-US" sz="2600" b="0" i="1" smtClean="0">
                                      <a:solidFill>
                                        <a:srgbClr val="C00000"/>
                                      </a:solidFill>
                                      <a:latin typeface="Cambria Math" panose="02040503050406030204" pitchFamily="18" charset="0"/>
                                      <a:ea typeface="Cambria Math" panose="02040503050406030204" pitchFamily="18" charset="0"/>
                                    </a:rPr>
                                    <m:t>1</m:t>
                                  </m:r>
                                </m:e>
                                <m:e>
                                  <m:r>
                                    <a:rPr lang="en-US" sz="2600" b="0" i="1" smtClean="0">
                                      <a:latin typeface="Cambria Math" panose="02040503050406030204" pitchFamily="18" charset="0"/>
                                      <a:ea typeface="Cambria Math" panose="02040503050406030204" pitchFamily="18" charset="0"/>
                                    </a:rPr>
                                    <m:t>0</m:t>
                                  </m:r>
                                </m:e>
                                <m:e>
                                  <m:r>
                                    <a:rPr lang="en-US" sz="2600" b="0" i="1" smtClean="0">
                                      <a:latin typeface="Cambria Math" panose="02040503050406030204" pitchFamily="18" charset="0"/>
                                      <a:ea typeface="Cambria Math" panose="02040503050406030204" pitchFamily="18" charset="0"/>
                                    </a:rPr>
                                    <m:t>0</m:t>
                                  </m:r>
                                </m:e>
                              </m:mr>
                              <m:mr>
                                <m:e>
                                  <m:r>
                                    <a:rPr lang="en-US" sz="2600" b="0" i="1" smtClean="0">
                                      <a:latin typeface="Cambria Math" panose="02040503050406030204" pitchFamily="18" charset="0"/>
                                      <a:ea typeface="Cambria Math" panose="02040503050406030204" pitchFamily="18" charset="0"/>
                                    </a:rPr>
                                    <m:t>0</m:t>
                                  </m:r>
                                </m:e>
                                <m:e>
                                  <m:r>
                                    <a:rPr lang="en-US" sz="2600" b="0" i="1" smtClean="0">
                                      <a:latin typeface="Cambria Math" panose="02040503050406030204" pitchFamily="18" charset="0"/>
                                      <a:ea typeface="Cambria Math" panose="02040503050406030204" pitchFamily="18" charset="0"/>
                                    </a:rPr>
                                    <m:t>0</m:t>
                                  </m:r>
                                </m:e>
                                <m:e>
                                  <m:r>
                                    <a:rPr lang="en-US" sz="2600" b="0" i="1" smtClean="0">
                                      <a:solidFill>
                                        <a:srgbClr val="0000FF"/>
                                      </a:solidFill>
                                      <a:latin typeface="Cambria Math" panose="02040503050406030204" pitchFamily="18" charset="0"/>
                                      <a:ea typeface="Cambria Math" panose="02040503050406030204" pitchFamily="18" charset="0"/>
                                    </a:rPr>
                                    <m:t>1</m:t>
                                  </m:r>
                                </m:e>
                                <m:e>
                                  <m:r>
                                    <a:rPr lang="en-US" sz="2600" b="0" i="1" smtClean="0">
                                      <a:solidFill>
                                        <a:srgbClr val="0000FF"/>
                                      </a:solidFill>
                                      <a:latin typeface="Cambria Math" panose="02040503050406030204" pitchFamily="18" charset="0"/>
                                      <a:ea typeface="Cambria Math" panose="02040503050406030204" pitchFamily="18" charset="0"/>
                                    </a:rPr>
                                    <m:t>0</m:t>
                                  </m:r>
                                </m:e>
                              </m:mr>
                              <m:mr>
                                <m:e>
                                  <m:r>
                                    <a:rPr lang="en-US" sz="2600" b="0" i="1" smtClean="0">
                                      <a:latin typeface="Cambria Math" panose="02040503050406030204" pitchFamily="18" charset="0"/>
                                      <a:ea typeface="Cambria Math" panose="02040503050406030204" pitchFamily="18" charset="0"/>
                                    </a:rPr>
                                    <m:t>0</m:t>
                                  </m:r>
                                </m:e>
                                <m:e>
                                  <m:r>
                                    <a:rPr lang="en-US" sz="2600" b="0" i="1" smtClean="0">
                                      <a:latin typeface="Cambria Math" panose="02040503050406030204" pitchFamily="18" charset="0"/>
                                      <a:ea typeface="Cambria Math" panose="02040503050406030204" pitchFamily="18" charset="0"/>
                                    </a:rPr>
                                    <m:t>0</m:t>
                                  </m:r>
                                </m:e>
                                <m:e>
                                  <m:r>
                                    <a:rPr lang="en-US" sz="2600" b="0" i="1" smtClean="0">
                                      <a:solidFill>
                                        <a:srgbClr val="0000FF"/>
                                      </a:solidFill>
                                      <a:latin typeface="Cambria Math" panose="02040503050406030204" pitchFamily="18" charset="0"/>
                                      <a:ea typeface="Cambria Math" panose="02040503050406030204" pitchFamily="18" charset="0"/>
                                    </a:rPr>
                                    <m:t>0</m:t>
                                  </m:r>
                                </m:e>
                                <m:e>
                                  <m:sSup>
                                    <m:sSupPr>
                                      <m:ctrlPr>
                                        <a:rPr lang="en-US" sz="2600" b="0" i="1" smtClean="0">
                                          <a:solidFill>
                                            <a:srgbClr val="0000FF"/>
                                          </a:solidFill>
                                          <a:latin typeface="Cambria Math" panose="02040503050406030204" pitchFamily="18" charset="0"/>
                                          <a:ea typeface="Cambria Math" panose="02040503050406030204" pitchFamily="18" charset="0"/>
                                        </a:rPr>
                                      </m:ctrlPr>
                                    </m:sSupPr>
                                    <m:e>
                                      <m:r>
                                        <a:rPr lang="en-US" sz="2600" b="0" i="1" smtClean="0">
                                          <a:solidFill>
                                            <a:srgbClr val="0000FF"/>
                                          </a:solidFill>
                                          <a:latin typeface="Cambria Math" panose="02040503050406030204" pitchFamily="18" charset="0"/>
                                          <a:ea typeface="Cambria Math" panose="02040503050406030204" pitchFamily="18" charset="0"/>
                                        </a:rPr>
                                        <m:t>𝑒</m:t>
                                      </m:r>
                                    </m:e>
                                    <m:sup>
                                      <m:r>
                                        <a:rPr lang="en-US" sz="2600" b="0" i="1" smtClean="0">
                                          <a:solidFill>
                                            <a:srgbClr val="0000FF"/>
                                          </a:solidFill>
                                          <a:latin typeface="Cambria Math" panose="02040503050406030204" pitchFamily="18" charset="0"/>
                                          <a:ea typeface="Cambria Math" panose="02040503050406030204" pitchFamily="18" charset="0"/>
                                        </a:rPr>
                                        <m:t>𝑖</m:t>
                                      </m:r>
                                      <m:r>
                                        <a:rPr lang="en-US" sz="2600" i="1">
                                          <a:solidFill>
                                            <a:srgbClr val="0000FF"/>
                                          </a:solidFill>
                                          <a:latin typeface="Cambria Math" panose="02040503050406030204" pitchFamily="18" charset="0"/>
                                          <a:ea typeface="Cambria Math" panose="02040503050406030204" pitchFamily="18" charset="0"/>
                                        </a:rPr>
                                        <m:t>𝜃</m:t>
                                      </m:r>
                                    </m:sup>
                                  </m:sSup>
                                </m:e>
                              </m:mr>
                            </m:m>
                          </m:e>
                        </m:d>
                        <m:r>
                          <a:rPr lang="en-US" sz="2600" b="0" i="1" smtClean="0">
                            <a:latin typeface="Cambria Math" panose="02040503050406030204" pitchFamily="18" charset="0"/>
                            <a:ea typeface="Cambria Math" panose="02040503050406030204" pitchFamily="18" charset="0"/>
                          </a:rPr>
                          <m:t>, </m:t>
                        </m:r>
                        <m:r>
                          <a:rPr lang="en-US" sz="2600" i="1" smtClean="0">
                            <a:solidFill>
                              <a:schemeClr val="tx1"/>
                            </a:solidFill>
                            <a:latin typeface="Cambria Math" panose="02040503050406030204" pitchFamily="18" charset="0"/>
                            <a:ea typeface="Cambria Math" panose="02040503050406030204" pitchFamily="18" charset="0"/>
                          </a:rPr>
                          <m:t>𝜃</m:t>
                        </m:r>
                        <m:r>
                          <a:rPr lang="en-US" sz="2600" b="0" i="1" smtClean="0">
                            <a:solidFill>
                              <a:schemeClr val="tx1"/>
                            </a:solidFill>
                            <a:latin typeface="Cambria Math" panose="02040503050406030204" pitchFamily="18" charset="0"/>
                            <a:ea typeface="Cambria Math" panose="02040503050406030204" pitchFamily="18" charset="0"/>
                          </a:rPr>
                          <m:t>=</m:t>
                        </m:r>
                        <m:sSup>
                          <m:sSupPr>
                            <m:ctrlPr>
                              <a:rPr lang="en-US" sz="2600" i="1">
                                <a:solidFill>
                                  <a:schemeClr val="tx1"/>
                                </a:solidFill>
                                <a:latin typeface="Cambria Math" panose="02040503050406030204" pitchFamily="18" charset="0"/>
                                <a:ea typeface="Cambria Math" panose="02040503050406030204" pitchFamily="18" charset="0"/>
                              </a:rPr>
                            </m:ctrlPr>
                          </m:sSupPr>
                          <m:e>
                            <m:r>
                              <a:rPr lang="en-US" sz="2600" i="1">
                                <a:solidFill>
                                  <a:schemeClr val="tx1"/>
                                </a:solidFill>
                                <a:latin typeface="Cambria Math" panose="02040503050406030204" pitchFamily="18" charset="0"/>
                                <a:ea typeface="Cambria Math" panose="02040503050406030204" pitchFamily="18" charset="0"/>
                              </a:rPr>
                              <m:t>𝑒</m:t>
                            </m:r>
                          </m:e>
                          <m:sup>
                            <m:f>
                              <m:fPr>
                                <m:ctrlPr>
                                  <a:rPr lang="en-US" sz="2600" i="1">
                                    <a:solidFill>
                                      <a:schemeClr val="tx1"/>
                                    </a:solidFill>
                                    <a:latin typeface="Cambria Math" panose="02040503050406030204" pitchFamily="18" charset="0"/>
                                    <a:ea typeface="Cambria Math" panose="02040503050406030204" pitchFamily="18" charset="0"/>
                                  </a:rPr>
                                </m:ctrlPr>
                              </m:fPr>
                              <m:num>
                                <m:r>
                                  <a:rPr lang="en-US" sz="2600" i="1">
                                    <a:solidFill>
                                      <a:schemeClr val="tx1"/>
                                    </a:solidFill>
                                    <a:latin typeface="Cambria Math" panose="02040503050406030204" pitchFamily="18" charset="0"/>
                                  </a:rPr>
                                  <m:t>2</m:t>
                                </m:r>
                                <m:r>
                                  <a:rPr lang="en-US" sz="2600" i="1">
                                    <a:solidFill>
                                      <a:schemeClr val="tx1"/>
                                    </a:solidFill>
                                    <a:latin typeface="Cambria Math" panose="02040503050406030204" pitchFamily="18" charset="0"/>
                                    <a:ea typeface="Cambria Math" panose="02040503050406030204" pitchFamily="18" charset="0"/>
                                  </a:rPr>
                                  <m:t>𝜋</m:t>
                                </m:r>
                              </m:num>
                              <m:den>
                                <m:sSup>
                                  <m:sSupPr>
                                    <m:ctrlPr>
                                      <a:rPr lang="en-US" sz="2600" i="1">
                                        <a:solidFill>
                                          <a:schemeClr val="tx1"/>
                                        </a:solidFill>
                                        <a:latin typeface="Cambria Math" panose="02040503050406030204" pitchFamily="18" charset="0"/>
                                        <a:ea typeface="Cambria Math" panose="02040503050406030204" pitchFamily="18" charset="0"/>
                                      </a:rPr>
                                    </m:ctrlPr>
                                  </m:sSupPr>
                                  <m:e>
                                    <m:r>
                                      <a:rPr lang="en-US" sz="2600" i="1">
                                        <a:solidFill>
                                          <a:schemeClr val="tx1"/>
                                        </a:solidFill>
                                        <a:latin typeface="Cambria Math" panose="02040503050406030204" pitchFamily="18" charset="0"/>
                                        <a:ea typeface="Cambria Math" panose="02040503050406030204" pitchFamily="18" charset="0"/>
                                      </a:rPr>
                                      <m:t>2</m:t>
                                    </m:r>
                                  </m:e>
                                  <m:sup>
                                    <m:r>
                                      <a:rPr lang="en-US" sz="2600" i="1">
                                        <a:solidFill>
                                          <a:schemeClr val="tx1"/>
                                        </a:solidFill>
                                        <a:latin typeface="Cambria Math" panose="02040503050406030204" pitchFamily="18" charset="0"/>
                                        <a:ea typeface="Cambria Math" panose="02040503050406030204" pitchFamily="18" charset="0"/>
                                      </a:rPr>
                                      <m:t>𝑘</m:t>
                                    </m:r>
                                  </m:sup>
                                </m:sSup>
                              </m:den>
                            </m:f>
                          </m:sup>
                        </m:sSup>
                      </m:oMath>
                    </a14:m>
                    <a:endParaRPr lang="en-US" sz="2600" dirty="0"/>
                  </a:p>
                </p:txBody>
              </p:sp>
            </mc:Choice>
            <mc:Fallback xmlns="">
              <p:sp>
                <p:nvSpPr>
                  <p:cNvPr id="13" name="Rectangle 12">
                    <a:extLst>
                      <a:ext uri="{FF2B5EF4-FFF2-40B4-BE49-F238E27FC236}">
                        <a16:creationId xmlns:a16="http://schemas.microsoft.com/office/drawing/2014/main" id="{6B59458A-1987-724C-A52F-AF50225A9B12}"/>
                      </a:ext>
                    </a:extLst>
                  </p:cNvPr>
                  <p:cNvSpPr>
                    <a:spLocks noRot="1" noChangeAspect="1" noMove="1" noResize="1" noEditPoints="1" noAdjustHandles="1" noChangeArrowheads="1" noChangeShapeType="1" noTextEdit="1"/>
                  </p:cNvSpPr>
                  <p:nvPr/>
                </p:nvSpPr>
                <p:spPr>
                  <a:xfrm>
                    <a:off x="2724301" y="3095905"/>
                    <a:ext cx="5202771" cy="1586909"/>
                  </a:xfrm>
                  <a:prstGeom prst="rect">
                    <a:avLst/>
                  </a:prstGeom>
                  <a:blipFill>
                    <a:blip r:embed="rId6"/>
                    <a:stretch>
                      <a:fillRect l="-2195" b="-2381"/>
                    </a:stretch>
                  </a:blipFill>
                </p:spPr>
                <p:txBody>
                  <a:bodyPr/>
                  <a:lstStyle/>
                  <a:p>
                    <a:r>
                      <a:rPr lang="en-US">
                        <a:noFill/>
                      </a:rPr>
                      <a:t> </a:t>
                    </a:r>
                  </a:p>
                </p:txBody>
              </p:sp>
            </mc:Fallback>
          </mc:AlternateContent>
          <p:sp>
            <p:nvSpPr>
              <p:cNvPr id="14" name="Rectangle 13">
                <a:extLst>
                  <a:ext uri="{FF2B5EF4-FFF2-40B4-BE49-F238E27FC236}">
                    <a16:creationId xmlns:a16="http://schemas.microsoft.com/office/drawing/2014/main" id="{04EC3D43-35D5-8C4D-AA8A-FC411C5B3892}"/>
                  </a:ext>
                </a:extLst>
              </p:cNvPr>
              <p:cNvSpPr/>
              <p:nvPr/>
            </p:nvSpPr>
            <p:spPr>
              <a:xfrm>
                <a:off x="4237238" y="3080139"/>
                <a:ext cx="914400" cy="793454"/>
              </a:xfrm>
              <a:prstGeom prst="rect">
                <a:avLst/>
              </a:prstGeom>
              <a:noFill/>
              <a:ln>
                <a:solidFill>
                  <a:schemeClr val="tx1">
                    <a:lumMod val="50000"/>
                    <a:lumOff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601D77B-FC1F-5143-82C9-81E1CBF899E2}"/>
                  </a:ext>
                </a:extLst>
              </p:cNvPr>
              <p:cNvSpPr/>
              <p:nvPr/>
            </p:nvSpPr>
            <p:spPr>
              <a:xfrm>
                <a:off x="5237432" y="3884698"/>
                <a:ext cx="1065125" cy="793454"/>
              </a:xfrm>
              <a:prstGeom prst="rect">
                <a:avLst/>
              </a:prstGeom>
              <a:noFill/>
              <a:ln>
                <a:solidFill>
                  <a:schemeClr val="tx1">
                    <a:lumMod val="50000"/>
                    <a:lumOff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 name="Group 3">
            <a:extLst>
              <a:ext uri="{FF2B5EF4-FFF2-40B4-BE49-F238E27FC236}">
                <a16:creationId xmlns:a16="http://schemas.microsoft.com/office/drawing/2014/main" id="{A13F79DA-E63B-9046-9C16-C0EDCC69AB91}"/>
              </a:ext>
            </a:extLst>
          </p:cNvPr>
          <p:cNvGrpSpPr/>
          <p:nvPr/>
        </p:nvGrpSpPr>
        <p:grpSpPr>
          <a:xfrm>
            <a:off x="301905" y="1542744"/>
            <a:ext cx="4638574" cy="855299"/>
            <a:chOff x="301905" y="1923744"/>
            <a:chExt cx="4638574" cy="855299"/>
          </a:xfrm>
        </p:grpSpPr>
        <p:cxnSp>
          <p:nvCxnSpPr>
            <p:cNvPr id="5" name="Straight Connector 4">
              <a:extLst>
                <a:ext uri="{FF2B5EF4-FFF2-40B4-BE49-F238E27FC236}">
                  <a16:creationId xmlns:a16="http://schemas.microsoft.com/office/drawing/2014/main" id="{C62A65C6-9600-8042-8D29-DF59996A0D54}"/>
                </a:ext>
              </a:extLst>
            </p:cNvPr>
            <p:cNvCxnSpPr>
              <a:cxnSpLocks/>
            </p:cNvCxnSpPr>
            <p:nvPr/>
          </p:nvCxnSpPr>
          <p:spPr>
            <a:xfrm flipV="1">
              <a:off x="301905" y="2351394"/>
              <a:ext cx="16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D66CF4F5-8840-D148-B30E-D35E487AF770}"/>
                </a:ext>
              </a:extLst>
            </p:cNvPr>
            <p:cNvSpPr/>
            <p:nvPr/>
          </p:nvSpPr>
          <p:spPr>
            <a:xfrm>
              <a:off x="751905" y="1991394"/>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H</a:t>
              </a:r>
            </a:p>
          </p:txBody>
        </p: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BD3467EE-D8B3-3A40-A701-77C5C4487585}"/>
                    </a:ext>
                  </a:extLst>
                </p:cNvPr>
                <p:cNvSpPr/>
                <p:nvPr/>
              </p:nvSpPr>
              <p:spPr>
                <a:xfrm>
                  <a:off x="2451336" y="1923744"/>
                  <a:ext cx="2489143" cy="8552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ad>
                              <m:radPr>
                                <m:degHide m:val="on"/>
                                <m:ctrlPr>
                                  <a:rPr lang="en-US" sz="2400" i="1">
                                    <a:latin typeface="Cambria Math" panose="02040503050406030204" pitchFamily="18" charset="0"/>
                                    <a:ea typeface="Cambria Math" panose="02040503050406030204" pitchFamily="18" charset="0"/>
                                  </a:rPr>
                                </m:ctrlPr>
                              </m:radPr>
                              <m:deg/>
                              <m:e>
                                <m:r>
                                  <a:rPr lang="en-US" sz="2400" i="1">
                                    <a:latin typeface="Cambria Math" panose="02040503050406030204" pitchFamily="18" charset="0"/>
                                    <a:ea typeface="Cambria Math" panose="02040503050406030204" pitchFamily="18" charset="0"/>
                                  </a:rPr>
                                  <m:t>2</m:t>
                                </m:r>
                              </m:e>
                            </m:rad>
                          </m:den>
                        </m:f>
                        <m:d>
                          <m:dPr>
                            <m:ctrlPr>
                              <a:rPr lang="en-US" sz="2400" i="1">
                                <a:latin typeface="Cambria Math" panose="02040503050406030204" pitchFamily="18" charset="0"/>
                                <a:ea typeface="Cambria Math" panose="02040503050406030204" pitchFamily="18" charset="0"/>
                              </a:rPr>
                            </m:ctrlPr>
                          </m:dPr>
                          <m:e>
                            <m:m>
                              <m:mPr>
                                <m:mcs>
                                  <m:mc>
                                    <m:mcPr>
                                      <m:count m:val="2"/>
                                      <m:mcJc m:val="center"/>
                                    </m:mcPr>
                                  </m:mc>
                                </m:mcs>
                                <m:ctrlPr>
                                  <a:rPr lang="en-US" sz="2400" i="1">
                                    <a:latin typeface="Cambria Math" panose="02040503050406030204" pitchFamily="18" charset="0"/>
                                    <a:ea typeface="Cambria Math" panose="02040503050406030204" pitchFamily="18" charset="0"/>
                                  </a:rPr>
                                </m:ctrlPr>
                              </m:mPr>
                              <m:mr>
                                <m:e>
                                  <m:r>
                                    <m:rPr>
                                      <m:brk m:alnAt="7"/>
                                    </m:rPr>
                                    <a:rPr lang="en-US" sz="2400" i="1">
                                      <a:latin typeface="Cambria Math" panose="02040503050406030204" pitchFamily="18" charset="0"/>
                                      <a:ea typeface="Cambria Math" panose="02040503050406030204" pitchFamily="18" charset="0"/>
                                    </a:rPr>
                                    <m:t>1</m:t>
                                  </m:r>
                                </m:e>
                                <m:e>
                                  <m:r>
                                    <a:rPr lang="en-US" sz="2400" i="1">
                                      <a:latin typeface="Cambria Math" panose="02040503050406030204" pitchFamily="18" charset="0"/>
                                      <a:ea typeface="Cambria Math" panose="02040503050406030204" pitchFamily="18" charset="0"/>
                                    </a:rPr>
                                    <m:t>1</m:t>
                                  </m:r>
                                </m:e>
                              </m:mr>
                              <m:mr>
                                <m:e>
                                  <m:r>
                                    <a:rPr lang="en-US" sz="2400" i="1">
                                      <a:latin typeface="Cambria Math" panose="02040503050406030204" pitchFamily="18" charset="0"/>
                                      <a:ea typeface="Cambria Math" panose="02040503050406030204" pitchFamily="18" charset="0"/>
                                    </a:rPr>
                                    <m:t>1</m:t>
                                  </m:r>
                                </m:e>
                                <m:e>
                                  <m:r>
                                    <a:rPr lang="en-US" sz="2400" i="1">
                                      <a:latin typeface="Cambria Math" panose="02040503050406030204" pitchFamily="18" charset="0"/>
                                      <a:ea typeface="Cambria Math" panose="02040503050406030204" pitchFamily="18" charset="0"/>
                                    </a:rPr>
                                    <m:t>−1</m:t>
                                  </m:r>
                                </m:e>
                              </m:mr>
                            </m:m>
                          </m:e>
                        </m:d>
                        <m:r>
                          <a:rPr lang="en-US" sz="2400" i="1">
                            <a:solidFill>
                              <a:srgbClr val="002060"/>
                            </a:solidFill>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𝐻</m:t>
                        </m:r>
                      </m:oMath>
                    </m:oMathPara>
                  </a14:m>
                  <a:endParaRPr lang="en-US" sz="2400" dirty="0"/>
                </a:p>
              </p:txBody>
            </p:sp>
          </mc:Choice>
          <mc:Fallback xmlns="">
            <p:sp>
              <p:nvSpPr>
                <p:cNvPr id="25" name="Rectangle 24">
                  <a:extLst>
                    <a:ext uri="{FF2B5EF4-FFF2-40B4-BE49-F238E27FC236}">
                      <a16:creationId xmlns:a16="http://schemas.microsoft.com/office/drawing/2014/main" id="{BD3467EE-D8B3-3A40-A701-77C5C4487585}"/>
                    </a:ext>
                  </a:extLst>
                </p:cNvPr>
                <p:cNvSpPr>
                  <a:spLocks noRot="1" noChangeAspect="1" noMove="1" noResize="1" noEditPoints="1" noAdjustHandles="1" noChangeArrowheads="1" noChangeShapeType="1" noTextEdit="1"/>
                </p:cNvSpPr>
                <p:nvPr/>
              </p:nvSpPr>
              <p:spPr>
                <a:xfrm>
                  <a:off x="2451336" y="1923744"/>
                  <a:ext cx="2489143" cy="855299"/>
                </a:xfrm>
                <a:prstGeom prst="rect">
                  <a:avLst/>
                </a:prstGeom>
                <a:blipFill>
                  <a:blip r:embed="rId7"/>
                  <a:stretch>
                    <a:fillRect b="-2899"/>
                  </a:stretch>
                </a:blipFill>
              </p:spPr>
              <p:txBody>
                <a:bodyPr/>
                <a:lstStyle/>
                <a:p>
                  <a:r>
                    <a:rPr lang="en-US">
                      <a:noFill/>
                    </a:rPr>
                    <a:t> </a:t>
                  </a:r>
                </a:p>
              </p:txBody>
            </p:sp>
          </mc:Fallback>
        </mc:AlternateContent>
      </p:grpSp>
      <p:grpSp>
        <p:nvGrpSpPr>
          <p:cNvPr id="8" name="Group 7">
            <a:extLst>
              <a:ext uri="{FF2B5EF4-FFF2-40B4-BE49-F238E27FC236}">
                <a16:creationId xmlns:a16="http://schemas.microsoft.com/office/drawing/2014/main" id="{5A526F88-8D24-8E44-BD4A-9E55F8F9D22A}"/>
              </a:ext>
            </a:extLst>
          </p:cNvPr>
          <p:cNvGrpSpPr/>
          <p:nvPr/>
        </p:nvGrpSpPr>
        <p:grpSpPr>
          <a:xfrm>
            <a:off x="301905" y="4661491"/>
            <a:ext cx="9177436" cy="1510952"/>
            <a:chOff x="301905" y="5042491"/>
            <a:chExt cx="9177436" cy="1510952"/>
          </a:xfrm>
        </p:grpSpPr>
        <p:cxnSp>
          <p:nvCxnSpPr>
            <p:cNvPr id="36" name="Straight Connector 35">
              <a:extLst>
                <a:ext uri="{FF2B5EF4-FFF2-40B4-BE49-F238E27FC236}">
                  <a16:creationId xmlns:a16="http://schemas.microsoft.com/office/drawing/2014/main" id="{EDBF1175-4456-6C48-AA78-53ABC8138751}"/>
                </a:ext>
              </a:extLst>
            </p:cNvPr>
            <p:cNvCxnSpPr>
              <a:cxnSpLocks/>
            </p:cNvCxnSpPr>
            <p:nvPr/>
          </p:nvCxnSpPr>
          <p:spPr>
            <a:xfrm>
              <a:off x="1111762" y="5343725"/>
              <a:ext cx="0" cy="107471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77C55E6A-05D8-E341-8AF2-4A8629678D92}"/>
                </a:ext>
              </a:extLst>
            </p:cNvPr>
            <p:cNvGrpSpPr/>
            <p:nvPr/>
          </p:nvGrpSpPr>
          <p:grpSpPr>
            <a:xfrm>
              <a:off x="976905" y="5208725"/>
              <a:ext cx="270000" cy="270000"/>
              <a:chOff x="9085236" y="4757239"/>
              <a:chExt cx="270000" cy="270000"/>
            </a:xfrm>
          </p:grpSpPr>
          <p:cxnSp>
            <p:nvCxnSpPr>
              <p:cNvPr id="41" name="Straight Connector 40">
                <a:extLst>
                  <a:ext uri="{FF2B5EF4-FFF2-40B4-BE49-F238E27FC236}">
                    <a16:creationId xmlns:a16="http://schemas.microsoft.com/office/drawing/2014/main" id="{5064B736-8418-1647-8F6A-0FF65D53BDE7}"/>
                  </a:ext>
                </a:extLst>
              </p:cNvPr>
              <p:cNvCxnSpPr>
                <a:cxnSpLocks/>
              </p:cNvCxnSpPr>
              <p:nvPr/>
            </p:nvCxnSpPr>
            <p:spPr>
              <a:xfrm rot="18900000">
                <a:off x="9085236" y="4892240"/>
                <a:ext cx="27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22A538D9-25CF-DE4B-8A6C-C2491324F0E4}"/>
                  </a:ext>
                </a:extLst>
              </p:cNvPr>
              <p:cNvCxnSpPr>
                <a:cxnSpLocks/>
              </p:cNvCxnSpPr>
              <p:nvPr/>
            </p:nvCxnSpPr>
            <p:spPr>
              <a:xfrm rot="2700000">
                <a:off x="9085093" y="4892239"/>
                <a:ext cx="27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747C88CA-AE99-AC4C-BDDB-9BDED1B7DAB5}"/>
                </a:ext>
              </a:extLst>
            </p:cNvPr>
            <p:cNvGrpSpPr/>
            <p:nvPr/>
          </p:nvGrpSpPr>
          <p:grpSpPr>
            <a:xfrm>
              <a:off x="979022" y="6283443"/>
              <a:ext cx="270000" cy="270000"/>
              <a:chOff x="9085236" y="4763589"/>
              <a:chExt cx="270000" cy="270000"/>
            </a:xfrm>
          </p:grpSpPr>
          <p:cxnSp>
            <p:nvCxnSpPr>
              <p:cNvPr id="39" name="Straight Connector 38">
                <a:extLst>
                  <a:ext uri="{FF2B5EF4-FFF2-40B4-BE49-F238E27FC236}">
                    <a16:creationId xmlns:a16="http://schemas.microsoft.com/office/drawing/2014/main" id="{90469075-B2D1-9049-B4DC-41606C6EA98A}"/>
                  </a:ext>
                </a:extLst>
              </p:cNvPr>
              <p:cNvCxnSpPr>
                <a:cxnSpLocks/>
              </p:cNvCxnSpPr>
              <p:nvPr/>
            </p:nvCxnSpPr>
            <p:spPr>
              <a:xfrm rot="18900000">
                <a:off x="9085236" y="4898590"/>
                <a:ext cx="27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10A24A9-0C63-5340-A9D9-97C3C7903B70}"/>
                  </a:ext>
                </a:extLst>
              </p:cNvPr>
              <p:cNvCxnSpPr>
                <a:cxnSpLocks/>
              </p:cNvCxnSpPr>
              <p:nvPr/>
            </p:nvCxnSpPr>
            <p:spPr>
              <a:xfrm rot="2700000">
                <a:off x="9085093" y="4898589"/>
                <a:ext cx="27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7" name="Straight Connector 46">
              <a:extLst>
                <a:ext uri="{FF2B5EF4-FFF2-40B4-BE49-F238E27FC236}">
                  <a16:creationId xmlns:a16="http://schemas.microsoft.com/office/drawing/2014/main" id="{CFDD72D9-DE31-6646-A5D4-20C0E772DE3E}"/>
                </a:ext>
              </a:extLst>
            </p:cNvPr>
            <p:cNvCxnSpPr>
              <a:cxnSpLocks/>
            </p:cNvCxnSpPr>
            <p:nvPr/>
          </p:nvCxnSpPr>
          <p:spPr>
            <a:xfrm flipH="1">
              <a:off x="301905" y="5347808"/>
              <a:ext cx="16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5C763469-A838-AB46-A107-5D5B417A3341}"/>
                </a:ext>
              </a:extLst>
            </p:cNvPr>
            <p:cNvCxnSpPr>
              <a:cxnSpLocks/>
            </p:cNvCxnSpPr>
            <p:nvPr/>
          </p:nvCxnSpPr>
          <p:spPr>
            <a:xfrm flipH="1">
              <a:off x="301905" y="6418443"/>
              <a:ext cx="16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0D0AE16F-CCD2-BA4F-9DDC-36448F396D2F}"/>
                    </a:ext>
                  </a:extLst>
                </p:cNvPr>
                <p:cNvSpPr/>
                <p:nvPr/>
              </p:nvSpPr>
              <p:spPr>
                <a:xfrm>
                  <a:off x="2724301" y="5042491"/>
                  <a:ext cx="3541226" cy="1471941"/>
                </a:xfrm>
                <a:prstGeom prst="rect">
                  <a:avLst/>
                </a:prstGeom>
              </p:spPr>
              <p:txBody>
                <a:bodyPr wrap="none">
                  <a:spAutoFit/>
                </a:bodyPr>
                <a:lstStyle/>
                <a:p>
                  <a14:m>
                    <m:oMath xmlns:m="http://schemas.openxmlformats.org/officeDocument/2006/math">
                      <m:r>
                        <a:rPr lang="en-US" sz="2400" b="0" i="1" smtClean="0">
                          <a:latin typeface="Cambria Math" panose="02040503050406030204" pitchFamily="18" charset="0"/>
                        </a:rPr>
                        <m:t>𝑆𝑊𝐴𝑃</m:t>
                      </m:r>
                      <m:r>
                        <a:rPr lang="en-US" sz="2400" b="0" i="1" smtClean="0">
                          <a:latin typeface="Cambria Math" panose="02040503050406030204" pitchFamily="18" charset="0"/>
                        </a:rPr>
                        <m:t>=</m:t>
                      </m:r>
                      <m:d>
                        <m:dPr>
                          <m:ctrlPr>
                            <a:rPr lang="en-US" sz="2400" i="1">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1</m:t>
                                </m:r>
                              </m:e>
                              <m:e>
                                <m:r>
                                  <a:rPr lang="en-US" sz="2400" i="1">
                                    <a:latin typeface="Cambria Math" panose="02040503050406030204" pitchFamily="18" charset="0"/>
                                  </a:rPr>
                                  <m:t>0</m:t>
                                </m:r>
                              </m:e>
                              <m:e>
                                <m:r>
                                  <a:rPr lang="en-US" sz="2400" i="1">
                                    <a:latin typeface="Cambria Math" panose="02040503050406030204" pitchFamily="18" charset="0"/>
                                  </a:rPr>
                                  <m:t>0</m:t>
                                </m:r>
                              </m:e>
                              <m:e>
                                <m:r>
                                  <a:rPr lang="en-US" sz="2400" i="1">
                                    <a:latin typeface="Cambria Math" panose="02040503050406030204" pitchFamily="18" charset="0"/>
                                  </a:rPr>
                                  <m:t>0</m:t>
                                </m:r>
                              </m:e>
                            </m:mr>
                            <m:mr>
                              <m:e>
                                <m:r>
                                  <a:rPr lang="en-US" sz="2400" i="1">
                                    <a:latin typeface="Cambria Math" panose="02040503050406030204" pitchFamily="18" charset="0"/>
                                  </a:rPr>
                                  <m:t>0</m:t>
                                </m:r>
                              </m:e>
                              <m:e>
                                <m:r>
                                  <a:rPr lang="en-US" sz="2400" i="1">
                                    <a:latin typeface="Cambria Math" panose="02040503050406030204" pitchFamily="18" charset="0"/>
                                  </a:rPr>
                                  <m:t>0</m:t>
                                </m:r>
                              </m:e>
                              <m:e>
                                <m:r>
                                  <a:rPr lang="en-US" sz="2400" i="1">
                                    <a:latin typeface="Cambria Math" panose="02040503050406030204" pitchFamily="18" charset="0"/>
                                  </a:rPr>
                                  <m:t>1</m:t>
                                </m:r>
                              </m:e>
                              <m:e>
                                <m:r>
                                  <a:rPr lang="en-US" sz="2400" i="1">
                                    <a:latin typeface="Cambria Math" panose="02040503050406030204" pitchFamily="18" charset="0"/>
                                  </a:rPr>
                                  <m:t>0</m:t>
                                </m:r>
                              </m:e>
                            </m:mr>
                            <m:mr>
                              <m:e>
                                <m:r>
                                  <a:rPr lang="en-US" sz="2400" i="1">
                                    <a:latin typeface="Cambria Math" panose="02040503050406030204" pitchFamily="18" charset="0"/>
                                  </a:rPr>
                                  <m:t>0</m:t>
                                </m:r>
                              </m:e>
                              <m:e>
                                <m:r>
                                  <a:rPr lang="en-US" sz="2400" i="1">
                                    <a:latin typeface="Cambria Math" panose="02040503050406030204" pitchFamily="18" charset="0"/>
                                  </a:rPr>
                                  <m:t>1</m:t>
                                </m:r>
                              </m:e>
                              <m:e>
                                <m:r>
                                  <a:rPr lang="en-US" sz="2400" i="1">
                                    <a:latin typeface="Cambria Math" panose="02040503050406030204" pitchFamily="18" charset="0"/>
                                  </a:rPr>
                                  <m:t>0</m:t>
                                </m:r>
                              </m:e>
                              <m:e>
                                <m:r>
                                  <a:rPr lang="en-US" sz="2400" i="1">
                                    <a:latin typeface="Cambria Math" panose="02040503050406030204" pitchFamily="18" charset="0"/>
                                  </a:rPr>
                                  <m:t>0</m:t>
                                </m:r>
                              </m:e>
                            </m:mr>
                            <m:mr>
                              <m:e>
                                <m:r>
                                  <a:rPr lang="en-US" sz="2400" i="1">
                                    <a:latin typeface="Cambria Math" panose="02040503050406030204" pitchFamily="18" charset="0"/>
                                  </a:rPr>
                                  <m:t>0</m:t>
                                </m:r>
                              </m:e>
                              <m:e>
                                <m:r>
                                  <a:rPr lang="en-US" sz="2400" i="1">
                                    <a:latin typeface="Cambria Math" panose="02040503050406030204" pitchFamily="18" charset="0"/>
                                  </a:rPr>
                                  <m:t>0</m:t>
                                </m:r>
                              </m:e>
                              <m:e>
                                <m:r>
                                  <a:rPr lang="en-US" sz="2400" i="1">
                                    <a:latin typeface="Cambria Math" panose="02040503050406030204" pitchFamily="18" charset="0"/>
                                  </a:rPr>
                                  <m:t>0</m:t>
                                </m:r>
                              </m:e>
                              <m:e>
                                <m:r>
                                  <a:rPr lang="en-US" sz="2400" i="1">
                                    <a:latin typeface="Cambria Math" panose="02040503050406030204" pitchFamily="18" charset="0"/>
                                  </a:rPr>
                                  <m:t>1</m:t>
                                </m:r>
                              </m:e>
                            </m:mr>
                          </m:m>
                        </m:e>
                      </m:d>
                    </m:oMath>
                  </a14:m>
                  <a:r>
                    <a:rPr lang="en-US" dirty="0">
                      <a:solidFill>
                        <a:srgbClr val="C00000"/>
                      </a:solidFill>
                    </a:rPr>
                    <a:t> </a:t>
                  </a:r>
                  <a:endParaRPr lang="en-US" dirty="0"/>
                </a:p>
              </p:txBody>
            </p:sp>
          </mc:Choice>
          <mc:Fallback xmlns="">
            <p:sp>
              <p:nvSpPr>
                <p:cNvPr id="50" name="Rectangle 49">
                  <a:extLst>
                    <a:ext uri="{FF2B5EF4-FFF2-40B4-BE49-F238E27FC236}">
                      <a16:creationId xmlns:a16="http://schemas.microsoft.com/office/drawing/2014/main" id="{0D0AE16F-CCD2-BA4F-9DDC-36448F396D2F}"/>
                    </a:ext>
                  </a:extLst>
                </p:cNvPr>
                <p:cNvSpPr>
                  <a:spLocks noRot="1" noChangeAspect="1" noMove="1" noResize="1" noEditPoints="1" noAdjustHandles="1" noChangeArrowheads="1" noChangeShapeType="1" noTextEdit="1"/>
                </p:cNvSpPr>
                <p:nvPr/>
              </p:nvSpPr>
              <p:spPr>
                <a:xfrm>
                  <a:off x="2724301" y="5042491"/>
                  <a:ext cx="3541226" cy="1471941"/>
                </a:xfrm>
                <a:prstGeom prst="rect">
                  <a:avLst/>
                </a:prstGeom>
                <a:blipFill>
                  <a:blip r:embed="rId8"/>
                  <a:stretch>
                    <a:fillRect l="-358" b="-8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B89D91B2-5D0A-DD47-8B22-427A9AFF8BF8}"/>
                    </a:ext>
                  </a:extLst>
                </p:cNvPr>
                <p:cNvSpPr/>
                <p:nvPr/>
              </p:nvSpPr>
              <p:spPr>
                <a:xfrm>
                  <a:off x="6521993" y="5519880"/>
                  <a:ext cx="2957348" cy="51610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𝑆𝑊𝐴𝑃</m:t>
                        </m:r>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𝑗</m:t>
                            </m:r>
                          </m:sub>
                        </m:sSub>
                        <m:d>
                          <m:dPr>
                            <m:begChr m:val=""/>
                            <m:endChr m:val="⟩"/>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𝑖</m:t>
                                </m:r>
                              </m:sub>
                            </m:sSub>
                          </m:e>
                        </m:d>
                        <m:r>
                          <a:rPr lang="en-US" sz="2400" b="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𝑖</m:t>
                            </m:r>
                          </m:sub>
                        </m:sSub>
                        <m:d>
                          <m:dPr>
                            <m:begChr m:val=""/>
                            <m:endChr m:val="⟩"/>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𝑗</m:t>
                                </m:r>
                              </m:sub>
                            </m:sSub>
                          </m:e>
                        </m:d>
                      </m:oMath>
                    </m:oMathPara>
                  </a14:m>
                  <a:endParaRPr lang="en-US" sz="2400" dirty="0"/>
                </a:p>
              </p:txBody>
            </p:sp>
          </mc:Choice>
          <mc:Fallback xmlns="">
            <p:sp>
              <p:nvSpPr>
                <p:cNvPr id="51" name="Rectangle 50">
                  <a:extLst>
                    <a:ext uri="{FF2B5EF4-FFF2-40B4-BE49-F238E27FC236}">
                      <a16:creationId xmlns:a16="http://schemas.microsoft.com/office/drawing/2014/main" id="{B89D91B2-5D0A-DD47-8B22-427A9AFF8BF8}"/>
                    </a:ext>
                  </a:extLst>
                </p:cNvPr>
                <p:cNvSpPr>
                  <a:spLocks noRot="1" noChangeAspect="1" noMove="1" noResize="1" noEditPoints="1" noAdjustHandles="1" noChangeArrowheads="1" noChangeShapeType="1" noTextEdit="1"/>
                </p:cNvSpPr>
                <p:nvPr/>
              </p:nvSpPr>
              <p:spPr>
                <a:xfrm>
                  <a:off x="6521993" y="5519880"/>
                  <a:ext cx="2957348" cy="516103"/>
                </a:xfrm>
                <a:prstGeom prst="rect">
                  <a:avLst/>
                </a:prstGeom>
                <a:blipFill>
                  <a:blip r:embed="rId9"/>
                  <a:stretch>
                    <a:fillRect t="-158537" r="-16738" b="-239024"/>
                  </a:stretch>
                </a:blipFill>
              </p:spPr>
              <p:txBody>
                <a:bodyPr/>
                <a:lstStyle/>
                <a:p>
                  <a:r>
                    <a:rPr lang="en-US">
                      <a:noFill/>
                    </a:rPr>
                    <a:t> </a:t>
                  </a:r>
                </a:p>
              </p:txBody>
            </p:sp>
          </mc:Fallback>
        </mc:AlternateContent>
      </p:grpSp>
    </p:spTree>
    <p:extLst>
      <p:ext uri="{BB962C8B-B14F-4D97-AF65-F5344CB8AC3E}">
        <p14:creationId xmlns:p14="http://schemas.microsoft.com/office/powerpoint/2010/main" val="407747568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9D8E4-0471-D64D-9BF1-34472B3499CC}"/>
              </a:ext>
            </a:extLst>
          </p:cNvPr>
          <p:cNvSpPr>
            <a:spLocks noGrp="1"/>
          </p:cNvSpPr>
          <p:nvPr>
            <p:ph type="title"/>
          </p:nvPr>
        </p:nvSpPr>
        <p:spPr>
          <a:xfrm>
            <a:off x="0" y="0"/>
            <a:ext cx="12192000" cy="928688"/>
          </a:xfrm>
        </p:spPr>
        <p:txBody>
          <a:bodyPr/>
          <a:lstStyle/>
          <a:p>
            <a:r>
              <a:rPr lang="en-ZA" dirty="0"/>
              <a:t>QFT: 2 qubits</a:t>
            </a:r>
            <a:endParaRPr lang="en-US" dirty="0"/>
          </a:p>
        </p:txBody>
      </p:sp>
      <p:sp>
        <p:nvSpPr>
          <p:cNvPr id="3" name="Slide Number Placeholder 2">
            <a:extLst>
              <a:ext uri="{FF2B5EF4-FFF2-40B4-BE49-F238E27FC236}">
                <a16:creationId xmlns:a16="http://schemas.microsoft.com/office/drawing/2014/main" id="{0FCEE801-4E99-D049-B3F5-D3CD355EE22C}"/>
              </a:ext>
            </a:extLst>
          </p:cNvPr>
          <p:cNvSpPr>
            <a:spLocks noGrp="1"/>
          </p:cNvSpPr>
          <p:nvPr>
            <p:ph type="sldNum" sz="quarter" idx="12"/>
          </p:nvPr>
        </p:nvSpPr>
        <p:spPr/>
        <p:txBody>
          <a:bodyPr/>
          <a:lstStyle/>
          <a:p>
            <a:fld id="{591A223C-FA10-BC46-A853-03BA373D023C}" type="slidenum">
              <a:rPr lang="en-US" smtClean="0"/>
              <a:t>64</a:t>
            </a:fld>
            <a:endParaRPr lang="en-US" dirty="0"/>
          </a:p>
        </p:txBody>
      </p:sp>
      <mc:AlternateContent xmlns:mc="http://schemas.openxmlformats.org/markup-compatibility/2006" xmlns:a14="http://schemas.microsoft.com/office/drawing/2010/main">
        <mc:Choice Requires="a14">
          <p:sp>
            <p:nvSpPr>
              <p:cNvPr id="45" name="Rectangle 44">
                <a:extLst>
                  <a:ext uri="{FF2B5EF4-FFF2-40B4-BE49-F238E27FC236}">
                    <a16:creationId xmlns:a16="http://schemas.microsoft.com/office/drawing/2014/main" id="{8AA51D4D-C0B2-4347-99A3-EB254EBA5E75}"/>
                  </a:ext>
                </a:extLst>
              </p:cNvPr>
              <p:cNvSpPr/>
              <p:nvPr/>
            </p:nvSpPr>
            <p:spPr>
              <a:xfrm>
                <a:off x="374640" y="1033090"/>
                <a:ext cx="8352415" cy="636393"/>
              </a:xfrm>
              <a:prstGeom prst="rect">
                <a:avLst/>
              </a:prstGeom>
              <a:noFill/>
            </p:spPr>
            <p:txBody>
              <a:bodyPr wrap="none">
                <a:spAutoFit/>
              </a:bodyPr>
              <a:lstStyle/>
              <a:p>
                <a14:m>
                  <m:oMath xmlns:m="http://schemas.openxmlformats.org/officeDocument/2006/math">
                    <m:m>
                      <m:mPr>
                        <m:mcs>
                          <m:mc>
                            <m:mcPr>
                              <m:count m:val="1"/>
                              <m:mcJc m:val="center"/>
                            </m:mcPr>
                          </m:mc>
                        </m:mcs>
                        <m:ctrlPr>
                          <a:rPr lang="en-US" sz="2400" b="0" i="1" smtClean="0">
                            <a:latin typeface="Cambria Math" panose="02040503050406030204" pitchFamily="18" charset="0"/>
                            <a:ea typeface="Cambria Math" panose="02040503050406030204" pitchFamily="18" charset="0"/>
                          </a:rPr>
                        </m:ctrlPr>
                      </m:mPr>
                      <m:mr>
                        <m:e>
                          <m:r>
                            <m:rPr>
                              <m:brk m:alnAt="7"/>
                            </m:rPr>
                            <a:rPr lang="en-US" sz="2400" b="0" i="1" smtClean="0">
                              <a:latin typeface="Cambria Math" panose="02040503050406030204" pitchFamily="18" charset="0"/>
                              <a:ea typeface="Cambria Math" panose="02040503050406030204" pitchFamily="18" charset="0"/>
                            </a:rPr>
                            <m:t>𝑄</m:t>
                          </m:r>
                          <m:r>
                            <a:rPr lang="en-US" sz="2400" b="0" i="1" smtClean="0">
                              <a:latin typeface="Cambria Math" panose="02040503050406030204" pitchFamily="18" charset="0"/>
                              <a:ea typeface="Cambria Math" panose="02040503050406030204" pitchFamily="18" charset="0"/>
                            </a:rPr>
                            <m:t>𝐹𝑇</m:t>
                          </m:r>
                          <m:r>
                            <a:rPr lang="en-US" sz="2400" b="0" i="1" smtClean="0">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1</m:t>
                                  </m:r>
                                </m:sub>
                              </m:sSub>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2</m:t>
                                  </m:r>
                                </m:sub>
                              </m:sSub>
                            </m:e>
                          </m:d>
                          <m:r>
                            <a:rPr lang="en-US" sz="2400" b="0" i="1" smtClean="0">
                              <a:latin typeface="Cambria Math" panose="02040503050406030204" pitchFamily="18" charset="0"/>
                              <a:ea typeface="Cambria Math" panose="02040503050406030204" pitchFamily="18" charset="0"/>
                            </a:rPr>
                            <m:t>=</m:t>
                          </m:r>
                        </m:e>
                      </m:mr>
                    </m:m>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ad>
                          <m:radPr>
                            <m:degHide m:val="on"/>
                            <m:ctrlPr>
                              <a:rPr lang="en-US" sz="2400" i="1">
                                <a:latin typeface="Cambria Math" panose="02040503050406030204" pitchFamily="18" charset="0"/>
                                <a:ea typeface="Cambria Math" panose="02040503050406030204" pitchFamily="18" charset="0"/>
                              </a:rPr>
                            </m:ctrlPr>
                          </m:radPr>
                          <m:deg/>
                          <m:e>
                            <m:r>
                              <a:rPr lang="en-US" sz="2400" i="1">
                                <a:latin typeface="Cambria Math" panose="02040503050406030204" pitchFamily="18" charset="0"/>
                                <a:ea typeface="Cambria Math" panose="02040503050406030204" pitchFamily="18" charset="0"/>
                              </a:rPr>
                              <m:t>2</m:t>
                            </m:r>
                          </m:e>
                        </m:rad>
                      </m:den>
                    </m:f>
                    <m:d>
                      <m:dPr>
                        <m:ctrlPr>
                          <a:rPr lang="en-US" sz="2400" i="1">
                            <a:latin typeface="Cambria Math" panose="02040503050406030204" pitchFamily="18" charset="0"/>
                            <a:ea typeface="Cambria Math" panose="02040503050406030204" pitchFamily="18" charset="0"/>
                          </a:rPr>
                        </m:ctrlPr>
                      </m:dPr>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r>
                              <a:rPr lang="en-US" sz="2400" b="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0.</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1</m:t>
                                </m:r>
                              </m:sub>
                            </m:sSub>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i="1">
                                    <a:latin typeface="Cambria Math" panose="02040503050406030204" pitchFamily="18" charset="0"/>
                                    <a:ea typeface="Cambria Math" panose="02040503050406030204" pitchFamily="18" charset="0"/>
                                  </a:rPr>
                                  <m:t>2</m:t>
                                </m:r>
                              </m:sub>
                            </m:sSub>
                            <m:r>
                              <a:rPr lang="en-US" sz="2400" b="0" i="1" smtClean="0">
                                <a:latin typeface="Cambria Math" panose="02040503050406030204" pitchFamily="18" charset="0"/>
                                <a:ea typeface="Cambria Math" panose="02040503050406030204" pitchFamily="18" charset="0"/>
                              </a:rPr>
                              <m:t>]</m:t>
                            </m:r>
                          </m:sup>
                        </m:sSup>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m:t>
                            </m:r>
                          </m:e>
                        </m:d>
                      </m:e>
                    </m:d>
                  </m:oMath>
                </a14:m>
                <a:r>
                  <a:rPr lang="en-US" sz="2400" dirty="0">
                    <a:ea typeface="Cambria Math" panose="02040503050406030204" pitchFamily="18"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m:t>
                    </m:r>
                  </m:oMath>
                </a14:m>
                <a:r>
                  <a:rPr lang="en-US" sz="2400" dirty="0">
                    <a:ea typeface="Cambria Math" panose="02040503050406030204" pitchFamily="18" charset="0"/>
                  </a:rPr>
                  <a:t> </a:t>
                </a:r>
                <a14:m>
                  <m:oMath xmlns:m="http://schemas.openxmlformats.org/officeDocument/2006/math">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ad>
                          <m:radPr>
                            <m:degHide m:val="on"/>
                            <m:ctrlPr>
                              <a:rPr lang="en-US" sz="2400" i="1">
                                <a:latin typeface="Cambria Math" panose="02040503050406030204" pitchFamily="18" charset="0"/>
                                <a:ea typeface="Cambria Math" panose="02040503050406030204" pitchFamily="18" charset="0"/>
                              </a:rPr>
                            </m:ctrlPr>
                          </m:radPr>
                          <m:deg/>
                          <m:e>
                            <m:r>
                              <a:rPr lang="en-US" sz="2400" i="1">
                                <a:latin typeface="Cambria Math" panose="02040503050406030204" pitchFamily="18" charset="0"/>
                                <a:ea typeface="Cambria Math" panose="02040503050406030204" pitchFamily="18" charset="0"/>
                              </a:rPr>
                              <m:t>2</m:t>
                            </m:r>
                          </m:e>
                        </m:rad>
                      </m:den>
                    </m:f>
                    <m:d>
                      <m:dPr>
                        <m:ctrlPr>
                          <a:rPr lang="en-US" sz="2400" i="1">
                            <a:latin typeface="Cambria Math" panose="02040503050406030204" pitchFamily="18" charset="0"/>
                            <a:ea typeface="Cambria Math" panose="02040503050406030204" pitchFamily="18" charset="0"/>
                          </a:rPr>
                        </m:ctrlPr>
                      </m:dPr>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r>
                              <a:rPr lang="en-US" sz="2400" i="1">
                                <a:latin typeface="Cambria Math" panose="02040503050406030204" pitchFamily="18" charset="0"/>
                                <a:ea typeface="Cambria Math" panose="02040503050406030204" pitchFamily="18" charset="0"/>
                              </a:rPr>
                              <m:t>[0.</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i="1">
                                    <a:latin typeface="Cambria Math" panose="02040503050406030204" pitchFamily="18" charset="0"/>
                                    <a:ea typeface="Cambria Math" panose="02040503050406030204" pitchFamily="18" charset="0"/>
                                  </a:rPr>
                                  <m:t>2</m:t>
                                </m:r>
                              </m:sub>
                            </m:sSub>
                            <m:r>
                              <a:rPr lang="en-US" sz="2400" i="1">
                                <a:latin typeface="Cambria Math" panose="02040503050406030204" pitchFamily="18" charset="0"/>
                                <a:ea typeface="Cambria Math" panose="02040503050406030204" pitchFamily="18" charset="0"/>
                              </a:rPr>
                              <m:t>]</m:t>
                            </m:r>
                          </m:sup>
                        </m:sSup>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m:t>
                            </m:r>
                          </m:e>
                        </m:d>
                      </m:e>
                    </m:d>
                  </m:oMath>
                </a14:m>
                <a:endParaRPr lang="en-US" sz="2400" dirty="0"/>
              </a:p>
            </p:txBody>
          </p:sp>
        </mc:Choice>
        <mc:Fallback xmlns="">
          <p:sp>
            <p:nvSpPr>
              <p:cNvPr id="45" name="Rectangle 44">
                <a:extLst>
                  <a:ext uri="{FF2B5EF4-FFF2-40B4-BE49-F238E27FC236}">
                    <a16:creationId xmlns:a16="http://schemas.microsoft.com/office/drawing/2014/main" id="{8AA51D4D-C0B2-4347-99A3-EB254EBA5E75}"/>
                  </a:ext>
                </a:extLst>
              </p:cNvPr>
              <p:cNvSpPr>
                <a:spLocks noRot="1" noChangeAspect="1" noMove="1" noResize="1" noEditPoints="1" noAdjustHandles="1" noChangeArrowheads="1" noChangeShapeType="1" noTextEdit="1"/>
              </p:cNvSpPr>
              <p:nvPr/>
            </p:nvSpPr>
            <p:spPr>
              <a:xfrm>
                <a:off x="374640" y="1033090"/>
                <a:ext cx="8352415" cy="636393"/>
              </a:xfrm>
              <a:prstGeom prst="rect">
                <a:avLst/>
              </a:prstGeom>
              <a:blipFill>
                <a:blip r:embed="rId3"/>
                <a:stretch>
                  <a:fillRect l="-455" t="-78431" r="-2428" b="-12941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03B87FA8-098C-3B4C-A9E9-0D2672D42B52}"/>
                  </a:ext>
                </a:extLst>
              </p:cNvPr>
              <p:cNvSpPr/>
              <p:nvPr/>
            </p:nvSpPr>
            <p:spPr>
              <a:xfrm>
                <a:off x="6613589" y="3401980"/>
                <a:ext cx="2955168" cy="79175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200" i="1" smtClean="0">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1</m:t>
                          </m:r>
                        </m:num>
                        <m:den>
                          <m:rad>
                            <m:radPr>
                              <m:degHide m:val="on"/>
                              <m:ctrlPr>
                                <a:rPr lang="en-US" sz="2200" i="1">
                                  <a:latin typeface="Cambria Math" panose="02040503050406030204" pitchFamily="18" charset="0"/>
                                  <a:ea typeface="Cambria Math" panose="02040503050406030204" pitchFamily="18" charset="0"/>
                                </a:rPr>
                              </m:ctrlPr>
                            </m:radPr>
                            <m:deg/>
                            <m:e>
                              <m:r>
                                <a:rPr lang="en-US" sz="2200" i="1">
                                  <a:latin typeface="Cambria Math" panose="02040503050406030204" pitchFamily="18" charset="0"/>
                                  <a:ea typeface="Cambria Math" panose="02040503050406030204" pitchFamily="18" charset="0"/>
                                </a:rPr>
                                <m:t>2</m:t>
                              </m:r>
                            </m:e>
                          </m:rad>
                        </m:den>
                      </m:f>
                      <m:d>
                        <m:dPr>
                          <m:ctrlPr>
                            <a:rPr lang="en-US" sz="2200" i="1">
                              <a:latin typeface="Cambria Math" panose="02040503050406030204" pitchFamily="18" charset="0"/>
                              <a:ea typeface="Cambria Math" panose="02040503050406030204" pitchFamily="18" charset="0"/>
                            </a:rPr>
                          </m:ctrlPr>
                        </m:dPr>
                        <m:e>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|0</m:t>
                              </m:r>
                            </m:e>
                          </m:d>
                          <m:r>
                            <a:rPr lang="en-US" sz="2200" i="1">
                              <a:latin typeface="Cambria Math" panose="02040503050406030204" pitchFamily="18" charset="0"/>
                              <a:ea typeface="Cambria Math" panose="02040503050406030204" pitchFamily="18" charset="0"/>
                            </a:rPr>
                            <m:t>+</m:t>
                          </m:r>
                          <m:sSup>
                            <m:sSupPr>
                              <m:ctrlPr>
                                <a:rPr lang="en-US" sz="2200" i="1">
                                  <a:latin typeface="Cambria Math" panose="02040503050406030204" pitchFamily="18"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𝑒</m:t>
                              </m:r>
                            </m:e>
                            <m:sup>
                              <m:r>
                                <a:rPr lang="en-US" sz="2200" b="0" i="1" smtClean="0">
                                  <a:latin typeface="Cambria Math" panose="02040503050406030204" pitchFamily="18" charset="0"/>
                                  <a:ea typeface="Cambria Math" panose="02040503050406030204" pitchFamily="18" charset="0"/>
                                </a:rPr>
                                <m:t>2</m:t>
                              </m:r>
                              <m:r>
                                <a:rPr lang="en-US" sz="2200" i="1">
                                  <a:latin typeface="Cambria Math" panose="02040503050406030204" pitchFamily="18" charset="0"/>
                                  <a:ea typeface="Cambria Math" panose="02040503050406030204" pitchFamily="18" charset="0"/>
                                </a:rPr>
                                <m:t>𝜋</m:t>
                              </m:r>
                              <m:r>
                                <a:rPr lang="en-US" sz="2200" i="1">
                                  <a:latin typeface="Cambria Math" panose="02040503050406030204" pitchFamily="18" charset="0"/>
                                  <a:ea typeface="Cambria Math" panose="02040503050406030204" pitchFamily="18" charset="0"/>
                                </a:rPr>
                                <m:t>𝑖</m:t>
                              </m:r>
                              <m:r>
                                <a:rPr lang="en-US" sz="2200" b="0" i="1" smtClean="0">
                                  <a:latin typeface="Cambria Math" panose="02040503050406030204" pitchFamily="18" charset="0"/>
                                  <a:ea typeface="Cambria Math" panose="02040503050406030204" pitchFamily="18" charset="0"/>
                                </a:rPr>
                                <m:t>[0.</m:t>
                              </m:r>
                              <m:sSub>
                                <m:sSubPr>
                                  <m:ctrlPr>
                                    <a:rPr lang="en-US" sz="2200" i="1">
                                      <a:latin typeface="Cambria Math" panose="02040503050406030204" pitchFamily="18" charset="0"/>
                                      <a:ea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𝑥</m:t>
                                  </m:r>
                                </m:e>
                                <m:sub>
                                  <m:r>
                                    <a:rPr lang="en-US" sz="2200" b="0" i="1" smtClean="0">
                                      <a:latin typeface="Cambria Math" panose="02040503050406030204" pitchFamily="18" charset="0"/>
                                      <a:ea typeface="Cambria Math" panose="02040503050406030204" pitchFamily="18" charset="0"/>
                                    </a:rPr>
                                    <m:t>2</m:t>
                                  </m:r>
                                </m:sub>
                              </m:sSub>
                              <m:r>
                                <a:rPr lang="en-US" sz="2200" b="0" i="1" smtClean="0">
                                  <a:latin typeface="Cambria Math" panose="02040503050406030204" pitchFamily="18" charset="0"/>
                                  <a:ea typeface="Cambria Math" panose="02040503050406030204" pitchFamily="18" charset="0"/>
                                </a:rPr>
                                <m:t>]</m:t>
                              </m:r>
                            </m:sup>
                          </m:sSup>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|1</m:t>
                              </m:r>
                            </m:e>
                          </m:d>
                        </m:e>
                      </m:d>
                    </m:oMath>
                  </m:oMathPara>
                </a14:m>
                <a:endParaRPr lang="en-US" sz="2200" dirty="0"/>
              </a:p>
            </p:txBody>
          </p:sp>
        </mc:Choice>
        <mc:Fallback xmlns="">
          <p:sp>
            <p:nvSpPr>
              <p:cNvPr id="14" name="Rectangle 13">
                <a:extLst>
                  <a:ext uri="{FF2B5EF4-FFF2-40B4-BE49-F238E27FC236}">
                    <a16:creationId xmlns:a16="http://schemas.microsoft.com/office/drawing/2014/main" id="{03B87FA8-098C-3B4C-A9E9-0D2672D42B52}"/>
                  </a:ext>
                </a:extLst>
              </p:cNvPr>
              <p:cNvSpPr>
                <a:spLocks noRot="1" noChangeAspect="1" noMove="1" noResize="1" noEditPoints="1" noAdjustHandles="1" noChangeArrowheads="1" noChangeShapeType="1" noTextEdit="1"/>
              </p:cNvSpPr>
              <p:nvPr/>
            </p:nvSpPr>
            <p:spPr>
              <a:xfrm>
                <a:off x="6613589" y="3401980"/>
                <a:ext cx="2955168" cy="791755"/>
              </a:xfrm>
              <a:prstGeom prst="rect">
                <a:avLst/>
              </a:prstGeom>
              <a:blipFill>
                <a:blip r:embed="rId4"/>
                <a:stretch>
                  <a:fillRect t="-42857" r="-5150" b="-793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3E87F76-89C6-7243-BECB-2BB8B18389C2}"/>
                  </a:ext>
                </a:extLst>
              </p:cNvPr>
              <p:cNvSpPr/>
              <p:nvPr/>
            </p:nvSpPr>
            <p:spPr>
              <a:xfrm>
                <a:off x="1184350" y="2557432"/>
                <a:ext cx="806246" cy="4822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brk m:alnAt="7"/>
                        </m:rPr>
                        <a:rPr lang="en-US" sz="2200" i="1" smtClean="0">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sSub>
                            <m:sSubPr>
                              <m:ctrlPr>
                                <a:rPr lang="en-US" sz="2200" i="1">
                                  <a:latin typeface="Cambria Math" panose="02040503050406030204" pitchFamily="18" charset="0"/>
                                  <a:ea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𝑥</m:t>
                              </m:r>
                            </m:e>
                            <m:sub>
                              <m:r>
                                <a:rPr lang="en-US" sz="2200" b="0" i="1" smtClean="0">
                                  <a:latin typeface="Cambria Math" panose="02040503050406030204" pitchFamily="18" charset="0"/>
                                  <a:ea typeface="Cambria Math" panose="02040503050406030204" pitchFamily="18" charset="0"/>
                                </a:rPr>
                                <m:t>1</m:t>
                              </m:r>
                            </m:sub>
                          </m:sSub>
                        </m:e>
                      </m:d>
                    </m:oMath>
                  </m:oMathPara>
                </a14:m>
                <a:endParaRPr lang="en-US" sz="2200" dirty="0"/>
              </a:p>
            </p:txBody>
          </p:sp>
        </mc:Choice>
        <mc:Fallback xmlns="">
          <p:sp>
            <p:nvSpPr>
              <p:cNvPr id="15" name="Rectangle 14">
                <a:extLst>
                  <a:ext uri="{FF2B5EF4-FFF2-40B4-BE49-F238E27FC236}">
                    <a16:creationId xmlns:a16="http://schemas.microsoft.com/office/drawing/2014/main" id="{63E87F76-89C6-7243-BECB-2BB8B18389C2}"/>
                  </a:ext>
                </a:extLst>
              </p:cNvPr>
              <p:cNvSpPr>
                <a:spLocks noRot="1" noChangeAspect="1" noMove="1" noResize="1" noEditPoints="1" noAdjustHandles="1" noChangeArrowheads="1" noChangeShapeType="1" noTextEdit="1"/>
              </p:cNvSpPr>
              <p:nvPr/>
            </p:nvSpPr>
            <p:spPr>
              <a:xfrm>
                <a:off x="1184350" y="2557432"/>
                <a:ext cx="806246" cy="482248"/>
              </a:xfrm>
              <a:prstGeom prst="rect">
                <a:avLst/>
              </a:prstGeom>
              <a:blipFill>
                <a:blip r:embed="rId6"/>
                <a:stretch>
                  <a:fillRect l="-4615" t="-94872" r="-33846" b="-16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40447BED-7CFB-6749-AFEF-C041D83BE7BA}"/>
                  </a:ext>
                </a:extLst>
              </p:cNvPr>
              <p:cNvSpPr/>
              <p:nvPr/>
            </p:nvSpPr>
            <p:spPr>
              <a:xfrm>
                <a:off x="1184349" y="3667722"/>
                <a:ext cx="812787" cy="4822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brk m:alnAt="7"/>
                        </m:rPr>
                        <a:rPr lang="en-US" sz="2200" i="1" smtClean="0">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sSub>
                            <m:sSubPr>
                              <m:ctrlPr>
                                <a:rPr lang="en-US" sz="2200" i="1">
                                  <a:latin typeface="Cambria Math" panose="02040503050406030204" pitchFamily="18" charset="0"/>
                                  <a:ea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𝑥</m:t>
                              </m:r>
                            </m:e>
                            <m:sub>
                              <m:r>
                                <a:rPr lang="en-US" sz="2200" b="0" i="1" smtClean="0">
                                  <a:latin typeface="Cambria Math" panose="02040503050406030204" pitchFamily="18" charset="0"/>
                                  <a:ea typeface="Cambria Math" panose="02040503050406030204" pitchFamily="18" charset="0"/>
                                </a:rPr>
                                <m:t>2</m:t>
                              </m:r>
                            </m:sub>
                          </m:sSub>
                        </m:e>
                      </m:d>
                    </m:oMath>
                  </m:oMathPara>
                </a14:m>
                <a:endParaRPr lang="en-US" sz="2200" dirty="0"/>
              </a:p>
            </p:txBody>
          </p:sp>
        </mc:Choice>
        <mc:Fallback xmlns="">
          <p:sp>
            <p:nvSpPr>
              <p:cNvPr id="46" name="Rectangle 45">
                <a:extLst>
                  <a:ext uri="{FF2B5EF4-FFF2-40B4-BE49-F238E27FC236}">
                    <a16:creationId xmlns:a16="http://schemas.microsoft.com/office/drawing/2014/main" id="{40447BED-7CFB-6749-AFEF-C041D83BE7BA}"/>
                  </a:ext>
                </a:extLst>
              </p:cNvPr>
              <p:cNvSpPr>
                <a:spLocks noRot="1" noChangeAspect="1" noMove="1" noResize="1" noEditPoints="1" noAdjustHandles="1" noChangeArrowheads="1" noChangeShapeType="1" noTextEdit="1"/>
              </p:cNvSpPr>
              <p:nvPr/>
            </p:nvSpPr>
            <p:spPr>
              <a:xfrm>
                <a:off x="1184349" y="3667722"/>
                <a:ext cx="812787" cy="482248"/>
              </a:xfrm>
              <a:prstGeom prst="rect">
                <a:avLst/>
              </a:prstGeom>
              <a:blipFill>
                <a:blip r:embed="rId7"/>
                <a:stretch>
                  <a:fillRect l="-4615" t="-94872" r="-33846" b="-1641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A2C2011A-516A-E443-9E89-579F37EEFD4B}"/>
                  </a:ext>
                </a:extLst>
              </p:cNvPr>
              <p:cNvSpPr/>
              <p:nvPr/>
            </p:nvSpPr>
            <p:spPr>
              <a:xfrm>
                <a:off x="6663082" y="2479004"/>
                <a:ext cx="3241015" cy="79175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200" i="1" smtClean="0">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1</m:t>
                          </m:r>
                        </m:num>
                        <m:den>
                          <m:rad>
                            <m:radPr>
                              <m:degHide m:val="on"/>
                              <m:ctrlPr>
                                <a:rPr lang="en-US" sz="2200" i="1">
                                  <a:latin typeface="Cambria Math" panose="02040503050406030204" pitchFamily="18" charset="0"/>
                                  <a:ea typeface="Cambria Math" panose="02040503050406030204" pitchFamily="18" charset="0"/>
                                </a:rPr>
                              </m:ctrlPr>
                            </m:radPr>
                            <m:deg/>
                            <m:e>
                              <m:r>
                                <a:rPr lang="en-US" sz="2200" i="1">
                                  <a:latin typeface="Cambria Math" panose="02040503050406030204" pitchFamily="18" charset="0"/>
                                  <a:ea typeface="Cambria Math" panose="02040503050406030204" pitchFamily="18" charset="0"/>
                                </a:rPr>
                                <m:t>2</m:t>
                              </m:r>
                            </m:e>
                          </m:rad>
                        </m:den>
                      </m:f>
                      <m:d>
                        <m:dPr>
                          <m:ctrlPr>
                            <a:rPr lang="en-US" sz="2200" i="1">
                              <a:latin typeface="Cambria Math" panose="02040503050406030204" pitchFamily="18" charset="0"/>
                              <a:ea typeface="Cambria Math" panose="02040503050406030204" pitchFamily="18" charset="0"/>
                            </a:rPr>
                          </m:ctrlPr>
                        </m:dPr>
                        <m:e>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|0</m:t>
                              </m:r>
                            </m:e>
                          </m:d>
                          <m:r>
                            <a:rPr lang="en-US" sz="2200" i="1">
                              <a:latin typeface="Cambria Math" panose="02040503050406030204" pitchFamily="18" charset="0"/>
                              <a:ea typeface="Cambria Math" panose="02040503050406030204" pitchFamily="18" charset="0"/>
                            </a:rPr>
                            <m:t>+</m:t>
                          </m:r>
                          <m:sSup>
                            <m:sSupPr>
                              <m:ctrlPr>
                                <a:rPr lang="en-US" sz="2200" i="1">
                                  <a:latin typeface="Cambria Math" panose="02040503050406030204" pitchFamily="18"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𝑒</m:t>
                              </m:r>
                            </m:e>
                            <m:sup>
                              <m:r>
                                <a:rPr lang="en-US" sz="2200" i="1">
                                  <a:latin typeface="Cambria Math" panose="02040503050406030204" pitchFamily="18" charset="0"/>
                                  <a:ea typeface="Cambria Math" panose="02040503050406030204" pitchFamily="18" charset="0"/>
                                </a:rPr>
                                <m:t>2</m:t>
                              </m:r>
                              <m:r>
                                <a:rPr lang="en-US" sz="2200" i="1">
                                  <a:latin typeface="Cambria Math" panose="02040503050406030204" pitchFamily="18" charset="0"/>
                                  <a:ea typeface="Cambria Math" panose="02040503050406030204" pitchFamily="18" charset="0"/>
                                </a:rPr>
                                <m:t>𝜋</m:t>
                              </m:r>
                              <m:r>
                                <a:rPr lang="en-US" sz="2200" i="1">
                                  <a:latin typeface="Cambria Math" panose="02040503050406030204" pitchFamily="18" charset="0"/>
                                  <a:ea typeface="Cambria Math" panose="02040503050406030204" pitchFamily="18" charset="0"/>
                                </a:rPr>
                                <m:t>𝑖</m:t>
                              </m:r>
                              <m:r>
                                <a:rPr lang="en-US" sz="2200" b="0" i="1" smtClean="0">
                                  <a:latin typeface="Cambria Math" panose="02040503050406030204" pitchFamily="18" charset="0"/>
                                  <a:ea typeface="Cambria Math" panose="02040503050406030204" pitchFamily="18" charset="0"/>
                                </a:rPr>
                                <m:t>[0.</m:t>
                              </m:r>
                              <m:sSub>
                                <m:sSubPr>
                                  <m:ctrlPr>
                                    <a:rPr lang="en-US" sz="2200" i="1">
                                      <a:latin typeface="Cambria Math" panose="02040503050406030204" pitchFamily="18" charset="0"/>
                                      <a:ea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𝑥</m:t>
                                  </m:r>
                                </m:e>
                                <m:sub>
                                  <m:r>
                                    <a:rPr lang="en-US" sz="2200" b="0" i="1" smtClean="0">
                                      <a:latin typeface="Cambria Math" panose="02040503050406030204" pitchFamily="18" charset="0"/>
                                      <a:ea typeface="Cambria Math" panose="02040503050406030204" pitchFamily="18" charset="0"/>
                                    </a:rPr>
                                    <m:t>1</m:t>
                                  </m:r>
                                </m:sub>
                              </m:sSub>
                              <m:sSub>
                                <m:sSubPr>
                                  <m:ctrlPr>
                                    <a:rPr lang="en-US" sz="2200" i="1">
                                      <a:latin typeface="Cambria Math" panose="02040503050406030204" pitchFamily="18" charset="0"/>
                                      <a:ea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𝑥</m:t>
                                  </m:r>
                                </m:e>
                                <m:sub>
                                  <m:r>
                                    <a:rPr lang="en-US" sz="2200" i="1">
                                      <a:latin typeface="Cambria Math" panose="02040503050406030204" pitchFamily="18" charset="0"/>
                                      <a:ea typeface="Cambria Math" panose="02040503050406030204" pitchFamily="18" charset="0"/>
                                    </a:rPr>
                                    <m:t>2</m:t>
                                  </m:r>
                                </m:sub>
                              </m:sSub>
                              <m:r>
                                <a:rPr lang="en-US" sz="2200" b="0" i="1" smtClean="0">
                                  <a:latin typeface="Cambria Math" panose="02040503050406030204" pitchFamily="18" charset="0"/>
                                  <a:ea typeface="Cambria Math" panose="02040503050406030204" pitchFamily="18" charset="0"/>
                                </a:rPr>
                                <m:t>]</m:t>
                              </m:r>
                            </m:sup>
                          </m:sSup>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|1</m:t>
                              </m:r>
                            </m:e>
                          </m:d>
                        </m:e>
                      </m:d>
                    </m:oMath>
                  </m:oMathPara>
                </a14:m>
                <a:endParaRPr lang="en-US" sz="2200" dirty="0"/>
              </a:p>
            </p:txBody>
          </p:sp>
        </mc:Choice>
        <mc:Fallback xmlns="">
          <p:sp>
            <p:nvSpPr>
              <p:cNvPr id="19" name="Rectangle 18">
                <a:extLst>
                  <a:ext uri="{FF2B5EF4-FFF2-40B4-BE49-F238E27FC236}">
                    <a16:creationId xmlns:a16="http://schemas.microsoft.com/office/drawing/2014/main" id="{A2C2011A-516A-E443-9E89-579F37EEFD4B}"/>
                  </a:ext>
                </a:extLst>
              </p:cNvPr>
              <p:cNvSpPr>
                <a:spLocks noRot="1" noChangeAspect="1" noMove="1" noResize="1" noEditPoints="1" noAdjustHandles="1" noChangeArrowheads="1" noChangeShapeType="1" noTextEdit="1"/>
              </p:cNvSpPr>
              <p:nvPr/>
            </p:nvSpPr>
            <p:spPr>
              <a:xfrm>
                <a:off x="6663082" y="2479004"/>
                <a:ext cx="3241015" cy="791755"/>
              </a:xfrm>
              <a:prstGeom prst="rect">
                <a:avLst/>
              </a:prstGeom>
              <a:blipFill>
                <a:blip r:embed="rId8"/>
                <a:stretch>
                  <a:fillRect t="-42188" r="-3516" b="-78125"/>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EF2BEDC7-E01D-CE4F-9F9D-DEEAE9ECDA55}"/>
              </a:ext>
            </a:extLst>
          </p:cNvPr>
          <p:cNvCxnSpPr>
            <a:cxnSpLocks/>
          </p:cNvCxnSpPr>
          <p:nvPr/>
        </p:nvCxnSpPr>
        <p:spPr>
          <a:xfrm flipV="1">
            <a:off x="2018129" y="3916039"/>
            <a:ext cx="45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FBD2272-5AE0-BA43-96E2-9C197E408A88}"/>
              </a:ext>
            </a:extLst>
          </p:cNvPr>
          <p:cNvCxnSpPr>
            <a:cxnSpLocks/>
          </p:cNvCxnSpPr>
          <p:nvPr/>
        </p:nvCxnSpPr>
        <p:spPr>
          <a:xfrm flipV="1">
            <a:off x="2018129" y="2796852"/>
            <a:ext cx="45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4C55FDCF-8353-F144-8210-4586EE87F367}"/>
              </a:ext>
            </a:extLst>
          </p:cNvPr>
          <p:cNvSpPr/>
          <p:nvPr/>
        </p:nvSpPr>
        <p:spPr>
          <a:xfrm>
            <a:off x="4798979" y="3511169"/>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grpSp>
        <p:nvGrpSpPr>
          <p:cNvPr id="12" name="Group 11">
            <a:extLst>
              <a:ext uri="{FF2B5EF4-FFF2-40B4-BE49-F238E27FC236}">
                <a16:creationId xmlns:a16="http://schemas.microsoft.com/office/drawing/2014/main" id="{F7DFEBCE-AB93-1541-9CCC-B330828BEAA4}"/>
              </a:ext>
            </a:extLst>
          </p:cNvPr>
          <p:cNvGrpSpPr/>
          <p:nvPr/>
        </p:nvGrpSpPr>
        <p:grpSpPr>
          <a:xfrm flipV="1">
            <a:off x="3911055" y="3143610"/>
            <a:ext cx="251999" cy="885188"/>
            <a:chOff x="8030221" y="1791784"/>
            <a:chExt cx="251999" cy="885188"/>
          </a:xfrm>
        </p:grpSpPr>
        <p:cxnSp>
          <p:nvCxnSpPr>
            <p:cNvPr id="10" name="Straight Connector 9">
              <a:extLst>
                <a:ext uri="{FF2B5EF4-FFF2-40B4-BE49-F238E27FC236}">
                  <a16:creationId xmlns:a16="http://schemas.microsoft.com/office/drawing/2014/main" id="{CFBC399B-F587-C24D-9174-FC6E34B666BA}"/>
                </a:ext>
              </a:extLst>
            </p:cNvPr>
            <p:cNvCxnSpPr>
              <a:cxnSpLocks/>
            </p:cNvCxnSpPr>
            <p:nvPr/>
          </p:nvCxnSpPr>
          <p:spPr>
            <a:xfrm flipV="1">
              <a:off x="8156221" y="1917785"/>
              <a:ext cx="0" cy="7591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5441F44D-63EF-D54E-8A97-CCE505E2E865}"/>
                </a:ext>
              </a:extLst>
            </p:cNvPr>
            <p:cNvSpPr/>
            <p:nvPr/>
          </p:nvSpPr>
          <p:spPr>
            <a:xfrm>
              <a:off x="8030221" y="1791784"/>
              <a:ext cx="251999" cy="25199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C3D5278F-A6B3-C946-8D1A-67DFF0C5C1F1}"/>
              </a:ext>
            </a:extLst>
          </p:cNvPr>
          <p:cNvGrpSpPr/>
          <p:nvPr/>
        </p:nvGrpSpPr>
        <p:grpSpPr>
          <a:xfrm>
            <a:off x="5955887" y="2664501"/>
            <a:ext cx="270143" cy="1401939"/>
            <a:chOff x="9081624" y="4760885"/>
            <a:chExt cx="270143" cy="1401939"/>
          </a:xfrm>
        </p:grpSpPr>
        <p:cxnSp>
          <p:nvCxnSpPr>
            <p:cNvPr id="16" name="Straight Connector 15">
              <a:extLst>
                <a:ext uri="{FF2B5EF4-FFF2-40B4-BE49-F238E27FC236}">
                  <a16:creationId xmlns:a16="http://schemas.microsoft.com/office/drawing/2014/main" id="{978F2EBA-8F16-C848-A6C0-CF224732C78F}"/>
                </a:ext>
              </a:extLst>
            </p:cNvPr>
            <p:cNvCxnSpPr>
              <a:cxnSpLocks/>
            </p:cNvCxnSpPr>
            <p:nvPr/>
          </p:nvCxnSpPr>
          <p:spPr>
            <a:xfrm>
              <a:off x="9216767" y="4902235"/>
              <a:ext cx="0" cy="112262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AEB3C56A-9058-CC47-A019-6AFD4211B276}"/>
                </a:ext>
              </a:extLst>
            </p:cNvPr>
            <p:cNvGrpSpPr/>
            <p:nvPr/>
          </p:nvGrpSpPr>
          <p:grpSpPr>
            <a:xfrm>
              <a:off x="9081767" y="4760885"/>
              <a:ext cx="270000" cy="270000"/>
              <a:chOff x="9085236" y="4757239"/>
              <a:chExt cx="270000" cy="270000"/>
            </a:xfrm>
          </p:grpSpPr>
          <p:cxnSp>
            <p:nvCxnSpPr>
              <p:cNvPr id="17" name="Straight Connector 16">
                <a:extLst>
                  <a:ext uri="{FF2B5EF4-FFF2-40B4-BE49-F238E27FC236}">
                    <a16:creationId xmlns:a16="http://schemas.microsoft.com/office/drawing/2014/main" id="{10B2A25A-A37F-7D40-A557-7A149DAAC7D4}"/>
                  </a:ext>
                </a:extLst>
              </p:cNvPr>
              <p:cNvCxnSpPr>
                <a:cxnSpLocks/>
              </p:cNvCxnSpPr>
              <p:nvPr/>
            </p:nvCxnSpPr>
            <p:spPr>
              <a:xfrm rot="18900000">
                <a:off x="9085236" y="4892240"/>
                <a:ext cx="27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B6BD801-7BB0-8541-AE5E-384B0EDA123B}"/>
                  </a:ext>
                </a:extLst>
              </p:cNvPr>
              <p:cNvCxnSpPr>
                <a:cxnSpLocks/>
              </p:cNvCxnSpPr>
              <p:nvPr/>
            </p:nvCxnSpPr>
            <p:spPr>
              <a:xfrm rot="2700000">
                <a:off x="9085093" y="4892239"/>
                <a:ext cx="27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79BC8343-FA2C-9F45-806F-8D78B18F87EF}"/>
                </a:ext>
              </a:extLst>
            </p:cNvPr>
            <p:cNvGrpSpPr/>
            <p:nvPr/>
          </p:nvGrpSpPr>
          <p:grpSpPr>
            <a:xfrm>
              <a:off x="9081624" y="5892824"/>
              <a:ext cx="270000" cy="270000"/>
              <a:chOff x="9085236" y="4763589"/>
              <a:chExt cx="270000" cy="270000"/>
            </a:xfrm>
          </p:grpSpPr>
          <p:cxnSp>
            <p:nvCxnSpPr>
              <p:cNvPr id="24" name="Straight Connector 23">
                <a:extLst>
                  <a:ext uri="{FF2B5EF4-FFF2-40B4-BE49-F238E27FC236}">
                    <a16:creationId xmlns:a16="http://schemas.microsoft.com/office/drawing/2014/main" id="{487D6AA4-E5FC-3D4B-87BF-0AE2BC7F0E81}"/>
                  </a:ext>
                </a:extLst>
              </p:cNvPr>
              <p:cNvCxnSpPr>
                <a:cxnSpLocks/>
              </p:cNvCxnSpPr>
              <p:nvPr/>
            </p:nvCxnSpPr>
            <p:spPr>
              <a:xfrm rot="18900000">
                <a:off x="9085236" y="4898590"/>
                <a:ext cx="27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EE54E7F-4DC7-9D47-AB2E-1941A558133D}"/>
                  </a:ext>
                </a:extLst>
              </p:cNvPr>
              <p:cNvCxnSpPr>
                <a:cxnSpLocks/>
              </p:cNvCxnSpPr>
              <p:nvPr/>
            </p:nvCxnSpPr>
            <p:spPr>
              <a:xfrm rot="2700000">
                <a:off x="9085093" y="4898589"/>
                <a:ext cx="27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6" name="Rectangle 5">
            <a:extLst>
              <a:ext uri="{FF2B5EF4-FFF2-40B4-BE49-F238E27FC236}">
                <a16:creationId xmlns:a16="http://schemas.microsoft.com/office/drawing/2014/main" id="{3695896F-814C-6140-8201-53539E29EF20}"/>
              </a:ext>
            </a:extLst>
          </p:cNvPr>
          <p:cNvSpPr/>
          <p:nvPr/>
        </p:nvSpPr>
        <p:spPr>
          <a:xfrm>
            <a:off x="2604014" y="2468646"/>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E64AB008-EAF7-484E-8CF4-C0CBB39F23FF}"/>
                  </a:ext>
                </a:extLst>
              </p:cNvPr>
              <p:cNvSpPr/>
              <p:nvPr/>
            </p:nvSpPr>
            <p:spPr>
              <a:xfrm>
                <a:off x="3682955" y="2443264"/>
                <a:ext cx="720000" cy="706053"/>
              </a:xfrm>
              <a:prstGeom prst="rect">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bg1"/>
                    </a:solidFill>
                    <a:latin typeface="Times" pitchFamily="2" charset="0"/>
                  </a:rPr>
                  <a:t>cP</a:t>
                </a:r>
                <a:r>
                  <a:rPr lang="en-US" sz="2400" dirty="0">
                    <a:solidFill>
                      <a:schemeClr val="bg1"/>
                    </a:solidFill>
                    <a:ea typeface="Cambria Math" panose="02040503050406030204" pitchFamily="18" charset="0"/>
                  </a:rPr>
                  <a:t> </a:t>
                </a:r>
                <a14:m>
                  <m:oMath xmlns:m="http://schemas.openxmlformats.org/officeDocument/2006/math">
                    <m:f>
                      <m:fPr>
                        <m:ctrlPr>
                          <a:rPr lang="en-US" sz="2400" i="1">
                            <a:solidFill>
                              <a:schemeClr val="bg1"/>
                            </a:solidFill>
                            <a:latin typeface="Cambria Math" panose="02040503050406030204" pitchFamily="18" charset="0"/>
                            <a:ea typeface="Cambria Math" panose="02040503050406030204" pitchFamily="18" charset="0"/>
                          </a:rPr>
                        </m:ctrlPr>
                      </m:fPr>
                      <m:num>
                        <m:r>
                          <a:rPr lang="en-US" sz="2400" i="1">
                            <a:solidFill>
                              <a:schemeClr val="bg1"/>
                            </a:solidFill>
                            <a:latin typeface="Cambria Math" panose="02040503050406030204" pitchFamily="18" charset="0"/>
                            <a:ea typeface="Cambria Math" panose="02040503050406030204" pitchFamily="18" charset="0"/>
                          </a:rPr>
                          <m:t>𝜋</m:t>
                        </m:r>
                      </m:num>
                      <m:den>
                        <m:r>
                          <a:rPr lang="en-US" sz="2400" b="0" i="1" smtClean="0">
                            <a:solidFill>
                              <a:schemeClr val="bg1"/>
                            </a:solidFill>
                            <a:latin typeface="Cambria Math" panose="02040503050406030204" pitchFamily="18" charset="0"/>
                            <a:ea typeface="Cambria Math" panose="02040503050406030204" pitchFamily="18" charset="0"/>
                          </a:rPr>
                          <m:t>2</m:t>
                        </m:r>
                      </m:den>
                    </m:f>
                  </m:oMath>
                </a14:m>
                <a:endParaRPr lang="en-US" sz="2400" dirty="0">
                  <a:solidFill>
                    <a:schemeClr val="bg1"/>
                  </a:solidFill>
                  <a:latin typeface="Times" pitchFamily="2" charset="0"/>
                </a:endParaRPr>
              </a:p>
            </p:txBody>
          </p:sp>
        </mc:Choice>
        <mc:Fallback xmlns="">
          <p:sp>
            <p:nvSpPr>
              <p:cNvPr id="44" name="Rectangle 43">
                <a:extLst>
                  <a:ext uri="{FF2B5EF4-FFF2-40B4-BE49-F238E27FC236}">
                    <a16:creationId xmlns:a16="http://schemas.microsoft.com/office/drawing/2014/main" id="{E64AB008-EAF7-484E-8CF4-C0CBB39F23FF}"/>
                  </a:ext>
                </a:extLst>
              </p:cNvPr>
              <p:cNvSpPr>
                <a:spLocks noRot="1" noChangeAspect="1" noMove="1" noResize="1" noEditPoints="1" noAdjustHandles="1" noChangeArrowheads="1" noChangeShapeType="1" noTextEdit="1"/>
              </p:cNvSpPr>
              <p:nvPr/>
            </p:nvSpPr>
            <p:spPr>
              <a:xfrm>
                <a:off x="3682955" y="2443264"/>
                <a:ext cx="720000" cy="706053"/>
              </a:xfrm>
              <a:prstGeom prst="rect">
                <a:avLst/>
              </a:prstGeom>
              <a:blipFill>
                <a:blip r:embed="rId9"/>
                <a:stretch>
                  <a:fillRect l="-11864"/>
                </a:stretch>
              </a:blipFill>
              <a:ln>
                <a:solidFill>
                  <a:schemeClr val="tx1"/>
                </a:solidFill>
              </a:ln>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D7F66D7D-C8A8-1A48-862D-2522C723877C}"/>
              </a:ext>
            </a:extLst>
          </p:cNvPr>
          <p:cNvGrpSpPr/>
          <p:nvPr/>
        </p:nvGrpSpPr>
        <p:grpSpPr>
          <a:xfrm>
            <a:off x="-58615" y="2399152"/>
            <a:ext cx="12264319" cy="4316212"/>
            <a:chOff x="-58615" y="2399152"/>
            <a:chExt cx="12264319" cy="4316212"/>
          </a:xfrm>
        </p:grpSpPr>
        <p:sp>
          <p:nvSpPr>
            <p:cNvPr id="35" name="Rectangle 34">
              <a:extLst>
                <a:ext uri="{FF2B5EF4-FFF2-40B4-BE49-F238E27FC236}">
                  <a16:creationId xmlns:a16="http://schemas.microsoft.com/office/drawing/2014/main" id="{46FDBF08-CCA9-DE43-BEBA-2B74B3B2BE79}"/>
                </a:ext>
              </a:extLst>
            </p:cNvPr>
            <p:cNvSpPr/>
            <p:nvPr/>
          </p:nvSpPr>
          <p:spPr>
            <a:xfrm>
              <a:off x="2604014" y="3578833"/>
              <a:ext cx="720000" cy="720000"/>
            </a:xfrm>
            <a:prstGeom prst="rect">
              <a:avLst/>
            </a:prstGeom>
            <a:solidFill>
              <a:schemeClr val="bg1">
                <a:alpha val="76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lumMod val="50000"/>
                    </a:schemeClr>
                  </a:solidFill>
                  <a:latin typeface="Times" pitchFamily="2" charset="0"/>
                </a:rPr>
                <a:t>I</a:t>
              </a:r>
            </a:p>
          </p:txBody>
        </p:sp>
        <p:sp>
          <p:nvSpPr>
            <p:cNvPr id="37" name="Rectangle 36">
              <a:extLst>
                <a:ext uri="{FF2B5EF4-FFF2-40B4-BE49-F238E27FC236}">
                  <a16:creationId xmlns:a16="http://schemas.microsoft.com/office/drawing/2014/main" id="{085EF11D-7BC4-0841-9D02-C914D4AF441C}"/>
                </a:ext>
              </a:extLst>
            </p:cNvPr>
            <p:cNvSpPr/>
            <p:nvPr/>
          </p:nvSpPr>
          <p:spPr>
            <a:xfrm>
              <a:off x="4798350" y="2399152"/>
              <a:ext cx="720000" cy="720000"/>
            </a:xfrm>
            <a:prstGeom prst="rect">
              <a:avLst/>
            </a:prstGeom>
            <a:solidFill>
              <a:schemeClr val="bg1">
                <a:alpha val="76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lumMod val="50000"/>
                    </a:schemeClr>
                  </a:solidFill>
                  <a:latin typeface="Times" pitchFamily="2" charset="0"/>
                </a:rPr>
                <a:t>I</a:t>
              </a:r>
            </a:p>
          </p:txBody>
        </p:sp>
        <p:grpSp>
          <p:nvGrpSpPr>
            <p:cNvPr id="4" name="Group 3">
              <a:extLst>
                <a:ext uri="{FF2B5EF4-FFF2-40B4-BE49-F238E27FC236}">
                  <a16:creationId xmlns:a16="http://schemas.microsoft.com/office/drawing/2014/main" id="{F48CAB68-ECC2-5F45-9D18-65A168860695}"/>
                </a:ext>
              </a:extLst>
            </p:cNvPr>
            <p:cNvGrpSpPr/>
            <p:nvPr/>
          </p:nvGrpSpPr>
          <p:grpSpPr>
            <a:xfrm>
              <a:off x="-58615" y="4773264"/>
              <a:ext cx="12264319" cy="1942100"/>
              <a:chOff x="-58615" y="4773264"/>
              <a:chExt cx="12264319" cy="1942100"/>
            </a:xfrm>
          </p:grpSpPr>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90D0A2B5-D57D-1245-A476-6073928D5C0C}"/>
                      </a:ext>
                    </a:extLst>
                  </p:cNvPr>
                  <p:cNvSpPr/>
                  <p:nvPr/>
                </p:nvSpPr>
                <p:spPr>
                  <a:xfrm>
                    <a:off x="-58615" y="4773264"/>
                    <a:ext cx="12264319" cy="1328249"/>
                  </a:xfrm>
                  <a:prstGeom prst="rect">
                    <a:avLst/>
                  </a:prstGeom>
                </p:spPr>
                <p:txBody>
                  <a:bodyPr wrap="none">
                    <a:spAutoFit/>
                  </a:bodyPr>
                  <a:lstStyle/>
                  <a:p>
                    <a14:m>
                      <m:oMath xmlns:m="http://schemas.openxmlformats.org/officeDocument/2006/math">
                        <m:d>
                          <m:dPr>
                            <m:ctrlPr>
                              <a:rPr lang="en-US" sz="2150" i="1" smtClean="0">
                                <a:solidFill>
                                  <a:schemeClr val="tx1"/>
                                </a:solidFill>
                                <a:latin typeface="Cambria Math" panose="02040503050406030204" pitchFamily="18" charset="0"/>
                              </a:rPr>
                            </m:ctrlPr>
                          </m:dPr>
                          <m:e>
                            <m:m>
                              <m:mPr>
                                <m:mcs>
                                  <m:mc>
                                    <m:mcPr>
                                      <m:count m:val="4"/>
                                      <m:mcJc m:val="center"/>
                                    </m:mcPr>
                                  </m:mc>
                                </m:mcs>
                                <m:ctrlPr>
                                  <a:rPr lang="en-US" sz="2150" i="1">
                                    <a:solidFill>
                                      <a:schemeClr val="tx1"/>
                                    </a:solidFill>
                                    <a:latin typeface="Cambria Math" panose="02040503050406030204" pitchFamily="18" charset="0"/>
                                  </a:rPr>
                                </m:ctrlPr>
                              </m:mPr>
                              <m:mr>
                                <m:e>
                                  <m:r>
                                    <m:rPr>
                                      <m:brk m:alnAt="7"/>
                                    </m:rPr>
                                    <a:rPr lang="en-US" sz="2150" i="1">
                                      <a:solidFill>
                                        <a:schemeClr val="tx1"/>
                                      </a:solidFill>
                                      <a:latin typeface="Cambria Math" panose="02040503050406030204" pitchFamily="18" charset="0"/>
                                    </a:rPr>
                                    <m:t>1</m:t>
                                  </m:r>
                                </m:e>
                                <m:e>
                                  <m:r>
                                    <a:rPr lang="en-US" sz="2150" i="1">
                                      <a:solidFill>
                                        <a:schemeClr val="tx1"/>
                                      </a:solidFill>
                                      <a:latin typeface="Cambria Math" panose="02040503050406030204" pitchFamily="18" charset="0"/>
                                    </a:rPr>
                                    <m:t>0</m:t>
                                  </m:r>
                                </m:e>
                                <m:e>
                                  <m:r>
                                    <a:rPr lang="en-US" sz="2150" i="1">
                                      <a:solidFill>
                                        <a:schemeClr val="tx1"/>
                                      </a:solidFill>
                                      <a:latin typeface="Cambria Math" panose="02040503050406030204" pitchFamily="18" charset="0"/>
                                    </a:rPr>
                                    <m:t>0</m:t>
                                  </m:r>
                                </m:e>
                                <m:e>
                                  <m:r>
                                    <a:rPr lang="en-US" sz="2150" i="1">
                                      <a:solidFill>
                                        <a:schemeClr val="tx1"/>
                                      </a:solidFill>
                                      <a:latin typeface="Cambria Math" panose="02040503050406030204" pitchFamily="18" charset="0"/>
                                    </a:rPr>
                                    <m:t>0</m:t>
                                  </m:r>
                                </m:e>
                              </m:mr>
                              <m:mr>
                                <m:e>
                                  <m:r>
                                    <a:rPr lang="en-US" sz="2150" i="1">
                                      <a:solidFill>
                                        <a:schemeClr val="tx1"/>
                                      </a:solidFill>
                                      <a:latin typeface="Cambria Math" panose="02040503050406030204" pitchFamily="18" charset="0"/>
                                    </a:rPr>
                                    <m:t>0</m:t>
                                  </m:r>
                                </m:e>
                                <m:e>
                                  <m:r>
                                    <a:rPr lang="en-US" sz="2150" i="1">
                                      <a:solidFill>
                                        <a:schemeClr val="tx1"/>
                                      </a:solidFill>
                                      <a:latin typeface="Cambria Math" panose="02040503050406030204" pitchFamily="18" charset="0"/>
                                    </a:rPr>
                                    <m:t>0</m:t>
                                  </m:r>
                                </m:e>
                                <m:e>
                                  <m:r>
                                    <a:rPr lang="en-US" sz="2150" i="1">
                                      <a:solidFill>
                                        <a:schemeClr val="tx1"/>
                                      </a:solidFill>
                                      <a:latin typeface="Cambria Math" panose="02040503050406030204" pitchFamily="18" charset="0"/>
                                    </a:rPr>
                                    <m:t>1</m:t>
                                  </m:r>
                                </m:e>
                                <m:e>
                                  <m:r>
                                    <a:rPr lang="en-US" sz="2150" i="1">
                                      <a:solidFill>
                                        <a:schemeClr val="tx1"/>
                                      </a:solidFill>
                                      <a:latin typeface="Cambria Math" panose="02040503050406030204" pitchFamily="18" charset="0"/>
                                    </a:rPr>
                                    <m:t>0</m:t>
                                  </m:r>
                                </m:e>
                              </m:mr>
                              <m:mr>
                                <m:e>
                                  <m:r>
                                    <a:rPr lang="en-US" sz="2150" i="1">
                                      <a:solidFill>
                                        <a:schemeClr val="tx1"/>
                                      </a:solidFill>
                                      <a:latin typeface="Cambria Math" panose="02040503050406030204" pitchFamily="18" charset="0"/>
                                    </a:rPr>
                                    <m:t>0</m:t>
                                  </m:r>
                                </m:e>
                                <m:e>
                                  <m:r>
                                    <a:rPr lang="en-US" sz="2150" i="1">
                                      <a:solidFill>
                                        <a:schemeClr val="tx1"/>
                                      </a:solidFill>
                                      <a:latin typeface="Cambria Math" panose="02040503050406030204" pitchFamily="18" charset="0"/>
                                    </a:rPr>
                                    <m:t>1</m:t>
                                  </m:r>
                                </m:e>
                                <m:e>
                                  <m:r>
                                    <a:rPr lang="en-US" sz="2150" i="1">
                                      <a:solidFill>
                                        <a:schemeClr val="tx1"/>
                                      </a:solidFill>
                                      <a:latin typeface="Cambria Math" panose="02040503050406030204" pitchFamily="18" charset="0"/>
                                    </a:rPr>
                                    <m:t>0</m:t>
                                  </m:r>
                                </m:e>
                                <m:e>
                                  <m:r>
                                    <a:rPr lang="en-US" sz="2150" i="1">
                                      <a:solidFill>
                                        <a:schemeClr val="tx1"/>
                                      </a:solidFill>
                                      <a:latin typeface="Cambria Math" panose="02040503050406030204" pitchFamily="18" charset="0"/>
                                    </a:rPr>
                                    <m:t>0</m:t>
                                  </m:r>
                                </m:e>
                              </m:mr>
                              <m:mr>
                                <m:e>
                                  <m:r>
                                    <a:rPr lang="en-US" sz="2150" i="1">
                                      <a:solidFill>
                                        <a:schemeClr val="tx1"/>
                                      </a:solidFill>
                                      <a:latin typeface="Cambria Math" panose="02040503050406030204" pitchFamily="18" charset="0"/>
                                    </a:rPr>
                                    <m:t>0</m:t>
                                  </m:r>
                                </m:e>
                                <m:e>
                                  <m:r>
                                    <a:rPr lang="en-US" sz="2150" i="1">
                                      <a:solidFill>
                                        <a:schemeClr val="tx1"/>
                                      </a:solidFill>
                                      <a:latin typeface="Cambria Math" panose="02040503050406030204" pitchFamily="18" charset="0"/>
                                    </a:rPr>
                                    <m:t>0</m:t>
                                  </m:r>
                                </m:e>
                                <m:e>
                                  <m:r>
                                    <a:rPr lang="en-US" sz="2150" i="1">
                                      <a:solidFill>
                                        <a:schemeClr val="tx1"/>
                                      </a:solidFill>
                                      <a:latin typeface="Cambria Math" panose="02040503050406030204" pitchFamily="18" charset="0"/>
                                    </a:rPr>
                                    <m:t>0</m:t>
                                  </m:r>
                                </m:e>
                                <m:e>
                                  <m:r>
                                    <a:rPr lang="en-US" sz="2150" i="1">
                                      <a:solidFill>
                                        <a:schemeClr val="tx1"/>
                                      </a:solidFill>
                                      <a:latin typeface="Cambria Math" panose="02040503050406030204" pitchFamily="18" charset="0"/>
                                    </a:rPr>
                                    <m:t>1</m:t>
                                  </m:r>
                                </m:e>
                              </m:mr>
                            </m:m>
                          </m:e>
                        </m:d>
                      </m:oMath>
                    </a14:m>
                    <a:r>
                      <a:rPr lang="en-US" sz="2150" dirty="0">
                        <a:solidFill>
                          <a:srgbClr val="C00000"/>
                        </a:solidFill>
                      </a:rPr>
                      <a:t> </a:t>
                    </a:r>
                    <a14:m>
                      <m:oMath xmlns:m="http://schemas.openxmlformats.org/officeDocument/2006/math">
                        <m:f>
                          <m:fPr>
                            <m:ctrlPr>
                              <a:rPr lang="en-US" sz="2150" i="1">
                                <a:solidFill>
                                  <a:srgbClr val="C00000"/>
                                </a:solidFill>
                                <a:latin typeface="Cambria Math" panose="02040503050406030204" pitchFamily="18" charset="0"/>
                              </a:rPr>
                            </m:ctrlPr>
                          </m:fPr>
                          <m:num>
                            <m:r>
                              <m:rPr>
                                <m:nor/>
                              </m:rPr>
                              <a:rPr lang="en-US" sz="2150">
                                <a:solidFill>
                                  <a:srgbClr val="C00000"/>
                                </a:solidFill>
                                <a:latin typeface="Cambria Math" panose="02040503050406030204" pitchFamily="18" charset="0"/>
                              </a:rPr>
                              <m:t>1</m:t>
                            </m:r>
                          </m:num>
                          <m:den>
                            <m:rad>
                              <m:radPr>
                                <m:degHide m:val="on"/>
                                <m:ctrlPr>
                                  <a:rPr lang="en-US" sz="2150" i="1">
                                    <a:solidFill>
                                      <a:srgbClr val="C00000"/>
                                    </a:solidFill>
                                    <a:latin typeface="Cambria Math" panose="02040503050406030204" pitchFamily="18" charset="0"/>
                                  </a:rPr>
                                </m:ctrlPr>
                              </m:radPr>
                              <m:deg/>
                              <m:e>
                                <m:r>
                                  <m:rPr>
                                    <m:nor/>
                                  </m:rPr>
                                  <a:rPr lang="en-US" sz="2150">
                                    <a:solidFill>
                                      <a:srgbClr val="C00000"/>
                                    </a:solidFill>
                                    <a:latin typeface="Cambria Math" panose="02040503050406030204" pitchFamily="18" charset="0"/>
                                  </a:rPr>
                                  <m:t>2</m:t>
                                </m:r>
                              </m:e>
                            </m:rad>
                          </m:den>
                        </m:f>
                        <m:d>
                          <m:dPr>
                            <m:ctrlPr>
                              <a:rPr lang="en-US" sz="2150" i="1">
                                <a:solidFill>
                                  <a:srgbClr val="C00000"/>
                                </a:solidFill>
                                <a:latin typeface="Cambria Math" panose="02040503050406030204" pitchFamily="18" charset="0"/>
                              </a:rPr>
                            </m:ctrlPr>
                          </m:dPr>
                          <m:e>
                            <m:m>
                              <m:mPr>
                                <m:mcs>
                                  <m:mc>
                                    <m:mcPr>
                                      <m:count m:val="4"/>
                                      <m:mcJc m:val="center"/>
                                    </m:mcPr>
                                  </m:mc>
                                </m:mcs>
                                <m:ctrlPr>
                                  <a:rPr lang="en-US" sz="2150" i="1">
                                    <a:solidFill>
                                      <a:srgbClr val="C00000"/>
                                    </a:solidFill>
                                    <a:latin typeface="Cambria Math" panose="02040503050406030204" pitchFamily="18" charset="0"/>
                                  </a:rPr>
                                </m:ctrlPr>
                              </m:mPr>
                              <m:mr>
                                <m:e>
                                  <m:r>
                                    <m:rPr>
                                      <m:brk m:alnAt="7"/>
                                    </m:rPr>
                                    <a:rPr lang="en-US" sz="2150" i="1">
                                      <a:solidFill>
                                        <a:srgbClr val="C00000"/>
                                      </a:solidFill>
                                      <a:latin typeface="Cambria Math" panose="02040503050406030204" pitchFamily="18" charset="0"/>
                                    </a:rPr>
                                    <m:t>1</m:t>
                                  </m:r>
                                </m:e>
                                <m:e>
                                  <m:r>
                                    <a:rPr lang="en-US" sz="2150" i="1">
                                      <a:solidFill>
                                        <a:srgbClr val="C00000"/>
                                      </a:solidFill>
                                      <a:latin typeface="Cambria Math" panose="02040503050406030204" pitchFamily="18" charset="0"/>
                                    </a:rPr>
                                    <m:t>1</m:t>
                                  </m:r>
                                </m:e>
                                <m:e>
                                  <m:r>
                                    <a:rPr lang="en-US" sz="2150" i="1">
                                      <a:solidFill>
                                        <a:srgbClr val="C00000"/>
                                      </a:solidFill>
                                      <a:latin typeface="Cambria Math" panose="02040503050406030204" pitchFamily="18" charset="0"/>
                                    </a:rPr>
                                    <m:t>0</m:t>
                                  </m:r>
                                </m:e>
                                <m:e>
                                  <m:r>
                                    <a:rPr lang="en-US" sz="2150" i="1">
                                      <a:solidFill>
                                        <a:srgbClr val="C00000"/>
                                      </a:solidFill>
                                      <a:latin typeface="Cambria Math" panose="02040503050406030204" pitchFamily="18" charset="0"/>
                                    </a:rPr>
                                    <m:t>0</m:t>
                                  </m:r>
                                </m:e>
                              </m:mr>
                              <m:mr>
                                <m:e>
                                  <m:r>
                                    <a:rPr lang="en-US" sz="2150" i="1">
                                      <a:solidFill>
                                        <a:srgbClr val="C00000"/>
                                      </a:solidFill>
                                      <a:latin typeface="Cambria Math" panose="02040503050406030204" pitchFamily="18" charset="0"/>
                                    </a:rPr>
                                    <m:t>1</m:t>
                                  </m:r>
                                </m:e>
                                <m:e>
                                  <m:r>
                                    <a:rPr lang="en-US" sz="2150" i="1">
                                      <a:solidFill>
                                        <a:srgbClr val="C00000"/>
                                      </a:solidFill>
                                      <a:latin typeface="Cambria Math" panose="02040503050406030204" pitchFamily="18" charset="0"/>
                                    </a:rPr>
                                    <m:t>−1</m:t>
                                  </m:r>
                                </m:e>
                                <m:e>
                                  <m:r>
                                    <a:rPr lang="en-US" sz="2150" i="1">
                                      <a:solidFill>
                                        <a:srgbClr val="C00000"/>
                                      </a:solidFill>
                                      <a:latin typeface="Cambria Math" panose="02040503050406030204" pitchFamily="18" charset="0"/>
                                    </a:rPr>
                                    <m:t>0</m:t>
                                  </m:r>
                                </m:e>
                                <m:e>
                                  <m:r>
                                    <a:rPr lang="en-US" sz="2150" i="1">
                                      <a:solidFill>
                                        <a:srgbClr val="C00000"/>
                                      </a:solidFill>
                                      <a:latin typeface="Cambria Math" panose="02040503050406030204" pitchFamily="18" charset="0"/>
                                    </a:rPr>
                                    <m:t>0</m:t>
                                  </m:r>
                                </m:e>
                              </m:mr>
                              <m:mr>
                                <m:e>
                                  <m:r>
                                    <a:rPr lang="en-US" sz="2150" i="1">
                                      <a:solidFill>
                                        <a:srgbClr val="C00000"/>
                                      </a:solidFill>
                                      <a:latin typeface="Cambria Math" panose="02040503050406030204" pitchFamily="18" charset="0"/>
                                    </a:rPr>
                                    <m:t>0</m:t>
                                  </m:r>
                                </m:e>
                                <m:e>
                                  <m:r>
                                    <a:rPr lang="en-US" sz="2150" i="1">
                                      <a:solidFill>
                                        <a:srgbClr val="C00000"/>
                                      </a:solidFill>
                                      <a:latin typeface="Cambria Math" panose="02040503050406030204" pitchFamily="18" charset="0"/>
                                    </a:rPr>
                                    <m:t>0</m:t>
                                  </m:r>
                                </m:e>
                                <m:e>
                                  <m:r>
                                    <a:rPr lang="en-US" sz="2150" i="1">
                                      <a:solidFill>
                                        <a:srgbClr val="C00000"/>
                                      </a:solidFill>
                                      <a:latin typeface="Cambria Math" panose="02040503050406030204" pitchFamily="18" charset="0"/>
                                    </a:rPr>
                                    <m:t>1</m:t>
                                  </m:r>
                                </m:e>
                                <m:e>
                                  <m:r>
                                    <a:rPr lang="en-US" sz="2150" i="1">
                                      <a:solidFill>
                                        <a:srgbClr val="C00000"/>
                                      </a:solidFill>
                                      <a:latin typeface="Cambria Math" panose="02040503050406030204" pitchFamily="18" charset="0"/>
                                    </a:rPr>
                                    <m:t>1</m:t>
                                  </m:r>
                                </m:e>
                              </m:mr>
                              <m:mr>
                                <m:e>
                                  <m:r>
                                    <a:rPr lang="en-US" sz="2150" i="1">
                                      <a:solidFill>
                                        <a:srgbClr val="C00000"/>
                                      </a:solidFill>
                                      <a:latin typeface="Cambria Math" panose="02040503050406030204" pitchFamily="18" charset="0"/>
                                    </a:rPr>
                                    <m:t>0</m:t>
                                  </m:r>
                                </m:e>
                                <m:e>
                                  <m:r>
                                    <a:rPr lang="en-US" sz="2150" i="1">
                                      <a:solidFill>
                                        <a:srgbClr val="C00000"/>
                                      </a:solidFill>
                                      <a:latin typeface="Cambria Math" panose="02040503050406030204" pitchFamily="18" charset="0"/>
                                    </a:rPr>
                                    <m:t>0</m:t>
                                  </m:r>
                                </m:e>
                                <m:e>
                                  <m:r>
                                    <a:rPr lang="en-US" sz="2150" i="1">
                                      <a:solidFill>
                                        <a:srgbClr val="C00000"/>
                                      </a:solidFill>
                                      <a:latin typeface="Cambria Math" panose="02040503050406030204" pitchFamily="18" charset="0"/>
                                    </a:rPr>
                                    <m:t>1</m:t>
                                  </m:r>
                                </m:e>
                                <m:e>
                                  <m:r>
                                    <a:rPr lang="en-US" sz="2150" i="1">
                                      <a:solidFill>
                                        <a:srgbClr val="C00000"/>
                                      </a:solidFill>
                                      <a:latin typeface="Cambria Math" panose="02040503050406030204" pitchFamily="18" charset="0"/>
                                    </a:rPr>
                                    <m:t>−1</m:t>
                                  </m:r>
                                </m:e>
                              </m:mr>
                            </m:m>
                          </m:e>
                        </m:d>
                      </m:oMath>
                    </a14:m>
                    <a:r>
                      <a:rPr lang="en-US" sz="2150" dirty="0">
                        <a:solidFill>
                          <a:schemeClr val="tx1"/>
                        </a:solidFill>
                      </a:rPr>
                      <a:t> </a:t>
                    </a:r>
                    <a14:m>
                      <m:oMath xmlns:m="http://schemas.openxmlformats.org/officeDocument/2006/math">
                        <m:d>
                          <m:dPr>
                            <m:ctrlPr>
                              <a:rPr lang="en-US" sz="2150" i="1" smtClean="0">
                                <a:solidFill>
                                  <a:srgbClr val="0000FF"/>
                                </a:solidFill>
                                <a:latin typeface="Cambria Math" panose="02040503050406030204" pitchFamily="18" charset="0"/>
                              </a:rPr>
                            </m:ctrlPr>
                          </m:dPr>
                          <m:e>
                            <m:m>
                              <m:mPr>
                                <m:mcs>
                                  <m:mc>
                                    <m:mcPr>
                                      <m:count m:val="4"/>
                                      <m:mcJc m:val="center"/>
                                    </m:mcPr>
                                  </m:mc>
                                </m:mcs>
                                <m:ctrlPr>
                                  <a:rPr lang="en-US" sz="2150" i="1">
                                    <a:solidFill>
                                      <a:srgbClr val="0000FF"/>
                                    </a:solidFill>
                                    <a:latin typeface="Cambria Math" panose="02040503050406030204" pitchFamily="18" charset="0"/>
                                  </a:rPr>
                                </m:ctrlPr>
                              </m:mPr>
                              <m:mr>
                                <m:e>
                                  <m:r>
                                    <m:rPr>
                                      <m:brk m:alnAt="7"/>
                                    </m:rPr>
                                    <a:rPr lang="en-US" sz="2150" i="1">
                                      <a:solidFill>
                                        <a:srgbClr val="0000FF"/>
                                      </a:solidFill>
                                      <a:latin typeface="Cambria Math" panose="02040503050406030204" pitchFamily="18" charset="0"/>
                                    </a:rPr>
                                    <m:t>1</m:t>
                                  </m:r>
                                </m:e>
                                <m:e>
                                  <m:r>
                                    <a:rPr lang="en-US" sz="2150" i="1">
                                      <a:solidFill>
                                        <a:srgbClr val="0000FF"/>
                                      </a:solidFill>
                                      <a:latin typeface="Cambria Math" panose="02040503050406030204" pitchFamily="18" charset="0"/>
                                    </a:rPr>
                                    <m:t>0</m:t>
                                  </m:r>
                                </m:e>
                                <m:e>
                                  <m:r>
                                    <a:rPr lang="en-US" sz="2150" i="1">
                                      <a:solidFill>
                                        <a:srgbClr val="0000FF"/>
                                      </a:solidFill>
                                      <a:latin typeface="Cambria Math" panose="02040503050406030204" pitchFamily="18" charset="0"/>
                                    </a:rPr>
                                    <m:t>0</m:t>
                                  </m:r>
                                </m:e>
                                <m:e>
                                  <m:r>
                                    <a:rPr lang="en-US" sz="2150" i="1">
                                      <a:solidFill>
                                        <a:srgbClr val="0000FF"/>
                                      </a:solidFill>
                                      <a:latin typeface="Cambria Math" panose="02040503050406030204" pitchFamily="18" charset="0"/>
                                    </a:rPr>
                                    <m:t>0</m:t>
                                  </m:r>
                                </m:e>
                              </m:mr>
                              <m:mr>
                                <m:e>
                                  <m:r>
                                    <a:rPr lang="en-US" sz="2150" i="1">
                                      <a:solidFill>
                                        <a:srgbClr val="0000FF"/>
                                      </a:solidFill>
                                      <a:latin typeface="Cambria Math" panose="02040503050406030204" pitchFamily="18" charset="0"/>
                                    </a:rPr>
                                    <m:t>0</m:t>
                                  </m:r>
                                </m:e>
                                <m:e>
                                  <m:r>
                                    <a:rPr lang="en-US" sz="2150" b="0" i="1" smtClean="0">
                                      <a:solidFill>
                                        <a:srgbClr val="0000FF"/>
                                      </a:solidFill>
                                      <a:latin typeface="Cambria Math" panose="02040503050406030204" pitchFamily="18" charset="0"/>
                                    </a:rPr>
                                    <m:t>1</m:t>
                                  </m:r>
                                </m:e>
                                <m:e>
                                  <m:r>
                                    <a:rPr lang="en-US" sz="2150" i="1">
                                      <a:solidFill>
                                        <a:srgbClr val="0000FF"/>
                                      </a:solidFill>
                                      <a:latin typeface="Cambria Math" panose="02040503050406030204" pitchFamily="18" charset="0"/>
                                    </a:rPr>
                                    <m:t>0</m:t>
                                  </m:r>
                                </m:e>
                                <m:e>
                                  <m:r>
                                    <a:rPr lang="en-US" sz="2150" b="0" i="1" smtClean="0">
                                      <a:solidFill>
                                        <a:srgbClr val="0000FF"/>
                                      </a:solidFill>
                                      <a:latin typeface="Cambria Math" panose="02040503050406030204" pitchFamily="18" charset="0"/>
                                    </a:rPr>
                                    <m:t>0</m:t>
                                  </m:r>
                                </m:e>
                              </m:mr>
                              <m:mr>
                                <m:e>
                                  <m:r>
                                    <a:rPr lang="en-US" sz="2150" i="1">
                                      <a:solidFill>
                                        <a:srgbClr val="0000FF"/>
                                      </a:solidFill>
                                      <a:latin typeface="Cambria Math" panose="02040503050406030204" pitchFamily="18" charset="0"/>
                                    </a:rPr>
                                    <m:t>0</m:t>
                                  </m:r>
                                </m:e>
                                <m:e>
                                  <m:r>
                                    <a:rPr lang="en-US" sz="2150" i="1">
                                      <a:solidFill>
                                        <a:srgbClr val="0000FF"/>
                                      </a:solidFill>
                                      <a:latin typeface="Cambria Math" panose="02040503050406030204" pitchFamily="18" charset="0"/>
                                    </a:rPr>
                                    <m:t>0</m:t>
                                  </m:r>
                                </m:e>
                                <m:e>
                                  <m:r>
                                    <a:rPr lang="en-US" sz="2150" i="1">
                                      <a:solidFill>
                                        <a:srgbClr val="0000FF"/>
                                      </a:solidFill>
                                      <a:latin typeface="Cambria Math" panose="02040503050406030204" pitchFamily="18" charset="0"/>
                                    </a:rPr>
                                    <m:t>1</m:t>
                                  </m:r>
                                </m:e>
                                <m:e>
                                  <m:r>
                                    <a:rPr lang="en-US" sz="2150" i="1">
                                      <a:solidFill>
                                        <a:srgbClr val="0000FF"/>
                                      </a:solidFill>
                                      <a:latin typeface="Cambria Math" panose="02040503050406030204" pitchFamily="18" charset="0"/>
                                    </a:rPr>
                                    <m:t>0</m:t>
                                  </m:r>
                                </m:e>
                              </m:mr>
                              <m:mr>
                                <m:e>
                                  <m:r>
                                    <a:rPr lang="en-US" sz="2150" i="1">
                                      <a:solidFill>
                                        <a:srgbClr val="0000FF"/>
                                      </a:solidFill>
                                      <a:latin typeface="Cambria Math" panose="02040503050406030204" pitchFamily="18" charset="0"/>
                                    </a:rPr>
                                    <m:t>0</m:t>
                                  </m:r>
                                </m:e>
                                <m:e>
                                  <m:r>
                                    <a:rPr lang="en-US" sz="2150" i="1">
                                      <a:solidFill>
                                        <a:srgbClr val="0000FF"/>
                                      </a:solidFill>
                                      <a:latin typeface="Cambria Math" panose="02040503050406030204" pitchFamily="18" charset="0"/>
                                    </a:rPr>
                                    <m:t>0</m:t>
                                  </m:r>
                                </m:e>
                                <m:e>
                                  <m:r>
                                    <a:rPr lang="en-US" sz="2150" i="1">
                                      <a:solidFill>
                                        <a:srgbClr val="0000FF"/>
                                      </a:solidFill>
                                      <a:latin typeface="Cambria Math" panose="02040503050406030204" pitchFamily="18" charset="0"/>
                                    </a:rPr>
                                    <m:t>0</m:t>
                                  </m:r>
                                </m:e>
                                <m:e>
                                  <m:r>
                                    <a:rPr lang="en-US" sz="2150" i="1">
                                      <a:solidFill>
                                        <a:srgbClr val="0000FF"/>
                                      </a:solidFill>
                                      <a:latin typeface="Cambria Math" panose="02040503050406030204" pitchFamily="18" charset="0"/>
                                    </a:rPr>
                                    <m:t>𝑖</m:t>
                                  </m:r>
                                </m:e>
                              </m:mr>
                            </m:m>
                          </m:e>
                        </m:d>
                      </m:oMath>
                    </a14:m>
                    <a:r>
                      <a:rPr lang="en-US" sz="2150" dirty="0">
                        <a:solidFill>
                          <a:schemeClr val="accent2">
                            <a:lumMod val="50000"/>
                          </a:schemeClr>
                        </a:solidFill>
                      </a:rPr>
                      <a:t> </a:t>
                    </a:r>
                    <a14:m>
                      <m:oMath xmlns:m="http://schemas.openxmlformats.org/officeDocument/2006/math">
                        <m:f>
                          <m:fPr>
                            <m:ctrlPr>
                              <a:rPr lang="en-US" sz="2150" i="1">
                                <a:solidFill>
                                  <a:schemeClr val="accent2">
                                    <a:lumMod val="50000"/>
                                  </a:schemeClr>
                                </a:solidFill>
                                <a:latin typeface="Cambria Math" panose="02040503050406030204" pitchFamily="18" charset="0"/>
                              </a:rPr>
                            </m:ctrlPr>
                          </m:fPr>
                          <m:num>
                            <m:r>
                              <m:rPr>
                                <m:nor/>
                              </m:rPr>
                              <a:rPr lang="en-US" sz="2150">
                                <a:solidFill>
                                  <a:schemeClr val="accent2">
                                    <a:lumMod val="50000"/>
                                  </a:schemeClr>
                                </a:solidFill>
                                <a:latin typeface="Cambria Math" panose="02040503050406030204" pitchFamily="18" charset="0"/>
                              </a:rPr>
                              <m:t>1</m:t>
                            </m:r>
                          </m:num>
                          <m:den>
                            <m:rad>
                              <m:radPr>
                                <m:degHide m:val="on"/>
                                <m:ctrlPr>
                                  <a:rPr lang="en-US" sz="2150" i="1">
                                    <a:solidFill>
                                      <a:schemeClr val="accent2">
                                        <a:lumMod val="50000"/>
                                      </a:schemeClr>
                                    </a:solidFill>
                                    <a:latin typeface="Cambria Math" panose="02040503050406030204" pitchFamily="18" charset="0"/>
                                  </a:rPr>
                                </m:ctrlPr>
                              </m:radPr>
                              <m:deg/>
                              <m:e>
                                <m:r>
                                  <m:rPr>
                                    <m:nor/>
                                  </m:rPr>
                                  <a:rPr lang="en-US" sz="2150">
                                    <a:solidFill>
                                      <a:schemeClr val="accent2">
                                        <a:lumMod val="50000"/>
                                      </a:schemeClr>
                                    </a:solidFill>
                                    <a:latin typeface="Cambria Math" panose="02040503050406030204" pitchFamily="18" charset="0"/>
                                  </a:rPr>
                                  <m:t>2</m:t>
                                </m:r>
                              </m:e>
                            </m:rad>
                          </m:den>
                        </m:f>
                        <m:d>
                          <m:dPr>
                            <m:ctrlPr>
                              <a:rPr lang="en-US" sz="2150" i="1">
                                <a:solidFill>
                                  <a:schemeClr val="accent2">
                                    <a:lumMod val="50000"/>
                                  </a:schemeClr>
                                </a:solidFill>
                                <a:latin typeface="Cambria Math" panose="02040503050406030204" pitchFamily="18" charset="0"/>
                              </a:rPr>
                            </m:ctrlPr>
                          </m:dPr>
                          <m:e>
                            <m:m>
                              <m:mPr>
                                <m:mcs>
                                  <m:mc>
                                    <m:mcPr>
                                      <m:count m:val="4"/>
                                      <m:mcJc m:val="center"/>
                                    </m:mcPr>
                                  </m:mc>
                                </m:mcs>
                                <m:ctrlPr>
                                  <a:rPr lang="en-US" sz="2150" i="1">
                                    <a:solidFill>
                                      <a:schemeClr val="accent2">
                                        <a:lumMod val="50000"/>
                                      </a:schemeClr>
                                    </a:solidFill>
                                    <a:latin typeface="Cambria Math" panose="02040503050406030204" pitchFamily="18" charset="0"/>
                                  </a:rPr>
                                </m:ctrlPr>
                              </m:mPr>
                              <m:mr>
                                <m:e>
                                  <m:r>
                                    <m:rPr>
                                      <m:brk m:alnAt="7"/>
                                    </m:rPr>
                                    <a:rPr lang="en-US" sz="2150" i="1">
                                      <a:solidFill>
                                        <a:schemeClr val="accent2">
                                          <a:lumMod val="50000"/>
                                        </a:schemeClr>
                                      </a:solidFill>
                                      <a:latin typeface="Cambria Math" panose="02040503050406030204" pitchFamily="18" charset="0"/>
                                    </a:rPr>
                                    <m:t>1</m:t>
                                  </m:r>
                                </m:e>
                                <m:e>
                                  <m:r>
                                    <a:rPr lang="en-US" sz="2150" i="1">
                                      <a:solidFill>
                                        <a:schemeClr val="accent2">
                                          <a:lumMod val="50000"/>
                                        </a:schemeClr>
                                      </a:solidFill>
                                      <a:latin typeface="Cambria Math" panose="02040503050406030204" pitchFamily="18" charset="0"/>
                                    </a:rPr>
                                    <m:t>0</m:t>
                                  </m:r>
                                </m:e>
                                <m:e>
                                  <m:r>
                                    <a:rPr lang="en-US" sz="2150" i="1">
                                      <a:solidFill>
                                        <a:schemeClr val="accent2">
                                          <a:lumMod val="50000"/>
                                        </a:schemeClr>
                                      </a:solidFill>
                                      <a:latin typeface="Cambria Math" panose="02040503050406030204" pitchFamily="18" charset="0"/>
                                    </a:rPr>
                                    <m:t>1</m:t>
                                  </m:r>
                                </m:e>
                                <m:e>
                                  <m:r>
                                    <a:rPr lang="en-US" sz="2150" i="1">
                                      <a:solidFill>
                                        <a:schemeClr val="accent2">
                                          <a:lumMod val="50000"/>
                                        </a:schemeClr>
                                      </a:solidFill>
                                      <a:latin typeface="Cambria Math" panose="02040503050406030204" pitchFamily="18" charset="0"/>
                                    </a:rPr>
                                    <m:t>0</m:t>
                                  </m:r>
                                </m:e>
                              </m:mr>
                              <m:mr>
                                <m:e>
                                  <m:r>
                                    <a:rPr lang="en-US" sz="2150" i="1">
                                      <a:solidFill>
                                        <a:schemeClr val="accent2">
                                          <a:lumMod val="50000"/>
                                        </a:schemeClr>
                                      </a:solidFill>
                                      <a:latin typeface="Cambria Math" panose="02040503050406030204" pitchFamily="18" charset="0"/>
                                    </a:rPr>
                                    <m:t>0</m:t>
                                  </m:r>
                                </m:e>
                                <m:e>
                                  <m:r>
                                    <a:rPr lang="en-US" sz="2150" i="1">
                                      <a:solidFill>
                                        <a:schemeClr val="accent2">
                                          <a:lumMod val="50000"/>
                                        </a:schemeClr>
                                      </a:solidFill>
                                      <a:latin typeface="Cambria Math" panose="02040503050406030204" pitchFamily="18" charset="0"/>
                                    </a:rPr>
                                    <m:t>1</m:t>
                                  </m:r>
                                </m:e>
                                <m:e>
                                  <m:r>
                                    <a:rPr lang="en-US" sz="2150" i="1">
                                      <a:solidFill>
                                        <a:schemeClr val="accent2">
                                          <a:lumMod val="50000"/>
                                        </a:schemeClr>
                                      </a:solidFill>
                                      <a:latin typeface="Cambria Math" panose="02040503050406030204" pitchFamily="18" charset="0"/>
                                    </a:rPr>
                                    <m:t>0</m:t>
                                  </m:r>
                                </m:e>
                                <m:e>
                                  <m:r>
                                    <a:rPr lang="en-US" sz="2150" i="1">
                                      <a:solidFill>
                                        <a:schemeClr val="accent2">
                                          <a:lumMod val="50000"/>
                                        </a:schemeClr>
                                      </a:solidFill>
                                      <a:latin typeface="Cambria Math" panose="02040503050406030204" pitchFamily="18" charset="0"/>
                                    </a:rPr>
                                    <m:t>1</m:t>
                                  </m:r>
                                </m:e>
                              </m:mr>
                              <m:mr>
                                <m:e>
                                  <m:r>
                                    <a:rPr lang="en-US" sz="2150" i="1">
                                      <a:solidFill>
                                        <a:schemeClr val="accent2">
                                          <a:lumMod val="50000"/>
                                        </a:schemeClr>
                                      </a:solidFill>
                                      <a:latin typeface="Cambria Math" panose="02040503050406030204" pitchFamily="18" charset="0"/>
                                    </a:rPr>
                                    <m:t>1</m:t>
                                  </m:r>
                                </m:e>
                                <m:e>
                                  <m:r>
                                    <a:rPr lang="en-US" sz="2150" i="1">
                                      <a:solidFill>
                                        <a:schemeClr val="accent2">
                                          <a:lumMod val="50000"/>
                                        </a:schemeClr>
                                      </a:solidFill>
                                      <a:latin typeface="Cambria Math" panose="02040503050406030204" pitchFamily="18" charset="0"/>
                                    </a:rPr>
                                    <m:t>0</m:t>
                                  </m:r>
                                </m:e>
                                <m:e>
                                  <m:r>
                                    <a:rPr lang="en-US" sz="2150" i="1">
                                      <a:solidFill>
                                        <a:schemeClr val="accent2">
                                          <a:lumMod val="50000"/>
                                        </a:schemeClr>
                                      </a:solidFill>
                                      <a:latin typeface="Cambria Math" panose="02040503050406030204" pitchFamily="18" charset="0"/>
                                    </a:rPr>
                                    <m:t>−1</m:t>
                                  </m:r>
                                </m:e>
                                <m:e>
                                  <m:r>
                                    <a:rPr lang="en-US" sz="2150" i="1">
                                      <a:solidFill>
                                        <a:schemeClr val="accent2">
                                          <a:lumMod val="50000"/>
                                        </a:schemeClr>
                                      </a:solidFill>
                                      <a:latin typeface="Cambria Math" panose="02040503050406030204" pitchFamily="18" charset="0"/>
                                    </a:rPr>
                                    <m:t>0</m:t>
                                  </m:r>
                                </m:e>
                              </m:mr>
                              <m:mr>
                                <m:e>
                                  <m:r>
                                    <a:rPr lang="en-US" sz="2150" i="1">
                                      <a:solidFill>
                                        <a:schemeClr val="accent2">
                                          <a:lumMod val="50000"/>
                                        </a:schemeClr>
                                      </a:solidFill>
                                      <a:latin typeface="Cambria Math" panose="02040503050406030204" pitchFamily="18" charset="0"/>
                                    </a:rPr>
                                    <m:t>0</m:t>
                                  </m:r>
                                </m:e>
                                <m:e>
                                  <m:r>
                                    <a:rPr lang="en-US" sz="2150" i="1">
                                      <a:solidFill>
                                        <a:schemeClr val="accent2">
                                          <a:lumMod val="50000"/>
                                        </a:schemeClr>
                                      </a:solidFill>
                                      <a:latin typeface="Cambria Math" panose="02040503050406030204" pitchFamily="18" charset="0"/>
                                    </a:rPr>
                                    <m:t>1</m:t>
                                  </m:r>
                                </m:e>
                                <m:e>
                                  <m:r>
                                    <a:rPr lang="en-US" sz="2150" i="1">
                                      <a:solidFill>
                                        <a:schemeClr val="accent2">
                                          <a:lumMod val="50000"/>
                                        </a:schemeClr>
                                      </a:solidFill>
                                      <a:latin typeface="Cambria Math" panose="02040503050406030204" pitchFamily="18" charset="0"/>
                                    </a:rPr>
                                    <m:t>0</m:t>
                                  </m:r>
                                </m:e>
                                <m:e>
                                  <m:r>
                                    <a:rPr lang="en-US" sz="2150" i="1">
                                      <a:solidFill>
                                        <a:schemeClr val="accent2">
                                          <a:lumMod val="50000"/>
                                        </a:schemeClr>
                                      </a:solidFill>
                                      <a:latin typeface="Cambria Math" panose="02040503050406030204" pitchFamily="18" charset="0"/>
                                    </a:rPr>
                                    <m:t>−1</m:t>
                                  </m:r>
                                </m:e>
                              </m:mr>
                            </m:m>
                          </m:e>
                        </m:d>
                        <m:r>
                          <a:rPr lang="en-US" sz="2150" b="0" i="1" smtClean="0">
                            <a:solidFill>
                              <a:schemeClr val="accent2">
                                <a:lumMod val="50000"/>
                              </a:schemeClr>
                            </a:solidFill>
                            <a:latin typeface="Cambria Math" panose="02040503050406030204" pitchFamily="18" charset="0"/>
                          </a:rPr>
                          <m:t>=</m:t>
                        </m:r>
                        <m:f>
                          <m:fPr>
                            <m:ctrlPr>
                              <a:rPr lang="en-US" sz="2150" i="1">
                                <a:latin typeface="Cambria Math" panose="02040503050406030204" pitchFamily="18" charset="0"/>
                              </a:rPr>
                            </m:ctrlPr>
                          </m:fPr>
                          <m:num>
                            <m:r>
                              <m:rPr>
                                <m:nor/>
                              </m:rPr>
                              <a:rPr lang="en-US" sz="2150">
                                <a:latin typeface="Cambria Math" panose="02040503050406030204" pitchFamily="18" charset="0"/>
                              </a:rPr>
                              <m:t>1</m:t>
                            </m:r>
                          </m:num>
                          <m:den>
                            <m:r>
                              <a:rPr lang="en-US" sz="2150" i="1">
                                <a:latin typeface="Cambria Math" panose="02040503050406030204" pitchFamily="18" charset="0"/>
                              </a:rPr>
                              <m:t>2</m:t>
                            </m:r>
                          </m:den>
                        </m:f>
                        <m:d>
                          <m:dPr>
                            <m:ctrlPr>
                              <a:rPr lang="en-US" sz="2150" i="1">
                                <a:latin typeface="Cambria Math" panose="02040503050406030204" pitchFamily="18" charset="0"/>
                              </a:rPr>
                            </m:ctrlPr>
                          </m:dPr>
                          <m:e>
                            <m:m>
                              <m:mPr>
                                <m:mcs>
                                  <m:mc>
                                    <m:mcPr>
                                      <m:count m:val="4"/>
                                      <m:mcJc m:val="center"/>
                                    </m:mcPr>
                                  </m:mc>
                                </m:mcs>
                                <m:ctrlPr>
                                  <a:rPr lang="en-US" sz="2150" i="1">
                                    <a:latin typeface="Cambria Math" panose="02040503050406030204" pitchFamily="18" charset="0"/>
                                  </a:rPr>
                                </m:ctrlPr>
                              </m:mPr>
                              <m:mr>
                                <m:e>
                                  <m:r>
                                    <m:rPr>
                                      <m:brk m:alnAt="7"/>
                                    </m:rPr>
                                    <a:rPr lang="en-US" sz="2150" i="1">
                                      <a:latin typeface="Cambria Math" panose="02040503050406030204" pitchFamily="18" charset="0"/>
                                    </a:rPr>
                                    <m:t>1</m:t>
                                  </m:r>
                                </m:e>
                                <m:e>
                                  <m:r>
                                    <a:rPr lang="en-US" sz="2150" i="1">
                                      <a:latin typeface="Cambria Math" panose="02040503050406030204" pitchFamily="18" charset="0"/>
                                    </a:rPr>
                                    <m:t>1</m:t>
                                  </m:r>
                                </m:e>
                                <m:e>
                                  <m:r>
                                    <a:rPr lang="en-US" sz="2150" i="1">
                                      <a:latin typeface="Cambria Math" panose="02040503050406030204" pitchFamily="18" charset="0"/>
                                    </a:rPr>
                                    <m:t>1</m:t>
                                  </m:r>
                                </m:e>
                                <m:e>
                                  <m:r>
                                    <a:rPr lang="en-US" sz="2150" i="1">
                                      <a:latin typeface="Cambria Math" panose="02040503050406030204" pitchFamily="18" charset="0"/>
                                    </a:rPr>
                                    <m:t>1</m:t>
                                  </m:r>
                                </m:e>
                              </m:mr>
                              <m:mr>
                                <m:e>
                                  <m:r>
                                    <a:rPr lang="en-US" sz="2150" i="1">
                                      <a:latin typeface="Cambria Math" panose="02040503050406030204" pitchFamily="18" charset="0"/>
                                    </a:rPr>
                                    <m:t>1</m:t>
                                  </m:r>
                                </m:e>
                                <m:e>
                                  <m:r>
                                    <a:rPr lang="en-US" sz="2150" i="1">
                                      <a:latin typeface="Cambria Math" panose="02040503050406030204" pitchFamily="18" charset="0"/>
                                    </a:rPr>
                                    <m:t>𝑖</m:t>
                                  </m:r>
                                </m:e>
                                <m:e>
                                  <m:r>
                                    <a:rPr lang="en-US" sz="2150" i="1">
                                      <a:latin typeface="Cambria Math" panose="02040503050406030204" pitchFamily="18" charset="0"/>
                                    </a:rPr>
                                    <m:t>−1</m:t>
                                  </m:r>
                                </m:e>
                                <m:e>
                                  <m:r>
                                    <a:rPr lang="en-US" sz="2150" i="1">
                                      <a:latin typeface="Cambria Math" panose="02040503050406030204" pitchFamily="18" charset="0"/>
                                    </a:rPr>
                                    <m:t>−</m:t>
                                  </m:r>
                                  <m:r>
                                    <a:rPr lang="en-US" sz="2150" i="1">
                                      <a:latin typeface="Cambria Math" panose="02040503050406030204" pitchFamily="18" charset="0"/>
                                    </a:rPr>
                                    <m:t>𝑖</m:t>
                                  </m:r>
                                </m:e>
                              </m:mr>
                              <m:mr>
                                <m:e>
                                  <m:r>
                                    <a:rPr lang="en-US" sz="2150" i="1">
                                      <a:latin typeface="Cambria Math" panose="02040503050406030204" pitchFamily="18" charset="0"/>
                                    </a:rPr>
                                    <m:t>1</m:t>
                                  </m:r>
                                </m:e>
                                <m:e>
                                  <m:r>
                                    <a:rPr lang="en-US" sz="2150" i="1">
                                      <a:latin typeface="Cambria Math" panose="02040503050406030204" pitchFamily="18" charset="0"/>
                                    </a:rPr>
                                    <m:t>−1</m:t>
                                  </m:r>
                                </m:e>
                                <m:e>
                                  <m:r>
                                    <a:rPr lang="en-US" sz="2150" i="1">
                                      <a:latin typeface="Cambria Math" panose="02040503050406030204" pitchFamily="18" charset="0"/>
                                    </a:rPr>
                                    <m:t>1</m:t>
                                  </m:r>
                                </m:e>
                                <m:e>
                                  <m:r>
                                    <a:rPr lang="en-US" sz="2150" i="1">
                                      <a:latin typeface="Cambria Math" panose="02040503050406030204" pitchFamily="18" charset="0"/>
                                    </a:rPr>
                                    <m:t>−1</m:t>
                                  </m:r>
                                </m:e>
                              </m:mr>
                              <m:mr>
                                <m:e>
                                  <m:r>
                                    <a:rPr lang="en-US" sz="2150" i="1">
                                      <a:latin typeface="Cambria Math" panose="02040503050406030204" pitchFamily="18" charset="0"/>
                                    </a:rPr>
                                    <m:t>1</m:t>
                                  </m:r>
                                </m:e>
                                <m:e>
                                  <m:r>
                                    <a:rPr lang="en-US" sz="2150" i="1">
                                      <a:latin typeface="Cambria Math" panose="02040503050406030204" pitchFamily="18" charset="0"/>
                                    </a:rPr>
                                    <m:t>−</m:t>
                                  </m:r>
                                  <m:r>
                                    <a:rPr lang="en-US" sz="2150" i="1">
                                      <a:latin typeface="Cambria Math" panose="02040503050406030204" pitchFamily="18" charset="0"/>
                                    </a:rPr>
                                    <m:t>𝑖</m:t>
                                  </m:r>
                                </m:e>
                                <m:e>
                                  <m:r>
                                    <a:rPr lang="en-US" sz="2150" i="1">
                                      <a:latin typeface="Cambria Math" panose="02040503050406030204" pitchFamily="18" charset="0"/>
                                    </a:rPr>
                                    <m:t>−1</m:t>
                                  </m:r>
                                </m:e>
                                <m:e>
                                  <m:r>
                                    <a:rPr lang="en-US" sz="2150" i="1">
                                      <a:latin typeface="Cambria Math" panose="02040503050406030204" pitchFamily="18" charset="0"/>
                                    </a:rPr>
                                    <m:t>𝑖</m:t>
                                  </m:r>
                                </m:e>
                              </m:mr>
                            </m:m>
                          </m:e>
                        </m:d>
                      </m:oMath>
                    </a14:m>
                    <a:endParaRPr lang="en-US" sz="2150" dirty="0">
                      <a:solidFill>
                        <a:schemeClr val="accent2">
                          <a:lumMod val="50000"/>
                        </a:schemeClr>
                      </a:solidFill>
                    </a:endParaRPr>
                  </a:p>
                </p:txBody>
              </p:sp>
            </mc:Choice>
            <mc:Fallback xmlns="">
              <p:sp>
                <p:nvSpPr>
                  <p:cNvPr id="38" name="Rectangle 37">
                    <a:extLst>
                      <a:ext uri="{FF2B5EF4-FFF2-40B4-BE49-F238E27FC236}">
                        <a16:creationId xmlns:a16="http://schemas.microsoft.com/office/drawing/2014/main" id="{90D0A2B5-D57D-1245-A476-6073928D5C0C}"/>
                      </a:ext>
                    </a:extLst>
                  </p:cNvPr>
                  <p:cNvSpPr>
                    <a:spLocks noRot="1" noChangeAspect="1" noMove="1" noResize="1" noEditPoints="1" noAdjustHandles="1" noChangeArrowheads="1" noChangeShapeType="1" noTextEdit="1"/>
                  </p:cNvSpPr>
                  <p:nvPr/>
                </p:nvSpPr>
                <p:spPr>
                  <a:xfrm>
                    <a:off x="-58615" y="4773264"/>
                    <a:ext cx="12264319" cy="1328249"/>
                  </a:xfrm>
                  <a:prstGeom prst="rect">
                    <a:avLst/>
                  </a:prstGeom>
                  <a:blipFill>
                    <a:blip r:embed="rId14"/>
                    <a:stretch>
                      <a:fillRect b="-9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B4368E67-C755-C24C-9E7B-255A570A4413}"/>
                      </a:ext>
                    </a:extLst>
                  </p:cNvPr>
                  <p:cNvSpPr/>
                  <p:nvPr/>
                </p:nvSpPr>
                <p:spPr>
                  <a:xfrm>
                    <a:off x="374640" y="6253699"/>
                    <a:ext cx="110267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𝑆𝑊𝐴𝑃</m:t>
                          </m:r>
                        </m:oMath>
                      </m:oMathPara>
                    </a14:m>
                    <a:endParaRPr lang="en-US" sz="2400" i="1" dirty="0"/>
                  </a:p>
                </p:txBody>
              </p:sp>
            </mc:Choice>
            <mc:Fallback xmlns="">
              <p:sp>
                <p:nvSpPr>
                  <p:cNvPr id="39" name="Rectangle 38">
                    <a:extLst>
                      <a:ext uri="{FF2B5EF4-FFF2-40B4-BE49-F238E27FC236}">
                        <a16:creationId xmlns:a16="http://schemas.microsoft.com/office/drawing/2014/main" id="{B4368E67-C755-C24C-9E7B-255A570A4413}"/>
                      </a:ext>
                    </a:extLst>
                  </p:cNvPr>
                  <p:cNvSpPr>
                    <a:spLocks noRot="1" noChangeAspect="1" noMove="1" noResize="1" noEditPoints="1" noAdjustHandles="1" noChangeArrowheads="1" noChangeShapeType="1" noTextEdit="1"/>
                  </p:cNvSpPr>
                  <p:nvPr/>
                </p:nvSpPr>
                <p:spPr>
                  <a:xfrm>
                    <a:off x="374640" y="6253699"/>
                    <a:ext cx="1102673" cy="461665"/>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72D169B2-1DB4-034A-81C8-F4D2E8BE0005}"/>
                      </a:ext>
                    </a:extLst>
                  </p:cNvPr>
                  <p:cNvSpPr/>
                  <p:nvPr/>
                </p:nvSpPr>
                <p:spPr>
                  <a:xfrm>
                    <a:off x="2984822" y="6253698"/>
                    <a:ext cx="88152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𝐼</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𝐻</m:t>
                          </m:r>
                        </m:oMath>
                      </m:oMathPara>
                    </a14:m>
                    <a:endParaRPr lang="en-US" sz="2400" i="1" dirty="0"/>
                  </a:p>
                </p:txBody>
              </p:sp>
            </mc:Choice>
            <mc:Fallback xmlns="">
              <p:sp>
                <p:nvSpPr>
                  <p:cNvPr id="40" name="Rectangle 39">
                    <a:extLst>
                      <a:ext uri="{FF2B5EF4-FFF2-40B4-BE49-F238E27FC236}">
                        <a16:creationId xmlns:a16="http://schemas.microsoft.com/office/drawing/2014/main" id="{72D169B2-1DB4-034A-81C8-F4D2E8BE0005}"/>
                      </a:ext>
                    </a:extLst>
                  </p:cNvPr>
                  <p:cNvSpPr>
                    <a:spLocks noRot="1" noChangeAspect="1" noMove="1" noResize="1" noEditPoints="1" noAdjustHandles="1" noChangeArrowheads="1" noChangeShapeType="1" noTextEdit="1"/>
                  </p:cNvSpPr>
                  <p:nvPr/>
                </p:nvSpPr>
                <p:spPr>
                  <a:xfrm>
                    <a:off x="2984822" y="6253698"/>
                    <a:ext cx="881523" cy="461665"/>
                  </a:xfrm>
                  <a:prstGeom prst="rect">
                    <a:avLst/>
                  </a:prstGeom>
                  <a:blipFill>
                    <a:blip r:embed="rId16"/>
                    <a:stretch>
                      <a:fillRect b="-27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6818B2F5-E9FF-EC4E-9FAA-701B4E2B7EF0}"/>
                      </a:ext>
                    </a:extLst>
                  </p:cNvPr>
                  <p:cNvSpPr/>
                  <p:nvPr/>
                </p:nvSpPr>
                <p:spPr>
                  <a:xfrm>
                    <a:off x="4802016" y="6253697"/>
                    <a:ext cx="135934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𝑐𝑃</m:t>
                          </m:r>
                          <m:r>
                            <a:rPr lang="en-US" sz="2400" b="0" i="1" smtClean="0">
                              <a:solidFill>
                                <a:schemeClr val="tx1"/>
                              </a:solidFill>
                              <a:latin typeface="Cambria Math" panose="02040503050406030204" pitchFamily="18" charset="0"/>
                            </a:rPr>
                            <m:t>(</m:t>
                          </m:r>
                          <m:r>
                            <a:rPr lang="en-US" sz="2400" i="1">
                              <a:solidFill>
                                <a:schemeClr val="tx1"/>
                              </a:solidFill>
                              <a:latin typeface="Cambria Math" panose="02040503050406030204" pitchFamily="18" charset="0"/>
                              <a:ea typeface="Cambria Math" panose="02040503050406030204" pitchFamily="18" charset="0"/>
                            </a:rPr>
                            <m:t>𝜋</m:t>
                          </m:r>
                          <m:r>
                            <a:rPr lang="en-US" sz="2400" b="0" i="1" smtClean="0">
                              <a:solidFill>
                                <a:schemeClr val="tx1"/>
                              </a:solidFill>
                              <a:latin typeface="Cambria Math" panose="02040503050406030204" pitchFamily="18" charset="0"/>
                              <a:ea typeface="Cambria Math" panose="02040503050406030204" pitchFamily="18" charset="0"/>
                            </a:rPr>
                            <m:t>/2</m:t>
                          </m:r>
                          <m:r>
                            <a:rPr lang="en-US" sz="2400" b="0" i="1" smtClean="0">
                              <a:solidFill>
                                <a:schemeClr val="tx1"/>
                              </a:solidFill>
                              <a:latin typeface="Cambria Math" panose="02040503050406030204" pitchFamily="18" charset="0"/>
                            </a:rPr>
                            <m:t>)</m:t>
                          </m:r>
                        </m:oMath>
                      </m:oMathPara>
                    </a14:m>
                    <a:endParaRPr lang="en-US" sz="2400" i="1" dirty="0">
                      <a:solidFill>
                        <a:schemeClr val="tx1"/>
                      </a:solidFill>
                    </a:endParaRPr>
                  </a:p>
                </p:txBody>
              </p:sp>
            </mc:Choice>
            <mc:Fallback xmlns="">
              <p:sp>
                <p:nvSpPr>
                  <p:cNvPr id="41" name="Rectangle 40">
                    <a:extLst>
                      <a:ext uri="{FF2B5EF4-FFF2-40B4-BE49-F238E27FC236}">
                        <a16:creationId xmlns:a16="http://schemas.microsoft.com/office/drawing/2014/main" id="{6818B2F5-E9FF-EC4E-9FAA-701B4E2B7EF0}"/>
                      </a:ext>
                    </a:extLst>
                  </p:cNvPr>
                  <p:cNvSpPr>
                    <a:spLocks noRot="1" noChangeAspect="1" noMove="1" noResize="1" noEditPoints="1" noAdjustHandles="1" noChangeArrowheads="1" noChangeShapeType="1" noTextEdit="1"/>
                  </p:cNvSpPr>
                  <p:nvPr/>
                </p:nvSpPr>
                <p:spPr>
                  <a:xfrm>
                    <a:off x="4802016" y="6253697"/>
                    <a:ext cx="1359346" cy="461665"/>
                  </a:xfrm>
                  <a:prstGeom prst="rect">
                    <a:avLst/>
                  </a:prstGeom>
                  <a:blipFill>
                    <a:blip r:embed="rId17"/>
                    <a:stretch>
                      <a:fillRect b="-162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A6F8F9D5-A652-3843-97CC-A32E0EC5BFB9}"/>
                      </a:ext>
                    </a:extLst>
                  </p:cNvPr>
                  <p:cNvSpPr/>
                  <p:nvPr/>
                </p:nvSpPr>
                <p:spPr>
                  <a:xfrm>
                    <a:off x="7430439" y="6253696"/>
                    <a:ext cx="88152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𝐻</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𝐼</m:t>
                          </m:r>
                        </m:oMath>
                      </m:oMathPara>
                    </a14:m>
                    <a:endParaRPr lang="en-US" sz="2400" i="1" dirty="0"/>
                  </a:p>
                </p:txBody>
              </p:sp>
            </mc:Choice>
            <mc:Fallback xmlns="">
              <p:sp>
                <p:nvSpPr>
                  <p:cNvPr id="42" name="Rectangle 41">
                    <a:extLst>
                      <a:ext uri="{FF2B5EF4-FFF2-40B4-BE49-F238E27FC236}">
                        <a16:creationId xmlns:a16="http://schemas.microsoft.com/office/drawing/2014/main" id="{A6F8F9D5-A652-3843-97CC-A32E0EC5BFB9}"/>
                      </a:ext>
                    </a:extLst>
                  </p:cNvPr>
                  <p:cNvSpPr>
                    <a:spLocks noRot="1" noChangeAspect="1" noMove="1" noResize="1" noEditPoints="1" noAdjustHandles="1" noChangeArrowheads="1" noChangeShapeType="1" noTextEdit="1"/>
                  </p:cNvSpPr>
                  <p:nvPr/>
                </p:nvSpPr>
                <p:spPr>
                  <a:xfrm>
                    <a:off x="7430439" y="6253696"/>
                    <a:ext cx="881523" cy="461665"/>
                  </a:xfrm>
                  <a:prstGeom prst="rect">
                    <a:avLst/>
                  </a:prstGeom>
                  <a:blipFill>
                    <a:blip r:embed="rId18"/>
                    <a:stretch>
                      <a:fillRect b="-27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04176AA2-9D04-714B-8D5A-6E37E2E414DC}"/>
                      </a:ext>
                    </a:extLst>
                  </p:cNvPr>
                  <p:cNvSpPr/>
                  <p:nvPr/>
                </p:nvSpPr>
                <p:spPr>
                  <a:xfrm>
                    <a:off x="10551929" y="6253696"/>
                    <a:ext cx="53694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𝐹</m:t>
                              </m:r>
                            </m:e>
                            <m:sub>
                              <m:r>
                                <a:rPr lang="en-US" sz="2400" i="1">
                                  <a:latin typeface="Cambria Math" panose="02040503050406030204" pitchFamily="18" charset="0"/>
                                </a:rPr>
                                <m:t>4</m:t>
                              </m:r>
                            </m:sub>
                          </m:sSub>
                        </m:oMath>
                      </m:oMathPara>
                    </a14:m>
                    <a:endParaRPr lang="en-US" sz="2400" dirty="0"/>
                  </a:p>
                </p:txBody>
              </p:sp>
            </mc:Choice>
            <mc:Fallback xmlns="">
              <p:sp>
                <p:nvSpPr>
                  <p:cNvPr id="20" name="Rectangle 19">
                    <a:extLst>
                      <a:ext uri="{FF2B5EF4-FFF2-40B4-BE49-F238E27FC236}">
                        <a16:creationId xmlns:a16="http://schemas.microsoft.com/office/drawing/2014/main" id="{04176AA2-9D04-714B-8D5A-6E37E2E414DC}"/>
                      </a:ext>
                    </a:extLst>
                  </p:cNvPr>
                  <p:cNvSpPr>
                    <a:spLocks noRot="1" noChangeAspect="1" noMove="1" noResize="1" noEditPoints="1" noAdjustHandles="1" noChangeArrowheads="1" noChangeShapeType="1" noTextEdit="1"/>
                  </p:cNvSpPr>
                  <p:nvPr/>
                </p:nvSpPr>
                <p:spPr>
                  <a:xfrm>
                    <a:off x="10551929" y="6253696"/>
                    <a:ext cx="536942" cy="461665"/>
                  </a:xfrm>
                  <a:prstGeom prst="rect">
                    <a:avLst/>
                  </a:prstGeom>
                  <a:blipFill>
                    <a:blip r:embed="rId19"/>
                    <a:stretch>
                      <a:fillRect/>
                    </a:stretch>
                  </a:blipFill>
                </p:spPr>
                <p:txBody>
                  <a:bodyPr/>
                  <a:lstStyle/>
                  <a:p>
                    <a:r>
                      <a:rPr lang="en-US">
                        <a:noFill/>
                      </a:rPr>
                      <a:t> </a:t>
                    </a:r>
                  </a:p>
                </p:txBody>
              </p:sp>
            </mc:Fallback>
          </mc:AlternateContent>
        </p:grpSp>
      </p:grpSp>
      <p:sp>
        <p:nvSpPr>
          <p:cNvPr id="28" name="Arc 27">
            <a:extLst>
              <a:ext uri="{FF2B5EF4-FFF2-40B4-BE49-F238E27FC236}">
                <a16:creationId xmlns:a16="http://schemas.microsoft.com/office/drawing/2014/main" id="{93386D29-CF6F-B845-A039-6233A5969E42}"/>
              </a:ext>
            </a:extLst>
          </p:cNvPr>
          <p:cNvSpPr/>
          <p:nvPr/>
        </p:nvSpPr>
        <p:spPr>
          <a:xfrm flipH="1">
            <a:off x="5862865" y="2195748"/>
            <a:ext cx="852962" cy="660612"/>
          </a:xfrm>
          <a:prstGeom prst="arc">
            <a:avLst>
              <a:gd name="adj1" fmla="val 10795113"/>
              <a:gd name="adj2" fmla="val 105804"/>
            </a:avLst>
          </a:prstGeom>
          <a:ln>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3" name="Arc 42">
            <a:extLst>
              <a:ext uri="{FF2B5EF4-FFF2-40B4-BE49-F238E27FC236}">
                <a16:creationId xmlns:a16="http://schemas.microsoft.com/office/drawing/2014/main" id="{6937805E-DE74-7F42-9675-52C5B2BEF821}"/>
              </a:ext>
            </a:extLst>
          </p:cNvPr>
          <p:cNvSpPr/>
          <p:nvPr/>
        </p:nvSpPr>
        <p:spPr>
          <a:xfrm flipH="1" flipV="1">
            <a:off x="5901442" y="3877611"/>
            <a:ext cx="852962" cy="660612"/>
          </a:xfrm>
          <a:prstGeom prst="arc">
            <a:avLst>
              <a:gd name="adj1" fmla="val 10795113"/>
              <a:gd name="adj2" fmla="val 105804"/>
            </a:avLst>
          </a:prstGeom>
          <a:ln>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237859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9D8E4-0471-D64D-9BF1-34472B3499CC}"/>
              </a:ext>
            </a:extLst>
          </p:cNvPr>
          <p:cNvSpPr>
            <a:spLocks noGrp="1"/>
          </p:cNvSpPr>
          <p:nvPr>
            <p:ph type="title"/>
          </p:nvPr>
        </p:nvSpPr>
        <p:spPr>
          <a:xfrm>
            <a:off x="0" y="0"/>
            <a:ext cx="12192000" cy="928688"/>
          </a:xfrm>
        </p:spPr>
        <p:txBody>
          <a:bodyPr/>
          <a:lstStyle/>
          <a:p>
            <a:r>
              <a:rPr lang="en-ZA" dirty="0"/>
              <a:t>QFT: 3 qubits</a:t>
            </a:r>
            <a:endParaRPr lang="en-US" dirty="0"/>
          </a:p>
        </p:txBody>
      </p:sp>
      <p:sp>
        <p:nvSpPr>
          <p:cNvPr id="3" name="Slide Number Placeholder 2">
            <a:extLst>
              <a:ext uri="{FF2B5EF4-FFF2-40B4-BE49-F238E27FC236}">
                <a16:creationId xmlns:a16="http://schemas.microsoft.com/office/drawing/2014/main" id="{0FCEE801-4E99-D049-B3F5-D3CD355EE22C}"/>
              </a:ext>
            </a:extLst>
          </p:cNvPr>
          <p:cNvSpPr>
            <a:spLocks noGrp="1"/>
          </p:cNvSpPr>
          <p:nvPr>
            <p:ph type="sldNum" sz="quarter" idx="12"/>
          </p:nvPr>
        </p:nvSpPr>
        <p:spPr/>
        <p:txBody>
          <a:bodyPr/>
          <a:lstStyle/>
          <a:p>
            <a:fld id="{591A223C-FA10-BC46-A853-03BA373D023C}" type="slidenum">
              <a:rPr lang="en-US" smtClean="0"/>
              <a:t>65</a:t>
            </a:fld>
            <a:endParaRPr lang="en-US" dirty="0"/>
          </a:p>
        </p:txBody>
      </p:sp>
      <p:cxnSp>
        <p:nvCxnSpPr>
          <p:cNvPr id="5" name="Straight Connector 4">
            <a:extLst>
              <a:ext uri="{FF2B5EF4-FFF2-40B4-BE49-F238E27FC236}">
                <a16:creationId xmlns:a16="http://schemas.microsoft.com/office/drawing/2014/main" id="{EF2BEDC7-E01D-CE4F-9F9D-DEEAE9ECDA55}"/>
              </a:ext>
            </a:extLst>
          </p:cNvPr>
          <p:cNvCxnSpPr>
            <a:cxnSpLocks/>
          </p:cNvCxnSpPr>
          <p:nvPr/>
        </p:nvCxnSpPr>
        <p:spPr>
          <a:xfrm flipV="1">
            <a:off x="462292" y="4340438"/>
            <a:ext cx="72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FBD2272-5AE0-BA43-96E2-9C197E408A88}"/>
              </a:ext>
            </a:extLst>
          </p:cNvPr>
          <p:cNvCxnSpPr>
            <a:cxnSpLocks/>
          </p:cNvCxnSpPr>
          <p:nvPr/>
        </p:nvCxnSpPr>
        <p:spPr>
          <a:xfrm flipV="1">
            <a:off x="462292" y="3221251"/>
            <a:ext cx="72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4C55FDCF-8353-F144-8210-4586EE87F367}"/>
              </a:ext>
            </a:extLst>
          </p:cNvPr>
          <p:cNvSpPr/>
          <p:nvPr/>
        </p:nvSpPr>
        <p:spPr>
          <a:xfrm>
            <a:off x="4146725" y="3982094"/>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cxnSp>
        <p:nvCxnSpPr>
          <p:cNvPr id="16" name="Straight Connector 15">
            <a:extLst>
              <a:ext uri="{FF2B5EF4-FFF2-40B4-BE49-F238E27FC236}">
                <a16:creationId xmlns:a16="http://schemas.microsoft.com/office/drawing/2014/main" id="{978F2EBA-8F16-C848-A6C0-CF224732C78F}"/>
              </a:ext>
            </a:extLst>
          </p:cNvPr>
          <p:cNvCxnSpPr>
            <a:cxnSpLocks/>
          </p:cNvCxnSpPr>
          <p:nvPr/>
        </p:nvCxnSpPr>
        <p:spPr>
          <a:xfrm>
            <a:off x="7369763" y="3253045"/>
            <a:ext cx="0" cy="220748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AEB3C56A-9058-CC47-A019-6AFD4211B276}"/>
              </a:ext>
            </a:extLst>
          </p:cNvPr>
          <p:cNvGrpSpPr/>
          <p:nvPr/>
        </p:nvGrpSpPr>
        <p:grpSpPr>
          <a:xfrm>
            <a:off x="7234763" y="3085733"/>
            <a:ext cx="270000" cy="270000"/>
            <a:chOff x="9085236" y="4757239"/>
            <a:chExt cx="270000" cy="270000"/>
          </a:xfrm>
        </p:grpSpPr>
        <p:cxnSp>
          <p:nvCxnSpPr>
            <p:cNvPr id="17" name="Straight Connector 16">
              <a:extLst>
                <a:ext uri="{FF2B5EF4-FFF2-40B4-BE49-F238E27FC236}">
                  <a16:creationId xmlns:a16="http://schemas.microsoft.com/office/drawing/2014/main" id="{10B2A25A-A37F-7D40-A557-7A149DAAC7D4}"/>
                </a:ext>
              </a:extLst>
            </p:cNvPr>
            <p:cNvCxnSpPr>
              <a:cxnSpLocks/>
            </p:cNvCxnSpPr>
            <p:nvPr/>
          </p:nvCxnSpPr>
          <p:spPr>
            <a:xfrm rot="18900000">
              <a:off x="9085236" y="4892240"/>
              <a:ext cx="27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B6BD801-7BB0-8541-AE5E-384B0EDA123B}"/>
                </a:ext>
              </a:extLst>
            </p:cNvPr>
            <p:cNvCxnSpPr>
              <a:cxnSpLocks/>
            </p:cNvCxnSpPr>
            <p:nvPr/>
          </p:nvCxnSpPr>
          <p:spPr>
            <a:xfrm rot="2700000">
              <a:off x="9085093" y="4892239"/>
              <a:ext cx="27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79BC8343-FA2C-9F45-806F-8D78B18F87EF}"/>
              </a:ext>
            </a:extLst>
          </p:cNvPr>
          <p:cNvGrpSpPr/>
          <p:nvPr/>
        </p:nvGrpSpPr>
        <p:grpSpPr>
          <a:xfrm>
            <a:off x="7234620" y="5328492"/>
            <a:ext cx="270000" cy="270000"/>
            <a:chOff x="9085236" y="4763589"/>
            <a:chExt cx="270000" cy="270000"/>
          </a:xfrm>
        </p:grpSpPr>
        <p:cxnSp>
          <p:nvCxnSpPr>
            <p:cNvPr id="24" name="Straight Connector 23">
              <a:extLst>
                <a:ext uri="{FF2B5EF4-FFF2-40B4-BE49-F238E27FC236}">
                  <a16:creationId xmlns:a16="http://schemas.microsoft.com/office/drawing/2014/main" id="{487D6AA4-E5FC-3D4B-87BF-0AE2BC7F0E81}"/>
                </a:ext>
              </a:extLst>
            </p:cNvPr>
            <p:cNvCxnSpPr>
              <a:cxnSpLocks/>
            </p:cNvCxnSpPr>
            <p:nvPr/>
          </p:nvCxnSpPr>
          <p:spPr>
            <a:xfrm rot="18900000">
              <a:off x="9085236" y="4898590"/>
              <a:ext cx="27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EE54E7F-4DC7-9D47-AB2E-1941A558133D}"/>
                </a:ext>
              </a:extLst>
            </p:cNvPr>
            <p:cNvCxnSpPr>
              <a:cxnSpLocks/>
            </p:cNvCxnSpPr>
            <p:nvPr/>
          </p:nvCxnSpPr>
          <p:spPr>
            <a:xfrm rot="2700000">
              <a:off x="9085093" y="4898589"/>
              <a:ext cx="27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Rectangle 5">
            <a:extLst>
              <a:ext uri="{FF2B5EF4-FFF2-40B4-BE49-F238E27FC236}">
                <a16:creationId xmlns:a16="http://schemas.microsoft.com/office/drawing/2014/main" id="{3695896F-814C-6140-8201-53539E29EF20}"/>
              </a:ext>
            </a:extLst>
          </p:cNvPr>
          <p:cNvSpPr/>
          <p:nvPr/>
        </p:nvSpPr>
        <p:spPr>
          <a:xfrm>
            <a:off x="919585" y="2893045"/>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grpSp>
        <p:nvGrpSpPr>
          <p:cNvPr id="4" name="Group 3">
            <a:extLst>
              <a:ext uri="{FF2B5EF4-FFF2-40B4-BE49-F238E27FC236}">
                <a16:creationId xmlns:a16="http://schemas.microsoft.com/office/drawing/2014/main" id="{02E8EC48-8933-3A41-97AC-954510EE187B}"/>
              </a:ext>
            </a:extLst>
          </p:cNvPr>
          <p:cNvGrpSpPr/>
          <p:nvPr/>
        </p:nvGrpSpPr>
        <p:grpSpPr>
          <a:xfrm>
            <a:off x="1998526" y="2867663"/>
            <a:ext cx="720000" cy="1585534"/>
            <a:chOff x="2498606" y="2397542"/>
            <a:chExt cx="720000" cy="1585534"/>
          </a:xfrm>
        </p:grpSpPr>
        <p:grpSp>
          <p:nvGrpSpPr>
            <p:cNvPr id="12" name="Group 11">
              <a:extLst>
                <a:ext uri="{FF2B5EF4-FFF2-40B4-BE49-F238E27FC236}">
                  <a16:creationId xmlns:a16="http://schemas.microsoft.com/office/drawing/2014/main" id="{F7DFEBCE-AB93-1541-9CCC-B330828BEAA4}"/>
                </a:ext>
              </a:extLst>
            </p:cNvPr>
            <p:cNvGrpSpPr/>
            <p:nvPr/>
          </p:nvGrpSpPr>
          <p:grpSpPr>
            <a:xfrm flipV="1">
              <a:off x="2726706" y="3097888"/>
              <a:ext cx="251999" cy="885188"/>
              <a:chOff x="8030221" y="1791784"/>
              <a:chExt cx="251999" cy="885188"/>
            </a:xfrm>
          </p:grpSpPr>
          <p:cxnSp>
            <p:nvCxnSpPr>
              <p:cNvPr id="10" name="Straight Connector 9">
                <a:extLst>
                  <a:ext uri="{FF2B5EF4-FFF2-40B4-BE49-F238E27FC236}">
                    <a16:creationId xmlns:a16="http://schemas.microsoft.com/office/drawing/2014/main" id="{CFBC399B-F587-C24D-9174-FC6E34B666BA}"/>
                  </a:ext>
                </a:extLst>
              </p:cNvPr>
              <p:cNvCxnSpPr>
                <a:cxnSpLocks/>
              </p:cNvCxnSpPr>
              <p:nvPr/>
            </p:nvCxnSpPr>
            <p:spPr>
              <a:xfrm flipV="1">
                <a:off x="8156221" y="1917785"/>
                <a:ext cx="0" cy="7591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5441F44D-63EF-D54E-8A97-CCE505E2E865}"/>
                  </a:ext>
                </a:extLst>
              </p:cNvPr>
              <p:cNvSpPr/>
              <p:nvPr/>
            </p:nvSpPr>
            <p:spPr>
              <a:xfrm>
                <a:off x="8030221" y="1791784"/>
                <a:ext cx="251999" cy="25199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E64AB008-EAF7-484E-8CF4-C0CBB39F23FF}"/>
                    </a:ext>
                  </a:extLst>
                </p:cNvPr>
                <p:cNvSpPr/>
                <p:nvPr/>
              </p:nvSpPr>
              <p:spPr>
                <a:xfrm>
                  <a:off x="2498606" y="2397542"/>
                  <a:ext cx="720000" cy="706053"/>
                </a:xfrm>
                <a:prstGeom prst="rect">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bg1"/>
                      </a:solidFill>
                      <a:latin typeface="Times" pitchFamily="2" charset="0"/>
                    </a:rPr>
                    <a:t>cP</a:t>
                  </a:r>
                  <a:r>
                    <a:rPr lang="en-US" sz="2400" dirty="0">
                      <a:solidFill>
                        <a:schemeClr val="bg1"/>
                      </a:solidFill>
                      <a:ea typeface="Cambria Math" panose="02040503050406030204" pitchFamily="18" charset="0"/>
                    </a:rPr>
                    <a:t> </a:t>
                  </a:r>
                  <a14:m>
                    <m:oMath xmlns:m="http://schemas.openxmlformats.org/officeDocument/2006/math">
                      <m:f>
                        <m:fPr>
                          <m:ctrlPr>
                            <a:rPr lang="en-US" sz="2400" i="1">
                              <a:solidFill>
                                <a:schemeClr val="bg1"/>
                              </a:solidFill>
                              <a:latin typeface="Cambria Math" panose="02040503050406030204" pitchFamily="18" charset="0"/>
                              <a:ea typeface="Cambria Math" panose="02040503050406030204" pitchFamily="18" charset="0"/>
                            </a:rPr>
                          </m:ctrlPr>
                        </m:fPr>
                        <m:num>
                          <m:r>
                            <a:rPr lang="en-US" sz="2400" i="1">
                              <a:solidFill>
                                <a:schemeClr val="bg1"/>
                              </a:solidFill>
                              <a:latin typeface="Cambria Math" panose="02040503050406030204" pitchFamily="18" charset="0"/>
                              <a:ea typeface="Cambria Math" panose="02040503050406030204" pitchFamily="18" charset="0"/>
                            </a:rPr>
                            <m:t>𝜋</m:t>
                          </m:r>
                        </m:num>
                        <m:den>
                          <m:r>
                            <a:rPr lang="en-US" sz="2400" b="0" i="1" smtClean="0">
                              <a:solidFill>
                                <a:schemeClr val="bg1"/>
                              </a:solidFill>
                              <a:latin typeface="Cambria Math" panose="02040503050406030204" pitchFamily="18" charset="0"/>
                              <a:ea typeface="Cambria Math" panose="02040503050406030204" pitchFamily="18" charset="0"/>
                            </a:rPr>
                            <m:t>2</m:t>
                          </m:r>
                        </m:den>
                      </m:f>
                    </m:oMath>
                  </a14:m>
                  <a:endParaRPr lang="en-US" sz="2400" dirty="0">
                    <a:solidFill>
                      <a:schemeClr val="bg1"/>
                    </a:solidFill>
                    <a:latin typeface="Times" pitchFamily="2" charset="0"/>
                  </a:endParaRPr>
                </a:p>
              </p:txBody>
            </p:sp>
          </mc:Choice>
          <mc:Fallback xmlns="">
            <p:sp>
              <p:nvSpPr>
                <p:cNvPr id="44" name="Rectangle 43">
                  <a:extLst>
                    <a:ext uri="{FF2B5EF4-FFF2-40B4-BE49-F238E27FC236}">
                      <a16:creationId xmlns:a16="http://schemas.microsoft.com/office/drawing/2014/main" id="{E64AB008-EAF7-484E-8CF4-C0CBB39F23FF}"/>
                    </a:ext>
                  </a:extLst>
                </p:cNvPr>
                <p:cNvSpPr>
                  <a:spLocks noRot="1" noChangeAspect="1" noMove="1" noResize="1" noEditPoints="1" noAdjustHandles="1" noChangeArrowheads="1" noChangeShapeType="1" noTextEdit="1"/>
                </p:cNvSpPr>
                <p:nvPr/>
              </p:nvSpPr>
              <p:spPr>
                <a:xfrm>
                  <a:off x="2498606" y="2397542"/>
                  <a:ext cx="720000" cy="706053"/>
                </a:xfrm>
                <a:prstGeom prst="rect">
                  <a:avLst/>
                </a:prstGeom>
                <a:blipFill>
                  <a:blip r:embed="rId3"/>
                  <a:stretch>
                    <a:fillRect l="-10169"/>
                  </a:stretch>
                </a:blipFill>
                <a:ln>
                  <a:solidFill>
                    <a:schemeClr val="tx1"/>
                  </a:solidFill>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3E87F76-89C6-7243-BECB-2BB8B18389C2}"/>
                  </a:ext>
                </a:extLst>
              </p:cNvPr>
              <p:cNvSpPr/>
              <p:nvPr/>
            </p:nvSpPr>
            <p:spPr>
              <a:xfrm>
                <a:off x="101927" y="2726624"/>
                <a:ext cx="806246" cy="4822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brk m:alnAt="7"/>
                        </m:rPr>
                        <a:rPr lang="en-US" sz="2200" i="1" smtClean="0">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sSub>
                            <m:sSubPr>
                              <m:ctrlPr>
                                <a:rPr lang="en-US" sz="2200" i="1">
                                  <a:latin typeface="Cambria Math" panose="02040503050406030204" pitchFamily="18" charset="0"/>
                                  <a:ea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𝑥</m:t>
                              </m:r>
                            </m:e>
                            <m:sub>
                              <m:r>
                                <a:rPr lang="en-US" sz="2200" b="0" i="1" smtClean="0">
                                  <a:latin typeface="Cambria Math" panose="02040503050406030204" pitchFamily="18" charset="0"/>
                                  <a:ea typeface="Cambria Math" panose="02040503050406030204" pitchFamily="18" charset="0"/>
                                </a:rPr>
                                <m:t>1</m:t>
                              </m:r>
                            </m:sub>
                          </m:sSub>
                        </m:e>
                      </m:d>
                    </m:oMath>
                  </m:oMathPara>
                </a14:m>
                <a:endParaRPr lang="en-US" sz="2200" dirty="0"/>
              </a:p>
            </p:txBody>
          </p:sp>
        </mc:Choice>
        <mc:Fallback xmlns="">
          <p:sp>
            <p:nvSpPr>
              <p:cNvPr id="15" name="Rectangle 14">
                <a:extLst>
                  <a:ext uri="{FF2B5EF4-FFF2-40B4-BE49-F238E27FC236}">
                    <a16:creationId xmlns:a16="http://schemas.microsoft.com/office/drawing/2014/main" id="{63E87F76-89C6-7243-BECB-2BB8B18389C2}"/>
                  </a:ext>
                </a:extLst>
              </p:cNvPr>
              <p:cNvSpPr>
                <a:spLocks noRot="1" noChangeAspect="1" noMove="1" noResize="1" noEditPoints="1" noAdjustHandles="1" noChangeArrowheads="1" noChangeShapeType="1" noTextEdit="1"/>
              </p:cNvSpPr>
              <p:nvPr/>
            </p:nvSpPr>
            <p:spPr>
              <a:xfrm>
                <a:off x="101927" y="2726624"/>
                <a:ext cx="806246" cy="482248"/>
              </a:xfrm>
              <a:prstGeom prst="rect">
                <a:avLst/>
              </a:prstGeom>
              <a:blipFill>
                <a:blip r:embed="rId4"/>
                <a:stretch>
                  <a:fillRect l="-4615" t="-94872" r="-33846" b="-1641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40447BED-7CFB-6749-AFEF-C041D83BE7BA}"/>
                  </a:ext>
                </a:extLst>
              </p:cNvPr>
              <p:cNvSpPr/>
              <p:nvPr/>
            </p:nvSpPr>
            <p:spPr>
              <a:xfrm>
                <a:off x="101926" y="3851202"/>
                <a:ext cx="812787" cy="4822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brk m:alnAt="7"/>
                        </m:rPr>
                        <a:rPr lang="en-US" sz="2200" i="1" smtClean="0">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sSub>
                            <m:sSubPr>
                              <m:ctrlPr>
                                <a:rPr lang="en-US" sz="2200" i="1">
                                  <a:latin typeface="Cambria Math" panose="02040503050406030204" pitchFamily="18" charset="0"/>
                                  <a:ea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𝑥</m:t>
                              </m:r>
                            </m:e>
                            <m:sub>
                              <m:r>
                                <a:rPr lang="en-US" sz="2200" b="0" i="1" smtClean="0">
                                  <a:latin typeface="Cambria Math" panose="02040503050406030204" pitchFamily="18" charset="0"/>
                                  <a:ea typeface="Cambria Math" panose="02040503050406030204" pitchFamily="18" charset="0"/>
                                </a:rPr>
                                <m:t>2</m:t>
                              </m:r>
                            </m:sub>
                          </m:sSub>
                        </m:e>
                      </m:d>
                    </m:oMath>
                  </m:oMathPara>
                </a14:m>
                <a:endParaRPr lang="en-US" sz="2200" dirty="0"/>
              </a:p>
            </p:txBody>
          </p:sp>
        </mc:Choice>
        <mc:Fallback xmlns="">
          <p:sp>
            <p:nvSpPr>
              <p:cNvPr id="46" name="Rectangle 45">
                <a:extLst>
                  <a:ext uri="{FF2B5EF4-FFF2-40B4-BE49-F238E27FC236}">
                    <a16:creationId xmlns:a16="http://schemas.microsoft.com/office/drawing/2014/main" id="{40447BED-7CFB-6749-AFEF-C041D83BE7BA}"/>
                  </a:ext>
                </a:extLst>
              </p:cNvPr>
              <p:cNvSpPr>
                <a:spLocks noRot="1" noChangeAspect="1" noMove="1" noResize="1" noEditPoints="1" noAdjustHandles="1" noChangeArrowheads="1" noChangeShapeType="1" noTextEdit="1"/>
              </p:cNvSpPr>
              <p:nvPr/>
            </p:nvSpPr>
            <p:spPr>
              <a:xfrm>
                <a:off x="101926" y="3851202"/>
                <a:ext cx="812787" cy="482248"/>
              </a:xfrm>
              <a:prstGeom prst="rect">
                <a:avLst/>
              </a:prstGeom>
              <a:blipFill>
                <a:blip r:embed="rId5"/>
                <a:stretch>
                  <a:fillRect l="-4615" t="-94872" r="-33846" b="-166667"/>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4BEE9648-33B6-974F-AD72-8BAD63D1656E}"/>
              </a:ext>
            </a:extLst>
          </p:cNvPr>
          <p:cNvCxnSpPr>
            <a:cxnSpLocks/>
          </p:cNvCxnSpPr>
          <p:nvPr/>
        </p:nvCxnSpPr>
        <p:spPr>
          <a:xfrm flipV="1">
            <a:off x="462292" y="5457404"/>
            <a:ext cx="7200000" cy="170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C787CC1C-2170-7D4B-907D-D2B48FF8BD8B}"/>
              </a:ext>
            </a:extLst>
          </p:cNvPr>
          <p:cNvGrpSpPr/>
          <p:nvPr/>
        </p:nvGrpSpPr>
        <p:grpSpPr>
          <a:xfrm>
            <a:off x="3072626" y="2872330"/>
            <a:ext cx="720000" cy="2719226"/>
            <a:chOff x="2498606" y="2397542"/>
            <a:chExt cx="720000" cy="2719226"/>
          </a:xfrm>
        </p:grpSpPr>
        <p:grpSp>
          <p:nvGrpSpPr>
            <p:cNvPr id="43" name="Group 42">
              <a:extLst>
                <a:ext uri="{FF2B5EF4-FFF2-40B4-BE49-F238E27FC236}">
                  <a16:creationId xmlns:a16="http://schemas.microsoft.com/office/drawing/2014/main" id="{CC665613-E349-5941-BE44-5A1C640F1C9D}"/>
                </a:ext>
              </a:extLst>
            </p:cNvPr>
            <p:cNvGrpSpPr/>
            <p:nvPr/>
          </p:nvGrpSpPr>
          <p:grpSpPr>
            <a:xfrm flipV="1">
              <a:off x="2726706" y="3097888"/>
              <a:ext cx="251999" cy="2018880"/>
              <a:chOff x="8030221" y="658092"/>
              <a:chExt cx="251999" cy="2018880"/>
            </a:xfrm>
          </p:grpSpPr>
          <p:cxnSp>
            <p:nvCxnSpPr>
              <p:cNvPr id="48" name="Straight Connector 47">
                <a:extLst>
                  <a:ext uri="{FF2B5EF4-FFF2-40B4-BE49-F238E27FC236}">
                    <a16:creationId xmlns:a16="http://schemas.microsoft.com/office/drawing/2014/main" id="{A00E0764-2317-C24F-AF2A-A4574F8C8895}"/>
                  </a:ext>
                </a:extLst>
              </p:cNvPr>
              <p:cNvCxnSpPr>
                <a:cxnSpLocks/>
                <a:endCxn id="49" idx="4"/>
              </p:cNvCxnSpPr>
              <p:nvPr/>
            </p:nvCxnSpPr>
            <p:spPr>
              <a:xfrm flipV="1">
                <a:off x="8156221" y="910091"/>
                <a:ext cx="0" cy="176688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C41A9FD1-99F4-1E48-A895-677812FBB609}"/>
                  </a:ext>
                </a:extLst>
              </p:cNvPr>
              <p:cNvSpPr/>
              <p:nvPr/>
            </p:nvSpPr>
            <p:spPr>
              <a:xfrm>
                <a:off x="8030221" y="658092"/>
                <a:ext cx="251999" cy="25199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D84E257A-3F3B-BE49-B939-93151688F4DE}"/>
                    </a:ext>
                  </a:extLst>
                </p:cNvPr>
                <p:cNvSpPr/>
                <p:nvPr/>
              </p:nvSpPr>
              <p:spPr>
                <a:xfrm>
                  <a:off x="2498606" y="2397542"/>
                  <a:ext cx="720000" cy="706053"/>
                </a:xfrm>
                <a:prstGeom prst="rect">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bg1"/>
                      </a:solidFill>
                      <a:latin typeface="Times" pitchFamily="2" charset="0"/>
                    </a:rPr>
                    <a:t>cP</a:t>
                  </a:r>
                  <a:r>
                    <a:rPr lang="en-US" sz="2400" dirty="0">
                      <a:solidFill>
                        <a:schemeClr val="bg1"/>
                      </a:solidFill>
                      <a:ea typeface="Cambria Math" panose="02040503050406030204" pitchFamily="18" charset="0"/>
                    </a:rPr>
                    <a:t> </a:t>
                  </a:r>
                  <a14:m>
                    <m:oMath xmlns:m="http://schemas.openxmlformats.org/officeDocument/2006/math">
                      <m:f>
                        <m:fPr>
                          <m:ctrlPr>
                            <a:rPr lang="en-US" sz="2400" i="1">
                              <a:solidFill>
                                <a:schemeClr val="bg1"/>
                              </a:solidFill>
                              <a:latin typeface="Cambria Math" panose="02040503050406030204" pitchFamily="18" charset="0"/>
                              <a:ea typeface="Cambria Math" panose="02040503050406030204" pitchFamily="18" charset="0"/>
                            </a:rPr>
                          </m:ctrlPr>
                        </m:fPr>
                        <m:num>
                          <m:r>
                            <a:rPr lang="en-US" sz="2400" i="1">
                              <a:solidFill>
                                <a:schemeClr val="bg1"/>
                              </a:solidFill>
                              <a:latin typeface="Cambria Math" panose="02040503050406030204" pitchFamily="18" charset="0"/>
                              <a:ea typeface="Cambria Math" panose="02040503050406030204" pitchFamily="18" charset="0"/>
                            </a:rPr>
                            <m:t>𝜋</m:t>
                          </m:r>
                        </m:num>
                        <m:den>
                          <m:r>
                            <a:rPr lang="en-US" sz="2400" b="0" i="1" smtClean="0">
                              <a:solidFill>
                                <a:schemeClr val="bg1"/>
                              </a:solidFill>
                              <a:latin typeface="Cambria Math" panose="02040503050406030204" pitchFamily="18" charset="0"/>
                              <a:ea typeface="Cambria Math" panose="02040503050406030204" pitchFamily="18" charset="0"/>
                            </a:rPr>
                            <m:t>4</m:t>
                          </m:r>
                        </m:den>
                      </m:f>
                    </m:oMath>
                  </a14:m>
                  <a:endParaRPr lang="en-US" sz="2400" dirty="0">
                    <a:solidFill>
                      <a:schemeClr val="bg1"/>
                    </a:solidFill>
                    <a:latin typeface="Times" pitchFamily="2" charset="0"/>
                  </a:endParaRPr>
                </a:p>
              </p:txBody>
            </p:sp>
          </mc:Choice>
          <mc:Fallback xmlns="">
            <p:sp>
              <p:nvSpPr>
                <p:cNvPr id="47" name="Rectangle 46">
                  <a:extLst>
                    <a:ext uri="{FF2B5EF4-FFF2-40B4-BE49-F238E27FC236}">
                      <a16:creationId xmlns:a16="http://schemas.microsoft.com/office/drawing/2014/main" id="{D84E257A-3F3B-BE49-B939-93151688F4DE}"/>
                    </a:ext>
                  </a:extLst>
                </p:cNvPr>
                <p:cNvSpPr>
                  <a:spLocks noRot="1" noChangeAspect="1" noMove="1" noResize="1" noEditPoints="1" noAdjustHandles="1" noChangeArrowheads="1" noChangeShapeType="1" noTextEdit="1"/>
                </p:cNvSpPr>
                <p:nvPr/>
              </p:nvSpPr>
              <p:spPr>
                <a:xfrm>
                  <a:off x="2498606" y="2397542"/>
                  <a:ext cx="720000" cy="706053"/>
                </a:xfrm>
                <a:prstGeom prst="rect">
                  <a:avLst/>
                </a:prstGeom>
                <a:blipFill>
                  <a:blip r:embed="rId6"/>
                  <a:stretch>
                    <a:fillRect l="-11864"/>
                  </a:stretch>
                </a:blipFill>
                <a:ln>
                  <a:solidFill>
                    <a:schemeClr val="tx1"/>
                  </a:solidFill>
                </a:ln>
              </p:spPr>
              <p:txBody>
                <a:bodyPr/>
                <a:lstStyle/>
                <a:p>
                  <a:r>
                    <a:rPr lang="en-US">
                      <a:noFill/>
                    </a:rPr>
                    <a:t> </a:t>
                  </a:r>
                </a:p>
              </p:txBody>
            </p:sp>
          </mc:Fallback>
        </mc:AlternateContent>
      </p:grpSp>
      <p:grpSp>
        <p:nvGrpSpPr>
          <p:cNvPr id="50" name="Group 49">
            <a:extLst>
              <a:ext uri="{FF2B5EF4-FFF2-40B4-BE49-F238E27FC236}">
                <a16:creationId xmlns:a16="http://schemas.microsoft.com/office/drawing/2014/main" id="{C8BE3ADF-B26E-BE4D-8F3C-1D9BA8A1C2BE}"/>
              </a:ext>
            </a:extLst>
          </p:cNvPr>
          <p:cNvGrpSpPr/>
          <p:nvPr/>
        </p:nvGrpSpPr>
        <p:grpSpPr>
          <a:xfrm>
            <a:off x="5193698" y="4007476"/>
            <a:ext cx="720000" cy="1585534"/>
            <a:chOff x="2498606" y="2397542"/>
            <a:chExt cx="720000" cy="1585534"/>
          </a:xfrm>
        </p:grpSpPr>
        <p:grpSp>
          <p:nvGrpSpPr>
            <p:cNvPr id="51" name="Group 50">
              <a:extLst>
                <a:ext uri="{FF2B5EF4-FFF2-40B4-BE49-F238E27FC236}">
                  <a16:creationId xmlns:a16="http://schemas.microsoft.com/office/drawing/2014/main" id="{20633336-0CD7-3B4A-9B0D-22596EE9D14D}"/>
                </a:ext>
              </a:extLst>
            </p:cNvPr>
            <p:cNvGrpSpPr/>
            <p:nvPr/>
          </p:nvGrpSpPr>
          <p:grpSpPr>
            <a:xfrm flipV="1">
              <a:off x="2726706" y="3097888"/>
              <a:ext cx="251999" cy="885188"/>
              <a:chOff x="8030221" y="1791784"/>
              <a:chExt cx="251999" cy="885188"/>
            </a:xfrm>
          </p:grpSpPr>
          <p:cxnSp>
            <p:nvCxnSpPr>
              <p:cNvPr id="53" name="Straight Connector 52">
                <a:extLst>
                  <a:ext uri="{FF2B5EF4-FFF2-40B4-BE49-F238E27FC236}">
                    <a16:creationId xmlns:a16="http://schemas.microsoft.com/office/drawing/2014/main" id="{66C43DE0-81BD-D040-BC5B-63B62517837B}"/>
                  </a:ext>
                </a:extLst>
              </p:cNvPr>
              <p:cNvCxnSpPr>
                <a:cxnSpLocks/>
              </p:cNvCxnSpPr>
              <p:nvPr/>
            </p:nvCxnSpPr>
            <p:spPr>
              <a:xfrm flipV="1">
                <a:off x="8156221" y="1917785"/>
                <a:ext cx="0" cy="7591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622F1D3F-BF88-3249-805E-02B47276DA45}"/>
                  </a:ext>
                </a:extLst>
              </p:cNvPr>
              <p:cNvSpPr/>
              <p:nvPr/>
            </p:nvSpPr>
            <p:spPr>
              <a:xfrm>
                <a:off x="8030221" y="1791784"/>
                <a:ext cx="251999" cy="25199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181063B4-1EF6-E34D-BD7B-801D4239B5C6}"/>
                    </a:ext>
                  </a:extLst>
                </p:cNvPr>
                <p:cNvSpPr/>
                <p:nvPr/>
              </p:nvSpPr>
              <p:spPr>
                <a:xfrm>
                  <a:off x="2498606" y="2397542"/>
                  <a:ext cx="720000" cy="706053"/>
                </a:xfrm>
                <a:prstGeom prst="rect">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bg1"/>
                      </a:solidFill>
                      <a:latin typeface="Times" pitchFamily="2" charset="0"/>
                    </a:rPr>
                    <a:t>cP</a:t>
                  </a:r>
                  <a:r>
                    <a:rPr lang="en-US" sz="2400" dirty="0">
                      <a:solidFill>
                        <a:schemeClr val="bg1"/>
                      </a:solidFill>
                      <a:ea typeface="Cambria Math" panose="02040503050406030204" pitchFamily="18" charset="0"/>
                    </a:rPr>
                    <a:t> </a:t>
                  </a:r>
                  <a14:m>
                    <m:oMath xmlns:m="http://schemas.openxmlformats.org/officeDocument/2006/math">
                      <m:f>
                        <m:fPr>
                          <m:ctrlPr>
                            <a:rPr lang="en-US" sz="2400" i="1">
                              <a:solidFill>
                                <a:schemeClr val="bg1"/>
                              </a:solidFill>
                              <a:latin typeface="Cambria Math" panose="02040503050406030204" pitchFamily="18" charset="0"/>
                              <a:ea typeface="Cambria Math" panose="02040503050406030204" pitchFamily="18" charset="0"/>
                            </a:rPr>
                          </m:ctrlPr>
                        </m:fPr>
                        <m:num>
                          <m:r>
                            <a:rPr lang="en-US" sz="2400" i="1">
                              <a:solidFill>
                                <a:schemeClr val="bg1"/>
                              </a:solidFill>
                              <a:latin typeface="Cambria Math" panose="02040503050406030204" pitchFamily="18" charset="0"/>
                              <a:ea typeface="Cambria Math" panose="02040503050406030204" pitchFamily="18" charset="0"/>
                            </a:rPr>
                            <m:t>𝜋</m:t>
                          </m:r>
                        </m:num>
                        <m:den>
                          <m:r>
                            <a:rPr lang="en-US" sz="2400" b="0" i="1" smtClean="0">
                              <a:solidFill>
                                <a:schemeClr val="bg1"/>
                              </a:solidFill>
                              <a:latin typeface="Cambria Math" panose="02040503050406030204" pitchFamily="18" charset="0"/>
                              <a:ea typeface="Cambria Math" panose="02040503050406030204" pitchFamily="18" charset="0"/>
                            </a:rPr>
                            <m:t>2</m:t>
                          </m:r>
                        </m:den>
                      </m:f>
                    </m:oMath>
                  </a14:m>
                  <a:endParaRPr lang="en-US" sz="2400" dirty="0">
                    <a:solidFill>
                      <a:schemeClr val="bg1"/>
                    </a:solidFill>
                    <a:latin typeface="Times" pitchFamily="2" charset="0"/>
                  </a:endParaRPr>
                </a:p>
              </p:txBody>
            </p:sp>
          </mc:Choice>
          <mc:Fallback xmlns="">
            <p:sp>
              <p:nvSpPr>
                <p:cNvPr id="52" name="Rectangle 51">
                  <a:extLst>
                    <a:ext uri="{FF2B5EF4-FFF2-40B4-BE49-F238E27FC236}">
                      <a16:creationId xmlns:a16="http://schemas.microsoft.com/office/drawing/2014/main" id="{181063B4-1EF6-E34D-BD7B-801D4239B5C6}"/>
                    </a:ext>
                  </a:extLst>
                </p:cNvPr>
                <p:cNvSpPr>
                  <a:spLocks noRot="1" noChangeAspect="1" noMove="1" noResize="1" noEditPoints="1" noAdjustHandles="1" noChangeArrowheads="1" noChangeShapeType="1" noTextEdit="1"/>
                </p:cNvSpPr>
                <p:nvPr/>
              </p:nvSpPr>
              <p:spPr>
                <a:xfrm>
                  <a:off x="2498606" y="2397542"/>
                  <a:ext cx="720000" cy="706053"/>
                </a:xfrm>
                <a:prstGeom prst="rect">
                  <a:avLst/>
                </a:prstGeom>
                <a:blipFill>
                  <a:blip r:embed="rId7"/>
                  <a:stretch>
                    <a:fillRect l="-11864"/>
                  </a:stretch>
                </a:blipFill>
                <a:ln>
                  <a:solidFill>
                    <a:schemeClr val="tx1"/>
                  </a:solidFill>
                </a:ln>
              </p:spPr>
              <p:txBody>
                <a:bodyPr/>
                <a:lstStyle/>
                <a:p>
                  <a:r>
                    <a:rPr lang="en-US">
                      <a:noFill/>
                    </a:rPr>
                    <a:t> </a:t>
                  </a:r>
                </a:p>
              </p:txBody>
            </p:sp>
          </mc:Fallback>
        </mc:AlternateContent>
      </p:grpSp>
      <p:sp>
        <p:nvSpPr>
          <p:cNvPr id="55" name="Rectangle 54">
            <a:extLst>
              <a:ext uri="{FF2B5EF4-FFF2-40B4-BE49-F238E27FC236}">
                <a16:creationId xmlns:a16="http://schemas.microsoft.com/office/drawing/2014/main" id="{FF135F90-53D9-9C4A-A3A2-95450D53F227}"/>
              </a:ext>
            </a:extLst>
          </p:cNvPr>
          <p:cNvSpPr/>
          <p:nvPr/>
        </p:nvSpPr>
        <p:spPr>
          <a:xfrm>
            <a:off x="6273696" y="5096204"/>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mc:AlternateContent xmlns:mc="http://schemas.openxmlformats.org/markup-compatibility/2006" xmlns:a14="http://schemas.microsoft.com/office/drawing/2010/main">
        <mc:Choice Requires="a14">
          <p:sp>
            <p:nvSpPr>
              <p:cNvPr id="56" name="Rectangle 55">
                <a:extLst>
                  <a:ext uri="{FF2B5EF4-FFF2-40B4-BE49-F238E27FC236}">
                    <a16:creationId xmlns:a16="http://schemas.microsoft.com/office/drawing/2014/main" id="{D632EBE3-F121-CB4C-9F5B-2EDC2FC5D6E0}"/>
                  </a:ext>
                </a:extLst>
              </p:cNvPr>
              <p:cNvSpPr/>
              <p:nvPr/>
            </p:nvSpPr>
            <p:spPr>
              <a:xfrm>
                <a:off x="97158" y="4975156"/>
                <a:ext cx="812787" cy="4822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brk m:alnAt="7"/>
                        </m:rPr>
                        <a:rPr lang="en-US" sz="2200" i="1" smtClean="0">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ea typeface="Cambria Math" panose="02040503050406030204" pitchFamily="18" charset="0"/>
                            </a:rPr>
                          </m:ctrlPr>
                        </m:dPr>
                        <m:e>
                          <m:sSub>
                            <m:sSubPr>
                              <m:ctrlPr>
                                <a:rPr lang="en-US" sz="2200" i="1">
                                  <a:latin typeface="Cambria Math" panose="02040503050406030204" pitchFamily="18" charset="0"/>
                                  <a:ea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𝑥</m:t>
                              </m:r>
                            </m:e>
                            <m:sub>
                              <m:r>
                                <a:rPr lang="en-US" sz="2200" b="0" i="1" smtClean="0">
                                  <a:latin typeface="Cambria Math" panose="02040503050406030204" pitchFamily="18" charset="0"/>
                                  <a:ea typeface="Cambria Math" panose="02040503050406030204" pitchFamily="18" charset="0"/>
                                </a:rPr>
                                <m:t>3</m:t>
                              </m:r>
                            </m:sub>
                          </m:sSub>
                        </m:e>
                      </m:d>
                    </m:oMath>
                  </m:oMathPara>
                </a14:m>
                <a:endParaRPr lang="en-US" sz="2200" dirty="0"/>
              </a:p>
            </p:txBody>
          </p:sp>
        </mc:Choice>
        <mc:Fallback xmlns="">
          <p:sp>
            <p:nvSpPr>
              <p:cNvPr id="56" name="Rectangle 55">
                <a:extLst>
                  <a:ext uri="{FF2B5EF4-FFF2-40B4-BE49-F238E27FC236}">
                    <a16:creationId xmlns:a16="http://schemas.microsoft.com/office/drawing/2014/main" id="{D632EBE3-F121-CB4C-9F5B-2EDC2FC5D6E0}"/>
                  </a:ext>
                </a:extLst>
              </p:cNvPr>
              <p:cNvSpPr>
                <a:spLocks noRot="1" noChangeAspect="1" noMove="1" noResize="1" noEditPoints="1" noAdjustHandles="1" noChangeArrowheads="1" noChangeShapeType="1" noTextEdit="1"/>
              </p:cNvSpPr>
              <p:nvPr/>
            </p:nvSpPr>
            <p:spPr>
              <a:xfrm>
                <a:off x="97158" y="4975156"/>
                <a:ext cx="812787" cy="482248"/>
              </a:xfrm>
              <a:prstGeom prst="rect">
                <a:avLst/>
              </a:prstGeom>
              <a:blipFill>
                <a:blip r:embed="rId8"/>
                <a:stretch>
                  <a:fillRect l="-6154" t="-94872" r="-33846" b="-1641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72D5B290-ACE7-484B-9DFA-F3EB63788E4B}"/>
                  </a:ext>
                </a:extLst>
              </p:cNvPr>
              <p:cNvSpPr/>
              <p:nvPr/>
            </p:nvSpPr>
            <p:spPr>
              <a:xfrm>
                <a:off x="7942613" y="5060212"/>
                <a:ext cx="2803844" cy="79175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200" i="1" smtClean="0">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1</m:t>
                          </m:r>
                        </m:num>
                        <m:den>
                          <m:rad>
                            <m:radPr>
                              <m:degHide m:val="on"/>
                              <m:ctrlPr>
                                <a:rPr lang="en-US" sz="2200" i="1">
                                  <a:latin typeface="Cambria Math" panose="02040503050406030204" pitchFamily="18" charset="0"/>
                                  <a:ea typeface="Cambria Math" panose="02040503050406030204" pitchFamily="18" charset="0"/>
                                </a:rPr>
                              </m:ctrlPr>
                            </m:radPr>
                            <m:deg/>
                            <m:e>
                              <m:r>
                                <a:rPr lang="en-US" sz="2200" i="1">
                                  <a:latin typeface="Cambria Math" panose="02040503050406030204" pitchFamily="18" charset="0"/>
                                  <a:ea typeface="Cambria Math" panose="02040503050406030204" pitchFamily="18" charset="0"/>
                                </a:rPr>
                                <m:t>2</m:t>
                              </m:r>
                            </m:e>
                          </m:rad>
                        </m:den>
                      </m:f>
                      <m:d>
                        <m:dPr>
                          <m:ctrlPr>
                            <a:rPr lang="en-US" sz="2200" i="1">
                              <a:latin typeface="Cambria Math" panose="02040503050406030204" pitchFamily="18" charset="0"/>
                              <a:ea typeface="Cambria Math" panose="02040503050406030204" pitchFamily="18" charset="0"/>
                            </a:rPr>
                          </m:ctrlPr>
                        </m:dPr>
                        <m:e>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|0</m:t>
                              </m:r>
                            </m:e>
                          </m:d>
                          <m:r>
                            <a:rPr lang="en-US" sz="2200" i="1">
                              <a:latin typeface="Cambria Math" panose="02040503050406030204" pitchFamily="18" charset="0"/>
                              <a:ea typeface="Cambria Math" panose="02040503050406030204" pitchFamily="18" charset="0"/>
                            </a:rPr>
                            <m:t>+</m:t>
                          </m:r>
                          <m:sSup>
                            <m:sSupPr>
                              <m:ctrlPr>
                                <a:rPr lang="en-US" sz="2200" i="1">
                                  <a:latin typeface="Cambria Math" panose="02040503050406030204" pitchFamily="18"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𝑒</m:t>
                              </m:r>
                            </m:e>
                            <m:sup>
                              <m:r>
                                <a:rPr lang="sr-Latn-RS" sz="2200" b="0" i="1" smtClean="0">
                                  <a:latin typeface="Cambria Math" panose="02040503050406030204" pitchFamily="18" charset="0"/>
                                  <a:ea typeface="Cambria Math" panose="02040503050406030204" pitchFamily="18" charset="0"/>
                                </a:rPr>
                                <m:t>2</m:t>
                              </m:r>
                              <m:r>
                                <a:rPr lang="en-US" sz="2200" i="1">
                                  <a:latin typeface="Cambria Math" panose="02040503050406030204" pitchFamily="18" charset="0"/>
                                  <a:ea typeface="Cambria Math" panose="02040503050406030204" pitchFamily="18" charset="0"/>
                                </a:rPr>
                                <m:t>𝜋</m:t>
                              </m:r>
                              <m:r>
                                <a:rPr lang="en-US" sz="2200" i="1">
                                  <a:latin typeface="Cambria Math" panose="02040503050406030204" pitchFamily="18" charset="0"/>
                                  <a:ea typeface="Cambria Math" panose="02040503050406030204" pitchFamily="18" charset="0"/>
                                </a:rPr>
                                <m:t>𝑖</m:t>
                              </m:r>
                              <m:r>
                                <a:rPr lang="en-US" sz="2200" b="0" i="1" smtClean="0">
                                  <a:latin typeface="Cambria Math" panose="02040503050406030204" pitchFamily="18" charset="0"/>
                                  <a:ea typeface="Cambria Math" panose="02040503050406030204" pitchFamily="18" charset="0"/>
                                </a:rPr>
                                <m:t>0.</m:t>
                              </m:r>
                              <m:sSub>
                                <m:sSubPr>
                                  <m:ctrlPr>
                                    <a:rPr lang="en-US" sz="2200" i="1">
                                      <a:latin typeface="Cambria Math" panose="02040503050406030204" pitchFamily="18" charset="0"/>
                                      <a:ea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𝑥</m:t>
                                  </m:r>
                                </m:e>
                                <m:sub>
                                  <m:r>
                                    <a:rPr lang="en-US" sz="2200" b="0" i="1" smtClean="0">
                                      <a:latin typeface="Cambria Math" panose="02040503050406030204" pitchFamily="18" charset="0"/>
                                      <a:ea typeface="Cambria Math" panose="02040503050406030204" pitchFamily="18" charset="0"/>
                                    </a:rPr>
                                    <m:t>3</m:t>
                                  </m:r>
                                </m:sub>
                              </m:sSub>
                            </m:sup>
                          </m:sSup>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|1</m:t>
                              </m:r>
                            </m:e>
                          </m:d>
                        </m:e>
                      </m:d>
                    </m:oMath>
                  </m:oMathPara>
                </a14:m>
                <a:endParaRPr lang="en-US" sz="2200" dirty="0"/>
              </a:p>
            </p:txBody>
          </p:sp>
        </mc:Choice>
        <mc:Fallback xmlns="">
          <p:sp>
            <p:nvSpPr>
              <p:cNvPr id="28" name="Rectangle 27">
                <a:extLst>
                  <a:ext uri="{FF2B5EF4-FFF2-40B4-BE49-F238E27FC236}">
                    <a16:creationId xmlns:a16="http://schemas.microsoft.com/office/drawing/2014/main" id="{72D5B290-ACE7-484B-9DFA-F3EB63788E4B}"/>
                  </a:ext>
                </a:extLst>
              </p:cNvPr>
              <p:cNvSpPr>
                <a:spLocks noRot="1" noChangeAspect="1" noMove="1" noResize="1" noEditPoints="1" noAdjustHandles="1" noChangeArrowheads="1" noChangeShapeType="1" noTextEdit="1"/>
              </p:cNvSpPr>
              <p:nvPr/>
            </p:nvSpPr>
            <p:spPr>
              <a:xfrm>
                <a:off x="7942613" y="5060212"/>
                <a:ext cx="2803844" cy="791755"/>
              </a:xfrm>
              <a:prstGeom prst="rect">
                <a:avLst/>
              </a:prstGeom>
              <a:blipFill>
                <a:blip r:embed="rId10"/>
                <a:stretch>
                  <a:fillRect t="-40625" r="-4955" b="-781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D21BB5B2-95CA-2243-B335-2C3B05A6A035}"/>
                  </a:ext>
                </a:extLst>
              </p:cNvPr>
              <p:cNvSpPr/>
              <p:nvPr/>
            </p:nvSpPr>
            <p:spPr>
              <a:xfrm>
                <a:off x="7990785" y="3944464"/>
                <a:ext cx="3186513" cy="79175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200" i="1" smtClean="0">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1</m:t>
                          </m:r>
                        </m:num>
                        <m:den>
                          <m:rad>
                            <m:radPr>
                              <m:degHide m:val="on"/>
                              <m:ctrlPr>
                                <a:rPr lang="en-US" sz="2200" i="1">
                                  <a:latin typeface="Cambria Math" panose="02040503050406030204" pitchFamily="18" charset="0"/>
                                  <a:ea typeface="Cambria Math" panose="02040503050406030204" pitchFamily="18" charset="0"/>
                                </a:rPr>
                              </m:ctrlPr>
                            </m:radPr>
                            <m:deg/>
                            <m:e>
                              <m:r>
                                <a:rPr lang="en-US" sz="2200" i="1">
                                  <a:latin typeface="Cambria Math" panose="02040503050406030204" pitchFamily="18" charset="0"/>
                                  <a:ea typeface="Cambria Math" panose="02040503050406030204" pitchFamily="18" charset="0"/>
                                </a:rPr>
                                <m:t>2</m:t>
                              </m:r>
                            </m:e>
                          </m:rad>
                        </m:den>
                      </m:f>
                      <m:d>
                        <m:dPr>
                          <m:ctrlPr>
                            <a:rPr lang="en-US" sz="2200" i="1">
                              <a:latin typeface="Cambria Math" panose="02040503050406030204" pitchFamily="18" charset="0"/>
                              <a:ea typeface="Cambria Math" panose="02040503050406030204" pitchFamily="18" charset="0"/>
                            </a:rPr>
                          </m:ctrlPr>
                        </m:dPr>
                        <m:e>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|0</m:t>
                              </m:r>
                            </m:e>
                          </m:d>
                          <m:r>
                            <a:rPr lang="en-US" sz="2200" i="1">
                              <a:latin typeface="Cambria Math" panose="02040503050406030204" pitchFamily="18" charset="0"/>
                              <a:ea typeface="Cambria Math" panose="02040503050406030204" pitchFamily="18" charset="0"/>
                            </a:rPr>
                            <m:t>+</m:t>
                          </m:r>
                          <m:sSup>
                            <m:sSupPr>
                              <m:ctrlPr>
                                <a:rPr lang="en-US" sz="2200" i="1">
                                  <a:latin typeface="Cambria Math" panose="02040503050406030204" pitchFamily="18"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𝑒</m:t>
                              </m:r>
                            </m:e>
                            <m:sup>
                              <m:r>
                                <a:rPr lang="sr-Latn-RS" sz="2200" i="1">
                                  <a:latin typeface="Cambria Math" panose="02040503050406030204" pitchFamily="18" charset="0"/>
                                  <a:ea typeface="Cambria Math" panose="02040503050406030204" pitchFamily="18" charset="0"/>
                                </a:rPr>
                                <m:t>2</m:t>
                              </m:r>
                              <m:r>
                                <a:rPr lang="en-US" sz="2200" i="1">
                                  <a:latin typeface="Cambria Math" panose="02040503050406030204" pitchFamily="18" charset="0"/>
                                  <a:ea typeface="Cambria Math" panose="02040503050406030204" pitchFamily="18" charset="0"/>
                                </a:rPr>
                                <m:t>𝜋</m:t>
                              </m:r>
                              <m:r>
                                <a:rPr lang="en-US" sz="2200" i="1">
                                  <a:latin typeface="Cambria Math" panose="02040503050406030204" pitchFamily="18" charset="0"/>
                                  <a:ea typeface="Cambria Math" panose="02040503050406030204" pitchFamily="18" charset="0"/>
                                </a:rPr>
                                <m:t>𝑖</m:t>
                              </m:r>
                              <m:r>
                                <a:rPr lang="en-US" sz="2200" b="0" i="1" smtClean="0">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0.</m:t>
                              </m:r>
                              <m:sSub>
                                <m:sSubPr>
                                  <m:ctrlPr>
                                    <a:rPr lang="en-US" sz="2200" i="1">
                                      <a:latin typeface="Cambria Math" panose="02040503050406030204" pitchFamily="18" charset="0"/>
                                      <a:ea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𝑥</m:t>
                                  </m:r>
                                </m:e>
                                <m:sub>
                                  <m:r>
                                    <a:rPr lang="en-US" sz="2200" b="0" i="1" smtClean="0">
                                      <a:latin typeface="Cambria Math" panose="02040503050406030204" pitchFamily="18" charset="0"/>
                                      <a:ea typeface="Cambria Math" panose="02040503050406030204" pitchFamily="18" charset="0"/>
                                    </a:rPr>
                                    <m:t>2</m:t>
                                  </m:r>
                                </m:sub>
                              </m:sSub>
                              <m:sSub>
                                <m:sSubPr>
                                  <m:ctrlPr>
                                    <a:rPr lang="en-US" sz="2200" i="1">
                                      <a:latin typeface="Cambria Math" panose="02040503050406030204" pitchFamily="18" charset="0"/>
                                      <a:ea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𝑥</m:t>
                                  </m:r>
                                </m:e>
                                <m:sub>
                                  <m:r>
                                    <a:rPr lang="en-US" sz="2200" i="1">
                                      <a:latin typeface="Cambria Math" panose="02040503050406030204" pitchFamily="18" charset="0"/>
                                      <a:ea typeface="Cambria Math" panose="02040503050406030204" pitchFamily="18" charset="0"/>
                                    </a:rPr>
                                    <m:t>3</m:t>
                                  </m:r>
                                </m:sub>
                              </m:sSub>
                              <m:r>
                                <a:rPr lang="en-US" sz="2200" b="0" i="1" smtClean="0">
                                  <a:latin typeface="Cambria Math" panose="02040503050406030204" pitchFamily="18" charset="0"/>
                                  <a:ea typeface="Cambria Math" panose="02040503050406030204" pitchFamily="18" charset="0"/>
                                </a:rPr>
                                <m:t>]</m:t>
                              </m:r>
                            </m:sup>
                          </m:sSup>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|1</m:t>
                              </m:r>
                            </m:e>
                          </m:d>
                        </m:e>
                      </m:d>
                    </m:oMath>
                  </m:oMathPara>
                </a14:m>
                <a:endParaRPr lang="en-US" sz="2200" dirty="0"/>
              </a:p>
            </p:txBody>
          </p:sp>
        </mc:Choice>
        <mc:Fallback xmlns="">
          <p:sp>
            <p:nvSpPr>
              <p:cNvPr id="29" name="Rectangle 28">
                <a:extLst>
                  <a:ext uri="{FF2B5EF4-FFF2-40B4-BE49-F238E27FC236}">
                    <a16:creationId xmlns:a16="http://schemas.microsoft.com/office/drawing/2014/main" id="{D21BB5B2-95CA-2243-B335-2C3B05A6A035}"/>
                  </a:ext>
                </a:extLst>
              </p:cNvPr>
              <p:cNvSpPr>
                <a:spLocks noRot="1" noChangeAspect="1" noMove="1" noResize="1" noEditPoints="1" noAdjustHandles="1" noChangeArrowheads="1" noChangeShapeType="1" noTextEdit="1"/>
              </p:cNvSpPr>
              <p:nvPr/>
            </p:nvSpPr>
            <p:spPr>
              <a:xfrm>
                <a:off x="7990785" y="3944464"/>
                <a:ext cx="3186513" cy="791755"/>
              </a:xfrm>
              <a:prstGeom prst="rect">
                <a:avLst/>
              </a:prstGeom>
              <a:blipFill>
                <a:blip r:embed="rId11"/>
                <a:stretch>
                  <a:fillRect t="-42857" r="-4365" b="-793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063D2671-510E-9E46-B7A0-90EBF738E781}"/>
                  </a:ext>
                </a:extLst>
              </p:cNvPr>
              <p:cNvSpPr/>
              <p:nvPr/>
            </p:nvSpPr>
            <p:spPr>
              <a:xfrm>
                <a:off x="8000729" y="2827808"/>
                <a:ext cx="3459537" cy="79175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200" i="1" smtClean="0">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1</m:t>
                          </m:r>
                        </m:num>
                        <m:den>
                          <m:rad>
                            <m:radPr>
                              <m:degHide m:val="on"/>
                              <m:ctrlPr>
                                <a:rPr lang="en-US" sz="2200" i="1">
                                  <a:latin typeface="Cambria Math" panose="02040503050406030204" pitchFamily="18" charset="0"/>
                                  <a:ea typeface="Cambria Math" panose="02040503050406030204" pitchFamily="18" charset="0"/>
                                </a:rPr>
                              </m:ctrlPr>
                            </m:radPr>
                            <m:deg/>
                            <m:e>
                              <m:r>
                                <a:rPr lang="en-US" sz="2200" i="1">
                                  <a:latin typeface="Cambria Math" panose="02040503050406030204" pitchFamily="18" charset="0"/>
                                  <a:ea typeface="Cambria Math" panose="02040503050406030204" pitchFamily="18" charset="0"/>
                                </a:rPr>
                                <m:t>2</m:t>
                              </m:r>
                            </m:e>
                          </m:rad>
                        </m:den>
                      </m:f>
                      <m:d>
                        <m:dPr>
                          <m:ctrlPr>
                            <a:rPr lang="en-US" sz="2200" i="1">
                              <a:latin typeface="Cambria Math" panose="02040503050406030204" pitchFamily="18" charset="0"/>
                              <a:ea typeface="Cambria Math" panose="02040503050406030204" pitchFamily="18" charset="0"/>
                            </a:rPr>
                          </m:ctrlPr>
                        </m:dPr>
                        <m:e>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|0</m:t>
                              </m:r>
                            </m:e>
                          </m:d>
                          <m:r>
                            <a:rPr lang="en-US" sz="2200" i="1">
                              <a:latin typeface="Cambria Math" panose="02040503050406030204" pitchFamily="18" charset="0"/>
                              <a:ea typeface="Cambria Math" panose="02040503050406030204" pitchFamily="18" charset="0"/>
                            </a:rPr>
                            <m:t>+</m:t>
                          </m:r>
                          <m:sSup>
                            <m:sSupPr>
                              <m:ctrlPr>
                                <a:rPr lang="en-US" sz="2200" i="1">
                                  <a:latin typeface="Cambria Math" panose="02040503050406030204" pitchFamily="18"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𝑒</m:t>
                              </m:r>
                            </m:e>
                            <m:sup>
                              <m:r>
                                <a:rPr lang="sr-Latn-RS" sz="2200" i="1">
                                  <a:latin typeface="Cambria Math" panose="02040503050406030204" pitchFamily="18" charset="0"/>
                                  <a:ea typeface="Cambria Math" panose="02040503050406030204" pitchFamily="18" charset="0"/>
                                </a:rPr>
                                <m:t>2</m:t>
                              </m:r>
                              <m:r>
                                <a:rPr lang="en-US" sz="2200" i="1">
                                  <a:latin typeface="Cambria Math" panose="02040503050406030204" pitchFamily="18" charset="0"/>
                                  <a:ea typeface="Cambria Math" panose="02040503050406030204" pitchFamily="18" charset="0"/>
                                </a:rPr>
                                <m:t>𝜋</m:t>
                              </m:r>
                              <m:r>
                                <a:rPr lang="en-US" sz="2200" i="1">
                                  <a:latin typeface="Cambria Math" panose="02040503050406030204" pitchFamily="18" charset="0"/>
                                  <a:ea typeface="Cambria Math" panose="02040503050406030204" pitchFamily="18" charset="0"/>
                                </a:rPr>
                                <m:t>𝑖</m:t>
                              </m:r>
                              <m:r>
                                <a:rPr lang="en-US" sz="2200" b="0" i="1" smtClean="0">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0.</m:t>
                              </m:r>
                              <m:sSub>
                                <m:sSubPr>
                                  <m:ctrlPr>
                                    <a:rPr lang="en-US" sz="2200" i="1">
                                      <a:latin typeface="Cambria Math" panose="02040503050406030204" pitchFamily="18" charset="0"/>
                                      <a:ea typeface="Cambria Math" panose="02040503050406030204" pitchFamily="18" charset="0"/>
                                    </a:rPr>
                                  </m:ctrlPr>
                                </m:sSubPr>
                                <m:e>
                                  <m:sSub>
                                    <m:sSubPr>
                                      <m:ctrlPr>
                                        <a:rPr lang="en-US" sz="2200" i="1">
                                          <a:latin typeface="Cambria Math" panose="02040503050406030204" pitchFamily="18" charset="0"/>
                                          <a:ea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𝑥</m:t>
                                      </m:r>
                                    </m:e>
                                    <m:sub>
                                      <m:r>
                                        <a:rPr lang="en-US" sz="2200" b="0" i="1" smtClean="0">
                                          <a:latin typeface="Cambria Math" panose="02040503050406030204" pitchFamily="18" charset="0"/>
                                          <a:ea typeface="Cambria Math" panose="02040503050406030204" pitchFamily="18" charset="0"/>
                                        </a:rPr>
                                        <m:t>1</m:t>
                                      </m:r>
                                    </m:sub>
                                  </m:sSub>
                                  <m:r>
                                    <a:rPr lang="en-US" sz="2200" b="0" i="1" smtClean="0">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𝑥</m:t>
                                  </m:r>
                                </m:e>
                                <m:sub>
                                  <m:r>
                                    <a:rPr lang="en-US" sz="2200" i="1">
                                      <a:latin typeface="Cambria Math" panose="02040503050406030204" pitchFamily="18" charset="0"/>
                                      <a:ea typeface="Cambria Math" panose="02040503050406030204" pitchFamily="18" charset="0"/>
                                    </a:rPr>
                                    <m:t>2</m:t>
                                  </m:r>
                                </m:sub>
                              </m:sSub>
                              <m:sSub>
                                <m:sSubPr>
                                  <m:ctrlPr>
                                    <a:rPr lang="en-US" sz="2200" i="1">
                                      <a:latin typeface="Cambria Math" panose="02040503050406030204" pitchFamily="18" charset="0"/>
                                      <a:ea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𝑥</m:t>
                                  </m:r>
                                </m:e>
                                <m:sub>
                                  <m:r>
                                    <a:rPr lang="en-US" sz="2200" i="1">
                                      <a:latin typeface="Cambria Math" panose="02040503050406030204" pitchFamily="18" charset="0"/>
                                      <a:ea typeface="Cambria Math" panose="02040503050406030204" pitchFamily="18" charset="0"/>
                                    </a:rPr>
                                    <m:t>3</m:t>
                                  </m:r>
                                </m:sub>
                              </m:sSub>
                              <m:r>
                                <a:rPr lang="en-US" sz="2200" b="0" i="1" smtClean="0">
                                  <a:latin typeface="Cambria Math" panose="02040503050406030204" pitchFamily="18" charset="0"/>
                                  <a:ea typeface="Cambria Math" panose="02040503050406030204" pitchFamily="18" charset="0"/>
                                </a:rPr>
                                <m:t>]</m:t>
                              </m:r>
                            </m:sup>
                          </m:sSup>
                          <m:d>
                            <m:dPr>
                              <m:begChr m:val=""/>
                              <m:endChr m:val="⟩"/>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|1</m:t>
                              </m:r>
                            </m:e>
                          </m:d>
                        </m:e>
                      </m:d>
                    </m:oMath>
                  </m:oMathPara>
                </a14:m>
                <a:endParaRPr lang="en-US" sz="2200" dirty="0"/>
              </a:p>
            </p:txBody>
          </p:sp>
        </mc:Choice>
        <mc:Fallback xmlns="">
          <p:sp>
            <p:nvSpPr>
              <p:cNvPr id="30" name="Rectangle 29">
                <a:extLst>
                  <a:ext uri="{FF2B5EF4-FFF2-40B4-BE49-F238E27FC236}">
                    <a16:creationId xmlns:a16="http://schemas.microsoft.com/office/drawing/2014/main" id="{063D2671-510E-9E46-B7A0-90EBF738E781}"/>
                  </a:ext>
                </a:extLst>
              </p:cNvPr>
              <p:cNvSpPr>
                <a:spLocks noRot="1" noChangeAspect="1" noMove="1" noResize="1" noEditPoints="1" noAdjustHandles="1" noChangeArrowheads="1" noChangeShapeType="1" noTextEdit="1"/>
              </p:cNvSpPr>
              <p:nvPr/>
            </p:nvSpPr>
            <p:spPr>
              <a:xfrm>
                <a:off x="8000729" y="2827808"/>
                <a:ext cx="3459537" cy="791755"/>
              </a:xfrm>
              <a:prstGeom prst="rect">
                <a:avLst/>
              </a:prstGeom>
              <a:blipFill>
                <a:blip r:embed="rId12"/>
                <a:stretch>
                  <a:fillRect t="-44444" r="-4029" b="-79365"/>
                </a:stretch>
              </a:blipFill>
            </p:spPr>
            <p:txBody>
              <a:bodyPr/>
              <a:lstStyle/>
              <a:p>
                <a:r>
                  <a:rPr lang="en-US">
                    <a:noFill/>
                  </a:rPr>
                  <a:t> </a:t>
                </a:r>
              </a:p>
            </p:txBody>
          </p:sp>
        </mc:Fallback>
      </mc:AlternateContent>
      <p:sp>
        <p:nvSpPr>
          <p:cNvPr id="42" name="Arc 41">
            <a:extLst>
              <a:ext uri="{FF2B5EF4-FFF2-40B4-BE49-F238E27FC236}">
                <a16:creationId xmlns:a16="http://schemas.microsoft.com/office/drawing/2014/main" id="{09E2CBB5-826B-F149-BB01-DCD521472DD2}"/>
              </a:ext>
            </a:extLst>
          </p:cNvPr>
          <p:cNvSpPr/>
          <p:nvPr/>
        </p:nvSpPr>
        <p:spPr>
          <a:xfrm flipH="1">
            <a:off x="6832285" y="2440463"/>
            <a:ext cx="2081610" cy="870373"/>
          </a:xfrm>
          <a:prstGeom prst="arc">
            <a:avLst>
              <a:gd name="adj1" fmla="val 10795113"/>
              <a:gd name="adj2" fmla="val 105804"/>
            </a:avLst>
          </a:prstGeom>
          <a:ln>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286129B3-7094-E642-B21E-D7A1E44FD280}"/>
                  </a:ext>
                </a:extLst>
              </p:cNvPr>
              <p:cNvSpPr/>
              <p:nvPr/>
            </p:nvSpPr>
            <p:spPr>
              <a:xfrm>
                <a:off x="285274" y="1296643"/>
                <a:ext cx="11621451" cy="637675"/>
              </a:xfrm>
              <a:prstGeom prst="rect">
                <a:avLst/>
              </a:prstGeom>
            </p:spPr>
            <p:txBody>
              <a:bodyPr wrap="none">
                <a:spAutoFit/>
              </a:bodyPr>
              <a:lstStyle/>
              <a:p>
                <a14:m>
                  <m:oMath xmlns:m="http://schemas.openxmlformats.org/officeDocument/2006/math">
                    <m:m>
                      <m:mPr>
                        <m:mcs>
                          <m:mc>
                            <m:mcPr>
                              <m:count m:val="1"/>
                              <m:mcJc m:val="center"/>
                            </m:mcPr>
                          </m:mc>
                        </m:mcs>
                        <m:ctrlPr>
                          <a:rPr lang="en-US" sz="2400" b="0" i="1" smtClean="0">
                            <a:latin typeface="Cambria Math" panose="02040503050406030204" pitchFamily="18" charset="0"/>
                            <a:ea typeface="Cambria Math" panose="02040503050406030204" pitchFamily="18" charset="0"/>
                          </a:rPr>
                        </m:ctrlPr>
                      </m:mPr>
                      <m:mr>
                        <m:e>
                          <m:r>
                            <a:rPr lang="en-US" sz="2400" i="1">
                              <a:latin typeface="Cambria Math" panose="02040503050406030204" pitchFamily="18" charset="0"/>
                              <a:ea typeface="Cambria Math" panose="02040503050406030204" pitchFamily="18" charset="0"/>
                            </a:rPr>
                            <m:t>𝑄𝐹𝑇</m:t>
                          </m:r>
                          <m:r>
                            <a:rPr lang="en-US" sz="2400" b="0" i="1" smtClean="0">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1</m:t>
                                  </m:r>
                                </m:sub>
                              </m:sSub>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2</m:t>
                                  </m:r>
                                </m:sub>
                              </m:sSub>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3</m:t>
                                  </m:r>
                                </m:sub>
                              </m:sSub>
                            </m:e>
                          </m:d>
                          <m:r>
                            <a:rPr lang="en-US" sz="2400" b="0" i="1" smtClean="0">
                              <a:latin typeface="Cambria Math" panose="02040503050406030204" pitchFamily="18" charset="0"/>
                              <a:ea typeface="Cambria Math" panose="02040503050406030204" pitchFamily="18" charset="0"/>
                            </a:rPr>
                            <m:t>=</m:t>
                          </m:r>
                        </m:e>
                      </m:mr>
                    </m:m>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ad>
                          <m:radPr>
                            <m:degHide m:val="on"/>
                            <m:ctrlPr>
                              <a:rPr lang="en-US" sz="2400" i="1">
                                <a:latin typeface="Cambria Math" panose="02040503050406030204" pitchFamily="18" charset="0"/>
                                <a:ea typeface="Cambria Math" panose="02040503050406030204" pitchFamily="18" charset="0"/>
                              </a:rPr>
                            </m:ctrlPr>
                          </m:radPr>
                          <m:deg/>
                          <m:e>
                            <m:r>
                              <a:rPr lang="en-US" sz="2400" b="0" i="1" smtClean="0">
                                <a:latin typeface="Cambria Math" panose="02040503050406030204" pitchFamily="18" charset="0"/>
                                <a:ea typeface="Cambria Math" panose="02040503050406030204" pitchFamily="18" charset="0"/>
                              </a:rPr>
                              <m:t>8</m:t>
                            </m:r>
                          </m:e>
                        </m:rad>
                      </m:den>
                    </m:f>
                    <m:d>
                      <m:dPr>
                        <m:ctrlPr>
                          <a:rPr lang="en-US" sz="2400" i="1">
                            <a:latin typeface="Cambria Math" panose="02040503050406030204" pitchFamily="18" charset="0"/>
                            <a:ea typeface="Cambria Math" panose="02040503050406030204" pitchFamily="18" charset="0"/>
                          </a:rPr>
                        </m:ctrlPr>
                      </m:dPr>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[0.</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i="1">
                                        <a:latin typeface="Cambria Math" panose="02040503050406030204" pitchFamily="18" charset="0"/>
                                        <a:ea typeface="Cambria Math" panose="02040503050406030204" pitchFamily="18" charset="0"/>
                                      </a:rPr>
                                      <m:t>1</m:t>
                                    </m:r>
                                  </m:sub>
                                </m:sSub>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i="1">
                                        <a:latin typeface="Cambria Math" panose="02040503050406030204" pitchFamily="18" charset="0"/>
                                        <a:ea typeface="Cambria Math" panose="02040503050406030204" pitchFamily="18" charset="0"/>
                                      </a:rPr>
                                      <m:t>2</m:t>
                                    </m:r>
                                  </m:sub>
                                </m:sSub>
                                <m:r>
                                  <a:rPr lang="en-US" sz="2400" i="1">
                                    <a:latin typeface="Cambria Math" panose="02040503050406030204" pitchFamily="18" charset="0"/>
                                    <a:ea typeface="Cambria Math" panose="02040503050406030204" pitchFamily="18" charset="0"/>
                                  </a:rPr>
                                  <m:t>𝑥</m:t>
                                </m:r>
                              </m:e>
                              <m:sub>
                                <m:r>
                                  <a:rPr lang="en-US" sz="2400" i="1">
                                    <a:latin typeface="Cambria Math" panose="02040503050406030204" pitchFamily="18" charset="0"/>
                                    <a:ea typeface="Cambria Math" panose="02040503050406030204" pitchFamily="18" charset="0"/>
                                  </a:rPr>
                                  <m:t>3</m:t>
                                </m:r>
                              </m:sub>
                            </m:sSub>
                            <m:r>
                              <a:rPr lang="en-US" sz="2400" i="1">
                                <a:latin typeface="Cambria Math" panose="02040503050406030204" pitchFamily="18" charset="0"/>
                                <a:ea typeface="Cambria Math" panose="02040503050406030204" pitchFamily="18" charset="0"/>
                              </a:rPr>
                              <m:t>]</m:t>
                            </m:r>
                          </m:sup>
                        </m:sSup>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m:t>
                            </m:r>
                          </m:e>
                        </m:d>
                      </m:e>
                    </m:d>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[0.</m:t>
                                </m:r>
                                <m:sSub>
                                  <m:sSubPr>
                                    <m:ctrlPr>
                                      <a:rPr lang="en-US" sz="240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2</m:t>
                                    </m:r>
                                  </m:sub>
                                </m:sSub>
                                <m:r>
                                  <a:rPr lang="en-US" sz="2400" i="1">
                                    <a:latin typeface="Cambria Math" panose="02040503050406030204" pitchFamily="18" charset="0"/>
                                    <a:ea typeface="Cambria Math" panose="02040503050406030204" pitchFamily="18" charset="0"/>
                                  </a:rPr>
                                  <m:t>𝑥</m:t>
                                </m:r>
                              </m:e>
                              <m:sub>
                                <m:r>
                                  <a:rPr lang="en-US" sz="2400" i="1">
                                    <a:latin typeface="Cambria Math" panose="02040503050406030204" pitchFamily="18" charset="0"/>
                                    <a:ea typeface="Cambria Math" panose="02040503050406030204" pitchFamily="18" charset="0"/>
                                  </a:rPr>
                                  <m:t>3</m:t>
                                </m:r>
                              </m:sub>
                            </m:sSub>
                            <m:r>
                              <a:rPr lang="en-US" sz="2400" i="1">
                                <a:latin typeface="Cambria Math" panose="02040503050406030204" pitchFamily="18" charset="0"/>
                                <a:ea typeface="Cambria Math" panose="02040503050406030204" pitchFamily="18" charset="0"/>
                              </a:rPr>
                              <m:t>]</m:t>
                            </m:r>
                          </m:sup>
                        </m:sSup>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m:t>
                            </m:r>
                          </m:e>
                        </m:d>
                      </m:e>
                    </m:d>
                    <m:r>
                      <a:rPr lang="en-US" sz="2400" i="1">
                        <a:latin typeface="Cambria Math" panose="02040503050406030204" pitchFamily="18" charset="0"/>
                        <a:ea typeface="Cambria Math" panose="02040503050406030204" pitchFamily="18" charset="0"/>
                      </a:rPr>
                      <m:t>⨂</m:t>
                    </m:r>
                  </m:oMath>
                </a14:m>
                <a:r>
                  <a:rPr lang="en-US" sz="2400" dirty="0">
                    <a:ea typeface="Cambria Math" panose="02040503050406030204" pitchFamily="18" charset="0"/>
                  </a:rPr>
                  <a:t> </a:t>
                </a:r>
                <a14:m>
                  <m:oMath xmlns:m="http://schemas.openxmlformats.org/officeDocument/2006/math">
                    <m:d>
                      <m:dPr>
                        <m:ctrlPr>
                          <a:rPr lang="en-US" sz="2400" i="1">
                            <a:latin typeface="Cambria Math" panose="02040503050406030204" pitchFamily="18" charset="0"/>
                            <a:ea typeface="Cambria Math" panose="02040503050406030204" pitchFamily="18" charset="0"/>
                          </a:rPr>
                        </m:ctrlPr>
                      </m:dPr>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[0.</m:t>
                                </m:r>
                                <m:r>
                                  <a:rPr lang="en-US" sz="2400" i="1">
                                    <a:latin typeface="Cambria Math" panose="02040503050406030204" pitchFamily="18" charset="0"/>
                                    <a:ea typeface="Cambria Math" panose="02040503050406030204" pitchFamily="18" charset="0"/>
                                  </a:rPr>
                                  <m:t>𝑥</m:t>
                                </m:r>
                              </m:e>
                              <m:sub>
                                <m:r>
                                  <a:rPr lang="en-US" sz="2400" i="1">
                                    <a:latin typeface="Cambria Math" panose="02040503050406030204" pitchFamily="18" charset="0"/>
                                    <a:ea typeface="Cambria Math" panose="02040503050406030204" pitchFamily="18" charset="0"/>
                                  </a:rPr>
                                  <m:t>3</m:t>
                                </m:r>
                              </m:sub>
                            </m:sSub>
                            <m:r>
                              <a:rPr lang="en-US" sz="2400" i="1">
                                <a:latin typeface="Cambria Math" panose="02040503050406030204" pitchFamily="18" charset="0"/>
                                <a:ea typeface="Cambria Math" panose="02040503050406030204" pitchFamily="18" charset="0"/>
                              </a:rPr>
                              <m:t>]</m:t>
                            </m:r>
                          </m:sup>
                        </m:sSup>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m:t>
                            </m:r>
                          </m:e>
                        </m:d>
                      </m:e>
                    </m:d>
                  </m:oMath>
                </a14:m>
                <a:endParaRPr lang="en-US" sz="2400" dirty="0"/>
              </a:p>
            </p:txBody>
          </p:sp>
        </mc:Choice>
        <mc:Fallback xmlns="">
          <p:sp>
            <p:nvSpPr>
              <p:cNvPr id="40" name="Rectangle 39">
                <a:extLst>
                  <a:ext uri="{FF2B5EF4-FFF2-40B4-BE49-F238E27FC236}">
                    <a16:creationId xmlns:a16="http://schemas.microsoft.com/office/drawing/2014/main" id="{286129B3-7094-E642-B21E-D7A1E44FD280}"/>
                  </a:ext>
                </a:extLst>
              </p:cNvPr>
              <p:cNvSpPr>
                <a:spLocks noRot="1" noChangeAspect="1" noMove="1" noResize="1" noEditPoints="1" noAdjustHandles="1" noChangeArrowheads="1" noChangeShapeType="1" noTextEdit="1"/>
              </p:cNvSpPr>
              <p:nvPr/>
            </p:nvSpPr>
            <p:spPr>
              <a:xfrm>
                <a:off x="285274" y="1296643"/>
                <a:ext cx="11621451" cy="637675"/>
              </a:xfrm>
              <a:prstGeom prst="rect">
                <a:avLst/>
              </a:prstGeom>
              <a:blipFill>
                <a:blip r:embed="rId13"/>
                <a:stretch>
                  <a:fillRect l="-327" t="-78431" r="-872" b="-129412"/>
                </a:stretch>
              </a:blipFill>
            </p:spPr>
            <p:txBody>
              <a:bodyPr/>
              <a:lstStyle/>
              <a:p>
                <a:r>
                  <a:rPr lang="en-US">
                    <a:noFill/>
                  </a:rPr>
                  <a:t> </a:t>
                </a:r>
              </a:p>
            </p:txBody>
          </p:sp>
        </mc:Fallback>
      </mc:AlternateContent>
    </p:spTree>
    <p:extLst>
      <p:ext uri="{BB962C8B-B14F-4D97-AF65-F5344CB8AC3E}">
        <p14:creationId xmlns:p14="http://schemas.microsoft.com/office/powerpoint/2010/main" val="42482468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1" name="Straight Connector 70">
            <a:extLst>
              <a:ext uri="{FF2B5EF4-FFF2-40B4-BE49-F238E27FC236}">
                <a16:creationId xmlns:a16="http://schemas.microsoft.com/office/drawing/2014/main" id="{AF032B52-70C7-C447-A441-9706D7CF666E}"/>
              </a:ext>
            </a:extLst>
          </p:cNvPr>
          <p:cNvCxnSpPr>
            <a:cxnSpLocks/>
          </p:cNvCxnSpPr>
          <p:nvPr/>
        </p:nvCxnSpPr>
        <p:spPr>
          <a:xfrm>
            <a:off x="763877" y="3196749"/>
            <a:ext cx="1113400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AA5BA6AD-6DD6-8F40-99A5-C0EBD7FCCBC5}"/>
              </a:ext>
            </a:extLst>
          </p:cNvPr>
          <p:cNvCxnSpPr>
            <a:cxnSpLocks/>
          </p:cNvCxnSpPr>
          <p:nvPr/>
        </p:nvCxnSpPr>
        <p:spPr>
          <a:xfrm flipV="1">
            <a:off x="763877" y="2850037"/>
            <a:ext cx="1113400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1C47CD34-170C-5C45-98FD-1A3AB9CC13E5}"/>
              </a:ext>
            </a:extLst>
          </p:cNvPr>
          <p:cNvCxnSpPr>
            <a:cxnSpLocks/>
          </p:cNvCxnSpPr>
          <p:nvPr/>
        </p:nvCxnSpPr>
        <p:spPr>
          <a:xfrm flipV="1">
            <a:off x="5781755" y="2041472"/>
            <a:ext cx="6064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D5BB356F-0F73-C04E-9C12-53D52D890BAC}"/>
              </a:ext>
            </a:extLst>
          </p:cNvPr>
          <p:cNvCxnSpPr>
            <a:cxnSpLocks/>
          </p:cNvCxnSpPr>
          <p:nvPr/>
        </p:nvCxnSpPr>
        <p:spPr>
          <a:xfrm flipV="1">
            <a:off x="763877" y="2042447"/>
            <a:ext cx="4673754" cy="226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B132F95B-522F-004D-BCB7-336B1658BDB3}"/>
              </a:ext>
            </a:extLst>
          </p:cNvPr>
          <p:cNvCxnSpPr>
            <a:cxnSpLocks/>
          </p:cNvCxnSpPr>
          <p:nvPr/>
        </p:nvCxnSpPr>
        <p:spPr>
          <a:xfrm>
            <a:off x="2745050" y="1590374"/>
            <a:ext cx="91008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AE40F73E-01E3-D644-BABA-4868F2BB87C3}"/>
              </a:ext>
            </a:extLst>
          </p:cNvPr>
          <p:cNvCxnSpPr>
            <a:cxnSpLocks/>
          </p:cNvCxnSpPr>
          <p:nvPr/>
        </p:nvCxnSpPr>
        <p:spPr>
          <a:xfrm flipV="1">
            <a:off x="763877" y="1598915"/>
            <a:ext cx="153481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B8FB26A-9889-A24E-B042-63989D1CB289}"/>
              </a:ext>
            </a:extLst>
          </p:cNvPr>
          <p:cNvSpPr>
            <a:spLocks noGrp="1"/>
          </p:cNvSpPr>
          <p:nvPr>
            <p:ph type="title"/>
          </p:nvPr>
        </p:nvSpPr>
        <p:spPr>
          <a:xfrm>
            <a:off x="0" y="0"/>
            <a:ext cx="12192000" cy="928688"/>
          </a:xfrm>
        </p:spPr>
        <p:txBody>
          <a:bodyPr/>
          <a:lstStyle/>
          <a:p>
            <a:r>
              <a:rPr lang="en-ZA" dirty="0"/>
              <a:t>QFT: n qubits</a:t>
            </a:r>
            <a:endParaRPr lang="en-US" dirty="0"/>
          </a:p>
        </p:txBody>
      </p:sp>
      <p:sp>
        <p:nvSpPr>
          <p:cNvPr id="3" name="Slide Number Placeholder 2">
            <a:extLst>
              <a:ext uri="{FF2B5EF4-FFF2-40B4-BE49-F238E27FC236}">
                <a16:creationId xmlns:a16="http://schemas.microsoft.com/office/drawing/2014/main" id="{C80EC235-6055-3E47-95C3-C9F32F1623E5}"/>
              </a:ext>
            </a:extLst>
          </p:cNvPr>
          <p:cNvSpPr>
            <a:spLocks noGrp="1"/>
          </p:cNvSpPr>
          <p:nvPr>
            <p:ph type="sldNum" sz="quarter" idx="12"/>
          </p:nvPr>
        </p:nvSpPr>
        <p:spPr/>
        <p:txBody>
          <a:bodyPr/>
          <a:lstStyle/>
          <a:p>
            <a:fld id="{591A223C-FA10-BC46-A853-03BA373D023C}" type="slidenum">
              <a:rPr lang="en-US" smtClean="0"/>
              <a:t>66</a:t>
            </a:fld>
            <a:endParaRPr lang="en-US"/>
          </a:p>
        </p:txBody>
      </p:sp>
      <p:sp>
        <p:nvSpPr>
          <p:cNvPr id="14" name="Rectangle 13">
            <a:extLst>
              <a:ext uri="{FF2B5EF4-FFF2-40B4-BE49-F238E27FC236}">
                <a16:creationId xmlns:a16="http://schemas.microsoft.com/office/drawing/2014/main" id="{772FE0AA-330B-AA45-9F92-13FA350310EF}"/>
              </a:ext>
            </a:extLst>
          </p:cNvPr>
          <p:cNvSpPr/>
          <p:nvPr/>
        </p:nvSpPr>
        <p:spPr>
          <a:xfrm>
            <a:off x="875473" y="1429526"/>
            <a:ext cx="324000" cy="324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Times" pitchFamily="2" charset="0"/>
              </a:rPr>
              <a:t>H</a:t>
            </a:r>
          </a:p>
        </p:txBody>
      </p:sp>
      <p:sp>
        <p:nvSpPr>
          <p:cNvPr id="15" name="Rectangle 14">
            <a:extLst>
              <a:ext uri="{FF2B5EF4-FFF2-40B4-BE49-F238E27FC236}">
                <a16:creationId xmlns:a16="http://schemas.microsoft.com/office/drawing/2014/main" id="{E54976EB-02C7-F348-B008-96B04B020680}"/>
              </a:ext>
            </a:extLst>
          </p:cNvPr>
          <p:cNvSpPr/>
          <p:nvPr/>
        </p:nvSpPr>
        <p:spPr>
          <a:xfrm>
            <a:off x="8151676" y="2684788"/>
            <a:ext cx="324000" cy="324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Times" pitchFamily="2" charset="0"/>
              </a:rPr>
              <a:t>H</a:t>
            </a:r>
          </a:p>
        </p:txBody>
      </p:sp>
      <p:sp>
        <p:nvSpPr>
          <p:cNvPr id="16" name="Rectangle 15">
            <a:extLst>
              <a:ext uri="{FF2B5EF4-FFF2-40B4-BE49-F238E27FC236}">
                <a16:creationId xmlns:a16="http://schemas.microsoft.com/office/drawing/2014/main" id="{3E937440-AB8A-B744-8A45-5E20E4938559}"/>
              </a:ext>
            </a:extLst>
          </p:cNvPr>
          <p:cNvSpPr/>
          <p:nvPr/>
        </p:nvSpPr>
        <p:spPr>
          <a:xfrm>
            <a:off x="4977757" y="1887677"/>
            <a:ext cx="324000" cy="324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Times" pitchFamily="2" charset="0"/>
              </a:rPr>
              <a:t>H</a:t>
            </a:r>
          </a:p>
        </p:txBody>
      </p:sp>
      <p:grpSp>
        <p:nvGrpSpPr>
          <p:cNvPr id="21" name="Group 20">
            <a:extLst>
              <a:ext uri="{FF2B5EF4-FFF2-40B4-BE49-F238E27FC236}">
                <a16:creationId xmlns:a16="http://schemas.microsoft.com/office/drawing/2014/main" id="{058757CC-C408-EB41-B971-75D1019DA52C}"/>
              </a:ext>
            </a:extLst>
          </p:cNvPr>
          <p:cNvGrpSpPr/>
          <p:nvPr/>
        </p:nvGrpSpPr>
        <p:grpSpPr>
          <a:xfrm>
            <a:off x="1330327" y="1429526"/>
            <a:ext cx="792000" cy="670656"/>
            <a:chOff x="1330327" y="1429526"/>
            <a:chExt cx="792000" cy="670656"/>
          </a:xfrm>
        </p:grpSpPr>
        <p:sp>
          <p:nvSpPr>
            <p:cNvPr id="17" name="Rectangle 16">
              <a:extLst>
                <a:ext uri="{FF2B5EF4-FFF2-40B4-BE49-F238E27FC236}">
                  <a16:creationId xmlns:a16="http://schemas.microsoft.com/office/drawing/2014/main" id="{5AC6D5D0-04EC-F840-AD23-C6FC8BA27067}"/>
                </a:ext>
              </a:extLst>
            </p:cNvPr>
            <p:cNvSpPr/>
            <p:nvPr/>
          </p:nvSpPr>
          <p:spPr>
            <a:xfrm>
              <a:off x="1330327" y="1429526"/>
              <a:ext cx="792000" cy="324000"/>
            </a:xfrm>
            <a:prstGeom prst="rect">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Times" pitchFamily="2" charset="0"/>
                </a:rPr>
                <a:t>cP</a:t>
              </a:r>
              <a:r>
                <a:rPr lang="en-US" sz="1400" dirty="0">
                  <a:solidFill>
                    <a:schemeClr val="bg1"/>
                  </a:solidFill>
                  <a:latin typeface="Times" pitchFamily="2" charset="0"/>
                </a:rPr>
                <a:t>2</a:t>
              </a:r>
            </a:p>
          </p:txBody>
        </p:sp>
        <p:grpSp>
          <p:nvGrpSpPr>
            <p:cNvPr id="20" name="Group 19">
              <a:extLst>
                <a:ext uri="{FF2B5EF4-FFF2-40B4-BE49-F238E27FC236}">
                  <a16:creationId xmlns:a16="http://schemas.microsoft.com/office/drawing/2014/main" id="{78AC49FE-CEFC-1544-9941-2D166D2642BC}"/>
                </a:ext>
              </a:extLst>
            </p:cNvPr>
            <p:cNvGrpSpPr/>
            <p:nvPr/>
          </p:nvGrpSpPr>
          <p:grpSpPr>
            <a:xfrm>
              <a:off x="1690327" y="1753526"/>
              <a:ext cx="72000" cy="346656"/>
              <a:chOff x="1690327" y="1753526"/>
              <a:chExt cx="72000" cy="346656"/>
            </a:xfrm>
          </p:grpSpPr>
          <p:sp>
            <p:nvSpPr>
              <p:cNvPr id="18" name="Oval 17">
                <a:extLst>
                  <a:ext uri="{FF2B5EF4-FFF2-40B4-BE49-F238E27FC236}">
                    <a16:creationId xmlns:a16="http://schemas.microsoft.com/office/drawing/2014/main" id="{90926EA4-6108-7E42-A4F0-8D5CDA075767}"/>
                  </a:ext>
                </a:extLst>
              </p:cNvPr>
              <p:cNvSpPr/>
              <p:nvPr/>
            </p:nvSpPr>
            <p:spPr>
              <a:xfrm>
                <a:off x="1690327" y="2028182"/>
                <a:ext cx="72000" cy="72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1D96518D-7843-3F46-9852-A1E63C7FB418}"/>
                  </a:ext>
                </a:extLst>
              </p:cNvPr>
              <p:cNvCxnSpPr>
                <a:cxnSpLocks/>
                <a:stCxn id="17" idx="2"/>
              </p:cNvCxnSpPr>
              <p:nvPr/>
            </p:nvCxnSpPr>
            <p:spPr>
              <a:xfrm>
                <a:off x="1726327" y="1753526"/>
                <a:ext cx="0" cy="2683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2" name="Group 21">
            <a:extLst>
              <a:ext uri="{FF2B5EF4-FFF2-40B4-BE49-F238E27FC236}">
                <a16:creationId xmlns:a16="http://schemas.microsoft.com/office/drawing/2014/main" id="{A9D0FB50-EF54-FC4F-866B-D2927E71C7CF}"/>
              </a:ext>
            </a:extLst>
          </p:cNvPr>
          <p:cNvGrpSpPr/>
          <p:nvPr/>
        </p:nvGrpSpPr>
        <p:grpSpPr>
          <a:xfrm>
            <a:off x="2925800" y="1451036"/>
            <a:ext cx="792000" cy="1448528"/>
            <a:chOff x="1330327" y="1429526"/>
            <a:chExt cx="792000" cy="1448528"/>
          </a:xfrm>
        </p:grpSpPr>
        <p:sp>
          <p:nvSpPr>
            <p:cNvPr id="23" name="Rectangle 22">
              <a:extLst>
                <a:ext uri="{FF2B5EF4-FFF2-40B4-BE49-F238E27FC236}">
                  <a16:creationId xmlns:a16="http://schemas.microsoft.com/office/drawing/2014/main" id="{1F3BBE4B-DFC1-6648-9C50-38687012598B}"/>
                </a:ext>
              </a:extLst>
            </p:cNvPr>
            <p:cNvSpPr/>
            <p:nvPr/>
          </p:nvSpPr>
          <p:spPr>
            <a:xfrm>
              <a:off x="1330327" y="1429526"/>
              <a:ext cx="792000" cy="324000"/>
            </a:xfrm>
            <a:prstGeom prst="rect">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Times" pitchFamily="2" charset="0"/>
                </a:rPr>
                <a:t>cP</a:t>
              </a:r>
              <a:r>
                <a:rPr lang="en-US" dirty="0">
                  <a:solidFill>
                    <a:schemeClr val="bg1"/>
                  </a:solidFill>
                  <a:latin typeface="Times" pitchFamily="2" charset="0"/>
                </a:rPr>
                <a:t>n</a:t>
              </a:r>
              <a:r>
                <a:rPr lang="en-US" sz="2000" dirty="0">
                  <a:solidFill>
                    <a:schemeClr val="bg1"/>
                  </a:solidFill>
                  <a:latin typeface="Times" pitchFamily="2" charset="0"/>
                </a:rPr>
                <a:t>-</a:t>
              </a:r>
              <a:r>
                <a:rPr lang="en-US" sz="1400" dirty="0">
                  <a:solidFill>
                    <a:schemeClr val="bg1"/>
                  </a:solidFill>
                  <a:latin typeface="Times" pitchFamily="2" charset="0"/>
                </a:rPr>
                <a:t>1</a:t>
              </a:r>
            </a:p>
          </p:txBody>
        </p:sp>
        <p:grpSp>
          <p:nvGrpSpPr>
            <p:cNvPr id="24" name="Group 23">
              <a:extLst>
                <a:ext uri="{FF2B5EF4-FFF2-40B4-BE49-F238E27FC236}">
                  <a16:creationId xmlns:a16="http://schemas.microsoft.com/office/drawing/2014/main" id="{2AC3CCBA-2F1C-F745-973A-0A8DC3C681AD}"/>
                </a:ext>
              </a:extLst>
            </p:cNvPr>
            <p:cNvGrpSpPr/>
            <p:nvPr/>
          </p:nvGrpSpPr>
          <p:grpSpPr>
            <a:xfrm>
              <a:off x="1690327" y="1753526"/>
              <a:ext cx="72000" cy="1124528"/>
              <a:chOff x="1690327" y="1753526"/>
              <a:chExt cx="72000" cy="1124528"/>
            </a:xfrm>
          </p:grpSpPr>
          <p:sp>
            <p:nvSpPr>
              <p:cNvPr id="25" name="Oval 24">
                <a:extLst>
                  <a:ext uri="{FF2B5EF4-FFF2-40B4-BE49-F238E27FC236}">
                    <a16:creationId xmlns:a16="http://schemas.microsoft.com/office/drawing/2014/main" id="{AABA0087-1C98-BF42-9EC4-158275186AC0}"/>
                  </a:ext>
                </a:extLst>
              </p:cNvPr>
              <p:cNvSpPr/>
              <p:nvPr/>
            </p:nvSpPr>
            <p:spPr>
              <a:xfrm>
                <a:off x="1690327" y="2806054"/>
                <a:ext cx="72000" cy="72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CA42B4D7-CD87-DD48-A717-F8DB524D93BE}"/>
                  </a:ext>
                </a:extLst>
              </p:cNvPr>
              <p:cNvCxnSpPr>
                <a:cxnSpLocks/>
                <a:stCxn id="23" idx="2"/>
                <a:endCxn id="25" idx="0"/>
              </p:cNvCxnSpPr>
              <p:nvPr/>
            </p:nvCxnSpPr>
            <p:spPr>
              <a:xfrm>
                <a:off x="1726327" y="1753526"/>
                <a:ext cx="0" cy="10525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8" name="Group 27">
            <a:extLst>
              <a:ext uri="{FF2B5EF4-FFF2-40B4-BE49-F238E27FC236}">
                <a16:creationId xmlns:a16="http://schemas.microsoft.com/office/drawing/2014/main" id="{AA6F3F04-F67A-FB4E-A7DD-04DF7E3E18CC}"/>
              </a:ext>
            </a:extLst>
          </p:cNvPr>
          <p:cNvGrpSpPr/>
          <p:nvPr/>
        </p:nvGrpSpPr>
        <p:grpSpPr>
          <a:xfrm>
            <a:off x="3956871" y="1427310"/>
            <a:ext cx="792000" cy="1801450"/>
            <a:chOff x="1330327" y="1429526"/>
            <a:chExt cx="792000" cy="1801450"/>
          </a:xfrm>
        </p:grpSpPr>
        <p:sp>
          <p:nvSpPr>
            <p:cNvPr id="29" name="Rectangle 28">
              <a:extLst>
                <a:ext uri="{FF2B5EF4-FFF2-40B4-BE49-F238E27FC236}">
                  <a16:creationId xmlns:a16="http://schemas.microsoft.com/office/drawing/2014/main" id="{793019D1-36DF-8348-AA55-DC4E2C2BF716}"/>
                </a:ext>
              </a:extLst>
            </p:cNvPr>
            <p:cNvSpPr/>
            <p:nvPr/>
          </p:nvSpPr>
          <p:spPr>
            <a:xfrm>
              <a:off x="1330327" y="1429526"/>
              <a:ext cx="792000" cy="324000"/>
            </a:xfrm>
            <a:prstGeom prst="rect">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bg1"/>
                  </a:solidFill>
                  <a:latin typeface="Times" pitchFamily="2" charset="0"/>
                </a:rPr>
                <a:t>cP</a:t>
              </a:r>
              <a:r>
                <a:rPr lang="en-US" dirty="0" err="1">
                  <a:solidFill>
                    <a:schemeClr val="bg1"/>
                  </a:solidFill>
                  <a:latin typeface="Times" pitchFamily="2" charset="0"/>
                </a:rPr>
                <a:t>n</a:t>
              </a:r>
              <a:endParaRPr lang="en-US" dirty="0">
                <a:solidFill>
                  <a:schemeClr val="bg1"/>
                </a:solidFill>
                <a:latin typeface="Times" pitchFamily="2" charset="0"/>
              </a:endParaRPr>
            </a:p>
          </p:txBody>
        </p:sp>
        <p:grpSp>
          <p:nvGrpSpPr>
            <p:cNvPr id="30" name="Group 29">
              <a:extLst>
                <a:ext uri="{FF2B5EF4-FFF2-40B4-BE49-F238E27FC236}">
                  <a16:creationId xmlns:a16="http://schemas.microsoft.com/office/drawing/2014/main" id="{F409CA79-BB1D-9642-A458-504AB7BAA40D}"/>
                </a:ext>
              </a:extLst>
            </p:cNvPr>
            <p:cNvGrpSpPr/>
            <p:nvPr/>
          </p:nvGrpSpPr>
          <p:grpSpPr>
            <a:xfrm>
              <a:off x="1690327" y="1753526"/>
              <a:ext cx="72000" cy="1477450"/>
              <a:chOff x="1690327" y="1753526"/>
              <a:chExt cx="72000" cy="1477450"/>
            </a:xfrm>
          </p:grpSpPr>
          <p:sp>
            <p:nvSpPr>
              <p:cNvPr id="31" name="Oval 30">
                <a:extLst>
                  <a:ext uri="{FF2B5EF4-FFF2-40B4-BE49-F238E27FC236}">
                    <a16:creationId xmlns:a16="http://schemas.microsoft.com/office/drawing/2014/main" id="{ED57D378-64DA-CB46-AC8A-204ED7041DC0}"/>
                  </a:ext>
                </a:extLst>
              </p:cNvPr>
              <p:cNvSpPr/>
              <p:nvPr/>
            </p:nvSpPr>
            <p:spPr>
              <a:xfrm>
                <a:off x="1690327" y="3158976"/>
                <a:ext cx="72000" cy="72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24221302-6F47-5049-B643-6FF33F93E3F1}"/>
                  </a:ext>
                </a:extLst>
              </p:cNvPr>
              <p:cNvCxnSpPr>
                <a:cxnSpLocks/>
                <a:stCxn id="29" idx="2"/>
                <a:endCxn id="31" idx="0"/>
              </p:cNvCxnSpPr>
              <p:nvPr/>
            </p:nvCxnSpPr>
            <p:spPr>
              <a:xfrm>
                <a:off x="1726327" y="1753526"/>
                <a:ext cx="0" cy="14054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34" name="Group 33">
            <a:extLst>
              <a:ext uri="{FF2B5EF4-FFF2-40B4-BE49-F238E27FC236}">
                <a16:creationId xmlns:a16="http://schemas.microsoft.com/office/drawing/2014/main" id="{EAE9F8B5-BCF7-434F-9F7C-9160002F7C19}"/>
              </a:ext>
            </a:extLst>
          </p:cNvPr>
          <p:cNvGrpSpPr/>
          <p:nvPr/>
        </p:nvGrpSpPr>
        <p:grpSpPr>
          <a:xfrm>
            <a:off x="6017063" y="1885113"/>
            <a:ext cx="792000" cy="998801"/>
            <a:chOff x="1311512" y="1423875"/>
            <a:chExt cx="792000" cy="998801"/>
          </a:xfrm>
        </p:grpSpPr>
        <p:sp>
          <p:nvSpPr>
            <p:cNvPr id="35" name="Rectangle 34">
              <a:extLst>
                <a:ext uri="{FF2B5EF4-FFF2-40B4-BE49-F238E27FC236}">
                  <a16:creationId xmlns:a16="http://schemas.microsoft.com/office/drawing/2014/main" id="{1D11C690-D4CA-4341-92E4-F7FB8E698459}"/>
                </a:ext>
              </a:extLst>
            </p:cNvPr>
            <p:cNvSpPr/>
            <p:nvPr/>
          </p:nvSpPr>
          <p:spPr>
            <a:xfrm>
              <a:off x="1311512" y="1423875"/>
              <a:ext cx="792000" cy="324000"/>
            </a:xfrm>
            <a:prstGeom prst="rect">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Times" pitchFamily="2" charset="0"/>
                </a:rPr>
                <a:t>cP</a:t>
              </a:r>
              <a:r>
                <a:rPr lang="en-US" dirty="0">
                  <a:solidFill>
                    <a:schemeClr val="bg1"/>
                  </a:solidFill>
                  <a:latin typeface="Times" pitchFamily="2" charset="0"/>
                </a:rPr>
                <a:t>n</a:t>
              </a:r>
              <a:r>
                <a:rPr lang="en-US" sz="1600" dirty="0">
                  <a:solidFill>
                    <a:schemeClr val="bg1"/>
                  </a:solidFill>
                  <a:latin typeface="Times" pitchFamily="2" charset="0"/>
                </a:rPr>
                <a:t>-</a:t>
              </a:r>
              <a:r>
                <a:rPr lang="en-US" sz="1400" dirty="0">
                  <a:solidFill>
                    <a:schemeClr val="bg1"/>
                  </a:solidFill>
                  <a:latin typeface="Times" pitchFamily="2" charset="0"/>
                </a:rPr>
                <a:t>2</a:t>
              </a:r>
            </a:p>
          </p:txBody>
        </p:sp>
        <p:grpSp>
          <p:nvGrpSpPr>
            <p:cNvPr id="36" name="Group 35">
              <a:extLst>
                <a:ext uri="{FF2B5EF4-FFF2-40B4-BE49-F238E27FC236}">
                  <a16:creationId xmlns:a16="http://schemas.microsoft.com/office/drawing/2014/main" id="{0A6BFC44-3E74-F64E-8607-C29B5772A186}"/>
                </a:ext>
              </a:extLst>
            </p:cNvPr>
            <p:cNvGrpSpPr/>
            <p:nvPr/>
          </p:nvGrpSpPr>
          <p:grpSpPr>
            <a:xfrm>
              <a:off x="1674619" y="1747875"/>
              <a:ext cx="72000" cy="674801"/>
              <a:chOff x="1674619" y="1747875"/>
              <a:chExt cx="72000" cy="674801"/>
            </a:xfrm>
          </p:grpSpPr>
          <p:sp>
            <p:nvSpPr>
              <p:cNvPr id="37" name="Oval 36">
                <a:extLst>
                  <a:ext uri="{FF2B5EF4-FFF2-40B4-BE49-F238E27FC236}">
                    <a16:creationId xmlns:a16="http://schemas.microsoft.com/office/drawing/2014/main" id="{AE9D53FA-0E80-D447-817F-632C724734A3}"/>
                  </a:ext>
                </a:extLst>
              </p:cNvPr>
              <p:cNvSpPr/>
              <p:nvPr/>
            </p:nvSpPr>
            <p:spPr>
              <a:xfrm>
                <a:off x="1674619" y="2350676"/>
                <a:ext cx="72000" cy="72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97877C03-2B09-324D-8F11-A38CCC487090}"/>
                  </a:ext>
                </a:extLst>
              </p:cNvPr>
              <p:cNvCxnSpPr>
                <a:cxnSpLocks/>
                <a:stCxn id="35" idx="2"/>
                <a:endCxn id="37" idx="0"/>
              </p:cNvCxnSpPr>
              <p:nvPr/>
            </p:nvCxnSpPr>
            <p:spPr>
              <a:xfrm>
                <a:off x="1707512" y="1747875"/>
                <a:ext cx="3107" cy="6028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1" name="Group 40">
            <a:extLst>
              <a:ext uri="{FF2B5EF4-FFF2-40B4-BE49-F238E27FC236}">
                <a16:creationId xmlns:a16="http://schemas.microsoft.com/office/drawing/2014/main" id="{0CF9F874-0FA1-774F-A453-7F3B4598BB15}"/>
              </a:ext>
            </a:extLst>
          </p:cNvPr>
          <p:cNvGrpSpPr/>
          <p:nvPr/>
        </p:nvGrpSpPr>
        <p:grpSpPr>
          <a:xfrm>
            <a:off x="7134754" y="1875791"/>
            <a:ext cx="792000" cy="1352186"/>
            <a:chOff x="1311512" y="1432263"/>
            <a:chExt cx="792000" cy="1352186"/>
          </a:xfrm>
        </p:grpSpPr>
        <p:sp>
          <p:nvSpPr>
            <p:cNvPr id="42" name="Rectangle 41">
              <a:extLst>
                <a:ext uri="{FF2B5EF4-FFF2-40B4-BE49-F238E27FC236}">
                  <a16:creationId xmlns:a16="http://schemas.microsoft.com/office/drawing/2014/main" id="{47CD277F-7FB2-9146-B825-8A5736D40837}"/>
                </a:ext>
              </a:extLst>
            </p:cNvPr>
            <p:cNvSpPr/>
            <p:nvPr/>
          </p:nvSpPr>
          <p:spPr>
            <a:xfrm>
              <a:off x="1311512" y="1432263"/>
              <a:ext cx="792000" cy="324000"/>
            </a:xfrm>
            <a:prstGeom prst="rect">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Times" pitchFamily="2" charset="0"/>
                </a:rPr>
                <a:t>cP</a:t>
              </a:r>
              <a:r>
                <a:rPr lang="en-US" dirty="0">
                  <a:solidFill>
                    <a:schemeClr val="bg1"/>
                  </a:solidFill>
                  <a:latin typeface="Times" pitchFamily="2" charset="0"/>
                </a:rPr>
                <a:t>n</a:t>
              </a:r>
              <a:r>
                <a:rPr lang="en-US" sz="1600" dirty="0">
                  <a:solidFill>
                    <a:schemeClr val="bg1"/>
                  </a:solidFill>
                  <a:latin typeface="Times" pitchFamily="2" charset="0"/>
                </a:rPr>
                <a:t>-</a:t>
              </a:r>
              <a:r>
                <a:rPr lang="en-US" sz="1400" dirty="0">
                  <a:solidFill>
                    <a:schemeClr val="bg1"/>
                  </a:solidFill>
                  <a:latin typeface="Times" pitchFamily="2" charset="0"/>
                </a:rPr>
                <a:t>1</a:t>
              </a:r>
            </a:p>
          </p:txBody>
        </p:sp>
        <p:grpSp>
          <p:nvGrpSpPr>
            <p:cNvPr id="43" name="Group 42">
              <a:extLst>
                <a:ext uri="{FF2B5EF4-FFF2-40B4-BE49-F238E27FC236}">
                  <a16:creationId xmlns:a16="http://schemas.microsoft.com/office/drawing/2014/main" id="{B7E4FA06-E978-E546-AE7A-76506264D70E}"/>
                </a:ext>
              </a:extLst>
            </p:cNvPr>
            <p:cNvGrpSpPr/>
            <p:nvPr/>
          </p:nvGrpSpPr>
          <p:grpSpPr>
            <a:xfrm>
              <a:off x="1674619" y="1756263"/>
              <a:ext cx="72000" cy="1028186"/>
              <a:chOff x="1674619" y="1756263"/>
              <a:chExt cx="72000" cy="1028186"/>
            </a:xfrm>
          </p:grpSpPr>
          <p:sp>
            <p:nvSpPr>
              <p:cNvPr id="44" name="Oval 43">
                <a:extLst>
                  <a:ext uri="{FF2B5EF4-FFF2-40B4-BE49-F238E27FC236}">
                    <a16:creationId xmlns:a16="http://schemas.microsoft.com/office/drawing/2014/main" id="{2F18B843-3736-F74C-AF15-7C4CD49786A7}"/>
                  </a:ext>
                </a:extLst>
              </p:cNvPr>
              <p:cNvSpPr/>
              <p:nvPr/>
            </p:nvSpPr>
            <p:spPr>
              <a:xfrm>
                <a:off x="1674619" y="2712449"/>
                <a:ext cx="72000" cy="72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Connector 44">
                <a:extLst>
                  <a:ext uri="{FF2B5EF4-FFF2-40B4-BE49-F238E27FC236}">
                    <a16:creationId xmlns:a16="http://schemas.microsoft.com/office/drawing/2014/main" id="{92AE997E-38EE-0943-845A-1998F8FE2233}"/>
                  </a:ext>
                </a:extLst>
              </p:cNvPr>
              <p:cNvCxnSpPr>
                <a:cxnSpLocks/>
                <a:stCxn id="42" idx="2"/>
                <a:endCxn id="44" idx="0"/>
              </p:cNvCxnSpPr>
              <p:nvPr/>
            </p:nvCxnSpPr>
            <p:spPr>
              <a:xfrm>
                <a:off x="1707512" y="1756263"/>
                <a:ext cx="3107" cy="95618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7" name="Group 46">
            <a:extLst>
              <a:ext uri="{FF2B5EF4-FFF2-40B4-BE49-F238E27FC236}">
                <a16:creationId xmlns:a16="http://schemas.microsoft.com/office/drawing/2014/main" id="{699EF580-8C7E-C14B-BB4E-AD560917ED7F}"/>
              </a:ext>
            </a:extLst>
          </p:cNvPr>
          <p:cNvGrpSpPr/>
          <p:nvPr/>
        </p:nvGrpSpPr>
        <p:grpSpPr>
          <a:xfrm>
            <a:off x="8616397" y="2688700"/>
            <a:ext cx="792000" cy="542334"/>
            <a:chOff x="1311512" y="1432263"/>
            <a:chExt cx="792000" cy="542334"/>
          </a:xfrm>
        </p:grpSpPr>
        <p:sp>
          <p:nvSpPr>
            <p:cNvPr id="48" name="Rectangle 47">
              <a:extLst>
                <a:ext uri="{FF2B5EF4-FFF2-40B4-BE49-F238E27FC236}">
                  <a16:creationId xmlns:a16="http://schemas.microsoft.com/office/drawing/2014/main" id="{959CB281-83F9-B44C-99F3-C36DCB74A423}"/>
                </a:ext>
              </a:extLst>
            </p:cNvPr>
            <p:cNvSpPr/>
            <p:nvPr/>
          </p:nvSpPr>
          <p:spPr>
            <a:xfrm>
              <a:off x="1311512" y="1432263"/>
              <a:ext cx="792000" cy="324000"/>
            </a:xfrm>
            <a:prstGeom prst="rect">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Times" pitchFamily="2" charset="0"/>
                </a:rPr>
                <a:t>cP</a:t>
              </a:r>
              <a:r>
                <a:rPr lang="en-US" sz="1400" dirty="0">
                  <a:solidFill>
                    <a:schemeClr val="bg1"/>
                  </a:solidFill>
                  <a:latin typeface="Times" pitchFamily="2" charset="0"/>
                </a:rPr>
                <a:t>2</a:t>
              </a:r>
            </a:p>
          </p:txBody>
        </p:sp>
        <p:grpSp>
          <p:nvGrpSpPr>
            <p:cNvPr id="49" name="Group 48">
              <a:extLst>
                <a:ext uri="{FF2B5EF4-FFF2-40B4-BE49-F238E27FC236}">
                  <a16:creationId xmlns:a16="http://schemas.microsoft.com/office/drawing/2014/main" id="{4ACFF7FD-0858-6D48-9C68-E0DA6C4AD6AA}"/>
                </a:ext>
              </a:extLst>
            </p:cNvPr>
            <p:cNvGrpSpPr/>
            <p:nvPr/>
          </p:nvGrpSpPr>
          <p:grpSpPr>
            <a:xfrm>
              <a:off x="1671512" y="1756263"/>
              <a:ext cx="72000" cy="218334"/>
              <a:chOff x="1671512" y="1756263"/>
              <a:chExt cx="72000" cy="218334"/>
            </a:xfrm>
          </p:grpSpPr>
          <p:sp>
            <p:nvSpPr>
              <p:cNvPr id="50" name="Oval 49">
                <a:extLst>
                  <a:ext uri="{FF2B5EF4-FFF2-40B4-BE49-F238E27FC236}">
                    <a16:creationId xmlns:a16="http://schemas.microsoft.com/office/drawing/2014/main" id="{F8C1AC90-92C1-EE46-BAFA-891030C63CC4}"/>
                  </a:ext>
                </a:extLst>
              </p:cNvPr>
              <p:cNvSpPr/>
              <p:nvPr/>
            </p:nvSpPr>
            <p:spPr>
              <a:xfrm>
                <a:off x="1671512" y="1902597"/>
                <a:ext cx="72000" cy="72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a:extLst>
                  <a:ext uri="{FF2B5EF4-FFF2-40B4-BE49-F238E27FC236}">
                    <a16:creationId xmlns:a16="http://schemas.microsoft.com/office/drawing/2014/main" id="{502B3D5C-EE61-D843-8BD8-3E993D92BA64}"/>
                  </a:ext>
                </a:extLst>
              </p:cNvPr>
              <p:cNvCxnSpPr>
                <a:cxnSpLocks/>
                <a:stCxn id="48" idx="2"/>
                <a:endCxn id="50" idx="0"/>
              </p:cNvCxnSpPr>
              <p:nvPr/>
            </p:nvCxnSpPr>
            <p:spPr>
              <a:xfrm>
                <a:off x="1707512" y="1756263"/>
                <a:ext cx="0" cy="14633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53" name="Rectangle 52">
            <a:extLst>
              <a:ext uri="{FF2B5EF4-FFF2-40B4-BE49-F238E27FC236}">
                <a16:creationId xmlns:a16="http://schemas.microsoft.com/office/drawing/2014/main" id="{744A24DA-2349-FE41-A137-948F630CA08C}"/>
              </a:ext>
            </a:extLst>
          </p:cNvPr>
          <p:cNvSpPr/>
          <p:nvPr/>
        </p:nvSpPr>
        <p:spPr>
          <a:xfrm>
            <a:off x="9630673" y="3036826"/>
            <a:ext cx="324000" cy="324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Times" pitchFamily="2" charset="0"/>
              </a:rPr>
              <a:t>H</a:t>
            </a:r>
          </a:p>
        </p:txBody>
      </p:sp>
      <p:cxnSp>
        <p:nvCxnSpPr>
          <p:cNvPr id="55" name="Straight Connector 54">
            <a:extLst>
              <a:ext uri="{FF2B5EF4-FFF2-40B4-BE49-F238E27FC236}">
                <a16:creationId xmlns:a16="http://schemas.microsoft.com/office/drawing/2014/main" id="{65684687-5D38-1A45-8D18-BD68D1E0D45F}"/>
              </a:ext>
            </a:extLst>
          </p:cNvPr>
          <p:cNvCxnSpPr>
            <a:cxnSpLocks/>
          </p:cNvCxnSpPr>
          <p:nvPr/>
        </p:nvCxnSpPr>
        <p:spPr>
          <a:xfrm>
            <a:off x="10753168" y="1589310"/>
            <a:ext cx="0" cy="16034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0152894-4652-2B46-AB08-BB1011B5521B}"/>
              </a:ext>
            </a:extLst>
          </p:cNvPr>
          <p:cNvCxnSpPr>
            <a:cxnSpLocks/>
          </p:cNvCxnSpPr>
          <p:nvPr/>
        </p:nvCxnSpPr>
        <p:spPr>
          <a:xfrm>
            <a:off x="11239493" y="2053772"/>
            <a:ext cx="0" cy="78846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8" name="Group 87">
            <a:extLst>
              <a:ext uri="{FF2B5EF4-FFF2-40B4-BE49-F238E27FC236}">
                <a16:creationId xmlns:a16="http://schemas.microsoft.com/office/drawing/2014/main" id="{3CBE193F-A7A4-EB4A-AC49-876524752D36}"/>
              </a:ext>
            </a:extLst>
          </p:cNvPr>
          <p:cNvGrpSpPr/>
          <p:nvPr/>
        </p:nvGrpSpPr>
        <p:grpSpPr>
          <a:xfrm>
            <a:off x="10618168" y="1463915"/>
            <a:ext cx="270000" cy="270000"/>
            <a:chOff x="10033901" y="1785434"/>
            <a:chExt cx="270000" cy="270000"/>
          </a:xfrm>
        </p:grpSpPr>
        <p:cxnSp>
          <p:nvCxnSpPr>
            <p:cNvPr id="89" name="Straight Connector 88">
              <a:extLst>
                <a:ext uri="{FF2B5EF4-FFF2-40B4-BE49-F238E27FC236}">
                  <a16:creationId xmlns:a16="http://schemas.microsoft.com/office/drawing/2014/main" id="{7532BDA4-00F7-814A-AFDF-00A338CFFC31}"/>
                </a:ext>
              </a:extLst>
            </p:cNvPr>
            <p:cNvCxnSpPr>
              <a:cxnSpLocks/>
            </p:cNvCxnSpPr>
            <p:nvPr/>
          </p:nvCxnSpPr>
          <p:spPr>
            <a:xfrm rot="18900000">
              <a:off x="10033901" y="1920435"/>
              <a:ext cx="27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C769F891-A424-EB48-A146-C8D1644763AD}"/>
                </a:ext>
              </a:extLst>
            </p:cNvPr>
            <p:cNvCxnSpPr>
              <a:cxnSpLocks/>
            </p:cNvCxnSpPr>
            <p:nvPr/>
          </p:nvCxnSpPr>
          <p:spPr>
            <a:xfrm rot="2700000">
              <a:off x="10033758" y="1920434"/>
              <a:ext cx="27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1" name="Group 90">
            <a:extLst>
              <a:ext uri="{FF2B5EF4-FFF2-40B4-BE49-F238E27FC236}">
                <a16:creationId xmlns:a16="http://schemas.microsoft.com/office/drawing/2014/main" id="{4158B8A8-6898-7344-8171-3D748335E330}"/>
              </a:ext>
            </a:extLst>
          </p:cNvPr>
          <p:cNvGrpSpPr/>
          <p:nvPr/>
        </p:nvGrpSpPr>
        <p:grpSpPr>
          <a:xfrm>
            <a:off x="11104493" y="1927673"/>
            <a:ext cx="270000" cy="270000"/>
            <a:chOff x="10033901" y="1785434"/>
            <a:chExt cx="270000" cy="270000"/>
          </a:xfrm>
        </p:grpSpPr>
        <p:cxnSp>
          <p:nvCxnSpPr>
            <p:cNvPr id="92" name="Straight Connector 91">
              <a:extLst>
                <a:ext uri="{FF2B5EF4-FFF2-40B4-BE49-F238E27FC236}">
                  <a16:creationId xmlns:a16="http://schemas.microsoft.com/office/drawing/2014/main" id="{1181600E-70B8-7E42-8543-B1124F4DB3E6}"/>
                </a:ext>
              </a:extLst>
            </p:cNvPr>
            <p:cNvCxnSpPr>
              <a:cxnSpLocks/>
            </p:cNvCxnSpPr>
            <p:nvPr/>
          </p:nvCxnSpPr>
          <p:spPr>
            <a:xfrm rot="18900000">
              <a:off x="10033901" y="1920435"/>
              <a:ext cx="27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CF3D7F1C-F426-3E4E-B081-0D9698875E6A}"/>
                </a:ext>
              </a:extLst>
            </p:cNvPr>
            <p:cNvCxnSpPr>
              <a:cxnSpLocks/>
            </p:cNvCxnSpPr>
            <p:nvPr/>
          </p:nvCxnSpPr>
          <p:spPr>
            <a:xfrm rot="2700000">
              <a:off x="10033758" y="1920434"/>
              <a:ext cx="27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4" name="Group 93">
            <a:extLst>
              <a:ext uri="{FF2B5EF4-FFF2-40B4-BE49-F238E27FC236}">
                <a16:creationId xmlns:a16="http://schemas.microsoft.com/office/drawing/2014/main" id="{D7E31290-007E-9E49-BCA3-D464DAD05D68}"/>
              </a:ext>
            </a:extLst>
          </p:cNvPr>
          <p:cNvGrpSpPr/>
          <p:nvPr/>
        </p:nvGrpSpPr>
        <p:grpSpPr>
          <a:xfrm>
            <a:off x="11104350" y="2714067"/>
            <a:ext cx="270000" cy="270000"/>
            <a:chOff x="10033901" y="1785434"/>
            <a:chExt cx="270000" cy="270000"/>
          </a:xfrm>
        </p:grpSpPr>
        <p:cxnSp>
          <p:nvCxnSpPr>
            <p:cNvPr id="95" name="Straight Connector 94">
              <a:extLst>
                <a:ext uri="{FF2B5EF4-FFF2-40B4-BE49-F238E27FC236}">
                  <a16:creationId xmlns:a16="http://schemas.microsoft.com/office/drawing/2014/main" id="{11499DA6-93D6-5845-94DE-50584BEE62AB}"/>
                </a:ext>
              </a:extLst>
            </p:cNvPr>
            <p:cNvCxnSpPr>
              <a:cxnSpLocks/>
            </p:cNvCxnSpPr>
            <p:nvPr/>
          </p:nvCxnSpPr>
          <p:spPr>
            <a:xfrm rot="18900000">
              <a:off x="10033901" y="1920435"/>
              <a:ext cx="27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8D5DFC2E-4C6E-7A4E-90BC-B824D34D11DD}"/>
                </a:ext>
              </a:extLst>
            </p:cNvPr>
            <p:cNvCxnSpPr>
              <a:cxnSpLocks/>
            </p:cNvCxnSpPr>
            <p:nvPr/>
          </p:nvCxnSpPr>
          <p:spPr>
            <a:xfrm rot="2700000">
              <a:off x="10033758" y="1920434"/>
              <a:ext cx="27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7" name="Group 96">
            <a:extLst>
              <a:ext uri="{FF2B5EF4-FFF2-40B4-BE49-F238E27FC236}">
                <a16:creationId xmlns:a16="http://schemas.microsoft.com/office/drawing/2014/main" id="{D5E387E0-5460-234B-B34C-C3C44D833ABA}"/>
              </a:ext>
            </a:extLst>
          </p:cNvPr>
          <p:cNvGrpSpPr/>
          <p:nvPr/>
        </p:nvGrpSpPr>
        <p:grpSpPr>
          <a:xfrm>
            <a:off x="10619093" y="3062547"/>
            <a:ext cx="270000" cy="270000"/>
            <a:chOff x="10033901" y="1785434"/>
            <a:chExt cx="270000" cy="270000"/>
          </a:xfrm>
        </p:grpSpPr>
        <p:cxnSp>
          <p:nvCxnSpPr>
            <p:cNvPr id="98" name="Straight Connector 97">
              <a:extLst>
                <a:ext uri="{FF2B5EF4-FFF2-40B4-BE49-F238E27FC236}">
                  <a16:creationId xmlns:a16="http://schemas.microsoft.com/office/drawing/2014/main" id="{0AD18624-AFF4-DD4F-8BD4-F8BF6A737981}"/>
                </a:ext>
              </a:extLst>
            </p:cNvPr>
            <p:cNvCxnSpPr>
              <a:cxnSpLocks/>
            </p:cNvCxnSpPr>
            <p:nvPr/>
          </p:nvCxnSpPr>
          <p:spPr>
            <a:xfrm rot="18900000">
              <a:off x="10033901" y="1920435"/>
              <a:ext cx="27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05BFF3A4-D7CC-7548-BE58-4F501CF330CE}"/>
                </a:ext>
              </a:extLst>
            </p:cNvPr>
            <p:cNvCxnSpPr>
              <a:cxnSpLocks/>
            </p:cNvCxnSpPr>
            <p:nvPr/>
          </p:nvCxnSpPr>
          <p:spPr>
            <a:xfrm rot="2700000">
              <a:off x="10033758" y="1920434"/>
              <a:ext cx="27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00" name="Rectangle 99">
                <a:extLst>
                  <a:ext uri="{FF2B5EF4-FFF2-40B4-BE49-F238E27FC236}">
                    <a16:creationId xmlns:a16="http://schemas.microsoft.com/office/drawing/2014/main" id="{515E351E-88F5-7940-AFF0-52DB3CDFBA75}"/>
                  </a:ext>
                </a:extLst>
              </p:cNvPr>
              <p:cNvSpPr/>
              <p:nvPr/>
            </p:nvSpPr>
            <p:spPr>
              <a:xfrm>
                <a:off x="4382" y="1414249"/>
                <a:ext cx="61747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ea typeface="Cambria Math" panose="02040503050406030204" pitchFamily="18" charset="0"/>
                        </a:rPr>
                        <m:t>|</m:t>
                      </m:r>
                      <m:d>
                        <m:dPr>
                          <m:begChr m:val=""/>
                          <m:endChr m:val="⟩"/>
                          <m:ctrlPr>
                            <a:rPr lang="en-US" i="1">
                              <a:solidFill>
                                <a:schemeClr val="tx1"/>
                              </a:solidFill>
                              <a:latin typeface="Cambria Math" panose="02040503050406030204" pitchFamily="18" charset="0"/>
                              <a:ea typeface="Cambria Math" panose="02040503050406030204" pitchFamily="18" charset="0"/>
                            </a:rPr>
                          </m:ctrlPr>
                        </m:dPr>
                        <m:e>
                          <m:sSub>
                            <m:sSubPr>
                              <m:ctrlPr>
                                <a:rPr lang="en-US" i="1">
                                  <a:solidFill>
                                    <a:schemeClr val="tx1"/>
                                  </a:solidFill>
                                  <a:latin typeface="Cambria Math" panose="02040503050406030204" pitchFamily="18" charset="0"/>
                                  <a:ea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𝑥</m:t>
                              </m:r>
                            </m:e>
                            <m:sub>
                              <m:r>
                                <a:rPr lang="en-US" b="0" i="1" smtClean="0">
                                  <a:solidFill>
                                    <a:schemeClr val="tx1"/>
                                  </a:solidFill>
                                  <a:latin typeface="Cambria Math" panose="02040503050406030204" pitchFamily="18" charset="0"/>
                                  <a:ea typeface="Cambria Math" panose="02040503050406030204" pitchFamily="18" charset="0"/>
                                </a:rPr>
                                <m:t>1</m:t>
                              </m:r>
                            </m:sub>
                          </m:sSub>
                        </m:e>
                      </m:d>
                    </m:oMath>
                  </m:oMathPara>
                </a14:m>
                <a:endParaRPr lang="en-US" dirty="0">
                  <a:solidFill>
                    <a:schemeClr val="tx1"/>
                  </a:solidFill>
                </a:endParaRPr>
              </a:p>
            </p:txBody>
          </p:sp>
        </mc:Choice>
        <mc:Fallback xmlns="">
          <p:sp>
            <p:nvSpPr>
              <p:cNvPr id="100" name="Rectangle 99">
                <a:extLst>
                  <a:ext uri="{FF2B5EF4-FFF2-40B4-BE49-F238E27FC236}">
                    <a16:creationId xmlns:a16="http://schemas.microsoft.com/office/drawing/2014/main" id="{515E351E-88F5-7940-AFF0-52DB3CDFBA75}"/>
                  </a:ext>
                </a:extLst>
              </p:cNvPr>
              <p:cNvSpPr>
                <a:spLocks noRot="1" noChangeAspect="1" noMove="1" noResize="1" noEditPoints="1" noAdjustHandles="1" noChangeArrowheads="1" noChangeShapeType="1" noTextEdit="1"/>
              </p:cNvSpPr>
              <p:nvPr/>
            </p:nvSpPr>
            <p:spPr>
              <a:xfrm>
                <a:off x="4382" y="1414249"/>
                <a:ext cx="617477" cy="369332"/>
              </a:xfrm>
              <a:prstGeom prst="rect">
                <a:avLst/>
              </a:prstGeom>
              <a:blipFill>
                <a:blip r:embed="rId3"/>
                <a:stretch>
                  <a:fillRect t="-110000" r="-32653" b="-16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1" name="Rectangle 100">
                <a:extLst>
                  <a:ext uri="{FF2B5EF4-FFF2-40B4-BE49-F238E27FC236}">
                    <a16:creationId xmlns:a16="http://schemas.microsoft.com/office/drawing/2014/main" id="{FDC3DC63-6E0A-A34A-B35A-046F350B7794}"/>
                  </a:ext>
                </a:extLst>
              </p:cNvPr>
              <p:cNvSpPr/>
              <p:nvPr/>
            </p:nvSpPr>
            <p:spPr>
              <a:xfrm>
                <a:off x="-4229" y="1878007"/>
                <a:ext cx="62279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ea typeface="Cambria Math" panose="02040503050406030204" pitchFamily="18" charset="0"/>
                        </a:rPr>
                        <m:t>|</m:t>
                      </m:r>
                      <m:d>
                        <m:dPr>
                          <m:begChr m:val=""/>
                          <m:endChr m:val="⟩"/>
                          <m:ctrlPr>
                            <a:rPr lang="en-US" i="1">
                              <a:solidFill>
                                <a:schemeClr val="tx1"/>
                              </a:solidFill>
                              <a:latin typeface="Cambria Math" panose="02040503050406030204" pitchFamily="18" charset="0"/>
                              <a:ea typeface="Cambria Math" panose="02040503050406030204" pitchFamily="18" charset="0"/>
                            </a:rPr>
                          </m:ctrlPr>
                        </m:dPr>
                        <m:e>
                          <m:sSub>
                            <m:sSubPr>
                              <m:ctrlPr>
                                <a:rPr lang="en-US" i="1">
                                  <a:solidFill>
                                    <a:schemeClr val="tx1"/>
                                  </a:solidFill>
                                  <a:latin typeface="Cambria Math" panose="02040503050406030204" pitchFamily="18" charset="0"/>
                                  <a:ea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𝑥</m:t>
                              </m:r>
                            </m:e>
                            <m:sub>
                              <m:r>
                                <a:rPr lang="en-US" b="0" i="1" smtClean="0">
                                  <a:solidFill>
                                    <a:schemeClr val="tx1"/>
                                  </a:solidFill>
                                  <a:latin typeface="Cambria Math" panose="02040503050406030204" pitchFamily="18" charset="0"/>
                                  <a:ea typeface="Cambria Math" panose="02040503050406030204" pitchFamily="18" charset="0"/>
                                </a:rPr>
                                <m:t>2</m:t>
                              </m:r>
                            </m:sub>
                          </m:sSub>
                        </m:e>
                      </m:d>
                    </m:oMath>
                  </m:oMathPara>
                </a14:m>
                <a:endParaRPr lang="en-US" dirty="0">
                  <a:solidFill>
                    <a:schemeClr val="tx1"/>
                  </a:solidFill>
                </a:endParaRPr>
              </a:p>
            </p:txBody>
          </p:sp>
        </mc:Choice>
        <mc:Fallback xmlns="">
          <p:sp>
            <p:nvSpPr>
              <p:cNvPr id="101" name="Rectangle 100">
                <a:extLst>
                  <a:ext uri="{FF2B5EF4-FFF2-40B4-BE49-F238E27FC236}">
                    <a16:creationId xmlns:a16="http://schemas.microsoft.com/office/drawing/2014/main" id="{FDC3DC63-6E0A-A34A-B35A-046F350B7794}"/>
                  </a:ext>
                </a:extLst>
              </p:cNvPr>
              <p:cNvSpPr>
                <a:spLocks noRot="1" noChangeAspect="1" noMove="1" noResize="1" noEditPoints="1" noAdjustHandles="1" noChangeArrowheads="1" noChangeShapeType="1" noTextEdit="1"/>
              </p:cNvSpPr>
              <p:nvPr/>
            </p:nvSpPr>
            <p:spPr>
              <a:xfrm>
                <a:off x="-4229" y="1878007"/>
                <a:ext cx="622798" cy="369332"/>
              </a:xfrm>
              <a:prstGeom prst="rect">
                <a:avLst/>
              </a:prstGeom>
              <a:blipFill>
                <a:blip r:embed="rId4"/>
                <a:stretch>
                  <a:fillRect t="-110000" r="-32653" b="-16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Rectangle 101">
                <a:extLst>
                  <a:ext uri="{FF2B5EF4-FFF2-40B4-BE49-F238E27FC236}">
                    <a16:creationId xmlns:a16="http://schemas.microsoft.com/office/drawing/2014/main" id="{8330F954-935D-4B49-B427-CF01CCF1A207}"/>
                  </a:ext>
                </a:extLst>
              </p:cNvPr>
              <p:cNvSpPr/>
              <p:nvPr/>
            </p:nvSpPr>
            <p:spPr>
              <a:xfrm>
                <a:off x="-19738" y="2622958"/>
                <a:ext cx="85651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ea typeface="Cambria Math" panose="02040503050406030204" pitchFamily="18" charset="0"/>
                        </a:rPr>
                        <m:t>|</m:t>
                      </m:r>
                      <m:d>
                        <m:dPr>
                          <m:begChr m:val=""/>
                          <m:endChr m:val="⟩"/>
                          <m:ctrlPr>
                            <a:rPr lang="en-US" i="1">
                              <a:solidFill>
                                <a:schemeClr val="tx1"/>
                              </a:solidFill>
                              <a:latin typeface="Cambria Math" panose="02040503050406030204" pitchFamily="18" charset="0"/>
                              <a:ea typeface="Cambria Math" panose="02040503050406030204" pitchFamily="18" charset="0"/>
                            </a:rPr>
                          </m:ctrlPr>
                        </m:dPr>
                        <m:e>
                          <m:sSub>
                            <m:sSubPr>
                              <m:ctrlPr>
                                <a:rPr lang="en-US" i="1">
                                  <a:solidFill>
                                    <a:schemeClr val="tx1"/>
                                  </a:solidFill>
                                  <a:latin typeface="Cambria Math" panose="02040503050406030204" pitchFamily="18" charset="0"/>
                                  <a:ea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𝑥</m:t>
                              </m:r>
                            </m:e>
                            <m:sub>
                              <m:r>
                                <a:rPr lang="en-US" b="0" i="1" smtClean="0">
                                  <a:solidFill>
                                    <a:schemeClr val="tx1"/>
                                  </a:solidFill>
                                  <a:latin typeface="Cambria Math" panose="02040503050406030204" pitchFamily="18" charset="0"/>
                                  <a:ea typeface="Cambria Math" panose="02040503050406030204" pitchFamily="18" charset="0"/>
                                </a:rPr>
                                <m:t>𝑛</m:t>
                              </m:r>
                              <m:r>
                                <a:rPr lang="en-US" b="0" i="1" smtClean="0">
                                  <a:solidFill>
                                    <a:schemeClr val="tx1"/>
                                  </a:solidFill>
                                  <a:latin typeface="Cambria Math" panose="02040503050406030204" pitchFamily="18" charset="0"/>
                                  <a:ea typeface="Cambria Math" panose="02040503050406030204" pitchFamily="18" charset="0"/>
                                </a:rPr>
                                <m:t>−1</m:t>
                              </m:r>
                            </m:sub>
                          </m:sSub>
                        </m:e>
                      </m:d>
                    </m:oMath>
                  </m:oMathPara>
                </a14:m>
                <a:endParaRPr lang="en-US" dirty="0">
                  <a:solidFill>
                    <a:schemeClr val="tx1"/>
                  </a:solidFill>
                </a:endParaRPr>
              </a:p>
            </p:txBody>
          </p:sp>
        </mc:Choice>
        <mc:Fallback xmlns="">
          <p:sp>
            <p:nvSpPr>
              <p:cNvPr id="102" name="Rectangle 101">
                <a:extLst>
                  <a:ext uri="{FF2B5EF4-FFF2-40B4-BE49-F238E27FC236}">
                    <a16:creationId xmlns:a16="http://schemas.microsoft.com/office/drawing/2014/main" id="{8330F954-935D-4B49-B427-CF01CCF1A207}"/>
                  </a:ext>
                </a:extLst>
              </p:cNvPr>
              <p:cNvSpPr>
                <a:spLocks noRot="1" noChangeAspect="1" noMove="1" noResize="1" noEditPoints="1" noAdjustHandles="1" noChangeArrowheads="1" noChangeShapeType="1" noTextEdit="1"/>
              </p:cNvSpPr>
              <p:nvPr/>
            </p:nvSpPr>
            <p:spPr>
              <a:xfrm>
                <a:off x="-19738" y="2622958"/>
                <a:ext cx="856517" cy="369332"/>
              </a:xfrm>
              <a:prstGeom prst="rect">
                <a:avLst/>
              </a:prstGeom>
              <a:blipFill>
                <a:blip r:embed="rId5"/>
                <a:stretch>
                  <a:fillRect t="-110000" r="-23529" b="-16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Rectangle 102">
                <a:extLst>
                  <a:ext uri="{FF2B5EF4-FFF2-40B4-BE49-F238E27FC236}">
                    <a16:creationId xmlns:a16="http://schemas.microsoft.com/office/drawing/2014/main" id="{CC784EB9-F4C5-964F-A513-F0FE2F278478}"/>
                  </a:ext>
                </a:extLst>
              </p:cNvPr>
              <p:cNvSpPr/>
              <p:nvPr/>
            </p:nvSpPr>
            <p:spPr>
              <a:xfrm>
                <a:off x="-11283" y="3016439"/>
                <a:ext cx="63690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ea typeface="Cambria Math" panose="02040503050406030204" pitchFamily="18" charset="0"/>
                        </a:rPr>
                        <m:t>|</m:t>
                      </m:r>
                      <m:d>
                        <m:dPr>
                          <m:begChr m:val=""/>
                          <m:endChr m:val="⟩"/>
                          <m:ctrlPr>
                            <a:rPr lang="en-US" i="1">
                              <a:solidFill>
                                <a:schemeClr val="tx1"/>
                              </a:solidFill>
                              <a:latin typeface="Cambria Math" panose="02040503050406030204" pitchFamily="18" charset="0"/>
                              <a:ea typeface="Cambria Math" panose="02040503050406030204" pitchFamily="18" charset="0"/>
                            </a:rPr>
                          </m:ctrlPr>
                        </m:dPr>
                        <m:e>
                          <m:sSub>
                            <m:sSubPr>
                              <m:ctrlPr>
                                <a:rPr lang="en-US" i="1">
                                  <a:solidFill>
                                    <a:schemeClr val="tx1"/>
                                  </a:solidFill>
                                  <a:latin typeface="Cambria Math" panose="02040503050406030204" pitchFamily="18" charset="0"/>
                                  <a:ea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𝑥</m:t>
                              </m:r>
                            </m:e>
                            <m:sub>
                              <m:r>
                                <a:rPr lang="en-US" b="0" i="1" smtClean="0">
                                  <a:solidFill>
                                    <a:schemeClr val="tx1"/>
                                  </a:solidFill>
                                  <a:latin typeface="Cambria Math" panose="02040503050406030204" pitchFamily="18" charset="0"/>
                                  <a:ea typeface="Cambria Math" panose="02040503050406030204" pitchFamily="18" charset="0"/>
                                </a:rPr>
                                <m:t>𝑛</m:t>
                              </m:r>
                            </m:sub>
                          </m:sSub>
                        </m:e>
                      </m:d>
                    </m:oMath>
                  </m:oMathPara>
                </a14:m>
                <a:endParaRPr lang="en-US" dirty="0">
                  <a:solidFill>
                    <a:schemeClr val="tx1"/>
                  </a:solidFill>
                </a:endParaRPr>
              </a:p>
            </p:txBody>
          </p:sp>
        </mc:Choice>
        <mc:Fallback xmlns="">
          <p:sp>
            <p:nvSpPr>
              <p:cNvPr id="103" name="Rectangle 102">
                <a:extLst>
                  <a:ext uri="{FF2B5EF4-FFF2-40B4-BE49-F238E27FC236}">
                    <a16:creationId xmlns:a16="http://schemas.microsoft.com/office/drawing/2014/main" id="{CC784EB9-F4C5-964F-A513-F0FE2F278478}"/>
                  </a:ext>
                </a:extLst>
              </p:cNvPr>
              <p:cNvSpPr>
                <a:spLocks noRot="1" noChangeAspect="1" noMove="1" noResize="1" noEditPoints="1" noAdjustHandles="1" noChangeArrowheads="1" noChangeShapeType="1" noTextEdit="1"/>
              </p:cNvSpPr>
              <p:nvPr/>
            </p:nvSpPr>
            <p:spPr>
              <a:xfrm>
                <a:off x="-11283" y="3016439"/>
                <a:ext cx="636905" cy="369332"/>
              </a:xfrm>
              <a:prstGeom prst="rect">
                <a:avLst/>
              </a:prstGeom>
              <a:blipFill>
                <a:blip r:embed="rId6"/>
                <a:stretch>
                  <a:fillRect t="-110000" r="-32000" b="-163333"/>
                </a:stretch>
              </a:blipFill>
            </p:spPr>
            <p:txBody>
              <a:bodyPr/>
              <a:lstStyle/>
              <a:p>
                <a:r>
                  <a:rPr lang="en-US">
                    <a:noFill/>
                  </a:rPr>
                  <a:t> </a:t>
                </a:r>
              </a:p>
            </p:txBody>
          </p:sp>
        </mc:Fallback>
      </mc:AlternateContent>
      <p:sp>
        <p:nvSpPr>
          <p:cNvPr id="110" name="Oval 109">
            <a:extLst>
              <a:ext uri="{FF2B5EF4-FFF2-40B4-BE49-F238E27FC236}">
                <a16:creationId xmlns:a16="http://schemas.microsoft.com/office/drawing/2014/main" id="{616CF798-22B7-2B43-A11B-0695545267E2}"/>
              </a:ext>
            </a:extLst>
          </p:cNvPr>
          <p:cNvSpPr/>
          <p:nvPr/>
        </p:nvSpPr>
        <p:spPr>
          <a:xfrm>
            <a:off x="10256667" y="1268562"/>
            <a:ext cx="252000" cy="252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1</a:t>
            </a:r>
          </a:p>
        </p:txBody>
      </p:sp>
      <p:sp>
        <p:nvSpPr>
          <p:cNvPr id="111" name="Oval 110">
            <a:extLst>
              <a:ext uri="{FF2B5EF4-FFF2-40B4-BE49-F238E27FC236}">
                <a16:creationId xmlns:a16="http://schemas.microsoft.com/office/drawing/2014/main" id="{31A5DAA0-DFDD-B24E-BC2F-CA15538725ED}"/>
              </a:ext>
            </a:extLst>
          </p:cNvPr>
          <p:cNvSpPr/>
          <p:nvPr/>
        </p:nvSpPr>
        <p:spPr>
          <a:xfrm>
            <a:off x="10256667" y="1755188"/>
            <a:ext cx="252000" cy="252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2</a:t>
            </a:r>
          </a:p>
        </p:txBody>
      </p:sp>
      <p:sp>
        <p:nvSpPr>
          <p:cNvPr id="112" name="Oval 111">
            <a:extLst>
              <a:ext uri="{FF2B5EF4-FFF2-40B4-BE49-F238E27FC236}">
                <a16:creationId xmlns:a16="http://schemas.microsoft.com/office/drawing/2014/main" id="{BB6CE008-0720-DE48-B12B-85EEB6872F3B}"/>
              </a:ext>
            </a:extLst>
          </p:cNvPr>
          <p:cNvSpPr/>
          <p:nvPr/>
        </p:nvSpPr>
        <p:spPr>
          <a:xfrm>
            <a:off x="10256667" y="2897393"/>
            <a:ext cx="252000" cy="252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n</a:t>
            </a:r>
          </a:p>
        </p:txBody>
      </p:sp>
      <p:sp>
        <p:nvSpPr>
          <p:cNvPr id="114" name="Oval 113">
            <a:extLst>
              <a:ext uri="{FF2B5EF4-FFF2-40B4-BE49-F238E27FC236}">
                <a16:creationId xmlns:a16="http://schemas.microsoft.com/office/drawing/2014/main" id="{A579D68A-DD3A-3D47-8EBF-D2F4AD8746B5}"/>
              </a:ext>
            </a:extLst>
          </p:cNvPr>
          <p:cNvSpPr>
            <a:spLocks noChangeAspect="1"/>
          </p:cNvSpPr>
          <p:nvPr/>
        </p:nvSpPr>
        <p:spPr>
          <a:xfrm>
            <a:off x="335092" y="6100509"/>
            <a:ext cx="503999" cy="5039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n</a:t>
            </a:r>
          </a:p>
        </p:txBody>
      </p:sp>
      <mc:AlternateContent xmlns:mc="http://schemas.openxmlformats.org/markup-compatibility/2006" xmlns:a14="http://schemas.microsoft.com/office/drawing/2010/main">
        <mc:Choice Requires="a14">
          <p:sp>
            <p:nvSpPr>
              <p:cNvPr id="115" name="Rectangle 114">
                <a:extLst>
                  <a:ext uri="{FF2B5EF4-FFF2-40B4-BE49-F238E27FC236}">
                    <a16:creationId xmlns:a16="http://schemas.microsoft.com/office/drawing/2014/main" id="{67C91AFA-9471-904F-8FA5-507344576CAC}"/>
                  </a:ext>
                </a:extLst>
              </p:cNvPr>
              <p:cNvSpPr/>
              <p:nvPr/>
            </p:nvSpPr>
            <p:spPr>
              <a:xfrm>
                <a:off x="1199473" y="5966745"/>
                <a:ext cx="3228383" cy="8552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ad>
                            <m:radPr>
                              <m:degHide m:val="on"/>
                              <m:ctrlPr>
                                <a:rPr lang="en-US" sz="2400" i="1">
                                  <a:latin typeface="Cambria Math" panose="02040503050406030204" pitchFamily="18" charset="0"/>
                                  <a:ea typeface="Cambria Math" panose="02040503050406030204" pitchFamily="18" charset="0"/>
                                </a:rPr>
                              </m:ctrlPr>
                            </m:radPr>
                            <m:deg/>
                            <m:e>
                              <m:r>
                                <a:rPr lang="en-US" sz="2400" i="1">
                                  <a:latin typeface="Cambria Math" panose="02040503050406030204" pitchFamily="18" charset="0"/>
                                  <a:ea typeface="Cambria Math" panose="02040503050406030204" pitchFamily="18" charset="0"/>
                                </a:rPr>
                                <m:t>2</m:t>
                              </m:r>
                            </m:e>
                          </m:rad>
                        </m:den>
                      </m:f>
                      <m:d>
                        <m:dPr>
                          <m:ctrlPr>
                            <a:rPr lang="en-US" sz="2400" i="1">
                              <a:latin typeface="Cambria Math" panose="02040503050406030204" pitchFamily="18" charset="0"/>
                              <a:ea typeface="Cambria Math" panose="02040503050406030204" pitchFamily="18" charset="0"/>
                            </a:rPr>
                          </m:ctrlPr>
                        </m:dPr>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b="0" i="1" smtClean="0">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r>
                                <a:rPr lang="en-US" sz="2400" b="0" i="1" smtClean="0">
                                  <a:latin typeface="Cambria Math" panose="02040503050406030204" pitchFamily="18" charset="0"/>
                                  <a:ea typeface="Cambria Math" panose="02040503050406030204" pitchFamily="18" charset="0"/>
                                </a:rPr>
                                <m:t>[0.</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i="1">
                                      <a:latin typeface="Cambria Math" panose="02040503050406030204" pitchFamily="18" charset="0"/>
                                      <a:ea typeface="Cambria Math" panose="02040503050406030204" pitchFamily="18" charset="0"/>
                                    </a:rPr>
                                    <m:t>𝑛</m:t>
                                  </m:r>
                                </m:sub>
                              </m:sSub>
                              <m:r>
                                <a:rPr lang="en-US" sz="2400" b="0" i="1" smtClean="0">
                                  <a:latin typeface="Cambria Math" panose="02040503050406030204" pitchFamily="18" charset="0"/>
                                  <a:ea typeface="Cambria Math" panose="02040503050406030204" pitchFamily="18" charset="0"/>
                                </a:rPr>
                                <m:t>]</m:t>
                              </m:r>
                            </m:sup>
                          </m:sSup>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m:t>
                              </m:r>
                            </m:e>
                          </m:d>
                        </m:e>
                      </m:d>
                    </m:oMath>
                  </m:oMathPara>
                </a14:m>
                <a:endParaRPr lang="en-US" sz="2400" dirty="0"/>
              </a:p>
            </p:txBody>
          </p:sp>
        </mc:Choice>
        <mc:Fallback xmlns="">
          <p:sp>
            <p:nvSpPr>
              <p:cNvPr id="115" name="Rectangle 114">
                <a:extLst>
                  <a:ext uri="{FF2B5EF4-FFF2-40B4-BE49-F238E27FC236}">
                    <a16:creationId xmlns:a16="http://schemas.microsoft.com/office/drawing/2014/main" id="{67C91AFA-9471-904F-8FA5-507344576CAC}"/>
                  </a:ext>
                </a:extLst>
              </p:cNvPr>
              <p:cNvSpPr>
                <a:spLocks noRot="1" noChangeAspect="1" noMove="1" noResize="1" noEditPoints="1" noAdjustHandles="1" noChangeArrowheads="1" noChangeShapeType="1" noTextEdit="1"/>
              </p:cNvSpPr>
              <p:nvPr/>
            </p:nvSpPr>
            <p:spPr>
              <a:xfrm>
                <a:off x="1199473" y="5966745"/>
                <a:ext cx="3228383" cy="855299"/>
              </a:xfrm>
              <a:prstGeom prst="rect">
                <a:avLst/>
              </a:prstGeom>
              <a:blipFill>
                <a:blip r:embed="rId7"/>
                <a:stretch>
                  <a:fillRect t="-45588" r="-5078" b="-80882"/>
                </a:stretch>
              </a:blipFill>
            </p:spPr>
            <p:txBody>
              <a:bodyPr/>
              <a:lstStyle/>
              <a:p>
                <a:r>
                  <a:rPr lang="en-US">
                    <a:noFill/>
                  </a:rPr>
                  <a:t> </a:t>
                </a:r>
              </a:p>
            </p:txBody>
          </p:sp>
        </mc:Fallback>
      </mc:AlternateContent>
      <p:sp>
        <p:nvSpPr>
          <p:cNvPr id="116" name="Oval 115">
            <a:extLst>
              <a:ext uri="{FF2B5EF4-FFF2-40B4-BE49-F238E27FC236}">
                <a16:creationId xmlns:a16="http://schemas.microsoft.com/office/drawing/2014/main" id="{6437E0FE-9619-B342-AC5B-AD739C35EF6B}"/>
              </a:ext>
            </a:extLst>
          </p:cNvPr>
          <p:cNvSpPr>
            <a:spLocks noChangeAspect="1"/>
          </p:cNvSpPr>
          <p:nvPr/>
        </p:nvSpPr>
        <p:spPr>
          <a:xfrm>
            <a:off x="116575" y="5258090"/>
            <a:ext cx="941033" cy="5039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n-1</a:t>
            </a:r>
          </a:p>
        </p:txBody>
      </p:sp>
      <p:sp>
        <p:nvSpPr>
          <p:cNvPr id="117" name="Oval 116">
            <a:extLst>
              <a:ext uri="{FF2B5EF4-FFF2-40B4-BE49-F238E27FC236}">
                <a16:creationId xmlns:a16="http://schemas.microsoft.com/office/drawing/2014/main" id="{F57F5D61-6AFB-2B42-9A87-24B89901F135}"/>
              </a:ext>
            </a:extLst>
          </p:cNvPr>
          <p:cNvSpPr/>
          <p:nvPr/>
        </p:nvSpPr>
        <p:spPr>
          <a:xfrm>
            <a:off x="10053494" y="2538814"/>
            <a:ext cx="654140" cy="252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n-1</a:t>
            </a:r>
          </a:p>
        </p:txBody>
      </p:sp>
      <mc:AlternateContent xmlns:mc="http://schemas.openxmlformats.org/markup-compatibility/2006" xmlns:a14="http://schemas.microsoft.com/office/drawing/2010/main">
        <mc:Choice Requires="a14">
          <p:sp>
            <p:nvSpPr>
              <p:cNvPr id="118" name="Rectangle 117">
                <a:extLst>
                  <a:ext uri="{FF2B5EF4-FFF2-40B4-BE49-F238E27FC236}">
                    <a16:creationId xmlns:a16="http://schemas.microsoft.com/office/drawing/2014/main" id="{07133C20-C7D4-3345-AA7B-8E3CDF0F3C86}"/>
                  </a:ext>
                </a:extLst>
              </p:cNvPr>
              <p:cNvSpPr/>
              <p:nvPr/>
            </p:nvSpPr>
            <p:spPr>
              <a:xfrm>
                <a:off x="1199473" y="5078109"/>
                <a:ext cx="3747436" cy="8552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ad>
                            <m:radPr>
                              <m:degHide m:val="on"/>
                              <m:ctrlPr>
                                <a:rPr lang="en-US" sz="2400" i="1">
                                  <a:latin typeface="Cambria Math" panose="02040503050406030204" pitchFamily="18" charset="0"/>
                                  <a:ea typeface="Cambria Math" panose="02040503050406030204" pitchFamily="18" charset="0"/>
                                </a:rPr>
                              </m:ctrlPr>
                            </m:radPr>
                            <m:deg/>
                            <m:e>
                              <m:r>
                                <a:rPr lang="en-US" sz="2400" i="1">
                                  <a:latin typeface="Cambria Math" panose="02040503050406030204" pitchFamily="18" charset="0"/>
                                  <a:ea typeface="Cambria Math" panose="02040503050406030204" pitchFamily="18" charset="0"/>
                                </a:rPr>
                                <m:t>2</m:t>
                              </m:r>
                            </m:e>
                          </m:rad>
                        </m:den>
                      </m:f>
                      <m:d>
                        <m:dPr>
                          <m:ctrlPr>
                            <a:rPr lang="en-US" sz="2400" i="1">
                              <a:latin typeface="Cambria Math" panose="02040503050406030204" pitchFamily="18" charset="0"/>
                              <a:ea typeface="Cambria Math" panose="02040503050406030204" pitchFamily="18" charset="0"/>
                            </a:rPr>
                          </m:ctrlPr>
                        </m:dPr>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b="0" i="1" smtClean="0">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r>
                                <a:rPr lang="en-US" sz="2400" b="0" i="1" smtClean="0">
                                  <a:latin typeface="Cambria Math" panose="02040503050406030204" pitchFamily="18" charset="0"/>
                                  <a:ea typeface="Cambria Math" panose="02040503050406030204" pitchFamily="18" charset="0"/>
                                </a:rPr>
                                <m:t>[0.</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i="1">
                                      <a:latin typeface="Cambria Math" panose="02040503050406030204" pitchFamily="18" charset="0"/>
                                      <a:ea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−1</m:t>
                                  </m:r>
                                </m:sub>
                              </m:sSub>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i="1">
                                      <a:latin typeface="Cambria Math" panose="02040503050406030204" pitchFamily="18" charset="0"/>
                                      <a:ea typeface="Cambria Math" panose="02040503050406030204" pitchFamily="18" charset="0"/>
                                    </a:rPr>
                                    <m:t>𝑛</m:t>
                                  </m:r>
                                </m:sub>
                              </m:sSub>
                              <m:r>
                                <a:rPr lang="en-US" sz="2400" b="0" i="1" smtClean="0">
                                  <a:latin typeface="Cambria Math" panose="02040503050406030204" pitchFamily="18" charset="0"/>
                                  <a:ea typeface="Cambria Math" panose="02040503050406030204" pitchFamily="18" charset="0"/>
                                </a:rPr>
                                <m:t>]</m:t>
                              </m:r>
                            </m:sup>
                          </m:sSup>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m:t>
                              </m:r>
                            </m:e>
                          </m:d>
                        </m:e>
                      </m:d>
                    </m:oMath>
                  </m:oMathPara>
                </a14:m>
                <a:endParaRPr lang="en-US" sz="2400" dirty="0"/>
              </a:p>
            </p:txBody>
          </p:sp>
        </mc:Choice>
        <mc:Fallback xmlns="">
          <p:sp>
            <p:nvSpPr>
              <p:cNvPr id="118" name="Rectangle 117">
                <a:extLst>
                  <a:ext uri="{FF2B5EF4-FFF2-40B4-BE49-F238E27FC236}">
                    <a16:creationId xmlns:a16="http://schemas.microsoft.com/office/drawing/2014/main" id="{07133C20-C7D4-3345-AA7B-8E3CDF0F3C86}"/>
                  </a:ext>
                </a:extLst>
              </p:cNvPr>
              <p:cNvSpPr>
                <a:spLocks noRot="1" noChangeAspect="1" noMove="1" noResize="1" noEditPoints="1" noAdjustHandles="1" noChangeArrowheads="1" noChangeShapeType="1" noTextEdit="1"/>
              </p:cNvSpPr>
              <p:nvPr/>
            </p:nvSpPr>
            <p:spPr>
              <a:xfrm>
                <a:off x="1199473" y="5078109"/>
                <a:ext cx="3747436" cy="855299"/>
              </a:xfrm>
              <a:prstGeom prst="rect">
                <a:avLst/>
              </a:prstGeom>
              <a:blipFill>
                <a:blip r:embed="rId8"/>
                <a:stretch>
                  <a:fillRect t="-45588" r="-4377" b="-80882"/>
                </a:stretch>
              </a:blipFill>
            </p:spPr>
            <p:txBody>
              <a:bodyPr/>
              <a:lstStyle/>
              <a:p>
                <a:r>
                  <a:rPr lang="en-US">
                    <a:noFill/>
                  </a:rPr>
                  <a:t> </a:t>
                </a:r>
              </a:p>
            </p:txBody>
          </p:sp>
        </mc:Fallback>
      </mc:AlternateContent>
      <p:sp>
        <p:nvSpPr>
          <p:cNvPr id="119" name="Oval 118">
            <a:extLst>
              <a:ext uri="{FF2B5EF4-FFF2-40B4-BE49-F238E27FC236}">
                <a16:creationId xmlns:a16="http://schemas.microsoft.com/office/drawing/2014/main" id="{3D88A912-05D1-CB45-9383-27ED2D6E2051}"/>
              </a:ext>
            </a:extLst>
          </p:cNvPr>
          <p:cNvSpPr>
            <a:spLocks noChangeAspect="1"/>
          </p:cNvSpPr>
          <p:nvPr/>
        </p:nvSpPr>
        <p:spPr>
          <a:xfrm>
            <a:off x="335092" y="4415670"/>
            <a:ext cx="503999" cy="5039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2</a:t>
            </a:r>
          </a:p>
        </p:txBody>
      </p:sp>
      <p:sp>
        <p:nvSpPr>
          <p:cNvPr id="121" name="Oval 120">
            <a:extLst>
              <a:ext uri="{FF2B5EF4-FFF2-40B4-BE49-F238E27FC236}">
                <a16:creationId xmlns:a16="http://schemas.microsoft.com/office/drawing/2014/main" id="{BA178826-B347-374E-9D9C-745AB7009234}"/>
              </a:ext>
            </a:extLst>
          </p:cNvPr>
          <p:cNvSpPr>
            <a:spLocks noChangeAspect="1"/>
          </p:cNvSpPr>
          <p:nvPr/>
        </p:nvSpPr>
        <p:spPr>
          <a:xfrm>
            <a:off x="335092" y="3573250"/>
            <a:ext cx="503999" cy="5039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1</a:t>
            </a:r>
          </a:p>
        </p:txBody>
      </p:sp>
      <mc:AlternateContent xmlns:mc="http://schemas.openxmlformats.org/markup-compatibility/2006" xmlns:a14="http://schemas.microsoft.com/office/drawing/2010/main">
        <mc:Choice Requires="a14">
          <p:sp>
            <p:nvSpPr>
              <p:cNvPr id="122" name="Rectangle 121">
                <a:extLst>
                  <a:ext uri="{FF2B5EF4-FFF2-40B4-BE49-F238E27FC236}">
                    <a16:creationId xmlns:a16="http://schemas.microsoft.com/office/drawing/2014/main" id="{9FCF7D3F-D302-404B-96E9-66E7AD88D52D}"/>
                  </a:ext>
                </a:extLst>
              </p:cNvPr>
              <p:cNvSpPr/>
              <p:nvPr/>
            </p:nvSpPr>
            <p:spPr>
              <a:xfrm>
                <a:off x="1150100" y="3397599"/>
                <a:ext cx="3672094" cy="8552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ad>
                            <m:radPr>
                              <m:degHide m:val="on"/>
                              <m:ctrlPr>
                                <a:rPr lang="en-US" sz="2400" i="1">
                                  <a:latin typeface="Cambria Math" panose="02040503050406030204" pitchFamily="18" charset="0"/>
                                  <a:ea typeface="Cambria Math" panose="02040503050406030204" pitchFamily="18" charset="0"/>
                                </a:rPr>
                              </m:ctrlPr>
                            </m:radPr>
                            <m:deg/>
                            <m:e>
                              <m:r>
                                <a:rPr lang="en-US" sz="2400" i="1">
                                  <a:latin typeface="Cambria Math" panose="02040503050406030204" pitchFamily="18" charset="0"/>
                                  <a:ea typeface="Cambria Math" panose="02040503050406030204" pitchFamily="18" charset="0"/>
                                </a:rPr>
                                <m:t>2</m:t>
                              </m:r>
                            </m:e>
                          </m:rad>
                        </m:den>
                      </m:f>
                      <m:d>
                        <m:dPr>
                          <m:ctrlPr>
                            <a:rPr lang="en-US" sz="2400" i="1">
                              <a:latin typeface="Cambria Math" panose="02040503050406030204" pitchFamily="18" charset="0"/>
                              <a:ea typeface="Cambria Math" panose="02040503050406030204" pitchFamily="18" charset="0"/>
                            </a:rPr>
                          </m:ctrlPr>
                        </m:dPr>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b="0" i="1" smtClean="0">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r>
                                <a:rPr lang="en-US" sz="2400" b="0" i="1" smtClean="0">
                                  <a:latin typeface="Cambria Math" panose="02040503050406030204" pitchFamily="18" charset="0"/>
                                  <a:ea typeface="Cambria Math" panose="02040503050406030204" pitchFamily="18" charset="0"/>
                                </a:rPr>
                                <m:t>[0.</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1</m:t>
                                  </m:r>
                                </m:sub>
                              </m:sSub>
                              <m:r>
                                <a:rPr lang="en-US" sz="2400" i="1" smtClean="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𝑛</m:t>
                                  </m:r>
                                </m:sub>
                              </m:sSub>
                              <m:r>
                                <a:rPr lang="en-US" sz="2400" b="0" i="1" smtClean="0">
                                  <a:latin typeface="Cambria Math" panose="02040503050406030204" pitchFamily="18" charset="0"/>
                                  <a:ea typeface="Cambria Math" panose="02040503050406030204" pitchFamily="18" charset="0"/>
                                </a:rPr>
                                <m:t>]</m:t>
                              </m:r>
                            </m:sup>
                          </m:sSup>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m:t>
                              </m:r>
                            </m:e>
                          </m:d>
                        </m:e>
                      </m:d>
                    </m:oMath>
                  </m:oMathPara>
                </a14:m>
                <a:endParaRPr lang="en-US" sz="2400" dirty="0"/>
              </a:p>
            </p:txBody>
          </p:sp>
        </mc:Choice>
        <mc:Fallback xmlns="">
          <p:sp>
            <p:nvSpPr>
              <p:cNvPr id="122" name="Rectangle 121">
                <a:extLst>
                  <a:ext uri="{FF2B5EF4-FFF2-40B4-BE49-F238E27FC236}">
                    <a16:creationId xmlns:a16="http://schemas.microsoft.com/office/drawing/2014/main" id="{9FCF7D3F-D302-404B-96E9-66E7AD88D52D}"/>
                  </a:ext>
                </a:extLst>
              </p:cNvPr>
              <p:cNvSpPr>
                <a:spLocks noRot="1" noChangeAspect="1" noMove="1" noResize="1" noEditPoints="1" noAdjustHandles="1" noChangeArrowheads="1" noChangeShapeType="1" noTextEdit="1"/>
              </p:cNvSpPr>
              <p:nvPr/>
            </p:nvSpPr>
            <p:spPr>
              <a:xfrm>
                <a:off x="1150100" y="3397599"/>
                <a:ext cx="3672094" cy="855299"/>
              </a:xfrm>
              <a:prstGeom prst="rect">
                <a:avLst/>
              </a:prstGeom>
              <a:blipFill>
                <a:blip r:embed="rId9"/>
                <a:stretch>
                  <a:fillRect t="-47059" r="-4483" b="-808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Rectangle 122">
                <a:extLst>
                  <a:ext uri="{FF2B5EF4-FFF2-40B4-BE49-F238E27FC236}">
                    <a16:creationId xmlns:a16="http://schemas.microsoft.com/office/drawing/2014/main" id="{B889D3F5-80DC-C84E-B9F7-A49430EE9CF4}"/>
                  </a:ext>
                </a:extLst>
              </p:cNvPr>
              <p:cNvSpPr/>
              <p:nvPr/>
            </p:nvSpPr>
            <p:spPr>
              <a:xfrm>
                <a:off x="1150100" y="4246138"/>
                <a:ext cx="3712170" cy="8552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ad>
                            <m:radPr>
                              <m:degHide m:val="on"/>
                              <m:ctrlPr>
                                <a:rPr lang="en-US" sz="2400" i="1">
                                  <a:latin typeface="Cambria Math" panose="02040503050406030204" pitchFamily="18" charset="0"/>
                                  <a:ea typeface="Cambria Math" panose="02040503050406030204" pitchFamily="18" charset="0"/>
                                </a:rPr>
                              </m:ctrlPr>
                            </m:radPr>
                            <m:deg/>
                            <m:e>
                              <m:r>
                                <a:rPr lang="en-US" sz="2400" i="1">
                                  <a:latin typeface="Cambria Math" panose="02040503050406030204" pitchFamily="18" charset="0"/>
                                  <a:ea typeface="Cambria Math" panose="02040503050406030204" pitchFamily="18" charset="0"/>
                                </a:rPr>
                                <m:t>2</m:t>
                              </m:r>
                            </m:e>
                          </m:rad>
                        </m:den>
                      </m:f>
                      <m:d>
                        <m:dPr>
                          <m:ctrlPr>
                            <a:rPr lang="en-US" sz="2400" i="1">
                              <a:latin typeface="Cambria Math" panose="02040503050406030204" pitchFamily="18" charset="0"/>
                              <a:ea typeface="Cambria Math" panose="02040503050406030204" pitchFamily="18" charset="0"/>
                            </a:rPr>
                          </m:ctrlPr>
                        </m:dPr>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b="0" i="1" smtClean="0">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r>
                                <a:rPr lang="en-US" sz="2400" b="0" i="1" smtClean="0">
                                  <a:latin typeface="Cambria Math" panose="02040503050406030204" pitchFamily="18" charset="0"/>
                                  <a:ea typeface="Cambria Math" panose="02040503050406030204" pitchFamily="18" charset="0"/>
                                </a:rPr>
                                <m:t>[0.</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2</m:t>
                                  </m:r>
                                </m:sub>
                              </m:sSub>
                              <m:r>
                                <a:rPr lang="en-US" sz="2400" i="1" smtClean="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𝑛</m:t>
                                  </m:r>
                                </m:sub>
                              </m:sSub>
                              <m:r>
                                <a:rPr lang="en-US" sz="2400" b="0" i="1" smtClean="0">
                                  <a:latin typeface="Cambria Math" panose="02040503050406030204" pitchFamily="18" charset="0"/>
                                  <a:ea typeface="Cambria Math" panose="02040503050406030204" pitchFamily="18" charset="0"/>
                                </a:rPr>
                                <m:t>]</m:t>
                              </m:r>
                            </m:sup>
                          </m:sSup>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m:t>
                              </m:r>
                            </m:e>
                          </m:d>
                        </m:e>
                      </m:d>
                    </m:oMath>
                  </m:oMathPara>
                </a14:m>
                <a:endParaRPr lang="en-US" sz="2400" dirty="0"/>
              </a:p>
            </p:txBody>
          </p:sp>
        </mc:Choice>
        <mc:Fallback xmlns="">
          <p:sp>
            <p:nvSpPr>
              <p:cNvPr id="123" name="Rectangle 122">
                <a:extLst>
                  <a:ext uri="{FF2B5EF4-FFF2-40B4-BE49-F238E27FC236}">
                    <a16:creationId xmlns:a16="http://schemas.microsoft.com/office/drawing/2014/main" id="{B889D3F5-80DC-C84E-B9F7-A49430EE9CF4}"/>
                  </a:ext>
                </a:extLst>
              </p:cNvPr>
              <p:cNvSpPr>
                <a:spLocks noRot="1" noChangeAspect="1" noMove="1" noResize="1" noEditPoints="1" noAdjustHandles="1" noChangeArrowheads="1" noChangeShapeType="1" noTextEdit="1"/>
              </p:cNvSpPr>
              <p:nvPr/>
            </p:nvSpPr>
            <p:spPr>
              <a:xfrm>
                <a:off x="1150100" y="4246138"/>
                <a:ext cx="3712170" cy="855299"/>
              </a:xfrm>
              <a:prstGeom prst="rect">
                <a:avLst/>
              </a:prstGeom>
              <a:blipFill>
                <a:blip r:embed="rId10"/>
                <a:stretch>
                  <a:fillRect t="-44928" r="-4096" b="-782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217751EA-D237-9749-B34F-78C47894E228}"/>
                  </a:ext>
                </a:extLst>
              </p:cNvPr>
              <p:cNvSpPr/>
              <p:nvPr/>
            </p:nvSpPr>
            <p:spPr>
              <a:xfrm>
                <a:off x="6981676" y="540986"/>
                <a:ext cx="2663999" cy="772840"/>
              </a:xfrm>
              <a:prstGeom prst="rect">
                <a:avLst/>
              </a:prstGeom>
              <a:noFill/>
              <a:ln>
                <a:solidFill>
                  <a:srgbClr val="C00000"/>
                </a:solidFill>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solidFill>
                                <a:schemeClr val="tx1"/>
                              </a:solidFill>
                              <a:latin typeface="Cambria Math" panose="02040503050406030204" pitchFamily="18" charset="0"/>
                              <a:ea typeface="Cambria Math" panose="02040503050406030204" pitchFamily="18" charset="0"/>
                            </a:rPr>
                          </m:ctrlPr>
                        </m:sSubPr>
                        <m:e>
                          <m:r>
                            <a:rPr lang="en-US" sz="2400" b="0" i="1" smtClean="0">
                              <a:solidFill>
                                <a:schemeClr val="tx1"/>
                              </a:solidFill>
                              <a:latin typeface="Cambria Math" panose="02040503050406030204" pitchFamily="18" charset="0"/>
                              <a:ea typeface="Cambria Math" panose="02040503050406030204" pitchFamily="18" charset="0"/>
                            </a:rPr>
                            <m:t>𝑃</m:t>
                          </m:r>
                        </m:e>
                        <m:sub>
                          <m:r>
                            <a:rPr lang="en-US" sz="2400" b="0" i="1" smtClean="0">
                              <a:solidFill>
                                <a:schemeClr val="tx1"/>
                              </a:solidFill>
                              <a:latin typeface="Cambria Math" panose="02040503050406030204" pitchFamily="18" charset="0"/>
                              <a:ea typeface="Cambria Math" panose="02040503050406030204" pitchFamily="18" charset="0"/>
                            </a:rPr>
                            <m:t>𝑘</m:t>
                          </m:r>
                        </m:sub>
                      </m:sSub>
                      <m:r>
                        <a:rPr lang="en-US" sz="2400" b="0" i="1" smtClean="0">
                          <a:solidFill>
                            <a:schemeClr val="tx1"/>
                          </a:solidFill>
                          <a:latin typeface="Cambria Math" panose="02040503050406030204" pitchFamily="18" charset="0"/>
                          <a:ea typeface="Cambria Math" panose="02040503050406030204" pitchFamily="18" charset="0"/>
                        </a:rPr>
                        <m:t>=</m:t>
                      </m:r>
                      <m:d>
                        <m:dPr>
                          <m:ctrlPr>
                            <a:rPr lang="en-US" sz="2400" i="1">
                              <a:solidFill>
                                <a:schemeClr val="tx1"/>
                              </a:solidFill>
                              <a:latin typeface="Cambria Math" panose="02040503050406030204" pitchFamily="18" charset="0"/>
                              <a:ea typeface="Cambria Math" panose="02040503050406030204" pitchFamily="18" charset="0"/>
                            </a:rPr>
                          </m:ctrlPr>
                        </m:dPr>
                        <m:e>
                          <m:m>
                            <m:mPr>
                              <m:mcs>
                                <m:mc>
                                  <m:mcPr>
                                    <m:count m:val="2"/>
                                    <m:mcJc m:val="center"/>
                                  </m:mcPr>
                                </m:mc>
                              </m:mcs>
                              <m:ctrlPr>
                                <a:rPr lang="en-US" sz="2400" i="1">
                                  <a:solidFill>
                                    <a:schemeClr val="tx1"/>
                                  </a:solidFill>
                                  <a:latin typeface="Cambria Math" panose="02040503050406030204" pitchFamily="18" charset="0"/>
                                  <a:ea typeface="Cambria Math" panose="02040503050406030204" pitchFamily="18" charset="0"/>
                                </a:rPr>
                              </m:ctrlPr>
                            </m:mPr>
                            <m:mr>
                              <m:e>
                                <m:r>
                                  <m:rPr>
                                    <m:brk m:alnAt="7"/>
                                  </m:rPr>
                                  <a:rPr lang="en-US" sz="2400" b="0" i="1" smtClean="0">
                                    <a:solidFill>
                                      <a:schemeClr val="tx1"/>
                                    </a:solidFill>
                                    <a:latin typeface="Cambria Math" panose="02040503050406030204" pitchFamily="18" charset="0"/>
                                    <a:ea typeface="Cambria Math" panose="02040503050406030204" pitchFamily="18" charset="0"/>
                                  </a:rPr>
                                  <m:t>0</m:t>
                                </m:r>
                              </m:e>
                              <m:e>
                                <m:r>
                                  <a:rPr lang="en-US" sz="2400" b="0" i="1" smtClean="0">
                                    <a:solidFill>
                                      <a:schemeClr val="tx1"/>
                                    </a:solidFill>
                                    <a:latin typeface="Cambria Math" panose="02040503050406030204" pitchFamily="18" charset="0"/>
                                    <a:ea typeface="Cambria Math" panose="02040503050406030204" pitchFamily="18" charset="0"/>
                                  </a:rPr>
                                  <m:t>0</m:t>
                                </m:r>
                              </m:e>
                            </m:mr>
                            <m:mr>
                              <m:e>
                                <m:r>
                                  <a:rPr lang="en-US" sz="2400" b="0" i="1" smtClean="0">
                                    <a:solidFill>
                                      <a:schemeClr val="tx1"/>
                                    </a:solidFill>
                                    <a:latin typeface="Cambria Math" panose="02040503050406030204" pitchFamily="18" charset="0"/>
                                    <a:ea typeface="Cambria Math" panose="02040503050406030204" pitchFamily="18" charset="0"/>
                                  </a:rPr>
                                  <m:t>0</m:t>
                                </m:r>
                              </m:e>
                              <m:e>
                                <m:sSup>
                                  <m:sSupPr>
                                    <m:ctrlPr>
                                      <a:rPr lang="en-US" sz="2400" i="1" smtClean="0">
                                        <a:solidFill>
                                          <a:schemeClr val="tx1"/>
                                        </a:solidFill>
                                        <a:latin typeface="Cambria Math" panose="02040503050406030204" pitchFamily="18" charset="0"/>
                                        <a:ea typeface="Cambria Math" panose="02040503050406030204" pitchFamily="18" charset="0"/>
                                      </a:rPr>
                                    </m:ctrlPr>
                                  </m:sSupPr>
                                  <m:e>
                                    <m:r>
                                      <a:rPr lang="en-US" sz="2400" b="0" i="1" smtClean="0">
                                        <a:solidFill>
                                          <a:schemeClr val="tx1"/>
                                        </a:solidFill>
                                        <a:latin typeface="Cambria Math" panose="02040503050406030204" pitchFamily="18" charset="0"/>
                                        <a:ea typeface="Cambria Math" panose="02040503050406030204" pitchFamily="18" charset="0"/>
                                      </a:rPr>
                                      <m:t>𝑒</m:t>
                                    </m:r>
                                  </m:e>
                                  <m:sup>
                                    <m:r>
                                      <a:rPr lang="en-US" sz="2400" i="1">
                                        <a:solidFill>
                                          <a:schemeClr val="tx1"/>
                                        </a:solidFill>
                                        <a:latin typeface="Cambria Math" panose="02040503050406030204" pitchFamily="18" charset="0"/>
                                        <a:ea typeface="Cambria Math" panose="02040503050406030204" pitchFamily="18" charset="0"/>
                                      </a:rPr>
                                      <m:t>2</m:t>
                                    </m:r>
                                    <m:r>
                                      <a:rPr lang="en-US" sz="2400" i="1">
                                        <a:solidFill>
                                          <a:schemeClr val="tx1"/>
                                        </a:solidFill>
                                        <a:latin typeface="Cambria Math" panose="02040503050406030204" pitchFamily="18" charset="0"/>
                                        <a:ea typeface="Cambria Math" panose="02040503050406030204" pitchFamily="18" charset="0"/>
                                      </a:rPr>
                                      <m:t>𝜋</m:t>
                                    </m:r>
                                    <m:r>
                                      <a:rPr lang="en-US" sz="2400" i="1">
                                        <a:solidFill>
                                          <a:schemeClr val="tx1"/>
                                        </a:solidFill>
                                        <a:latin typeface="Cambria Math" panose="02040503050406030204" pitchFamily="18" charset="0"/>
                                        <a:ea typeface="Cambria Math" panose="02040503050406030204" pitchFamily="18" charset="0"/>
                                      </a:rPr>
                                      <m:t>𝑖</m:t>
                                    </m:r>
                                    <m:r>
                                      <a:rPr lang="en-US" sz="2400" b="0" i="1" smtClean="0">
                                        <a:solidFill>
                                          <a:schemeClr val="tx1"/>
                                        </a:solidFill>
                                        <a:latin typeface="Cambria Math" panose="02040503050406030204" pitchFamily="18" charset="0"/>
                                        <a:ea typeface="Cambria Math" panose="02040503050406030204" pitchFamily="18" charset="0"/>
                                      </a:rPr>
                                      <m:t>/</m:t>
                                    </m:r>
                                    <m:sSup>
                                      <m:sSupPr>
                                        <m:ctrlPr>
                                          <a:rPr lang="en-US" sz="2400" b="0" i="1" smtClean="0">
                                            <a:solidFill>
                                              <a:schemeClr val="tx1"/>
                                            </a:solidFill>
                                            <a:latin typeface="Cambria Math" panose="02040503050406030204" pitchFamily="18" charset="0"/>
                                            <a:ea typeface="Cambria Math" panose="02040503050406030204" pitchFamily="18" charset="0"/>
                                          </a:rPr>
                                        </m:ctrlPr>
                                      </m:sSupPr>
                                      <m:e>
                                        <m:r>
                                          <a:rPr lang="en-US" sz="2400" b="0" i="1" smtClean="0">
                                            <a:solidFill>
                                              <a:schemeClr val="tx1"/>
                                            </a:solidFill>
                                            <a:latin typeface="Cambria Math" panose="02040503050406030204" pitchFamily="18" charset="0"/>
                                            <a:ea typeface="Cambria Math" panose="02040503050406030204" pitchFamily="18" charset="0"/>
                                          </a:rPr>
                                          <m:t>2</m:t>
                                        </m:r>
                                      </m:e>
                                      <m:sup>
                                        <m:r>
                                          <a:rPr lang="en-US" sz="2400" b="0" i="1" smtClean="0">
                                            <a:solidFill>
                                              <a:schemeClr val="tx1"/>
                                            </a:solidFill>
                                            <a:latin typeface="Cambria Math" panose="02040503050406030204" pitchFamily="18" charset="0"/>
                                            <a:ea typeface="Cambria Math" panose="02040503050406030204" pitchFamily="18" charset="0"/>
                                          </a:rPr>
                                          <m:t>𝑘</m:t>
                                        </m:r>
                                      </m:sup>
                                    </m:sSup>
                                  </m:sup>
                                </m:sSup>
                              </m:e>
                            </m:mr>
                          </m:m>
                        </m:e>
                      </m:d>
                    </m:oMath>
                  </m:oMathPara>
                </a14:m>
                <a:endParaRPr lang="en-US" sz="2400" dirty="0">
                  <a:solidFill>
                    <a:schemeClr val="tx1"/>
                  </a:solidFill>
                </a:endParaRPr>
              </a:p>
            </p:txBody>
          </p:sp>
        </mc:Choice>
        <mc:Fallback xmlns="">
          <p:sp>
            <p:nvSpPr>
              <p:cNvPr id="4" name="Rectangle 3">
                <a:extLst>
                  <a:ext uri="{FF2B5EF4-FFF2-40B4-BE49-F238E27FC236}">
                    <a16:creationId xmlns:a16="http://schemas.microsoft.com/office/drawing/2014/main" id="{217751EA-D237-9749-B34F-78C47894E228}"/>
                  </a:ext>
                </a:extLst>
              </p:cNvPr>
              <p:cNvSpPr>
                <a:spLocks noRot="1" noChangeAspect="1" noMove="1" noResize="1" noEditPoints="1" noAdjustHandles="1" noChangeArrowheads="1" noChangeShapeType="1" noTextEdit="1"/>
              </p:cNvSpPr>
              <p:nvPr/>
            </p:nvSpPr>
            <p:spPr>
              <a:xfrm>
                <a:off x="6981676" y="540986"/>
                <a:ext cx="2663999" cy="772840"/>
              </a:xfrm>
              <a:prstGeom prst="rect">
                <a:avLst/>
              </a:prstGeom>
              <a:blipFill>
                <a:blip r:embed="rId11"/>
                <a:stretch>
                  <a:fillRect b="-4839"/>
                </a:stretch>
              </a:blipFill>
              <a:ln>
                <a:solidFill>
                  <a:srgbClr val="C00000"/>
                </a:solidFill>
              </a:ln>
            </p:spPr>
            <p:txBody>
              <a:bodyPr/>
              <a:lstStyle/>
              <a:p>
                <a:r>
                  <a:rPr lang="en-US">
                    <a:noFill/>
                  </a:rPr>
                  <a:t> </a:t>
                </a:r>
              </a:p>
            </p:txBody>
          </p:sp>
        </mc:Fallback>
      </mc:AlternateContent>
    </p:spTree>
    <p:extLst>
      <p:ext uri="{BB962C8B-B14F-4D97-AF65-F5344CB8AC3E}">
        <p14:creationId xmlns:p14="http://schemas.microsoft.com/office/powerpoint/2010/main" val="307283641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F23F356-5DB0-E142-B632-A99E5BE8469E}"/>
              </a:ext>
            </a:extLst>
          </p:cNvPr>
          <p:cNvSpPr txBox="1"/>
          <p:nvPr/>
        </p:nvSpPr>
        <p:spPr>
          <a:xfrm>
            <a:off x="274973" y="2306693"/>
            <a:ext cx="8114722" cy="1323439"/>
          </a:xfrm>
          <a:prstGeom prst="rect">
            <a:avLst/>
          </a:prstGeom>
          <a:noFill/>
        </p:spPr>
        <p:txBody>
          <a:bodyPr wrap="none" rtlCol="0">
            <a:spAutoFit/>
          </a:bodyPr>
          <a:lstStyle/>
          <a:p>
            <a:pPr algn="ctr"/>
            <a:r>
              <a:rPr lang="en-ZA" sz="4000" dirty="0">
                <a:latin typeface="Comic Sans MS" panose="030F0902030302020204" pitchFamily="66" charset="0"/>
              </a:rPr>
              <a:t>Alexei </a:t>
            </a:r>
            <a:r>
              <a:rPr lang="en-ZA" sz="4000" dirty="0" err="1">
                <a:latin typeface="Comic Sans MS" panose="030F0902030302020204" pitchFamily="66" charset="0"/>
              </a:rPr>
              <a:t>Kitaev’s</a:t>
            </a:r>
            <a:endParaRPr lang="en-ZA" sz="4000" dirty="0">
              <a:latin typeface="Comic Sans MS" panose="030F0902030302020204" pitchFamily="66" charset="0"/>
            </a:endParaRPr>
          </a:p>
          <a:p>
            <a:pPr algn="ctr"/>
            <a:r>
              <a:rPr lang="en-ZA" sz="4000" dirty="0">
                <a:latin typeface="Comic Sans MS" panose="030F0902030302020204" pitchFamily="66" charset="0"/>
              </a:rPr>
              <a:t>Quantum Phase Estimation (QPE)</a:t>
            </a:r>
            <a:endParaRPr lang="en-US" sz="4000" dirty="0">
              <a:latin typeface="Comic Sans MS" panose="030F0902030302020204" pitchFamily="66" charset="0"/>
            </a:endParaRPr>
          </a:p>
        </p:txBody>
      </p:sp>
      <p:sp>
        <p:nvSpPr>
          <p:cNvPr id="6" name="TextBox 5">
            <a:extLst>
              <a:ext uri="{FF2B5EF4-FFF2-40B4-BE49-F238E27FC236}">
                <a16:creationId xmlns:a16="http://schemas.microsoft.com/office/drawing/2014/main" id="{9C8B7044-DAE4-3B4F-99B5-53CDBB9A9749}"/>
              </a:ext>
            </a:extLst>
          </p:cNvPr>
          <p:cNvSpPr txBox="1"/>
          <p:nvPr/>
        </p:nvSpPr>
        <p:spPr>
          <a:xfrm>
            <a:off x="7643867" y="5694765"/>
            <a:ext cx="3844322" cy="461665"/>
          </a:xfrm>
          <a:prstGeom prst="rect">
            <a:avLst/>
          </a:prstGeom>
          <a:noFill/>
        </p:spPr>
        <p:txBody>
          <a:bodyPr wrap="none" rtlCol="0">
            <a:spAutoFit/>
          </a:bodyPr>
          <a:lstStyle/>
          <a:p>
            <a:r>
              <a:rPr lang="en-ZA" sz="2400" dirty="0">
                <a:latin typeface="Comic Sans MS" panose="030F0902030302020204" pitchFamily="66" charset="0"/>
              </a:rPr>
              <a:t>Alexei </a:t>
            </a:r>
            <a:r>
              <a:rPr lang="en-ZA" sz="2400" dirty="0" err="1">
                <a:latin typeface="Comic Sans MS" panose="030F0902030302020204" pitchFamily="66" charset="0"/>
              </a:rPr>
              <a:t>Kitaev</a:t>
            </a:r>
            <a:r>
              <a:rPr lang="en-US" sz="2400" dirty="0">
                <a:latin typeface="Comic Sans MS" panose="030F0902030302020204" pitchFamily="66" charset="0"/>
              </a:rPr>
              <a:t> (born 1963)</a:t>
            </a:r>
          </a:p>
        </p:txBody>
      </p:sp>
      <p:pic>
        <p:nvPicPr>
          <p:cNvPr id="2" name="Picture 1">
            <a:extLst>
              <a:ext uri="{FF2B5EF4-FFF2-40B4-BE49-F238E27FC236}">
                <a16:creationId xmlns:a16="http://schemas.microsoft.com/office/drawing/2014/main" id="{020A00A4-CFD7-0B4E-8862-CB841BFBA836}"/>
              </a:ext>
            </a:extLst>
          </p:cNvPr>
          <p:cNvPicPr>
            <a:picLocks noChangeAspect="1"/>
          </p:cNvPicPr>
          <p:nvPr/>
        </p:nvPicPr>
        <p:blipFill>
          <a:blip r:embed="rId3"/>
          <a:stretch>
            <a:fillRect/>
          </a:stretch>
        </p:blipFill>
        <p:spPr>
          <a:xfrm>
            <a:off x="8050788" y="1343535"/>
            <a:ext cx="3437401" cy="4351230"/>
          </a:xfrm>
          <a:prstGeom prst="rect">
            <a:avLst/>
          </a:prstGeom>
        </p:spPr>
      </p:pic>
      <p:sp>
        <p:nvSpPr>
          <p:cNvPr id="9" name="Slide Number Placeholder 2">
            <a:extLst>
              <a:ext uri="{FF2B5EF4-FFF2-40B4-BE49-F238E27FC236}">
                <a16:creationId xmlns:a16="http://schemas.microsoft.com/office/drawing/2014/main" id="{3517A205-160B-9C4D-A06F-7AA3AAA108E9}"/>
              </a:ext>
            </a:extLst>
          </p:cNvPr>
          <p:cNvSpPr>
            <a:spLocks noGrp="1"/>
          </p:cNvSpPr>
          <p:nvPr>
            <p:ph type="sldNum" sz="quarter" idx="12"/>
          </p:nvPr>
        </p:nvSpPr>
        <p:spPr>
          <a:xfrm>
            <a:off x="0" y="6492875"/>
            <a:ext cx="587829" cy="365125"/>
          </a:xfrm>
        </p:spPr>
        <p:txBody>
          <a:bodyPr/>
          <a:lstStyle/>
          <a:p>
            <a:pPr algn="l"/>
            <a:fld id="{591A223C-FA10-BC46-A853-03BA373D023C}" type="slidenum">
              <a:rPr lang="en-US" smtClean="0"/>
              <a:pPr algn="l"/>
              <a:t>67</a:t>
            </a:fld>
            <a:endParaRPr lang="en-US" dirty="0"/>
          </a:p>
        </p:txBody>
      </p:sp>
    </p:spTree>
    <p:extLst>
      <p:ext uri="{BB962C8B-B14F-4D97-AF65-F5344CB8AC3E}">
        <p14:creationId xmlns:p14="http://schemas.microsoft.com/office/powerpoint/2010/main" val="27014925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05754-384B-1F46-87B3-74E533830A52}"/>
              </a:ext>
            </a:extLst>
          </p:cNvPr>
          <p:cNvSpPr>
            <a:spLocks noGrp="1"/>
          </p:cNvSpPr>
          <p:nvPr>
            <p:ph type="title"/>
          </p:nvPr>
        </p:nvSpPr>
        <p:spPr/>
        <p:txBody>
          <a:bodyPr/>
          <a:lstStyle/>
          <a:p>
            <a:r>
              <a:rPr lang="en-ZA" dirty="0"/>
              <a:t>Quantum Phase Estimation (QPE)</a:t>
            </a:r>
            <a:endParaRPr lang="en-US" dirty="0"/>
          </a:p>
        </p:txBody>
      </p:sp>
      <p:sp>
        <p:nvSpPr>
          <p:cNvPr id="3" name="Slide Number Placeholder 2">
            <a:extLst>
              <a:ext uri="{FF2B5EF4-FFF2-40B4-BE49-F238E27FC236}">
                <a16:creationId xmlns:a16="http://schemas.microsoft.com/office/drawing/2014/main" id="{896F8F13-76C5-3E44-AAAC-4891555A9AD8}"/>
              </a:ext>
            </a:extLst>
          </p:cNvPr>
          <p:cNvSpPr>
            <a:spLocks noGrp="1"/>
          </p:cNvSpPr>
          <p:nvPr>
            <p:ph type="sldNum" sz="quarter" idx="12"/>
          </p:nvPr>
        </p:nvSpPr>
        <p:spPr/>
        <p:txBody>
          <a:bodyPr/>
          <a:lstStyle/>
          <a:p>
            <a:fld id="{591A223C-FA10-BC46-A853-03BA373D023C}" type="slidenum">
              <a:rPr lang="en-US" smtClean="0"/>
              <a:t>68</a:t>
            </a:fld>
            <a:endParaRPr lang="en-US" dirty="0"/>
          </a:p>
        </p:txBody>
      </p:sp>
      <p:grpSp>
        <p:nvGrpSpPr>
          <p:cNvPr id="11" name="Group 10">
            <a:extLst>
              <a:ext uri="{FF2B5EF4-FFF2-40B4-BE49-F238E27FC236}">
                <a16:creationId xmlns:a16="http://schemas.microsoft.com/office/drawing/2014/main" id="{7B7A9BD3-1F4C-784D-9B13-6FCB59040008}"/>
              </a:ext>
            </a:extLst>
          </p:cNvPr>
          <p:cNvGrpSpPr/>
          <p:nvPr/>
        </p:nvGrpSpPr>
        <p:grpSpPr>
          <a:xfrm>
            <a:off x="12663" y="988870"/>
            <a:ext cx="9424055" cy="934683"/>
            <a:chOff x="268013" y="1111723"/>
            <a:chExt cx="9424055" cy="934683"/>
          </a:xfrm>
        </p:grpSpPr>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F40BE954-D4DD-E24E-B6D4-34F8AAC90841}"/>
                    </a:ext>
                  </a:extLst>
                </p:cNvPr>
                <p:cNvSpPr/>
                <p:nvPr/>
              </p:nvSpPr>
              <p:spPr>
                <a:xfrm>
                  <a:off x="1833506" y="1467721"/>
                  <a:ext cx="7858562" cy="578685"/>
                </a:xfrm>
                <a:prstGeom prst="rect">
                  <a:avLst/>
                </a:prstGeom>
              </p:spPr>
              <p:txBody>
                <a:bodyPr wrap="none">
                  <a:spAutoFit/>
                </a:bodyPr>
                <a:lstStyle/>
                <a:p>
                  <a14:m>
                    <m:oMath xmlns:m="http://schemas.openxmlformats.org/officeDocument/2006/math">
                      <m:r>
                        <a:rPr lang="en-US" sz="2800" b="0" i="1" smtClean="0">
                          <a:latin typeface="Cambria Math" panose="02040503050406030204" pitchFamily="18" charset="0"/>
                          <a:ea typeface="Cambria Math" panose="02040503050406030204" pitchFamily="18" charset="0"/>
                        </a:rPr>
                        <m:t>𝑈</m:t>
                      </m:r>
                      <m:d>
                        <m:dPr>
                          <m:begChr m:val=""/>
                          <m:endChr m:val="⟩"/>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𝑢</m:t>
                          </m:r>
                        </m:e>
                      </m:d>
                      <m:r>
                        <a:rPr lang="en-US" sz="2800" b="0" i="1" smtClean="0">
                          <a:latin typeface="Cambria Math" panose="02040503050406030204" pitchFamily="18" charset="0"/>
                          <a:ea typeface="Cambria Math" panose="02040503050406030204" pitchFamily="18" charset="0"/>
                        </a:rPr>
                        <m:t>=</m:t>
                      </m:r>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𝑒</m:t>
                          </m:r>
                        </m:e>
                        <m:sup>
                          <m:r>
                            <a:rPr lang="en-US" sz="2800" b="0" i="1" smtClean="0">
                              <a:latin typeface="Cambria Math" panose="02040503050406030204" pitchFamily="18" charset="0"/>
                              <a:ea typeface="Cambria Math" panose="02040503050406030204" pitchFamily="18" charset="0"/>
                            </a:rPr>
                            <m:t>2</m:t>
                          </m:r>
                          <m:r>
                            <a:rPr lang="en-US" sz="2800" b="0" i="1" smtClean="0">
                              <a:latin typeface="Cambria Math" panose="02040503050406030204" pitchFamily="18" charset="0"/>
                              <a:ea typeface="Cambria Math" panose="02040503050406030204" pitchFamily="18" charset="0"/>
                            </a:rPr>
                            <m:t>𝜋</m:t>
                          </m:r>
                          <m:r>
                            <a:rPr lang="en-US" sz="2800" b="0" i="1" smtClean="0">
                              <a:latin typeface="Cambria Math" panose="02040503050406030204" pitchFamily="18" charset="0"/>
                              <a:ea typeface="Cambria Math" panose="02040503050406030204" pitchFamily="18" charset="0"/>
                            </a:rPr>
                            <m:t>𝑖</m:t>
                          </m:r>
                          <m:r>
                            <a:rPr lang="en-US" sz="2800" b="0" i="1" smtClean="0">
                              <a:solidFill>
                                <a:srgbClr val="C00000"/>
                              </a:solidFill>
                              <a:latin typeface="Cambria Math" panose="02040503050406030204" pitchFamily="18" charset="0"/>
                              <a:ea typeface="Cambria Math" panose="02040503050406030204" pitchFamily="18" charset="0"/>
                            </a:rPr>
                            <m:t>𝜑</m:t>
                          </m:r>
                        </m:sup>
                      </m:sSup>
                    </m:oMath>
                  </a14:m>
                  <a:r>
                    <a:rPr lang="en-US" sz="2800" dirty="0">
                      <a:ea typeface="Cambria Math" panose="02040503050406030204" pitchFamily="18" charset="0"/>
                    </a:rPr>
                    <a:t> </a:t>
                  </a:r>
                  <a14:m>
                    <m:oMath xmlns:m="http://schemas.openxmlformats.org/officeDocument/2006/math">
                      <m:d>
                        <m:dPr>
                          <m:begChr m:val=""/>
                          <m:endChr m:val="⟩"/>
                          <m:ctrlPr>
                            <a:rPr lang="en-US" sz="2800" i="1">
                              <a:latin typeface="Cambria Math" panose="02040503050406030204" pitchFamily="18" charset="0"/>
                              <a:ea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𝑢</m:t>
                          </m:r>
                        </m:e>
                      </m:d>
                      <m:r>
                        <a:rPr lang="en-US" sz="2800" b="0" i="0" smtClean="0">
                          <a:latin typeface="Cambria Math" panose="02040503050406030204" pitchFamily="18" charset="0"/>
                          <a:ea typeface="Cambria Math" panose="02040503050406030204" pitchFamily="18" charset="0"/>
                        </a:rPr>
                        <m:t>,    </m:t>
                      </m:r>
                      <m:r>
                        <a:rPr lang="sr-Latn-RS" sz="2800" b="0" i="0" smtClean="0">
                          <a:latin typeface="Cambria Math" panose="02040503050406030204" pitchFamily="18" charset="0"/>
                          <a:ea typeface="Cambria Math" panose="02040503050406030204" pitchFamily="18" charset="0"/>
                        </a:rPr>
                        <m:t>             </m:t>
                      </m:r>
                      <m:r>
                        <a:rPr lang="en-US" sz="2800" b="0" i="0" smtClean="0">
                          <a:latin typeface="Cambria Math" panose="02040503050406030204" pitchFamily="18" charset="0"/>
                          <a:ea typeface="Cambria Math" panose="02040503050406030204" pitchFamily="18" charset="0"/>
                        </a:rPr>
                        <m:t>0</m:t>
                      </m:r>
                      <m:r>
                        <a:rPr lang="en-US" sz="2800" b="0" i="1" smtClean="0">
                          <a:latin typeface="Cambria Math" panose="02040503050406030204" pitchFamily="18" charset="0"/>
                          <a:ea typeface="Cambria Math" panose="02040503050406030204" pitchFamily="18" charset="0"/>
                        </a:rPr>
                        <m:t>≤</m:t>
                      </m:r>
                      <m:r>
                        <a:rPr lang="en-US" sz="2800" i="1" smtClean="0">
                          <a:solidFill>
                            <a:schemeClr val="tx1"/>
                          </a:solidFill>
                          <a:latin typeface="Cambria Math" panose="02040503050406030204" pitchFamily="18" charset="0"/>
                          <a:ea typeface="Cambria Math" panose="02040503050406030204" pitchFamily="18" charset="0"/>
                        </a:rPr>
                        <m:t>𝜑</m:t>
                      </m:r>
                      <m:r>
                        <a:rPr lang="en-US" sz="2800" dirty="0">
                          <a:latin typeface="Cambria Math" panose="02040503050406030204" pitchFamily="18" charset="0"/>
                        </a:rPr>
                        <m:t>&lt;</m:t>
                      </m:r>
                      <m:r>
                        <a:rPr lang="en-US" sz="2800" b="0" i="0" dirty="0" smtClean="0">
                          <a:latin typeface="Cambria Math" panose="02040503050406030204" pitchFamily="18" charset="0"/>
                        </a:rPr>
                        <m:t>1,    </m:t>
                      </m:r>
                      <m:d>
                        <m:dPr>
                          <m:begChr m:val="|"/>
                          <m:endChr m:val="|"/>
                          <m:ctrlPr>
                            <a:rPr lang="en-US" sz="2800" b="0" i="1" dirty="0" smtClean="0">
                              <a:latin typeface="Cambria Math" panose="02040503050406030204" pitchFamily="18" charset="0"/>
                            </a:rPr>
                          </m:ctrlPr>
                        </m:dPr>
                        <m:e>
                          <m:sSup>
                            <m:sSupPr>
                              <m:ctrlPr>
                                <a:rPr lang="en-U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𝑒</m:t>
                              </m:r>
                            </m:e>
                            <m:sup>
                              <m:r>
                                <a:rPr lang="en-US" sz="2800" i="1">
                                  <a:latin typeface="Cambria Math" panose="02040503050406030204" pitchFamily="18" charset="0"/>
                                  <a:ea typeface="Cambria Math" panose="02040503050406030204" pitchFamily="18" charset="0"/>
                                </a:rPr>
                                <m:t>2</m:t>
                              </m:r>
                              <m:r>
                                <a:rPr lang="en-US" sz="2800" i="1">
                                  <a:latin typeface="Cambria Math" panose="02040503050406030204" pitchFamily="18" charset="0"/>
                                  <a:ea typeface="Cambria Math" panose="02040503050406030204" pitchFamily="18" charset="0"/>
                                </a:rPr>
                                <m:t>𝜋</m:t>
                              </m:r>
                              <m:r>
                                <a:rPr lang="en-US" sz="2800" i="1">
                                  <a:latin typeface="Cambria Math" panose="02040503050406030204" pitchFamily="18" charset="0"/>
                                  <a:ea typeface="Cambria Math" panose="02040503050406030204" pitchFamily="18" charset="0"/>
                                </a:rPr>
                                <m:t>𝑖</m:t>
                              </m:r>
                              <m:r>
                                <a:rPr lang="en-US" sz="2800" i="1">
                                  <a:latin typeface="Cambria Math" panose="02040503050406030204" pitchFamily="18" charset="0"/>
                                  <a:ea typeface="Cambria Math" panose="02040503050406030204" pitchFamily="18" charset="0"/>
                                </a:rPr>
                                <m:t>𝜑</m:t>
                              </m:r>
                            </m:sup>
                          </m:sSup>
                        </m:e>
                      </m:d>
                      <m:r>
                        <a:rPr lang="en-US" sz="2800" b="0" i="1" dirty="0" smtClean="0">
                          <a:latin typeface="Cambria Math" panose="02040503050406030204" pitchFamily="18" charset="0"/>
                        </a:rPr>
                        <m:t>=1</m:t>
                      </m:r>
                    </m:oMath>
                  </a14:m>
                  <a:endParaRPr lang="en-US" sz="2800" dirty="0"/>
                </a:p>
              </p:txBody>
            </p:sp>
          </mc:Choice>
          <mc:Fallback xmlns="">
            <p:sp>
              <p:nvSpPr>
                <p:cNvPr id="7" name="Rectangle 6">
                  <a:extLst>
                    <a:ext uri="{FF2B5EF4-FFF2-40B4-BE49-F238E27FC236}">
                      <a16:creationId xmlns:a16="http://schemas.microsoft.com/office/drawing/2014/main" id="{F40BE954-D4DD-E24E-B6D4-34F8AAC90841}"/>
                    </a:ext>
                  </a:extLst>
                </p:cNvPr>
                <p:cNvSpPr>
                  <a:spLocks noRot="1" noChangeAspect="1" noMove="1" noResize="1" noEditPoints="1" noAdjustHandles="1" noChangeArrowheads="1" noChangeShapeType="1" noTextEdit="1"/>
                </p:cNvSpPr>
                <p:nvPr/>
              </p:nvSpPr>
              <p:spPr>
                <a:xfrm>
                  <a:off x="1833506" y="1467721"/>
                  <a:ext cx="7858562" cy="578685"/>
                </a:xfrm>
                <a:prstGeom prst="rect">
                  <a:avLst/>
                </a:prstGeom>
                <a:blipFill>
                  <a:blip r:embed="rId3"/>
                  <a:stretch>
                    <a:fillRect l="-323" t="-115217" b="-180435"/>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5A2D8D28-14D5-974C-A6A6-FA73B2F7A196}"/>
                </a:ext>
              </a:extLst>
            </p:cNvPr>
            <p:cNvSpPr txBox="1"/>
            <p:nvPr/>
          </p:nvSpPr>
          <p:spPr>
            <a:xfrm>
              <a:off x="268013" y="1467721"/>
              <a:ext cx="1565493" cy="523220"/>
            </a:xfrm>
            <a:prstGeom prst="rect">
              <a:avLst/>
            </a:prstGeom>
            <a:noFill/>
          </p:spPr>
          <p:txBody>
            <a:bodyPr wrap="none" rtlCol="0">
              <a:spAutoFit/>
            </a:bodyPr>
            <a:lstStyle/>
            <a:p>
              <a:r>
                <a:rPr lang="en-US" sz="2800" dirty="0">
                  <a:latin typeface="+mj-lt"/>
                </a:rPr>
                <a:t>Problem</a:t>
              </a:r>
              <a:r>
                <a:rPr lang="en-US" sz="2400" dirty="0"/>
                <a:t>: </a:t>
              </a:r>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F104ED50-028D-D54C-B760-C670D7A624A8}"/>
                    </a:ext>
                  </a:extLst>
                </p:cNvPr>
                <p:cNvSpPr/>
                <p:nvPr/>
              </p:nvSpPr>
              <p:spPr>
                <a:xfrm>
                  <a:off x="3652211" y="1111723"/>
                  <a:ext cx="41870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C00000"/>
                            </a:solidFill>
                            <a:latin typeface="Cambria Math" panose="02040503050406030204" pitchFamily="18" charset="0"/>
                            <a:ea typeface="Cambria Math" panose="02040503050406030204" pitchFamily="18" charset="0"/>
                          </a:rPr>
                          <m:t>?</m:t>
                        </m:r>
                      </m:oMath>
                    </m:oMathPara>
                  </a14:m>
                  <a:endParaRPr lang="en-US" sz="2800" dirty="0">
                    <a:solidFill>
                      <a:srgbClr val="C00000"/>
                    </a:solidFill>
                  </a:endParaRPr>
                </a:p>
              </p:txBody>
            </p:sp>
          </mc:Choice>
          <mc:Fallback xmlns="">
            <p:sp>
              <p:nvSpPr>
                <p:cNvPr id="10" name="Rectangle 9">
                  <a:extLst>
                    <a:ext uri="{FF2B5EF4-FFF2-40B4-BE49-F238E27FC236}">
                      <a16:creationId xmlns:a16="http://schemas.microsoft.com/office/drawing/2014/main" id="{F104ED50-028D-D54C-B760-C670D7A624A8}"/>
                    </a:ext>
                  </a:extLst>
                </p:cNvPr>
                <p:cNvSpPr>
                  <a:spLocks noRot="1" noChangeAspect="1" noMove="1" noResize="1" noEditPoints="1" noAdjustHandles="1" noChangeArrowheads="1" noChangeShapeType="1" noTextEdit="1"/>
                </p:cNvSpPr>
                <p:nvPr/>
              </p:nvSpPr>
              <p:spPr>
                <a:xfrm>
                  <a:off x="3652211" y="1111723"/>
                  <a:ext cx="418704" cy="523220"/>
                </a:xfrm>
                <a:prstGeom prst="rect">
                  <a:avLst/>
                </a:prstGeom>
                <a:blipFill>
                  <a:blip r:embed="rId4"/>
                  <a:stretch>
                    <a:fillRect/>
                  </a:stretch>
                </a:blipFill>
              </p:spPr>
              <p:txBody>
                <a:bodyPr/>
                <a:lstStyle/>
                <a:p>
                  <a:r>
                    <a:rPr lang="en-US">
                      <a:noFill/>
                    </a:rPr>
                    <a:t> </a:t>
                  </a:r>
                </a:p>
              </p:txBody>
            </p:sp>
          </mc:Fallback>
        </mc:AlternateContent>
      </p:grpSp>
      <p:grpSp>
        <p:nvGrpSpPr>
          <p:cNvPr id="4" name="Group 3">
            <a:extLst>
              <a:ext uri="{FF2B5EF4-FFF2-40B4-BE49-F238E27FC236}">
                <a16:creationId xmlns:a16="http://schemas.microsoft.com/office/drawing/2014/main" id="{5B5633AC-C96F-1C4B-B402-F0593B4F36EE}"/>
              </a:ext>
            </a:extLst>
          </p:cNvPr>
          <p:cNvGrpSpPr/>
          <p:nvPr/>
        </p:nvGrpSpPr>
        <p:grpSpPr>
          <a:xfrm>
            <a:off x="-74106" y="2220687"/>
            <a:ext cx="9776827" cy="4203866"/>
            <a:chOff x="-74106" y="2220687"/>
            <a:chExt cx="9776827" cy="4203866"/>
          </a:xfrm>
        </p:grpSpPr>
        <p:cxnSp>
          <p:nvCxnSpPr>
            <p:cNvPr id="96" name="Straight Connector 95">
              <a:extLst>
                <a:ext uri="{FF2B5EF4-FFF2-40B4-BE49-F238E27FC236}">
                  <a16:creationId xmlns:a16="http://schemas.microsoft.com/office/drawing/2014/main" id="{7942C6FB-9FCA-D342-BF0E-03CBD2228018}"/>
                </a:ext>
              </a:extLst>
            </p:cNvPr>
            <p:cNvCxnSpPr>
              <a:cxnSpLocks/>
            </p:cNvCxnSpPr>
            <p:nvPr/>
          </p:nvCxnSpPr>
          <p:spPr>
            <a:xfrm>
              <a:off x="6278733" y="5819494"/>
              <a:ext cx="172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15F85D54-BA1F-9C44-8E40-EE4C20EE5D62}"/>
                </a:ext>
              </a:extLst>
            </p:cNvPr>
            <p:cNvCxnSpPr>
              <a:cxnSpLocks/>
            </p:cNvCxnSpPr>
            <p:nvPr/>
          </p:nvCxnSpPr>
          <p:spPr>
            <a:xfrm>
              <a:off x="6278733" y="5960960"/>
              <a:ext cx="172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9055CFDD-9B77-0D45-8507-F5A974DC5586}"/>
                </a:ext>
              </a:extLst>
            </p:cNvPr>
            <p:cNvCxnSpPr>
              <a:cxnSpLocks/>
            </p:cNvCxnSpPr>
            <p:nvPr/>
          </p:nvCxnSpPr>
          <p:spPr>
            <a:xfrm>
              <a:off x="6278733" y="6332615"/>
              <a:ext cx="172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7457169-21E3-5241-BEF2-F7DB4AA65645}"/>
                </a:ext>
              </a:extLst>
            </p:cNvPr>
            <p:cNvCxnSpPr>
              <a:cxnSpLocks/>
            </p:cNvCxnSpPr>
            <p:nvPr/>
          </p:nvCxnSpPr>
          <p:spPr>
            <a:xfrm flipV="1">
              <a:off x="1782721" y="3547305"/>
              <a:ext cx="79200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5E43183-7D76-CD4E-925E-F3393E1D1265}"/>
                </a:ext>
              </a:extLst>
            </p:cNvPr>
            <p:cNvCxnSpPr>
              <a:cxnSpLocks/>
            </p:cNvCxnSpPr>
            <p:nvPr/>
          </p:nvCxnSpPr>
          <p:spPr>
            <a:xfrm flipV="1">
              <a:off x="1782721" y="2583598"/>
              <a:ext cx="79200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4663E209-528F-B944-9705-8CA19ACAFB0F}"/>
                </a:ext>
              </a:extLst>
            </p:cNvPr>
            <p:cNvSpPr/>
            <p:nvPr/>
          </p:nvSpPr>
          <p:spPr>
            <a:xfrm>
              <a:off x="2097975" y="2220687"/>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atin typeface="Times" pitchFamily="2" charset="0"/>
                </a:rPr>
                <a:t>H</a:t>
              </a:r>
            </a:p>
          </p:txBody>
        </p:sp>
        <p:grpSp>
          <p:nvGrpSpPr>
            <p:cNvPr id="26" name="Group 25">
              <a:extLst>
                <a:ext uri="{FF2B5EF4-FFF2-40B4-BE49-F238E27FC236}">
                  <a16:creationId xmlns:a16="http://schemas.microsoft.com/office/drawing/2014/main" id="{31631985-3345-E447-826A-B230D32C6AB7}"/>
                </a:ext>
              </a:extLst>
            </p:cNvPr>
            <p:cNvGrpSpPr/>
            <p:nvPr/>
          </p:nvGrpSpPr>
          <p:grpSpPr>
            <a:xfrm>
              <a:off x="3455010" y="2457639"/>
              <a:ext cx="251999" cy="3272367"/>
              <a:chOff x="8030221" y="-480371"/>
              <a:chExt cx="251999" cy="3272367"/>
            </a:xfrm>
          </p:grpSpPr>
          <p:cxnSp>
            <p:nvCxnSpPr>
              <p:cNvPr id="37" name="Straight Connector 36">
                <a:extLst>
                  <a:ext uri="{FF2B5EF4-FFF2-40B4-BE49-F238E27FC236}">
                    <a16:creationId xmlns:a16="http://schemas.microsoft.com/office/drawing/2014/main" id="{4F91FC90-7A01-1A48-966C-265CDED05940}"/>
                  </a:ext>
                </a:extLst>
              </p:cNvPr>
              <p:cNvCxnSpPr>
                <a:cxnSpLocks/>
              </p:cNvCxnSpPr>
              <p:nvPr/>
            </p:nvCxnSpPr>
            <p:spPr>
              <a:xfrm flipV="1">
                <a:off x="8152027" y="-207710"/>
                <a:ext cx="4193" cy="2999706"/>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7637487B-7259-8442-94EF-3B9C78B9F5E0}"/>
                  </a:ext>
                </a:extLst>
              </p:cNvPr>
              <p:cNvSpPr/>
              <p:nvPr/>
            </p:nvSpPr>
            <p:spPr>
              <a:xfrm>
                <a:off x="8030221" y="-480371"/>
                <a:ext cx="251999" cy="25199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3" name="Straight Connector 42">
              <a:extLst>
                <a:ext uri="{FF2B5EF4-FFF2-40B4-BE49-F238E27FC236}">
                  <a16:creationId xmlns:a16="http://schemas.microsoft.com/office/drawing/2014/main" id="{53091CDA-5925-754F-B721-161C5B163571}"/>
                </a:ext>
              </a:extLst>
            </p:cNvPr>
            <p:cNvCxnSpPr>
              <a:cxnSpLocks/>
            </p:cNvCxnSpPr>
            <p:nvPr/>
          </p:nvCxnSpPr>
          <p:spPr>
            <a:xfrm>
              <a:off x="1758319" y="5819428"/>
              <a:ext cx="39600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C7E1C72-BFB3-6540-9BA8-5A705ECC5497}"/>
                </a:ext>
              </a:extLst>
            </p:cNvPr>
            <p:cNvCxnSpPr>
              <a:cxnSpLocks/>
            </p:cNvCxnSpPr>
            <p:nvPr/>
          </p:nvCxnSpPr>
          <p:spPr>
            <a:xfrm flipV="1">
              <a:off x="1782721" y="5108582"/>
              <a:ext cx="79200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06706F23-77DC-2B4B-A6EB-169B9AAFB69C}"/>
                </a:ext>
              </a:extLst>
            </p:cNvPr>
            <p:cNvSpPr/>
            <p:nvPr/>
          </p:nvSpPr>
          <p:spPr>
            <a:xfrm>
              <a:off x="2097975" y="3192272"/>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atin typeface="Times" pitchFamily="2" charset="0"/>
                </a:rPr>
                <a:t>H</a:t>
              </a:r>
            </a:p>
          </p:txBody>
        </p:sp>
        <p:sp>
          <p:nvSpPr>
            <p:cNvPr id="46" name="Rectangle 45">
              <a:extLst>
                <a:ext uri="{FF2B5EF4-FFF2-40B4-BE49-F238E27FC236}">
                  <a16:creationId xmlns:a16="http://schemas.microsoft.com/office/drawing/2014/main" id="{0F9CD7EA-4464-5340-B296-54A2DEA96B8A}"/>
                </a:ext>
              </a:extLst>
            </p:cNvPr>
            <p:cNvSpPr/>
            <p:nvPr/>
          </p:nvSpPr>
          <p:spPr>
            <a:xfrm>
              <a:off x="2097975" y="4748582"/>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atin typeface="Times" pitchFamily="2" charset="0"/>
                </a:rPr>
                <a:t>H</a:t>
              </a:r>
            </a:p>
          </p:txBody>
        </p:sp>
        <p:grpSp>
          <p:nvGrpSpPr>
            <p:cNvPr id="52" name="Group 51">
              <a:extLst>
                <a:ext uri="{FF2B5EF4-FFF2-40B4-BE49-F238E27FC236}">
                  <a16:creationId xmlns:a16="http://schemas.microsoft.com/office/drawing/2014/main" id="{BFEC66D0-1839-6C43-816C-75017B0ADFA4}"/>
                </a:ext>
              </a:extLst>
            </p:cNvPr>
            <p:cNvGrpSpPr/>
            <p:nvPr/>
          </p:nvGrpSpPr>
          <p:grpSpPr>
            <a:xfrm>
              <a:off x="4708182" y="3426391"/>
              <a:ext cx="251999" cy="2312396"/>
              <a:chOff x="8043668" y="-480371"/>
              <a:chExt cx="251999" cy="2312396"/>
            </a:xfrm>
          </p:grpSpPr>
          <p:cxnSp>
            <p:nvCxnSpPr>
              <p:cNvPr id="53" name="Straight Connector 52">
                <a:extLst>
                  <a:ext uri="{FF2B5EF4-FFF2-40B4-BE49-F238E27FC236}">
                    <a16:creationId xmlns:a16="http://schemas.microsoft.com/office/drawing/2014/main" id="{46D29306-B772-5E49-AABA-AF97F850DE89}"/>
                  </a:ext>
                </a:extLst>
              </p:cNvPr>
              <p:cNvCxnSpPr>
                <a:cxnSpLocks/>
              </p:cNvCxnSpPr>
              <p:nvPr/>
            </p:nvCxnSpPr>
            <p:spPr>
              <a:xfrm flipV="1">
                <a:off x="8155765" y="-198929"/>
                <a:ext cx="6951" cy="2030954"/>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B2238F56-58F7-AA42-9D28-512FE595AE78}"/>
                  </a:ext>
                </a:extLst>
              </p:cNvPr>
              <p:cNvSpPr/>
              <p:nvPr/>
            </p:nvSpPr>
            <p:spPr>
              <a:xfrm>
                <a:off x="8043668" y="-480371"/>
                <a:ext cx="251999" cy="25199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5" name="Group 54">
              <a:extLst>
                <a:ext uri="{FF2B5EF4-FFF2-40B4-BE49-F238E27FC236}">
                  <a16:creationId xmlns:a16="http://schemas.microsoft.com/office/drawing/2014/main" id="{83068FAB-DF5C-D847-91FB-E13CDA7A87FD}"/>
                </a:ext>
              </a:extLst>
            </p:cNvPr>
            <p:cNvGrpSpPr/>
            <p:nvPr/>
          </p:nvGrpSpPr>
          <p:grpSpPr>
            <a:xfrm>
              <a:off x="6859091" y="4965887"/>
              <a:ext cx="251999" cy="764119"/>
              <a:chOff x="8030221" y="1912856"/>
              <a:chExt cx="251999" cy="764119"/>
            </a:xfrm>
          </p:grpSpPr>
          <p:cxnSp>
            <p:nvCxnSpPr>
              <p:cNvPr id="56" name="Straight Connector 55">
                <a:extLst>
                  <a:ext uri="{FF2B5EF4-FFF2-40B4-BE49-F238E27FC236}">
                    <a16:creationId xmlns:a16="http://schemas.microsoft.com/office/drawing/2014/main" id="{4D76E696-F59B-A14A-977E-1B166E003ED8}"/>
                  </a:ext>
                </a:extLst>
              </p:cNvPr>
              <p:cNvCxnSpPr>
                <a:cxnSpLocks/>
                <a:endCxn id="57" idx="4"/>
              </p:cNvCxnSpPr>
              <p:nvPr/>
            </p:nvCxnSpPr>
            <p:spPr>
              <a:xfrm flipV="1">
                <a:off x="8156221" y="2164855"/>
                <a:ext cx="0" cy="51212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7" name="Oval 56">
                <a:extLst>
                  <a:ext uri="{FF2B5EF4-FFF2-40B4-BE49-F238E27FC236}">
                    <a16:creationId xmlns:a16="http://schemas.microsoft.com/office/drawing/2014/main" id="{6C84410D-A299-6548-84B6-2A43F2CDF593}"/>
                  </a:ext>
                </a:extLst>
              </p:cNvPr>
              <p:cNvSpPr/>
              <p:nvPr/>
            </p:nvSpPr>
            <p:spPr>
              <a:xfrm>
                <a:off x="8030221" y="1912856"/>
                <a:ext cx="251999" cy="25199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8" name="Oval 67">
              <a:extLst>
                <a:ext uri="{FF2B5EF4-FFF2-40B4-BE49-F238E27FC236}">
                  <a16:creationId xmlns:a16="http://schemas.microsoft.com/office/drawing/2014/main" id="{F5754F4D-40D2-6748-BE8D-0E4A721CCB48}"/>
                </a:ext>
              </a:extLst>
            </p:cNvPr>
            <p:cNvSpPr>
              <a:spLocks noChangeAspect="1"/>
            </p:cNvSpPr>
            <p:nvPr/>
          </p:nvSpPr>
          <p:spPr>
            <a:xfrm rot="5400000">
              <a:off x="2421976" y="4022331"/>
              <a:ext cx="108000" cy="108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B0D55FC7-03A6-D84C-9FE4-082FA1914A5A}"/>
                </a:ext>
              </a:extLst>
            </p:cNvPr>
            <p:cNvSpPr>
              <a:spLocks noChangeAspect="1"/>
            </p:cNvSpPr>
            <p:nvPr/>
          </p:nvSpPr>
          <p:spPr>
            <a:xfrm rot="5400000">
              <a:off x="2421976" y="4572592"/>
              <a:ext cx="108000" cy="108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45ABD250-E491-324D-90B7-5460B35647D1}"/>
                </a:ext>
              </a:extLst>
            </p:cNvPr>
            <p:cNvSpPr>
              <a:spLocks noChangeAspect="1"/>
            </p:cNvSpPr>
            <p:nvPr/>
          </p:nvSpPr>
          <p:spPr>
            <a:xfrm rot="5400000">
              <a:off x="2421975" y="4296542"/>
              <a:ext cx="108000" cy="108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A909651B-A274-4246-9C3C-96004A921EE0}"/>
                </a:ext>
              </a:extLst>
            </p:cNvPr>
            <p:cNvSpPr/>
            <p:nvPr/>
          </p:nvSpPr>
          <p:spPr>
            <a:xfrm>
              <a:off x="7968238" y="2245509"/>
              <a:ext cx="1199072" cy="33437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2" name="Rectangle 71">
                  <a:extLst>
                    <a:ext uri="{FF2B5EF4-FFF2-40B4-BE49-F238E27FC236}">
                      <a16:creationId xmlns:a16="http://schemas.microsoft.com/office/drawing/2014/main" id="{950E104F-7894-B24D-BE12-524560A9FDF4}"/>
                    </a:ext>
                  </a:extLst>
                </p:cNvPr>
                <p:cNvSpPr/>
                <p:nvPr/>
              </p:nvSpPr>
              <p:spPr>
                <a:xfrm>
                  <a:off x="7968238" y="3612632"/>
                  <a:ext cx="1272143" cy="597599"/>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p>
                          <m:sSupPr>
                            <m:ctrlPr>
                              <a:rPr lang="en-US" sz="3200" i="1" smtClean="0">
                                <a:solidFill>
                                  <a:schemeClr val="bg1"/>
                                </a:solidFill>
                                <a:latin typeface="Cambria Math" panose="02040503050406030204" pitchFamily="18" charset="0"/>
                                <a:ea typeface="Cambria Math" panose="02040503050406030204" pitchFamily="18" charset="0"/>
                              </a:rPr>
                            </m:ctrlPr>
                          </m:sSupPr>
                          <m:e>
                            <m:r>
                              <a:rPr lang="en-US" sz="3200" b="0" i="1" smtClean="0">
                                <a:solidFill>
                                  <a:schemeClr val="bg1"/>
                                </a:solidFill>
                                <a:latin typeface="Cambria Math" panose="02040503050406030204" pitchFamily="18" charset="0"/>
                                <a:ea typeface="Cambria Math" panose="02040503050406030204" pitchFamily="18" charset="0"/>
                              </a:rPr>
                              <m:t>𝑄𝐹𝑇</m:t>
                            </m:r>
                          </m:e>
                          <m:sup>
                            <m:r>
                              <a:rPr lang="en-US" sz="3200" i="1" smtClean="0">
                                <a:solidFill>
                                  <a:schemeClr val="bg1"/>
                                </a:solidFill>
                                <a:latin typeface="Cambria Math" panose="02040503050406030204" pitchFamily="18" charset="0"/>
                                <a:ea typeface="Cambria Math" panose="02040503050406030204" pitchFamily="18" charset="0"/>
                              </a:rPr>
                              <m:t>†</m:t>
                            </m:r>
                          </m:sup>
                        </m:sSup>
                      </m:oMath>
                    </m:oMathPara>
                  </a14:m>
                  <a:endParaRPr lang="en-US" sz="3200" dirty="0">
                    <a:solidFill>
                      <a:schemeClr val="bg1"/>
                    </a:solidFill>
                    <a:latin typeface="Times" pitchFamily="2" charset="0"/>
                  </a:endParaRPr>
                </a:p>
              </p:txBody>
            </p:sp>
          </mc:Choice>
          <mc:Fallback xmlns="">
            <p:sp>
              <p:nvSpPr>
                <p:cNvPr id="72" name="Rectangle 71">
                  <a:extLst>
                    <a:ext uri="{FF2B5EF4-FFF2-40B4-BE49-F238E27FC236}">
                      <a16:creationId xmlns:a16="http://schemas.microsoft.com/office/drawing/2014/main" id="{950E104F-7894-B24D-BE12-524560A9FDF4}"/>
                    </a:ext>
                  </a:extLst>
                </p:cNvPr>
                <p:cNvSpPr>
                  <a:spLocks noRot="1" noChangeAspect="1" noMove="1" noResize="1" noEditPoints="1" noAdjustHandles="1" noChangeArrowheads="1" noChangeShapeType="1" noTextEdit="1"/>
                </p:cNvSpPr>
                <p:nvPr/>
              </p:nvSpPr>
              <p:spPr>
                <a:xfrm>
                  <a:off x="7968238" y="3612632"/>
                  <a:ext cx="1272143" cy="597599"/>
                </a:xfrm>
                <a:prstGeom prst="rect">
                  <a:avLst/>
                </a:prstGeom>
                <a:blipFill>
                  <a:blip r:embed="rId5"/>
                  <a:stretch>
                    <a:fillRect l="-5882" b="-12245"/>
                  </a:stretch>
                </a:blipFill>
              </p:spPr>
              <p:txBody>
                <a:bodyPr/>
                <a:lstStyle/>
                <a:p>
                  <a:r>
                    <a:rPr lang="en-US">
                      <a:noFill/>
                    </a:rPr>
                    <a:t> </a:t>
                  </a:r>
                </a:p>
              </p:txBody>
            </p:sp>
          </mc:Fallback>
        </mc:AlternateContent>
        <p:cxnSp>
          <p:nvCxnSpPr>
            <p:cNvPr id="78" name="Straight Connector 77">
              <a:extLst>
                <a:ext uri="{FF2B5EF4-FFF2-40B4-BE49-F238E27FC236}">
                  <a16:creationId xmlns:a16="http://schemas.microsoft.com/office/drawing/2014/main" id="{7F6CB66A-2A89-0846-AAFC-5F9756A12EE3}"/>
                </a:ext>
              </a:extLst>
            </p:cNvPr>
            <p:cNvCxnSpPr>
              <a:cxnSpLocks/>
            </p:cNvCxnSpPr>
            <p:nvPr/>
          </p:nvCxnSpPr>
          <p:spPr>
            <a:xfrm flipH="1" flipV="1">
              <a:off x="6985091" y="4254975"/>
              <a:ext cx="1006247" cy="1"/>
            </a:xfrm>
            <a:prstGeom prst="line">
              <a:avLst/>
            </a:prstGeom>
            <a:ln w="25400">
              <a:solidFill>
                <a:schemeClr val="bg1">
                  <a:lumMod val="50000"/>
                </a:schemeClr>
              </a:solidFill>
              <a:prstDash val="lg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0" name="Rectangle 79">
                  <a:extLst>
                    <a:ext uri="{FF2B5EF4-FFF2-40B4-BE49-F238E27FC236}">
                      <a16:creationId xmlns:a16="http://schemas.microsoft.com/office/drawing/2014/main" id="{5ED7E6F9-10E7-D345-B801-9174B4FD8E41}"/>
                    </a:ext>
                  </a:extLst>
                </p:cNvPr>
                <p:cNvSpPr/>
                <p:nvPr/>
              </p:nvSpPr>
              <p:spPr>
                <a:xfrm>
                  <a:off x="1096881" y="2337883"/>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80" name="Rectangle 79">
                  <a:extLst>
                    <a:ext uri="{FF2B5EF4-FFF2-40B4-BE49-F238E27FC236}">
                      <a16:creationId xmlns:a16="http://schemas.microsoft.com/office/drawing/2014/main" id="{5ED7E6F9-10E7-D345-B801-9174B4FD8E41}"/>
                    </a:ext>
                  </a:extLst>
                </p:cNvPr>
                <p:cNvSpPr>
                  <a:spLocks noRot="1" noChangeAspect="1" noMove="1" noResize="1" noEditPoints="1" noAdjustHandles="1" noChangeArrowheads="1" noChangeShapeType="1" noTextEdit="1"/>
                </p:cNvSpPr>
                <p:nvPr/>
              </p:nvSpPr>
              <p:spPr>
                <a:xfrm>
                  <a:off x="1096881" y="2337883"/>
                  <a:ext cx="631904" cy="461665"/>
                </a:xfrm>
                <a:prstGeom prst="rect">
                  <a:avLst/>
                </a:prstGeom>
                <a:blipFill>
                  <a:blip r:embed="rId6"/>
                  <a:stretch>
                    <a:fillRect l="-25490" t="-124324" r="-4902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Rectangle 80">
                  <a:extLst>
                    <a:ext uri="{FF2B5EF4-FFF2-40B4-BE49-F238E27FC236}">
                      <a16:creationId xmlns:a16="http://schemas.microsoft.com/office/drawing/2014/main" id="{F9733312-1AA3-1D42-8CD6-070E94DC5C5F}"/>
                    </a:ext>
                  </a:extLst>
                </p:cNvPr>
                <p:cNvSpPr/>
                <p:nvPr/>
              </p:nvSpPr>
              <p:spPr>
                <a:xfrm>
                  <a:off x="1098787" y="3316472"/>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81" name="Rectangle 80">
                  <a:extLst>
                    <a:ext uri="{FF2B5EF4-FFF2-40B4-BE49-F238E27FC236}">
                      <a16:creationId xmlns:a16="http://schemas.microsoft.com/office/drawing/2014/main" id="{F9733312-1AA3-1D42-8CD6-070E94DC5C5F}"/>
                    </a:ext>
                  </a:extLst>
                </p:cNvPr>
                <p:cNvSpPr>
                  <a:spLocks noRot="1" noChangeAspect="1" noMove="1" noResize="1" noEditPoints="1" noAdjustHandles="1" noChangeArrowheads="1" noChangeShapeType="1" noTextEdit="1"/>
                </p:cNvSpPr>
                <p:nvPr/>
              </p:nvSpPr>
              <p:spPr>
                <a:xfrm>
                  <a:off x="1098787" y="3316472"/>
                  <a:ext cx="631904" cy="461665"/>
                </a:xfrm>
                <a:prstGeom prst="rect">
                  <a:avLst/>
                </a:prstGeom>
                <a:blipFill>
                  <a:blip r:embed="rId7"/>
                  <a:stretch>
                    <a:fillRect l="-26000" t="-124324" r="-50000" b="-1945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Rectangle 81">
                  <a:extLst>
                    <a:ext uri="{FF2B5EF4-FFF2-40B4-BE49-F238E27FC236}">
                      <a16:creationId xmlns:a16="http://schemas.microsoft.com/office/drawing/2014/main" id="{ED38B83F-DC98-754E-A937-5F11A5F5E53B}"/>
                    </a:ext>
                  </a:extLst>
                </p:cNvPr>
                <p:cNvSpPr/>
                <p:nvPr/>
              </p:nvSpPr>
              <p:spPr>
                <a:xfrm>
                  <a:off x="1100693" y="4872007"/>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82" name="Rectangle 81">
                  <a:extLst>
                    <a:ext uri="{FF2B5EF4-FFF2-40B4-BE49-F238E27FC236}">
                      <a16:creationId xmlns:a16="http://schemas.microsoft.com/office/drawing/2014/main" id="{ED38B83F-DC98-754E-A937-5F11A5F5E53B}"/>
                    </a:ext>
                  </a:extLst>
                </p:cNvPr>
                <p:cNvSpPr>
                  <a:spLocks noRot="1" noChangeAspect="1" noMove="1" noResize="1" noEditPoints="1" noAdjustHandles="1" noChangeArrowheads="1" noChangeShapeType="1" noTextEdit="1"/>
                </p:cNvSpPr>
                <p:nvPr/>
              </p:nvSpPr>
              <p:spPr>
                <a:xfrm>
                  <a:off x="1100693" y="4872007"/>
                  <a:ext cx="631904" cy="461665"/>
                </a:xfrm>
                <a:prstGeom prst="rect">
                  <a:avLst/>
                </a:prstGeom>
                <a:blipFill>
                  <a:blip r:embed="rId8"/>
                  <a:stretch>
                    <a:fillRect l="-26000" t="-133333" r="-50000" b="-1972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Rectangle 82">
                  <a:extLst>
                    <a:ext uri="{FF2B5EF4-FFF2-40B4-BE49-F238E27FC236}">
                      <a16:creationId xmlns:a16="http://schemas.microsoft.com/office/drawing/2014/main" id="{A8FE124F-A683-8E45-B739-D086A1917B34}"/>
                    </a:ext>
                  </a:extLst>
                </p:cNvPr>
                <p:cNvSpPr/>
                <p:nvPr/>
              </p:nvSpPr>
              <p:spPr>
                <a:xfrm>
                  <a:off x="1102599" y="5839708"/>
                  <a:ext cx="64613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𝑢</m:t>
                            </m:r>
                          </m:e>
                        </m:d>
                      </m:oMath>
                    </m:oMathPara>
                  </a14:m>
                  <a:endParaRPr lang="en-US" sz="2400" dirty="0"/>
                </a:p>
              </p:txBody>
            </p:sp>
          </mc:Choice>
          <mc:Fallback xmlns="">
            <p:sp>
              <p:nvSpPr>
                <p:cNvPr id="83" name="Rectangle 82">
                  <a:extLst>
                    <a:ext uri="{FF2B5EF4-FFF2-40B4-BE49-F238E27FC236}">
                      <a16:creationId xmlns:a16="http://schemas.microsoft.com/office/drawing/2014/main" id="{A8FE124F-A683-8E45-B739-D086A1917B34}"/>
                    </a:ext>
                  </a:extLst>
                </p:cNvPr>
                <p:cNvSpPr>
                  <a:spLocks noRot="1" noChangeAspect="1" noMove="1" noResize="1" noEditPoints="1" noAdjustHandles="1" noChangeArrowheads="1" noChangeShapeType="1" noTextEdit="1"/>
                </p:cNvSpPr>
                <p:nvPr/>
              </p:nvSpPr>
              <p:spPr>
                <a:xfrm>
                  <a:off x="1102599" y="5839708"/>
                  <a:ext cx="646139" cy="461665"/>
                </a:xfrm>
                <a:prstGeom prst="rect">
                  <a:avLst/>
                </a:prstGeom>
                <a:blipFill>
                  <a:blip r:embed="rId9"/>
                  <a:stretch>
                    <a:fillRect l="-23077" t="-124324" r="-48077" b="-191892"/>
                  </a:stretch>
                </a:blipFill>
              </p:spPr>
              <p:txBody>
                <a:bodyPr/>
                <a:lstStyle/>
                <a:p>
                  <a:r>
                    <a:rPr lang="en-US">
                      <a:noFill/>
                    </a:rPr>
                    <a:t> </a:t>
                  </a:r>
                </a:p>
              </p:txBody>
            </p:sp>
          </mc:Fallback>
        </mc:AlternateContent>
        <p:cxnSp>
          <p:nvCxnSpPr>
            <p:cNvPr id="90" name="Straight Connector 89">
              <a:extLst>
                <a:ext uri="{FF2B5EF4-FFF2-40B4-BE49-F238E27FC236}">
                  <a16:creationId xmlns:a16="http://schemas.microsoft.com/office/drawing/2014/main" id="{8E9258BC-7919-BE49-BF09-D852182C6BF4}"/>
                </a:ext>
              </a:extLst>
            </p:cNvPr>
            <p:cNvCxnSpPr>
              <a:cxnSpLocks/>
            </p:cNvCxnSpPr>
            <p:nvPr/>
          </p:nvCxnSpPr>
          <p:spPr>
            <a:xfrm>
              <a:off x="1758319" y="5960894"/>
              <a:ext cx="39600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7A1BC46F-302B-1C49-A88D-137D47032976}"/>
                </a:ext>
              </a:extLst>
            </p:cNvPr>
            <p:cNvCxnSpPr>
              <a:cxnSpLocks/>
            </p:cNvCxnSpPr>
            <p:nvPr/>
          </p:nvCxnSpPr>
          <p:spPr>
            <a:xfrm>
              <a:off x="1758319" y="6332549"/>
              <a:ext cx="39600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B9263384-E78D-9846-B270-16921B5A61CD}"/>
                    </a:ext>
                  </a:extLst>
                </p:cNvPr>
                <p:cNvSpPr/>
                <p:nvPr/>
              </p:nvSpPr>
              <p:spPr>
                <a:xfrm>
                  <a:off x="3085243" y="5718500"/>
                  <a:ext cx="983147" cy="706053"/>
                </a:xfrm>
                <a:prstGeom prst="rect">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2800" i="1">
                                <a:solidFill>
                                  <a:schemeClr val="bg1"/>
                                </a:solidFill>
                                <a:latin typeface="Cambria Math" panose="02040503050406030204" pitchFamily="18" charset="0"/>
                                <a:ea typeface="Cambria Math" panose="02040503050406030204" pitchFamily="18" charset="0"/>
                              </a:rPr>
                            </m:ctrlPr>
                          </m:sSupPr>
                          <m:e>
                            <m:r>
                              <a:rPr lang="en-US" sz="2800" i="1">
                                <a:solidFill>
                                  <a:schemeClr val="bg1"/>
                                </a:solidFill>
                                <a:latin typeface="Cambria Math" panose="02040503050406030204" pitchFamily="18" charset="0"/>
                                <a:ea typeface="Cambria Math" panose="02040503050406030204" pitchFamily="18" charset="0"/>
                              </a:rPr>
                              <m:t>𝑈</m:t>
                            </m:r>
                          </m:e>
                          <m:sup>
                            <m:sSup>
                              <m:sSupPr>
                                <m:ctrlPr>
                                  <a:rPr lang="en-US" sz="2800" i="1">
                                    <a:solidFill>
                                      <a:schemeClr val="bg1"/>
                                    </a:solidFill>
                                    <a:latin typeface="Cambria Math" panose="02040503050406030204" pitchFamily="18" charset="0"/>
                                    <a:ea typeface="Cambria Math" panose="02040503050406030204" pitchFamily="18" charset="0"/>
                                  </a:rPr>
                                </m:ctrlPr>
                              </m:sSupPr>
                              <m:e>
                                <m:r>
                                  <a:rPr lang="en-US" sz="2800" i="1">
                                    <a:solidFill>
                                      <a:schemeClr val="bg1"/>
                                    </a:solidFill>
                                    <a:latin typeface="Cambria Math" panose="02040503050406030204" pitchFamily="18" charset="0"/>
                                    <a:ea typeface="Cambria Math" panose="02040503050406030204" pitchFamily="18" charset="0"/>
                                  </a:rPr>
                                  <m:t>2</m:t>
                                </m:r>
                              </m:e>
                              <m:sup>
                                <m:r>
                                  <a:rPr lang="en-US" sz="2800" i="1">
                                    <a:solidFill>
                                      <a:schemeClr val="bg1"/>
                                    </a:solidFill>
                                    <a:latin typeface="Cambria Math" panose="02040503050406030204" pitchFamily="18" charset="0"/>
                                    <a:ea typeface="Cambria Math" panose="02040503050406030204" pitchFamily="18" charset="0"/>
                                  </a:rPr>
                                  <m:t>0</m:t>
                                </m:r>
                              </m:sup>
                            </m:sSup>
                          </m:sup>
                        </m:sSup>
                      </m:oMath>
                    </m:oMathPara>
                  </a14:m>
                  <a:endParaRPr lang="en-US" sz="2800" dirty="0">
                    <a:solidFill>
                      <a:schemeClr val="bg1"/>
                    </a:solidFill>
                    <a:latin typeface="Times" pitchFamily="2" charset="0"/>
                  </a:endParaRPr>
                </a:p>
              </p:txBody>
            </p:sp>
          </mc:Choice>
          <mc:Fallback xmlns="">
            <p:sp>
              <p:nvSpPr>
                <p:cNvPr id="27" name="Rectangle 26">
                  <a:extLst>
                    <a:ext uri="{FF2B5EF4-FFF2-40B4-BE49-F238E27FC236}">
                      <a16:creationId xmlns:a16="http://schemas.microsoft.com/office/drawing/2014/main" id="{B9263384-E78D-9846-B270-16921B5A61CD}"/>
                    </a:ext>
                  </a:extLst>
                </p:cNvPr>
                <p:cNvSpPr>
                  <a:spLocks noRot="1" noChangeAspect="1" noMove="1" noResize="1" noEditPoints="1" noAdjustHandles="1" noChangeArrowheads="1" noChangeShapeType="1" noTextEdit="1"/>
                </p:cNvSpPr>
                <p:nvPr/>
              </p:nvSpPr>
              <p:spPr>
                <a:xfrm>
                  <a:off x="3085243" y="5718500"/>
                  <a:ext cx="983147" cy="706053"/>
                </a:xfrm>
                <a:prstGeom prst="rect">
                  <a:avLst/>
                </a:prstGeom>
                <a:blipFill>
                  <a:blip r:embed="rId11"/>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ABC8751C-C961-DD4D-B7E6-360F39DBBABE}"/>
                    </a:ext>
                  </a:extLst>
                </p:cNvPr>
                <p:cNvSpPr/>
                <p:nvPr/>
              </p:nvSpPr>
              <p:spPr>
                <a:xfrm>
                  <a:off x="4335657" y="5718500"/>
                  <a:ext cx="983147" cy="706053"/>
                </a:xfrm>
                <a:prstGeom prst="rect">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2800" i="1" smtClean="0">
                                <a:solidFill>
                                  <a:schemeClr val="bg1"/>
                                </a:solidFill>
                                <a:latin typeface="Cambria Math" panose="02040503050406030204" pitchFamily="18" charset="0"/>
                                <a:ea typeface="Cambria Math" panose="02040503050406030204" pitchFamily="18" charset="0"/>
                              </a:rPr>
                            </m:ctrlPr>
                          </m:sSupPr>
                          <m:e>
                            <m:r>
                              <a:rPr lang="en-US" sz="2800" b="0" i="1" smtClean="0">
                                <a:solidFill>
                                  <a:schemeClr val="bg1"/>
                                </a:solidFill>
                                <a:latin typeface="Cambria Math" panose="02040503050406030204" pitchFamily="18" charset="0"/>
                                <a:ea typeface="Cambria Math" panose="02040503050406030204" pitchFamily="18" charset="0"/>
                              </a:rPr>
                              <m:t>𝑈</m:t>
                            </m:r>
                          </m:e>
                          <m:sup>
                            <m:sSup>
                              <m:sSupPr>
                                <m:ctrlPr>
                                  <a:rPr lang="en-US" sz="2800" i="1" smtClean="0">
                                    <a:solidFill>
                                      <a:schemeClr val="bg1"/>
                                    </a:solidFill>
                                    <a:latin typeface="Cambria Math" panose="02040503050406030204" pitchFamily="18" charset="0"/>
                                    <a:ea typeface="Cambria Math" panose="02040503050406030204" pitchFamily="18" charset="0"/>
                                  </a:rPr>
                                </m:ctrlPr>
                              </m:sSupPr>
                              <m:e>
                                <m:r>
                                  <a:rPr lang="en-US" sz="2800" b="0" i="1" smtClean="0">
                                    <a:solidFill>
                                      <a:schemeClr val="bg1"/>
                                    </a:solidFill>
                                    <a:latin typeface="Cambria Math" panose="02040503050406030204" pitchFamily="18" charset="0"/>
                                    <a:ea typeface="Cambria Math" panose="02040503050406030204" pitchFamily="18" charset="0"/>
                                  </a:rPr>
                                  <m:t>2</m:t>
                                </m:r>
                              </m:e>
                              <m:sup>
                                <m:r>
                                  <a:rPr lang="en-US" sz="2800" b="0" i="1" smtClean="0">
                                    <a:solidFill>
                                      <a:schemeClr val="bg1"/>
                                    </a:solidFill>
                                    <a:latin typeface="Cambria Math" panose="02040503050406030204" pitchFamily="18" charset="0"/>
                                    <a:ea typeface="Cambria Math" panose="02040503050406030204" pitchFamily="18" charset="0"/>
                                  </a:rPr>
                                  <m:t>1</m:t>
                                </m:r>
                              </m:sup>
                            </m:sSup>
                          </m:sup>
                        </m:sSup>
                      </m:oMath>
                    </m:oMathPara>
                  </a14:m>
                  <a:endParaRPr lang="en-US" sz="2800" dirty="0">
                    <a:solidFill>
                      <a:schemeClr val="bg1"/>
                    </a:solidFill>
                    <a:latin typeface="Times" pitchFamily="2" charset="0"/>
                  </a:endParaRPr>
                </a:p>
              </p:txBody>
            </p:sp>
          </mc:Choice>
          <mc:Fallback xmlns="">
            <p:sp>
              <p:nvSpPr>
                <p:cNvPr id="47" name="Rectangle 46">
                  <a:extLst>
                    <a:ext uri="{FF2B5EF4-FFF2-40B4-BE49-F238E27FC236}">
                      <a16:creationId xmlns:a16="http://schemas.microsoft.com/office/drawing/2014/main" id="{ABC8751C-C961-DD4D-B7E6-360F39DBBABE}"/>
                    </a:ext>
                  </a:extLst>
                </p:cNvPr>
                <p:cNvSpPr>
                  <a:spLocks noRot="1" noChangeAspect="1" noMove="1" noResize="1" noEditPoints="1" noAdjustHandles="1" noChangeArrowheads="1" noChangeShapeType="1" noTextEdit="1"/>
                </p:cNvSpPr>
                <p:nvPr/>
              </p:nvSpPr>
              <p:spPr>
                <a:xfrm>
                  <a:off x="4335657" y="5718500"/>
                  <a:ext cx="983147" cy="706053"/>
                </a:xfrm>
                <a:prstGeom prst="rect">
                  <a:avLst/>
                </a:prstGeom>
                <a:blipFill>
                  <a:blip r:embed="rId12"/>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54C34338-23D0-2841-8918-6590063D28D2}"/>
                    </a:ext>
                  </a:extLst>
                </p:cNvPr>
                <p:cNvSpPr/>
                <p:nvPr/>
              </p:nvSpPr>
              <p:spPr>
                <a:xfrm>
                  <a:off x="6493518" y="5699739"/>
                  <a:ext cx="983147" cy="706053"/>
                </a:xfrm>
                <a:prstGeom prst="rect">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2800" i="1" smtClean="0">
                                <a:solidFill>
                                  <a:schemeClr val="bg1"/>
                                </a:solidFill>
                                <a:latin typeface="Cambria Math" panose="02040503050406030204" pitchFamily="18" charset="0"/>
                                <a:ea typeface="Cambria Math" panose="02040503050406030204" pitchFamily="18" charset="0"/>
                              </a:rPr>
                            </m:ctrlPr>
                          </m:sSupPr>
                          <m:e>
                            <m:r>
                              <a:rPr lang="en-US" sz="2800" b="0" i="1" smtClean="0">
                                <a:solidFill>
                                  <a:schemeClr val="bg1"/>
                                </a:solidFill>
                                <a:latin typeface="Cambria Math" panose="02040503050406030204" pitchFamily="18" charset="0"/>
                                <a:ea typeface="Cambria Math" panose="02040503050406030204" pitchFamily="18" charset="0"/>
                              </a:rPr>
                              <m:t>𝑈</m:t>
                            </m:r>
                          </m:e>
                          <m:sup>
                            <m:sSup>
                              <m:sSupPr>
                                <m:ctrlPr>
                                  <a:rPr lang="en-US" sz="2800" i="1" smtClean="0">
                                    <a:solidFill>
                                      <a:schemeClr val="bg1"/>
                                    </a:solidFill>
                                    <a:latin typeface="Cambria Math" panose="02040503050406030204" pitchFamily="18" charset="0"/>
                                    <a:ea typeface="Cambria Math" panose="02040503050406030204" pitchFamily="18" charset="0"/>
                                  </a:rPr>
                                </m:ctrlPr>
                              </m:sSupPr>
                              <m:e>
                                <m:r>
                                  <a:rPr lang="en-US" sz="2800" b="0" i="1" smtClean="0">
                                    <a:solidFill>
                                      <a:schemeClr val="bg1"/>
                                    </a:solidFill>
                                    <a:latin typeface="Cambria Math" panose="02040503050406030204" pitchFamily="18" charset="0"/>
                                    <a:ea typeface="Cambria Math" panose="02040503050406030204" pitchFamily="18" charset="0"/>
                                  </a:rPr>
                                  <m:t>2</m:t>
                                </m:r>
                              </m:e>
                              <m:sup>
                                <m:r>
                                  <a:rPr lang="en-US" sz="2800" b="0" i="1" smtClean="0">
                                    <a:solidFill>
                                      <a:schemeClr val="bg1"/>
                                    </a:solidFill>
                                    <a:latin typeface="Cambria Math" panose="02040503050406030204" pitchFamily="18" charset="0"/>
                                    <a:ea typeface="Cambria Math" panose="02040503050406030204" pitchFamily="18" charset="0"/>
                                  </a:rPr>
                                  <m:t>𝑛</m:t>
                                </m:r>
                                <m:r>
                                  <a:rPr lang="en-US" sz="2800" b="0" i="1" smtClean="0">
                                    <a:solidFill>
                                      <a:schemeClr val="bg1"/>
                                    </a:solidFill>
                                    <a:latin typeface="Cambria Math" panose="02040503050406030204" pitchFamily="18" charset="0"/>
                                    <a:ea typeface="Cambria Math" panose="02040503050406030204" pitchFamily="18" charset="0"/>
                                  </a:rPr>
                                  <m:t>−1</m:t>
                                </m:r>
                              </m:sup>
                            </m:sSup>
                          </m:sup>
                        </m:sSup>
                      </m:oMath>
                    </m:oMathPara>
                  </a14:m>
                  <a:endParaRPr lang="en-US" sz="2800" dirty="0">
                    <a:solidFill>
                      <a:schemeClr val="bg1"/>
                    </a:solidFill>
                    <a:latin typeface="Times" pitchFamily="2" charset="0"/>
                  </a:endParaRPr>
                </a:p>
              </p:txBody>
            </p:sp>
          </mc:Choice>
          <mc:Fallback xmlns="">
            <p:sp>
              <p:nvSpPr>
                <p:cNvPr id="48" name="Rectangle 47">
                  <a:extLst>
                    <a:ext uri="{FF2B5EF4-FFF2-40B4-BE49-F238E27FC236}">
                      <a16:creationId xmlns:a16="http://schemas.microsoft.com/office/drawing/2014/main" id="{54C34338-23D0-2841-8918-6590063D28D2}"/>
                    </a:ext>
                  </a:extLst>
                </p:cNvPr>
                <p:cNvSpPr>
                  <a:spLocks noRot="1" noChangeAspect="1" noMove="1" noResize="1" noEditPoints="1" noAdjustHandles="1" noChangeArrowheads="1" noChangeShapeType="1" noTextEdit="1"/>
                </p:cNvSpPr>
                <p:nvPr/>
              </p:nvSpPr>
              <p:spPr>
                <a:xfrm>
                  <a:off x="6493518" y="5699739"/>
                  <a:ext cx="983147" cy="706053"/>
                </a:xfrm>
                <a:prstGeom prst="rect">
                  <a:avLst/>
                </a:prstGeom>
                <a:blipFill>
                  <a:blip r:embed="rId13"/>
                  <a:stretch>
                    <a:fillRect l="-10000"/>
                  </a:stretch>
                </a:blipFill>
                <a:ln>
                  <a:solidFill>
                    <a:schemeClr val="tx1"/>
                  </a:solidFill>
                </a:ln>
              </p:spPr>
              <p:txBody>
                <a:bodyPr/>
                <a:lstStyle/>
                <a:p>
                  <a:r>
                    <a:rPr lang="en-US">
                      <a:noFill/>
                    </a:rPr>
                    <a:t> </a:t>
                  </a:r>
                </a:p>
              </p:txBody>
            </p:sp>
          </mc:Fallback>
        </mc:AlternateContent>
        <p:sp>
          <p:nvSpPr>
            <p:cNvPr id="92" name="Oval 91">
              <a:extLst>
                <a:ext uri="{FF2B5EF4-FFF2-40B4-BE49-F238E27FC236}">
                  <a16:creationId xmlns:a16="http://schemas.microsoft.com/office/drawing/2014/main" id="{A913B068-8BF9-5D41-8A31-DA35D3449326}"/>
                </a:ext>
              </a:extLst>
            </p:cNvPr>
            <p:cNvSpPr>
              <a:spLocks noChangeAspect="1"/>
            </p:cNvSpPr>
            <p:nvPr/>
          </p:nvSpPr>
          <p:spPr>
            <a:xfrm rot="5400000">
              <a:off x="2205734" y="6012259"/>
              <a:ext cx="72000" cy="7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3A5EA552-2347-4C4C-9FFA-59A5514DC87E}"/>
                </a:ext>
              </a:extLst>
            </p:cNvPr>
            <p:cNvSpPr>
              <a:spLocks noChangeAspect="1"/>
            </p:cNvSpPr>
            <p:nvPr/>
          </p:nvSpPr>
          <p:spPr>
            <a:xfrm rot="5400000">
              <a:off x="2205734" y="6109848"/>
              <a:ext cx="72000" cy="7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D0A26A71-7E03-5C47-909F-F01CEA177FDB}"/>
                </a:ext>
              </a:extLst>
            </p:cNvPr>
            <p:cNvSpPr>
              <a:spLocks noChangeAspect="1"/>
            </p:cNvSpPr>
            <p:nvPr/>
          </p:nvSpPr>
          <p:spPr>
            <a:xfrm rot="5400000">
              <a:off x="2205734" y="6207437"/>
              <a:ext cx="72000" cy="7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9" name="Straight Connector 98">
              <a:extLst>
                <a:ext uri="{FF2B5EF4-FFF2-40B4-BE49-F238E27FC236}">
                  <a16:creationId xmlns:a16="http://schemas.microsoft.com/office/drawing/2014/main" id="{E4B43E81-B08A-D742-9BD8-2BBC804F2806}"/>
                </a:ext>
              </a:extLst>
            </p:cNvPr>
            <p:cNvCxnSpPr>
              <a:cxnSpLocks/>
            </p:cNvCxnSpPr>
            <p:nvPr/>
          </p:nvCxnSpPr>
          <p:spPr>
            <a:xfrm>
              <a:off x="5854803" y="5816257"/>
              <a:ext cx="25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268E15EA-C3CA-C04D-A2A4-DBC718AA30F6}"/>
                </a:ext>
              </a:extLst>
            </p:cNvPr>
            <p:cNvCxnSpPr>
              <a:cxnSpLocks/>
            </p:cNvCxnSpPr>
            <p:nvPr/>
          </p:nvCxnSpPr>
          <p:spPr>
            <a:xfrm>
              <a:off x="5854803" y="5957723"/>
              <a:ext cx="25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B770C63E-0869-7C44-A1E1-5D365B0E8EC1}"/>
                </a:ext>
              </a:extLst>
            </p:cNvPr>
            <p:cNvCxnSpPr>
              <a:cxnSpLocks/>
            </p:cNvCxnSpPr>
            <p:nvPr/>
          </p:nvCxnSpPr>
          <p:spPr>
            <a:xfrm>
              <a:off x="5854803" y="6329378"/>
              <a:ext cx="25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2" name="Left Brace 101">
              <a:extLst>
                <a:ext uri="{FF2B5EF4-FFF2-40B4-BE49-F238E27FC236}">
                  <a16:creationId xmlns:a16="http://schemas.microsoft.com/office/drawing/2014/main" id="{15F8A75A-6B70-1A4D-AB1C-D72A124AD0AD}"/>
                </a:ext>
              </a:extLst>
            </p:cNvPr>
            <p:cNvSpPr/>
            <p:nvPr/>
          </p:nvSpPr>
          <p:spPr>
            <a:xfrm>
              <a:off x="872188" y="2580687"/>
              <a:ext cx="301472" cy="2535202"/>
            </a:xfrm>
            <a:prstGeom prst="leftBrace">
              <a:avLst>
                <a:gd name="adj1" fmla="val 17602"/>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4" name="Rectangle 103">
                  <a:extLst>
                    <a:ext uri="{FF2B5EF4-FFF2-40B4-BE49-F238E27FC236}">
                      <a16:creationId xmlns:a16="http://schemas.microsoft.com/office/drawing/2014/main" id="{AC505ADA-2D33-F947-851E-82C274C09943}"/>
                    </a:ext>
                  </a:extLst>
                </p:cNvPr>
                <p:cNvSpPr/>
                <p:nvPr/>
              </p:nvSpPr>
              <p:spPr>
                <a:xfrm>
                  <a:off x="-74106" y="3661677"/>
                  <a:ext cx="1058880" cy="4686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ea typeface="Cambria Math" panose="02040503050406030204" pitchFamily="18" charset="0"/>
                              </a:rPr>
                            </m:ctrlPr>
                          </m:sSupPr>
                          <m:e>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|0</m:t>
                                </m:r>
                              </m:e>
                            </m:d>
                            <m:r>
                              <m:rPr>
                                <m:nor/>
                              </m:rPr>
                              <a:rPr lang="en-US" sz="2400" dirty="0"/>
                              <m:t> </m:t>
                            </m:r>
                          </m:e>
                          <m:sup>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𝑛</m:t>
                            </m:r>
                          </m:sup>
                        </m:sSup>
                      </m:oMath>
                    </m:oMathPara>
                  </a14:m>
                  <a:endParaRPr lang="en-US" sz="2400" dirty="0"/>
                </a:p>
              </p:txBody>
            </p:sp>
          </mc:Choice>
          <mc:Fallback xmlns="">
            <p:sp>
              <p:nvSpPr>
                <p:cNvPr id="104" name="Rectangle 103">
                  <a:extLst>
                    <a:ext uri="{FF2B5EF4-FFF2-40B4-BE49-F238E27FC236}">
                      <a16:creationId xmlns:a16="http://schemas.microsoft.com/office/drawing/2014/main" id="{AC505ADA-2D33-F947-851E-82C274C09943}"/>
                    </a:ext>
                  </a:extLst>
                </p:cNvPr>
                <p:cNvSpPr>
                  <a:spLocks noRot="1" noChangeAspect="1" noMove="1" noResize="1" noEditPoints="1" noAdjustHandles="1" noChangeArrowheads="1" noChangeShapeType="1" noTextEdit="1"/>
                </p:cNvSpPr>
                <p:nvPr/>
              </p:nvSpPr>
              <p:spPr>
                <a:xfrm>
                  <a:off x="-74106" y="3661677"/>
                  <a:ext cx="1058880" cy="468654"/>
                </a:xfrm>
                <a:prstGeom prst="rect">
                  <a:avLst/>
                </a:prstGeom>
                <a:blipFill>
                  <a:blip r:embed="rId14"/>
                  <a:stretch>
                    <a:fillRect l="-14286" t="-127027" b="-191892"/>
                  </a:stretch>
                </a:blipFill>
              </p:spPr>
              <p:txBody>
                <a:bodyPr/>
                <a:lstStyle/>
                <a:p>
                  <a:r>
                    <a:rPr lang="en-US">
                      <a:noFill/>
                    </a:rPr>
                    <a:t> </a:t>
                  </a:r>
                </a:p>
              </p:txBody>
            </p:sp>
          </mc:Fallback>
        </mc:AlternateContent>
      </p:grpSp>
      <p:sp>
        <p:nvSpPr>
          <p:cNvPr id="113" name="Rectangle 112">
            <a:extLst>
              <a:ext uri="{FF2B5EF4-FFF2-40B4-BE49-F238E27FC236}">
                <a16:creationId xmlns:a16="http://schemas.microsoft.com/office/drawing/2014/main" id="{1E905CF2-71F0-7D40-93C9-79B9AC6805F2}"/>
              </a:ext>
            </a:extLst>
          </p:cNvPr>
          <p:cNvSpPr/>
          <p:nvPr/>
        </p:nvSpPr>
        <p:spPr>
          <a:xfrm>
            <a:off x="9167310" y="958174"/>
            <a:ext cx="184731" cy="461665"/>
          </a:xfrm>
          <a:prstGeom prst="rect">
            <a:avLst/>
          </a:prstGeom>
        </p:spPr>
        <p:txBody>
          <a:bodyPr wrap="none">
            <a:spAutoFit/>
          </a:bodyPr>
          <a:lstStyle/>
          <a:p>
            <a:endParaRPr lang="en-US" sz="2400" dirty="0"/>
          </a:p>
        </p:txBody>
      </p:sp>
      <p:grpSp>
        <p:nvGrpSpPr>
          <p:cNvPr id="5" name="Group 4">
            <a:extLst>
              <a:ext uri="{FF2B5EF4-FFF2-40B4-BE49-F238E27FC236}">
                <a16:creationId xmlns:a16="http://schemas.microsoft.com/office/drawing/2014/main" id="{A9AB36C8-8C00-4F4F-9288-3CED38AD3158}"/>
              </a:ext>
            </a:extLst>
          </p:cNvPr>
          <p:cNvGrpSpPr>
            <a:grpSpLocks noChangeAspect="1"/>
          </p:cNvGrpSpPr>
          <p:nvPr/>
        </p:nvGrpSpPr>
        <p:grpSpPr>
          <a:xfrm>
            <a:off x="9702721" y="2220687"/>
            <a:ext cx="720000" cy="720000"/>
            <a:chOff x="10534809" y="2220687"/>
            <a:chExt cx="1080000" cy="1080000"/>
          </a:xfrm>
        </p:grpSpPr>
        <p:sp>
          <p:nvSpPr>
            <p:cNvPr id="59" name="Rectangle 58">
              <a:extLst>
                <a:ext uri="{FF2B5EF4-FFF2-40B4-BE49-F238E27FC236}">
                  <a16:creationId xmlns:a16="http://schemas.microsoft.com/office/drawing/2014/main" id="{1BD7A82E-5481-A14E-B076-77B9CB7C8430}"/>
                </a:ext>
              </a:extLst>
            </p:cNvPr>
            <p:cNvSpPr/>
            <p:nvPr/>
          </p:nvSpPr>
          <p:spPr>
            <a:xfrm>
              <a:off x="10534809" y="2220687"/>
              <a:ext cx="1080000" cy="108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latin typeface="+mj-lt"/>
              </a:endParaRPr>
            </a:p>
          </p:txBody>
        </p:sp>
        <p:sp>
          <p:nvSpPr>
            <p:cNvPr id="60" name="Arc 59">
              <a:extLst>
                <a:ext uri="{FF2B5EF4-FFF2-40B4-BE49-F238E27FC236}">
                  <a16:creationId xmlns:a16="http://schemas.microsoft.com/office/drawing/2014/main" id="{C8364BDB-2CB8-F844-8E6F-0F96F8D1E06C}"/>
                </a:ext>
              </a:extLst>
            </p:cNvPr>
            <p:cNvSpPr/>
            <p:nvPr/>
          </p:nvSpPr>
          <p:spPr>
            <a:xfrm>
              <a:off x="10654439" y="2500558"/>
              <a:ext cx="840740" cy="772509"/>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61" name="Straight Arrow Connector 60">
              <a:extLst>
                <a:ext uri="{FF2B5EF4-FFF2-40B4-BE49-F238E27FC236}">
                  <a16:creationId xmlns:a16="http://schemas.microsoft.com/office/drawing/2014/main" id="{762691FD-9F69-EA49-A4ED-E472A4793B54}"/>
                </a:ext>
              </a:extLst>
            </p:cNvPr>
            <p:cNvCxnSpPr>
              <a:cxnSpLocks/>
            </p:cNvCxnSpPr>
            <p:nvPr/>
          </p:nvCxnSpPr>
          <p:spPr>
            <a:xfrm flipV="1">
              <a:off x="11074809" y="2449188"/>
              <a:ext cx="213497" cy="544593"/>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grpSp>
        <p:nvGrpSpPr>
          <p:cNvPr id="63" name="Group 62">
            <a:extLst>
              <a:ext uri="{FF2B5EF4-FFF2-40B4-BE49-F238E27FC236}">
                <a16:creationId xmlns:a16="http://schemas.microsoft.com/office/drawing/2014/main" id="{5E202A4A-C884-814A-BCA3-4A4A82920F4D}"/>
              </a:ext>
            </a:extLst>
          </p:cNvPr>
          <p:cNvGrpSpPr>
            <a:grpSpLocks noChangeAspect="1"/>
          </p:cNvGrpSpPr>
          <p:nvPr/>
        </p:nvGrpSpPr>
        <p:grpSpPr>
          <a:xfrm>
            <a:off x="9702721" y="3187304"/>
            <a:ext cx="720000" cy="720000"/>
            <a:chOff x="10534809" y="2220687"/>
            <a:chExt cx="1080000" cy="1080000"/>
          </a:xfrm>
        </p:grpSpPr>
        <p:sp>
          <p:nvSpPr>
            <p:cNvPr id="64" name="Rectangle 63">
              <a:extLst>
                <a:ext uri="{FF2B5EF4-FFF2-40B4-BE49-F238E27FC236}">
                  <a16:creationId xmlns:a16="http://schemas.microsoft.com/office/drawing/2014/main" id="{2C60429A-F26E-8442-B3F0-F412D73EEF8C}"/>
                </a:ext>
              </a:extLst>
            </p:cNvPr>
            <p:cNvSpPr/>
            <p:nvPr/>
          </p:nvSpPr>
          <p:spPr>
            <a:xfrm>
              <a:off x="10534809" y="2220687"/>
              <a:ext cx="1080000" cy="108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latin typeface="+mj-lt"/>
              </a:endParaRPr>
            </a:p>
          </p:txBody>
        </p:sp>
        <p:sp>
          <p:nvSpPr>
            <p:cNvPr id="65" name="Arc 64">
              <a:extLst>
                <a:ext uri="{FF2B5EF4-FFF2-40B4-BE49-F238E27FC236}">
                  <a16:creationId xmlns:a16="http://schemas.microsoft.com/office/drawing/2014/main" id="{06B66A78-5DAE-7E42-B204-426CAAE098AF}"/>
                </a:ext>
              </a:extLst>
            </p:cNvPr>
            <p:cNvSpPr/>
            <p:nvPr/>
          </p:nvSpPr>
          <p:spPr>
            <a:xfrm>
              <a:off x="10654439" y="2500558"/>
              <a:ext cx="840740" cy="772509"/>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66" name="Straight Arrow Connector 65">
              <a:extLst>
                <a:ext uri="{FF2B5EF4-FFF2-40B4-BE49-F238E27FC236}">
                  <a16:creationId xmlns:a16="http://schemas.microsoft.com/office/drawing/2014/main" id="{021EDAE2-3967-2C42-8F7B-01DEE4524843}"/>
                </a:ext>
              </a:extLst>
            </p:cNvPr>
            <p:cNvCxnSpPr>
              <a:cxnSpLocks/>
            </p:cNvCxnSpPr>
            <p:nvPr/>
          </p:nvCxnSpPr>
          <p:spPr>
            <a:xfrm flipV="1">
              <a:off x="11074809" y="2449188"/>
              <a:ext cx="213497" cy="544593"/>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grpSp>
        <p:nvGrpSpPr>
          <p:cNvPr id="67" name="Group 66">
            <a:extLst>
              <a:ext uri="{FF2B5EF4-FFF2-40B4-BE49-F238E27FC236}">
                <a16:creationId xmlns:a16="http://schemas.microsoft.com/office/drawing/2014/main" id="{48A334E1-17DF-1C44-BEF1-79197705B969}"/>
              </a:ext>
            </a:extLst>
          </p:cNvPr>
          <p:cNvGrpSpPr>
            <a:grpSpLocks noChangeAspect="1"/>
          </p:cNvGrpSpPr>
          <p:nvPr/>
        </p:nvGrpSpPr>
        <p:grpSpPr>
          <a:xfrm>
            <a:off x="9698189" y="4742839"/>
            <a:ext cx="720000" cy="720000"/>
            <a:chOff x="10534809" y="2220687"/>
            <a:chExt cx="1080000" cy="1080000"/>
          </a:xfrm>
        </p:grpSpPr>
        <p:sp>
          <p:nvSpPr>
            <p:cNvPr id="73" name="Rectangle 72">
              <a:extLst>
                <a:ext uri="{FF2B5EF4-FFF2-40B4-BE49-F238E27FC236}">
                  <a16:creationId xmlns:a16="http://schemas.microsoft.com/office/drawing/2014/main" id="{A16A61F5-4079-914A-908C-DFCC86BDF997}"/>
                </a:ext>
              </a:extLst>
            </p:cNvPr>
            <p:cNvSpPr/>
            <p:nvPr/>
          </p:nvSpPr>
          <p:spPr>
            <a:xfrm>
              <a:off x="10534809" y="2220687"/>
              <a:ext cx="1080000" cy="108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latin typeface="+mj-lt"/>
              </a:endParaRPr>
            </a:p>
          </p:txBody>
        </p:sp>
        <p:sp>
          <p:nvSpPr>
            <p:cNvPr id="74" name="Arc 73">
              <a:extLst>
                <a:ext uri="{FF2B5EF4-FFF2-40B4-BE49-F238E27FC236}">
                  <a16:creationId xmlns:a16="http://schemas.microsoft.com/office/drawing/2014/main" id="{65C23FF2-4BD7-BD45-8083-464D3154056C}"/>
                </a:ext>
              </a:extLst>
            </p:cNvPr>
            <p:cNvSpPr/>
            <p:nvPr/>
          </p:nvSpPr>
          <p:spPr>
            <a:xfrm>
              <a:off x="10654439" y="2500558"/>
              <a:ext cx="840740" cy="772509"/>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75" name="Straight Arrow Connector 74">
              <a:extLst>
                <a:ext uri="{FF2B5EF4-FFF2-40B4-BE49-F238E27FC236}">
                  <a16:creationId xmlns:a16="http://schemas.microsoft.com/office/drawing/2014/main" id="{FB32C878-A546-164A-9FF1-D32FBCC5C1CA}"/>
                </a:ext>
              </a:extLst>
            </p:cNvPr>
            <p:cNvCxnSpPr>
              <a:cxnSpLocks/>
            </p:cNvCxnSpPr>
            <p:nvPr/>
          </p:nvCxnSpPr>
          <p:spPr>
            <a:xfrm flipV="1">
              <a:off x="11074809" y="2449188"/>
              <a:ext cx="213497" cy="544593"/>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87159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E8358334-63ED-E942-A6C9-B4719FD26F80}"/>
              </a:ext>
            </a:extLst>
          </p:cNvPr>
          <p:cNvCxnSpPr>
            <a:cxnSpLocks/>
          </p:cNvCxnSpPr>
          <p:nvPr/>
        </p:nvCxnSpPr>
        <p:spPr>
          <a:xfrm>
            <a:off x="638482" y="1719959"/>
            <a:ext cx="9870164"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D1BBEF5-A748-6840-8FBD-CC0A49654879}"/>
              </a:ext>
            </a:extLst>
          </p:cNvPr>
          <p:cNvCxnSpPr>
            <a:cxnSpLocks/>
          </p:cNvCxnSpPr>
          <p:nvPr/>
        </p:nvCxnSpPr>
        <p:spPr>
          <a:xfrm flipV="1">
            <a:off x="859938" y="1565398"/>
            <a:ext cx="207169" cy="304174"/>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CCA721B-3BCD-6A4F-9083-27E888F56ED7}"/>
              </a:ext>
            </a:extLst>
          </p:cNvPr>
          <p:cNvCxnSpPr>
            <a:cxnSpLocks/>
          </p:cNvCxnSpPr>
          <p:nvPr/>
        </p:nvCxnSpPr>
        <p:spPr>
          <a:xfrm>
            <a:off x="558999" y="2737994"/>
            <a:ext cx="93600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82956D4-B9C5-6A44-B3C7-449DA26799A9}"/>
              </a:ext>
            </a:extLst>
          </p:cNvPr>
          <p:cNvSpPr>
            <a:spLocks noGrp="1"/>
          </p:cNvSpPr>
          <p:nvPr>
            <p:ph type="title"/>
          </p:nvPr>
        </p:nvSpPr>
        <p:spPr/>
        <p:txBody>
          <a:bodyPr/>
          <a:lstStyle/>
          <a:p>
            <a:r>
              <a:rPr lang="en-ZA" dirty="0"/>
              <a:t>Quantum Phase Estimation circuit analysis</a:t>
            </a:r>
            <a:endParaRPr lang="en-US" dirty="0"/>
          </a:p>
        </p:txBody>
      </p:sp>
      <p:sp>
        <p:nvSpPr>
          <p:cNvPr id="3" name="Slide Number Placeholder 2">
            <a:extLst>
              <a:ext uri="{FF2B5EF4-FFF2-40B4-BE49-F238E27FC236}">
                <a16:creationId xmlns:a16="http://schemas.microsoft.com/office/drawing/2014/main" id="{011ACA4C-07E6-064D-949E-5D0022499E1A}"/>
              </a:ext>
            </a:extLst>
          </p:cNvPr>
          <p:cNvSpPr>
            <a:spLocks noGrp="1"/>
          </p:cNvSpPr>
          <p:nvPr>
            <p:ph type="sldNum" sz="quarter" idx="12"/>
          </p:nvPr>
        </p:nvSpPr>
        <p:spPr/>
        <p:txBody>
          <a:bodyPr/>
          <a:lstStyle/>
          <a:p>
            <a:fld id="{591A223C-FA10-BC46-A853-03BA373D023C}" type="slidenum">
              <a:rPr lang="en-US" smtClean="0"/>
              <a:t>69</a:t>
            </a:fld>
            <a:endParaRPr lang="en-US"/>
          </a:p>
        </p:txBody>
      </p:sp>
      <p:sp>
        <p:nvSpPr>
          <p:cNvPr id="5" name="Rectangle 4">
            <a:extLst>
              <a:ext uri="{FF2B5EF4-FFF2-40B4-BE49-F238E27FC236}">
                <a16:creationId xmlns:a16="http://schemas.microsoft.com/office/drawing/2014/main" id="{75A4C612-F831-A24A-B411-D93FDF401C3B}"/>
              </a:ext>
            </a:extLst>
          </p:cNvPr>
          <p:cNvSpPr/>
          <p:nvPr/>
        </p:nvSpPr>
        <p:spPr>
          <a:xfrm>
            <a:off x="1293419" y="1359959"/>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atin typeface="Times" pitchFamily="2" charset="0"/>
              </a:rPr>
              <a:t>H</a:t>
            </a:r>
          </a:p>
        </p:txBody>
      </p:sp>
      <p:grpSp>
        <p:nvGrpSpPr>
          <p:cNvPr id="6" name="Group 5">
            <a:extLst>
              <a:ext uri="{FF2B5EF4-FFF2-40B4-BE49-F238E27FC236}">
                <a16:creationId xmlns:a16="http://schemas.microsoft.com/office/drawing/2014/main" id="{AEB94DD8-A9FB-A740-9125-CF3E863CDF63}"/>
              </a:ext>
            </a:extLst>
          </p:cNvPr>
          <p:cNvGrpSpPr/>
          <p:nvPr/>
        </p:nvGrpSpPr>
        <p:grpSpPr>
          <a:xfrm>
            <a:off x="3620587" y="1585405"/>
            <a:ext cx="251999" cy="794177"/>
            <a:chOff x="8030221" y="-480371"/>
            <a:chExt cx="251999" cy="794177"/>
          </a:xfrm>
        </p:grpSpPr>
        <p:cxnSp>
          <p:nvCxnSpPr>
            <p:cNvPr id="7" name="Straight Connector 6">
              <a:extLst>
                <a:ext uri="{FF2B5EF4-FFF2-40B4-BE49-F238E27FC236}">
                  <a16:creationId xmlns:a16="http://schemas.microsoft.com/office/drawing/2014/main" id="{7C4F21DC-E1C4-E84E-8DC0-624688F6CDCA}"/>
                </a:ext>
              </a:extLst>
            </p:cNvPr>
            <p:cNvCxnSpPr>
              <a:cxnSpLocks/>
            </p:cNvCxnSpPr>
            <p:nvPr/>
          </p:nvCxnSpPr>
          <p:spPr>
            <a:xfrm flipV="1">
              <a:off x="8156220" y="-207710"/>
              <a:ext cx="0" cy="521516"/>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A250DE5F-4975-CD46-805B-F6D5442E707C}"/>
                </a:ext>
              </a:extLst>
            </p:cNvPr>
            <p:cNvSpPr/>
            <p:nvPr/>
          </p:nvSpPr>
          <p:spPr>
            <a:xfrm>
              <a:off x="8030221" y="-480371"/>
              <a:ext cx="251999" cy="25199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E24ABF5B-E789-B14C-AFC9-1B8BD3D16374}"/>
                  </a:ext>
                </a:extLst>
              </p:cNvPr>
              <p:cNvSpPr/>
              <p:nvPr/>
            </p:nvSpPr>
            <p:spPr>
              <a:xfrm>
                <a:off x="6775742" y="1355752"/>
                <a:ext cx="1199072" cy="72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3200" i="1">
                              <a:solidFill>
                                <a:schemeClr val="bg1"/>
                              </a:solidFill>
                              <a:latin typeface="Cambria Math" panose="02040503050406030204" pitchFamily="18" charset="0"/>
                              <a:ea typeface="Cambria Math" panose="02040503050406030204" pitchFamily="18" charset="0"/>
                            </a:rPr>
                          </m:ctrlPr>
                        </m:sSupPr>
                        <m:e>
                          <m:r>
                            <a:rPr lang="en-US" sz="3200" i="1">
                              <a:solidFill>
                                <a:schemeClr val="bg1"/>
                              </a:solidFill>
                              <a:latin typeface="Cambria Math" panose="02040503050406030204" pitchFamily="18" charset="0"/>
                              <a:ea typeface="Cambria Math" panose="02040503050406030204" pitchFamily="18" charset="0"/>
                            </a:rPr>
                            <m:t>𝑄𝐹𝑇</m:t>
                          </m:r>
                        </m:e>
                        <m:sup>
                          <m:r>
                            <a:rPr lang="en-US" sz="3200" i="1">
                              <a:solidFill>
                                <a:schemeClr val="bg1"/>
                              </a:solidFill>
                              <a:latin typeface="Cambria Math" panose="02040503050406030204" pitchFamily="18" charset="0"/>
                              <a:ea typeface="Cambria Math" panose="02040503050406030204" pitchFamily="18" charset="0"/>
                            </a:rPr>
                            <m:t>†</m:t>
                          </m:r>
                        </m:sup>
                      </m:sSup>
                    </m:oMath>
                  </m:oMathPara>
                </a14:m>
                <a:endParaRPr lang="en-US" sz="3200" dirty="0">
                  <a:solidFill>
                    <a:schemeClr val="bg1"/>
                  </a:solidFill>
                  <a:latin typeface="Times" pitchFamily="2" charset="0"/>
                </a:endParaRPr>
              </a:p>
            </p:txBody>
          </p:sp>
        </mc:Choice>
        <mc:Fallback xmlns="">
          <p:sp>
            <p:nvSpPr>
              <p:cNvPr id="11" name="Rectangle 10">
                <a:extLst>
                  <a:ext uri="{FF2B5EF4-FFF2-40B4-BE49-F238E27FC236}">
                    <a16:creationId xmlns:a16="http://schemas.microsoft.com/office/drawing/2014/main" id="{E24ABF5B-E789-B14C-AFC9-1B8BD3D16374}"/>
                  </a:ext>
                </a:extLst>
              </p:cNvPr>
              <p:cNvSpPr>
                <a:spLocks noRot="1" noChangeAspect="1" noMove="1" noResize="1" noEditPoints="1" noAdjustHandles="1" noChangeArrowheads="1" noChangeShapeType="1" noTextEdit="1"/>
              </p:cNvSpPr>
              <p:nvPr/>
            </p:nvSpPr>
            <p:spPr>
              <a:xfrm>
                <a:off x="6775742" y="1355752"/>
                <a:ext cx="1199072" cy="720000"/>
              </a:xfrm>
              <a:prstGeom prst="rect">
                <a:avLst/>
              </a:prstGeom>
              <a:blipFill>
                <a:blip r:embed="rId4"/>
                <a:stretch>
                  <a:fillRect l="-9375" b="-17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5252BFC8-8718-4E4F-AF20-EB9458CDACA5}"/>
                  </a:ext>
                </a:extLst>
              </p:cNvPr>
              <p:cNvSpPr/>
              <p:nvPr/>
            </p:nvSpPr>
            <p:spPr>
              <a:xfrm>
                <a:off x="2531661" y="2378059"/>
                <a:ext cx="1855354" cy="706053"/>
              </a:xfrm>
              <a:prstGeom prst="rect">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2400" i="1" smtClean="0">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𝑈</m:t>
                          </m:r>
                        </m:e>
                        <m:sup>
                          <m:sSup>
                            <m:sSupPr>
                              <m:ctrlPr>
                                <a:rPr lang="en-US" sz="2400" i="1" smtClean="0">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2</m:t>
                              </m:r>
                            </m:e>
                            <m:sup>
                              <m:r>
                                <a:rPr lang="en-US" sz="2400" b="0" i="1" smtClean="0">
                                  <a:latin typeface="Cambria Math" panose="02040503050406030204" pitchFamily="18" charset="0"/>
                                  <a:ea typeface="Cambria Math" panose="02040503050406030204" pitchFamily="18" charset="0"/>
                                </a:rPr>
                                <m:t>0</m:t>
                              </m:r>
                            </m:sup>
                          </m:sSup>
                        </m:sup>
                      </m:sSup>
                      <m:sSup>
                        <m:sSupPr>
                          <m:ctrlPr>
                            <a:rPr lang="en-US" sz="2400" i="1">
                              <a:latin typeface="Cambria Math" panose="02040503050406030204" pitchFamily="18" charset="0"/>
                              <a:ea typeface="Cambria Math" panose="02040503050406030204" pitchFamily="18" charset="0"/>
                            </a:rPr>
                          </m:ctrlPr>
                        </m:sSupPr>
                        <m:e>
                          <m:r>
                            <a:rPr lang="en-US" sz="240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𝑈</m:t>
                          </m:r>
                        </m:e>
                        <m:sup>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2</m:t>
                              </m:r>
                            </m:e>
                            <m:sup>
                              <m:r>
                                <a:rPr lang="en-US" sz="2400" b="0" i="1" smtClean="0">
                                  <a:latin typeface="Cambria Math" panose="02040503050406030204" pitchFamily="18" charset="0"/>
                                  <a:ea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−1</m:t>
                              </m:r>
                            </m:sup>
                          </m:sSup>
                        </m:sup>
                      </m:sSup>
                    </m:oMath>
                  </m:oMathPara>
                </a14:m>
                <a:endParaRPr lang="en-US" sz="2400" dirty="0">
                  <a:solidFill>
                    <a:schemeClr val="bg1"/>
                  </a:solidFill>
                  <a:latin typeface="Times" pitchFamily="2" charset="0"/>
                </a:endParaRPr>
              </a:p>
            </p:txBody>
          </p:sp>
        </mc:Choice>
        <mc:Fallback xmlns="">
          <p:sp>
            <p:nvSpPr>
              <p:cNvPr id="13" name="Rectangle 12">
                <a:extLst>
                  <a:ext uri="{FF2B5EF4-FFF2-40B4-BE49-F238E27FC236}">
                    <a16:creationId xmlns:a16="http://schemas.microsoft.com/office/drawing/2014/main" id="{5252BFC8-8718-4E4F-AF20-EB9458CDACA5}"/>
                  </a:ext>
                </a:extLst>
              </p:cNvPr>
              <p:cNvSpPr>
                <a:spLocks noRot="1" noChangeAspect="1" noMove="1" noResize="1" noEditPoints="1" noAdjustHandles="1" noChangeArrowheads="1" noChangeShapeType="1" noTextEdit="1"/>
              </p:cNvSpPr>
              <p:nvPr/>
            </p:nvSpPr>
            <p:spPr>
              <a:xfrm>
                <a:off x="2531661" y="2378059"/>
                <a:ext cx="1855354" cy="706053"/>
              </a:xfrm>
              <a:prstGeom prst="rect">
                <a:avLst/>
              </a:prstGeom>
              <a:blipFill>
                <a:blip r:embed="rId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D6A5C51A-0C3B-154E-A6DB-CF75B7660264}"/>
                  </a:ext>
                </a:extLst>
              </p:cNvPr>
              <p:cNvSpPr/>
              <p:nvPr/>
            </p:nvSpPr>
            <p:spPr>
              <a:xfrm>
                <a:off x="-81645" y="1436645"/>
                <a:ext cx="915892" cy="4060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000" b="0" i="1" smtClean="0">
                              <a:latin typeface="Cambria Math" panose="02040503050406030204" pitchFamily="18" charset="0"/>
                              <a:ea typeface="Cambria Math" panose="02040503050406030204" pitchFamily="18" charset="0"/>
                            </a:rPr>
                          </m:ctrlPr>
                        </m:sSupPr>
                        <m:e>
                          <m:d>
                            <m:dPr>
                              <m:begChr m:val=""/>
                              <m:endChr m:val="⟩"/>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|0</m:t>
                              </m:r>
                            </m:e>
                          </m:d>
                          <m:r>
                            <m:rPr>
                              <m:nor/>
                            </m:rPr>
                            <a:rPr lang="en-US" sz="2000" dirty="0"/>
                            <m:t> </m:t>
                          </m:r>
                        </m:e>
                        <m:sup>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𝑛</m:t>
                          </m:r>
                        </m:sup>
                      </m:sSup>
                    </m:oMath>
                  </m:oMathPara>
                </a14:m>
                <a:endParaRPr lang="en-US" sz="2000" dirty="0"/>
              </a:p>
            </p:txBody>
          </p:sp>
        </mc:Choice>
        <mc:Fallback xmlns="">
          <p:sp>
            <p:nvSpPr>
              <p:cNvPr id="14" name="Rectangle 13">
                <a:extLst>
                  <a:ext uri="{FF2B5EF4-FFF2-40B4-BE49-F238E27FC236}">
                    <a16:creationId xmlns:a16="http://schemas.microsoft.com/office/drawing/2014/main" id="{D6A5C51A-0C3B-154E-A6DB-CF75B7660264}"/>
                  </a:ext>
                </a:extLst>
              </p:cNvPr>
              <p:cNvSpPr>
                <a:spLocks noRot="1" noChangeAspect="1" noMove="1" noResize="1" noEditPoints="1" noAdjustHandles="1" noChangeArrowheads="1" noChangeShapeType="1" noTextEdit="1"/>
              </p:cNvSpPr>
              <p:nvPr/>
            </p:nvSpPr>
            <p:spPr>
              <a:xfrm>
                <a:off x="-81645" y="1436645"/>
                <a:ext cx="915892" cy="406009"/>
              </a:xfrm>
              <a:prstGeom prst="rect">
                <a:avLst/>
              </a:prstGeom>
              <a:blipFill>
                <a:blip r:embed="rId6"/>
                <a:stretch>
                  <a:fillRect l="-12500" t="-112121" b="-1727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C2A514C4-67E1-0145-9042-08CC86924D9A}"/>
                  </a:ext>
                </a:extLst>
              </p:cNvPr>
              <p:cNvSpPr/>
              <p:nvPr/>
            </p:nvSpPr>
            <p:spPr>
              <a:xfrm>
                <a:off x="2441909" y="891623"/>
                <a:ext cx="2239716" cy="72808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rad>
                            <m:radPr>
                              <m:degHide m:val="on"/>
                              <m:ctrlPr>
                                <a:rPr lang="en-US" sz="2000" i="1">
                                  <a:latin typeface="Cambria Math" panose="02040503050406030204" pitchFamily="18" charset="0"/>
                                  <a:ea typeface="Cambria Math" panose="02040503050406030204" pitchFamily="18" charset="0"/>
                                </a:rPr>
                              </m:ctrlPr>
                            </m:radPr>
                            <m:deg/>
                            <m:e>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2</m:t>
                                  </m:r>
                                </m:e>
                                <m:sup>
                                  <m:r>
                                    <a:rPr lang="en-US" sz="2000" i="1">
                                      <a:latin typeface="Cambria Math" panose="02040503050406030204" pitchFamily="18" charset="0"/>
                                      <a:ea typeface="Cambria Math" panose="02040503050406030204" pitchFamily="18" charset="0"/>
                                    </a:rPr>
                                    <m:t>𝑛</m:t>
                                  </m:r>
                                </m:sup>
                              </m:sSup>
                            </m:e>
                          </m:rad>
                        </m:den>
                      </m:f>
                      <m:sSup>
                        <m:sSupPr>
                          <m:ctrlPr>
                            <a:rPr lang="en-US" sz="2000" i="1">
                              <a:latin typeface="Cambria Math" panose="02040503050406030204" pitchFamily="18" charset="0"/>
                              <a:ea typeface="Cambria Math" panose="02040503050406030204" pitchFamily="18" charset="0"/>
                            </a:rPr>
                          </m:ctrlPr>
                        </m:sSupPr>
                        <m:e>
                          <m:d>
                            <m:dPr>
                              <m:ctrlPr>
                                <a:rPr lang="en-US" sz="2000" i="1">
                                  <a:latin typeface="Cambria Math" panose="02040503050406030204" pitchFamily="18" charset="0"/>
                                  <a:ea typeface="Cambria Math" panose="02040503050406030204" pitchFamily="18" charset="0"/>
                                </a:rPr>
                              </m:ctrlPr>
                            </m:dPr>
                            <m:e>
                              <m:d>
                                <m:dPr>
                                  <m:begChr m:val=""/>
                                  <m:endChr m:val="⟩"/>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|0</m:t>
                                  </m:r>
                                </m:e>
                              </m:d>
                              <m:r>
                                <m:rPr>
                                  <m:nor/>
                                </m:rPr>
                                <a:rPr lang="en-US" sz="2000" dirty="0">
                                  <a:latin typeface="Cambria Math" panose="02040503050406030204" pitchFamily="18" charset="0"/>
                                  <a:ea typeface="Cambria Math" panose="02040503050406030204" pitchFamily="18" charset="0"/>
                                </a:rPr>
                                <m:t> </m:t>
                              </m:r>
                              <m:r>
                                <a:rPr lang="en-US" sz="2000" i="1" dirty="0">
                                  <a:latin typeface="Cambria Math" panose="02040503050406030204" pitchFamily="18" charset="0"/>
                                  <a:ea typeface="Cambria Math" panose="02040503050406030204" pitchFamily="18" charset="0"/>
                                </a:rPr>
                                <m:t>+</m:t>
                              </m:r>
                              <m:d>
                                <m:dPr>
                                  <m:begChr m:val=""/>
                                  <m:endChr m:val="⟩"/>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|1</m:t>
                                  </m:r>
                                </m:e>
                              </m:d>
                            </m:e>
                          </m:d>
                        </m:e>
                        <m:sup>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𝑛</m:t>
                          </m:r>
                        </m:sup>
                      </m:sSup>
                    </m:oMath>
                  </m:oMathPara>
                </a14:m>
                <a:endParaRPr lang="en-US" sz="2000" dirty="0"/>
              </a:p>
            </p:txBody>
          </p:sp>
        </mc:Choice>
        <mc:Fallback xmlns="">
          <p:sp>
            <p:nvSpPr>
              <p:cNvPr id="16" name="Rectangle 15">
                <a:extLst>
                  <a:ext uri="{FF2B5EF4-FFF2-40B4-BE49-F238E27FC236}">
                    <a16:creationId xmlns:a16="http://schemas.microsoft.com/office/drawing/2014/main" id="{C2A514C4-67E1-0145-9042-08CC86924D9A}"/>
                  </a:ext>
                </a:extLst>
              </p:cNvPr>
              <p:cNvSpPr>
                <a:spLocks noRot="1" noChangeAspect="1" noMove="1" noResize="1" noEditPoints="1" noAdjustHandles="1" noChangeArrowheads="1" noChangeShapeType="1" noTextEdit="1"/>
              </p:cNvSpPr>
              <p:nvPr/>
            </p:nvSpPr>
            <p:spPr>
              <a:xfrm>
                <a:off x="2441909" y="891623"/>
                <a:ext cx="2239716" cy="728084"/>
              </a:xfrm>
              <a:prstGeom prst="rect">
                <a:avLst/>
              </a:prstGeom>
              <a:blipFill>
                <a:blip r:embed="rId7"/>
                <a:stretch>
                  <a:fillRect t="-40678" b="-74576"/>
                </a:stretch>
              </a:blipFill>
            </p:spPr>
            <p:txBody>
              <a:bodyPr/>
              <a:lstStyle/>
              <a:p>
                <a:r>
                  <a:rPr lang="en-US">
                    <a:noFill/>
                  </a:rPr>
                  <a:t> </a:t>
                </a:r>
              </a:p>
            </p:txBody>
          </p:sp>
        </mc:Fallback>
      </mc:AlternateContent>
      <p:cxnSp>
        <p:nvCxnSpPr>
          <p:cNvPr id="24" name="Straight Connector 23">
            <a:extLst>
              <a:ext uri="{FF2B5EF4-FFF2-40B4-BE49-F238E27FC236}">
                <a16:creationId xmlns:a16="http://schemas.microsoft.com/office/drawing/2014/main" id="{467A36D9-6986-444E-BECD-3A4C9554C7D5}"/>
              </a:ext>
            </a:extLst>
          </p:cNvPr>
          <p:cNvCxnSpPr>
            <a:cxnSpLocks/>
          </p:cNvCxnSpPr>
          <p:nvPr/>
        </p:nvCxnSpPr>
        <p:spPr>
          <a:xfrm flipV="1">
            <a:off x="780455" y="2580522"/>
            <a:ext cx="207169" cy="304174"/>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14728A4B-AD8D-7E4F-8816-736ECF8482B3}"/>
                  </a:ext>
                </a:extLst>
              </p:cNvPr>
              <p:cNvSpPr/>
              <p:nvPr/>
            </p:nvSpPr>
            <p:spPr>
              <a:xfrm>
                <a:off x="4757639" y="2206756"/>
                <a:ext cx="4735976" cy="458972"/>
              </a:xfrm>
              <a:prstGeom prst="rect">
                <a:avLst/>
              </a:prstGeom>
            </p:spPr>
            <p:txBody>
              <a:bodyPr wrap="none">
                <a:spAutoFit/>
              </a:bodyPr>
              <a:lstStyle/>
              <a:p>
                <a14:m>
                  <m:oMath xmlns:m="http://schemas.openxmlformats.org/officeDocument/2006/math">
                    <m:r>
                      <a:rPr lang="en-US" sz="2000" i="1" smtClean="0">
                        <a:latin typeface="Cambria Math" panose="02040503050406030204" pitchFamily="18" charset="0"/>
                        <a:ea typeface="Cambria Math" panose="02040503050406030204" pitchFamily="18" charset="0"/>
                      </a:rPr>
                      <m:t>𝑈</m:t>
                    </m:r>
                    <m:d>
                      <m:dPr>
                        <m:begChr m:val=""/>
                        <m:endChr m:val="⟩"/>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𝑢</m:t>
                        </m:r>
                      </m:e>
                    </m:d>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𝑒</m:t>
                        </m:r>
                      </m:e>
                      <m:sup>
                        <m:r>
                          <a:rPr lang="en-US" sz="2000" i="1">
                            <a:latin typeface="Cambria Math" panose="02040503050406030204" pitchFamily="18" charset="0"/>
                            <a:ea typeface="Cambria Math" panose="02040503050406030204" pitchFamily="18" charset="0"/>
                          </a:rPr>
                          <m:t>2</m:t>
                        </m:r>
                        <m:r>
                          <a:rPr lang="en-US" sz="2000" i="1">
                            <a:latin typeface="Cambria Math" panose="02040503050406030204" pitchFamily="18" charset="0"/>
                            <a:ea typeface="Cambria Math" panose="02040503050406030204" pitchFamily="18" charset="0"/>
                          </a:rPr>
                          <m:t>𝜋</m:t>
                        </m:r>
                        <m:r>
                          <a:rPr lang="en-US" sz="2000" i="1">
                            <a:latin typeface="Cambria Math" panose="02040503050406030204" pitchFamily="18" charset="0"/>
                            <a:ea typeface="Cambria Math" panose="02040503050406030204" pitchFamily="18" charset="0"/>
                          </a:rPr>
                          <m:t>𝑖</m:t>
                        </m:r>
                        <m:r>
                          <a:rPr lang="en-US" sz="2000" i="1">
                            <a:latin typeface="Cambria Math" panose="02040503050406030204" pitchFamily="18" charset="0"/>
                            <a:ea typeface="Cambria Math" panose="02040503050406030204" pitchFamily="18" charset="0"/>
                          </a:rPr>
                          <m:t>𝜑</m:t>
                        </m:r>
                      </m:sup>
                    </m:sSup>
                    <m:r>
                      <m:rPr>
                        <m:nor/>
                      </m:rPr>
                      <a:rPr lang="en-US" sz="2000" dirty="0">
                        <a:ea typeface="Cambria Math" panose="02040503050406030204" pitchFamily="18" charset="0"/>
                      </a:rPr>
                      <m:t> </m:t>
                    </m:r>
                    <m:d>
                      <m:dPr>
                        <m:begChr m:val=""/>
                        <m:endChr m:val="⟩"/>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𝑢</m:t>
                        </m:r>
                      </m:e>
                    </m:d>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𝑈</m:t>
                        </m:r>
                      </m:e>
                      <m:sup>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2</m:t>
                            </m:r>
                          </m:e>
                          <m:sup>
                            <m:r>
                              <a:rPr lang="en-US" sz="2000" i="1">
                                <a:latin typeface="Cambria Math" panose="02040503050406030204" pitchFamily="18" charset="0"/>
                                <a:ea typeface="Cambria Math" panose="02040503050406030204" pitchFamily="18" charset="0"/>
                              </a:rPr>
                              <m:t>𝑗</m:t>
                            </m:r>
                          </m:sup>
                        </m:sSup>
                      </m:sup>
                    </m:sSup>
                    <m:d>
                      <m:dPr>
                        <m:begChr m:val=""/>
                        <m:endChr m:val="⟩"/>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𝑢</m:t>
                        </m:r>
                      </m:e>
                    </m:d>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𝑒</m:t>
                        </m:r>
                      </m:e>
                      <m:sup>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2</m:t>
                            </m:r>
                          </m:e>
                          <m:sup>
                            <m:r>
                              <a:rPr lang="en-US" sz="2000" i="1">
                                <a:latin typeface="Cambria Math" panose="02040503050406030204" pitchFamily="18" charset="0"/>
                                <a:ea typeface="Cambria Math" panose="02040503050406030204" pitchFamily="18" charset="0"/>
                              </a:rPr>
                              <m:t>𝑗</m:t>
                            </m:r>
                          </m:sup>
                        </m:sSup>
                        <m:r>
                          <a:rPr lang="en-US" sz="2000" i="1">
                            <a:latin typeface="Cambria Math" panose="02040503050406030204" pitchFamily="18" charset="0"/>
                            <a:ea typeface="Cambria Math" panose="02040503050406030204" pitchFamily="18" charset="0"/>
                          </a:rPr>
                          <m:t>2</m:t>
                        </m:r>
                        <m:r>
                          <a:rPr lang="en-US" sz="2000" i="1">
                            <a:latin typeface="Cambria Math" panose="02040503050406030204" pitchFamily="18" charset="0"/>
                            <a:ea typeface="Cambria Math" panose="02040503050406030204" pitchFamily="18" charset="0"/>
                          </a:rPr>
                          <m:t>𝜋</m:t>
                        </m:r>
                        <m:r>
                          <a:rPr lang="en-US" sz="2000" i="1">
                            <a:latin typeface="Cambria Math" panose="02040503050406030204" pitchFamily="18" charset="0"/>
                            <a:ea typeface="Cambria Math" panose="02040503050406030204" pitchFamily="18" charset="0"/>
                          </a:rPr>
                          <m:t>𝑖</m:t>
                        </m:r>
                        <m:r>
                          <a:rPr lang="en-US" sz="2000" i="1">
                            <a:latin typeface="Cambria Math" panose="02040503050406030204" pitchFamily="18" charset="0"/>
                            <a:ea typeface="Cambria Math" panose="02040503050406030204" pitchFamily="18" charset="0"/>
                          </a:rPr>
                          <m:t>𝜑</m:t>
                        </m:r>
                      </m:sup>
                    </m:sSup>
                    <m:d>
                      <m:dPr>
                        <m:begChr m:val=""/>
                        <m:endChr m:val="⟩"/>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𝑢</m:t>
                        </m:r>
                      </m:e>
                    </m:d>
                  </m:oMath>
                </a14:m>
                <a:r>
                  <a:rPr lang="en-US" sz="2000" dirty="0">
                    <a:ea typeface="Cambria Math" panose="02040503050406030204" pitchFamily="18"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m:t>
                    </m:r>
                  </m:oMath>
                </a14:m>
                <a:endParaRPr lang="en-US" sz="2000" dirty="0">
                  <a:latin typeface="Cambria Math" panose="02040503050406030204" pitchFamily="18" charset="0"/>
                  <a:ea typeface="Cambria Math" panose="02040503050406030204" pitchFamily="18" charset="0"/>
                </a:endParaRPr>
              </a:p>
            </p:txBody>
          </p:sp>
        </mc:Choice>
        <mc:Fallback xmlns="">
          <p:sp>
            <p:nvSpPr>
              <p:cNvPr id="26" name="Rectangle 25">
                <a:extLst>
                  <a:ext uri="{FF2B5EF4-FFF2-40B4-BE49-F238E27FC236}">
                    <a16:creationId xmlns:a16="http://schemas.microsoft.com/office/drawing/2014/main" id="{14728A4B-AD8D-7E4F-8816-736ECF8482B3}"/>
                  </a:ext>
                </a:extLst>
              </p:cNvPr>
              <p:cNvSpPr>
                <a:spLocks noRot="1" noChangeAspect="1" noMove="1" noResize="1" noEditPoints="1" noAdjustHandles="1" noChangeArrowheads="1" noChangeShapeType="1" noTextEdit="1"/>
              </p:cNvSpPr>
              <p:nvPr/>
            </p:nvSpPr>
            <p:spPr>
              <a:xfrm>
                <a:off x="4757639" y="2206756"/>
                <a:ext cx="4735976" cy="458972"/>
              </a:xfrm>
              <a:prstGeom prst="rect">
                <a:avLst/>
              </a:prstGeom>
              <a:blipFill>
                <a:blip r:embed="rId8"/>
                <a:stretch>
                  <a:fillRect t="-89189" b="-1513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3883935E-83DA-DA4B-8B62-76F4854469F9}"/>
                  </a:ext>
                </a:extLst>
              </p:cNvPr>
              <p:cNvSpPr/>
              <p:nvPr/>
            </p:nvSpPr>
            <p:spPr>
              <a:xfrm>
                <a:off x="10544393" y="1365731"/>
                <a:ext cx="1453283" cy="669927"/>
              </a:xfrm>
              <a:prstGeom prst="rect">
                <a:avLst/>
              </a:prstGeom>
              <a:solidFill>
                <a:schemeClr val="accent4">
                  <a:lumMod val="20000"/>
                  <a:lumOff val="80000"/>
                </a:schemeClr>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sz="2200" i="1" smtClean="0">
                          <a:solidFill>
                            <a:schemeClr val="tx1"/>
                          </a:solidFill>
                          <a:latin typeface="Cambria Math" panose="02040503050406030204" pitchFamily="18" charset="0"/>
                          <a:ea typeface="Cambria Math" panose="02040503050406030204" pitchFamily="18" charset="0"/>
                        </a:rPr>
                        <m:t>→</m:t>
                      </m:r>
                      <m:r>
                        <a:rPr lang="en-US" sz="2200" i="1">
                          <a:solidFill>
                            <a:schemeClr val="tx1"/>
                          </a:solidFill>
                          <a:latin typeface="Cambria Math" panose="02040503050406030204" pitchFamily="18" charset="0"/>
                          <a:ea typeface="Cambria Math" panose="02040503050406030204" pitchFamily="18" charset="0"/>
                        </a:rPr>
                        <m:t>𝜑</m:t>
                      </m:r>
                      <m:r>
                        <a:rPr lang="en-US" sz="2400" i="1">
                          <a:solidFill>
                            <a:schemeClr val="tx1"/>
                          </a:solidFill>
                          <a:latin typeface="Cambria Math" panose="02040503050406030204" pitchFamily="18" charset="0"/>
                          <a:ea typeface="Cambria Math" panose="02040503050406030204" pitchFamily="18" charset="0"/>
                        </a:rPr>
                        <m:t>≈</m:t>
                      </m:r>
                      <m:f>
                        <m:fPr>
                          <m:ctrlPr>
                            <a:rPr lang="en-US" sz="2200" i="1">
                              <a:solidFill>
                                <a:schemeClr val="tx1"/>
                              </a:solidFill>
                              <a:latin typeface="Cambria Math" panose="02040503050406030204" pitchFamily="18" charset="0"/>
                              <a:ea typeface="Cambria Math" panose="02040503050406030204" pitchFamily="18" charset="0"/>
                            </a:rPr>
                          </m:ctrlPr>
                        </m:fPr>
                        <m:num>
                          <m:r>
                            <a:rPr lang="en-US" sz="2200" b="0" i="1" smtClean="0">
                              <a:solidFill>
                                <a:schemeClr val="tx1"/>
                              </a:solidFill>
                              <a:latin typeface="Cambria Math" panose="02040503050406030204" pitchFamily="18" charset="0"/>
                              <a:ea typeface="Cambria Math" panose="02040503050406030204" pitchFamily="18" charset="0"/>
                            </a:rPr>
                            <m:t>𝑚</m:t>
                          </m:r>
                        </m:num>
                        <m:den>
                          <m:sSup>
                            <m:sSupPr>
                              <m:ctrlPr>
                                <a:rPr lang="en-US" sz="2200" i="1">
                                  <a:solidFill>
                                    <a:schemeClr val="tx1"/>
                                  </a:solidFill>
                                  <a:latin typeface="Cambria Math" panose="02040503050406030204" pitchFamily="18" charset="0"/>
                                  <a:ea typeface="Cambria Math" panose="02040503050406030204" pitchFamily="18" charset="0"/>
                                </a:rPr>
                              </m:ctrlPr>
                            </m:sSupPr>
                            <m:e>
                              <m:r>
                                <a:rPr lang="en-US" sz="2200" i="1">
                                  <a:solidFill>
                                    <a:schemeClr val="tx1"/>
                                  </a:solidFill>
                                  <a:latin typeface="Cambria Math" panose="02040503050406030204" pitchFamily="18" charset="0"/>
                                  <a:ea typeface="Cambria Math" panose="02040503050406030204" pitchFamily="18" charset="0"/>
                                </a:rPr>
                                <m:t>2</m:t>
                              </m:r>
                            </m:e>
                            <m:sup>
                              <m:r>
                                <a:rPr lang="en-US" sz="2200" i="1">
                                  <a:solidFill>
                                    <a:schemeClr val="tx1"/>
                                  </a:solidFill>
                                  <a:latin typeface="Cambria Math" panose="02040503050406030204" pitchFamily="18" charset="0"/>
                                  <a:ea typeface="Cambria Math" panose="02040503050406030204" pitchFamily="18" charset="0"/>
                                </a:rPr>
                                <m:t>𝑛</m:t>
                              </m:r>
                            </m:sup>
                          </m:sSup>
                        </m:den>
                      </m:f>
                    </m:oMath>
                  </m:oMathPara>
                </a14:m>
                <a:endParaRPr lang="en-US" sz="2200" dirty="0">
                  <a:solidFill>
                    <a:schemeClr val="tx1">
                      <a:lumMod val="50000"/>
                      <a:lumOff val="50000"/>
                    </a:schemeClr>
                  </a:solidFill>
                </a:endParaRPr>
              </a:p>
            </p:txBody>
          </p:sp>
        </mc:Choice>
        <mc:Fallback xmlns="">
          <p:sp>
            <p:nvSpPr>
              <p:cNvPr id="30" name="Rectangle 29">
                <a:extLst>
                  <a:ext uri="{FF2B5EF4-FFF2-40B4-BE49-F238E27FC236}">
                    <a16:creationId xmlns:a16="http://schemas.microsoft.com/office/drawing/2014/main" id="{3883935E-83DA-DA4B-8B62-76F4854469F9}"/>
                  </a:ext>
                </a:extLst>
              </p:cNvPr>
              <p:cNvSpPr>
                <a:spLocks noRot="1" noChangeAspect="1" noMove="1" noResize="1" noEditPoints="1" noAdjustHandles="1" noChangeArrowheads="1" noChangeShapeType="1" noTextEdit="1"/>
              </p:cNvSpPr>
              <p:nvPr/>
            </p:nvSpPr>
            <p:spPr>
              <a:xfrm>
                <a:off x="10544393" y="1365731"/>
                <a:ext cx="1453283" cy="669927"/>
              </a:xfrm>
              <a:prstGeom prst="rect">
                <a:avLst/>
              </a:prstGeom>
              <a:blipFill>
                <a:blip r:embed="rId9"/>
                <a:stretch>
                  <a:fillRect b="-57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140653E8-C8A8-314E-81D1-5518CEFDF108}"/>
                  </a:ext>
                </a:extLst>
              </p:cNvPr>
              <p:cNvSpPr/>
              <p:nvPr/>
            </p:nvSpPr>
            <p:spPr>
              <a:xfrm>
                <a:off x="9153660" y="1325097"/>
                <a:ext cx="1354986"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ea typeface="Cambria Math" panose="02040503050406030204" pitchFamily="18" charset="0"/>
                        </a:rPr>
                        <m:t>𝑚</m:t>
                      </m:r>
                      <m:r>
                        <a:rPr lang="en-US" sz="2200" b="0" i="1" smtClean="0">
                          <a:latin typeface="Cambria Math" panose="02040503050406030204" pitchFamily="18" charset="0"/>
                          <a:ea typeface="Cambria Math" panose="02040503050406030204" pitchFamily="18" charset="0"/>
                        </a:rPr>
                        <m:t>≈</m:t>
                      </m:r>
                      <m:sSup>
                        <m:sSupPr>
                          <m:ctrlPr>
                            <a:rPr lang="en-US" sz="2200" i="1">
                              <a:latin typeface="Cambria Math" panose="02040503050406030204" pitchFamily="18"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2</m:t>
                          </m:r>
                        </m:e>
                        <m:sup>
                          <m:r>
                            <a:rPr lang="en-US" sz="2200" i="1">
                              <a:latin typeface="Cambria Math" panose="02040503050406030204" pitchFamily="18" charset="0"/>
                              <a:ea typeface="Cambria Math" panose="02040503050406030204" pitchFamily="18" charset="0"/>
                            </a:rPr>
                            <m:t>𝑛</m:t>
                          </m:r>
                        </m:sup>
                      </m:sSup>
                      <m:r>
                        <a:rPr lang="en-US" sz="2200" i="1">
                          <a:latin typeface="Cambria Math" panose="02040503050406030204" pitchFamily="18" charset="0"/>
                          <a:ea typeface="Cambria Math" panose="02040503050406030204" pitchFamily="18" charset="0"/>
                        </a:rPr>
                        <m:t>𝜑</m:t>
                      </m:r>
                    </m:oMath>
                  </m:oMathPara>
                </a14:m>
                <a:endParaRPr lang="en-US" sz="2200" dirty="0"/>
              </a:p>
            </p:txBody>
          </p:sp>
        </mc:Choice>
        <mc:Fallback xmlns="">
          <p:sp>
            <p:nvSpPr>
              <p:cNvPr id="33" name="Rectangle 32">
                <a:extLst>
                  <a:ext uri="{FF2B5EF4-FFF2-40B4-BE49-F238E27FC236}">
                    <a16:creationId xmlns:a16="http://schemas.microsoft.com/office/drawing/2014/main" id="{140653E8-C8A8-314E-81D1-5518CEFDF108}"/>
                  </a:ext>
                </a:extLst>
              </p:cNvPr>
              <p:cNvSpPr>
                <a:spLocks noRot="1" noChangeAspect="1" noMove="1" noResize="1" noEditPoints="1" noAdjustHandles="1" noChangeArrowheads="1" noChangeShapeType="1" noTextEdit="1"/>
              </p:cNvSpPr>
              <p:nvPr/>
            </p:nvSpPr>
            <p:spPr>
              <a:xfrm>
                <a:off x="9153660" y="1325097"/>
                <a:ext cx="1354986" cy="430887"/>
              </a:xfrm>
              <a:prstGeom prst="rect">
                <a:avLst/>
              </a:prstGeom>
              <a:blipFill>
                <a:blip r:embed="rId10"/>
                <a:stretch>
                  <a:fillRect b="-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E4C28EC6-AF6E-A84A-9231-ED6F145ED3C2}"/>
                  </a:ext>
                </a:extLst>
              </p:cNvPr>
              <p:cNvSpPr/>
              <p:nvPr/>
            </p:nvSpPr>
            <p:spPr>
              <a:xfrm>
                <a:off x="721198" y="4552824"/>
                <a:ext cx="10005944" cy="182896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solidFill>
                                <a:schemeClr val="tx1"/>
                              </a:solidFill>
                              <a:latin typeface="Cambria Math" panose="02040503050406030204" pitchFamily="18" charset="0"/>
                              <a:ea typeface="Cambria Math" panose="02040503050406030204" pitchFamily="18" charset="0"/>
                            </a:rPr>
                          </m:ctrlPr>
                        </m:mPr>
                        <m:mr>
                          <m:e>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𝑄𝐹𝑇</m:t>
                                </m:r>
                              </m:e>
                              <m:sup>
                                <m:r>
                                  <a:rPr lang="en-US" i="1">
                                    <a:solidFill>
                                      <a:schemeClr val="tx1"/>
                                    </a:solidFill>
                                    <a:latin typeface="Cambria Math" panose="02040503050406030204" pitchFamily="18" charset="0"/>
                                    <a:ea typeface="Cambria Math" panose="02040503050406030204" pitchFamily="18" charset="0"/>
                                  </a:rPr>
                                  <m:t>†</m:t>
                                </m:r>
                              </m:sup>
                            </m:sSup>
                            <m:d>
                              <m:dPr>
                                <m:ctrlPr>
                                  <a:rPr lang="en-US" i="1" smtClean="0">
                                    <a:solidFill>
                                      <a:schemeClr val="tx1"/>
                                    </a:solidFill>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ad>
                                      <m:radPr>
                                        <m:degHide m:val="on"/>
                                        <m:ctrlPr>
                                          <a:rPr lang="en-US" i="1">
                                            <a:latin typeface="Cambria Math" panose="02040503050406030204" pitchFamily="18" charset="0"/>
                                            <a:ea typeface="Cambria Math" panose="02040503050406030204" pitchFamily="18" charset="0"/>
                                          </a:rPr>
                                        </m:ctrlPr>
                                      </m:radPr>
                                      <m:deg/>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2</m:t>
                                            </m:r>
                                          </m:e>
                                          <m:sup>
                                            <m:r>
                                              <a:rPr lang="en-US" i="1">
                                                <a:latin typeface="Cambria Math" panose="02040503050406030204" pitchFamily="18" charset="0"/>
                                                <a:ea typeface="Cambria Math" panose="02040503050406030204" pitchFamily="18" charset="0"/>
                                              </a:rPr>
                                              <m:t>𝑛</m:t>
                                            </m:r>
                                          </m:sup>
                                        </m:sSup>
                                      </m:e>
                                    </m:rad>
                                  </m:den>
                                </m:f>
                                <m:nary>
                                  <m:naryPr>
                                    <m:chr m:val="∑"/>
                                    <m:ctrlPr>
                                      <a:rPr lang="en-US"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=0</m:t>
                                    </m:r>
                                  </m:sub>
                                  <m:sup>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2</m:t>
                                        </m:r>
                                      </m:e>
                                      <m:sup>
                                        <m:r>
                                          <a:rPr lang="en-US" i="1">
                                            <a:latin typeface="Cambria Math" panose="02040503050406030204" pitchFamily="18" charset="0"/>
                                            <a:ea typeface="Cambria Math" panose="02040503050406030204" pitchFamily="18" charset="0"/>
                                          </a:rPr>
                                          <m:t>𝑛</m:t>
                                        </m:r>
                                      </m:sup>
                                    </m:sSup>
                                    <m:r>
                                      <a:rPr lang="en-US" i="1">
                                        <a:latin typeface="Cambria Math" panose="02040503050406030204" pitchFamily="18" charset="0"/>
                                        <a:ea typeface="Cambria Math" panose="02040503050406030204" pitchFamily="18" charset="0"/>
                                      </a:rPr>
                                      <m:t>−1</m:t>
                                    </m:r>
                                  </m:sup>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𝜑</m:t>
                                        </m:r>
                                        <m:r>
                                          <a:rPr lang="en-US" i="1">
                                            <a:latin typeface="Cambria Math" panose="02040503050406030204" pitchFamily="18" charset="0"/>
                                            <a:ea typeface="Cambria Math" panose="02040503050406030204" pitchFamily="18" charset="0"/>
                                          </a:rPr>
                                          <m:t>𝑘</m:t>
                                        </m:r>
                                      </m:sup>
                                    </m:sSup>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𝑘</m:t>
                                        </m:r>
                                      </m:e>
                                    </m:d>
                                  </m:e>
                                </m:nary>
                              </m:e>
                            </m:d>
                            <m:r>
                              <a:rPr lang="en-US" i="1" smtClean="0">
                                <a:solidFill>
                                  <a:schemeClr val="tx1"/>
                                </a:solidFill>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ad>
                                  <m:radPr>
                                    <m:degHide m:val="on"/>
                                    <m:ctrlPr>
                                      <a:rPr lang="en-US" i="1">
                                        <a:latin typeface="Cambria Math" panose="02040503050406030204" pitchFamily="18" charset="0"/>
                                        <a:ea typeface="Cambria Math" panose="02040503050406030204" pitchFamily="18" charset="0"/>
                                      </a:rPr>
                                    </m:ctrlPr>
                                  </m:radPr>
                                  <m:deg/>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2</m:t>
                                        </m:r>
                                      </m:e>
                                      <m:sup>
                                        <m:r>
                                          <a:rPr lang="en-US" i="1">
                                            <a:latin typeface="Cambria Math" panose="02040503050406030204" pitchFamily="18" charset="0"/>
                                            <a:ea typeface="Cambria Math" panose="02040503050406030204" pitchFamily="18" charset="0"/>
                                          </a:rPr>
                                          <m:t>𝑛</m:t>
                                        </m:r>
                                      </m:sup>
                                    </m:sSup>
                                  </m:e>
                                </m:rad>
                              </m:den>
                            </m:f>
                            <m:nary>
                              <m:naryPr>
                                <m:chr m:val="∑"/>
                                <m:ctrlPr>
                                  <a:rPr lang="en-US" i="1">
                                    <a:latin typeface="Cambria Math" panose="02040503050406030204" pitchFamily="18" charset="0"/>
                                    <a:ea typeface="Cambria Math" panose="02040503050406030204" pitchFamily="18" charset="0"/>
                                  </a:rPr>
                                </m:ctrlPr>
                              </m:naryPr>
                              <m:sub>
                                <m:r>
                                  <m:rPr>
                                    <m:brk m:alnAt="23"/>
                                  </m:rPr>
                                  <a:rPr lang="en-US" i="1">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=0</m:t>
                                </m:r>
                              </m:sub>
                              <m:sup>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2</m:t>
                                    </m:r>
                                  </m:e>
                                  <m:sup>
                                    <m:r>
                                      <a:rPr lang="en-US" i="1">
                                        <a:latin typeface="Cambria Math" panose="02040503050406030204" pitchFamily="18" charset="0"/>
                                        <a:ea typeface="Cambria Math" panose="02040503050406030204" pitchFamily="18" charset="0"/>
                                      </a:rPr>
                                      <m:t>𝑛</m:t>
                                    </m:r>
                                  </m:sup>
                                </m:sSup>
                                <m:r>
                                  <a:rPr lang="en-US" i="1">
                                    <a:latin typeface="Cambria Math" panose="02040503050406030204" pitchFamily="18" charset="0"/>
                                    <a:ea typeface="Cambria Math" panose="02040503050406030204" pitchFamily="18" charset="0"/>
                                  </a:rPr>
                                  <m:t>−1</m:t>
                                </m:r>
                              </m:sup>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𝜑</m:t>
                                    </m:r>
                                    <m:r>
                                      <a:rPr lang="en-US" i="1">
                                        <a:latin typeface="Cambria Math" panose="02040503050406030204" pitchFamily="18" charset="0"/>
                                        <a:ea typeface="Cambria Math" panose="02040503050406030204" pitchFamily="18" charset="0"/>
                                      </a:rPr>
                                      <m:t>𝑘</m:t>
                                    </m:r>
                                  </m:sup>
                                </m:sSup>
                                <m:d>
                                  <m:dPr>
                                    <m:begChr m:val=""/>
                                    <m:endChr m:val="⟩"/>
                                    <m:ctrlPr>
                                      <a:rPr lang="en-US" i="1" smtClean="0">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𝑄𝐹𝑇</m:t>
                                        </m:r>
                                      </m:e>
                                      <m:sup>
                                        <m:r>
                                          <a:rPr lang="en-US" i="1">
                                            <a:latin typeface="Cambria Math" panose="02040503050406030204" pitchFamily="18" charset="0"/>
                                            <a:ea typeface="Cambria Math" panose="02040503050406030204" pitchFamily="18" charset="0"/>
                                          </a:rPr>
                                          <m:t>†</m:t>
                                        </m:r>
                                      </m:sup>
                                    </m:s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𝑘</m:t>
                                    </m:r>
                                  </m:e>
                                </m:d>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ad>
                                      <m:radPr>
                                        <m:degHide m:val="on"/>
                                        <m:ctrlPr>
                                          <a:rPr lang="en-US" i="1">
                                            <a:latin typeface="Cambria Math" panose="02040503050406030204" pitchFamily="18" charset="0"/>
                                            <a:ea typeface="Cambria Math" panose="02040503050406030204" pitchFamily="18" charset="0"/>
                                          </a:rPr>
                                        </m:ctrlPr>
                                      </m:radPr>
                                      <m:deg/>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2</m:t>
                                            </m:r>
                                          </m:e>
                                          <m:sup>
                                            <m:r>
                                              <a:rPr lang="en-US" i="1">
                                                <a:latin typeface="Cambria Math" panose="02040503050406030204" pitchFamily="18" charset="0"/>
                                                <a:ea typeface="Cambria Math" panose="02040503050406030204" pitchFamily="18" charset="0"/>
                                              </a:rPr>
                                              <m:t>𝑛</m:t>
                                            </m:r>
                                          </m:sup>
                                        </m:sSup>
                                      </m:e>
                                    </m:rad>
                                  </m:den>
                                </m:f>
                                <m:nary>
                                  <m:naryPr>
                                    <m:chr m:val="∑"/>
                                    <m:ctrlPr>
                                      <a:rPr lang="en-US" i="1">
                                        <a:latin typeface="Cambria Math" panose="02040503050406030204" pitchFamily="18" charset="0"/>
                                        <a:ea typeface="Cambria Math" panose="02040503050406030204" pitchFamily="18" charset="0"/>
                                      </a:rPr>
                                    </m:ctrlPr>
                                  </m:naryPr>
                                  <m:sub>
                                    <m:r>
                                      <m:rPr>
                                        <m:brk m:alnAt="23"/>
                                      </m:rPr>
                                      <a:rPr lang="en-US" i="1">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=0</m:t>
                                    </m:r>
                                  </m:sub>
                                  <m:sup>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2</m:t>
                                        </m:r>
                                      </m:e>
                                      <m:sup>
                                        <m:r>
                                          <a:rPr lang="en-US" i="1">
                                            <a:latin typeface="Cambria Math" panose="02040503050406030204" pitchFamily="18" charset="0"/>
                                            <a:ea typeface="Cambria Math" panose="02040503050406030204" pitchFamily="18" charset="0"/>
                                          </a:rPr>
                                          <m:t>𝑛</m:t>
                                        </m:r>
                                      </m:sup>
                                    </m:sSup>
                                    <m:r>
                                      <a:rPr lang="en-US" i="1">
                                        <a:latin typeface="Cambria Math" panose="02040503050406030204" pitchFamily="18" charset="0"/>
                                        <a:ea typeface="Cambria Math" panose="02040503050406030204" pitchFamily="18" charset="0"/>
                                      </a:rPr>
                                      <m:t>−1</m:t>
                                    </m:r>
                                  </m:sup>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𝜑</m:t>
                                        </m:r>
                                        <m:r>
                                          <a:rPr lang="en-US" i="1">
                                            <a:latin typeface="Cambria Math" panose="02040503050406030204" pitchFamily="18" charset="0"/>
                                            <a:ea typeface="Cambria Math" panose="02040503050406030204" pitchFamily="18" charset="0"/>
                                          </a:rPr>
                                          <m:t>𝑘</m:t>
                                        </m:r>
                                      </m:sup>
                                    </m:sSup>
                                  </m:e>
                                </m:nary>
                              </m:e>
                            </m:nary>
                            <m:d>
                              <m:dPr>
                                <m:ctrlPr>
                                  <a:rPr lang="en-US" i="1" smtClean="0">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ad>
                                      <m:radPr>
                                        <m:degHide m:val="on"/>
                                        <m:ctrlPr>
                                          <a:rPr lang="en-US" i="1">
                                            <a:latin typeface="Cambria Math" panose="02040503050406030204" pitchFamily="18" charset="0"/>
                                            <a:ea typeface="Cambria Math" panose="02040503050406030204" pitchFamily="18" charset="0"/>
                                          </a:rPr>
                                        </m:ctrlPr>
                                      </m:radPr>
                                      <m:deg/>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2</m:t>
                                            </m:r>
                                          </m:e>
                                          <m:sup>
                                            <m:r>
                                              <a:rPr lang="en-US" i="1">
                                                <a:latin typeface="Cambria Math" panose="02040503050406030204" pitchFamily="18" charset="0"/>
                                                <a:ea typeface="Cambria Math" panose="02040503050406030204" pitchFamily="18" charset="0"/>
                                              </a:rPr>
                                              <m:t>𝑛</m:t>
                                            </m:r>
                                          </m:sup>
                                        </m:sSup>
                                      </m:e>
                                    </m:rad>
                                  </m:den>
                                </m:f>
                                <m:nary>
                                  <m:naryPr>
                                    <m:chr m:val="∑"/>
                                    <m:ctrlPr>
                                      <a:rPr lang="en-US" i="1">
                                        <a:latin typeface="Cambria Math" panose="02040503050406030204" pitchFamily="18" charset="0"/>
                                        <a:ea typeface="Cambria Math" panose="02040503050406030204" pitchFamily="18" charset="0"/>
                                      </a:rPr>
                                    </m:ctrlPr>
                                  </m:naryPr>
                                  <m:sub>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=0</m:t>
                                    </m:r>
                                  </m:sub>
                                  <m:sup>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2</m:t>
                                        </m:r>
                                      </m:e>
                                      <m:sup>
                                        <m:r>
                                          <a:rPr lang="en-US" i="1">
                                            <a:latin typeface="Cambria Math" panose="02040503050406030204" pitchFamily="18" charset="0"/>
                                            <a:ea typeface="Cambria Math" panose="02040503050406030204" pitchFamily="18" charset="0"/>
                                          </a:rPr>
                                          <m:t>𝑛</m:t>
                                        </m:r>
                                      </m:sup>
                                    </m:sSup>
                                    <m:r>
                                      <a:rPr lang="en-US" i="1">
                                        <a:latin typeface="Cambria Math" panose="02040503050406030204" pitchFamily="18" charset="0"/>
                                        <a:ea typeface="Cambria Math" panose="02040503050406030204" pitchFamily="18" charset="0"/>
                                      </a:rPr>
                                      <m:t>−1</m:t>
                                    </m:r>
                                  </m:sup>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𝑖𝑥𝑘</m:t>
                                            </m:r>
                                          </m:num>
                                          <m:den>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2</m:t>
                                                </m:r>
                                              </m:e>
                                              <m:sup>
                                                <m:r>
                                                  <a:rPr lang="en-US" i="1">
                                                    <a:latin typeface="Cambria Math" panose="02040503050406030204" pitchFamily="18" charset="0"/>
                                                    <a:ea typeface="Cambria Math" panose="02040503050406030204" pitchFamily="18" charset="0"/>
                                                  </a:rPr>
                                                  <m:t>𝑛</m:t>
                                                </m:r>
                                              </m:sup>
                                            </m:sSup>
                                          </m:den>
                                        </m:f>
                                      </m:sup>
                                    </m:sSup>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e>
                                    </m:d>
                                  </m:e>
                                </m:nary>
                              </m:e>
                            </m:d>
                          </m:e>
                        </m:mr>
                        <m:mr>
                          <m:e>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1</m:t>
                                </m:r>
                              </m:num>
                              <m:den>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2</m:t>
                                    </m:r>
                                  </m:e>
                                  <m:sup>
                                    <m:r>
                                      <a:rPr lang="en-US" i="1">
                                        <a:solidFill>
                                          <a:schemeClr val="tx1"/>
                                        </a:solidFill>
                                        <a:latin typeface="Cambria Math" panose="02040503050406030204" pitchFamily="18" charset="0"/>
                                        <a:ea typeface="Cambria Math" panose="02040503050406030204" pitchFamily="18" charset="0"/>
                                      </a:rPr>
                                      <m:t>𝑛</m:t>
                                    </m:r>
                                  </m:sup>
                                </m:sSup>
                              </m:den>
                            </m:f>
                            <m:nary>
                              <m:naryPr>
                                <m:chr m:val="∑"/>
                                <m:ctrlPr>
                                  <a:rPr lang="en-US" i="1">
                                    <a:solidFill>
                                      <a:schemeClr val="tx1"/>
                                    </a:solidFill>
                                    <a:latin typeface="Cambria Math" panose="02040503050406030204" pitchFamily="18" charset="0"/>
                                    <a:ea typeface="Cambria Math" panose="02040503050406030204" pitchFamily="18" charset="0"/>
                                  </a:rPr>
                                </m:ctrlPr>
                              </m:naryPr>
                              <m:sub>
                                <m:r>
                                  <m:rPr>
                                    <m:brk m:alnAt="23"/>
                                  </m:rPr>
                                  <a:rPr lang="en-US" i="1">
                                    <a:solidFill>
                                      <a:schemeClr val="tx1"/>
                                    </a:solidFill>
                                    <a:latin typeface="Cambria Math" panose="02040503050406030204" pitchFamily="18" charset="0"/>
                                    <a:ea typeface="Cambria Math" panose="02040503050406030204" pitchFamily="18" charset="0"/>
                                  </a:rPr>
                                  <m:t>𝑥</m:t>
                                </m:r>
                                <m:r>
                                  <a:rPr lang="en-US" i="1">
                                    <a:solidFill>
                                      <a:schemeClr val="tx1"/>
                                    </a:solidFill>
                                    <a:latin typeface="Cambria Math" panose="02040503050406030204" pitchFamily="18" charset="0"/>
                                    <a:ea typeface="Cambria Math" panose="02040503050406030204" pitchFamily="18" charset="0"/>
                                  </a:rPr>
                                  <m:t>=0</m:t>
                                </m:r>
                              </m:sub>
                              <m:sup>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2</m:t>
                                    </m:r>
                                  </m:e>
                                  <m:sup>
                                    <m:r>
                                      <a:rPr lang="en-US" i="1">
                                        <a:solidFill>
                                          <a:schemeClr val="tx1"/>
                                        </a:solidFill>
                                        <a:latin typeface="Cambria Math" panose="02040503050406030204" pitchFamily="18" charset="0"/>
                                        <a:ea typeface="Cambria Math" panose="02040503050406030204" pitchFamily="18" charset="0"/>
                                      </a:rPr>
                                      <m:t>𝑛</m:t>
                                    </m:r>
                                  </m:sup>
                                </m:sSup>
                                <m:r>
                                  <a:rPr lang="en-US" i="1">
                                    <a:solidFill>
                                      <a:schemeClr val="tx1"/>
                                    </a:solidFill>
                                    <a:latin typeface="Cambria Math" panose="02040503050406030204" pitchFamily="18" charset="0"/>
                                    <a:ea typeface="Cambria Math" panose="02040503050406030204" pitchFamily="18" charset="0"/>
                                  </a:rPr>
                                  <m:t>−1</m:t>
                                </m:r>
                              </m:sup>
                              <m:e>
                                <m:nary>
                                  <m:naryPr>
                                    <m:chr m:val="∑"/>
                                    <m:ctrlPr>
                                      <a:rPr lang="en-US" i="1">
                                        <a:solidFill>
                                          <a:schemeClr val="tx1"/>
                                        </a:solidFill>
                                        <a:latin typeface="Cambria Math" panose="02040503050406030204" pitchFamily="18" charset="0"/>
                                        <a:ea typeface="Cambria Math" panose="02040503050406030204" pitchFamily="18" charset="0"/>
                                      </a:rPr>
                                    </m:ctrlPr>
                                  </m:naryPr>
                                  <m:sub>
                                    <m:r>
                                      <m:rPr>
                                        <m:brk m:alnAt="23"/>
                                      </m:rPr>
                                      <a:rPr lang="en-US" i="1">
                                        <a:solidFill>
                                          <a:schemeClr val="tx1"/>
                                        </a:solidFill>
                                        <a:latin typeface="Cambria Math" panose="02040503050406030204" pitchFamily="18" charset="0"/>
                                        <a:ea typeface="Cambria Math" panose="02040503050406030204" pitchFamily="18" charset="0"/>
                                      </a:rPr>
                                      <m:t>𝑘</m:t>
                                    </m:r>
                                    <m:r>
                                      <a:rPr lang="en-US" i="1">
                                        <a:solidFill>
                                          <a:schemeClr val="tx1"/>
                                        </a:solidFill>
                                        <a:latin typeface="Cambria Math" panose="02040503050406030204" pitchFamily="18" charset="0"/>
                                        <a:ea typeface="Cambria Math" panose="02040503050406030204" pitchFamily="18" charset="0"/>
                                      </a:rPr>
                                      <m:t>=0</m:t>
                                    </m:r>
                                  </m:sub>
                                  <m:sup>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2</m:t>
                                        </m:r>
                                      </m:e>
                                      <m:sup>
                                        <m:r>
                                          <a:rPr lang="en-US" i="1">
                                            <a:solidFill>
                                              <a:schemeClr val="tx1"/>
                                            </a:solidFill>
                                            <a:latin typeface="Cambria Math" panose="02040503050406030204" pitchFamily="18" charset="0"/>
                                            <a:ea typeface="Cambria Math" panose="02040503050406030204" pitchFamily="18" charset="0"/>
                                          </a:rPr>
                                          <m:t>𝑛</m:t>
                                        </m:r>
                                      </m:sup>
                                    </m:sSup>
                                    <m:r>
                                      <a:rPr lang="en-US" i="1">
                                        <a:solidFill>
                                          <a:schemeClr val="tx1"/>
                                        </a:solidFill>
                                        <a:latin typeface="Cambria Math" panose="02040503050406030204" pitchFamily="18" charset="0"/>
                                        <a:ea typeface="Cambria Math" panose="02040503050406030204" pitchFamily="18" charset="0"/>
                                      </a:rPr>
                                      <m:t>−1</m:t>
                                    </m:r>
                                  </m:sup>
                                  <m:e>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r>
                                          <a:rPr lang="en-US" i="1">
                                            <a:solidFill>
                                              <a:schemeClr val="tx1"/>
                                            </a:solidFill>
                                            <a:latin typeface="Cambria Math" panose="02040503050406030204" pitchFamily="18" charset="0"/>
                                            <a:ea typeface="Cambria Math" panose="02040503050406030204" pitchFamily="18" charset="0"/>
                                          </a:rPr>
                                          <m:t>2</m:t>
                                        </m:r>
                                        <m:r>
                                          <a:rPr lang="en-US" i="1">
                                            <a:solidFill>
                                              <a:schemeClr val="tx1"/>
                                            </a:solidFill>
                                            <a:latin typeface="Cambria Math" panose="02040503050406030204" pitchFamily="18" charset="0"/>
                                            <a:ea typeface="Cambria Math" panose="02040503050406030204" pitchFamily="18" charset="0"/>
                                          </a:rPr>
                                          <m:t>𝜋</m:t>
                                        </m:r>
                                        <m:r>
                                          <a:rPr lang="en-US" i="1">
                                            <a:solidFill>
                                              <a:schemeClr val="tx1"/>
                                            </a:solidFill>
                                            <a:latin typeface="Cambria Math" panose="02040503050406030204" pitchFamily="18" charset="0"/>
                                            <a:ea typeface="Cambria Math" panose="02040503050406030204" pitchFamily="18" charset="0"/>
                                          </a:rPr>
                                          <m:t>𝑖</m:t>
                                        </m:r>
                                        <m:r>
                                          <a:rPr lang="en-US" i="1">
                                            <a:solidFill>
                                              <a:schemeClr val="tx1"/>
                                            </a:solidFill>
                                            <a:latin typeface="Cambria Math" panose="02040503050406030204" pitchFamily="18" charset="0"/>
                                            <a:ea typeface="Cambria Math" panose="02040503050406030204" pitchFamily="18" charset="0"/>
                                          </a:rPr>
                                          <m:t>𝜑</m:t>
                                        </m:r>
                                        <m:r>
                                          <a:rPr lang="en-US" i="1">
                                            <a:solidFill>
                                              <a:schemeClr val="tx1"/>
                                            </a:solidFill>
                                            <a:latin typeface="Cambria Math" panose="02040503050406030204" pitchFamily="18" charset="0"/>
                                            <a:ea typeface="Cambria Math" panose="02040503050406030204" pitchFamily="18" charset="0"/>
                                          </a:rPr>
                                          <m:t>𝑘</m:t>
                                        </m:r>
                                      </m:sup>
                                    </m:sSup>
                                  </m:e>
                                </m:nary>
                              </m:e>
                            </m:nary>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−2</m:t>
                                    </m:r>
                                    <m:r>
                                      <a:rPr lang="en-US" i="1">
                                        <a:solidFill>
                                          <a:schemeClr val="tx1"/>
                                        </a:solidFill>
                                        <a:latin typeface="Cambria Math" panose="02040503050406030204" pitchFamily="18" charset="0"/>
                                        <a:ea typeface="Cambria Math" panose="02040503050406030204" pitchFamily="18" charset="0"/>
                                      </a:rPr>
                                      <m:t>𝜋</m:t>
                                    </m:r>
                                    <m:r>
                                      <a:rPr lang="en-US" i="1">
                                        <a:solidFill>
                                          <a:schemeClr val="tx1"/>
                                        </a:solidFill>
                                        <a:latin typeface="Cambria Math" panose="02040503050406030204" pitchFamily="18" charset="0"/>
                                        <a:ea typeface="Cambria Math" panose="02040503050406030204" pitchFamily="18" charset="0"/>
                                      </a:rPr>
                                      <m:t>𝑖𝑥𝑘</m:t>
                                    </m:r>
                                  </m:num>
                                  <m:den>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2</m:t>
                                        </m:r>
                                      </m:e>
                                      <m:sup>
                                        <m:r>
                                          <a:rPr lang="en-US" i="1">
                                            <a:solidFill>
                                              <a:schemeClr val="tx1"/>
                                            </a:solidFill>
                                            <a:latin typeface="Cambria Math" panose="02040503050406030204" pitchFamily="18" charset="0"/>
                                            <a:ea typeface="Cambria Math" panose="02040503050406030204" pitchFamily="18" charset="0"/>
                                          </a:rPr>
                                          <m:t>𝑛</m:t>
                                        </m:r>
                                      </m:sup>
                                    </m:sSup>
                                  </m:den>
                                </m:f>
                              </m:sup>
                            </m:sSup>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𝑥</m:t>
                                </m:r>
                              </m:e>
                            </m:d>
                            <m:r>
                              <a:rPr lang="en-US" i="1">
                                <a:solidFill>
                                  <a:schemeClr val="tx1"/>
                                </a:solidFill>
                                <a:latin typeface="Cambria Math" panose="02040503050406030204" pitchFamily="18" charset="0"/>
                                <a:ea typeface="Cambria Math" panose="02040503050406030204" pitchFamily="18" charset="0"/>
                              </a:rPr>
                              <m:t>=</m:t>
                            </m:r>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1</m:t>
                                </m:r>
                              </m:num>
                              <m:den>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2</m:t>
                                    </m:r>
                                  </m:e>
                                  <m:sup>
                                    <m:r>
                                      <a:rPr lang="en-US" i="1">
                                        <a:solidFill>
                                          <a:schemeClr val="tx1"/>
                                        </a:solidFill>
                                        <a:latin typeface="Cambria Math" panose="02040503050406030204" pitchFamily="18" charset="0"/>
                                        <a:ea typeface="Cambria Math" panose="02040503050406030204" pitchFamily="18" charset="0"/>
                                      </a:rPr>
                                      <m:t>𝑛</m:t>
                                    </m:r>
                                  </m:sup>
                                </m:sSup>
                              </m:den>
                            </m:f>
                            <m:nary>
                              <m:naryPr>
                                <m:chr m:val="∑"/>
                                <m:ctrlPr>
                                  <a:rPr lang="en-US" i="1">
                                    <a:solidFill>
                                      <a:schemeClr val="tx1"/>
                                    </a:solidFill>
                                    <a:latin typeface="Cambria Math" panose="02040503050406030204" pitchFamily="18" charset="0"/>
                                    <a:ea typeface="Cambria Math" panose="02040503050406030204" pitchFamily="18" charset="0"/>
                                  </a:rPr>
                                </m:ctrlPr>
                              </m:naryPr>
                              <m:sub>
                                <m:r>
                                  <m:rPr>
                                    <m:brk m:alnAt="23"/>
                                  </m:rPr>
                                  <a:rPr lang="en-US" i="1">
                                    <a:solidFill>
                                      <a:schemeClr val="tx1"/>
                                    </a:solidFill>
                                    <a:latin typeface="Cambria Math" panose="02040503050406030204" pitchFamily="18" charset="0"/>
                                    <a:ea typeface="Cambria Math" panose="02040503050406030204" pitchFamily="18" charset="0"/>
                                  </a:rPr>
                                  <m:t>𝑥</m:t>
                                </m:r>
                                <m:r>
                                  <a:rPr lang="en-US" i="1">
                                    <a:solidFill>
                                      <a:schemeClr val="tx1"/>
                                    </a:solidFill>
                                    <a:latin typeface="Cambria Math" panose="02040503050406030204" pitchFamily="18" charset="0"/>
                                    <a:ea typeface="Cambria Math" panose="02040503050406030204" pitchFamily="18" charset="0"/>
                                  </a:rPr>
                                  <m:t>=0</m:t>
                                </m:r>
                              </m:sub>
                              <m:sup>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2</m:t>
                                    </m:r>
                                  </m:e>
                                  <m:sup>
                                    <m:r>
                                      <a:rPr lang="en-US" i="1">
                                        <a:solidFill>
                                          <a:schemeClr val="tx1"/>
                                        </a:solidFill>
                                        <a:latin typeface="Cambria Math" panose="02040503050406030204" pitchFamily="18" charset="0"/>
                                        <a:ea typeface="Cambria Math" panose="02040503050406030204" pitchFamily="18" charset="0"/>
                                      </a:rPr>
                                      <m:t>𝑛</m:t>
                                    </m:r>
                                  </m:sup>
                                </m:sSup>
                                <m:r>
                                  <a:rPr lang="en-US" i="1">
                                    <a:solidFill>
                                      <a:schemeClr val="tx1"/>
                                    </a:solidFill>
                                    <a:latin typeface="Cambria Math" panose="02040503050406030204" pitchFamily="18" charset="0"/>
                                    <a:ea typeface="Cambria Math" panose="02040503050406030204" pitchFamily="18" charset="0"/>
                                  </a:rPr>
                                  <m:t>−1</m:t>
                                </m:r>
                              </m:sup>
                              <m:e>
                                <m:nary>
                                  <m:naryPr>
                                    <m:chr m:val="∑"/>
                                    <m:ctrlPr>
                                      <a:rPr lang="en-US" i="1">
                                        <a:solidFill>
                                          <a:schemeClr val="tx1"/>
                                        </a:solidFill>
                                        <a:latin typeface="Cambria Math" panose="02040503050406030204" pitchFamily="18" charset="0"/>
                                        <a:ea typeface="Cambria Math" panose="02040503050406030204" pitchFamily="18" charset="0"/>
                                      </a:rPr>
                                    </m:ctrlPr>
                                  </m:naryPr>
                                  <m:sub>
                                    <m:r>
                                      <m:rPr>
                                        <m:brk m:alnAt="23"/>
                                      </m:rPr>
                                      <a:rPr lang="en-US" i="1">
                                        <a:solidFill>
                                          <a:schemeClr val="tx1"/>
                                        </a:solidFill>
                                        <a:latin typeface="Cambria Math" panose="02040503050406030204" pitchFamily="18" charset="0"/>
                                        <a:ea typeface="Cambria Math" panose="02040503050406030204" pitchFamily="18" charset="0"/>
                                      </a:rPr>
                                      <m:t>𝑘</m:t>
                                    </m:r>
                                    <m:r>
                                      <a:rPr lang="en-US" i="1">
                                        <a:solidFill>
                                          <a:schemeClr val="tx1"/>
                                        </a:solidFill>
                                        <a:latin typeface="Cambria Math" panose="02040503050406030204" pitchFamily="18" charset="0"/>
                                        <a:ea typeface="Cambria Math" panose="02040503050406030204" pitchFamily="18" charset="0"/>
                                      </a:rPr>
                                      <m:t>=0</m:t>
                                    </m:r>
                                  </m:sub>
                                  <m:sup>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2</m:t>
                                        </m:r>
                                      </m:e>
                                      <m:sup>
                                        <m:r>
                                          <a:rPr lang="en-US" i="1">
                                            <a:solidFill>
                                              <a:schemeClr val="tx1"/>
                                            </a:solidFill>
                                            <a:latin typeface="Cambria Math" panose="02040503050406030204" pitchFamily="18" charset="0"/>
                                            <a:ea typeface="Cambria Math" panose="02040503050406030204" pitchFamily="18" charset="0"/>
                                          </a:rPr>
                                          <m:t>𝑛</m:t>
                                        </m:r>
                                      </m:sup>
                                    </m:sSup>
                                    <m:r>
                                      <a:rPr lang="en-US" i="1">
                                        <a:solidFill>
                                          <a:schemeClr val="tx1"/>
                                        </a:solidFill>
                                        <a:latin typeface="Cambria Math" panose="02040503050406030204" pitchFamily="18" charset="0"/>
                                        <a:ea typeface="Cambria Math" panose="02040503050406030204" pitchFamily="18" charset="0"/>
                                      </a:rPr>
                                      <m:t>−1</m:t>
                                    </m:r>
                                  </m:sup>
                                  <m:e>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−2</m:t>
                                            </m:r>
                                            <m:r>
                                              <a:rPr lang="en-US" i="1">
                                                <a:solidFill>
                                                  <a:schemeClr val="tx1"/>
                                                </a:solidFill>
                                                <a:latin typeface="Cambria Math" panose="02040503050406030204" pitchFamily="18" charset="0"/>
                                                <a:ea typeface="Cambria Math" panose="02040503050406030204" pitchFamily="18" charset="0"/>
                                              </a:rPr>
                                              <m:t>𝜋</m:t>
                                            </m:r>
                                            <m:r>
                                              <a:rPr lang="en-US" i="1">
                                                <a:solidFill>
                                                  <a:schemeClr val="tx1"/>
                                                </a:solidFill>
                                                <a:latin typeface="Cambria Math" panose="02040503050406030204" pitchFamily="18" charset="0"/>
                                                <a:ea typeface="Cambria Math" panose="02040503050406030204" pitchFamily="18" charset="0"/>
                                              </a:rPr>
                                              <m:t>𝑖𝑘</m:t>
                                            </m:r>
                                          </m:num>
                                          <m:den>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2</m:t>
                                                </m:r>
                                              </m:e>
                                              <m:sup>
                                                <m:r>
                                                  <a:rPr lang="en-US" i="1">
                                                    <a:solidFill>
                                                      <a:schemeClr val="tx1"/>
                                                    </a:solidFill>
                                                    <a:latin typeface="Cambria Math" panose="02040503050406030204" pitchFamily="18" charset="0"/>
                                                    <a:ea typeface="Cambria Math" panose="02040503050406030204" pitchFamily="18" charset="0"/>
                                                  </a:rPr>
                                                  <m:t>𝑛</m:t>
                                                </m:r>
                                              </m:sup>
                                            </m:sSup>
                                          </m:den>
                                        </m:f>
                                        <m:d>
                                          <m:dPr>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𝑥</m:t>
                                            </m:r>
                                            <m:r>
                                              <a:rPr lang="en-US" i="1">
                                                <a:solidFill>
                                                  <a:schemeClr val="tx1"/>
                                                </a:solidFill>
                                                <a:latin typeface="Cambria Math" panose="02040503050406030204" pitchFamily="18" charset="0"/>
                                                <a:ea typeface="Cambria Math" panose="02040503050406030204" pitchFamily="18" charset="0"/>
                                              </a:rPr>
                                              <m:t>−</m:t>
                                            </m:r>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2</m:t>
                                                </m:r>
                                              </m:e>
                                              <m:sup>
                                                <m:r>
                                                  <a:rPr lang="en-US" i="1">
                                                    <a:solidFill>
                                                      <a:schemeClr val="tx1"/>
                                                    </a:solidFill>
                                                    <a:latin typeface="Cambria Math" panose="02040503050406030204" pitchFamily="18" charset="0"/>
                                                    <a:ea typeface="Cambria Math" panose="02040503050406030204" pitchFamily="18" charset="0"/>
                                                  </a:rPr>
                                                  <m:t>𝑛</m:t>
                                                </m:r>
                                              </m:sup>
                                            </m:sSup>
                                            <m:r>
                                              <a:rPr lang="en-US" i="1">
                                                <a:solidFill>
                                                  <a:schemeClr val="tx1"/>
                                                </a:solidFill>
                                                <a:latin typeface="Cambria Math" panose="02040503050406030204" pitchFamily="18" charset="0"/>
                                                <a:ea typeface="Cambria Math" panose="02040503050406030204" pitchFamily="18" charset="0"/>
                                              </a:rPr>
                                              <m:t>𝜑</m:t>
                                            </m:r>
                                          </m:e>
                                        </m:d>
                                      </m:sup>
                                    </m:sSup>
                                    <m:d>
                                      <m:dPr>
                                        <m:begChr m:val=""/>
                                        <m:endChr m:val="⟩"/>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m:t>
                                        </m:r>
                                        <m:r>
                                          <a:rPr lang="en-US" i="1">
                                            <a:solidFill>
                                              <a:schemeClr val="tx1"/>
                                            </a:solidFill>
                                            <a:latin typeface="Cambria Math" panose="02040503050406030204" pitchFamily="18" charset="0"/>
                                            <a:ea typeface="Cambria Math" panose="02040503050406030204" pitchFamily="18" charset="0"/>
                                          </a:rPr>
                                          <m:t>𝑥</m:t>
                                        </m:r>
                                      </m:e>
                                    </m:d>
                                  </m:e>
                                </m:nary>
                              </m:e>
                            </m:nary>
                          </m:e>
                        </m:mr>
                      </m:m>
                    </m:oMath>
                  </m:oMathPara>
                </a14:m>
                <a:endParaRPr lang="en-US" dirty="0">
                  <a:solidFill>
                    <a:schemeClr val="tx1"/>
                  </a:solidFill>
                </a:endParaRPr>
              </a:p>
            </p:txBody>
          </p:sp>
        </mc:Choice>
        <mc:Fallback xmlns="">
          <p:sp>
            <p:nvSpPr>
              <p:cNvPr id="34" name="Rectangle 33">
                <a:extLst>
                  <a:ext uri="{FF2B5EF4-FFF2-40B4-BE49-F238E27FC236}">
                    <a16:creationId xmlns:a16="http://schemas.microsoft.com/office/drawing/2014/main" id="{E4C28EC6-AF6E-A84A-9231-ED6F145ED3C2}"/>
                  </a:ext>
                </a:extLst>
              </p:cNvPr>
              <p:cNvSpPr>
                <a:spLocks noRot="1" noChangeAspect="1" noMove="1" noResize="1" noEditPoints="1" noAdjustHandles="1" noChangeArrowheads="1" noChangeShapeType="1" noTextEdit="1"/>
              </p:cNvSpPr>
              <p:nvPr/>
            </p:nvSpPr>
            <p:spPr>
              <a:xfrm>
                <a:off x="721198" y="4552824"/>
                <a:ext cx="10005944" cy="1828962"/>
              </a:xfrm>
              <a:prstGeom prst="rect">
                <a:avLst/>
              </a:prstGeom>
              <a:blipFill>
                <a:blip r:embed="rId11"/>
                <a:stretch>
                  <a:fillRect t="-42466" b="-698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D29E6ABC-7896-6345-955E-EC8D0AA2FBC4}"/>
                  </a:ext>
                </a:extLst>
              </p:cNvPr>
              <p:cNvSpPr/>
              <p:nvPr/>
            </p:nvSpPr>
            <p:spPr>
              <a:xfrm>
                <a:off x="389958" y="3292000"/>
                <a:ext cx="8564175" cy="98713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rad>
                            <m:radPr>
                              <m:degHide m:val="on"/>
                              <m:ctrlPr>
                                <a:rPr lang="en-US" sz="2000" i="1">
                                  <a:latin typeface="Cambria Math" panose="02040503050406030204" pitchFamily="18" charset="0"/>
                                  <a:ea typeface="Cambria Math" panose="02040503050406030204" pitchFamily="18" charset="0"/>
                                </a:rPr>
                              </m:ctrlPr>
                            </m:radPr>
                            <m:deg/>
                            <m:e>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2</m:t>
                                  </m:r>
                                </m:e>
                                <m:sup>
                                  <m:r>
                                    <a:rPr lang="en-US" sz="2000" i="1">
                                      <a:latin typeface="Cambria Math" panose="02040503050406030204" pitchFamily="18" charset="0"/>
                                      <a:ea typeface="Cambria Math" panose="02040503050406030204" pitchFamily="18" charset="0"/>
                                    </a:rPr>
                                    <m:t>𝑛</m:t>
                                  </m:r>
                                </m:sup>
                              </m:sSup>
                            </m:e>
                          </m:rad>
                        </m:den>
                      </m:f>
                      <m:d>
                        <m:dPr>
                          <m:ctrlPr>
                            <a:rPr lang="en-US" sz="2000" i="1">
                              <a:latin typeface="Cambria Math" panose="02040503050406030204" pitchFamily="18" charset="0"/>
                              <a:ea typeface="Cambria Math" panose="02040503050406030204" pitchFamily="18" charset="0"/>
                            </a:rPr>
                          </m:ctrlPr>
                        </m:dPr>
                        <m:e>
                          <m:d>
                            <m:dPr>
                              <m:begChr m:val=""/>
                              <m:endChr m:val="⟩"/>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|0</m:t>
                              </m:r>
                            </m:e>
                          </m:d>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𝑒</m:t>
                              </m:r>
                            </m:e>
                            <m:sup>
                              <m:r>
                                <a:rPr lang="en-US" sz="2000" i="1">
                                  <a:latin typeface="Cambria Math" panose="02040503050406030204" pitchFamily="18" charset="0"/>
                                  <a:ea typeface="Cambria Math" panose="02040503050406030204" pitchFamily="18" charset="0"/>
                                </a:rPr>
                                <m:t>2</m:t>
                              </m:r>
                              <m:r>
                                <a:rPr lang="en-US" sz="2000" i="1">
                                  <a:latin typeface="Cambria Math" panose="02040503050406030204" pitchFamily="18" charset="0"/>
                                  <a:ea typeface="Cambria Math" panose="02040503050406030204" pitchFamily="18" charset="0"/>
                                </a:rPr>
                                <m:t>𝜋</m:t>
                              </m:r>
                              <m:r>
                                <a:rPr lang="en-US" sz="2000" i="1">
                                  <a:latin typeface="Cambria Math" panose="02040503050406030204" pitchFamily="18" charset="0"/>
                                  <a:ea typeface="Cambria Math" panose="02040503050406030204" pitchFamily="18" charset="0"/>
                                </a:rPr>
                                <m:t>𝑖</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2</m:t>
                                  </m:r>
                                </m:e>
                                <m:sup>
                                  <m:r>
                                    <a:rPr lang="en-US" sz="2000" i="1">
                                      <a:latin typeface="Cambria Math" panose="02040503050406030204" pitchFamily="18" charset="0"/>
                                      <a:ea typeface="Cambria Math" panose="02040503050406030204" pitchFamily="18" charset="0"/>
                                    </a:rPr>
                                    <m:t>𝑛</m:t>
                                  </m:r>
                                  <m:r>
                                    <a:rPr lang="en-US" sz="2000" i="1">
                                      <a:latin typeface="Cambria Math" panose="02040503050406030204" pitchFamily="18" charset="0"/>
                                      <a:ea typeface="Cambria Math" panose="02040503050406030204" pitchFamily="18" charset="0"/>
                                    </a:rPr>
                                    <m:t>−1</m:t>
                                  </m:r>
                                </m:sup>
                              </m:sSup>
                              <m:r>
                                <a:rPr lang="en-US" sz="2000" i="1">
                                  <a:latin typeface="Cambria Math" panose="02040503050406030204" pitchFamily="18" charset="0"/>
                                  <a:ea typeface="Cambria Math" panose="02040503050406030204" pitchFamily="18" charset="0"/>
                                </a:rPr>
                                <m:t>𝜑</m:t>
                              </m:r>
                            </m:sup>
                          </m:sSup>
                          <m:d>
                            <m:dPr>
                              <m:begChr m:val=""/>
                              <m:endChr m:val="⟩"/>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|1</m:t>
                              </m:r>
                            </m:e>
                          </m:d>
                        </m:e>
                      </m:d>
                      <m:r>
                        <a:rPr lang="en-US" sz="2000" i="1">
                          <a:latin typeface="Cambria Math" panose="02040503050406030204" pitchFamily="18" charset="0"/>
                          <a:ea typeface="Cambria Math" panose="02040503050406030204" pitchFamily="18" charset="0"/>
                        </a:rPr>
                        <m:t>⨂⋯⨂</m:t>
                      </m:r>
                      <m:d>
                        <m:dPr>
                          <m:ctrlPr>
                            <a:rPr lang="en-US" sz="2000" i="1">
                              <a:latin typeface="Cambria Math" panose="02040503050406030204" pitchFamily="18" charset="0"/>
                              <a:ea typeface="Cambria Math" panose="02040503050406030204" pitchFamily="18" charset="0"/>
                            </a:rPr>
                          </m:ctrlPr>
                        </m:dPr>
                        <m:e>
                          <m:d>
                            <m:dPr>
                              <m:begChr m:val=""/>
                              <m:endChr m:val="⟩"/>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|0</m:t>
                              </m:r>
                            </m:e>
                          </m:d>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𝑒</m:t>
                              </m:r>
                            </m:e>
                            <m:sup>
                              <m:r>
                                <a:rPr lang="en-US" sz="2000" i="1">
                                  <a:latin typeface="Cambria Math" panose="02040503050406030204" pitchFamily="18" charset="0"/>
                                  <a:ea typeface="Cambria Math" panose="02040503050406030204" pitchFamily="18" charset="0"/>
                                </a:rPr>
                                <m:t>2</m:t>
                              </m:r>
                              <m:r>
                                <a:rPr lang="en-US" sz="2000" i="1">
                                  <a:latin typeface="Cambria Math" panose="02040503050406030204" pitchFamily="18" charset="0"/>
                                  <a:ea typeface="Cambria Math" panose="02040503050406030204" pitchFamily="18" charset="0"/>
                                </a:rPr>
                                <m:t>𝜋</m:t>
                              </m:r>
                              <m:r>
                                <a:rPr lang="en-US" sz="2000" i="1">
                                  <a:latin typeface="Cambria Math" panose="02040503050406030204" pitchFamily="18" charset="0"/>
                                  <a:ea typeface="Cambria Math" panose="02040503050406030204" pitchFamily="18" charset="0"/>
                                </a:rPr>
                                <m:t>𝑖</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2</m:t>
                                  </m:r>
                                </m:e>
                                <m:sup>
                                  <m:r>
                                    <a:rPr lang="en-US" sz="2000" i="1">
                                      <a:latin typeface="Cambria Math" panose="02040503050406030204" pitchFamily="18" charset="0"/>
                                      <a:ea typeface="Cambria Math" panose="02040503050406030204" pitchFamily="18" charset="0"/>
                                    </a:rPr>
                                    <m:t>0</m:t>
                                  </m:r>
                                </m:sup>
                              </m:sSup>
                              <m:r>
                                <a:rPr lang="en-US" sz="2000" i="1">
                                  <a:latin typeface="Cambria Math" panose="02040503050406030204" pitchFamily="18" charset="0"/>
                                  <a:ea typeface="Cambria Math" panose="02040503050406030204" pitchFamily="18" charset="0"/>
                                </a:rPr>
                                <m:t>𝜑</m:t>
                              </m:r>
                            </m:sup>
                          </m:sSup>
                          <m:d>
                            <m:dPr>
                              <m:begChr m:val=""/>
                              <m:endChr m:val="⟩"/>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|1</m:t>
                              </m:r>
                            </m:e>
                          </m:d>
                        </m:e>
                      </m:d>
                      <m:r>
                        <a:rPr lang="en-US" sz="2000" i="1">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rad>
                            <m:radPr>
                              <m:degHide m:val="on"/>
                              <m:ctrlPr>
                                <a:rPr lang="en-US" sz="2000" i="1">
                                  <a:latin typeface="Cambria Math" panose="02040503050406030204" pitchFamily="18" charset="0"/>
                                  <a:ea typeface="Cambria Math" panose="02040503050406030204" pitchFamily="18" charset="0"/>
                                </a:rPr>
                              </m:ctrlPr>
                            </m:radPr>
                            <m:deg/>
                            <m:e>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2</m:t>
                                  </m:r>
                                </m:e>
                                <m:sup>
                                  <m:r>
                                    <a:rPr lang="en-US" sz="2000" i="1">
                                      <a:latin typeface="Cambria Math" panose="02040503050406030204" pitchFamily="18" charset="0"/>
                                      <a:ea typeface="Cambria Math" panose="02040503050406030204" pitchFamily="18" charset="0"/>
                                    </a:rPr>
                                    <m:t>𝑛</m:t>
                                  </m:r>
                                </m:sup>
                              </m:sSup>
                            </m:e>
                          </m:rad>
                        </m:den>
                      </m:f>
                      <m:nary>
                        <m:naryPr>
                          <m:chr m:val="∑"/>
                          <m:ctrlPr>
                            <a:rPr lang="en-US" sz="2000" i="1">
                              <a:latin typeface="Cambria Math" panose="02040503050406030204" pitchFamily="18" charset="0"/>
                              <a:ea typeface="Cambria Math" panose="02040503050406030204" pitchFamily="18" charset="0"/>
                            </a:rPr>
                          </m:ctrlPr>
                        </m:naryPr>
                        <m:sub>
                          <m:r>
                            <m:rPr>
                              <m:brk m:alnAt="23"/>
                            </m:rPr>
                            <a:rPr lang="en-US" sz="2000" i="1">
                              <a:latin typeface="Cambria Math" panose="02040503050406030204" pitchFamily="18" charset="0"/>
                              <a:ea typeface="Cambria Math" panose="02040503050406030204" pitchFamily="18" charset="0"/>
                            </a:rPr>
                            <m:t>𝑘</m:t>
                          </m:r>
                          <m:r>
                            <a:rPr lang="en-US" sz="2000" i="1">
                              <a:latin typeface="Cambria Math" panose="02040503050406030204" pitchFamily="18" charset="0"/>
                              <a:ea typeface="Cambria Math" panose="02040503050406030204" pitchFamily="18" charset="0"/>
                            </a:rPr>
                            <m:t>=0</m:t>
                          </m:r>
                        </m:sub>
                        <m:sup>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2</m:t>
                              </m:r>
                            </m:e>
                            <m:sup>
                              <m:r>
                                <a:rPr lang="en-US" sz="2000" i="1">
                                  <a:latin typeface="Cambria Math" panose="02040503050406030204" pitchFamily="18" charset="0"/>
                                  <a:ea typeface="Cambria Math" panose="02040503050406030204" pitchFamily="18" charset="0"/>
                                </a:rPr>
                                <m:t>𝑛</m:t>
                              </m:r>
                            </m:sup>
                          </m:sSup>
                          <m:r>
                            <a:rPr lang="en-US" sz="2000" i="1">
                              <a:latin typeface="Cambria Math" panose="02040503050406030204" pitchFamily="18" charset="0"/>
                              <a:ea typeface="Cambria Math" panose="02040503050406030204" pitchFamily="18" charset="0"/>
                            </a:rPr>
                            <m:t>−1</m:t>
                          </m:r>
                        </m:sup>
                        <m:e>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𝑒</m:t>
                              </m:r>
                            </m:e>
                            <m:sup>
                              <m:r>
                                <a:rPr lang="en-US" sz="2000" i="1">
                                  <a:latin typeface="Cambria Math" panose="02040503050406030204" pitchFamily="18" charset="0"/>
                                  <a:ea typeface="Cambria Math" panose="02040503050406030204" pitchFamily="18" charset="0"/>
                                </a:rPr>
                                <m:t>2</m:t>
                              </m:r>
                              <m:r>
                                <a:rPr lang="en-US" sz="2000" i="1">
                                  <a:latin typeface="Cambria Math" panose="02040503050406030204" pitchFamily="18" charset="0"/>
                                  <a:ea typeface="Cambria Math" panose="02040503050406030204" pitchFamily="18" charset="0"/>
                                </a:rPr>
                                <m:t>𝜋</m:t>
                              </m:r>
                              <m:r>
                                <a:rPr lang="en-US" sz="2000" i="1">
                                  <a:latin typeface="Cambria Math" panose="02040503050406030204" pitchFamily="18" charset="0"/>
                                  <a:ea typeface="Cambria Math" panose="02040503050406030204" pitchFamily="18" charset="0"/>
                                </a:rPr>
                                <m:t>𝑖</m:t>
                              </m:r>
                              <m:r>
                                <a:rPr lang="en-US" sz="2000" i="1">
                                  <a:latin typeface="Cambria Math" panose="02040503050406030204" pitchFamily="18" charset="0"/>
                                  <a:ea typeface="Cambria Math" panose="02040503050406030204" pitchFamily="18" charset="0"/>
                                </a:rPr>
                                <m:t>𝜑</m:t>
                              </m:r>
                              <m:r>
                                <a:rPr lang="en-US" sz="2000" i="1">
                                  <a:latin typeface="Cambria Math" panose="02040503050406030204" pitchFamily="18" charset="0"/>
                                  <a:ea typeface="Cambria Math" panose="02040503050406030204" pitchFamily="18" charset="0"/>
                                </a:rPr>
                                <m:t>𝑘</m:t>
                              </m:r>
                            </m:sup>
                          </m:sSup>
                          <m:d>
                            <m:dPr>
                              <m:begChr m:val=""/>
                              <m:endChr m:val="⟩"/>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𝑘</m:t>
                              </m:r>
                            </m:e>
                          </m:d>
                        </m:e>
                      </m:nary>
                    </m:oMath>
                  </m:oMathPara>
                </a14:m>
                <a:endParaRPr lang="en-US" sz="2000" dirty="0">
                  <a:latin typeface="Cambria Math" panose="02040503050406030204" pitchFamily="18" charset="0"/>
                  <a:ea typeface="Cambria Math" panose="02040503050406030204" pitchFamily="18" charset="0"/>
                </a:endParaRPr>
              </a:p>
            </p:txBody>
          </p:sp>
        </mc:Choice>
        <mc:Fallback xmlns="">
          <p:sp>
            <p:nvSpPr>
              <p:cNvPr id="35" name="Rectangle 34">
                <a:extLst>
                  <a:ext uri="{FF2B5EF4-FFF2-40B4-BE49-F238E27FC236}">
                    <a16:creationId xmlns:a16="http://schemas.microsoft.com/office/drawing/2014/main" id="{D29E6ABC-7896-6345-955E-EC8D0AA2FBC4}"/>
                  </a:ext>
                </a:extLst>
              </p:cNvPr>
              <p:cNvSpPr>
                <a:spLocks noRot="1" noChangeAspect="1" noMove="1" noResize="1" noEditPoints="1" noAdjustHandles="1" noChangeArrowheads="1" noChangeShapeType="1" noTextEdit="1"/>
              </p:cNvSpPr>
              <p:nvPr/>
            </p:nvSpPr>
            <p:spPr>
              <a:xfrm>
                <a:off x="389958" y="3292000"/>
                <a:ext cx="8564175" cy="987130"/>
              </a:xfrm>
              <a:prstGeom prst="rect">
                <a:avLst/>
              </a:prstGeom>
              <a:blipFill>
                <a:blip r:embed="rId12"/>
                <a:stretch>
                  <a:fillRect t="-91139" b="-1468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92330CA4-CDB9-6C4D-B524-FEE1D82A4A2E}"/>
                  </a:ext>
                </a:extLst>
              </p:cNvPr>
              <p:cNvSpPr/>
              <p:nvPr/>
            </p:nvSpPr>
            <p:spPr>
              <a:xfrm>
                <a:off x="-41630" y="2537939"/>
                <a:ext cx="570349"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𝑢</m:t>
                          </m:r>
                        </m:e>
                      </m:d>
                    </m:oMath>
                  </m:oMathPara>
                </a14:m>
                <a:endParaRPr lang="en-US" sz="2000" dirty="0"/>
              </a:p>
            </p:txBody>
          </p:sp>
        </mc:Choice>
        <mc:Fallback xmlns="">
          <p:sp>
            <p:nvSpPr>
              <p:cNvPr id="36" name="Rectangle 35">
                <a:extLst>
                  <a:ext uri="{FF2B5EF4-FFF2-40B4-BE49-F238E27FC236}">
                    <a16:creationId xmlns:a16="http://schemas.microsoft.com/office/drawing/2014/main" id="{92330CA4-CDB9-6C4D-B524-FEE1D82A4A2E}"/>
                  </a:ext>
                </a:extLst>
              </p:cNvPr>
              <p:cNvSpPr>
                <a:spLocks noRot="1" noChangeAspect="1" noMove="1" noResize="1" noEditPoints="1" noAdjustHandles="1" noChangeArrowheads="1" noChangeShapeType="1" noTextEdit="1"/>
              </p:cNvSpPr>
              <p:nvPr/>
            </p:nvSpPr>
            <p:spPr>
              <a:xfrm>
                <a:off x="-41630" y="2537939"/>
                <a:ext cx="570349" cy="400110"/>
              </a:xfrm>
              <a:prstGeom prst="rect">
                <a:avLst/>
              </a:prstGeom>
              <a:blipFill>
                <a:blip r:embed="rId13"/>
                <a:stretch>
                  <a:fillRect l="-17778" t="-115625" r="-40000" b="-178125"/>
                </a:stretch>
              </a:blipFill>
            </p:spPr>
            <p:txBody>
              <a:bodyPr/>
              <a:lstStyle/>
              <a:p>
                <a:r>
                  <a:rPr lang="en-US">
                    <a:noFill/>
                  </a:rPr>
                  <a:t> </a:t>
                </a:r>
              </a:p>
            </p:txBody>
          </p:sp>
        </mc:Fallback>
      </mc:AlternateContent>
      <p:sp>
        <p:nvSpPr>
          <p:cNvPr id="40" name="Rectangle 39">
            <a:extLst>
              <a:ext uri="{FF2B5EF4-FFF2-40B4-BE49-F238E27FC236}">
                <a16:creationId xmlns:a16="http://schemas.microsoft.com/office/drawing/2014/main" id="{7E39EE66-230A-F140-9B62-AB00483E7977}"/>
              </a:ext>
            </a:extLst>
          </p:cNvPr>
          <p:cNvSpPr/>
          <p:nvPr/>
        </p:nvSpPr>
        <p:spPr>
          <a:xfrm>
            <a:off x="2005554" y="1308501"/>
            <a:ext cx="526106" cy="400110"/>
          </a:xfrm>
          <a:prstGeom prst="rect">
            <a:avLst/>
          </a:prstGeom>
        </p:spPr>
        <p:txBody>
          <a:bodyPr wrap="none">
            <a:spAutoFit/>
          </a:bodyPr>
          <a:lstStyle/>
          <a:p>
            <a:r>
              <a:rPr lang="en-US" sz="2000" dirty="0"/>
              <a:t>①</a:t>
            </a:r>
          </a:p>
        </p:txBody>
      </p:sp>
      <p:sp>
        <p:nvSpPr>
          <p:cNvPr id="41" name="Rectangle 40">
            <a:extLst>
              <a:ext uri="{FF2B5EF4-FFF2-40B4-BE49-F238E27FC236}">
                <a16:creationId xmlns:a16="http://schemas.microsoft.com/office/drawing/2014/main" id="{497C4A23-045D-AA44-8416-9304F6B17809}"/>
              </a:ext>
            </a:extLst>
          </p:cNvPr>
          <p:cNvSpPr/>
          <p:nvPr/>
        </p:nvSpPr>
        <p:spPr>
          <a:xfrm>
            <a:off x="4387014" y="2314992"/>
            <a:ext cx="526106" cy="400110"/>
          </a:xfrm>
          <a:prstGeom prst="rect">
            <a:avLst/>
          </a:prstGeom>
        </p:spPr>
        <p:txBody>
          <a:bodyPr wrap="none">
            <a:spAutoFit/>
          </a:bodyPr>
          <a:lstStyle/>
          <a:p>
            <a:r>
              <a:rPr lang="en-US" sz="2000" dirty="0"/>
              <a:t>②</a:t>
            </a:r>
          </a:p>
        </p:txBody>
      </p:sp>
      <p:sp>
        <p:nvSpPr>
          <p:cNvPr id="42" name="Rectangle 41">
            <a:extLst>
              <a:ext uri="{FF2B5EF4-FFF2-40B4-BE49-F238E27FC236}">
                <a16:creationId xmlns:a16="http://schemas.microsoft.com/office/drawing/2014/main" id="{42D9413E-055D-C341-8E1B-3D4198342701}"/>
              </a:ext>
            </a:extLst>
          </p:cNvPr>
          <p:cNvSpPr/>
          <p:nvPr/>
        </p:nvSpPr>
        <p:spPr>
          <a:xfrm>
            <a:off x="5184944" y="1300501"/>
            <a:ext cx="543739" cy="369332"/>
          </a:xfrm>
          <a:prstGeom prst="rect">
            <a:avLst/>
          </a:prstGeom>
        </p:spPr>
        <p:txBody>
          <a:bodyPr wrap="none">
            <a:spAutoFit/>
          </a:bodyPr>
          <a:lstStyle/>
          <a:p>
            <a:r>
              <a:rPr lang="en-ZA" dirty="0"/>
              <a:t>③ </a:t>
            </a:r>
            <a:endParaRPr lang="en-US" dirty="0"/>
          </a:p>
        </p:txBody>
      </p:sp>
      <p:sp>
        <p:nvSpPr>
          <p:cNvPr id="44" name="TextBox 43">
            <a:extLst>
              <a:ext uri="{FF2B5EF4-FFF2-40B4-BE49-F238E27FC236}">
                <a16:creationId xmlns:a16="http://schemas.microsoft.com/office/drawing/2014/main" id="{074700C2-5A57-3646-8026-EFF746D2F2A1}"/>
              </a:ext>
            </a:extLst>
          </p:cNvPr>
          <p:cNvSpPr txBox="1"/>
          <p:nvPr/>
        </p:nvSpPr>
        <p:spPr>
          <a:xfrm>
            <a:off x="8010561" y="1325097"/>
            <a:ext cx="543739" cy="369332"/>
          </a:xfrm>
          <a:prstGeom prst="rect">
            <a:avLst/>
          </a:prstGeom>
          <a:noFill/>
        </p:spPr>
        <p:txBody>
          <a:bodyPr wrap="none" rtlCol="0">
            <a:spAutoFit/>
          </a:bodyPr>
          <a:lstStyle/>
          <a:p>
            <a:r>
              <a:rPr lang="en-ZA" dirty="0"/>
              <a:t>④ </a:t>
            </a:r>
            <a:endParaRPr lang="en-US" dirty="0"/>
          </a:p>
        </p:txBody>
      </p:sp>
      <p:sp>
        <p:nvSpPr>
          <p:cNvPr id="45" name="TextBox 44">
            <a:extLst>
              <a:ext uri="{FF2B5EF4-FFF2-40B4-BE49-F238E27FC236}">
                <a16:creationId xmlns:a16="http://schemas.microsoft.com/office/drawing/2014/main" id="{ADCD5B56-6EDA-0446-BAE4-64F575251E7B}"/>
              </a:ext>
            </a:extLst>
          </p:cNvPr>
          <p:cNvSpPr txBox="1"/>
          <p:nvPr/>
        </p:nvSpPr>
        <p:spPr>
          <a:xfrm>
            <a:off x="79214" y="5223614"/>
            <a:ext cx="543739" cy="369332"/>
          </a:xfrm>
          <a:prstGeom prst="rect">
            <a:avLst/>
          </a:prstGeom>
          <a:noFill/>
        </p:spPr>
        <p:txBody>
          <a:bodyPr wrap="none" rtlCol="0">
            <a:spAutoFit/>
          </a:bodyPr>
          <a:lstStyle/>
          <a:p>
            <a:r>
              <a:rPr lang="en-ZA" dirty="0"/>
              <a:t>④ </a:t>
            </a:r>
            <a:endParaRPr lang="en-US" dirty="0"/>
          </a:p>
        </p:txBody>
      </p:sp>
      <p:sp>
        <p:nvSpPr>
          <p:cNvPr id="46" name="Rectangle 45">
            <a:extLst>
              <a:ext uri="{FF2B5EF4-FFF2-40B4-BE49-F238E27FC236}">
                <a16:creationId xmlns:a16="http://schemas.microsoft.com/office/drawing/2014/main" id="{B71F3FF5-2330-694D-8F9C-1FA9A481AC25}"/>
              </a:ext>
            </a:extLst>
          </p:cNvPr>
          <p:cNvSpPr/>
          <p:nvPr/>
        </p:nvSpPr>
        <p:spPr>
          <a:xfrm>
            <a:off x="30942" y="3595625"/>
            <a:ext cx="543739" cy="369332"/>
          </a:xfrm>
          <a:prstGeom prst="rect">
            <a:avLst/>
          </a:prstGeom>
        </p:spPr>
        <p:txBody>
          <a:bodyPr wrap="none">
            <a:spAutoFit/>
          </a:bodyPr>
          <a:lstStyle/>
          <a:p>
            <a:r>
              <a:rPr lang="en-ZA" dirty="0"/>
              <a:t>③ </a:t>
            </a:r>
            <a:endParaRPr lang="en-US" dirty="0"/>
          </a:p>
        </p:txBody>
      </p:sp>
      <p:sp>
        <p:nvSpPr>
          <p:cNvPr id="47" name="Rectangle 46">
            <a:extLst>
              <a:ext uri="{FF2B5EF4-FFF2-40B4-BE49-F238E27FC236}">
                <a16:creationId xmlns:a16="http://schemas.microsoft.com/office/drawing/2014/main" id="{6872C12D-39F1-F443-9F73-B8E24396225D}"/>
              </a:ext>
            </a:extLst>
          </p:cNvPr>
          <p:cNvSpPr/>
          <p:nvPr/>
        </p:nvSpPr>
        <p:spPr>
          <a:xfrm>
            <a:off x="9323544" y="1745815"/>
            <a:ext cx="490840" cy="369332"/>
          </a:xfrm>
          <a:prstGeom prst="rect">
            <a:avLst/>
          </a:prstGeom>
        </p:spPr>
        <p:txBody>
          <a:bodyPr wrap="none">
            <a:spAutoFit/>
          </a:bodyPr>
          <a:lstStyle/>
          <a:p>
            <a:r>
              <a:rPr lang="en-ZA" dirty="0"/>
              <a:t>⑤</a:t>
            </a:r>
            <a:endParaRPr lang="en-US" dirty="0"/>
          </a:p>
        </p:txBody>
      </p:sp>
      <p:grpSp>
        <p:nvGrpSpPr>
          <p:cNvPr id="32" name="Group 31">
            <a:extLst>
              <a:ext uri="{FF2B5EF4-FFF2-40B4-BE49-F238E27FC236}">
                <a16:creationId xmlns:a16="http://schemas.microsoft.com/office/drawing/2014/main" id="{C147202B-8FE8-084F-9686-6699CE2599E6}"/>
              </a:ext>
            </a:extLst>
          </p:cNvPr>
          <p:cNvGrpSpPr>
            <a:grpSpLocks noChangeAspect="1"/>
          </p:cNvGrpSpPr>
          <p:nvPr/>
        </p:nvGrpSpPr>
        <p:grpSpPr>
          <a:xfrm>
            <a:off x="8453980" y="1356563"/>
            <a:ext cx="720000" cy="720000"/>
            <a:chOff x="10534809" y="2220687"/>
            <a:chExt cx="1080000" cy="1080000"/>
          </a:xfrm>
        </p:grpSpPr>
        <p:sp>
          <p:nvSpPr>
            <p:cNvPr id="37" name="Rectangle 36">
              <a:extLst>
                <a:ext uri="{FF2B5EF4-FFF2-40B4-BE49-F238E27FC236}">
                  <a16:creationId xmlns:a16="http://schemas.microsoft.com/office/drawing/2014/main" id="{C551F59F-A596-AB4A-B7D9-FBBA341DF6BC}"/>
                </a:ext>
              </a:extLst>
            </p:cNvPr>
            <p:cNvSpPr/>
            <p:nvPr/>
          </p:nvSpPr>
          <p:spPr>
            <a:xfrm>
              <a:off x="10534809" y="2220687"/>
              <a:ext cx="1080000" cy="108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latin typeface="+mj-lt"/>
              </a:endParaRPr>
            </a:p>
          </p:txBody>
        </p:sp>
        <p:sp>
          <p:nvSpPr>
            <p:cNvPr id="38" name="Arc 37">
              <a:extLst>
                <a:ext uri="{FF2B5EF4-FFF2-40B4-BE49-F238E27FC236}">
                  <a16:creationId xmlns:a16="http://schemas.microsoft.com/office/drawing/2014/main" id="{D670100C-460A-7149-8C80-F3C234ABC660}"/>
                </a:ext>
              </a:extLst>
            </p:cNvPr>
            <p:cNvSpPr/>
            <p:nvPr/>
          </p:nvSpPr>
          <p:spPr>
            <a:xfrm>
              <a:off x="10654439" y="2500558"/>
              <a:ext cx="840740" cy="772509"/>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9" name="Straight Arrow Connector 38">
              <a:extLst>
                <a:ext uri="{FF2B5EF4-FFF2-40B4-BE49-F238E27FC236}">
                  <a16:creationId xmlns:a16="http://schemas.microsoft.com/office/drawing/2014/main" id="{A2783FF9-EBD3-874A-83E4-7582DA4934E6}"/>
                </a:ext>
              </a:extLst>
            </p:cNvPr>
            <p:cNvCxnSpPr>
              <a:cxnSpLocks/>
            </p:cNvCxnSpPr>
            <p:nvPr/>
          </p:nvCxnSpPr>
          <p:spPr>
            <a:xfrm flipV="1">
              <a:off x="11074809" y="2449188"/>
              <a:ext cx="213497" cy="544593"/>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2877019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F3F0A81-45B2-0A49-8C9A-C595BBE261B2}"/>
              </a:ext>
            </a:extLst>
          </p:cNvPr>
          <p:cNvPicPr>
            <a:picLocks noChangeAspect="1"/>
          </p:cNvPicPr>
          <p:nvPr/>
        </p:nvPicPr>
        <p:blipFill>
          <a:blip r:embed="rId3"/>
          <a:stretch>
            <a:fillRect/>
          </a:stretch>
        </p:blipFill>
        <p:spPr>
          <a:xfrm>
            <a:off x="0" y="0"/>
            <a:ext cx="12191999" cy="6835381"/>
          </a:xfrm>
          <a:prstGeom prst="rect">
            <a:avLst/>
          </a:prstGeom>
        </p:spPr>
      </p:pic>
      <p:sp>
        <p:nvSpPr>
          <p:cNvPr id="3" name="Slide Number Placeholder 2">
            <a:extLst>
              <a:ext uri="{FF2B5EF4-FFF2-40B4-BE49-F238E27FC236}">
                <a16:creationId xmlns:a16="http://schemas.microsoft.com/office/drawing/2014/main" id="{60C4B02F-0FE1-7640-89D9-897868D9C7FC}"/>
              </a:ext>
            </a:extLst>
          </p:cNvPr>
          <p:cNvSpPr>
            <a:spLocks noGrp="1"/>
          </p:cNvSpPr>
          <p:nvPr>
            <p:ph type="sldNum" sz="quarter" idx="12"/>
          </p:nvPr>
        </p:nvSpPr>
        <p:spPr>
          <a:xfrm>
            <a:off x="9448799" y="6378335"/>
            <a:ext cx="2743200" cy="365125"/>
          </a:xfrm>
        </p:spPr>
        <p:txBody>
          <a:bodyPr/>
          <a:lstStyle/>
          <a:p>
            <a:fld id="{591A223C-FA10-BC46-A853-03BA373D023C}" type="slidenum">
              <a:rPr lang="en-US" smtClean="0"/>
              <a:t>70</a:t>
            </a:fld>
            <a:endParaRPr lang="en-US"/>
          </a:p>
        </p:txBody>
      </p:sp>
      <p:sp>
        <p:nvSpPr>
          <p:cNvPr id="9" name="TextBox 8">
            <a:extLst>
              <a:ext uri="{FF2B5EF4-FFF2-40B4-BE49-F238E27FC236}">
                <a16:creationId xmlns:a16="http://schemas.microsoft.com/office/drawing/2014/main" id="{719C0D81-1920-C34F-B234-53C430C4B1BB}"/>
              </a:ext>
            </a:extLst>
          </p:cNvPr>
          <p:cNvSpPr txBox="1"/>
          <p:nvPr/>
        </p:nvSpPr>
        <p:spPr>
          <a:xfrm>
            <a:off x="7113537" y="2254845"/>
            <a:ext cx="3815468" cy="923330"/>
          </a:xfrm>
          <a:prstGeom prst="rect">
            <a:avLst/>
          </a:prstGeom>
          <a:noFill/>
        </p:spPr>
        <p:txBody>
          <a:bodyPr wrap="none" rtlCol="0">
            <a:spAutoFit/>
          </a:bodyPr>
          <a:lstStyle/>
          <a:p>
            <a:r>
              <a:rPr lang="en-US" sz="5400" dirty="0">
                <a:solidFill>
                  <a:schemeClr val="bg1"/>
                </a:solidFill>
                <a:latin typeface="Comic Sans MS" panose="030F0902030302020204" pitchFamily="66" charset="0"/>
              </a:rPr>
              <a:t>Questions?</a:t>
            </a:r>
          </a:p>
        </p:txBody>
      </p:sp>
      <p:pic>
        <p:nvPicPr>
          <p:cNvPr id="6" name="Picture 5">
            <a:extLst>
              <a:ext uri="{FF2B5EF4-FFF2-40B4-BE49-F238E27FC236}">
                <a16:creationId xmlns:a16="http://schemas.microsoft.com/office/drawing/2014/main" id="{25CAF79D-906F-8845-86FA-72185BFDBBFD}"/>
              </a:ext>
            </a:extLst>
          </p:cNvPr>
          <p:cNvPicPr>
            <a:picLocks noChangeAspect="1"/>
          </p:cNvPicPr>
          <p:nvPr/>
        </p:nvPicPr>
        <p:blipFill>
          <a:blip r:embed="rId4"/>
          <a:stretch>
            <a:fillRect/>
          </a:stretch>
        </p:blipFill>
        <p:spPr>
          <a:xfrm>
            <a:off x="3391418" y="3157998"/>
            <a:ext cx="3314700" cy="3365500"/>
          </a:xfrm>
          <a:prstGeom prst="rect">
            <a:avLst/>
          </a:prstGeom>
        </p:spPr>
      </p:pic>
      <p:pic>
        <p:nvPicPr>
          <p:cNvPr id="4" name="Picture 3">
            <a:extLst>
              <a:ext uri="{FF2B5EF4-FFF2-40B4-BE49-F238E27FC236}">
                <a16:creationId xmlns:a16="http://schemas.microsoft.com/office/drawing/2014/main" id="{9EA7A2B2-C115-AC43-8CB6-8B25213DCC32}"/>
              </a:ext>
            </a:extLst>
          </p:cNvPr>
          <p:cNvPicPr>
            <a:picLocks noChangeAspect="1"/>
          </p:cNvPicPr>
          <p:nvPr/>
        </p:nvPicPr>
        <p:blipFill>
          <a:blip r:embed="rId5"/>
          <a:stretch>
            <a:fillRect/>
          </a:stretch>
        </p:blipFill>
        <p:spPr>
          <a:xfrm>
            <a:off x="505065" y="1097779"/>
            <a:ext cx="3744255" cy="5113836"/>
          </a:xfrm>
          <a:prstGeom prst="rect">
            <a:avLst/>
          </a:prstGeom>
        </p:spPr>
      </p:pic>
    </p:spTree>
    <p:extLst>
      <p:ext uri="{BB962C8B-B14F-4D97-AF65-F5344CB8AC3E}">
        <p14:creationId xmlns:p14="http://schemas.microsoft.com/office/powerpoint/2010/main" val="17103245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225166</TotalTime>
  <Words>12811</Words>
  <Application>Microsoft Macintosh PowerPoint</Application>
  <PresentationFormat>Widescreen</PresentationFormat>
  <Paragraphs>1458</Paragraphs>
  <Slides>70</Slides>
  <Notes>70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70</vt:i4>
      </vt:variant>
    </vt:vector>
  </HeadingPairs>
  <TitlesOfParts>
    <vt:vector size="79" baseType="lpstr">
      <vt:lpstr>Andale Mono</vt:lpstr>
      <vt:lpstr>Arial</vt:lpstr>
      <vt:lpstr>Calibri</vt:lpstr>
      <vt:lpstr>Calibri Light</vt:lpstr>
      <vt:lpstr>Cambria Math</vt:lpstr>
      <vt:lpstr>Comic Sans MS</vt:lpstr>
      <vt:lpstr>Times</vt:lpstr>
      <vt:lpstr>Times New Roman</vt:lpstr>
      <vt:lpstr>Office Theme</vt:lpstr>
      <vt:lpstr>PowerPoint Presentation</vt:lpstr>
      <vt:lpstr>Core components of quantum algorithms</vt:lpstr>
      <vt:lpstr>PowerPoint Presentation</vt:lpstr>
      <vt:lpstr>Encoding Real Numbers into Basis States</vt:lpstr>
      <vt:lpstr>Amplitude Encoding</vt:lpstr>
      <vt:lpstr>From Data to Amplitudes</vt:lpstr>
      <vt:lpstr>Preparing the Quantum State</vt:lpstr>
      <vt:lpstr>Angle Encoding</vt:lpstr>
      <vt:lpstr>Example of Angle Encoding</vt:lpstr>
      <vt:lpstr>PowerPoint Presentation</vt:lpstr>
      <vt:lpstr>MathBox: Modular Arithmetic in Quantum Computing</vt:lpstr>
      <vt:lpstr>Quantum Half-Adder</vt:lpstr>
      <vt:lpstr>Quantum Adder</vt:lpstr>
      <vt:lpstr>PowerPoint Presentation</vt:lpstr>
      <vt:lpstr>Boolean Functions Evaluation</vt:lpstr>
      <vt:lpstr>Encoding Boolean Functions in Quantum Circuits</vt:lpstr>
      <vt:lpstr>Implementing f(x)=x with a CNOT gate</vt:lpstr>
      <vt:lpstr>Example: Two-Variable Boolean Function</vt:lpstr>
      <vt:lpstr>Example: NOT XOR Function Implementation</vt:lpstr>
      <vt:lpstr>PowerPoint Presentation</vt:lpstr>
      <vt:lpstr>Oracle as a Black Box</vt:lpstr>
      <vt:lpstr>Quantum Oracle</vt:lpstr>
      <vt:lpstr>PowerPoint Presentation</vt:lpstr>
      <vt:lpstr>Quantum Superposition</vt:lpstr>
      <vt:lpstr>Single-Qubit Superposition</vt:lpstr>
      <vt:lpstr>Two-Qubit Superposition</vt:lpstr>
      <vt:lpstr>Multi-Qubit Superposition</vt:lpstr>
      <vt:lpstr>PowerPoint Presentation</vt:lpstr>
      <vt:lpstr>Example of Quantum Interference</vt:lpstr>
      <vt:lpstr>PowerPoint Presentation</vt:lpstr>
      <vt:lpstr>MathBox: Eigenvalues and Eigenvectors</vt:lpstr>
      <vt:lpstr>Phase Kickback</vt:lpstr>
      <vt:lpstr>Phase Kickback Example</vt:lpstr>
      <vt:lpstr>PowerPoint Presentation</vt:lpstr>
      <vt:lpstr>Creating Quantum Entanglement</vt:lpstr>
      <vt:lpstr>Transforming Bell States</vt:lpstr>
      <vt:lpstr>Bell-State Measurement Correlations</vt:lpstr>
      <vt:lpstr>Measurement in the Bell basis</vt:lpstr>
      <vt:lpstr>Entangling Multiple Qubits: GHZ States</vt:lpstr>
      <vt:lpstr>PowerPoint Presentation</vt:lpstr>
      <vt:lpstr>QM Box: Observable</vt:lpstr>
      <vt:lpstr>Pauli Measurements</vt:lpstr>
      <vt:lpstr>Why Z-measurement does not reveal phase</vt:lpstr>
      <vt:lpstr>X-Basis Measurement</vt:lpstr>
      <vt:lpstr>Y-Basis Measurement</vt:lpstr>
      <vt:lpstr>Implicit Measurement</vt:lpstr>
      <vt:lpstr>Deferred measurement</vt:lpstr>
      <vt:lpstr>PowerPoint Presentation</vt:lpstr>
      <vt:lpstr>Understanding the Fourier Transform</vt:lpstr>
      <vt:lpstr>Applications of Fourier Transform</vt:lpstr>
      <vt:lpstr>MathBox: Phase Factor</vt:lpstr>
      <vt:lpstr>MathBox: Phase Factors as n-th Roots of Unity</vt:lpstr>
      <vt:lpstr>Discrete Fourier Transform (DFT)</vt:lpstr>
      <vt:lpstr>DFT matrix</vt:lpstr>
      <vt:lpstr>Quantum Fourier Transform and Inverse Quantum Fourier Transform</vt:lpstr>
      <vt:lpstr>QFT: From Binary States to Phase Rotations</vt:lpstr>
      <vt:lpstr>QFT Phase Progression</vt:lpstr>
      <vt:lpstr>QFT: one qubit</vt:lpstr>
      <vt:lpstr>QFT: two qubits</vt:lpstr>
      <vt:lpstr>QFT: two qubits</vt:lpstr>
      <vt:lpstr>Coppersmith decomposition</vt:lpstr>
      <vt:lpstr>QFT from One to Three Qubits</vt:lpstr>
      <vt:lpstr>Quantum Gates for the QFT</vt:lpstr>
      <vt:lpstr>QFT: 2 qubits</vt:lpstr>
      <vt:lpstr>QFT: 3 qubits</vt:lpstr>
      <vt:lpstr>QFT: n qubits</vt:lpstr>
      <vt:lpstr>PowerPoint Presentation</vt:lpstr>
      <vt:lpstr>Quantum Phase Estimation (QPE)</vt:lpstr>
      <vt:lpstr>Quantum Phase Estimation circuit analysis</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Aleksandar Radovanovic</cp:lastModifiedBy>
  <cp:revision>4258</cp:revision>
  <cp:lastPrinted>2026-08-17T10:37:58Z</cp:lastPrinted>
  <dcterms:created xsi:type="dcterms:W3CDTF">2021-12-18T08:25:37Z</dcterms:created>
  <dcterms:modified xsi:type="dcterms:W3CDTF">2026-10-24T17:14:57Z</dcterms:modified>
</cp:coreProperties>
</file>